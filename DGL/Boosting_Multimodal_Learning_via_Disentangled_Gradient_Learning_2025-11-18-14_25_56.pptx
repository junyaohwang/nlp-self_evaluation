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Default Extension="jpg" ContentType="image/jpg"/>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7556500" cy="10693400"/>
  <p:notesSz cx="7556500" cy="10693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38100">
              <a:lnSpc>
                <a:spcPct val="100000"/>
              </a:lnSpc>
              <a:spcBef>
                <a:spcPts val="140"/>
              </a:spcBef>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38100">
              <a:lnSpc>
                <a:spcPct val="100000"/>
              </a:lnSpc>
              <a:spcBef>
                <a:spcPts val="140"/>
              </a:spcBef>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idx="2" sz="half"/>
          </p:nvPr>
        </p:nvSpPr>
        <p:spPr>
          <a:xfrm>
            <a:off x="378142" y="2459482"/>
            <a:ext cx="3289839" cy="7057644"/>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3894867" y="2459482"/>
            <a:ext cx="3289839" cy="7057644"/>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38100">
              <a:lnSpc>
                <a:spcPct val="100000"/>
              </a:lnSpc>
              <a:spcBef>
                <a:spcPts val="140"/>
              </a:spcBef>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38100">
              <a:lnSpc>
                <a:spcPct val="100000"/>
              </a:lnSpc>
              <a:spcBef>
                <a:spcPts val="140"/>
              </a:spcBef>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38100">
              <a:lnSpc>
                <a:spcPct val="100000"/>
              </a:lnSpc>
              <a:spcBef>
                <a:spcPts val="140"/>
              </a:spcBef>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3679266" y="10026411"/>
            <a:ext cx="214629" cy="205104"/>
          </a:xfrm>
          <a:prstGeom prst="rect">
            <a:avLst/>
          </a:prstGeom>
        </p:spPr>
        <p:txBody>
          <a:bodyPr wrap="square" lIns="0" tIns="0" rIns="0" bIns="0">
            <a:spAutoFit/>
          </a:bodyPr>
          <a:lstStyle>
            <a:lvl1pPr>
              <a:defRPr sz="1000" b="0" i="0">
                <a:solidFill>
                  <a:schemeClr val="tx1"/>
                </a:solidFill>
                <a:latin typeface="Times New Roman"/>
                <a:cs typeface="Times New Roman"/>
              </a:defRPr>
            </a:lvl1pPr>
          </a:lstStyle>
          <a:p>
            <a:pPr marL="38100">
              <a:lnSpc>
                <a:spcPct val="100000"/>
              </a:lnSpc>
              <a:spcBef>
                <a:spcPts val="140"/>
              </a:spcBef>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mailto:shicaiwei@std.uestc.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221738"/>
            <a:ext cx="5760085" cy="400050"/>
            <a:chOff x="899998" y="1221738"/>
            <a:chExt cx="5760085" cy="400050"/>
          </a:xfrm>
        </p:grpSpPr>
        <p:sp>
          <p:nvSpPr>
            <p:cNvPr id="3" name="object 3" descr=""/>
            <p:cNvSpPr/>
            <p:nvPr/>
          </p:nvSpPr>
          <p:spPr>
            <a:xfrm>
              <a:off x="899998" y="1221738"/>
              <a:ext cx="5760085" cy="400050"/>
            </a:xfrm>
            <a:custGeom>
              <a:avLst/>
              <a:gdLst/>
              <a:ahLst/>
              <a:cxnLst/>
              <a:rect l="l" t="t" r="r" b="b"/>
              <a:pathLst>
                <a:path w="5760084" h="400050">
                  <a:moveTo>
                    <a:pt x="5724074" y="0"/>
                  </a:moveTo>
                  <a:lnTo>
                    <a:pt x="36000" y="0"/>
                  </a:lnTo>
                  <a:lnTo>
                    <a:pt x="21987" y="2829"/>
                  </a:lnTo>
                  <a:lnTo>
                    <a:pt x="10544" y="10544"/>
                  </a:lnTo>
                  <a:lnTo>
                    <a:pt x="2829" y="21987"/>
                  </a:lnTo>
                  <a:lnTo>
                    <a:pt x="0" y="36000"/>
                  </a:lnTo>
                  <a:lnTo>
                    <a:pt x="0" y="363658"/>
                  </a:lnTo>
                  <a:lnTo>
                    <a:pt x="2829" y="377671"/>
                  </a:lnTo>
                  <a:lnTo>
                    <a:pt x="10544" y="389114"/>
                  </a:lnTo>
                  <a:lnTo>
                    <a:pt x="21987" y="396829"/>
                  </a:lnTo>
                  <a:lnTo>
                    <a:pt x="36000" y="399658"/>
                  </a:lnTo>
                  <a:lnTo>
                    <a:pt x="5724074" y="399658"/>
                  </a:lnTo>
                  <a:lnTo>
                    <a:pt x="5738087" y="396829"/>
                  </a:lnTo>
                  <a:lnTo>
                    <a:pt x="5749530" y="389114"/>
                  </a:lnTo>
                  <a:lnTo>
                    <a:pt x="5757245" y="377671"/>
                  </a:lnTo>
                  <a:lnTo>
                    <a:pt x="5760074" y="3636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221738"/>
              <a:ext cx="5760085" cy="400050"/>
            </a:xfrm>
            <a:custGeom>
              <a:avLst/>
              <a:gdLst/>
              <a:ahLst/>
              <a:cxnLst/>
              <a:rect l="l" t="t" r="r" b="b"/>
              <a:pathLst>
                <a:path w="5760084" h="400050">
                  <a:moveTo>
                    <a:pt x="5724074" y="0"/>
                  </a:moveTo>
                  <a:lnTo>
                    <a:pt x="36000" y="0"/>
                  </a:lnTo>
                  <a:lnTo>
                    <a:pt x="21987" y="2829"/>
                  </a:lnTo>
                  <a:lnTo>
                    <a:pt x="10544" y="10544"/>
                  </a:lnTo>
                  <a:lnTo>
                    <a:pt x="2829" y="21987"/>
                  </a:lnTo>
                  <a:lnTo>
                    <a:pt x="0" y="36000"/>
                  </a:lnTo>
                  <a:lnTo>
                    <a:pt x="0" y="363658"/>
                  </a:lnTo>
                  <a:lnTo>
                    <a:pt x="2829" y="377671"/>
                  </a:lnTo>
                  <a:lnTo>
                    <a:pt x="10544" y="389114"/>
                  </a:lnTo>
                  <a:lnTo>
                    <a:pt x="21987" y="396829"/>
                  </a:lnTo>
                  <a:lnTo>
                    <a:pt x="36000" y="399658"/>
                  </a:lnTo>
                  <a:lnTo>
                    <a:pt x="5724074" y="399658"/>
                  </a:lnTo>
                  <a:lnTo>
                    <a:pt x="5738087" y="396829"/>
                  </a:lnTo>
                  <a:lnTo>
                    <a:pt x="5749530" y="389114"/>
                  </a:lnTo>
                  <a:lnTo>
                    <a:pt x="5757245" y="377671"/>
                  </a:lnTo>
                  <a:lnTo>
                    <a:pt x="5760074" y="3636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016158"/>
            <a:ext cx="5760085" cy="334010"/>
            <a:chOff x="899998" y="2016158"/>
            <a:chExt cx="5760085" cy="334010"/>
          </a:xfrm>
        </p:grpSpPr>
        <p:sp>
          <p:nvSpPr>
            <p:cNvPr id="6" name="object 6" descr=""/>
            <p:cNvSpPr/>
            <p:nvPr/>
          </p:nvSpPr>
          <p:spPr>
            <a:xfrm>
              <a:off x="899998" y="2016158"/>
              <a:ext cx="5760085" cy="334010"/>
            </a:xfrm>
            <a:custGeom>
              <a:avLst/>
              <a:gdLst/>
              <a:ahLst/>
              <a:cxnLst/>
              <a:rect l="l" t="t" r="r" b="b"/>
              <a:pathLst>
                <a:path w="5760084" h="334010">
                  <a:moveTo>
                    <a:pt x="5724074" y="0"/>
                  </a:moveTo>
                  <a:lnTo>
                    <a:pt x="36000" y="0"/>
                  </a:lnTo>
                  <a:lnTo>
                    <a:pt x="21987" y="2829"/>
                  </a:lnTo>
                  <a:lnTo>
                    <a:pt x="10544" y="10544"/>
                  </a:lnTo>
                  <a:lnTo>
                    <a:pt x="2829" y="21987"/>
                  </a:lnTo>
                  <a:lnTo>
                    <a:pt x="0" y="36000"/>
                  </a:lnTo>
                  <a:lnTo>
                    <a:pt x="0" y="297798"/>
                  </a:lnTo>
                  <a:lnTo>
                    <a:pt x="2829" y="311811"/>
                  </a:lnTo>
                  <a:lnTo>
                    <a:pt x="10544" y="323254"/>
                  </a:lnTo>
                  <a:lnTo>
                    <a:pt x="21987" y="330969"/>
                  </a:lnTo>
                  <a:lnTo>
                    <a:pt x="36000" y="333798"/>
                  </a:lnTo>
                  <a:lnTo>
                    <a:pt x="5724074" y="333798"/>
                  </a:lnTo>
                  <a:lnTo>
                    <a:pt x="5738087" y="330969"/>
                  </a:lnTo>
                  <a:lnTo>
                    <a:pt x="5749530" y="323254"/>
                  </a:lnTo>
                  <a:lnTo>
                    <a:pt x="5757245" y="311811"/>
                  </a:lnTo>
                  <a:lnTo>
                    <a:pt x="5760074" y="29779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016158"/>
              <a:ext cx="5760085" cy="334010"/>
            </a:xfrm>
            <a:custGeom>
              <a:avLst/>
              <a:gdLst/>
              <a:ahLst/>
              <a:cxnLst/>
              <a:rect l="l" t="t" r="r" b="b"/>
              <a:pathLst>
                <a:path w="5760084" h="334010">
                  <a:moveTo>
                    <a:pt x="5724074" y="0"/>
                  </a:moveTo>
                  <a:lnTo>
                    <a:pt x="36000" y="0"/>
                  </a:lnTo>
                  <a:lnTo>
                    <a:pt x="21987" y="2829"/>
                  </a:lnTo>
                  <a:lnTo>
                    <a:pt x="10544" y="10544"/>
                  </a:lnTo>
                  <a:lnTo>
                    <a:pt x="2829" y="21987"/>
                  </a:lnTo>
                  <a:lnTo>
                    <a:pt x="0" y="36000"/>
                  </a:lnTo>
                  <a:lnTo>
                    <a:pt x="0" y="297798"/>
                  </a:lnTo>
                  <a:lnTo>
                    <a:pt x="2829" y="311811"/>
                  </a:lnTo>
                  <a:lnTo>
                    <a:pt x="10544" y="323254"/>
                  </a:lnTo>
                  <a:lnTo>
                    <a:pt x="21987" y="330969"/>
                  </a:lnTo>
                  <a:lnTo>
                    <a:pt x="36000" y="333798"/>
                  </a:lnTo>
                  <a:lnTo>
                    <a:pt x="5724074" y="333798"/>
                  </a:lnTo>
                  <a:lnTo>
                    <a:pt x="5738087" y="330969"/>
                  </a:lnTo>
                  <a:lnTo>
                    <a:pt x="5749530" y="323254"/>
                  </a:lnTo>
                  <a:lnTo>
                    <a:pt x="5757245" y="311811"/>
                  </a:lnTo>
                  <a:lnTo>
                    <a:pt x="5760074" y="29779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2744717"/>
            <a:ext cx="5760085" cy="337185"/>
            <a:chOff x="899998" y="2744717"/>
            <a:chExt cx="5760085" cy="337185"/>
          </a:xfrm>
        </p:grpSpPr>
        <p:sp>
          <p:nvSpPr>
            <p:cNvPr id="9" name="object 9" descr=""/>
            <p:cNvSpPr/>
            <p:nvPr/>
          </p:nvSpPr>
          <p:spPr>
            <a:xfrm>
              <a:off x="899998" y="2744717"/>
              <a:ext cx="5760085" cy="337185"/>
            </a:xfrm>
            <a:custGeom>
              <a:avLst/>
              <a:gdLst/>
              <a:ahLst/>
              <a:cxnLst/>
              <a:rect l="l" t="t" r="r" b="b"/>
              <a:pathLst>
                <a:path w="5760084" h="337185">
                  <a:moveTo>
                    <a:pt x="5724074" y="0"/>
                  </a:moveTo>
                  <a:lnTo>
                    <a:pt x="36000" y="0"/>
                  </a:lnTo>
                  <a:lnTo>
                    <a:pt x="21987" y="2829"/>
                  </a:lnTo>
                  <a:lnTo>
                    <a:pt x="10544" y="10544"/>
                  </a:lnTo>
                  <a:lnTo>
                    <a:pt x="2829" y="21987"/>
                  </a:lnTo>
                  <a:lnTo>
                    <a:pt x="0" y="36000"/>
                  </a:lnTo>
                  <a:lnTo>
                    <a:pt x="0" y="300708"/>
                  </a:lnTo>
                  <a:lnTo>
                    <a:pt x="2829" y="314721"/>
                  </a:lnTo>
                  <a:lnTo>
                    <a:pt x="10544" y="326164"/>
                  </a:lnTo>
                  <a:lnTo>
                    <a:pt x="21987" y="333879"/>
                  </a:lnTo>
                  <a:lnTo>
                    <a:pt x="36000" y="336708"/>
                  </a:lnTo>
                  <a:lnTo>
                    <a:pt x="5724074" y="336708"/>
                  </a:lnTo>
                  <a:lnTo>
                    <a:pt x="5738087" y="333879"/>
                  </a:lnTo>
                  <a:lnTo>
                    <a:pt x="5749530" y="326164"/>
                  </a:lnTo>
                  <a:lnTo>
                    <a:pt x="5757245" y="314721"/>
                  </a:lnTo>
                  <a:lnTo>
                    <a:pt x="5760074" y="30070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2744717"/>
              <a:ext cx="5760085" cy="337185"/>
            </a:xfrm>
            <a:custGeom>
              <a:avLst/>
              <a:gdLst/>
              <a:ahLst/>
              <a:cxnLst/>
              <a:rect l="l" t="t" r="r" b="b"/>
              <a:pathLst>
                <a:path w="5760084" h="337185">
                  <a:moveTo>
                    <a:pt x="5724074" y="0"/>
                  </a:moveTo>
                  <a:lnTo>
                    <a:pt x="36000" y="0"/>
                  </a:lnTo>
                  <a:lnTo>
                    <a:pt x="21987" y="2829"/>
                  </a:lnTo>
                  <a:lnTo>
                    <a:pt x="10544" y="10544"/>
                  </a:lnTo>
                  <a:lnTo>
                    <a:pt x="2829" y="21987"/>
                  </a:lnTo>
                  <a:lnTo>
                    <a:pt x="0" y="36000"/>
                  </a:lnTo>
                  <a:lnTo>
                    <a:pt x="0" y="300708"/>
                  </a:lnTo>
                  <a:lnTo>
                    <a:pt x="2829" y="314721"/>
                  </a:lnTo>
                  <a:lnTo>
                    <a:pt x="10544" y="326164"/>
                  </a:lnTo>
                  <a:lnTo>
                    <a:pt x="21987" y="333879"/>
                  </a:lnTo>
                  <a:lnTo>
                    <a:pt x="36000" y="336708"/>
                  </a:lnTo>
                  <a:lnTo>
                    <a:pt x="5724074" y="336708"/>
                  </a:lnTo>
                  <a:lnTo>
                    <a:pt x="5738087" y="333879"/>
                  </a:lnTo>
                  <a:lnTo>
                    <a:pt x="5749530" y="326164"/>
                  </a:lnTo>
                  <a:lnTo>
                    <a:pt x="5757245" y="314721"/>
                  </a:lnTo>
                  <a:lnTo>
                    <a:pt x="5760074" y="30070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3476175"/>
            <a:ext cx="5760085" cy="334010"/>
            <a:chOff x="899998" y="3476175"/>
            <a:chExt cx="5760085" cy="334010"/>
          </a:xfrm>
        </p:grpSpPr>
        <p:sp>
          <p:nvSpPr>
            <p:cNvPr id="12" name="object 12" descr=""/>
            <p:cNvSpPr/>
            <p:nvPr/>
          </p:nvSpPr>
          <p:spPr>
            <a:xfrm>
              <a:off x="899998" y="3476175"/>
              <a:ext cx="5760085" cy="334010"/>
            </a:xfrm>
            <a:custGeom>
              <a:avLst/>
              <a:gdLst/>
              <a:ahLst/>
              <a:cxnLst/>
              <a:rect l="l" t="t" r="r" b="b"/>
              <a:pathLst>
                <a:path w="5760084" h="334010">
                  <a:moveTo>
                    <a:pt x="5724074" y="0"/>
                  </a:moveTo>
                  <a:lnTo>
                    <a:pt x="36000" y="0"/>
                  </a:lnTo>
                  <a:lnTo>
                    <a:pt x="21987" y="2829"/>
                  </a:lnTo>
                  <a:lnTo>
                    <a:pt x="10544" y="10544"/>
                  </a:lnTo>
                  <a:lnTo>
                    <a:pt x="2829" y="21987"/>
                  </a:lnTo>
                  <a:lnTo>
                    <a:pt x="0" y="36000"/>
                  </a:lnTo>
                  <a:lnTo>
                    <a:pt x="0" y="297418"/>
                  </a:lnTo>
                  <a:lnTo>
                    <a:pt x="2829" y="311431"/>
                  </a:lnTo>
                  <a:lnTo>
                    <a:pt x="10544" y="322874"/>
                  </a:lnTo>
                  <a:lnTo>
                    <a:pt x="21987" y="330589"/>
                  </a:lnTo>
                  <a:lnTo>
                    <a:pt x="36000" y="333418"/>
                  </a:lnTo>
                  <a:lnTo>
                    <a:pt x="5724074" y="333418"/>
                  </a:lnTo>
                  <a:lnTo>
                    <a:pt x="5738087" y="330589"/>
                  </a:lnTo>
                  <a:lnTo>
                    <a:pt x="5749530" y="322874"/>
                  </a:lnTo>
                  <a:lnTo>
                    <a:pt x="5757245" y="311431"/>
                  </a:lnTo>
                  <a:lnTo>
                    <a:pt x="5760074" y="29741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3476175"/>
              <a:ext cx="5760085" cy="334010"/>
            </a:xfrm>
            <a:custGeom>
              <a:avLst/>
              <a:gdLst/>
              <a:ahLst/>
              <a:cxnLst/>
              <a:rect l="l" t="t" r="r" b="b"/>
              <a:pathLst>
                <a:path w="5760084" h="334010">
                  <a:moveTo>
                    <a:pt x="5724074" y="0"/>
                  </a:moveTo>
                  <a:lnTo>
                    <a:pt x="36000" y="0"/>
                  </a:lnTo>
                  <a:lnTo>
                    <a:pt x="21987" y="2829"/>
                  </a:lnTo>
                  <a:lnTo>
                    <a:pt x="10544" y="10544"/>
                  </a:lnTo>
                  <a:lnTo>
                    <a:pt x="2829" y="21987"/>
                  </a:lnTo>
                  <a:lnTo>
                    <a:pt x="0" y="36000"/>
                  </a:lnTo>
                  <a:lnTo>
                    <a:pt x="0" y="297418"/>
                  </a:lnTo>
                  <a:lnTo>
                    <a:pt x="2829" y="311431"/>
                  </a:lnTo>
                  <a:lnTo>
                    <a:pt x="10544" y="322874"/>
                  </a:lnTo>
                  <a:lnTo>
                    <a:pt x="21987" y="330589"/>
                  </a:lnTo>
                  <a:lnTo>
                    <a:pt x="36000" y="333418"/>
                  </a:lnTo>
                  <a:lnTo>
                    <a:pt x="5724074" y="333418"/>
                  </a:lnTo>
                  <a:lnTo>
                    <a:pt x="5738087" y="330589"/>
                  </a:lnTo>
                  <a:lnTo>
                    <a:pt x="5749530" y="322874"/>
                  </a:lnTo>
                  <a:lnTo>
                    <a:pt x="5757245" y="311431"/>
                  </a:lnTo>
                  <a:lnTo>
                    <a:pt x="5760074" y="29741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4204347"/>
            <a:ext cx="5760085" cy="338455"/>
            <a:chOff x="899998" y="4204347"/>
            <a:chExt cx="5760085" cy="338455"/>
          </a:xfrm>
        </p:grpSpPr>
        <p:sp>
          <p:nvSpPr>
            <p:cNvPr id="15" name="object 15" descr=""/>
            <p:cNvSpPr/>
            <p:nvPr/>
          </p:nvSpPr>
          <p:spPr>
            <a:xfrm>
              <a:off x="899998" y="4204347"/>
              <a:ext cx="5760085" cy="338455"/>
            </a:xfrm>
            <a:custGeom>
              <a:avLst/>
              <a:gdLst/>
              <a:ahLst/>
              <a:cxnLst/>
              <a:rect l="l" t="t" r="r" b="b"/>
              <a:pathLst>
                <a:path w="5760084" h="338454">
                  <a:moveTo>
                    <a:pt x="5724074" y="0"/>
                  </a:moveTo>
                  <a:lnTo>
                    <a:pt x="36000" y="0"/>
                  </a:lnTo>
                  <a:lnTo>
                    <a:pt x="21987" y="2829"/>
                  </a:lnTo>
                  <a:lnTo>
                    <a:pt x="10544" y="10544"/>
                  </a:lnTo>
                  <a:lnTo>
                    <a:pt x="2829" y="21987"/>
                  </a:lnTo>
                  <a:lnTo>
                    <a:pt x="0" y="36000"/>
                  </a:lnTo>
                  <a:lnTo>
                    <a:pt x="0" y="302353"/>
                  </a:lnTo>
                  <a:lnTo>
                    <a:pt x="2829" y="316366"/>
                  </a:lnTo>
                  <a:lnTo>
                    <a:pt x="10544" y="327809"/>
                  </a:lnTo>
                  <a:lnTo>
                    <a:pt x="21987" y="335524"/>
                  </a:lnTo>
                  <a:lnTo>
                    <a:pt x="36000" y="338353"/>
                  </a:lnTo>
                  <a:lnTo>
                    <a:pt x="5724074" y="338353"/>
                  </a:lnTo>
                  <a:lnTo>
                    <a:pt x="5738087" y="335524"/>
                  </a:lnTo>
                  <a:lnTo>
                    <a:pt x="5749530" y="327809"/>
                  </a:lnTo>
                  <a:lnTo>
                    <a:pt x="5757245" y="316366"/>
                  </a:lnTo>
                  <a:lnTo>
                    <a:pt x="5760074" y="30235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4204347"/>
              <a:ext cx="5760085" cy="338455"/>
            </a:xfrm>
            <a:custGeom>
              <a:avLst/>
              <a:gdLst/>
              <a:ahLst/>
              <a:cxnLst/>
              <a:rect l="l" t="t" r="r" b="b"/>
              <a:pathLst>
                <a:path w="5760084" h="338454">
                  <a:moveTo>
                    <a:pt x="5724074" y="0"/>
                  </a:moveTo>
                  <a:lnTo>
                    <a:pt x="36000" y="0"/>
                  </a:lnTo>
                  <a:lnTo>
                    <a:pt x="21987" y="2829"/>
                  </a:lnTo>
                  <a:lnTo>
                    <a:pt x="10544" y="10544"/>
                  </a:lnTo>
                  <a:lnTo>
                    <a:pt x="2829" y="21987"/>
                  </a:lnTo>
                  <a:lnTo>
                    <a:pt x="0" y="36000"/>
                  </a:lnTo>
                  <a:lnTo>
                    <a:pt x="0" y="302353"/>
                  </a:lnTo>
                  <a:lnTo>
                    <a:pt x="2829" y="316366"/>
                  </a:lnTo>
                  <a:lnTo>
                    <a:pt x="10544" y="327809"/>
                  </a:lnTo>
                  <a:lnTo>
                    <a:pt x="21987" y="335524"/>
                  </a:lnTo>
                  <a:lnTo>
                    <a:pt x="36000" y="338353"/>
                  </a:lnTo>
                  <a:lnTo>
                    <a:pt x="5724074" y="338353"/>
                  </a:lnTo>
                  <a:lnTo>
                    <a:pt x="5738087" y="335524"/>
                  </a:lnTo>
                  <a:lnTo>
                    <a:pt x="5749530" y="327809"/>
                  </a:lnTo>
                  <a:lnTo>
                    <a:pt x="5757245" y="316366"/>
                  </a:lnTo>
                  <a:lnTo>
                    <a:pt x="5760074" y="30235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5141684"/>
            <a:ext cx="5760085" cy="393065"/>
            <a:chOff x="899998" y="5141684"/>
            <a:chExt cx="5760085" cy="393065"/>
          </a:xfrm>
        </p:grpSpPr>
        <p:sp>
          <p:nvSpPr>
            <p:cNvPr id="18" name="object 18" descr=""/>
            <p:cNvSpPr/>
            <p:nvPr/>
          </p:nvSpPr>
          <p:spPr>
            <a:xfrm>
              <a:off x="899998" y="5141684"/>
              <a:ext cx="5760085" cy="393065"/>
            </a:xfrm>
            <a:custGeom>
              <a:avLst/>
              <a:gdLst/>
              <a:ahLst/>
              <a:cxnLst/>
              <a:rect l="l" t="t" r="r" b="b"/>
              <a:pathLst>
                <a:path w="5760084" h="393064">
                  <a:moveTo>
                    <a:pt x="5724074" y="0"/>
                  </a:moveTo>
                  <a:lnTo>
                    <a:pt x="36000" y="0"/>
                  </a:lnTo>
                  <a:lnTo>
                    <a:pt x="21987" y="2829"/>
                  </a:lnTo>
                  <a:lnTo>
                    <a:pt x="10544" y="10544"/>
                  </a:lnTo>
                  <a:lnTo>
                    <a:pt x="2829" y="21987"/>
                  </a:lnTo>
                  <a:lnTo>
                    <a:pt x="0" y="36000"/>
                  </a:lnTo>
                  <a:lnTo>
                    <a:pt x="0" y="356734"/>
                  </a:lnTo>
                  <a:lnTo>
                    <a:pt x="2829" y="370747"/>
                  </a:lnTo>
                  <a:lnTo>
                    <a:pt x="10544" y="382190"/>
                  </a:lnTo>
                  <a:lnTo>
                    <a:pt x="21987" y="389905"/>
                  </a:lnTo>
                  <a:lnTo>
                    <a:pt x="36000" y="392734"/>
                  </a:lnTo>
                  <a:lnTo>
                    <a:pt x="5724074" y="392734"/>
                  </a:lnTo>
                  <a:lnTo>
                    <a:pt x="5738087" y="389905"/>
                  </a:lnTo>
                  <a:lnTo>
                    <a:pt x="5749530" y="382190"/>
                  </a:lnTo>
                  <a:lnTo>
                    <a:pt x="5757245" y="370747"/>
                  </a:lnTo>
                  <a:lnTo>
                    <a:pt x="5760074" y="35673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5141684"/>
              <a:ext cx="5760085" cy="393065"/>
            </a:xfrm>
            <a:custGeom>
              <a:avLst/>
              <a:gdLst/>
              <a:ahLst/>
              <a:cxnLst/>
              <a:rect l="l" t="t" r="r" b="b"/>
              <a:pathLst>
                <a:path w="5760084" h="393064">
                  <a:moveTo>
                    <a:pt x="5724074" y="0"/>
                  </a:moveTo>
                  <a:lnTo>
                    <a:pt x="36000" y="0"/>
                  </a:lnTo>
                  <a:lnTo>
                    <a:pt x="21987" y="2829"/>
                  </a:lnTo>
                  <a:lnTo>
                    <a:pt x="10544" y="10544"/>
                  </a:lnTo>
                  <a:lnTo>
                    <a:pt x="2829" y="21987"/>
                  </a:lnTo>
                  <a:lnTo>
                    <a:pt x="0" y="36000"/>
                  </a:lnTo>
                  <a:lnTo>
                    <a:pt x="0" y="356734"/>
                  </a:lnTo>
                  <a:lnTo>
                    <a:pt x="2829" y="370747"/>
                  </a:lnTo>
                  <a:lnTo>
                    <a:pt x="10544" y="382190"/>
                  </a:lnTo>
                  <a:lnTo>
                    <a:pt x="21987" y="389905"/>
                  </a:lnTo>
                  <a:lnTo>
                    <a:pt x="36000" y="392734"/>
                  </a:lnTo>
                  <a:lnTo>
                    <a:pt x="5724074" y="392734"/>
                  </a:lnTo>
                  <a:lnTo>
                    <a:pt x="5738087" y="389905"/>
                  </a:lnTo>
                  <a:lnTo>
                    <a:pt x="5749530" y="382190"/>
                  </a:lnTo>
                  <a:lnTo>
                    <a:pt x="5757245" y="370747"/>
                  </a:lnTo>
                  <a:lnTo>
                    <a:pt x="5760074" y="35673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0" name="object 20" descr=""/>
          <p:cNvSpPr txBox="1"/>
          <p:nvPr/>
        </p:nvSpPr>
        <p:spPr>
          <a:xfrm>
            <a:off x="823798" y="833739"/>
            <a:ext cx="5861685" cy="7936865"/>
          </a:xfrm>
          <a:prstGeom prst="rect">
            <a:avLst/>
          </a:prstGeom>
        </p:spPr>
        <p:txBody>
          <a:bodyPr wrap="square" lIns="0" tIns="17145" rIns="0" bIns="0" rtlCol="0" vert="horz">
            <a:spAutoFit/>
          </a:bodyPr>
          <a:lstStyle/>
          <a:p>
            <a:pPr marL="76200">
              <a:lnSpc>
                <a:spcPct val="100000"/>
              </a:lnSpc>
              <a:spcBef>
                <a:spcPts val="135"/>
              </a:spcBef>
            </a:pPr>
            <a:r>
              <a:rPr dirty="0" sz="1400" spc="50" b="1">
                <a:latin typeface="Times New Roman"/>
                <a:cs typeface="Times New Roman"/>
              </a:rPr>
              <a:t>Boosting</a:t>
            </a:r>
            <a:r>
              <a:rPr dirty="0" sz="1400" spc="100" b="1">
                <a:latin typeface="Times New Roman"/>
                <a:cs typeface="Times New Roman"/>
              </a:rPr>
              <a:t> </a:t>
            </a:r>
            <a:r>
              <a:rPr dirty="0" sz="1400" spc="60" b="1">
                <a:latin typeface="Times New Roman"/>
                <a:cs typeface="Times New Roman"/>
              </a:rPr>
              <a:t>Multimodal</a:t>
            </a:r>
            <a:r>
              <a:rPr dirty="0" sz="1400" spc="105" b="1">
                <a:latin typeface="Times New Roman"/>
                <a:cs typeface="Times New Roman"/>
              </a:rPr>
              <a:t> </a:t>
            </a:r>
            <a:r>
              <a:rPr dirty="0" sz="1400" spc="10" b="1">
                <a:latin typeface="Times New Roman"/>
                <a:cs typeface="Times New Roman"/>
              </a:rPr>
              <a:t>Learning</a:t>
            </a:r>
            <a:r>
              <a:rPr dirty="0" sz="1400" spc="105" b="1">
                <a:latin typeface="Times New Roman"/>
                <a:cs typeface="Times New Roman"/>
              </a:rPr>
              <a:t> </a:t>
            </a:r>
            <a:r>
              <a:rPr dirty="0" sz="1400" spc="10" b="1">
                <a:latin typeface="Times New Roman"/>
                <a:cs typeface="Times New Roman"/>
              </a:rPr>
              <a:t>via</a:t>
            </a:r>
            <a:r>
              <a:rPr dirty="0" sz="1400" spc="100" b="1">
                <a:latin typeface="Times New Roman"/>
                <a:cs typeface="Times New Roman"/>
              </a:rPr>
              <a:t> </a:t>
            </a:r>
            <a:r>
              <a:rPr dirty="0" sz="1400" spc="60" b="1">
                <a:latin typeface="Times New Roman"/>
                <a:cs typeface="Times New Roman"/>
              </a:rPr>
              <a:t>Disentangled</a:t>
            </a:r>
            <a:r>
              <a:rPr dirty="0" sz="1400" spc="105" b="1">
                <a:latin typeface="Times New Roman"/>
                <a:cs typeface="Times New Roman"/>
              </a:rPr>
              <a:t> </a:t>
            </a:r>
            <a:r>
              <a:rPr dirty="0" sz="1400" spc="10" b="1">
                <a:latin typeface="Times New Roman"/>
                <a:cs typeface="Times New Roman"/>
              </a:rPr>
              <a:t>Gradient</a:t>
            </a:r>
            <a:r>
              <a:rPr dirty="0" sz="1400" spc="105" b="1">
                <a:latin typeface="Times New Roman"/>
                <a:cs typeface="Times New Roman"/>
              </a:rPr>
              <a:t> </a:t>
            </a:r>
            <a:r>
              <a:rPr dirty="0" sz="1400" spc="-10" b="1">
                <a:latin typeface="Times New Roman"/>
                <a:cs typeface="Times New Roman"/>
              </a:rPr>
              <a:t>Learning</a:t>
            </a:r>
            <a:endParaRPr sz="1400">
              <a:latin typeface="Times New Roman"/>
              <a:cs typeface="Times New Roman"/>
            </a:endParaRPr>
          </a:p>
          <a:p>
            <a:pPr>
              <a:lnSpc>
                <a:spcPct val="100000"/>
              </a:lnSpc>
              <a:spcBef>
                <a:spcPts val="310"/>
              </a:spcBef>
            </a:pPr>
            <a:endParaRPr sz="1400">
              <a:latin typeface="Times New Roman"/>
              <a:cs typeface="Times New Roman"/>
            </a:endParaRPr>
          </a:p>
          <a:p>
            <a:pPr marL="255904">
              <a:lnSpc>
                <a:spcPct val="100000"/>
              </a:lnSpc>
            </a:pPr>
            <a:r>
              <a:rPr dirty="0" sz="1400" spc="-5" b="1">
                <a:latin typeface="Microsoft JhengHei"/>
                <a:cs typeface="Microsoft JhengHei"/>
              </a:rPr>
              <a:t>通过解耦梯度学习增强多模态学习</a:t>
            </a:r>
            <a:endParaRPr sz="1400">
              <a:latin typeface="Microsoft JhengHei"/>
              <a:cs typeface="Microsoft JhengHei"/>
            </a:endParaRPr>
          </a:p>
          <a:p>
            <a:pPr marL="328930">
              <a:lnSpc>
                <a:spcPct val="100000"/>
              </a:lnSpc>
              <a:spcBef>
                <a:spcPts val="1650"/>
              </a:spcBef>
            </a:pPr>
            <a:r>
              <a:rPr dirty="0" sz="1000">
                <a:latin typeface="Times New Roman"/>
                <a:cs typeface="Times New Roman"/>
              </a:rPr>
              <a:t>Shicai</a:t>
            </a:r>
            <a:r>
              <a:rPr dirty="0" sz="1000" spc="25">
                <a:latin typeface="Times New Roman"/>
                <a:cs typeface="Times New Roman"/>
              </a:rPr>
              <a:t> </a:t>
            </a:r>
            <a:r>
              <a:rPr dirty="0" sz="1000" spc="-20">
                <a:latin typeface="Times New Roman"/>
                <a:cs typeface="Times New Roman"/>
              </a:rPr>
              <a:t>Wei</a:t>
            </a:r>
            <a:r>
              <a:rPr dirty="0" sz="1000" spc="25">
                <a:latin typeface="Times New Roman"/>
                <a:cs typeface="Times New Roman"/>
              </a:rPr>
              <a:t> </a:t>
            </a:r>
            <a:r>
              <a:rPr dirty="0" baseline="27777" sz="1050">
                <a:latin typeface="Cambria"/>
                <a:cs typeface="Cambria"/>
              </a:rPr>
              <a:t>1</a:t>
            </a:r>
            <a:r>
              <a:rPr dirty="0" baseline="27777" sz="1050" spc="277">
                <a:latin typeface="Cambria"/>
                <a:cs typeface="Cambria"/>
              </a:rPr>
              <a:t> </a:t>
            </a:r>
            <a:r>
              <a:rPr dirty="0" sz="1000">
                <a:latin typeface="Times New Roman"/>
                <a:cs typeface="Times New Roman"/>
              </a:rPr>
              <a:t>Chunbo</a:t>
            </a:r>
            <a:r>
              <a:rPr dirty="0" sz="1000" spc="25">
                <a:latin typeface="Times New Roman"/>
                <a:cs typeface="Times New Roman"/>
              </a:rPr>
              <a:t> </a:t>
            </a:r>
            <a:r>
              <a:rPr dirty="0" sz="1000">
                <a:latin typeface="Times New Roman"/>
                <a:cs typeface="Times New Roman"/>
              </a:rPr>
              <a:t>Luo</a:t>
            </a:r>
            <a:r>
              <a:rPr dirty="0" sz="1000" spc="35">
                <a:latin typeface="Times New Roman"/>
                <a:cs typeface="Times New Roman"/>
              </a:rPr>
              <a:t> </a:t>
            </a:r>
            <a:r>
              <a:rPr dirty="0" baseline="27777" sz="1050">
                <a:latin typeface="Cambria"/>
                <a:cs typeface="Cambria"/>
              </a:rPr>
              <a:t>2∗</a:t>
            </a:r>
            <a:r>
              <a:rPr dirty="0" baseline="27777" sz="1050" spc="270">
                <a:latin typeface="Cambria"/>
                <a:cs typeface="Cambria"/>
              </a:rPr>
              <a:t> </a:t>
            </a:r>
            <a:r>
              <a:rPr dirty="0" sz="1000" spc="-20">
                <a:latin typeface="Times New Roman"/>
                <a:cs typeface="Times New Roman"/>
              </a:rPr>
              <a:t>Yang</a:t>
            </a:r>
            <a:r>
              <a:rPr dirty="0" sz="1000" spc="25">
                <a:latin typeface="Times New Roman"/>
                <a:cs typeface="Times New Roman"/>
              </a:rPr>
              <a:t> </a:t>
            </a:r>
            <a:r>
              <a:rPr dirty="0" sz="1000">
                <a:latin typeface="Times New Roman"/>
                <a:cs typeface="Times New Roman"/>
              </a:rPr>
              <a:t>Luo</a:t>
            </a:r>
            <a:r>
              <a:rPr dirty="0" sz="1000" spc="30">
                <a:latin typeface="Times New Roman"/>
                <a:cs typeface="Times New Roman"/>
              </a:rPr>
              <a:t> </a:t>
            </a:r>
            <a:r>
              <a:rPr dirty="0" baseline="27777" sz="1050" spc="-75">
                <a:latin typeface="Cambria"/>
                <a:cs typeface="Cambria"/>
              </a:rPr>
              <a:t>2</a:t>
            </a:r>
            <a:endParaRPr baseline="27777" sz="1050">
              <a:latin typeface="Cambria"/>
              <a:cs typeface="Cambria"/>
            </a:endParaRPr>
          </a:p>
          <a:p>
            <a:pPr>
              <a:lnSpc>
                <a:spcPct val="100000"/>
              </a:lnSpc>
              <a:spcBef>
                <a:spcPts val="560"/>
              </a:spcBef>
            </a:pPr>
            <a:endParaRPr sz="1000">
              <a:latin typeface="Cambria"/>
              <a:cs typeface="Cambria"/>
            </a:endParaRPr>
          </a:p>
          <a:p>
            <a:pPr marL="255904">
              <a:lnSpc>
                <a:spcPct val="100000"/>
              </a:lnSpc>
            </a:pPr>
            <a:r>
              <a:rPr dirty="0" sz="1000" spc="-75">
                <a:latin typeface="SimSun"/>
                <a:cs typeface="SimSun"/>
              </a:rPr>
              <a:t>魏世才 </a:t>
            </a:r>
            <a:r>
              <a:rPr dirty="0" baseline="27777" sz="1050">
                <a:latin typeface="Cambria"/>
                <a:cs typeface="Cambria"/>
              </a:rPr>
              <a:t>1</a:t>
            </a:r>
            <a:r>
              <a:rPr dirty="0" baseline="27777" sz="1050" spc="195">
                <a:latin typeface="Cambria"/>
                <a:cs typeface="Cambria"/>
              </a:rPr>
              <a:t> </a:t>
            </a:r>
            <a:r>
              <a:rPr dirty="0" sz="1000" spc="-75">
                <a:latin typeface="SimSun"/>
                <a:cs typeface="SimSun"/>
              </a:rPr>
              <a:t>罗春波 </a:t>
            </a:r>
            <a:r>
              <a:rPr dirty="0" baseline="27777" sz="1050">
                <a:latin typeface="Cambria"/>
                <a:cs typeface="Cambria"/>
              </a:rPr>
              <a:t>2∗</a:t>
            </a:r>
            <a:r>
              <a:rPr dirty="0" baseline="27777" sz="1050" spc="195">
                <a:latin typeface="Cambria"/>
                <a:cs typeface="Cambria"/>
              </a:rPr>
              <a:t> </a:t>
            </a:r>
            <a:r>
              <a:rPr dirty="0" sz="1000" spc="-100">
                <a:latin typeface="SimSun"/>
                <a:cs typeface="SimSun"/>
              </a:rPr>
              <a:t>罗洋 </a:t>
            </a:r>
            <a:r>
              <a:rPr dirty="0" baseline="27777" sz="1050" spc="-75">
                <a:latin typeface="Cambria"/>
                <a:cs typeface="Cambria"/>
              </a:rPr>
              <a:t>2</a:t>
            </a:r>
            <a:endParaRPr baseline="27777" sz="1050">
              <a:latin typeface="Cambria"/>
              <a:cs typeface="Cambria"/>
            </a:endParaRPr>
          </a:p>
          <a:p>
            <a:pPr>
              <a:lnSpc>
                <a:spcPct val="100000"/>
              </a:lnSpc>
              <a:spcBef>
                <a:spcPts val="430"/>
              </a:spcBef>
            </a:pPr>
            <a:endParaRPr sz="1000">
              <a:latin typeface="Cambria"/>
              <a:cs typeface="Cambria"/>
            </a:endParaRPr>
          </a:p>
          <a:p>
            <a:pPr marL="328930">
              <a:lnSpc>
                <a:spcPct val="100000"/>
              </a:lnSpc>
              <a:spcBef>
                <a:spcPts val="5"/>
              </a:spcBef>
            </a:pPr>
            <a:r>
              <a:rPr dirty="0" baseline="27777" sz="1050" spc="15">
                <a:latin typeface="Cambria"/>
                <a:cs typeface="Cambria"/>
              </a:rPr>
              <a:t>1</a:t>
            </a:r>
            <a:r>
              <a:rPr dirty="0" baseline="27777" sz="1050" spc="247">
                <a:latin typeface="Cambria"/>
                <a:cs typeface="Cambria"/>
              </a:rPr>
              <a:t> </a:t>
            </a:r>
            <a:r>
              <a:rPr dirty="0" sz="1000" spc="10">
                <a:latin typeface="Times New Roman"/>
                <a:cs typeface="Times New Roman"/>
              </a:rPr>
              <a:t>The Laboratory</a:t>
            </a:r>
            <a:r>
              <a:rPr dirty="0" sz="1000" spc="15">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spc="10">
                <a:latin typeface="Times New Roman"/>
                <a:cs typeface="Times New Roman"/>
              </a:rPr>
              <a:t>Intelligent Collaborative</a:t>
            </a:r>
            <a:r>
              <a:rPr dirty="0" sz="1000" spc="15">
                <a:latin typeface="Times New Roman"/>
                <a:cs typeface="Times New Roman"/>
              </a:rPr>
              <a:t> </a:t>
            </a:r>
            <a:r>
              <a:rPr dirty="0" sz="1000" spc="10">
                <a:latin typeface="Times New Roman"/>
                <a:cs typeface="Times New Roman"/>
              </a:rPr>
              <a:t>Computing</a:t>
            </a:r>
            <a:r>
              <a:rPr dirty="0" sz="1000" spc="15">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spc="-10">
                <a:latin typeface="Times New Roman"/>
                <a:cs typeface="Times New Roman"/>
              </a:rPr>
              <a:t>UESTC</a:t>
            </a:r>
            <a:endParaRPr sz="1000">
              <a:latin typeface="Times New Roman"/>
              <a:cs typeface="Times New Roman"/>
            </a:endParaRPr>
          </a:p>
          <a:p>
            <a:pPr>
              <a:lnSpc>
                <a:spcPct val="100000"/>
              </a:lnSpc>
              <a:spcBef>
                <a:spcPts val="585"/>
              </a:spcBef>
            </a:pPr>
            <a:endParaRPr sz="1000">
              <a:latin typeface="Times New Roman"/>
              <a:cs typeface="Times New Roman"/>
            </a:endParaRPr>
          </a:p>
          <a:p>
            <a:pPr marL="255904">
              <a:lnSpc>
                <a:spcPct val="100000"/>
              </a:lnSpc>
            </a:pPr>
            <a:r>
              <a:rPr dirty="0" baseline="27777" sz="1050">
                <a:latin typeface="Cambria"/>
                <a:cs typeface="Cambria"/>
              </a:rPr>
              <a:t>1</a:t>
            </a:r>
            <a:r>
              <a:rPr dirty="0" baseline="27777" sz="1050" spc="135">
                <a:latin typeface="Cambria"/>
                <a:cs typeface="Cambria"/>
              </a:rPr>
              <a:t> </a:t>
            </a:r>
            <a:r>
              <a:rPr dirty="0" sz="1000" spc="-15">
                <a:latin typeface="SimSun"/>
                <a:cs typeface="SimSun"/>
              </a:rPr>
              <a:t>电子科技大学智能协同计算实验室</a:t>
            </a:r>
            <a:endParaRPr sz="1000">
              <a:latin typeface="SimSun"/>
              <a:cs typeface="SimSun"/>
            </a:endParaRPr>
          </a:p>
          <a:p>
            <a:pPr>
              <a:lnSpc>
                <a:spcPct val="100000"/>
              </a:lnSpc>
              <a:spcBef>
                <a:spcPts val="340"/>
              </a:spcBef>
            </a:pPr>
            <a:endParaRPr sz="1000">
              <a:latin typeface="SimSun"/>
              <a:cs typeface="SimSun"/>
            </a:endParaRPr>
          </a:p>
          <a:p>
            <a:pPr marL="328930">
              <a:lnSpc>
                <a:spcPct val="100000"/>
              </a:lnSpc>
            </a:pPr>
            <a:r>
              <a:rPr dirty="0" baseline="27777" sz="1050">
                <a:latin typeface="Cambria"/>
                <a:cs typeface="Cambria"/>
              </a:rPr>
              <a:t>2</a:t>
            </a:r>
            <a:r>
              <a:rPr dirty="0" baseline="27777" sz="1050" spc="412">
                <a:latin typeface="Cambria"/>
                <a:cs typeface="Cambria"/>
              </a:rPr>
              <a:t> </a:t>
            </a:r>
            <a:r>
              <a:rPr dirty="0" sz="1000">
                <a:latin typeface="Times New Roman"/>
                <a:cs typeface="Times New Roman"/>
              </a:rPr>
              <a:t>The</a:t>
            </a:r>
            <a:r>
              <a:rPr dirty="0" sz="1000" spc="110">
                <a:latin typeface="Times New Roman"/>
                <a:cs typeface="Times New Roman"/>
              </a:rPr>
              <a:t> </a:t>
            </a:r>
            <a:r>
              <a:rPr dirty="0" sz="1000">
                <a:latin typeface="Times New Roman"/>
                <a:cs typeface="Times New Roman"/>
              </a:rPr>
              <a:t>School</a:t>
            </a:r>
            <a:r>
              <a:rPr dirty="0" sz="1000" spc="105">
                <a:latin typeface="Times New Roman"/>
                <a:cs typeface="Times New Roman"/>
              </a:rPr>
              <a:t> </a:t>
            </a:r>
            <a:r>
              <a:rPr dirty="0" sz="1000">
                <a:latin typeface="Times New Roman"/>
                <a:cs typeface="Times New Roman"/>
              </a:rPr>
              <a:t>of</a:t>
            </a:r>
            <a:r>
              <a:rPr dirty="0" sz="1000" spc="110">
                <a:latin typeface="Times New Roman"/>
                <a:cs typeface="Times New Roman"/>
              </a:rPr>
              <a:t> </a:t>
            </a:r>
            <a:r>
              <a:rPr dirty="0" sz="1000">
                <a:latin typeface="Times New Roman"/>
                <a:cs typeface="Times New Roman"/>
              </a:rPr>
              <a:t>Information</a:t>
            </a:r>
            <a:r>
              <a:rPr dirty="0" sz="1000" spc="110">
                <a:latin typeface="Times New Roman"/>
                <a:cs typeface="Times New Roman"/>
              </a:rPr>
              <a:t> </a:t>
            </a:r>
            <a:r>
              <a:rPr dirty="0" sz="1000">
                <a:latin typeface="Times New Roman"/>
                <a:cs typeface="Times New Roman"/>
              </a:rPr>
              <a:t>and</a:t>
            </a:r>
            <a:r>
              <a:rPr dirty="0" sz="1000" spc="105">
                <a:latin typeface="Times New Roman"/>
                <a:cs typeface="Times New Roman"/>
              </a:rPr>
              <a:t> </a:t>
            </a:r>
            <a:r>
              <a:rPr dirty="0" sz="1000">
                <a:latin typeface="Times New Roman"/>
                <a:cs typeface="Times New Roman"/>
              </a:rPr>
              <a:t>Communication</a:t>
            </a:r>
            <a:r>
              <a:rPr dirty="0" sz="1000" spc="110">
                <a:latin typeface="Times New Roman"/>
                <a:cs typeface="Times New Roman"/>
              </a:rPr>
              <a:t> </a:t>
            </a:r>
            <a:r>
              <a:rPr dirty="0" sz="1000">
                <a:latin typeface="Times New Roman"/>
                <a:cs typeface="Times New Roman"/>
              </a:rPr>
              <a:t>Engineering</a:t>
            </a:r>
            <a:r>
              <a:rPr dirty="0" sz="1000" spc="105">
                <a:latin typeface="Times New Roman"/>
                <a:cs typeface="Times New Roman"/>
              </a:rPr>
              <a:t> </a:t>
            </a:r>
            <a:r>
              <a:rPr dirty="0" sz="1000">
                <a:latin typeface="Times New Roman"/>
                <a:cs typeface="Times New Roman"/>
              </a:rPr>
              <a:t>of</a:t>
            </a:r>
            <a:r>
              <a:rPr dirty="0" sz="1000" spc="110">
                <a:latin typeface="Times New Roman"/>
                <a:cs typeface="Times New Roman"/>
              </a:rPr>
              <a:t> </a:t>
            </a:r>
            <a:r>
              <a:rPr dirty="0" sz="1000" spc="-10">
                <a:latin typeface="Times New Roman"/>
                <a:cs typeface="Times New Roman"/>
              </a:rPr>
              <a:t>UESTC</a:t>
            </a:r>
            <a:endParaRPr sz="1000">
              <a:latin typeface="Times New Roman"/>
              <a:cs typeface="Times New Roman"/>
            </a:endParaRPr>
          </a:p>
          <a:p>
            <a:pPr marL="255904" marR="2386965">
              <a:lnSpc>
                <a:spcPct val="234000"/>
              </a:lnSpc>
              <a:spcBef>
                <a:spcPts val="135"/>
              </a:spcBef>
            </a:pPr>
            <a:r>
              <a:rPr dirty="0" baseline="27777" sz="1050">
                <a:latin typeface="Cambria"/>
                <a:cs typeface="Cambria"/>
              </a:rPr>
              <a:t>2</a:t>
            </a:r>
            <a:r>
              <a:rPr dirty="0" baseline="27777" sz="1050" spc="150">
                <a:latin typeface="Cambria"/>
                <a:cs typeface="Cambria"/>
              </a:rPr>
              <a:t> </a:t>
            </a:r>
            <a:r>
              <a:rPr dirty="0" sz="1000" spc="-15">
                <a:latin typeface="SimSun"/>
                <a:cs typeface="SimSun"/>
              </a:rPr>
              <a:t>电子科技大学信息与通信工程学院</a:t>
            </a:r>
            <a:r>
              <a:rPr dirty="0" sz="1000" spc="-50">
                <a:latin typeface="SimSun"/>
                <a:cs typeface="SimSun"/>
              </a:rPr>
              <a:t> </a:t>
            </a:r>
            <a:r>
              <a:rPr dirty="0" sz="1000">
                <a:latin typeface="Times New Roman"/>
                <a:cs typeface="Times New Roman"/>
                <a:hlinkClick r:id="rId2"/>
              </a:rPr>
              <a:t>shicaiwei@std.uestc.edu.cn,</a:t>
            </a:r>
            <a:r>
              <a:rPr dirty="0" sz="1000" spc="195">
                <a:latin typeface="Times New Roman"/>
                <a:cs typeface="Times New Roman"/>
              </a:rPr>
              <a:t> </a:t>
            </a:r>
            <a:r>
              <a:rPr dirty="0" sz="1000" spc="-20">
                <a:latin typeface="Times New Roman"/>
                <a:cs typeface="Times New Roman"/>
              </a:rPr>
              <a:t>{c.luo</a:t>
            </a:r>
            <a:r>
              <a:rPr dirty="0" sz="1000" spc="85">
                <a:latin typeface="Times New Roman"/>
                <a:cs typeface="Times New Roman"/>
              </a:rPr>
              <a:t>, </a:t>
            </a:r>
            <a:r>
              <a:rPr dirty="0" sz="1000" spc="-10">
                <a:latin typeface="Times New Roman"/>
                <a:cs typeface="Times New Roman"/>
              </a:rPr>
              <a:t>luoyang}@uestc.edu.cn </a:t>
            </a:r>
            <a:r>
              <a:rPr dirty="0" sz="1000">
                <a:latin typeface="Times New Roman"/>
                <a:cs typeface="Times New Roman"/>
                <a:hlinkClick r:id="rId2"/>
              </a:rPr>
              <a:t>shicaiwei@std.uestc.edu.cn,</a:t>
            </a:r>
            <a:r>
              <a:rPr dirty="0" sz="1000" spc="195">
                <a:latin typeface="Times New Roman"/>
                <a:cs typeface="Times New Roman"/>
              </a:rPr>
              <a:t> </a:t>
            </a:r>
            <a:r>
              <a:rPr dirty="0" sz="1000" spc="-20">
                <a:latin typeface="Times New Roman"/>
                <a:cs typeface="Times New Roman"/>
              </a:rPr>
              <a:t>{c.luo</a:t>
            </a:r>
            <a:r>
              <a:rPr dirty="0" sz="1000" spc="85">
                <a:latin typeface="Times New Roman"/>
                <a:cs typeface="Times New Roman"/>
              </a:rPr>
              <a:t>, </a:t>
            </a:r>
            <a:r>
              <a:rPr dirty="0" sz="1000" spc="-10">
                <a:latin typeface="Times New Roman"/>
                <a:cs typeface="Times New Roman"/>
              </a:rPr>
              <a:t>luoyang}@uestc.edu.cn</a:t>
            </a: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695"/>
              </a:spcBef>
            </a:pPr>
            <a:endParaRPr sz="1000">
              <a:latin typeface="Times New Roman"/>
              <a:cs typeface="Times New Roman"/>
            </a:endParaRPr>
          </a:p>
          <a:p>
            <a:pPr marL="76200">
              <a:lnSpc>
                <a:spcPct val="100000"/>
              </a:lnSpc>
            </a:pPr>
            <a:r>
              <a:rPr dirty="0" sz="1400" spc="-10" b="1">
                <a:latin typeface="Times New Roman"/>
                <a:cs typeface="Times New Roman"/>
              </a:rPr>
              <a:t>Abstract</a:t>
            </a:r>
            <a:endParaRPr sz="1400">
              <a:latin typeface="Times New Roman"/>
              <a:cs typeface="Times New Roman"/>
            </a:endParaRPr>
          </a:p>
          <a:p>
            <a:pPr marL="255904">
              <a:lnSpc>
                <a:spcPct val="100000"/>
              </a:lnSpc>
              <a:spcBef>
                <a:spcPts val="1595"/>
              </a:spcBef>
            </a:pPr>
            <a:r>
              <a:rPr dirty="0" sz="1400" spc="-25" b="1">
                <a:latin typeface="Microsoft JhengHei"/>
                <a:cs typeface="Microsoft JhengHei"/>
              </a:rPr>
              <a:t>摘要</a:t>
            </a:r>
            <a:endParaRPr sz="1400">
              <a:latin typeface="Microsoft JhengHei"/>
              <a:cs typeface="Microsoft JhengHei"/>
            </a:endParaRPr>
          </a:p>
          <a:p>
            <a:pPr algn="just" marL="76200" marR="17780" indent="252729">
              <a:lnSpc>
                <a:spcPct val="129500"/>
              </a:lnSpc>
              <a:spcBef>
                <a:spcPts val="1250"/>
              </a:spcBef>
            </a:pPr>
            <a:r>
              <a:rPr dirty="0" sz="1000" spc="10">
                <a:latin typeface="Times New Roman"/>
                <a:cs typeface="Times New Roman"/>
              </a:rPr>
              <a:t>Multimodal</a:t>
            </a:r>
            <a:r>
              <a:rPr dirty="0" sz="1000" spc="114">
                <a:latin typeface="Times New Roman"/>
                <a:cs typeface="Times New Roman"/>
              </a:rPr>
              <a:t> </a:t>
            </a:r>
            <a:r>
              <a:rPr dirty="0" sz="1000" spc="10">
                <a:latin typeface="Times New Roman"/>
                <a:cs typeface="Times New Roman"/>
              </a:rPr>
              <a:t>learning</a:t>
            </a:r>
            <a:r>
              <a:rPr dirty="0" sz="1000" spc="114">
                <a:latin typeface="Times New Roman"/>
                <a:cs typeface="Times New Roman"/>
              </a:rPr>
              <a:t> </a:t>
            </a:r>
            <a:r>
              <a:rPr dirty="0" sz="1000" spc="10">
                <a:latin typeface="Times New Roman"/>
                <a:cs typeface="Times New Roman"/>
              </a:rPr>
              <a:t>often</a:t>
            </a:r>
            <a:r>
              <a:rPr dirty="0" sz="1000" spc="114">
                <a:latin typeface="Times New Roman"/>
                <a:cs typeface="Times New Roman"/>
              </a:rPr>
              <a:t> </a:t>
            </a:r>
            <a:r>
              <a:rPr dirty="0" sz="1000" spc="10">
                <a:latin typeface="Times New Roman"/>
                <a:cs typeface="Times New Roman"/>
              </a:rPr>
              <a:t>encounters</a:t>
            </a:r>
            <a:r>
              <a:rPr dirty="0" sz="1000" spc="114">
                <a:latin typeface="Times New Roman"/>
                <a:cs typeface="Times New Roman"/>
              </a:rPr>
              <a:t> </a:t>
            </a:r>
            <a:r>
              <a:rPr dirty="0" sz="1000" spc="10">
                <a:latin typeface="Times New Roman"/>
                <a:cs typeface="Times New Roman"/>
              </a:rPr>
              <a:t>the</a:t>
            </a:r>
            <a:r>
              <a:rPr dirty="0" sz="1000" spc="114">
                <a:latin typeface="Times New Roman"/>
                <a:cs typeface="Times New Roman"/>
              </a:rPr>
              <a:t> </a:t>
            </a:r>
            <a:r>
              <a:rPr dirty="0" sz="1000" spc="10">
                <a:latin typeface="Times New Roman"/>
                <a:cs typeface="Times New Roman"/>
              </a:rPr>
              <a:t>under-optimized</a:t>
            </a:r>
            <a:r>
              <a:rPr dirty="0" sz="1000" spc="114">
                <a:latin typeface="Times New Roman"/>
                <a:cs typeface="Times New Roman"/>
              </a:rPr>
              <a:t> </a:t>
            </a:r>
            <a:r>
              <a:rPr dirty="0" sz="1000" spc="10">
                <a:latin typeface="Times New Roman"/>
                <a:cs typeface="Times New Roman"/>
              </a:rPr>
              <a:t>problem</a:t>
            </a:r>
            <a:r>
              <a:rPr dirty="0" sz="1000" spc="114">
                <a:latin typeface="Times New Roman"/>
                <a:cs typeface="Times New Roman"/>
              </a:rPr>
              <a:t> </a:t>
            </a:r>
            <a:r>
              <a:rPr dirty="0" sz="1000" spc="10">
                <a:latin typeface="Times New Roman"/>
                <a:cs typeface="Times New Roman"/>
              </a:rPr>
              <a:t>and</a:t>
            </a:r>
            <a:r>
              <a:rPr dirty="0" sz="1000" spc="114">
                <a:latin typeface="Times New Roman"/>
                <a:cs typeface="Times New Roman"/>
              </a:rPr>
              <a:t> </a:t>
            </a:r>
            <a:r>
              <a:rPr dirty="0" sz="1000" spc="10">
                <a:latin typeface="Times New Roman"/>
                <a:cs typeface="Times New Roman"/>
              </a:rPr>
              <a:t>may</a:t>
            </a:r>
            <a:r>
              <a:rPr dirty="0" sz="1000" spc="110">
                <a:latin typeface="Times New Roman"/>
                <a:cs typeface="Times New Roman"/>
              </a:rPr>
              <a:t> </a:t>
            </a:r>
            <a:r>
              <a:rPr dirty="0" sz="1000" spc="10">
                <a:latin typeface="Times New Roman"/>
                <a:cs typeface="Times New Roman"/>
              </a:rPr>
              <a:t>have</a:t>
            </a:r>
            <a:r>
              <a:rPr dirty="0" sz="1000" spc="114">
                <a:latin typeface="Times New Roman"/>
                <a:cs typeface="Times New Roman"/>
              </a:rPr>
              <a:t> </a:t>
            </a:r>
            <a:r>
              <a:rPr dirty="0" sz="1000" spc="10">
                <a:latin typeface="Times New Roman"/>
                <a:cs typeface="Times New Roman"/>
              </a:rPr>
              <a:t>worse</a:t>
            </a:r>
            <a:r>
              <a:rPr dirty="0" sz="1000" spc="114">
                <a:latin typeface="Times New Roman"/>
                <a:cs typeface="Times New Roman"/>
              </a:rPr>
              <a:t> </a:t>
            </a:r>
            <a:r>
              <a:rPr dirty="0" sz="1000" spc="-10">
                <a:latin typeface="Times New Roman"/>
                <a:cs typeface="Times New Roman"/>
              </a:rPr>
              <a:t>performance </a:t>
            </a:r>
            <a:r>
              <a:rPr dirty="0" sz="1000" spc="40">
                <a:latin typeface="Times New Roman"/>
                <a:cs typeface="Times New Roman"/>
              </a:rPr>
              <a:t>than</a:t>
            </a:r>
            <a:r>
              <a:rPr dirty="0" sz="1000" spc="-35">
                <a:latin typeface="Times New Roman"/>
                <a:cs typeface="Times New Roman"/>
              </a:rPr>
              <a:t> </a:t>
            </a:r>
            <a:r>
              <a:rPr dirty="0" sz="1000" spc="20">
                <a:latin typeface="Times New Roman"/>
                <a:cs typeface="Times New Roman"/>
              </a:rPr>
              <a:t>unimodal</a:t>
            </a:r>
            <a:r>
              <a:rPr dirty="0" sz="1000" spc="-35">
                <a:latin typeface="Times New Roman"/>
                <a:cs typeface="Times New Roman"/>
              </a:rPr>
              <a:t> </a:t>
            </a:r>
            <a:r>
              <a:rPr dirty="0" sz="1000" spc="20">
                <a:latin typeface="Times New Roman"/>
                <a:cs typeface="Times New Roman"/>
              </a:rPr>
              <a:t>learning.</a:t>
            </a:r>
            <a:r>
              <a:rPr dirty="0" sz="1000" spc="120">
                <a:latin typeface="Times New Roman"/>
                <a:cs typeface="Times New Roman"/>
              </a:rPr>
              <a:t> </a:t>
            </a:r>
            <a:r>
              <a:rPr dirty="0" sz="1000" spc="10">
                <a:latin typeface="Times New Roman"/>
                <a:cs typeface="Times New Roman"/>
              </a:rPr>
              <a:t>Existing</a:t>
            </a:r>
            <a:r>
              <a:rPr dirty="0" sz="1000" spc="-30">
                <a:latin typeface="Times New Roman"/>
                <a:cs typeface="Times New Roman"/>
              </a:rPr>
              <a:t> </a:t>
            </a:r>
            <a:r>
              <a:rPr dirty="0" sz="1000" spc="20">
                <a:latin typeface="Times New Roman"/>
                <a:cs typeface="Times New Roman"/>
              </a:rPr>
              <a:t>methods</a:t>
            </a:r>
            <a:r>
              <a:rPr dirty="0" sz="1000" spc="-35">
                <a:latin typeface="Times New Roman"/>
                <a:cs typeface="Times New Roman"/>
              </a:rPr>
              <a:t> </a:t>
            </a:r>
            <a:r>
              <a:rPr dirty="0" sz="1000" spc="20">
                <a:latin typeface="Times New Roman"/>
                <a:cs typeface="Times New Roman"/>
              </a:rPr>
              <a:t>attribute</a:t>
            </a:r>
            <a:r>
              <a:rPr dirty="0" sz="1000" spc="-35">
                <a:latin typeface="Times New Roman"/>
                <a:cs typeface="Times New Roman"/>
              </a:rPr>
              <a:t> </a:t>
            </a:r>
            <a:r>
              <a:rPr dirty="0" sz="1000" spc="20">
                <a:latin typeface="Times New Roman"/>
                <a:cs typeface="Times New Roman"/>
              </a:rPr>
              <a:t>this</a:t>
            </a:r>
            <a:r>
              <a:rPr dirty="0" sz="1000" spc="-30">
                <a:latin typeface="Times New Roman"/>
                <a:cs typeface="Times New Roman"/>
              </a:rPr>
              <a:t> </a:t>
            </a:r>
            <a:r>
              <a:rPr dirty="0" sz="1000" spc="20">
                <a:latin typeface="Times New Roman"/>
                <a:cs typeface="Times New Roman"/>
              </a:rPr>
              <a:t>problem</a:t>
            </a:r>
            <a:r>
              <a:rPr dirty="0" sz="1000" spc="-35">
                <a:latin typeface="Times New Roman"/>
                <a:cs typeface="Times New Roman"/>
              </a:rPr>
              <a:t> </a:t>
            </a:r>
            <a:r>
              <a:rPr dirty="0" sz="1000" spc="10">
                <a:latin typeface="Times New Roman"/>
                <a:cs typeface="Times New Roman"/>
              </a:rPr>
              <a:t>to</a:t>
            </a:r>
            <a:r>
              <a:rPr dirty="0" sz="1000" spc="-35">
                <a:latin typeface="Times New Roman"/>
                <a:cs typeface="Times New Roman"/>
              </a:rPr>
              <a:t> </a:t>
            </a:r>
            <a:r>
              <a:rPr dirty="0" sz="1000" spc="20">
                <a:latin typeface="Times New Roman"/>
                <a:cs typeface="Times New Roman"/>
              </a:rPr>
              <a:t>the</a:t>
            </a:r>
            <a:r>
              <a:rPr dirty="0" sz="1000" spc="-30">
                <a:latin typeface="Times New Roman"/>
                <a:cs typeface="Times New Roman"/>
              </a:rPr>
              <a:t> </a:t>
            </a:r>
            <a:r>
              <a:rPr dirty="0" sz="1000" spc="20">
                <a:latin typeface="Times New Roman"/>
                <a:cs typeface="Times New Roman"/>
              </a:rPr>
              <a:t>im-balanced</a:t>
            </a:r>
            <a:r>
              <a:rPr dirty="0" sz="1000" spc="-35">
                <a:latin typeface="Times New Roman"/>
                <a:cs typeface="Times New Roman"/>
              </a:rPr>
              <a:t> </a:t>
            </a:r>
            <a:r>
              <a:rPr dirty="0" sz="1000" spc="20">
                <a:latin typeface="Times New Roman"/>
                <a:cs typeface="Times New Roman"/>
              </a:rPr>
              <a:t>learning</a:t>
            </a:r>
            <a:r>
              <a:rPr dirty="0" sz="1000" spc="-30">
                <a:latin typeface="Times New Roman"/>
                <a:cs typeface="Times New Roman"/>
              </a:rPr>
              <a:t> </a:t>
            </a:r>
            <a:r>
              <a:rPr dirty="0" sz="1000" spc="20">
                <a:latin typeface="Times New Roman"/>
                <a:cs typeface="Times New Roman"/>
              </a:rPr>
              <a:t>between</a:t>
            </a:r>
            <a:r>
              <a:rPr dirty="0" sz="1000" spc="-35">
                <a:latin typeface="Times New Roman"/>
                <a:cs typeface="Times New Roman"/>
              </a:rPr>
              <a:t> </a:t>
            </a:r>
            <a:r>
              <a:rPr dirty="0" sz="1000" spc="-10">
                <a:latin typeface="Times New Roman"/>
                <a:cs typeface="Times New Roman"/>
              </a:rPr>
              <a:t>modal- </a:t>
            </a:r>
            <a:r>
              <a:rPr dirty="0" sz="1000">
                <a:latin typeface="Times New Roman"/>
                <a:cs typeface="Times New Roman"/>
              </a:rPr>
              <a:t>ities</a:t>
            </a:r>
            <a:r>
              <a:rPr dirty="0" sz="1000" spc="225">
                <a:latin typeface="Times New Roman"/>
                <a:cs typeface="Times New Roman"/>
              </a:rPr>
              <a:t> </a:t>
            </a:r>
            <a:r>
              <a:rPr dirty="0" sz="1000">
                <a:latin typeface="Times New Roman"/>
                <a:cs typeface="Times New Roman"/>
              </a:rPr>
              <a:t>and</a:t>
            </a:r>
            <a:r>
              <a:rPr dirty="0" sz="1000" spc="225">
                <a:latin typeface="Times New Roman"/>
                <a:cs typeface="Times New Roman"/>
              </a:rPr>
              <a:t> </a:t>
            </a:r>
            <a:r>
              <a:rPr dirty="0" sz="1000">
                <a:latin typeface="Times New Roman"/>
                <a:cs typeface="Times New Roman"/>
              </a:rPr>
              <a:t>rebalance</a:t>
            </a:r>
            <a:r>
              <a:rPr dirty="0" sz="1000" spc="225">
                <a:latin typeface="Times New Roman"/>
                <a:cs typeface="Times New Roman"/>
              </a:rPr>
              <a:t> </a:t>
            </a:r>
            <a:r>
              <a:rPr dirty="0" sz="1000">
                <a:latin typeface="Times New Roman"/>
                <a:cs typeface="Times New Roman"/>
              </a:rPr>
              <a:t>them</a:t>
            </a:r>
            <a:r>
              <a:rPr dirty="0" sz="1000" spc="225">
                <a:latin typeface="Times New Roman"/>
                <a:cs typeface="Times New Roman"/>
              </a:rPr>
              <a:t> </a:t>
            </a:r>
            <a:r>
              <a:rPr dirty="0" sz="1000">
                <a:latin typeface="Times New Roman"/>
                <a:cs typeface="Times New Roman"/>
              </a:rPr>
              <a:t>through</a:t>
            </a:r>
            <a:r>
              <a:rPr dirty="0" sz="1000" spc="225">
                <a:latin typeface="Times New Roman"/>
                <a:cs typeface="Times New Roman"/>
              </a:rPr>
              <a:t> </a:t>
            </a:r>
            <a:r>
              <a:rPr dirty="0" sz="1000">
                <a:latin typeface="Times New Roman"/>
                <a:cs typeface="Times New Roman"/>
              </a:rPr>
              <a:t>gradient</a:t>
            </a:r>
            <a:r>
              <a:rPr dirty="0" sz="1000" spc="225">
                <a:latin typeface="Times New Roman"/>
                <a:cs typeface="Times New Roman"/>
              </a:rPr>
              <a:t> </a:t>
            </a:r>
            <a:r>
              <a:rPr dirty="0" sz="1000">
                <a:latin typeface="Times New Roman"/>
                <a:cs typeface="Times New Roman"/>
              </a:rPr>
              <a:t>modulation.</a:t>
            </a:r>
            <a:r>
              <a:rPr dirty="0" sz="1000" spc="204">
                <a:latin typeface="Times New Roman"/>
                <a:cs typeface="Times New Roman"/>
              </a:rPr>
              <a:t>  </a:t>
            </a:r>
            <a:r>
              <a:rPr dirty="0" sz="1000">
                <a:latin typeface="Times New Roman"/>
                <a:cs typeface="Times New Roman"/>
              </a:rPr>
              <a:t>However,</a:t>
            </a:r>
            <a:r>
              <a:rPr dirty="0" sz="1000" spc="280">
                <a:latin typeface="Times New Roman"/>
                <a:cs typeface="Times New Roman"/>
              </a:rPr>
              <a:t> </a:t>
            </a:r>
            <a:r>
              <a:rPr dirty="0" sz="1000">
                <a:latin typeface="Times New Roman"/>
                <a:cs typeface="Times New Roman"/>
              </a:rPr>
              <a:t>they</a:t>
            </a:r>
            <a:r>
              <a:rPr dirty="0" sz="1000" spc="225">
                <a:latin typeface="Times New Roman"/>
                <a:cs typeface="Times New Roman"/>
              </a:rPr>
              <a:t> </a:t>
            </a:r>
            <a:r>
              <a:rPr dirty="0" sz="1000">
                <a:latin typeface="Times New Roman"/>
                <a:cs typeface="Times New Roman"/>
              </a:rPr>
              <a:t>fail</a:t>
            </a:r>
            <a:r>
              <a:rPr dirty="0" sz="1000" spc="225">
                <a:latin typeface="Times New Roman"/>
                <a:cs typeface="Times New Roman"/>
              </a:rPr>
              <a:t> </a:t>
            </a:r>
            <a:r>
              <a:rPr dirty="0" sz="1000">
                <a:latin typeface="Times New Roman"/>
                <a:cs typeface="Times New Roman"/>
              </a:rPr>
              <a:t>to</a:t>
            </a:r>
            <a:r>
              <a:rPr dirty="0" sz="1000" spc="225">
                <a:latin typeface="Times New Roman"/>
                <a:cs typeface="Times New Roman"/>
              </a:rPr>
              <a:t> </a:t>
            </a:r>
            <a:r>
              <a:rPr dirty="0" sz="1000">
                <a:latin typeface="Times New Roman"/>
                <a:cs typeface="Times New Roman"/>
              </a:rPr>
              <a:t>explain</a:t>
            </a:r>
            <a:r>
              <a:rPr dirty="0" sz="1000" spc="225">
                <a:latin typeface="Times New Roman"/>
                <a:cs typeface="Times New Roman"/>
              </a:rPr>
              <a:t> </a:t>
            </a:r>
            <a:r>
              <a:rPr dirty="0" sz="1000">
                <a:latin typeface="Times New Roman"/>
                <a:cs typeface="Times New Roman"/>
              </a:rPr>
              <a:t>why</a:t>
            </a:r>
            <a:r>
              <a:rPr dirty="0" sz="1000" spc="225">
                <a:latin typeface="Times New Roman"/>
                <a:cs typeface="Times New Roman"/>
              </a:rPr>
              <a:t> </a:t>
            </a:r>
            <a:r>
              <a:rPr dirty="0" sz="1000">
                <a:latin typeface="Times New Roman"/>
                <a:cs typeface="Times New Roman"/>
              </a:rPr>
              <a:t>the</a:t>
            </a:r>
            <a:r>
              <a:rPr dirty="0" sz="1000" spc="225">
                <a:latin typeface="Times New Roman"/>
                <a:cs typeface="Times New Roman"/>
              </a:rPr>
              <a:t> </a:t>
            </a:r>
            <a:r>
              <a:rPr dirty="0" sz="1000" spc="-10">
                <a:latin typeface="Times New Roman"/>
                <a:cs typeface="Times New Roman"/>
              </a:rPr>
              <a:t>dominant </a:t>
            </a:r>
            <a:r>
              <a:rPr dirty="0" sz="1000">
                <a:latin typeface="Times New Roman"/>
                <a:cs typeface="Times New Roman"/>
              </a:rPr>
              <a:t>modality</a:t>
            </a:r>
            <a:r>
              <a:rPr dirty="0" sz="1000" spc="254">
                <a:latin typeface="Times New Roman"/>
                <a:cs typeface="Times New Roman"/>
              </a:rPr>
              <a:t> </a:t>
            </a:r>
            <a:r>
              <a:rPr dirty="0" sz="1000">
                <a:latin typeface="Times New Roman"/>
                <a:cs typeface="Times New Roman"/>
              </a:rPr>
              <a:t>in</a:t>
            </a:r>
            <a:r>
              <a:rPr dirty="0" sz="1000" spc="254">
                <a:latin typeface="Times New Roman"/>
                <a:cs typeface="Times New Roman"/>
              </a:rPr>
              <a:t> </a:t>
            </a:r>
            <a:r>
              <a:rPr dirty="0" sz="1000">
                <a:latin typeface="Times New Roman"/>
                <a:cs typeface="Times New Roman"/>
              </a:rPr>
              <a:t>multimodal</a:t>
            </a:r>
            <a:r>
              <a:rPr dirty="0" sz="1000" spc="254">
                <a:latin typeface="Times New Roman"/>
                <a:cs typeface="Times New Roman"/>
              </a:rPr>
              <a:t> </a:t>
            </a:r>
            <a:r>
              <a:rPr dirty="0" sz="1000">
                <a:latin typeface="Times New Roman"/>
                <a:cs typeface="Times New Roman"/>
              </a:rPr>
              <a:t>models</a:t>
            </a:r>
            <a:r>
              <a:rPr dirty="0" sz="1000" spc="254">
                <a:latin typeface="Times New Roman"/>
                <a:cs typeface="Times New Roman"/>
              </a:rPr>
              <a:t> </a:t>
            </a:r>
            <a:r>
              <a:rPr dirty="0" sz="1000">
                <a:latin typeface="Times New Roman"/>
                <a:cs typeface="Times New Roman"/>
              </a:rPr>
              <a:t>also</a:t>
            </a:r>
            <a:r>
              <a:rPr dirty="0" sz="1000" spc="254">
                <a:latin typeface="Times New Roman"/>
                <a:cs typeface="Times New Roman"/>
              </a:rPr>
              <a:t> </a:t>
            </a:r>
            <a:r>
              <a:rPr dirty="0" sz="1000">
                <a:latin typeface="Times New Roman"/>
                <a:cs typeface="Times New Roman"/>
              </a:rPr>
              <a:t>un-derperforms</a:t>
            </a:r>
            <a:r>
              <a:rPr dirty="0" sz="1000" spc="254">
                <a:latin typeface="Times New Roman"/>
                <a:cs typeface="Times New Roman"/>
              </a:rPr>
              <a:t> </a:t>
            </a:r>
            <a:r>
              <a:rPr dirty="0" sz="1000">
                <a:latin typeface="Times New Roman"/>
                <a:cs typeface="Times New Roman"/>
              </a:rPr>
              <a:t>that</a:t>
            </a:r>
            <a:r>
              <a:rPr dirty="0" sz="1000" spc="254">
                <a:latin typeface="Times New Roman"/>
                <a:cs typeface="Times New Roman"/>
              </a:rPr>
              <a:t> </a:t>
            </a:r>
            <a:r>
              <a:rPr dirty="0" sz="1000">
                <a:latin typeface="Times New Roman"/>
                <a:cs typeface="Times New Roman"/>
              </a:rPr>
              <a:t>in</a:t>
            </a:r>
            <a:r>
              <a:rPr dirty="0" sz="1000" spc="254">
                <a:latin typeface="Times New Roman"/>
                <a:cs typeface="Times New Roman"/>
              </a:rPr>
              <a:t> </a:t>
            </a:r>
            <a:r>
              <a:rPr dirty="0" sz="1000">
                <a:latin typeface="Times New Roman"/>
                <a:cs typeface="Times New Roman"/>
              </a:rPr>
              <a:t>unimodal</a:t>
            </a:r>
            <a:r>
              <a:rPr dirty="0" sz="1000" spc="254">
                <a:latin typeface="Times New Roman"/>
                <a:cs typeface="Times New Roman"/>
              </a:rPr>
              <a:t> </a:t>
            </a:r>
            <a:r>
              <a:rPr dirty="0" sz="1000">
                <a:latin typeface="Times New Roman"/>
                <a:cs typeface="Times New Roman"/>
              </a:rPr>
              <a:t>learning.</a:t>
            </a:r>
            <a:r>
              <a:rPr dirty="0" sz="1000" spc="235">
                <a:latin typeface="Times New Roman"/>
                <a:cs typeface="Times New Roman"/>
              </a:rPr>
              <a:t>  </a:t>
            </a:r>
            <a:r>
              <a:rPr dirty="0" sz="1000">
                <a:latin typeface="Times New Roman"/>
                <a:cs typeface="Times New Roman"/>
              </a:rPr>
              <a:t>In</a:t>
            </a:r>
            <a:r>
              <a:rPr dirty="0" sz="1000" spc="254">
                <a:latin typeface="Times New Roman"/>
                <a:cs typeface="Times New Roman"/>
              </a:rPr>
              <a:t> </a:t>
            </a:r>
            <a:r>
              <a:rPr dirty="0" sz="1000">
                <a:latin typeface="Times New Roman"/>
                <a:cs typeface="Times New Roman"/>
              </a:rPr>
              <a:t>this</a:t>
            </a:r>
            <a:r>
              <a:rPr dirty="0" sz="1000" spc="254">
                <a:latin typeface="Times New Roman"/>
                <a:cs typeface="Times New Roman"/>
              </a:rPr>
              <a:t> </a:t>
            </a:r>
            <a:r>
              <a:rPr dirty="0" sz="1000">
                <a:latin typeface="Times New Roman"/>
                <a:cs typeface="Times New Roman"/>
              </a:rPr>
              <a:t>work,</a:t>
            </a:r>
            <a:r>
              <a:rPr dirty="0" sz="1000" spc="295">
                <a:latin typeface="Times New Roman"/>
                <a:cs typeface="Times New Roman"/>
              </a:rPr>
              <a:t> </a:t>
            </a:r>
            <a:r>
              <a:rPr dirty="0" sz="1000">
                <a:latin typeface="Times New Roman"/>
                <a:cs typeface="Times New Roman"/>
              </a:rPr>
              <a:t>we</a:t>
            </a:r>
            <a:r>
              <a:rPr dirty="0" sz="1000" spc="254">
                <a:latin typeface="Times New Roman"/>
                <a:cs typeface="Times New Roman"/>
              </a:rPr>
              <a:t> </a:t>
            </a:r>
            <a:r>
              <a:rPr dirty="0" sz="1000" spc="-10">
                <a:latin typeface="Times New Roman"/>
                <a:cs typeface="Times New Roman"/>
              </a:rPr>
              <a:t>reveal </a:t>
            </a:r>
            <a:r>
              <a:rPr dirty="0" sz="1000" spc="10">
                <a:latin typeface="Times New Roman"/>
                <a:cs typeface="Times New Roman"/>
              </a:rPr>
              <a:t>the</a:t>
            </a:r>
            <a:r>
              <a:rPr dirty="0" sz="1000" spc="90">
                <a:latin typeface="Times New Roman"/>
                <a:cs typeface="Times New Roman"/>
              </a:rPr>
              <a:t> </a:t>
            </a:r>
            <a:r>
              <a:rPr dirty="0" sz="1000" spc="10">
                <a:latin typeface="Times New Roman"/>
                <a:cs typeface="Times New Roman"/>
              </a:rPr>
              <a:t>optimization</a:t>
            </a:r>
            <a:r>
              <a:rPr dirty="0" sz="1000" spc="90">
                <a:latin typeface="Times New Roman"/>
                <a:cs typeface="Times New Roman"/>
              </a:rPr>
              <a:t> </a:t>
            </a:r>
            <a:r>
              <a:rPr dirty="0" sz="1000" spc="10">
                <a:latin typeface="Times New Roman"/>
                <a:cs typeface="Times New Roman"/>
              </a:rPr>
              <a:t>conflict</a:t>
            </a:r>
            <a:r>
              <a:rPr dirty="0" sz="1000" spc="95">
                <a:latin typeface="Times New Roman"/>
                <a:cs typeface="Times New Roman"/>
              </a:rPr>
              <a:t> </a:t>
            </a:r>
            <a:r>
              <a:rPr dirty="0" sz="1000" spc="10">
                <a:latin typeface="Times New Roman"/>
                <a:cs typeface="Times New Roman"/>
              </a:rPr>
              <a:t>between</a:t>
            </a:r>
            <a:r>
              <a:rPr dirty="0" sz="1000" spc="90">
                <a:latin typeface="Times New Roman"/>
                <a:cs typeface="Times New Roman"/>
              </a:rPr>
              <a:t> </a:t>
            </a:r>
            <a:r>
              <a:rPr dirty="0" sz="1000" spc="10">
                <a:latin typeface="Times New Roman"/>
                <a:cs typeface="Times New Roman"/>
              </a:rPr>
              <a:t>the</a:t>
            </a:r>
            <a:r>
              <a:rPr dirty="0" sz="1000" spc="95">
                <a:latin typeface="Times New Roman"/>
                <a:cs typeface="Times New Roman"/>
              </a:rPr>
              <a:t> </a:t>
            </a:r>
            <a:r>
              <a:rPr dirty="0" sz="1000" spc="10">
                <a:latin typeface="Times New Roman"/>
                <a:cs typeface="Times New Roman"/>
              </a:rPr>
              <a:t>modality</a:t>
            </a:r>
            <a:r>
              <a:rPr dirty="0" sz="1000" spc="90">
                <a:latin typeface="Times New Roman"/>
                <a:cs typeface="Times New Roman"/>
              </a:rPr>
              <a:t> </a:t>
            </a:r>
            <a:r>
              <a:rPr dirty="0" sz="1000" spc="10">
                <a:latin typeface="Times New Roman"/>
                <a:cs typeface="Times New Roman"/>
              </a:rPr>
              <a:t>encoder</a:t>
            </a:r>
            <a:r>
              <a:rPr dirty="0" sz="1000" spc="90">
                <a:latin typeface="Times New Roman"/>
                <a:cs typeface="Times New Roman"/>
              </a:rPr>
              <a:t> </a:t>
            </a:r>
            <a:r>
              <a:rPr dirty="0" sz="1000" spc="10">
                <a:latin typeface="Times New Roman"/>
                <a:cs typeface="Times New Roman"/>
              </a:rPr>
              <a:t>and</a:t>
            </a:r>
            <a:r>
              <a:rPr dirty="0" sz="1000" spc="100">
                <a:latin typeface="Times New Roman"/>
                <a:cs typeface="Times New Roman"/>
              </a:rPr>
              <a:t> </a:t>
            </a:r>
            <a:r>
              <a:rPr dirty="0" sz="1000" spc="10">
                <a:latin typeface="Times New Roman"/>
                <a:cs typeface="Times New Roman"/>
              </a:rPr>
              <a:t>modality</a:t>
            </a:r>
            <a:r>
              <a:rPr dirty="0" sz="1000" spc="95">
                <a:latin typeface="Times New Roman"/>
                <a:cs typeface="Times New Roman"/>
              </a:rPr>
              <a:t> </a:t>
            </a:r>
            <a:r>
              <a:rPr dirty="0" sz="1000" spc="10">
                <a:latin typeface="Times New Roman"/>
                <a:cs typeface="Times New Roman"/>
              </a:rPr>
              <a:t>fusion</a:t>
            </a:r>
            <a:r>
              <a:rPr dirty="0" sz="1000" spc="90">
                <a:latin typeface="Times New Roman"/>
                <a:cs typeface="Times New Roman"/>
              </a:rPr>
              <a:t> </a:t>
            </a:r>
            <a:r>
              <a:rPr dirty="0" sz="1000" spc="10">
                <a:latin typeface="Times New Roman"/>
                <a:cs typeface="Times New Roman"/>
              </a:rPr>
              <a:t>module</a:t>
            </a:r>
            <a:r>
              <a:rPr dirty="0" sz="1000" spc="90">
                <a:latin typeface="Times New Roman"/>
                <a:cs typeface="Times New Roman"/>
              </a:rPr>
              <a:t> </a:t>
            </a:r>
            <a:r>
              <a:rPr dirty="0" sz="1000" spc="10">
                <a:latin typeface="Times New Roman"/>
                <a:cs typeface="Times New Roman"/>
              </a:rPr>
              <a:t>in</a:t>
            </a:r>
            <a:r>
              <a:rPr dirty="0" sz="1000" spc="100">
                <a:latin typeface="Times New Roman"/>
                <a:cs typeface="Times New Roman"/>
              </a:rPr>
              <a:t> </a:t>
            </a:r>
            <a:r>
              <a:rPr dirty="0" sz="1000" spc="10">
                <a:latin typeface="Times New Roman"/>
                <a:cs typeface="Times New Roman"/>
              </a:rPr>
              <a:t>multimodal</a:t>
            </a:r>
            <a:r>
              <a:rPr dirty="0" sz="1000" spc="95">
                <a:latin typeface="Times New Roman"/>
                <a:cs typeface="Times New Roman"/>
              </a:rPr>
              <a:t> </a:t>
            </a:r>
            <a:r>
              <a:rPr dirty="0" sz="1000" spc="-10">
                <a:latin typeface="Times New Roman"/>
                <a:cs typeface="Times New Roman"/>
              </a:rPr>
              <a:t>models. Specifically,</a:t>
            </a:r>
            <a:r>
              <a:rPr dirty="0" sz="1000" spc="135">
                <a:latin typeface="Times New Roman"/>
                <a:cs typeface="Times New Roman"/>
              </a:rPr>
              <a:t> </a:t>
            </a:r>
            <a:r>
              <a:rPr dirty="0" sz="1000">
                <a:latin typeface="Times New Roman"/>
                <a:cs typeface="Times New Roman"/>
              </a:rPr>
              <a:t>we</a:t>
            </a:r>
            <a:r>
              <a:rPr dirty="0" sz="1000" spc="130">
                <a:latin typeface="Times New Roman"/>
                <a:cs typeface="Times New Roman"/>
              </a:rPr>
              <a:t> </a:t>
            </a:r>
            <a:r>
              <a:rPr dirty="0" sz="1000">
                <a:latin typeface="Times New Roman"/>
                <a:cs typeface="Times New Roman"/>
              </a:rPr>
              <a:t>prove</a:t>
            </a:r>
            <a:r>
              <a:rPr dirty="0" sz="1000" spc="130">
                <a:latin typeface="Times New Roman"/>
                <a:cs typeface="Times New Roman"/>
              </a:rPr>
              <a:t> </a:t>
            </a:r>
            <a:r>
              <a:rPr dirty="0" sz="1000">
                <a:latin typeface="Times New Roman"/>
                <a:cs typeface="Times New Roman"/>
              </a:rPr>
              <a:t>that</a:t>
            </a:r>
            <a:r>
              <a:rPr dirty="0" sz="1000" spc="130">
                <a:latin typeface="Times New Roman"/>
                <a:cs typeface="Times New Roman"/>
              </a:rPr>
              <a:t> </a:t>
            </a:r>
            <a:r>
              <a:rPr dirty="0" sz="1000">
                <a:latin typeface="Times New Roman"/>
                <a:cs typeface="Times New Roman"/>
              </a:rPr>
              <a:t>the</a:t>
            </a:r>
            <a:r>
              <a:rPr dirty="0" sz="1000" spc="130">
                <a:latin typeface="Times New Roman"/>
                <a:cs typeface="Times New Roman"/>
              </a:rPr>
              <a:t> </a:t>
            </a:r>
            <a:r>
              <a:rPr dirty="0" sz="1000">
                <a:latin typeface="Times New Roman"/>
                <a:cs typeface="Times New Roman"/>
              </a:rPr>
              <a:t>cross-modal</a:t>
            </a:r>
            <a:r>
              <a:rPr dirty="0" sz="1000" spc="130">
                <a:latin typeface="Times New Roman"/>
                <a:cs typeface="Times New Roman"/>
              </a:rPr>
              <a:t> </a:t>
            </a:r>
            <a:r>
              <a:rPr dirty="0" sz="1000">
                <a:latin typeface="Times New Roman"/>
                <a:cs typeface="Times New Roman"/>
              </a:rPr>
              <a:t>fusion</a:t>
            </a:r>
            <a:r>
              <a:rPr dirty="0" sz="1000" spc="125">
                <a:latin typeface="Times New Roman"/>
                <a:cs typeface="Times New Roman"/>
              </a:rPr>
              <a:t> </a:t>
            </a:r>
            <a:r>
              <a:rPr dirty="0" sz="1000">
                <a:latin typeface="Times New Roman"/>
                <a:cs typeface="Times New Roman"/>
              </a:rPr>
              <a:t>in</a:t>
            </a:r>
            <a:r>
              <a:rPr dirty="0" sz="1000" spc="130">
                <a:latin typeface="Times New Roman"/>
                <a:cs typeface="Times New Roman"/>
              </a:rPr>
              <a:t> </a:t>
            </a:r>
            <a:r>
              <a:rPr dirty="0" sz="1000">
                <a:latin typeface="Times New Roman"/>
                <a:cs typeface="Times New Roman"/>
              </a:rPr>
              <a:t>multimodal</a:t>
            </a:r>
            <a:r>
              <a:rPr dirty="0" sz="1000" spc="130">
                <a:latin typeface="Times New Roman"/>
                <a:cs typeface="Times New Roman"/>
              </a:rPr>
              <a:t> </a:t>
            </a:r>
            <a:r>
              <a:rPr dirty="0" sz="1000">
                <a:latin typeface="Times New Roman"/>
                <a:cs typeface="Times New Roman"/>
              </a:rPr>
              <a:t>models</a:t>
            </a:r>
            <a:r>
              <a:rPr dirty="0" sz="1000" spc="130">
                <a:latin typeface="Times New Roman"/>
                <a:cs typeface="Times New Roman"/>
              </a:rPr>
              <a:t> </a:t>
            </a:r>
            <a:r>
              <a:rPr dirty="0" sz="1000">
                <a:latin typeface="Times New Roman"/>
                <a:cs typeface="Times New Roman"/>
              </a:rPr>
              <a:t>decreases</a:t>
            </a:r>
            <a:r>
              <a:rPr dirty="0" sz="1000" spc="130">
                <a:latin typeface="Times New Roman"/>
                <a:cs typeface="Times New Roman"/>
              </a:rPr>
              <a:t> </a:t>
            </a:r>
            <a:r>
              <a:rPr dirty="0" sz="1000">
                <a:latin typeface="Times New Roman"/>
                <a:cs typeface="Times New Roman"/>
              </a:rPr>
              <a:t>the</a:t>
            </a:r>
            <a:r>
              <a:rPr dirty="0" sz="1000" spc="130">
                <a:latin typeface="Times New Roman"/>
                <a:cs typeface="Times New Roman"/>
              </a:rPr>
              <a:t> </a:t>
            </a:r>
            <a:r>
              <a:rPr dirty="0" sz="1000">
                <a:latin typeface="Times New Roman"/>
                <a:cs typeface="Times New Roman"/>
              </a:rPr>
              <a:t>gradient</a:t>
            </a:r>
            <a:r>
              <a:rPr dirty="0" sz="1000" spc="130">
                <a:latin typeface="Times New Roman"/>
                <a:cs typeface="Times New Roman"/>
              </a:rPr>
              <a:t> </a:t>
            </a:r>
            <a:r>
              <a:rPr dirty="0" sz="1000">
                <a:latin typeface="Times New Roman"/>
                <a:cs typeface="Times New Roman"/>
              </a:rPr>
              <a:t>passed</a:t>
            </a:r>
            <a:r>
              <a:rPr dirty="0" sz="1000" spc="130">
                <a:latin typeface="Times New Roman"/>
                <a:cs typeface="Times New Roman"/>
              </a:rPr>
              <a:t> </a:t>
            </a:r>
            <a:r>
              <a:rPr dirty="0" sz="1000" spc="-20">
                <a:latin typeface="Times New Roman"/>
                <a:cs typeface="Times New Roman"/>
              </a:rPr>
              <a:t>back </a:t>
            </a:r>
            <a:r>
              <a:rPr dirty="0" sz="1000">
                <a:latin typeface="Times New Roman"/>
                <a:cs typeface="Times New Roman"/>
              </a:rPr>
              <a:t>to</a:t>
            </a:r>
            <a:r>
              <a:rPr dirty="0" sz="1000" spc="85">
                <a:latin typeface="Times New Roman"/>
                <a:cs typeface="Times New Roman"/>
              </a:rPr>
              <a:t> </a:t>
            </a:r>
            <a:r>
              <a:rPr dirty="0" sz="1000">
                <a:latin typeface="Times New Roman"/>
                <a:cs typeface="Times New Roman"/>
              </a:rPr>
              <a:t>each</a:t>
            </a:r>
            <a:r>
              <a:rPr dirty="0" sz="1000" spc="100">
                <a:latin typeface="Times New Roman"/>
                <a:cs typeface="Times New Roman"/>
              </a:rPr>
              <a:t> </a:t>
            </a:r>
            <a:r>
              <a:rPr dirty="0" sz="1000">
                <a:latin typeface="Times New Roman"/>
                <a:cs typeface="Times New Roman"/>
              </a:rPr>
              <a:t>modality</a:t>
            </a:r>
            <a:r>
              <a:rPr dirty="0" sz="1000" spc="95">
                <a:latin typeface="Times New Roman"/>
                <a:cs typeface="Times New Roman"/>
              </a:rPr>
              <a:t> </a:t>
            </a:r>
            <a:r>
              <a:rPr dirty="0" sz="1000">
                <a:latin typeface="Times New Roman"/>
                <a:cs typeface="Times New Roman"/>
              </a:rPr>
              <a:t>encoder</a:t>
            </a:r>
            <a:r>
              <a:rPr dirty="0" sz="1000" spc="100">
                <a:latin typeface="Times New Roman"/>
                <a:cs typeface="Times New Roman"/>
              </a:rPr>
              <a:t> </a:t>
            </a:r>
            <a:r>
              <a:rPr dirty="0" sz="1000">
                <a:latin typeface="Times New Roman"/>
                <a:cs typeface="Times New Roman"/>
              </a:rPr>
              <a:t>compared</a:t>
            </a:r>
            <a:r>
              <a:rPr dirty="0" sz="1000" spc="90">
                <a:latin typeface="Times New Roman"/>
                <a:cs typeface="Times New Roman"/>
              </a:rPr>
              <a:t> </a:t>
            </a:r>
            <a:r>
              <a:rPr dirty="0" sz="1000">
                <a:latin typeface="Times New Roman"/>
                <a:cs typeface="Times New Roman"/>
              </a:rPr>
              <a:t>with</a:t>
            </a:r>
            <a:r>
              <a:rPr dirty="0" sz="1000" spc="95">
                <a:latin typeface="Times New Roman"/>
                <a:cs typeface="Times New Roman"/>
              </a:rPr>
              <a:t> </a:t>
            </a:r>
            <a:r>
              <a:rPr dirty="0" sz="1000">
                <a:latin typeface="Times New Roman"/>
                <a:cs typeface="Times New Roman"/>
              </a:rPr>
              <a:t>unimodal</a:t>
            </a:r>
            <a:r>
              <a:rPr dirty="0" sz="1000" spc="100">
                <a:latin typeface="Times New Roman"/>
                <a:cs typeface="Times New Roman"/>
              </a:rPr>
              <a:t> </a:t>
            </a:r>
            <a:r>
              <a:rPr dirty="0" sz="1000">
                <a:latin typeface="Times New Roman"/>
                <a:cs typeface="Times New Roman"/>
              </a:rPr>
              <a:t>models.</a:t>
            </a:r>
            <a:r>
              <a:rPr dirty="0" sz="1000" spc="260">
                <a:latin typeface="Times New Roman"/>
                <a:cs typeface="Times New Roman"/>
              </a:rPr>
              <a:t> </a:t>
            </a:r>
            <a:r>
              <a:rPr dirty="0" sz="1000">
                <a:latin typeface="Times New Roman"/>
                <a:cs typeface="Times New Roman"/>
              </a:rPr>
              <a:t>Consequently,</a:t>
            </a:r>
            <a:r>
              <a:rPr dirty="0" sz="1000" spc="105">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performance</a:t>
            </a:r>
            <a:r>
              <a:rPr dirty="0" sz="1000" spc="100">
                <a:latin typeface="Times New Roman"/>
                <a:cs typeface="Times New Roman"/>
              </a:rPr>
              <a:t> </a:t>
            </a:r>
            <a:r>
              <a:rPr dirty="0" sz="1000" spc="-10">
                <a:latin typeface="Times New Roman"/>
                <a:cs typeface="Times New Roman"/>
              </a:rPr>
              <a:t>of</a:t>
            </a:r>
            <a:r>
              <a:rPr dirty="0" sz="1000" spc="95">
                <a:latin typeface="Times New Roman"/>
                <a:cs typeface="Times New Roman"/>
              </a:rPr>
              <a:t> </a:t>
            </a:r>
            <a:r>
              <a:rPr dirty="0" sz="1000">
                <a:latin typeface="Times New Roman"/>
                <a:cs typeface="Times New Roman"/>
              </a:rPr>
              <a:t>each</a:t>
            </a:r>
            <a:r>
              <a:rPr dirty="0" sz="1000" spc="100">
                <a:latin typeface="Times New Roman"/>
                <a:cs typeface="Times New Roman"/>
              </a:rPr>
              <a:t> </a:t>
            </a:r>
            <a:r>
              <a:rPr dirty="0" sz="1000" spc="-10">
                <a:latin typeface="Times New Roman"/>
                <a:cs typeface="Times New Roman"/>
              </a:rPr>
              <a:t>modality </a:t>
            </a:r>
            <a:r>
              <a:rPr dirty="0" sz="1000" spc="10">
                <a:latin typeface="Times New Roman"/>
                <a:cs typeface="Times New Roman"/>
              </a:rPr>
              <a:t>in</a:t>
            </a:r>
            <a:r>
              <a:rPr dirty="0" sz="1000" spc="90">
                <a:latin typeface="Times New Roman"/>
                <a:cs typeface="Times New Roman"/>
              </a:rPr>
              <a:t> </a:t>
            </a:r>
            <a:r>
              <a:rPr dirty="0" sz="1000" spc="10">
                <a:latin typeface="Times New Roman"/>
                <a:cs typeface="Times New Roman"/>
              </a:rPr>
              <a:t>the</a:t>
            </a:r>
            <a:r>
              <a:rPr dirty="0" sz="1000" spc="90">
                <a:latin typeface="Times New Roman"/>
                <a:cs typeface="Times New Roman"/>
              </a:rPr>
              <a:t> </a:t>
            </a:r>
            <a:r>
              <a:rPr dirty="0" sz="1000" spc="10">
                <a:latin typeface="Times New Roman"/>
                <a:cs typeface="Times New Roman"/>
              </a:rPr>
              <a:t>multimodal</a:t>
            </a:r>
            <a:r>
              <a:rPr dirty="0" sz="1000" spc="90">
                <a:latin typeface="Times New Roman"/>
                <a:cs typeface="Times New Roman"/>
              </a:rPr>
              <a:t> </a:t>
            </a:r>
            <a:r>
              <a:rPr dirty="0" sz="1000" spc="10">
                <a:latin typeface="Times New Roman"/>
                <a:cs typeface="Times New Roman"/>
              </a:rPr>
              <a:t>model</a:t>
            </a:r>
            <a:r>
              <a:rPr dirty="0" sz="1000" spc="95">
                <a:latin typeface="Times New Roman"/>
                <a:cs typeface="Times New Roman"/>
              </a:rPr>
              <a:t> </a:t>
            </a:r>
            <a:r>
              <a:rPr dirty="0" sz="1000" spc="10">
                <a:latin typeface="Times New Roman"/>
                <a:cs typeface="Times New Roman"/>
              </a:rPr>
              <a:t>is</a:t>
            </a:r>
            <a:r>
              <a:rPr dirty="0" sz="1000" spc="90">
                <a:latin typeface="Times New Roman"/>
                <a:cs typeface="Times New Roman"/>
              </a:rPr>
              <a:t> </a:t>
            </a:r>
            <a:r>
              <a:rPr dirty="0" sz="1000" spc="10">
                <a:latin typeface="Times New Roman"/>
                <a:cs typeface="Times New Roman"/>
              </a:rPr>
              <a:t>inferior</a:t>
            </a:r>
            <a:r>
              <a:rPr dirty="0" sz="1000" spc="90">
                <a:latin typeface="Times New Roman"/>
                <a:cs typeface="Times New Roman"/>
              </a:rPr>
              <a:t> </a:t>
            </a:r>
            <a:r>
              <a:rPr dirty="0" sz="1000" spc="10">
                <a:latin typeface="Times New Roman"/>
                <a:cs typeface="Times New Roman"/>
              </a:rPr>
              <a:t>to</a:t>
            </a:r>
            <a:r>
              <a:rPr dirty="0" sz="1000" spc="95">
                <a:latin typeface="Times New Roman"/>
                <a:cs typeface="Times New Roman"/>
              </a:rPr>
              <a:t> </a:t>
            </a:r>
            <a:r>
              <a:rPr dirty="0" sz="1000" spc="10">
                <a:latin typeface="Times New Roman"/>
                <a:cs typeface="Times New Roman"/>
              </a:rPr>
              <a:t>that</a:t>
            </a:r>
            <a:r>
              <a:rPr dirty="0" sz="1000" spc="90">
                <a:latin typeface="Times New Roman"/>
                <a:cs typeface="Times New Roman"/>
              </a:rPr>
              <a:t> </a:t>
            </a:r>
            <a:r>
              <a:rPr dirty="0" sz="1000" spc="10">
                <a:latin typeface="Times New Roman"/>
                <a:cs typeface="Times New Roman"/>
              </a:rPr>
              <a:t>in</a:t>
            </a:r>
            <a:r>
              <a:rPr dirty="0" sz="1000" spc="90">
                <a:latin typeface="Times New Roman"/>
                <a:cs typeface="Times New Roman"/>
              </a:rPr>
              <a:t> </a:t>
            </a:r>
            <a:r>
              <a:rPr dirty="0" sz="1000" spc="10">
                <a:latin typeface="Times New Roman"/>
                <a:cs typeface="Times New Roman"/>
              </a:rPr>
              <a:t>the</a:t>
            </a:r>
            <a:r>
              <a:rPr dirty="0" sz="1000" spc="95">
                <a:latin typeface="Times New Roman"/>
                <a:cs typeface="Times New Roman"/>
              </a:rPr>
              <a:t> </a:t>
            </a:r>
            <a:r>
              <a:rPr dirty="0" sz="1000" spc="10">
                <a:latin typeface="Times New Roman"/>
                <a:cs typeface="Times New Roman"/>
              </a:rPr>
              <a:t>unimodal</a:t>
            </a:r>
            <a:r>
              <a:rPr dirty="0" sz="1000" spc="90">
                <a:latin typeface="Times New Roman"/>
                <a:cs typeface="Times New Roman"/>
              </a:rPr>
              <a:t> </a:t>
            </a:r>
            <a:r>
              <a:rPr dirty="0" sz="1000" spc="10">
                <a:latin typeface="Times New Roman"/>
                <a:cs typeface="Times New Roman"/>
              </a:rPr>
              <a:t>model.</a:t>
            </a:r>
            <a:r>
              <a:rPr dirty="0" sz="1000" spc="305">
                <a:latin typeface="Times New Roman"/>
                <a:cs typeface="Times New Roman"/>
              </a:rPr>
              <a:t> </a:t>
            </a:r>
            <a:r>
              <a:rPr dirty="0" sz="1000">
                <a:latin typeface="Times New Roman"/>
                <a:cs typeface="Times New Roman"/>
              </a:rPr>
              <a:t>To</a:t>
            </a:r>
            <a:r>
              <a:rPr dirty="0" sz="1000" spc="90">
                <a:latin typeface="Times New Roman"/>
                <a:cs typeface="Times New Roman"/>
              </a:rPr>
              <a:t> </a:t>
            </a:r>
            <a:r>
              <a:rPr dirty="0" sz="1000" spc="10">
                <a:latin typeface="Times New Roman"/>
                <a:cs typeface="Times New Roman"/>
              </a:rPr>
              <a:t>this</a:t>
            </a:r>
            <a:r>
              <a:rPr dirty="0" sz="1000" spc="90">
                <a:latin typeface="Times New Roman"/>
                <a:cs typeface="Times New Roman"/>
              </a:rPr>
              <a:t> </a:t>
            </a:r>
            <a:r>
              <a:rPr dirty="0" sz="1000" spc="10">
                <a:latin typeface="Times New Roman"/>
                <a:cs typeface="Times New Roman"/>
              </a:rPr>
              <a:t>end,</a:t>
            </a:r>
            <a:r>
              <a:rPr dirty="0" sz="1000" spc="105">
                <a:latin typeface="Times New Roman"/>
                <a:cs typeface="Times New Roman"/>
              </a:rPr>
              <a:t> </a:t>
            </a:r>
            <a:r>
              <a:rPr dirty="0" sz="1000" spc="10">
                <a:latin typeface="Times New Roman"/>
                <a:cs typeface="Times New Roman"/>
              </a:rPr>
              <a:t>we</a:t>
            </a:r>
            <a:r>
              <a:rPr dirty="0" sz="1000" spc="90">
                <a:latin typeface="Times New Roman"/>
                <a:cs typeface="Times New Roman"/>
              </a:rPr>
              <a:t> </a:t>
            </a:r>
            <a:r>
              <a:rPr dirty="0" sz="1000" spc="10">
                <a:latin typeface="Times New Roman"/>
                <a:cs typeface="Times New Roman"/>
              </a:rPr>
              <a:t>propose</a:t>
            </a:r>
            <a:r>
              <a:rPr dirty="0" sz="1000" spc="95">
                <a:latin typeface="Times New Roman"/>
                <a:cs typeface="Times New Roman"/>
              </a:rPr>
              <a:t> </a:t>
            </a:r>
            <a:r>
              <a:rPr dirty="0" sz="1000" spc="10">
                <a:latin typeface="Times New Roman"/>
                <a:cs typeface="Times New Roman"/>
              </a:rPr>
              <a:t>a</a:t>
            </a:r>
            <a:r>
              <a:rPr dirty="0" sz="1000" spc="90">
                <a:latin typeface="Times New Roman"/>
                <a:cs typeface="Times New Roman"/>
              </a:rPr>
              <a:t> </a:t>
            </a:r>
            <a:r>
              <a:rPr dirty="0" sz="1000" spc="-10">
                <a:latin typeface="Times New Roman"/>
                <a:cs typeface="Times New Roman"/>
              </a:rPr>
              <a:t>disentangled </a:t>
            </a:r>
            <a:r>
              <a:rPr dirty="0" sz="1000" spc="10">
                <a:latin typeface="Times New Roman"/>
                <a:cs typeface="Times New Roman"/>
              </a:rPr>
              <a:t>gradient</a:t>
            </a:r>
            <a:r>
              <a:rPr dirty="0" sz="1000" spc="90">
                <a:latin typeface="Times New Roman"/>
                <a:cs typeface="Times New Roman"/>
              </a:rPr>
              <a:t> </a:t>
            </a:r>
            <a:r>
              <a:rPr dirty="0" sz="1000" spc="10">
                <a:latin typeface="Times New Roman"/>
                <a:cs typeface="Times New Roman"/>
              </a:rPr>
              <a:t>learning</a:t>
            </a:r>
            <a:r>
              <a:rPr dirty="0" sz="1000" spc="105">
                <a:latin typeface="Times New Roman"/>
                <a:cs typeface="Times New Roman"/>
              </a:rPr>
              <a:t> </a:t>
            </a:r>
            <a:r>
              <a:rPr dirty="0" sz="1000" spc="10">
                <a:latin typeface="Times New Roman"/>
                <a:cs typeface="Times New Roman"/>
              </a:rPr>
              <a:t>(DGL)</a:t>
            </a:r>
            <a:r>
              <a:rPr dirty="0" sz="1000" spc="90">
                <a:latin typeface="Times New Roman"/>
                <a:cs typeface="Times New Roman"/>
              </a:rPr>
              <a:t> </a:t>
            </a:r>
            <a:r>
              <a:rPr dirty="0" sz="1000" spc="10">
                <a:latin typeface="Times New Roman"/>
                <a:cs typeface="Times New Roman"/>
              </a:rPr>
              <a:t>framework</a:t>
            </a:r>
            <a:r>
              <a:rPr dirty="0" sz="1000" spc="95">
                <a:latin typeface="Times New Roman"/>
                <a:cs typeface="Times New Roman"/>
              </a:rPr>
              <a:t> </a:t>
            </a:r>
            <a:r>
              <a:rPr dirty="0" sz="1000" spc="10">
                <a:latin typeface="Times New Roman"/>
                <a:cs typeface="Times New Roman"/>
              </a:rPr>
              <a:t>to</a:t>
            </a:r>
            <a:r>
              <a:rPr dirty="0" sz="1000" spc="95">
                <a:latin typeface="Times New Roman"/>
                <a:cs typeface="Times New Roman"/>
              </a:rPr>
              <a:t> </a:t>
            </a:r>
            <a:r>
              <a:rPr dirty="0" sz="1000" spc="10">
                <a:latin typeface="Times New Roman"/>
                <a:cs typeface="Times New Roman"/>
              </a:rPr>
              <a:t>decouple</a:t>
            </a:r>
            <a:r>
              <a:rPr dirty="0" sz="1000" spc="100">
                <a:latin typeface="Times New Roman"/>
                <a:cs typeface="Times New Roman"/>
              </a:rPr>
              <a:t> </a:t>
            </a:r>
            <a:r>
              <a:rPr dirty="0" sz="1000" spc="10">
                <a:latin typeface="Times New Roman"/>
                <a:cs typeface="Times New Roman"/>
              </a:rPr>
              <a:t>the</a:t>
            </a:r>
            <a:r>
              <a:rPr dirty="0" sz="1000" spc="95">
                <a:latin typeface="Times New Roman"/>
                <a:cs typeface="Times New Roman"/>
              </a:rPr>
              <a:t> </a:t>
            </a:r>
            <a:r>
              <a:rPr dirty="0" sz="1000" spc="10">
                <a:latin typeface="Times New Roman"/>
                <a:cs typeface="Times New Roman"/>
              </a:rPr>
              <a:t>optimization</a:t>
            </a:r>
            <a:r>
              <a:rPr dirty="0" sz="1000" spc="100">
                <a:latin typeface="Times New Roman"/>
                <a:cs typeface="Times New Roman"/>
              </a:rPr>
              <a:t> </a:t>
            </a:r>
            <a:r>
              <a:rPr dirty="0" sz="1000" spc="10">
                <a:latin typeface="Times New Roman"/>
                <a:cs typeface="Times New Roman"/>
              </a:rPr>
              <a:t>of</a:t>
            </a:r>
            <a:r>
              <a:rPr dirty="0" sz="1000" spc="95">
                <a:latin typeface="Times New Roman"/>
                <a:cs typeface="Times New Roman"/>
              </a:rPr>
              <a:t> </a:t>
            </a:r>
            <a:r>
              <a:rPr dirty="0" sz="1000" spc="10">
                <a:latin typeface="Times New Roman"/>
                <a:cs typeface="Times New Roman"/>
              </a:rPr>
              <a:t>the</a:t>
            </a:r>
            <a:r>
              <a:rPr dirty="0" sz="1000" spc="105">
                <a:latin typeface="Times New Roman"/>
                <a:cs typeface="Times New Roman"/>
              </a:rPr>
              <a:t> </a:t>
            </a:r>
            <a:r>
              <a:rPr dirty="0" sz="1000" spc="10">
                <a:latin typeface="Times New Roman"/>
                <a:cs typeface="Times New Roman"/>
              </a:rPr>
              <a:t>modality</a:t>
            </a:r>
            <a:r>
              <a:rPr dirty="0" sz="1000" spc="90">
                <a:latin typeface="Times New Roman"/>
                <a:cs typeface="Times New Roman"/>
              </a:rPr>
              <a:t> </a:t>
            </a:r>
            <a:r>
              <a:rPr dirty="0" sz="1000" spc="10">
                <a:latin typeface="Times New Roman"/>
                <a:cs typeface="Times New Roman"/>
              </a:rPr>
              <a:t>encoder</a:t>
            </a:r>
            <a:r>
              <a:rPr dirty="0" sz="1000" spc="105">
                <a:latin typeface="Times New Roman"/>
                <a:cs typeface="Times New Roman"/>
              </a:rPr>
              <a:t> </a:t>
            </a:r>
            <a:r>
              <a:rPr dirty="0" sz="1000" spc="10">
                <a:latin typeface="Times New Roman"/>
                <a:cs typeface="Times New Roman"/>
              </a:rPr>
              <a:t>and</a:t>
            </a:r>
            <a:r>
              <a:rPr dirty="0" sz="1000" spc="95">
                <a:latin typeface="Times New Roman"/>
                <a:cs typeface="Times New Roman"/>
              </a:rPr>
              <a:t> </a:t>
            </a:r>
            <a:r>
              <a:rPr dirty="0" sz="1000" spc="10">
                <a:latin typeface="Times New Roman"/>
                <a:cs typeface="Times New Roman"/>
              </a:rPr>
              <a:t>modality</a:t>
            </a:r>
            <a:r>
              <a:rPr dirty="0" sz="1000" spc="100">
                <a:latin typeface="Times New Roman"/>
                <a:cs typeface="Times New Roman"/>
              </a:rPr>
              <a:t> </a:t>
            </a:r>
            <a:r>
              <a:rPr dirty="0" sz="1000" spc="-25">
                <a:latin typeface="Times New Roman"/>
                <a:cs typeface="Times New Roman"/>
              </a:rPr>
              <a:t>fu- </a:t>
            </a:r>
            <a:r>
              <a:rPr dirty="0" sz="1000" spc="10">
                <a:latin typeface="Times New Roman"/>
                <a:cs typeface="Times New Roman"/>
              </a:rPr>
              <a:t>sion</a:t>
            </a:r>
            <a:r>
              <a:rPr dirty="0" sz="1000" spc="135">
                <a:latin typeface="Times New Roman"/>
                <a:cs typeface="Times New Roman"/>
              </a:rPr>
              <a:t> </a:t>
            </a:r>
            <a:r>
              <a:rPr dirty="0" sz="1000" spc="10">
                <a:latin typeface="Times New Roman"/>
                <a:cs typeface="Times New Roman"/>
              </a:rPr>
              <a:t>module</a:t>
            </a:r>
            <a:r>
              <a:rPr dirty="0" sz="1000" spc="140">
                <a:latin typeface="Times New Roman"/>
                <a:cs typeface="Times New Roman"/>
              </a:rPr>
              <a:t> </a:t>
            </a:r>
            <a:r>
              <a:rPr dirty="0" sz="1000" spc="10">
                <a:latin typeface="Times New Roman"/>
                <a:cs typeface="Times New Roman"/>
              </a:rPr>
              <a:t>in</a:t>
            </a:r>
            <a:r>
              <a:rPr dirty="0" sz="1000" spc="135">
                <a:latin typeface="Times New Roman"/>
                <a:cs typeface="Times New Roman"/>
              </a:rPr>
              <a:t> </a:t>
            </a:r>
            <a:r>
              <a:rPr dirty="0" sz="1000" spc="10">
                <a:latin typeface="Times New Roman"/>
                <a:cs typeface="Times New Roman"/>
              </a:rPr>
              <a:t>the</a:t>
            </a:r>
            <a:r>
              <a:rPr dirty="0" sz="1000" spc="140">
                <a:latin typeface="Times New Roman"/>
                <a:cs typeface="Times New Roman"/>
              </a:rPr>
              <a:t> </a:t>
            </a:r>
            <a:r>
              <a:rPr dirty="0" sz="1000" spc="10">
                <a:latin typeface="Times New Roman"/>
                <a:cs typeface="Times New Roman"/>
              </a:rPr>
              <a:t>multimodal</a:t>
            </a:r>
            <a:r>
              <a:rPr dirty="0" sz="1000" spc="135">
                <a:latin typeface="Times New Roman"/>
                <a:cs typeface="Times New Roman"/>
              </a:rPr>
              <a:t> </a:t>
            </a:r>
            <a:r>
              <a:rPr dirty="0" sz="1000" spc="10">
                <a:latin typeface="Times New Roman"/>
                <a:cs typeface="Times New Roman"/>
              </a:rPr>
              <a:t>model.</a:t>
            </a:r>
            <a:r>
              <a:rPr dirty="0" sz="1000" spc="430">
                <a:latin typeface="Times New Roman"/>
                <a:cs typeface="Times New Roman"/>
              </a:rPr>
              <a:t> </a:t>
            </a:r>
            <a:r>
              <a:rPr dirty="0" sz="1000" spc="10">
                <a:latin typeface="Times New Roman"/>
                <a:cs typeface="Times New Roman"/>
              </a:rPr>
              <a:t>DGL</a:t>
            </a:r>
            <a:r>
              <a:rPr dirty="0" sz="1000" spc="140">
                <a:latin typeface="Times New Roman"/>
                <a:cs typeface="Times New Roman"/>
              </a:rPr>
              <a:t> </a:t>
            </a:r>
            <a:r>
              <a:rPr dirty="0" sz="1000" spc="10">
                <a:latin typeface="Times New Roman"/>
                <a:cs typeface="Times New Roman"/>
              </a:rPr>
              <a:t>truncates</a:t>
            </a:r>
            <a:r>
              <a:rPr dirty="0" sz="1000" spc="135">
                <a:latin typeface="Times New Roman"/>
                <a:cs typeface="Times New Roman"/>
              </a:rPr>
              <a:t> </a:t>
            </a:r>
            <a:r>
              <a:rPr dirty="0" sz="1000" spc="10">
                <a:latin typeface="Times New Roman"/>
                <a:cs typeface="Times New Roman"/>
              </a:rPr>
              <a:t>the</a:t>
            </a:r>
            <a:r>
              <a:rPr dirty="0" sz="1000" spc="140">
                <a:latin typeface="Times New Roman"/>
                <a:cs typeface="Times New Roman"/>
              </a:rPr>
              <a:t> </a:t>
            </a:r>
            <a:r>
              <a:rPr dirty="0" sz="1000" spc="10">
                <a:latin typeface="Times New Roman"/>
                <a:cs typeface="Times New Roman"/>
              </a:rPr>
              <a:t>gradient</a:t>
            </a:r>
            <a:r>
              <a:rPr dirty="0" sz="1000" spc="135">
                <a:latin typeface="Times New Roman"/>
                <a:cs typeface="Times New Roman"/>
              </a:rPr>
              <a:t> </a:t>
            </a:r>
            <a:r>
              <a:rPr dirty="0" sz="1000" spc="10">
                <a:latin typeface="Times New Roman"/>
                <a:cs typeface="Times New Roman"/>
              </a:rPr>
              <a:t>back-propagated</a:t>
            </a:r>
            <a:r>
              <a:rPr dirty="0" sz="1000" spc="140">
                <a:latin typeface="Times New Roman"/>
                <a:cs typeface="Times New Roman"/>
              </a:rPr>
              <a:t> </a:t>
            </a:r>
            <a:r>
              <a:rPr dirty="0" sz="1000" spc="10">
                <a:latin typeface="Times New Roman"/>
                <a:cs typeface="Times New Roman"/>
              </a:rPr>
              <a:t>from</a:t>
            </a:r>
            <a:r>
              <a:rPr dirty="0" sz="1000" spc="135">
                <a:latin typeface="Times New Roman"/>
                <a:cs typeface="Times New Roman"/>
              </a:rPr>
              <a:t> </a:t>
            </a:r>
            <a:r>
              <a:rPr dirty="0" sz="1000" spc="10">
                <a:latin typeface="Times New Roman"/>
                <a:cs typeface="Times New Roman"/>
              </a:rPr>
              <a:t>the</a:t>
            </a:r>
            <a:r>
              <a:rPr dirty="0" sz="1000" spc="140">
                <a:latin typeface="Times New Roman"/>
                <a:cs typeface="Times New Roman"/>
              </a:rPr>
              <a:t> </a:t>
            </a:r>
            <a:r>
              <a:rPr dirty="0" sz="1000" spc="-10">
                <a:latin typeface="Times New Roman"/>
                <a:cs typeface="Times New Roman"/>
              </a:rPr>
              <a:t>multimodal </a:t>
            </a:r>
            <a:r>
              <a:rPr dirty="0" sz="1000">
                <a:latin typeface="Times New Roman"/>
                <a:cs typeface="Times New Roman"/>
              </a:rPr>
              <a:t>loss</a:t>
            </a:r>
            <a:r>
              <a:rPr dirty="0" sz="1000" spc="155">
                <a:latin typeface="Times New Roman"/>
                <a:cs typeface="Times New Roman"/>
              </a:rPr>
              <a:t> </a:t>
            </a:r>
            <a:r>
              <a:rPr dirty="0" sz="1000">
                <a:latin typeface="Times New Roman"/>
                <a:cs typeface="Times New Roman"/>
              </a:rPr>
              <a:t>to</a:t>
            </a:r>
            <a:r>
              <a:rPr dirty="0" sz="1000" spc="150">
                <a:latin typeface="Times New Roman"/>
                <a:cs typeface="Times New Roman"/>
              </a:rPr>
              <a:t> </a:t>
            </a:r>
            <a:r>
              <a:rPr dirty="0" sz="1000">
                <a:latin typeface="Times New Roman"/>
                <a:cs typeface="Times New Roman"/>
              </a:rPr>
              <a:t>the</a:t>
            </a:r>
            <a:r>
              <a:rPr dirty="0" sz="1000" spc="160">
                <a:latin typeface="Times New Roman"/>
                <a:cs typeface="Times New Roman"/>
              </a:rPr>
              <a:t> </a:t>
            </a:r>
            <a:r>
              <a:rPr dirty="0" sz="1000">
                <a:latin typeface="Times New Roman"/>
                <a:cs typeface="Times New Roman"/>
              </a:rPr>
              <a:t>modality</a:t>
            </a:r>
            <a:r>
              <a:rPr dirty="0" sz="1000" spc="160">
                <a:latin typeface="Times New Roman"/>
                <a:cs typeface="Times New Roman"/>
              </a:rPr>
              <a:t> </a:t>
            </a:r>
            <a:r>
              <a:rPr dirty="0" sz="1000">
                <a:latin typeface="Times New Roman"/>
                <a:cs typeface="Times New Roman"/>
              </a:rPr>
              <a:t>encoder</a:t>
            </a:r>
            <a:r>
              <a:rPr dirty="0" sz="1000" spc="155">
                <a:latin typeface="Times New Roman"/>
                <a:cs typeface="Times New Roman"/>
              </a:rPr>
              <a:t> </a:t>
            </a:r>
            <a:r>
              <a:rPr dirty="0" sz="1000">
                <a:latin typeface="Times New Roman"/>
                <a:cs typeface="Times New Roman"/>
              </a:rPr>
              <a:t>and</a:t>
            </a:r>
            <a:r>
              <a:rPr dirty="0" sz="1000" spc="160">
                <a:latin typeface="Times New Roman"/>
                <a:cs typeface="Times New Roman"/>
              </a:rPr>
              <a:t> </a:t>
            </a:r>
            <a:r>
              <a:rPr dirty="0" sz="1000">
                <a:latin typeface="Times New Roman"/>
                <a:cs typeface="Times New Roman"/>
              </a:rPr>
              <a:t>replaces</a:t>
            </a:r>
            <a:r>
              <a:rPr dirty="0" sz="1000" spc="150">
                <a:latin typeface="Times New Roman"/>
                <a:cs typeface="Times New Roman"/>
              </a:rPr>
              <a:t> </a:t>
            </a:r>
            <a:r>
              <a:rPr dirty="0" sz="1000">
                <a:latin typeface="Times New Roman"/>
                <a:cs typeface="Times New Roman"/>
              </a:rPr>
              <a:t>it</a:t>
            </a:r>
            <a:r>
              <a:rPr dirty="0" sz="1000" spc="160">
                <a:latin typeface="Times New Roman"/>
                <a:cs typeface="Times New Roman"/>
              </a:rPr>
              <a:t> </a:t>
            </a:r>
            <a:r>
              <a:rPr dirty="0" sz="1000">
                <a:latin typeface="Times New Roman"/>
                <a:cs typeface="Times New Roman"/>
              </a:rPr>
              <a:t>with</a:t>
            </a:r>
            <a:r>
              <a:rPr dirty="0" sz="1000" spc="155">
                <a:latin typeface="Times New Roman"/>
                <a:cs typeface="Times New Roman"/>
              </a:rPr>
              <a:t> </a:t>
            </a:r>
            <a:r>
              <a:rPr dirty="0" sz="1000">
                <a:latin typeface="Times New Roman"/>
                <a:cs typeface="Times New Roman"/>
              </a:rPr>
              <a:t>the</a:t>
            </a:r>
            <a:r>
              <a:rPr dirty="0" sz="1000" spc="160">
                <a:latin typeface="Times New Roman"/>
                <a:cs typeface="Times New Roman"/>
              </a:rPr>
              <a:t> </a:t>
            </a:r>
            <a:r>
              <a:rPr dirty="0" sz="1000">
                <a:latin typeface="Times New Roman"/>
                <a:cs typeface="Times New Roman"/>
              </a:rPr>
              <a:t>gradient</a:t>
            </a:r>
            <a:r>
              <a:rPr dirty="0" sz="1000" spc="155">
                <a:latin typeface="Times New Roman"/>
                <a:cs typeface="Times New Roman"/>
              </a:rPr>
              <a:t> </a:t>
            </a:r>
            <a:r>
              <a:rPr dirty="0" sz="1000">
                <a:latin typeface="Times New Roman"/>
                <a:cs typeface="Times New Roman"/>
              </a:rPr>
              <a:t>from</a:t>
            </a:r>
            <a:r>
              <a:rPr dirty="0" sz="1000" spc="155">
                <a:latin typeface="Times New Roman"/>
                <a:cs typeface="Times New Roman"/>
              </a:rPr>
              <a:t> </a:t>
            </a:r>
            <a:r>
              <a:rPr dirty="0" sz="1000">
                <a:latin typeface="Times New Roman"/>
                <a:cs typeface="Times New Roman"/>
              </a:rPr>
              <a:t>unimodal</a:t>
            </a:r>
            <a:r>
              <a:rPr dirty="0" sz="1000" spc="155">
                <a:latin typeface="Times New Roman"/>
                <a:cs typeface="Times New Roman"/>
              </a:rPr>
              <a:t> </a:t>
            </a:r>
            <a:r>
              <a:rPr dirty="0" sz="1000">
                <a:latin typeface="Times New Roman"/>
                <a:cs typeface="Times New Roman"/>
              </a:rPr>
              <a:t>loss.</a:t>
            </a:r>
            <a:r>
              <a:rPr dirty="0" sz="1000" spc="459">
                <a:latin typeface="Times New Roman"/>
                <a:cs typeface="Times New Roman"/>
              </a:rPr>
              <a:t> </a:t>
            </a:r>
            <a:r>
              <a:rPr dirty="0" sz="1000">
                <a:latin typeface="Times New Roman"/>
                <a:cs typeface="Times New Roman"/>
              </a:rPr>
              <a:t>Besides,</a:t>
            </a:r>
            <a:r>
              <a:rPr dirty="0" sz="1000" spc="185">
                <a:latin typeface="Times New Roman"/>
                <a:cs typeface="Times New Roman"/>
              </a:rPr>
              <a:t> </a:t>
            </a:r>
            <a:r>
              <a:rPr dirty="0" sz="1000">
                <a:latin typeface="Times New Roman"/>
                <a:cs typeface="Times New Roman"/>
              </a:rPr>
              <a:t>DGL</a:t>
            </a:r>
            <a:r>
              <a:rPr dirty="0" sz="1000" spc="160">
                <a:latin typeface="Times New Roman"/>
                <a:cs typeface="Times New Roman"/>
              </a:rPr>
              <a:t> </a:t>
            </a:r>
            <a:r>
              <a:rPr dirty="0" sz="1000" spc="-10">
                <a:latin typeface="Times New Roman"/>
                <a:cs typeface="Times New Roman"/>
              </a:rPr>
              <a:t>removes </a:t>
            </a:r>
            <a:r>
              <a:rPr dirty="0" sz="1000" spc="10">
                <a:latin typeface="Times New Roman"/>
                <a:cs typeface="Times New Roman"/>
              </a:rPr>
              <a:t>the</a:t>
            </a:r>
            <a:r>
              <a:rPr dirty="0" sz="1000" spc="110">
                <a:latin typeface="Times New Roman"/>
                <a:cs typeface="Times New Roman"/>
              </a:rPr>
              <a:t> </a:t>
            </a:r>
            <a:r>
              <a:rPr dirty="0" sz="1000" spc="10">
                <a:latin typeface="Times New Roman"/>
                <a:cs typeface="Times New Roman"/>
              </a:rPr>
              <a:t>gradient</a:t>
            </a:r>
            <a:r>
              <a:rPr dirty="0" sz="1000" spc="120">
                <a:latin typeface="Times New Roman"/>
                <a:cs typeface="Times New Roman"/>
              </a:rPr>
              <a:t> </a:t>
            </a:r>
            <a:r>
              <a:rPr dirty="0" sz="1000" spc="10">
                <a:latin typeface="Times New Roman"/>
                <a:cs typeface="Times New Roman"/>
              </a:rPr>
              <a:t>back-propagated</a:t>
            </a:r>
            <a:r>
              <a:rPr dirty="0" sz="1000" spc="120">
                <a:latin typeface="Times New Roman"/>
                <a:cs typeface="Times New Roman"/>
              </a:rPr>
              <a:t> </a:t>
            </a:r>
            <a:r>
              <a:rPr dirty="0" sz="1000" spc="10">
                <a:latin typeface="Times New Roman"/>
                <a:cs typeface="Times New Roman"/>
              </a:rPr>
              <a:t>from</a:t>
            </a:r>
            <a:r>
              <a:rPr dirty="0" sz="1000" spc="125">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unimodal</a:t>
            </a:r>
            <a:r>
              <a:rPr dirty="0" sz="1000" spc="130">
                <a:latin typeface="Times New Roman"/>
                <a:cs typeface="Times New Roman"/>
              </a:rPr>
              <a:t> </a:t>
            </a:r>
            <a:r>
              <a:rPr dirty="0" sz="1000" spc="10">
                <a:latin typeface="Times New Roman"/>
                <a:cs typeface="Times New Roman"/>
              </a:rPr>
              <a:t>loss</a:t>
            </a:r>
            <a:r>
              <a:rPr dirty="0" sz="1000" spc="120">
                <a:latin typeface="Times New Roman"/>
                <a:cs typeface="Times New Roman"/>
              </a:rPr>
              <a:t> </a:t>
            </a:r>
            <a:r>
              <a:rPr dirty="0" sz="1000" spc="10">
                <a:latin typeface="Times New Roman"/>
                <a:cs typeface="Times New Roman"/>
              </a:rPr>
              <a:t>to</a:t>
            </a:r>
            <a:r>
              <a:rPr dirty="0" sz="1000" spc="120">
                <a:latin typeface="Times New Roman"/>
                <a:cs typeface="Times New Roman"/>
              </a:rPr>
              <a:t> </a:t>
            </a:r>
            <a:r>
              <a:rPr dirty="0" sz="1000" spc="10">
                <a:latin typeface="Times New Roman"/>
                <a:cs typeface="Times New Roman"/>
              </a:rPr>
              <a:t>the</a:t>
            </a:r>
            <a:r>
              <a:rPr dirty="0" sz="1000" spc="130">
                <a:latin typeface="Times New Roman"/>
                <a:cs typeface="Times New Roman"/>
              </a:rPr>
              <a:t> </a:t>
            </a:r>
            <a:r>
              <a:rPr dirty="0" sz="1000" spc="10">
                <a:latin typeface="Times New Roman"/>
                <a:cs typeface="Times New Roman"/>
              </a:rPr>
              <a:t>modality</a:t>
            </a:r>
            <a:r>
              <a:rPr dirty="0" sz="1000" spc="120">
                <a:latin typeface="Times New Roman"/>
                <a:cs typeface="Times New Roman"/>
              </a:rPr>
              <a:t> </a:t>
            </a:r>
            <a:r>
              <a:rPr dirty="0" sz="1000" spc="10">
                <a:latin typeface="Times New Roman"/>
                <a:cs typeface="Times New Roman"/>
              </a:rPr>
              <a:t>fusion</a:t>
            </a:r>
            <a:r>
              <a:rPr dirty="0" sz="1000" spc="125">
                <a:latin typeface="Times New Roman"/>
                <a:cs typeface="Times New Roman"/>
              </a:rPr>
              <a:t> </a:t>
            </a:r>
            <a:r>
              <a:rPr dirty="0" sz="1000" spc="10">
                <a:latin typeface="Times New Roman"/>
                <a:cs typeface="Times New Roman"/>
              </a:rPr>
              <a:t>module.</a:t>
            </a:r>
            <a:r>
              <a:rPr dirty="0" sz="1000" spc="395">
                <a:latin typeface="Times New Roman"/>
                <a:cs typeface="Times New Roman"/>
              </a:rPr>
              <a:t> </a:t>
            </a:r>
            <a:r>
              <a:rPr dirty="0" sz="1000" spc="10">
                <a:latin typeface="Times New Roman"/>
                <a:cs typeface="Times New Roman"/>
              </a:rPr>
              <a:t>This</a:t>
            </a:r>
            <a:r>
              <a:rPr dirty="0" sz="1000" spc="120">
                <a:latin typeface="Times New Roman"/>
                <a:cs typeface="Times New Roman"/>
              </a:rPr>
              <a:t> </a:t>
            </a:r>
            <a:r>
              <a:rPr dirty="0" sz="1000" spc="10">
                <a:latin typeface="Times New Roman"/>
                <a:cs typeface="Times New Roman"/>
              </a:rPr>
              <a:t>helps</a:t>
            </a:r>
            <a:r>
              <a:rPr dirty="0" sz="1000" spc="130">
                <a:latin typeface="Times New Roman"/>
                <a:cs typeface="Times New Roman"/>
              </a:rPr>
              <a:t> </a:t>
            </a:r>
            <a:r>
              <a:rPr dirty="0" sz="1000" spc="-10">
                <a:latin typeface="Times New Roman"/>
                <a:cs typeface="Times New Roman"/>
              </a:rPr>
              <a:t>eliminate </a:t>
            </a:r>
            <a:r>
              <a:rPr dirty="0" sz="1000">
                <a:latin typeface="Times New Roman"/>
                <a:cs typeface="Times New Roman"/>
              </a:rPr>
              <a:t>the</a:t>
            </a:r>
            <a:r>
              <a:rPr dirty="0" sz="1000" spc="235">
                <a:latin typeface="Times New Roman"/>
                <a:cs typeface="Times New Roman"/>
              </a:rPr>
              <a:t> </a:t>
            </a:r>
            <a:r>
              <a:rPr dirty="0" sz="1000">
                <a:latin typeface="Times New Roman"/>
                <a:cs typeface="Times New Roman"/>
              </a:rPr>
              <a:t>gradient</a:t>
            </a:r>
            <a:r>
              <a:rPr dirty="0" sz="1000" spc="229">
                <a:latin typeface="Times New Roman"/>
                <a:cs typeface="Times New Roman"/>
              </a:rPr>
              <a:t> </a:t>
            </a:r>
            <a:r>
              <a:rPr dirty="0" sz="1000">
                <a:latin typeface="Times New Roman"/>
                <a:cs typeface="Times New Roman"/>
              </a:rPr>
              <a:t>interference</a:t>
            </a:r>
            <a:r>
              <a:rPr dirty="0" sz="1000" spc="235">
                <a:latin typeface="Times New Roman"/>
                <a:cs typeface="Times New Roman"/>
              </a:rPr>
              <a:t> </a:t>
            </a:r>
            <a:r>
              <a:rPr dirty="0" sz="1000">
                <a:latin typeface="Times New Roman"/>
                <a:cs typeface="Times New Roman"/>
              </a:rPr>
              <a:t>between</a:t>
            </a:r>
            <a:r>
              <a:rPr dirty="0" sz="1000" spc="229">
                <a:latin typeface="Times New Roman"/>
                <a:cs typeface="Times New Roman"/>
              </a:rPr>
              <a:t> </a:t>
            </a:r>
            <a:r>
              <a:rPr dirty="0" sz="1000">
                <a:latin typeface="Times New Roman"/>
                <a:cs typeface="Times New Roman"/>
              </a:rPr>
              <a:t>the</a:t>
            </a:r>
            <a:r>
              <a:rPr dirty="0" sz="1000" spc="240">
                <a:latin typeface="Times New Roman"/>
                <a:cs typeface="Times New Roman"/>
              </a:rPr>
              <a:t> </a:t>
            </a:r>
            <a:r>
              <a:rPr dirty="0" sz="1000">
                <a:latin typeface="Times New Roman"/>
                <a:cs typeface="Times New Roman"/>
              </a:rPr>
              <a:t>modality</a:t>
            </a:r>
            <a:r>
              <a:rPr dirty="0" sz="1000" spc="235">
                <a:latin typeface="Times New Roman"/>
                <a:cs typeface="Times New Roman"/>
              </a:rPr>
              <a:t> </a:t>
            </a:r>
            <a:r>
              <a:rPr dirty="0" sz="1000">
                <a:latin typeface="Times New Roman"/>
                <a:cs typeface="Times New Roman"/>
              </a:rPr>
              <a:t>encoder</a:t>
            </a:r>
            <a:r>
              <a:rPr dirty="0" sz="1000" spc="235">
                <a:latin typeface="Times New Roman"/>
                <a:cs typeface="Times New Roman"/>
              </a:rPr>
              <a:t> </a:t>
            </a:r>
            <a:r>
              <a:rPr dirty="0" sz="1000">
                <a:latin typeface="Times New Roman"/>
                <a:cs typeface="Times New Roman"/>
              </a:rPr>
              <a:t>and</a:t>
            </a:r>
            <a:r>
              <a:rPr dirty="0" sz="1000" spc="240">
                <a:latin typeface="Times New Roman"/>
                <a:cs typeface="Times New Roman"/>
              </a:rPr>
              <a:t> </a:t>
            </a:r>
            <a:r>
              <a:rPr dirty="0" sz="1000">
                <a:latin typeface="Times New Roman"/>
                <a:cs typeface="Times New Roman"/>
              </a:rPr>
              <a:t>modality</a:t>
            </a:r>
            <a:r>
              <a:rPr dirty="0" sz="1000" spc="235">
                <a:latin typeface="Times New Roman"/>
                <a:cs typeface="Times New Roman"/>
              </a:rPr>
              <a:t> </a:t>
            </a:r>
            <a:r>
              <a:rPr dirty="0" sz="1000">
                <a:latin typeface="Times New Roman"/>
                <a:cs typeface="Times New Roman"/>
              </a:rPr>
              <a:t>fusion</a:t>
            </a:r>
            <a:r>
              <a:rPr dirty="0" sz="1000" spc="240">
                <a:latin typeface="Times New Roman"/>
                <a:cs typeface="Times New Roman"/>
              </a:rPr>
              <a:t> </a:t>
            </a:r>
            <a:r>
              <a:rPr dirty="0" sz="1000">
                <a:latin typeface="Times New Roman"/>
                <a:cs typeface="Times New Roman"/>
              </a:rPr>
              <a:t>module</a:t>
            </a:r>
            <a:r>
              <a:rPr dirty="0" sz="1000" spc="235">
                <a:latin typeface="Times New Roman"/>
                <a:cs typeface="Times New Roman"/>
              </a:rPr>
              <a:t> </a:t>
            </a:r>
            <a:r>
              <a:rPr dirty="0" sz="1000">
                <a:latin typeface="Times New Roman"/>
                <a:cs typeface="Times New Roman"/>
              </a:rPr>
              <a:t>while</a:t>
            </a:r>
            <a:r>
              <a:rPr dirty="0" sz="1000" spc="235">
                <a:latin typeface="Times New Roman"/>
                <a:cs typeface="Times New Roman"/>
              </a:rPr>
              <a:t> </a:t>
            </a:r>
            <a:r>
              <a:rPr dirty="0" sz="1000">
                <a:latin typeface="Times New Roman"/>
                <a:cs typeface="Times New Roman"/>
              </a:rPr>
              <a:t>ensuring</a:t>
            </a:r>
            <a:r>
              <a:rPr dirty="0" sz="1000" spc="240">
                <a:latin typeface="Times New Roman"/>
                <a:cs typeface="Times New Roman"/>
              </a:rPr>
              <a:t> </a:t>
            </a:r>
            <a:r>
              <a:rPr dirty="0" sz="1000" spc="-10">
                <a:latin typeface="Times New Roman"/>
                <a:cs typeface="Times New Roman"/>
              </a:rPr>
              <a:t>their </a:t>
            </a:r>
            <a:r>
              <a:rPr dirty="0" sz="1000" spc="10">
                <a:latin typeface="Times New Roman"/>
                <a:cs typeface="Times New Roman"/>
              </a:rPr>
              <a:t>respective</a:t>
            </a:r>
            <a:r>
              <a:rPr dirty="0" sz="1000" spc="45">
                <a:latin typeface="Times New Roman"/>
                <a:cs typeface="Times New Roman"/>
              </a:rPr>
              <a:t> </a:t>
            </a:r>
            <a:r>
              <a:rPr dirty="0" sz="1000" spc="10">
                <a:latin typeface="Times New Roman"/>
                <a:cs typeface="Times New Roman"/>
              </a:rPr>
              <a:t>optimization</a:t>
            </a:r>
            <a:r>
              <a:rPr dirty="0" sz="1000" spc="45">
                <a:latin typeface="Times New Roman"/>
                <a:cs typeface="Times New Roman"/>
              </a:rPr>
              <a:t> </a:t>
            </a:r>
            <a:r>
              <a:rPr dirty="0" sz="1000" spc="10">
                <a:latin typeface="Times New Roman"/>
                <a:cs typeface="Times New Roman"/>
              </a:rPr>
              <a:t>processes.</a:t>
            </a:r>
            <a:r>
              <a:rPr dirty="0" sz="1000" spc="175">
                <a:latin typeface="Times New Roman"/>
                <a:cs typeface="Times New Roman"/>
              </a:rPr>
              <a:t> </a:t>
            </a:r>
            <a:r>
              <a:rPr dirty="0" sz="1000" spc="10">
                <a:latin typeface="Times New Roman"/>
                <a:cs typeface="Times New Roman"/>
              </a:rPr>
              <a:t>Finally,</a:t>
            </a:r>
            <a:r>
              <a:rPr dirty="0" sz="1000" spc="55">
                <a:latin typeface="Times New Roman"/>
                <a:cs typeface="Times New Roman"/>
              </a:rPr>
              <a:t> </a:t>
            </a:r>
            <a:r>
              <a:rPr dirty="0" sz="1000" spc="10">
                <a:latin typeface="Times New Roman"/>
                <a:cs typeface="Times New Roman"/>
              </a:rPr>
              <a:t>extensive</a:t>
            </a:r>
            <a:r>
              <a:rPr dirty="0" sz="1000" spc="45">
                <a:latin typeface="Times New Roman"/>
                <a:cs typeface="Times New Roman"/>
              </a:rPr>
              <a:t> </a:t>
            </a:r>
            <a:r>
              <a:rPr dirty="0" sz="1000" spc="10">
                <a:latin typeface="Times New Roman"/>
                <a:cs typeface="Times New Roman"/>
              </a:rPr>
              <a:t>experiments</a:t>
            </a:r>
            <a:r>
              <a:rPr dirty="0" sz="1000" spc="45">
                <a:latin typeface="Times New Roman"/>
                <a:cs typeface="Times New Roman"/>
              </a:rPr>
              <a:t> </a:t>
            </a:r>
            <a:r>
              <a:rPr dirty="0" sz="1000" spc="10">
                <a:latin typeface="Times New Roman"/>
                <a:cs typeface="Times New Roman"/>
              </a:rPr>
              <a:t>on</a:t>
            </a:r>
            <a:r>
              <a:rPr dirty="0" sz="1000" spc="50">
                <a:latin typeface="Times New Roman"/>
                <a:cs typeface="Times New Roman"/>
              </a:rPr>
              <a:t> </a:t>
            </a:r>
            <a:r>
              <a:rPr dirty="0" sz="1000" spc="10">
                <a:latin typeface="Times New Roman"/>
                <a:cs typeface="Times New Roman"/>
              </a:rPr>
              <a:t>multiple</a:t>
            </a:r>
            <a:r>
              <a:rPr dirty="0" sz="1000" spc="45">
                <a:latin typeface="Times New Roman"/>
                <a:cs typeface="Times New Roman"/>
              </a:rPr>
              <a:t> </a:t>
            </a:r>
            <a:r>
              <a:rPr dirty="0" sz="1000" spc="10">
                <a:latin typeface="Times New Roman"/>
                <a:cs typeface="Times New Roman"/>
              </a:rPr>
              <a:t>types</a:t>
            </a:r>
            <a:r>
              <a:rPr dirty="0" sz="1000" spc="45">
                <a:latin typeface="Times New Roman"/>
                <a:cs typeface="Times New Roman"/>
              </a:rPr>
              <a:t> </a:t>
            </a:r>
            <a:r>
              <a:rPr dirty="0" sz="1000" spc="10">
                <a:latin typeface="Times New Roman"/>
                <a:cs typeface="Times New Roman"/>
              </a:rPr>
              <a:t>of</a:t>
            </a:r>
            <a:r>
              <a:rPr dirty="0" sz="1000" spc="50">
                <a:latin typeface="Times New Roman"/>
                <a:cs typeface="Times New Roman"/>
              </a:rPr>
              <a:t> </a:t>
            </a:r>
            <a:r>
              <a:rPr dirty="0" sz="1000" spc="10">
                <a:latin typeface="Times New Roman"/>
                <a:cs typeface="Times New Roman"/>
              </a:rPr>
              <a:t>modalities,</a:t>
            </a:r>
            <a:r>
              <a:rPr dirty="0" sz="1000" spc="50">
                <a:latin typeface="Times New Roman"/>
                <a:cs typeface="Times New Roman"/>
              </a:rPr>
              <a:t> </a:t>
            </a:r>
            <a:r>
              <a:rPr dirty="0" sz="1000" spc="10">
                <a:latin typeface="Times New Roman"/>
                <a:cs typeface="Times New Roman"/>
              </a:rPr>
              <a:t>tasks,</a:t>
            </a:r>
            <a:r>
              <a:rPr dirty="0" sz="1000" spc="55">
                <a:latin typeface="Times New Roman"/>
                <a:cs typeface="Times New Roman"/>
              </a:rPr>
              <a:t> </a:t>
            </a:r>
            <a:r>
              <a:rPr dirty="0" sz="1000" spc="-25">
                <a:latin typeface="Times New Roman"/>
                <a:cs typeface="Times New Roman"/>
              </a:rPr>
              <a:t>and </a:t>
            </a:r>
            <a:r>
              <a:rPr dirty="0" sz="1000" spc="10">
                <a:latin typeface="Times New Roman"/>
                <a:cs typeface="Times New Roman"/>
              </a:rPr>
              <a:t>frameworks</a:t>
            </a:r>
            <a:r>
              <a:rPr dirty="0" sz="1000" spc="55">
                <a:latin typeface="Times New Roman"/>
                <a:cs typeface="Times New Roman"/>
              </a:rPr>
              <a:t> </a:t>
            </a:r>
            <a:r>
              <a:rPr dirty="0" sz="1000" spc="10">
                <a:latin typeface="Times New Roman"/>
                <a:cs typeface="Times New Roman"/>
              </a:rPr>
              <a:t>with</a:t>
            </a:r>
            <a:r>
              <a:rPr dirty="0" sz="1000" spc="55">
                <a:latin typeface="Times New Roman"/>
                <a:cs typeface="Times New Roman"/>
              </a:rPr>
              <a:t> </a:t>
            </a:r>
            <a:r>
              <a:rPr dirty="0" sz="1000" spc="10">
                <a:latin typeface="Times New Roman"/>
                <a:cs typeface="Times New Roman"/>
              </a:rPr>
              <a:t>dense</a:t>
            </a:r>
            <a:r>
              <a:rPr dirty="0" sz="1000" spc="55">
                <a:latin typeface="Times New Roman"/>
                <a:cs typeface="Times New Roman"/>
              </a:rPr>
              <a:t> </a:t>
            </a:r>
            <a:r>
              <a:rPr dirty="0" sz="1000">
                <a:latin typeface="Times New Roman"/>
                <a:cs typeface="Times New Roman"/>
              </a:rPr>
              <a:t>cross-</a:t>
            </a:r>
            <a:r>
              <a:rPr dirty="0" sz="1000" spc="10">
                <a:latin typeface="Times New Roman"/>
                <a:cs typeface="Times New Roman"/>
              </a:rPr>
              <a:t>modal</a:t>
            </a:r>
            <a:r>
              <a:rPr dirty="0" sz="1000" spc="60">
                <a:latin typeface="Times New Roman"/>
                <a:cs typeface="Times New Roman"/>
              </a:rPr>
              <a:t> </a:t>
            </a:r>
            <a:r>
              <a:rPr dirty="0" sz="1000" spc="10">
                <a:latin typeface="Times New Roman"/>
                <a:cs typeface="Times New Roman"/>
              </a:rPr>
              <a:t>interaction</a:t>
            </a:r>
            <a:r>
              <a:rPr dirty="0" sz="1000" spc="55">
                <a:latin typeface="Times New Roman"/>
                <a:cs typeface="Times New Roman"/>
              </a:rPr>
              <a:t> </a:t>
            </a:r>
            <a:r>
              <a:rPr dirty="0" sz="1000" spc="10">
                <a:latin typeface="Times New Roman"/>
                <a:cs typeface="Times New Roman"/>
              </a:rPr>
              <a:t>demonstrate</a:t>
            </a:r>
            <a:r>
              <a:rPr dirty="0" sz="1000" spc="55">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a:latin typeface="Times New Roman"/>
                <a:cs typeface="Times New Roman"/>
              </a:rPr>
              <a:t>effectiveness</a:t>
            </a:r>
            <a:r>
              <a:rPr dirty="0" sz="1000" spc="55">
                <a:latin typeface="Times New Roman"/>
                <a:cs typeface="Times New Roman"/>
              </a:rPr>
              <a:t> </a:t>
            </a:r>
            <a:r>
              <a:rPr dirty="0" sz="1000" spc="10">
                <a:latin typeface="Times New Roman"/>
                <a:cs typeface="Times New Roman"/>
              </a:rPr>
              <a:t>and</a:t>
            </a:r>
            <a:r>
              <a:rPr dirty="0" sz="1000" spc="55">
                <a:latin typeface="Times New Roman"/>
                <a:cs typeface="Times New Roman"/>
              </a:rPr>
              <a:t> </a:t>
            </a:r>
            <a:r>
              <a:rPr dirty="0" sz="1000" spc="10">
                <a:latin typeface="Times New Roman"/>
                <a:cs typeface="Times New Roman"/>
              </a:rPr>
              <a:t>versatility</a:t>
            </a:r>
            <a:r>
              <a:rPr dirty="0" sz="1000" spc="60">
                <a:latin typeface="Times New Roman"/>
                <a:cs typeface="Times New Roman"/>
              </a:rPr>
              <a:t> </a:t>
            </a:r>
            <a:r>
              <a:rPr dirty="0" sz="1000">
                <a:latin typeface="Times New Roman"/>
                <a:cs typeface="Times New Roman"/>
              </a:rPr>
              <a:t>of</a:t>
            </a:r>
            <a:r>
              <a:rPr dirty="0" sz="1000" spc="55">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proposed DGL.</a:t>
            </a:r>
            <a:r>
              <a:rPr dirty="0" sz="1000" spc="190">
                <a:latin typeface="Times New Roman"/>
                <a:cs typeface="Times New Roman"/>
              </a:rPr>
              <a:t> </a:t>
            </a:r>
            <a:r>
              <a:rPr dirty="0" sz="1000">
                <a:latin typeface="Times New Roman"/>
                <a:cs typeface="Times New Roman"/>
              </a:rPr>
              <a:t>Code</a:t>
            </a:r>
            <a:r>
              <a:rPr dirty="0" sz="1000" spc="190">
                <a:latin typeface="Times New Roman"/>
                <a:cs typeface="Times New Roman"/>
              </a:rPr>
              <a:t> </a:t>
            </a:r>
            <a:r>
              <a:rPr dirty="0" sz="1000">
                <a:latin typeface="Times New Roman"/>
                <a:cs typeface="Times New Roman"/>
              </a:rPr>
              <a:t>is</a:t>
            </a:r>
            <a:r>
              <a:rPr dirty="0" sz="1000" spc="190">
                <a:latin typeface="Times New Roman"/>
                <a:cs typeface="Times New Roman"/>
              </a:rPr>
              <a:t> </a:t>
            </a:r>
            <a:r>
              <a:rPr dirty="0" sz="1000">
                <a:latin typeface="Times New Roman"/>
                <a:cs typeface="Times New Roman"/>
              </a:rPr>
              <a:t>available</a:t>
            </a:r>
            <a:r>
              <a:rPr dirty="0" sz="1000" spc="190">
                <a:latin typeface="Times New Roman"/>
                <a:cs typeface="Times New Roman"/>
              </a:rPr>
              <a:t> </a:t>
            </a:r>
            <a:r>
              <a:rPr dirty="0" sz="1000">
                <a:latin typeface="Times New Roman"/>
                <a:cs typeface="Times New Roman"/>
              </a:rPr>
              <a:t>at</a:t>
            </a:r>
            <a:r>
              <a:rPr dirty="0" sz="1000" spc="190">
                <a:latin typeface="Times New Roman"/>
                <a:cs typeface="Times New Roman"/>
              </a:rPr>
              <a:t> </a:t>
            </a:r>
            <a:r>
              <a:rPr dirty="0" sz="1000">
                <a:latin typeface="Times New Roman"/>
                <a:cs typeface="Times New Roman"/>
              </a:rPr>
              <a:t>https://github.com/shicaiwei123/ICCV2025-</a:t>
            </a:r>
            <a:r>
              <a:rPr dirty="0" sz="1000" spc="-25">
                <a:latin typeface="Times New Roman"/>
                <a:cs typeface="Times New Roman"/>
              </a:rPr>
              <a:t>GDL</a:t>
            </a:r>
            <a:endParaRPr sz="1000">
              <a:latin typeface="Times New Roman"/>
              <a:cs typeface="Times New Roman"/>
            </a:endParaRPr>
          </a:p>
        </p:txBody>
      </p:sp>
      <p:sp>
        <p:nvSpPr>
          <p:cNvPr id="21" name="object 21"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70"/>
            <a:ext cx="5760085" cy="2327275"/>
            <a:chOff x="899998" y="899970"/>
            <a:chExt cx="5760085" cy="2327275"/>
          </a:xfrm>
        </p:grpSpPr>
        <p:sp>
          <p:nvSpPr>
            <p:cNvPr id="3" name="object 3" descr=""/>
            <p:cNvSpPr/>
            <p:nvPr/>
          </p:nvSpPr>
          <p:spPr>
            <a:xfrm>
              <a:off x="899998" y="899970"/>
              <a:ext cx="5760085" cy="2327275"/>
            </a:xfrm>
            <a:custGeom>
              <a:avLst/>
              <a:gdLst/>
              <a:ahLst/>
              <a:cxnLst/>
              <a:rect l="l" t="t" r="r" b="b"/>
              <a:pathLst>
                <a:path w="5760084" h="2327275">
                  <a:moveTo>
                    <a:pt x="5724074" y="0"/>
                  </a:moveTo>
                  <a:lnTo>
                    <a:pt x="36000" y="0"/>
                  </a:lnTo>
                  <a:lnTo>
                    <a:pt x="21987" y="2829"/>
                  </a:lnTo>
                  <a:lnTo>
                    <a:pt x="10544" y="10544"/>
                  </a:lnTo>
                  <a:lnTo>
                    <a:pt x="2829" y="21987"/>
                  </a:lnTo>
                  <a:lnTo>
                    <a:pt x="0" y="36000"/>
                  </a:lnTo>
                  <a:lnTo>
                    <a:pt x="0" y="2290985"/>
                  </a:lnTo>
                  <a:lnTo>
                    <a:pt x="2829" y="2304998"/>
                  </a:lnTo>
                  <a:lnTo>
                    <a:pt x="10544" y="2316441"/>
                  </a:lnTo>
                  <a:lnTo>
                    <a:pt x="21987" y="2324156"/>
                  </a:lnTo>
                  <a:lnTo>
                    <a:pt x="36000" y="2326985"/>
                  </a:lnTo>
                  <a:lnTo>
                    <a:pt x="5724074" y="2326985"/>
                  </a:lnTo>
                  <a:lnTo>
                    <a:pt x="5738087" y="2324156"/>
                  </a:lnTo>
                  <a:lnTo>
                    <a:pt x="5749530" y="2316441"/>
                  </a:lnTo>
                  <a:lnTo>
                    <a:pt x="5757245" y="2304998"/>
                  </a:lnTo>
                  <a:lnTo>
                    <a:pt x="5760074" y="229098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70"/>
              <a:ext cx="5760085" cy="2327275"/>
            </a:xfrm>
            <a:custGeom>
              <a:avLst/>
              <a:gdLst/>
              <a:ahLst/>
              <a:cxnLst/>
              <a:rect l="l" t="t" r="r" b="b"/>
              <a:pathLst>
                <a:path w="5760084" h="2327275">
                  <a:moveTo>
                    <a:pt x="5724074" y="0"/>
                  </a:moveTo>
                  <a:lnTo>
                    <a:pt x="36000" y="0"/>
                  </a:lnTo>
                  <a:lnTo>
                    <a:pt x="21987" y="2829"/>
                  </a:lnTo>
                  <a:lnTo>
                    <a:pt x="10544" y="10544"/>
                  </a:lnTo>
                  <a:lnTo>
                    <a:pt x="2829" y="21987"/>
                  </a:lnTo>
                  <a:lnTo>
                    <a:pt x="0" y="36000"/>
                  </a:lnTo>
                  <a:lnTo>
                    <a:pt x="0" y="2290985"/>
                  </a:lnTo>
                  <a:lnTo>
                    <a:pt x="2829" y="2304998"/>
                  </a:lnTo>
                  <a:lnTo>
                    <a:pt x="10544" y="2316441"/>
                  </a:lnTo>
                  <a:lnTo>
                    <a:pt x="21987" y="2324156"/>
                  </a:lnTo>
                  <a:lnTo>
                    <a:pt x="36000" y="2326985"/>
                  </a:lnTo>
                  <a:lnTo>
                    <a:pt x="5724074" y="2326985"/>
                  </a:lnTo>
                  <a:lnTo>
                    <a:pt x="5738087" y="2324156"/>
                  </a:lnTo>
                  <a:lnTo>
                    <a:pt x="5749530" y="2316441"/>
                  </a:lnTo>
                  <a:lnTo>
                    <a:pt x="5757245" y="2304998"/>
                  </a:lnTo>
                  <a:lnTo>
                    <a:pt x="5760074" y="229098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3825938"/>
            <a:ext cx="5760085" cy="388620"/>
            <a:chOff x="899998" y="3825938"/>
            <a:chExt cx="5760085" cy="388620"/>
          </a:xfrm>
        </p:grpSpPr>
        <p:sp>
          <p:nvSpPr>
            <p:cNvPr id="6" name="object 6" descr=""/>
            <p:cNvSpPr/>
            <p:nvPr/>
          </p:nvSpPr>
          <p:spPr>
            <a:xfrm>
              <a:off x="899998" y="3825938"/>
              <a:ext cx="5760085" cy="388620"/>
            </a:xfrm>
            <a:custGeom>
              <a:avLst/>
              <a:gdLst/>
              <a:ahLst/>
              <a:cxnLst/>
              <a:rect l="l" t="t" r="r" b="b"/>
              <a:pathLst>
                <a:path w="5760084" h="388620">
                  <a:moveTo>
                    <a:pt x="5724074" y="0"/>
                  </a:moveTo>
                  <a:lnTo>
                    <a:pt x="36000" y="0"/>
                  </a:lnTo>
                  <a:lnTo>
                    <a:pt x="21987" y="2829"/>
                  </a:lnTo>
                  <a:lnTo>
                    <a:pt x="10544" y="10544"/>
                  </a:lnTo>
                  <a:lnTo>
                    <a:pt x="2829" y="21987"/>
                  </a:lnTo>
                  <a:lnTo>
                    <a:pt x="0" y="36000"/>
                  </a:lnTo>
                  <a:lnTo>
                    <a:pt x="0" y="351997"/>
                  </a:lnTo>
                  <a:lnTo>
                    <a:pt x="2829" y="366010"/>
                  </a:lnTo>
                  <a:lnTo>
                    <a:pt x="10544" y="377453"/>
                  </a:lnTo>
                  <a:lnTo>
                    <a:pt x="21987" y="385168"/>
                  </a:lnTo>
                  <a:lnTo>
                    <a:pt x="36000" y="387997"/>
                  </a:lnTo>
                  <a:lnTo>
                    <a:pt x="5724074" y="387997"/>
                  </a:lnTo>
                  <a:lnTo>
                    <a:pt x="5738087" y="385168"/>
                  </a:lnTo>
                  <a:lnTo>
                    <a:pt x="5749530" y="377453"/>
                  </a:lnTo>
                  <a:lnTo>
                    <a:pt x="5757245" y="366010"/>
                  </a:lnTo>
                  <a:lnTo>
                    <a:pt x="5760074" y="35199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3825938"/>
              <a:ext cx="5760085" cy="388620"/>
            </a:xfrm>
            <a:custGeom>
              <a:avLst/>
              <a:gdLst/>
              <a:ahLst/>
              <a:cxnLst/>
              <a:rect l="l" t="t" r="r" b="b"/>
              <a:pathLst>
                <a:path w="5760084" h="388620">
                  <a:moveTo>
                    <a:pt x="5724074" y="0"/>
                  </a:moveTo>
                  <a:lnTo>
                    <a:pt x="36000" y="0"/>
                  </a:lnTo>
                  <a:lnTo>
                    <a:pt x="21987" y="2829"/>
                  </a:lnTo>
                  <a:lnTo>
                    <a:pt x="10544" y="10544"/>
                  </a:lnTo>
                  <a:lnTo>
                    <a:pt x="2829" y="21987"/>
                  </a:lnTo>
                  <a:lnTo>
                    <a:pt x="0" y="36000"/>
                  </a:lnTo>
                  <a:lnTo>
                    <a:pt x="0" y="351997"/>
                  </a:lnTo>
                  <a:lnTo>
                    <a:pt x="2829" y="366010"/>
                  </a:lnTo>
                  <a:lnTo>
                    <a:pt x="10544" y="377453"/>
                  </a:lnTo>
                  <a:lnTo>
                    <a:pt x="21987" y="385168"/>
                  </a:lnTo>
                  <a:lnTo>
                    <a:pt x="36000" y="387997"/>
                  </a:lnTo>
                  <a:lnTo>
                    <a:pt x="5724074" y="387997"/>
                  </a:lnTo>
                  <a:lnTo>
                    <a:pt x="5738087" y="385168"/>
                  </a:lnTo>
                  <a:lnTo>
                    <a:pt x="5749530" y="377453"/>
                  </a:lnTo>
                  <a:lnTo>
                    <a:pt x="5757245" y="366010"/>
                  </a:lnTo>
                  <a:lnTo>
                    <a:pt x="5760074" y="35199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5595580"/>
            <a:ext cx="5760085" cy="940435"/>
            <a:chOff x="899998" y="5595580"/>
            <a:chExt cx="5760085" cy="940435"/>
          </a:xfrm>
        </p:grpSpPr>
        <p:sp>
          <p:nvSpPr>
            <p:cNvPr id="9" name="object 9" descr=""/>
            <p:cNvSpPr/>
            <p:nvPr/>
          </p:nvSpPr>
          <p:spPr>
            <a:xfrm>
              <a:off x="899998" y="5595580"/>
              <a:ext cx="5760085" cy="940435"/>
            </a:xfrm>
            <a:custGeom>
              <a:avLst/>
              <a:gdLst/>
              <a:ahLst/>
              <a:cxnLst/>
              <a:rect l="l" t="t" r="r" b="b"/>
              <a:pathLst>
                <a:path w="5760084" h="940434">
                  <a:moveTo>
                    <a:pt x="5724074" y="0"/>
                  </a:moveTo>
                  <a:lnTo>
                    <a:pt x="36000" y="0"/>
                  </a:lnTo>
                  <a:lnTo>
                    <a:pt x="21987" y="2829"/>
                  </a:lnTo>
                  <a:lnTo>
                    <a:pt x="10544" y="10544"/>
                  </a:lnTo>
                  <a:lnTo>
                    <a:pt x="2829" y="21987"/>
                  </a:lnTo>
                  <a:lnTo>
                    <a:pt x="0" y="36000"/>
                  </a:lnTo>
                  <a:lnTo>
                    <a:pt x="0" y="903991"/>
                  </a:lnTo>
                  <a:lnTo>
                    <a:pt x="2829" y="918004"/>
                  </a:lnTo>
                  <a:lnTo>
                    <a:pt x="10544" y="929447"/>
                  </a:lnTo>
                  <a:lnTo>
                    <a:pt x="21987" y="937162"/>
                  </a:lnTo>
                  <a:lnTo>
                    <a:pt x="36000" y="939991"/>
                  </a:lnTo>
                  <a:lnTo>
                    <a:pt x="5724074" y="939991"/>
                  </a:lnTo>
                  <a:lnTo>
                    <a:pt x="5738087" y="937162"/>
                  </a:lnTo>
                  <a:lnTo>
                    <a:pt x="5749530" y="929447"/>
                  </a:lnTo>
                  <a:lnTo>
                    <a:pt x="5757245" y="918004"/>
                  </a:lnTo>
                  <a:lnTo>
                    <a:pt x="5760074" y="90399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5595580"/>
              <a:ext cx="5760085" cy="940435"/>
            </a:xfrm>
            <a:custGeom>
              <a:avLst/>
              <a:gdLst/>
              <a:ahLst/>
              <a:cxnLst/>
              <a:rect l="l" t="t" r="r" b="b"/>
              <a:pathLst>
                <a:path w="5760084" h="940434">
                  <a:moveTo>
                    <a:pt x="5724074" y="0"/>
                  </a:moveTo>
                  <a:lnTo>
                    <a:pt x="36000" y="0"/>
                  </a:lnTo>
                  <a:lnTo>
                    <a:pt x="21987" y="2829"/>
                  </a:lnTo>
                  <a:lnTo>
                    <a:pt x="10544" y="10544"/>
                  </a:lnTo>
                  <a:lnTo>
                    <a:pt x="2829" y="21987"/>
                  </a:lnTo>
                  <a:lnTo>
                    <a:pt x="0" y="36000"/>
                  </a:lnTo>
                  <a:lnTo>
                    <a:pt x="0" y="903991"/>
                  </a:lnTo>
                  <a:lnTo>
                    <a:pt x="2829" y="918004"/>
                  </a:lnTo>
                  <a:lnTo>
                    <a:pt x="10544" y="929447"/>
                  </a:lnTo>
                  <a:lnTo>
                    <a:pt x="21987" y="937162"/>
                  </a:lnTo>
                  <a:lnTo>
                    <a:pt x="36000" y="939991"/>
                  </a:lnTo>
                  <a:lnTo>
                    <a:pt x="5724074" y="939991"/>
                  </a:lnTo>
                  <a:lnTo>
                    <a:pt x="5738087" y="937162"/>
                  </a:lnTo>
                  <a:lnTo>
                    <a:pt x="5749530" y="929447"/>
                  </a:lnTo>
                  <a:lnTo>
                    <a:pt x="5757245" y="918004"/>
                  </a:lnTo>
                  <a:lnTo>
                    <a:pt x="5760074" y="90399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1" name="object 11" descr=""/>
          <p:cNvSpPr txBox="1"/>
          <p:nvPr/>
        </p:nvSpPr>
        <p:spPr>
          <a:xfrm>
            <a:off x="887298" y="930637"/>
            <a:ext cx="5785485" cy="7656830"/>
          </a:xfrm>
          <a:prstGeom prst="rect">
            <a:avLst/>
          </a:prstGeom>
        </p:spPr>
        <p:txBody>
          <a:bodyPr wrap="square" lIns="0" tIns="12700" rIns="0" bIns="0" rtlCol="0" vert="horz">
            <a:spAutoFit/>
          </a:bodyPr>
          <a:lstStyle/>
          <a:p>
            <a:pPr algn="just" marL="192405" marR="184785">
              <a:lnSpc>
                <a:spcPct val="129500"/>
              </a:lnSpc>
              <a:spcBef>
                <a:spcPts val="100"/>
              </a:spcBef>
            </a:pPr>
            <a:r>
              <a:rPr dirty="0" sz="1000" spc="-25">
                <a:latin typeface="SimSun"/>
                <a:cs typeface="SimSun"/>
              </a:rPr>
              <a:t>多模态学习常常面临优化不足的问题，其性能可能比单模态学习更差。现有方法将此问题归因于模</a:t>
            </a:r>
            <a:r>
              <a:rPr dirty="0" sz="1000" spc="-35">
                <a:latin typeface="SimSun"/>
                <a:cs typeface="SimSun"/>
              </a:rPr>
              <a:t>态间的不平衡学习，并通过梯度调制来重新平衡它们。然而，它们未能解释为何多模态模型中的主</a:t>
            </a:r>
            <a:r>
              <a:rPr dirty="0" sz="1000" spc="-30">
                <a:latin typeface="SimSun"/>
                <a:cs typeface="SimSun"/>
              </a:rPr>
              <a:t>导模态在性能上也不如单模态学习中的主导模态。在这项工作中，我们揭示了多模态模型中模态编码器与模态融合模块之间的优化冲突。具体而言，我们证明与单模态模型相比，多模态模型中的跨模态融合会减少回传至每个模态编码器的梯度。因此，多模态模型中每个模态的性能都不如单模态</a:t>
            </a:r>
            <a:r>
              <a:rPr dirty="0" sz="1000" spc="-70">
                <a:latin typeface="SimSun"/>
                <a:cs typeface="SimSun"/>
              </a:rPr>
              <a:t>模型。为此，我们提出了一种解耦梯度学习 </a:t>
            </a:r>
            <a:r>
              <a:rPr dirty="0" sz="1000" spc="-10">
                <a:latin typeface="Times New Roman"/>
                <a:cs typeface="Times New Roman"/>
              </a:rPr>
              <a:t>(DGL)</a:t>
            </a:r>
            <a:r>
              <a:rPr dirty="0" sz="1000" spc="-35">
                <a:latin typeface="Times New Roman"/>
                <a:cs typeface="Times New Roman"/>
              </a:rPr>
              <a:t> </a:t>
            </a:r>
            <a:r>
              <a:rPr dirty="0" sz="1000" spc="-40">
                <a:latin typeface="SimSun"/>
                <a:cs typeface="SimSun"/>
              </a:rPr>
              <a:t>框架，以解耦多模态模型中模态编码器和模态融</a:t>
            </a:r>
            <a:r>
              <a:rPr dirty="0" sz="1000" spc="-10">
                <a:latin typeface="SimSun"/>
                <a:cs typeface="SimSun"/>
              </a:rPr>
              <a:t>合模块的优化。</a:t>
            </a:r>
            <a:r>
              <a:rPr dirty="0" sz="1000" spc="-15">
                <a:latin typeface="Times New Roman"/>
                <a:cs typeface="Times New Roman"/>
              </a:rPr>
              <a:t>DGL</a:t>
            </a:r>
            <a:r>
              <a:rPr dirty="0" sz="1000" spc="15">
                <a:latin typeface="Times New Roman"/>
                <a:cs typeface="Times New Roman"/>
              </a:rPr>
              <a:t> </a:t>
            </a:r>
            <a:r>
              <a:rPr dirty="0" sz="1000" spc="-10">
                <a:latin typeface="SimSun"/>
                <a:cs typeface="SimSun"/>
              </a:rPr>
              <a:t>截断从多模态损失反向传播到模态编码器的梯度，并用单模态损失的梯度取</a:t>
            </a:r>
            <a:r>
              <a:rPr dirty="0" sz="1000" spc="-50">
                <a:latin typeface="SimSun"/>
                <a:cs typeface="SimSun"/>
              </a:rPr>
              <a:t>而代之。此外，</a:t>
            </a:r>
            <a:r>
              <a:rPr dirty="0" sz="1000" spc="-65">
                <a:latin typeface="Times New Roman"/>
                <a:cs typeface="Times New Roman"/>
              </a:rPr>
              <a:t>DGL</a:t>
            </a:r>
            <a:r>
              <a:rPr dirty="0" sz="1000" spc="-40">
                <a:latin typeface="Times New Roman"/>
                <a:cs typeface="Times New Roman"/>
              </a:rPr>
              <a:t> </a:t>
            </a:r>
            <a:r>
              <a:rPr dirty="0" sz="1000" spc="-20">
                <a:latin typeface="SimSun"/>
                <a:cs typeface="SimSun"/>
              </a:rPr>
              <a:t>去除从单模态损失反向传播到模态融合模块的梯度。这有助于消除模态编码器</a:t>
            </a:r>
            <a:r>
              <a:rPr dirty="0" sz="1000" spc="-35">
                <a:latin typeface="SimSun"/>
                <a:cs typeface="SimSun"/>
              </a:rPr>
              <a:t>和模态融合模块之间的梯度干扰，同时确保它们各自的优化过程。最后，在多种类型的模态、任务</a:t>
            </a:r>
            <a:r>
              <a:rPr dirty="0" sz="1000" spc="-5">
                <a:latin typeface="SimSun"/>
                <a:cs typeface="SimSun"/>
              </a:rPr>
              <a:t>和具有密集跨模态交互的框架上进行的大量实验证明了所提出的</a:t>
            </a:r>
            <a:r>
              <a:rPr dirty="0" sz="1000" spc="-15">
                <a:latin typeface="Times New Roman"/>
                <a:cs typeface="Times New Roman"/>
              </a:rPr>
              <a:t>DGL</a:t>
            </a:r>
            <a:r>
              <a:rPr dirty="0" sz="1000" spc="-5">
                <a:latin typeface="Times New Roman"/>
                <a:cs typeface="Times New Roman"/>
              </a:rPr>
              <a:t> </a:t>
            </a:r>
            <a:r>
              <a:rPr dirty="0" sz="1000" spc="-10">
                <a:latin typeface="SimSun"/>
                <a:cs typeface="SimSun"/>
              </a:rPr>
              <a:t>的有效性和通用性。代码可</a:t>
            </a:r>
            <a:r>
              <a:rPr dirty="0" sz="1000" spc="220">
                <a:latin typeface="SimSun"/>
                <a:cs typeface="SimSun"/>
              </a:rPr>
              <a:t>在</a:t>
            </a:r>
            <a:r>
              <a:rPr dirty="0" sz="1000" spc="20">
                <a:latin typeface="Times New Roman"/>
                <a:cs typeface="Times New Roman"/>
              </a:rPr>
              <a:t>https://github.com/shicaiwei123/ICCV2025-</a:t>
            </a:r>
            <a:r>
              <a:rPr dirty="0" sz="1000" spc="-15">
                <a:latin typeface="Times New Roman"/>
                <a:cs typeface="Times New Roman"/>
              </a:rPr>
              <a:t>GDL</a:t>
            </a:r>
            <a:r>
              <a:rPr dirty="0" sz="1000" spc="-20">
                <a:latin typeface="Times New Roman"/>
                <a:cs typeface="Times New Roman"/>
              </a:rPr>
              <a:t> </a:t>
            </a:r>
            <a:r>
              <a:rPr dirty="0" sz="1000" spc="-10">
                <a:latin typeface="SimSun"/>
                <a:cs typeface="SimSun"/>
              </a:rPr>
              <a:t>获取</a:t>
            </a:r>
            <a:endParaRPr sz="1000">
              <a:latin typeface="SimSun"/>
              <a:cs typeface="SimSun"/>
            </a:endParaRPr>
          </a:p>
          <a:p>
            <a:pPr>
              <a:lnSpc>
                <a:spcPct val="100000"/>
              </a:lnSpc>
            </a:pPr>
            <a:endParaRPr sz="1000">
              <a:latin typeface="SimSun"/>
              <a:cs typeface="SimSun"/>
            </a:endParaRPr>
          </a:p>
          <a:p>
            <a:pPr>
              <a:lnSpc>
                <a:spcPct val="100000"/>
              </a:lnSpc>
              <a:spcBef>
                <a:spcPts val="434"/>
              </a:spcBef>
            </a:pPr>
            <a:endParaRPr sz="1000">
              <a:latin typeface="SimSun"/>
              <a:cs typeface="SimSun"/>
            </a:endParaRPr>
          </a:p>
          <a:p>
            <a:pPr marL="12700">
              <a:lnSpc>
                <a:spcPct val="100000"/>
              </a:lnSpc>
            </a:pPr>
            <a:r>
              <a:rPr dirty="0" sz="1400" b="1">
                <a:latin typeface="Times New Roman"/>
                <a:cs typeface="Times New Roman"/>
              </a:rPr>
              <a:t>1.</a:t>
            </a:r>
            <a:r>
              <a:rPr dirty="0" sz="1400" spc="125" b="1">
                <a:latin typeface="Times New Roman"/>
                <a:cs typeface="Times New Roman"/>
              </a:rPr>
              <a:t> </a:t>
            </a:r>
            <a:r>
              <a:rPr dirty="0" sz="1400" spc="40" b="1">
                <a:latin typeface="Times New Roman"/>
                <a:cs typeface="Times New Roman"/>
              </a:rPr>
              <a:t>Introduction</a:t>
            </a:r>
            <a:endParaRPr sz="1400">
              <a:latin typeface="Times New Roman"/>
              <a:cs typeface="Times New Roman"/>
            </a:endParaRPr>
          </a:p>
          <a:p>
            <a:pPr marL="192405">
              <a:lnSpc>
                <a:spcPct val="100000"/>
              </a:lnSpc>
              <a:spcBef>
                <a:spcPts val="1590"/>
              </a:spcBef>
            </a:pPr>
            <a:r>
              <a:rPr dirty="0" sz="1400" b="1">
                <a:latin typeface="Times New Roman"/>
                <a:cs typeface="Times New Roman"/>
              </a:rPr>
              <a:t>1.</a:t>
            </a:r>
            <a:r>
              <a:rPr dirty="0" sz="1400" spc="150" b="1">
                <a:latin typeface="Times New Roman"/>
                <a:cs typeface="Times New Roman"/>
              </a:rPr>
              <a:t> </a:t>
            </a:r>
            <a:r>
              <a:rPr dirty="0" sz="1400" spc="-25" b="1">
                <a:latin typeface="Microsoft JhengHei"/>
                <a:cs typeface="Microsoft JhengHei"/>
              </a:rPr>
              <a:t>引言</a:t>
            </a:r>
            <a:endParaRPr sz="1400">
              <a:latin typeface="Microsoft JhengHei"/>
              <a:cs typeface="Microsoft JhengHei"/>
            </a:endParaRPr>
          </a:p>
          <a:p>
            <a:pPr algn="just" marL="12700" marR="5080" indent="252729">
              <a:lnSpc>
                <a:spcPct val="129500"/>
              </a:lnSpc>
              <a:spcBef>
                <a:spcPts val="1220"/>
              </a:spcBef>
            </a:pPr>
            <a:r>
              <a:rPr dirty="0" sz="1000">
                <a:latin typeface="Times New Roman"/>
                <a:cs typeface="Times New Roman"/>
              </a:rPr>
              <a:t>With</a:t>
            </a:r>
            <a:r>
              <a:rPr dirty="0" sz="1000" spc="70">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growing</a:t>
            </a:r>
            <a:r>
              <a:rPr dirty="0" sz="1000" spc="70">
                <a:latin typeface="Times New Roman"/>
                <a:cs typeface="Times New Roman"/>
              </a:rPr>
              <a:t> </a:t>
            </a:r>
            <a:r>
              <a:rPr dirty="0" sz="1000">
                <a:latin typeface="Times New Roman"/>
                <a:cs typeface="Times New Roman"/>
              </a:rPr>
              <a:t>availability</a:t>
            </a:r>
            <a:r>
              <a:rPr dirty="0" sz="1000" spc="75">
                <a:latin typeface="Times New Roman"/>
                <a:cs typeface="Times New Roman"/>
              </a:rPr>
              <a:t> </a:t>
            </a:r>
            <a:r>
              <a:rPr dirty="0" sz="1000" spc="-30">
                <a:latin typeface="Times New Roman"/>
                <a:cs typeface="Times New Roman"/>
              </a:rPr>
              <a:t>of</a:t>
            </a:r>
            <a:r>
              <a:rPr dirty="0" sz="1000" spc="70">
                <a:latin typeface="Times New Roman"/>
                <a:cs typeface="Times New Roman"/>
              </a:rPr>
              <a:t> </a:t>
            </a:r>
            <a:r>
              <a:rPr dirty="0" sz="1000">
                <a:latin typeface="Times New Roman"/>
                <a:cs typeface="Times New Roman"/>
              </a:rPr>
              <a:t>affordable</a:t>
            </a:r>
            <a:r>
              <a:rPr dirty="0" sz="1000" spc="75">
                <a:latin typeface="Times New Roman"/>
                <a:cs typeface="Times New Roman"/>
              </a:rPr>
              <a:t> </a:t>
            </a:r>
            <a:r>
              <a:rPr dirty="0" sz="1000">
                <a:latin typeface="Times New Roman"/>
                <a:cs typeface="Times New Roman"/>
              </a:rPr>
              <a:t>sensors,</a:t>
            </a:r>
            <a:r>
              <a:rPr dirty="0" sz="1000" spc="90">
                <a:latin typeface="Times New Roman"/>
                <a:cs typeface="Times New Roman"/>
              </a:rPr>
              <a:t> </a:t>
            </a:r>
            <a:r>
              <a:rPr dirty="0" sz="1000">
                <a:latin typeface="Times New Roman"/>
                <a:cs typeface="Times New Roman"/>
              </a:rPr>
              <a:t>multimodal</a:t>
            </a:r>
            <a:r>
              <a:rPr dirty="0" sz="1000" spc="70">
                <a:latin typeface="Times New Roman"/>
                <a:cs typeface="Times New Roman"/>
              </a:rPr>
              <a:t> </a:t>
            </a:r>
            <a:r>
              <a:rPr dirty="0" sz="1000">
                <a:latin typeface="Times New Roman"/>
                <a:cs typeface="Times New Roman"/>
              </a:rPr>
              <a:t>learning,</a:t>
            </a:r>
            <a:r>
              <a:rPr dirty="0" sz="1000" spc="90">
                <a:latin typeface="Times New Roman"/>
                <a:cs typeface="Times New Roman"/>
              </a:rPr>
              <a:t> </a:t>
            </a:r>
            <a:r>
              <a:rPr dirty="0" sz="1000">
                <a:latin typeface="Times New Roman"/>
                <a:cs typeface="Times New Roman"/>
              </a:rPr>
              <a:t>which</a:t>
            </a:r>
            <a:r>
              <a:rPr dirty="0" sz="1000" spc="75">
                <a:latin typeface="Times New Roman"/>
                <a:cs typeface="Times New Roman"/>
              </a:rPr>
              <a:t> </a:t>
            </a:r>
            <a:r>
              <a:rPr dirty="0" sz="1000">
                <a:latin typeface="Times New Roman"/>
                <a:cs typeface="Times New Roman"/>
              </a:rPr>
              <a:t>harnesses</a:t>
            </a:r>
            <a:r>
              <a:rPr dirty="0" sz="1000" spc="70">
                <a:latin typeface="Times New Roman"/>
                <a:cs typeface="Times New Roman"/>
              </a:rPr>
              <a:t> </a:t>
            </a:r>
            <a:r>
              <a:rPr dirty="0" sz="1000">
                <a:latin typeface="Times New Roman"/>
                <a:cs typeface="Times New Roman"/>
              </a:rPr>
              <a:t>data</a:t>
            </a:r>
            <a:r>
              <a:rPr dirty="0" sz="1000" spc="75">
                <a:latin typeface="Times New Roman"/>
                <a:cs typeface="Times New Roman"/>
              </a:rPr>
              <a:t> </a:t>
            </a:r>
            <a:r>
              <a:rPr dirty="0" sz="1000">
                <a:latin typeface="Times New Roman"/>
                <a:cs typeface="Times New Roman"/>
              </a:rPr>
              <a:t>from</a:t>
            </a:r>
            <a:r>
              <a:rPr dirty="0" sz="1000" spc="70">
                <a:latin typeface="Times New Roman"/>
                <a:cs typeface="Times New Roman"/>
              </a:rPr>
              <a:t> </a:t>
            </a:r>
            <a:r>
              <a:rPr dirty="0" sz="1000" spc="-20">
                <a:latin typeface="Times New Roman"/>
                <a:cs typeface="Times New Roman"/>
              </a:rPr>
              <a:t>var- </a:t>
            </a:r>
            <a:r>
              <a:rPr dirty="0" sz="1000" spc="10">
                <a:latin typeface="Times New Roman"/>
                <a:cs typeface="Times New Roman"/>
              </a:rPr>
              <a:t>ious</a:t>
            </a:r>
            <a:r>
              <a:rPr dirty="0" sz="1000" spc="5">
                <a:latin typeface="Times New Roman"/>
                <a:cs typeface="Times New Roman"/>
              </a:rPr>
              <a:t> </a:t>
            </a:r>
            <a:r>
              <a:rPr dirty="0" sz="1000" spc="10">
                <a:latin typeface="Times New Roman"/>
                <a:cs typeface="Times New Roman"/>
              </a:rPr>
              <a:t>sources,</a:t>
            </a:r>
            <a:r>
              <a:rPr dirty="0" sz="1000" spc="20">
                <a:latin typeface="Times New Roman"/>
                <a:cs typeface="Times New Roman"/>
              </a:rPr>
              <a:t> </a:t>
            </a:r>
            <a:r>
              <a:rPr dirty="0" sz="1000" spc="10">
                <a:latin typeface="Times New Roman"/>
                <a:cs typeface="Times New Roman"/>
              </a:rPr>
              <a:t>has</a:t>
            </a:r>
            <a:r>
              <a:rPr dirty="0" sz="1000" spc="15">
                <a:latin typeface="Times New Roman"/>
                <a:cs typeface="Times New Roman"/>
              </a:rPr>
              <a:t> </a:t>
            </a:r>
            <a:r>
              <a:rPr dirty="0" sz="1000" spc="10">
                <a:latin typeface="Times New Roman"/>
                <a:cs typeface="Times New Roman"/>
              </a:rPr>
              <a:t>received</a:t>
            </a:r>
            <a:r>
              <a:rPr dirty="0" sz="1000" spc="5">
                <a:latin typeface="Times New Roman"/>
                <a:cs typeface="Times New Roman"/>
              </a:rPr>
              <a:t> </a:t>
            </a:r>
            <a:r>
              <a:rPr dirty="0" sz="1000" spc="10">
                <a:latin typeface="Times New Roman"/>
                <a:cs typeface="Times New Roman"/>
              </a:rPr>
              <a:t>significant</a:t>
            </a:r>
            <a:r>
              <a:rPr dirty="0" sz="1000" spc="15">
                <a:latin typeface="Times New Roman"/>
                <a:cs typeface="Times New Roman"/>
              </a:rPr>
              <a:t> </a:t>
            </a:r>
            <a:r>
              <a:rPr dirty="0" sz="1000" spc="10">
                <a:latin typeface="Times New Roman"/>
                <a:cs typeface="Times New Roman"/>
              </a:rPr>
              <a:t>interest</a:t>
            </a:r>
            <a:r>
              <a:rPr dirty="0" sz="1000" spc="5">
                <a:latin typeface="Times New Roman"/>
                <a:cs typeface="Times New Roman"/>
              </a:rPr>
              <a:t> </a:t>
            </a:r>
            <a:r>
              <a:rPr dirty="0" sz="1000" spc="10">
                <a:latin typeface="Times New Roman"/>
                <a:cs typeface="Times New Roman"/>
              </a:rPr>
              <a:t>in</a:t>
            </a:r>
            <a:r>
              <a:rPr dirty="0" sz="1000" spc="15">
                <a:latin typeface="Times New Roman"/>
                <a:cs typeface="Times New Roman"/>
              </a:rPr>
              <a:t> </a:t>
            </a:r>
            <a:r>
              <a:rPr dirty="0" sz="1000" spc="10">
                <a:latin typeface="Times New Roman"/>
                <a:cs typeface="Times New Roman"/>
              </a:rPr>
              <a:t>machine</a:t>
            </a:r>
            <a:r>
              <a:rPr dirty="0" sz="1000" spc="15">
                <a:latin typeface="Times New Roman"/>
                <a:cs typeface="Times New Roman"/>
              </a:rPr>
              <a:t> </a:t>
            </a:r>
            <a:r>
              <a:rPr dirty="0" sz="1000" spc="10">
                <a:latin typeface="Times New Roman"/>
                <a:cs typeface="Times New Roman"/>
              </a:rPr>
              <a:t>learning.</a:t>
            </a:r>
            <a:r>
              <a:rPr dirty="0" sz="1000" spc="135">
                <a:latin typeface="Times New Roman"/>
                <a:cs typeface="Times New Roman"/>
              </a:rPr>
              <a:t> </a:t>
            </a:r>
            <a:r>
              <a:rPr dirty="0" sz="1000" spc="10">
                <a:latin typeface="Times New Roman"/>
                <a:cs typeface="Times New Roman"/>
              </a:rPr>
              <a:t>It</a:t>
            </a:r>
            <a:r>
              <a:rPr dirty="0" sz="1000" spc="15">
                <a:latin typeface="Times New Roman"/>
                <a:cs typeface="Times New Roman"/>
              </a:rPr>
              <a:t> </a:t>
            </a:r>
            <a:r>
              <a:rPr dirty="0" sz="1000" spc="10">
                <a:latin typeface="Times New Roman"/>
                <a:cs typeface="Times New Roman"/>
              </a:rPr>
              <a:t>is</a:t>
            </a:r>
            <a:r>
              <a:rPr dirty="0" sz="1000" spc="15">
                <a:latin typeface="Times New Roman"/>
                <a:cs typeface="Times New Roman"/>
              </a:rPr>
              <a:t> </a:t>
            </a:r>
            <a:r>
              <a:rPr dirty="0" sz="1000" spc="10">
                <a:latin typeface="Times New Roman"/>
                <a:cs typeface="Times New Roman"/>
              </a:rPr>
              <a:t>evident</a:t>
            </a:r>
            <a:r>
              <a:rPr dirty="0" sz="1000" spc="15">
                <a:latin typeface="Times New Roman"/>
                <a:cs typeface="Times New Roman"/>
              </a:rPr>
              <a:t> </a:t>
            </a:r>
            <a:r>
              <a:rPr dirty="0" sz="1000" spc="10">
                <a:latin typeface="Times New Roman"/>
                <a:cs typeface="Times New Roman"/>
              </a:rPr>
              <a:t>in</a:t>
            </a:r>
            <a:r>
              <a:rPr dirty="0" sz="1000" spc="5">
                <a:latin typeface="Times New Roman"/>
                <a:cs typeface="Times New Roman"/>
              </a:rPr>
              <a:t> </a:t>
            </a:r>
            <a:r>
              <a:rPr dirty="0" sz="1000" spc="10">
                <a:latin typeface="Times New Roman"/>
                <a:cs typeface="Times New Roman"/>
              </a:rPr>
              <a:t>various</a:t>
            </a:r>
            <a:r>
              <a:rPr dirty="0" sz="1000" spc="5">
                <a:latin typeface="Times New Roman"/>
                <a:cs typeface="Times New Roman"/>
              </a:rPr>
              <a:t> </a:t>
            </a:r>
            <a:r>
              <a:rPr dirty="0" sz="1000" spc="10">
                <a:latin typeface="Times New Roman"/>
                <a:cs typeface="Times New Roman"/>
              </a:rPr>
              <a:t>domains,</a:t>
            </a:r>
            <a:r>
              <a:rPr dirty="0" sz="1000" spc="25">
                <a:latin typeface="Times New Roman"/>
                <a:cs typeface="Times New Roman"/>
              </a:rPr>
              <a:t> </a:t>
            </a:r>
            <a:r>
              <a:rPr dirty="0" sz="1000" spc="-10">
                <a:latin typeface="Times New Roman"/>
                <a:cs typeface="Times New Roman"/>
              </a:rPr>
              <a:t>including </a:t>
            </a:r>
            <a:r>
              <a:rPr dirty="0" sz="1000" spc="10">
                <a:latin typeface="Times New Roman"/>
                <a:cs typeface="Times New Roman"/>
              </a:rPr>
              <a:t>classification tasks</a:t>
            </a:r>
            <a:r>
              <a:rPr dirty="0" sz="1000" spc="20">
                <a:latin typeface="Times New Roman"/>
                <a:cs typeface="Times New Roman"/>
              </a:rPr>
              <a:t> </a:t>
            </a:r>
            <a:r>
              <a:rPr dirty="0" sz="1000" spc="10">
                <a:latin typeface="Times New Roman"/>
                <a:cs typeface="Times New Roman"/>
              </a:rPr>
              <a:t>[11,</a:t>
            </a:r>
            <a:r>
              <a:rPr dirty="0" sz="1000" spc="20">
                <a:latin typeface="Times New Roman"/>
                <a:cs typeface="Times New Roman"/>
              </a:rPr>
              <a:t> </a:t>
            </a:r>
            <a:r>
              <a:rPr dirty="0" sz="1000" spc="10">
                <a:latin typeface="Times New Roman"/>
                <a:cs typeface="Times New Roman"/>
              </a:rPr>
              <a:t>18,</a:t>
            </a:r>
            <a:r>
              <a:rPr dirty="0" sz="1000" spc="25">
                <a:latin typeface="Times New Roman"/>
                <a:cs typeface="Times New Roman"/>
              </a:rPr>
              <a:t> </a:t>
            </a:r>
            <a:r>
              <a:rPr dirty="0" sz="1000" spc="10">
                <a:latin typeface="Times New Roman"/>
                <a:cs typeface="Times New Roman"/>
              </a:rPr>
              <a:t>30],</a:t>
            </a:r>
            <a:r>
              <a:rPr dirty="0" sz="1000" spc="25">
                <a:latin typeface="Times New Roman"/>
                <a:cs typeface="Times New Roman"/>
              </a:rPr>
              <a:t> </a:t>
            </a:r>
            <a:r>
              <a:rPr dirty="0" sz="1000" spc="10">
                <a:latin typeface="Times New Roman"/>
                <a:cs typeface="Times New Roman"/>
              </a:rPr>
              <a:t>object</a:t>
            </a:r>
            <a:r>
              <a:rPr dirty="0" sz="1000" spc="15">
                <a:latin typeface="Times New Roman"/>
                <a:cs typeface="Times New Roman"/>
              </a:rPr>
              <a:t> </a:t>
            </a:r>
            <a:r>
              <a:rPr dirty="0" sz="1000" spc="10">
                <a:latin typeface="Times New Roman"/>
                <a:cs typeface="Times New Roman"/>
              </a:rPr>
              <a:t>detection</a:t>
            </a:r>
            <a:r>
              <a:rPr dirty="0" sz="1000" spc="15">
                <a:latin typeface="Times New Roman"/>
                <a:cs typeface="Times New Roman"/>
              </a:rPr>
              <a:t> </a:t>
            </a:r>
            <a:r>
              <a:rPr dirty="0" sz="1000" spc="10">
                <a:latin typeface="Times New Roman"/>
                <a:cs typeface="Times New Roman"/>
              </a:rPr>
              <a:t>[15,</a:t>
            </a:r>
            <a:r>
              <a:rPr dirty="0" sz="1000" spc="25">
                <a:latin typeface="Times New Roman"/>
                <a:cs typeface="Times New Roman"/>
              </a:rPr>
              <a:t> </a:t>
            </a:r>
            <a:r>
              <a:rPr dirty="0" sz="1000" spc="10">
                <a:latin typeface="Times New Roman"/>
                <a:cs typeface="Times New Roman"/>
              </a:rPr>
              <a:t>26,</a:t>
            </a:r>
            <a:r>
              <a:rPr dirty="0" sz="1000" spc="20">
                <a:latin typeface="Times New Roman"/>
                <a:cs typeface="Times New Roman"/>
              </a:rPr>
              <a:t> </a:t>
            </a:r>
            <a:r>
              <a:rPr dirty="0" sz="1000" spc="10">
                <a:latin typeface="Times New Roman"/>
                <a:cs typeface="Times New Roman"/>
              </a:rPr>
              <a:t>41],</a:t>
            </a:r>
            <a:r>
              <a:rPr dirty="0" sz="1000" spc="25">
                <a:latin typeface="Times New Roman"/>
                <a:cs typeface="Times New Roman"/>
              </a:rPr>
              <a:t> </a:t>
            </a:r>
            <a:r>
              <a:rPr dirty="0" sz="1000" spc="10">
                <a:latin typeface="Times New Roman"/>
                <a:cs typeface="Times New Roman"/>
              </a:rPr>
              <a:t>and</a:t>
            </a:r>
            <a:r>
              <a:rPr dirty="0" sz="1000" spc="20">
                <a:latin typeface="Times New Roman"/>
                <a:cs typeface="Times New Roman"/>
              </a:rPr>
              <a:t> </a:t>
            </a:r>
            <a:r>
              <a:rPr dirty="0" sz="1000" spc="10">
                <a:latin typeface="Times New Roman"/>
                <a:cs typeface="Times New Roman"/>
              </a:rPr>
              <a:t>segmentation tasks</a:t>
            </a:r>
            <a:r>
              <a:rPr dirty="0" sz="1000" spc="20">
                <a:latin typeface="Times New Roman"/>
                <a:cs typeface="Times New Roman"/>
              </a:rPr>
              <a:t> </a:t>
            </a:r>
            <a:r>
              <a:rPr dirty="0" sz="1000" spc="10">
                <a:latin typeface="Times New Roman"/>
                <a:cs typeface="Times New Roman"/>
              </a:rPr>
              <a:t>[4,</a:t>
            </a:r>
            <a:r>
              <a:rPr dirty="0" sz="1000" spc="20">
                <a:latin typeface="Times New Roman"/>
                <a:cs typeface="Times New Roman"/>
              </a:rPr>
              <a:t> </a:t>
            </a:r>
            <a:r>
              <a:rPr dirty="0" sz="1000" spc="10">
                <a:latin typeface="Times New Roman"/>
                <a:cs typeface="Times New Roman"/>
              </a:rPr>
              <a:t>13,</a:t>
            </a:r>
            <a:r>
              <a:rPr dirty="0" sz="1000" spc="25">
                <a:latin typeface="Times New Roman"/>
                <a:cs typeface="Times New Roman"/>
              </a:rPr>
              <a:t> </a:t>
            </a:r>
            <a:r>
              <a:rPr dirty="0" sz="1000" spc="10">
                <a:latin typeface="Times New Roman"/>
                <a:cs typeface="Times New Roman"/>
              </a:rPr>
              <a:t>23].</a:t>
            </a:r>
            <a:r>
              <a:rPr dirty="0" sz="1000" spc="155">
                <a:latin typeface="Times New Roman"/>
                <a:cs typeface="Times New Roman"/>
              </a:rPr>
              <a:t> </a:t>
            </a:r>
            <a:r>
              <a:rPr dirty="0" sz="1000" spc="10">
                <a:latin typeface="Times New Roman"/>
                <a:cs typeface="Times New Roman"/>
              </a:rPr>
              <a:t>Existing</a:t>
            </a:r>
            <a:r>
              <a:rPr dirty="0" sz="1000" spc="20">
                <a:latin typeface="Times New Roman"/>
                <a:cs typeface="Times New Roman"/>
              </a:rPr>
              <a:t> </a:t>
            </a:r>
            <a:r>
              <a:rPr dirty="0" sz="1000" spc="-25">
                <a:latin typeface="Times New Roman"/>
                <a:cs typeface="Times New Roman"/>
              </a:rPr>
              <a:t>re- </a:t>
            </a:r>
            <a:r>
              <a:rPr dirty="0" sz="1000" spc="10">
                <a:latin typeface="Times New Roman"/>
                <a:cs typeface="Times New Roman"/>
              </a:rPr>
              <a:t>search</a:t>
            </a:r>
            <a:r>
              <a:rPr dirty="0" sz="1000" spc="70">
                <a:latin typeface="Times New Roman"/>
                <a:cs typeface="Times New Roman"/>
              </a:rPr>
              <a:t> </a:t>
            </a:r>
            <a:r>
              <a:rPr dirty="0" sz="1000" spc="10">
                <a:latin typeface="Times New Roman"/>
                <a:cs typeface="Times New Roman"/>
              </a:rPr>
              <a:t>on</a:t>
            </a:r>
            <a:r>
              <a:rPr dirty="0" sz="1000" spc="70">
                <a:latin typeface="Times New Roman"/>
                <a:cs typeface="Times New Roman"/>
              </a:rPr>
              <a:t> </a:t>
            </a:r>
            <a:r>
              <a:rPr dirty="0" sz="1000" spc="10">
                <a:latin typeface="Times New Roman"/>
                <a:cs typeface="Times New Roman"/>
              </a:rPr>
              <a:t>multimodal</a:t>
            </a:r>
            <a:r>
              <a:rPr dirty="0" sz="1000" spc="70">
                <a:latin typeface="Times New Roman"/>
                <a:cs typeface="Times New Roman"/>
              </a:rPr>
              <a:t> </a:t>
            </a:r>
            <a:r>
              <a:rPr dirty="0" sz="1000" spc="10">
                <a:latin typeface="Times New Roman"/>
                <a:cs typeface="Times New Roman"/>
              </a:rPr>
              <a:t>learning</a:t>
            </a:r>
            <a:r>
              <a:rPr dirty="0" sz="1000" spc="70">
                <a:latin typeface="Times New Roman"/>
                <a:cs typeface="Times New Roman"/>
              </a:rPr>
              <a:t> </a:t>
            </a:r>
            <a:r>
              <a:rPr dirty="0" sz="1000" spc="10">
                <a:latin typeface="Times New Roman"/>
                <a:cs typeface="Times New Roman"/>
              </a:rPr>
              <a:t>mainly</a:t>
            </a:r>
            <a:r>
              <a:rPr dirty="0" sz="1000" spc="70">
                <a:latin typeface="Times New Roman"/>
                <a:cs typeface="Times New Roman"/>
              </a:rPr>
              <a:t> </a:t>
            </a:r>
            <a:r>
              <a:rPr dirty="0" sz="1000" spc="10">
                <a:latin typeface="Times New Roman"/>
                <a:cs typeface="Times New Roman"/>
              </a:rPr>
              <a:t>focuses</a:t>
            </a:r>
            <a:r>
              <a:rPr dirty="0" sz="1000" spc="70">
                <a:latin typeface="Times New Roman"/>
                <a:cs typeface="Times New Roman"/>
              </a:rPr>
              <a:t> </a:t>
            </a:r>
            <a:r>
              <a:rPr dirty="0" sz="1000" spc="10">
                <a:latin typeface="Times New Roman"/>
                <a:cs typeface="Times New Roman"/>
              </a:rPr>
              <a:t>on</a:t>
            </a:r>
            <a:r>
              <a:rPr dirty="0" sz="1000" spc="70">
                <a:latin typeface="Times New Roman"/>
                <a:cs typeface="Times New Roman"/>
              </a:rPr>
              <a:t> </a:t>
            </a:r>
            <a:r>
              <a:rPr dirty="0" sz="1000" spc="10">
                <a:latin typeface="Times New Roman"/>
                <a:cs typeface="Times New Roman"/>
              </a:rPr>
              <a:t>developing</a:t>
            </a:r>
            <a:r>
              <a:rPr dirty="0" sz="1000" spc="70">
                <a:latin typeface="Times New Roman"/>
                <a:cs typeface="Times New Roman"/>
              </a:rPr>
              <a:t> </a:t>
            </a:r>
            <a:r>
              <a:rPr dirty="0" sz="1000" spc="10">
                <a:latin typeface="Times New Roman"/>
                <a:cs typeface="Times New Roman"/>
              </a:rPr>
              <a:t>fusion</a:t>
            </a:r>
            <a:r>
              <a:rPr dirty="0" sz="1000" spc="70">
                <a:latin typeface="Times New Roman"/>
                <a:cs typeface="Times New Roman"/>
              </a:rPr>
              <a:t> </a:t>
            </a:r>
            <a:r>
              <a:rPr dirty="0" sz="1000" spc="10">
                <a:latin typeface="Times New Roman"/>
                <a:cs typeface="Times New Roman"/>
              </a:rPr>
              <a:t>techniques,</a:t>
            </a:r>
            <a:r>
              <a:rPr dirty="0" sz="1000" spc="70">
                <a:latin typeface="Times New Roman"/>
                <a:cs typeface="Times New Roman"/>
              </a:rPr>
              <a:t> </a:t>
            </a:r>
            <a:r>
              <a:rPr dirty="0" sz="1000" spc="10">
                <a:latin typeface="Times New Roman"/>
                <a:cs typeface="Times New Roman"/>
              </a:rPr>
              <a:t>such</a:t>
            </a:r>
            <a:r>
              <a:rPr dirty="0" sz="1000" spc="70">
                <a:latin typeface="Times New Roman"/>
                <a:cs typeface="Times New Roman"/>
              </a:rPr>
              <a:t> </a:t>
            </a:r>
            <a:r>
              <a:rPr dirty="0" sz="1000" spc="10">
                <a:latin typeface="Times New Roman"/>
                <a:cs typeface="Times New Roman"/>
              </a:rPr>
              <a:t>as</a:t>
            </a:r>
            <a:r>
              <a:rPr dirty="0" sz="1000" spc="70">
                <a:latin typeface="Times New Roman"/>
                <a:cs typeface="Times New Roman"/>
              </a:rPr>
              <a:t> </a:t>
            </a:r>
            <a:r>
              <a:rPr dirty="0" sz="1000" spc="10">
                <a:latin typeface="Times New Roman"/>
                <a:cs typeface="Times New Roman"/>
              </a:rPr>
              <a:t>tensor-based</a:t>
            </a:r>
            <a:r>
              <a:rPr dirty="0" sz="1000" spc="70">
                <a:latin typeface="Times New Roman"/>
                <a:cs typeface="Times New Roman"/>
              </a:rPr>
              <a:t> </a:t>
            </a:r>
            <a:r>
              <a:rPr dirty="0" sz="1000" spc="-10">
                <a:latin typeface="Times New Roman"/>
                <a:cs typeface="Times New Roman"/>
              </a:rPr>
              <a:t>fusion </a:t>
            </a:r>
            <a:r>
              <a:rPr dirty="0" sz="1000">
                <a:latin typeface="Times New Roman"/>
                <a:cs typeface="Times New Roman"/>
              </a:rPr>
              <a:t>[12,</a:t>
            </a:r>
            <a:r>
              <a:rPr dirty="0" sz="1000" spc="20">
                <a:latin typeface="Times New Roman"/>
                <a:cs typeface="Times New Roman"/>
              </a:rPr>
              <a:t> </a:t>
            </a:r>
            <a:r>
              <a:rPr dirty="0" sz="1000">
                <a:latin typeface="Times New Roman"/>
                <a:cs typeface="Times New Roman"/>
              </a:rPr>
              <a:t>37],</a:t>
            </a:r>
            <a:r>
              <a:rPr dirty="0" sz="1000" spc="25">
                <a:latin typeface="Times New Roman"/>
                <a:cs typeface="Times New Roman"/>
              </a:rPr>
              <a:t> </a:t>
            </a:r>
            <a:r>
              <a:rPr dirty="0" sz="1000" spc="10">
                <a:latin typeface="Times New Roman"/>
                <a:cs typeface="Times New Roman"/>
              </a:rPr>
              <a:t>and</a:t>
            </a:r>
            <a:r>
              <a:rPr dirty="0" sz="1000" spc="25">
                <a:latin typeface="Times New Roman"/>
                <a:cs typeface="Times New Roman"/>
              </a:rPr>
              <a:t> </a:t>
            </a:r>
            <a:r>
              <a:rPr dirty="0" sz="1000" spc="10">
                <a:latin typeface="Times New Roman"/>
                <a:cs typeface="Times New Roman"/>
              </a:rPr>
              <a:t>attention-based</a:t>
            </a:r>
            <a:r>
              <a:rPr dirty="0" sz="1000" spc="25">
                <a:latin typeface="Times New Roman"/>
                <a:cs typeface="Times New Roman"/>
              </a:rPr>
              <a:t> </a:t>
            </a:r>
            <a:r>
              <a:rPr dirty="0" sz="1000" spc="10">
                <a:latin typeface="Times New Roman"/>
                <a:cs typeface="Times New Roman"/>
              </a:rPr>
              <a:t>fusion</a:t>
            </a:r>
            <a:r>
              <a:rPr dirty="0" sz="1000" spc="25">
                <a:latin typeface="Times New Roman"/>
                <a:cs typeface="Times New Roman"/>
              </a:rPr>
              <a:t> </a:t>
            </a:r>
            <a:r>
              <a:rPr dirty="0" sz="1000">
                <a:latin typeface="Times New Roman"/>
                <a:cs typeface="Times New Roman"/>
              </a:rPr>
              <a:t>[7,</a:t>
            </a:r>
            <a:r>
              <a:rPr dirty="0" sz="1000" spc="20">
                <a:latin typeface="Times New Roman"/>
                <a:cs typeface="Times New Roman"/>
              </a:rPr>
              <a:t> </a:t>
            </a:r>
            <a:r>
              <a:rPr dirty="0" sz="1000" spc="10">
                <a:latin typeface="Times New Roman"/>
                <a:cs typeface="Times New Roman"/>
              </a:rPr>
              <a:t>40].</a:t>
            </a:r>
            <a:r>
              <a:rPr dirty="0" sz="1000" spc="140">
                <a:latin typeface="Times New Roman"/>
                <a:cs typeface="Times New Roman"/>
              </a:rPr>
              <a:t> </a:t>
            </a:r>
            <a:r>
              <a:rPr dirty="0" sz="1000">
                <a:latin typeface="Times New Roman"/>
                <a:cs typeface="Times New Roman"/>
              </a:rPr>
              <a:t>However,</a:t>
            </a:r>
            <a:r>
              <a:rPr dirty="0" sz="1000" spc="25">
                <a:latin typeface="Times New Roman"/>
                <a:cs typeface="Times New Roman"/>
              </a:rPr>
              <a:t> </a:t>
            </a:r>
            <a:r>
              <a:rPr dirty="0" sz="1000" spc="10">
                <a:latin typeface="Times New Roman"/>
                <a:cs typeface="Times New Roman"/>
              </a:rPr>
              <a:t>the</a:t>
            </a:r>
            <a:r>
              <a:rPr dirty="0" sz="1000" spc="25">
                <a:latin typeface="Times New Roman"/>
                <a:cs typeface="Times New Roman"/>
              </a:rPr>
              <a:t> </a:t>
            </a:r>
            <a:r>
              <a:rPr dirty="0" sz="1000" spc="10">
                <a:latin typeface="Times New Roman"/>
                <a:cs typeface="Times New Roman"/>
              </a:rPr>
              <a:t>simple</a:t>
            </a:r>
            <a:r>
              <a:rPr dirty="0" sz="1000" spc="20">
                <a:latin typeface="Times New Roman"/>
                <a:cs typeface="Times New Roman"/>
              </a:rPr>
              <a:t> </a:t>
            </a:r>
            <a:r>
              <a:rPr dirty="0" sz="1000" spc="10">
                <a:latin typeface="Times New Roman"/>
                <a:cs typeface="Times New Roman"/>
              </a:rPr>
              <a:t>combination</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spc="10">
                <a:latin typeface="Times New Roman"/>
                <a:cs typeface="Times New Roman"/>
              </a:rPr>
              <a:t>multiple</a:t>
            </a:r>
            <a:r>
              <a:rPr dirty="0" sz="1000" spc="25">
                <a:latin typeface="Times New Roman"/>
                <a:cs typeface="Times New Roman"/>
              </a:rPr>
              <a:t> </a:t>
            </a:r>
            <a:r>
              <a:rPr dirty="0" sz="1000" spc="10">
                <a:latin typeface="Times New Roman"/>
                <a:cs typeface="Times New Roman"/>
              </a:rPr>
              <a:t>modalities</a:t>
            </a:r>
            <a:r>
              <a:rPr dirty="0" sz="1000" spc="25">
                <a:latin typeface="Times New Roman"/>
                <a:cs typeface="Times New Roman"/>
              </a:rPr>
              <a:t> </a:t>
            </a:r>
            <a:r>
              <a:rPr dirty="0" sz="1000" spc="10">
                <a:latin typeface="Times New Roman"/>
                <a:cs typeface="Times New Roman"/>
              </a:rPr>
              <a:t>may</a:t>
            </a:r>
            <a:r>
              <a:rPr dirty="0" sz="1000" spc="20">
                <a:latin typeface="Times New Roman"/>
                <a:cs typeface="Times New Roman"/>
              </a:rPr>
              <a:t> </a:t>
            </a:r>
            <a:r>
              <a:rPr dirty="0" sz="1000" spc="-25">
                <a:latin typeface="Times New Roman"/>
                <a:cs typeface="Times New Roman"/>
              </a:rPr>
              <a:t>not </a:t>
            </a:r>
            <a:r>
              <a:rPr dirty="0" sz="1000">
                <a:latin typeface="Times New Roman"/>
                <a:cs typeface="Times New Roman"/>
              </a:rPr>
              <a:t>always</a:t>
            </a:r>
            <a:r>
              <a:rPr dirty="0" sz="1000" spc="35">
                <a:latin typeface="Times New Roman"/>
                <a:cs typeface="Times New Roman"/>
              </a:rPr>
              <a:t> </a:t>
            </a:r>
            <a:r>
              <a:rPr dirty="0" sz="1000">
                <a:latin typeface="Times New Roman"/>
                <a:cs typeface="Times New Roman"/>
              </a:rPr>
              <a:t>yield</a:t>
            </a:r>
            <a:r>
              <a:rPr dirty="0" sz="1000" spc="40">
                <a:latin typeface="Times New Roman"/>
                <a:cs typeface="Times New Roman"/>
              </a:rPr>
              <a:t> </a:t>
            </a:r>
            <a:r>
              <a:rPr dirty="0" sz="1000">
                <a:latin typeface="Times New Roman"/>
                <a:cs typeface="Times New Roman"/>
              </a:rPr>
              <a:t>satisfactory</a:t>
            </a:r>
            <a:r>
              <a:rPr dirty="0" sz="1000" spc="40">
                <a:latin typeface="Times New Roman"/>
                <a:cs typeface="Times New Roman"/>
              </a:rPr>
              <a:t> </a:t>
            </a:r>
            <a:r>
              <a:rPr dirty="0" sz="1000" spc="-10">
                <a:latin typeface="Times New Roman"/>
                <a:cs typeface="Times New Roman"/>
              </a:rPr>
              <a:t>performance.</a:t>
            </a:r>
            <a:endParaRPr sz="1000">
              <a:latin typeface="Times New Roman"/>
              <a:cs typeface="Times New Roman"/>
            </a:endParaRPr>
          </a:p>
          <a:p>
            <a:pPr>
              <a:lnSpc>
                <a:spcPct val="100000"/>
              </a:lnSpc>
              <a:spcBef>
                <a:spcPts val="229"/>
              </a:spcBef>
            </a:pPr>
            <a:endParaRPr sz="1000">
              <a:latin typeface="Times New Roman"/>
              <a:cs typeface="Times New Roman"/>
            </a:endParaRPr>
          </a:p>
          <a:p>
            <a:pPr marL="192405" marR="184785">
              <a:lnSpc>
                <a:spcPct val="129500"/>
              </a:lnSpc>
            </a:pPr>
            <a:r>
              <a:rPr dirty="0" sz="1000" spc="-40">
                <a:latin typeface="SimSun"/>
                <a:cs typeface="SimSun"/>
              </a:rPr>
              <a:t>随着价格亲民的传感器日益普及，利用来自各种来源数据的多模态学习在机器学习中受到了广泛关</a:t>
            </a:r>
            <a:r>
              <a:rPr dirty="0" sz="1000" spc="10">
                <a:latin typeface="SimSun"/>
                <a:cs typeface="SimSun"/>
              </a:rPr>
              <a:t>注。这在包括分类任务</a:t>
            </a:r>
            <a:r>
              <a:rPr dirty="0" sz="1000">
                <a:latin typeface="Times New Roman"/>
                <a:cs typeface="Times New Roman"/>
              </a:rPr>
              <a:t>[11,</a:t>
            </a:r>
            <a:r>
              <a:rPr dirty="0" sz="1000" spc="-30">
                <a:latin typeface="Times New Roman"/>
                <a:cs typeface="Times New Roman"/>
              </a:rPr>
              <a:t> </a:t>
            </a:r>
            <a:r>
              <a:rPr dirty="0" sz="1000">
                <a:latin typeface="Times New Roman"/>
                <a:cs typeface="Times New Roman"/>
              </a:rPr>
              <a:t>18,</a:t>
            </a:r>
            <a:r>
              <a:rPr dirty="0" sz="1000" spc="-25">
                <a:latin typeface="Times New Roman"/>
                <a:cs typeface="Times New Roman"/>
              </a:rPr>
              <a:t> </a:t>
            </a:r>
            <a:r>
              <a:rPr dirty="0" sz="1000" spc="-10">
                <a:latin typeface="Times New Roman"/>
                <a:cs typeface="Times New Roman"/>
              </a:rPr>
              <a:t>30]</a:t>
            </a:r>
            <a:r>
              <a:rPr dirty="0" sz="1000" spc="35">
                <a:latin typeface="SimSun"/>
                <a:cs typeface="SimSun"/>
              </a:rPr>
              <a:t>、目标检测</a:t>
            </a:r>
            <a:r>
              <a:rPr dirty="0" sz="1000">
                <a:latin typeface="Times New Roman"/>
                <a:cs typeface="Times New Roman"/>
              </a:rPr>
              <a:t>[15,</a:t>
            </a:r>
            <a:r>
              <a:rPr dirty="0" sz="1000" spc="-25">
                <a:latin typeface="Times New Roman"/>
                <a:cs typeface="Times New Roman"/>
              </a:rPr>
              <a:t> </a:t>
            </a:r>
            <a:r>
              <a:rPr dirty="0" sz="1000">
                <a:latin typeface="Times New Roman"/>
                <a:cs typeface="Times New Roman"/>
              </a:rPr>
              <a:t>26,</a:t>
            </a:r>
            <a:r>
              <a:rPr dirty="0" sz="1000" spc="-25">
                <a:latin typeface="Times New Roman"/>
                <a:cs typeface="Times New Roman"/>
              </a:rPr>
              <a:t> </a:t>
            </a:r>
            <a:r>
              <a:rPr dirty="0" sz="1000">
                <a:latin typeface="Times New Roman"/>
                <a:cs typeface="Times New Roman"/>
              </a:rPr>
              <a:t>41]</a:t>
            </a:r>
            <a:r>
              <a:rPr dirty="0" sz="1000" spc="-25">
                <a:latin typeface="Times New Roman"/>
                <a:cs typeface="Times New Roman"/>
              </a:rPr>
              <a:t> </a:t>
            </a:r>
            <a:r>
              <a:rPr dirty="0" sz="1000" spc="35">
                <a:latin typeface="SimSun"/>
                <a:cs typeface="SimSun"/>
              </a:rPr>
              <a:t>和分割任务</a:t>
            </a:r>
            <a:r>
              <a:rPr dirty="0" sz="1000">
                <a:latin typeface="Times New Roman"/>
                <a:cs typeface="Times New Roman"/>
              </a:rPr>
              <a:t>[4,</a:t>
            </a:r>
            <a:r>
              <a:rPr dirty="0" sz="1000" spc="-30">
                <a:latin typeface="Times New Roman"/>
                <a:cs typeface="Times New Roman"/>
              </a:rPr>
              <a:t> </a:t>
            </a:r>
            <a:r>
              <a:rPr dirty="0" sz="1000">
                <a:latin typeface="Times New Roman"/>
                <a:cs typeface="Times New Roman"/>
              </a:rPr>
              <a:t>13,</a:t>
            </a:r>
            <a:r>
              <a:rPr dirty="0" sz="1000" spc="-25">
                <a:latin typeface="Times New Roman"/>
                <a:cs typeface="Times New Roman"/>
              </a:rPr>
              <a:t> </a:t>
            </a:r>
            <a:r>
              <a:rPr dirty="0" sz="1000">
                <a:latin typeface="Times New Roman"/>
                <a:cs typeface="Times New Roman"/>
              </a:rPr>
              <a:t>23]</a:t>
            </a:r>
            <a:r>
              <a:rPr dirty="0" sz="1000" spc="-25">
                <a:latin typeface="Times New Roman"/>
                <a:cs typeface="Times New Roman"/>
              </a:rPr>
              <a:t> </a:t>
            </a:r>
            <a:r>
              <a:rPr dirty="0" sz="1000" spc="-15">
                <a:latin typeface="SimSun"/>
                <a:cs typeface="SimSun"/>
              </a:rPr>
              <a:t>等各个领域都很明</a:t>
            </a:r>
            <a:endParaRPr sz="1000">
              <a:latin typeface="SimSun"/>
              <a:cs typeface="SimSun"/>
            </a:endParaRPr>
          </a:p>
          <a:p>
            <a:pPr marL="192405">
              <a:lnSpc>
                <a:spcPct val="100000"/>
              </a:lnSpc>
              <a:spcBef>
                <a:spcPts val="355"/>
              </a:spcBef>
            </a:pPr>
            <a:r>
              <a:rPr dirty="0" sz="1000" spc="-5">
                <a:latin typeface="SimSun"/>
                <a:cs typeface="SimSun"/>
              </a:rPr>
              <a:t>显。现有的多模态学习研究主要集中在开发融合技术，如基于张量的融合</a:t>
            </a:r>
            <a:r>
              <a:rPr dirty="0" sz="1000">
                <a:latin typeface="Times New Roman"/>
                <a:cs typeface="Times New Roman"/>
              </a:rPr>
              <a:t>[12,</a:t>
            </a:r>
            <a:r>
              <a:rPr dirty="0" sz="1000" spc="-30">
                <a:latin typeface="Times New Roman"/>
                <a:cs typeface="Times New Roman"/>
              </a:rPr>
              <a:t> </a:t>
            </a:r>
            <a:r>
              <a:rPr dirty="0" sz="1000">
                <a:latin typeface="Times New Roman"/>
                <a:cs typeface="Times New Roman"/>
              </a:rPr>
              <a:t>37]</a:t>
            </a:r>
            <a:r>
              <a:rPr dirty="0" sz="1000" spc="-30">
                <a:latin typeface="Times New Roman"/>
                <a:cs typeface="Times New Roman"/>
              </a:rPr>
              <a:t> </a:t>
            </a:r>
            <a:r>
              <a:rPr dirty="0" sz="1000" spc="-20">
                <a:latin typeface="SimSun"/>
                <a:cs typeface="SimSun"/>
              </a:rPr>
              <a:t>和基于注意力的</a:t>
            </a:r>
            <a:endParaRPr sz="1000">
              <a:latin typeface="SimSun"/>
              <a:cs typeface="SimSun"/>
            </a:endParaRPr>
          </a:p>
          <a:p>
            <a:pPr marL="192405">
              <a:lnSpc>
                <a:spcPct val="100000"/>
              </a:lnSpc>
              <a:spcBef>
                <a:spcPts val="355"/>
              </a:spcBef>
            </a:pPr>
            <a:r>
              <a:rPr dirty="0" sz="1000" spc="105">
                <a:latin typeface="SimSun"/>
                <a:cs typeface="SimSun"/>
              </a:rPr>
              <a:t>融合</a:t>
            </a:r>
            <a:r>
              <a:rPr dirty="0" sz="1000">
                <a:latin typeface="Times New Roman"/>
                <a:cs typeface="Times New Roman"/>
              </a:rPr>
              <a:t>[7,</a:t>
            </a:r>
            <a:r>
              <a:rPr dirty="0" sz="1000" spc="-15">
                <a:latin typeface="Times New Roman"/>
                <a:cs typeface="Times New Roman"/>
              </a:rPr>
              <a:t> </a:t>
            </a:r>
            <a:r>
              <a:rPr dirty="0" sz="1000" spc="-10">
                <a:latin typeface="Times New Roman"/>
                <a:cs typeface="Times New Roman"/>
              </a:rPr>
              <a:t>40]</a:t>
            </a:r>
            <a:r>
              <a:rPr dirty="0" sz="1000" spc="-15">
                <a:latin typeface="SimSun"/>
                <a:cs typeface="SimSun"/>
              </a:rPr>
              <a:t>。然而，简单地组合多种模态并不总是能产生令人满意的性能。</a:t>
            </a:r>
            <a:endParaRPr sz="1000">
              <a:latin typeface="SimSun"/>
              <a:cs typeface="SimSun"/>
            </a:endParaRPr>
          </a:p>
          <a:p>
            <a:pPr>
              <a:lnSpc>
                <a:spcPct val="100000"/>
              </a:lnSpc>
              <a:spcBef>
                <a:spcPts val="75"/>
              </a:spcBef>
            </a:pPr>
            <a:endParaRPr sz="1000">
              <a:latin typeface="SimSun"/>
              <a:cs typeface="SimSun"/>
            </a:endParaRPr>
          </a:p>
          <a:p>
            <a:pPr algn="just" marL="12700" marR="5080" indent="252729">
              <a:lnSpc>
                <a:spcPct val="129500"/>
              </a:lnSpc>
            </a:pPr>
            <a:r>
              <a:rPr dirty="0" sz="1000" spc="10">
                <a:latin typeface="Times New Roman"/>
                <a:cs typeface="Times New Roman"/>
              </a:rPr>
              <a:t>Recent</a:t>
            </a:r>
            <a:r>
              <a:rPr dirty="0" sz="1000" spc="80">
                <a:latin typeface="Times New Roman"/>
                <a:cs typeface="Times New Roman"/>
              </a:rPr>
              <a:t> </a:t>
            </a:r>
            <a:r>
              <a:rPr dirty="0" sz="1000" spc="10">
                <a:latin typeface="Times New Roman"/>
                <a:cs typeface="Times New Roman"/>
              </a:rPr>
              <a:t>studies</a:t>
            </a:r>
            <a:r>
              <a:rPr dirty="0" sz="1000" spc="80">
                <a:latin typeface="Times New Roman"/>
                <a:cs typeface="Times New Roman"/>
              </a:rPr>
              <a:t> </a:t>
            </a:r>
            <a:r>
              <a:rPr dirty="0" sz="1000" spc="10">
                <a:latin typeface="Times New Roman"/>
                <a:cs typeface="Times New Roman"/>
              </a:rPr>
              <a:t>[8,</a:t>
            </a:r>
            <a:r>
              <a:rPr dirty="0" sz="1000" spc="95">
                <a:latin typeface="Times New Roman"/>
                <a:cs typeface="Times New Roman"/>
              </a:rPr>
              <a:t> </a:t>
            </a:r>
            <a:r>
              <a:rPr dirty="0" sz="1000" spc="10">
                <a:latin typeface="Times New Roman"/>
                <a:cs typeface="Times New Roman"/>
              </a:rPr>
              <a:t>21]</a:t>
            </a:r>
            <a:r>
              <a:rPr dirty="0" sz="1000" spc="80">
                <a:latin typeface="Times New Roman"/>
                <a:cs typeface="Times New Roman"/>
              </a:rPr>
              <a:t> </a:t>
            </a:r>
            <a:r>
              <a:rPr dirty="0" sz="1000" spc="10">
                <a:latin typeface="Times New Roman"/>
                <a:cs typeface="Times New Roman"/>
              </a:rPr>
              <a:t>observe</a:t>
            </a:r>
            <a:r>
              <a:rPr dirty="0" sz="1000" spc="85">
                <a:latin typeface="Times New Roman"/>
                <a:cs typeface="Times New Roman"/>
              </a:rPr>
              <a:t> </a:t>
            </a:r>
            <a:r>
              <a:rPr dirty="0" sz="1000" spc="10">
                <a:latin typeface="Times New Roman"/>
                <a:cs typeface="Times New Roman"/>
              </a:rPr>
              <a:t>that</a:t>
            </a:r>
            <a:r>
              <a:rPr dirty="0" sz="1000" spc="80">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multimodal</a:t>
            </a:r>
            <a:r>
              <a:rPr dirty="0" sz="1000" spc="85">
                <a:latin typeface="Times New Roman"/>
                <a:cs typeface="Times New Roman"/>
              </a:rPr>
              <a:t> </a:t>
            </a:r>
            <a:r>
              <a:rPr dirty="0" sz="1000" spc="10">
                <a:latin typeface="Times New Roman"/>
                <a:cs typeface="Times New Roman"/>
              </a:rPr>
              <a:t>models</a:t>
            </a:r>
            <a:r>
              <a:rPr dirty="0" sz="1000" spc="80">
                <a:latin typeface="Times New Roman"/>
                <a:cs typeface="Times New Roman"/>
              </a:rPr>
              <a:t> </a:t>
            </a:r>
            <a:r>
              <a:rPr dirty="0" sz="1000" spc="10">
                <a:latin typeface="Times New Roman"/>
                <a:cs typeface="Times New Roman"/>
              </a:rPr>
              <a:t>could</a:t>
            </a:r>
            <a:r>
              <a:rPr dirty="0" sz="1000" spc="80">
                <a:latin typeface="Times New Roman"/>
                <a:cs typeface="Times New Roman"/>
              </a:rPr>
              <a:t> </a:t>
            </a:r>
            <a:r>
              <a:rPr dirty="0" sz="1000" spc="10">
                <a:latin typeface="Times New Roman"/>
                <a:cs typeface="Times New Roman"/>
              </a:rPr>
              <a:t>be</a:t>
            </a:r>
            <a:r>
              <a:rPr dirty="0" sz="1000" spc="80">
                <a:latin typeface="Times New Roman"/>
                <a:cs typeface="Times New Roman"/>
              </a:rPr>
              <a:t> </a:t>
            </a:r>
            <a:r>
              <a:rPr dirty="0" sz="1000" spc="10">
                <a:latin typeface="Times New Roman"/>
                <a:cs typeface="Times New Roman"/>
              </a:rPr>
              <a:t>inferior</a:t>
            </a:r>
            <a:r>
              <a:rPr dirty="0" sz="1000" spc="85">
                <a:latin typeface="Times New Roman"/>
                <a:cs typeface="Times New Roman"/>
              </a:rPr>
              <a:t> </a:t>
            </a:r>
            <a:r>
              <a:rPr dirty="0" sz="1000" spc="10">
                <a:latin typeface="Times New Roman"/>
                <a:cs typeface="Times New Roman"/>
              </a:rPr>
              <a:t>to</a:t>
            </a:r>
            <a:r>
              <a:rPr dirty="0" sz="1000" spc="80">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unimodal</a:t>
            </a:r>
            <a:r>
              <a:rPr dirty="0" sz="1000" spc="85">
                <a:latin typeface="Times New Roman"/>
                <a:cs typeface="Times New Roman"/>
              </a:rPr>
              <a:t> </a:t>
            </a:r>
            <a:r>
              <a:rPr dirty="0" sz="1000" spc="10">
                <a:latin typeface="Times New Roman"/>
                <a:cs typeface="Times New Roman"/>
              </a:rPr>
              <a:t>models</a:t>
            </a:r>
            <a:r>
              <a:rPr dirty="0" sz="1000" spc="80">
                <a:latin typeface="Times New Roman"/>
                <a:cs typeface="Times New Roman"/>
              </a:rPr>
              <a:t> </a:t>
            </a:r>
            <a:r>
              <a:rPr dirty="0" sz="1000" spc="-25">
                <a:latin typeface="Times New Roman"/>
                <a:cs typeface="Times New Roman"/>
              </a:rPr>
              <a:t>in </a:t>
            </a:r>
            <a:r>
              <a:rPr dirty="0" sz="1000" spc="10">
                <a:latin typeface="Times New Roman"/>
                <a:cs typeface="Times New Roman"/>
              </a:rPr>
              <a:t>some</a:t>
            </a:r>
            <a:r>
              <a:rPr dirty="0" sz="1000" spc="65">
                <a:latin typeface="Times New Roman"/>
                <a:cs typeface="Times New Roman"/>
              </a:rPr>
              <a:t> </a:t>
            </a:r>
            <a:r>
              <a:rPr dirty="0" sz="1000" spc="10">
                <a:latin typeface="Times New Roman"/>
                <a:cs typeface="Times New Roman"/>
              </a:rPr>
              <a:t>situations.</a:t>
            </a:r>
            <a:r>
              <a:rPr dirty="0" sz="1000" spc="180">
                <a:latin typeface="Times New Roman"/>
                <a:cs typeface="Times New Roman"/>
              </a:rPr>
              <a:t> </a:t>
            </a:r>
            <a:r>
              <a:rPr dirty="0" sz="1000" spc="10">
                <a:latin typeface="Times New Roman"/>
                <a:cs typeface="Times New Roman"/>
              </a:rPr>
              <a:t>These</a:t>
            </a:r>
            <a:r>
              <a:rPr dirty="0" sz="1000" spc="70">
                <a:latin typeface="Times New Roman"/>
                <a:cs typeface="Times New Roman"/>
              </a:rPr>
              <a:t> </a:t>
            </a:r>
            <a:r>
              <a:rPr dirty="0" sz="1000" spc="10">
                <a:latin typeface="Times New Roman"/>
                <a:cs typeface="Times New Roman"/>
              </a:rPr>
              <a:t>studies</a:t>
            </a:r>
            <a:r>
              <a:rPr dirty="0" sz="1000" spc="70">
                <a:latin typeface="Times New Roman"/>
                <a:cs typeface="Times New Roman"/>
              </a:rPr>
              <a:t> </a:t>
            </a:r>
            <a:r>
              <a:rPr dirty="0" sz="1000" spc="10">
                <a:latin typeface="Times New Roman"/>
                <a:cs typeface="Times New Roman"/>
              </a:rPr>
              <a:t>attribute</a:t>
            </a:r>
            <a:r>
              <a:rPr dirty="0" sz="1000" spc="65">
                <a:latin typeface="Times New Roman"/>
                <a:cs typeface="Times New Roman"/>
              </a:rPr>
              <a:t> </a:t>
            </a:r>
            <a:r>
              <a:rPr dirty="0" sz="1000" spc="10">
                <a:latin typeface="Times New Roman"/>
                <a:cs typeface="Times New Roman"/>
              </a:rPr>
              <a:t>the</a:t>
            </a:r>
            <a:r>
              <a:rPr dirty="0" sz="1000" spc="70">
                <a:latin typeface="Times New Roman"/>
                <a:cs typeface="Times New Roman"/>
              </a:rPr>
              <a:t> </a:t>
            </a:r>
            <a:r>
              <a:rPr dirty="0" sz="1000" spc="10">
                <a:latin typeface="Times New Roman"/>
                <a:cs typeface="Times New Roman"/>
              </a:rPr>
              <a:t>decline</a:t>
            </a:r>
            <a:r>
              <a:rPr dirty="0" sz="1000" spc="70">
                <a:latin typeface="Times New Roman"/>
                <a:cs typeface="Times New Roman"/>
              </a:rPr>
              <a:t> </a:t>
            </a:r>
            <a:r>
              <a:rPr dirty="0" sz="1000" spc="10">
                <a:latin typeface="Times New Roman"/>
                <a:cs typeface="Times New Roman"/>
              </a:rPr>
              <a:t>in</a:t>
            </a:r>
            <a:r>
              <a:rPr dirty="0" sz="1000" spc="65">
                <a:latin typeface="Times New Roman"/>
                <a:cs typeface="Times New Roman"/>
              </a:rPr>
              <a:t> </a:t>
            </a:r>
            <a:r>
              <a:rPr dirty="0" sz="1000" spc="10">
                <a:latin typeface="Times New Roman"/>
                <a:cs typeface="Times New Roman"/>
              </a:rPr>
              <a:t>performance</a:t>
            </a:r>
            <a:r>
              <a:rPr dirty="0" sz="1000" spc="70">
                <a:latin typeface="Times New Roman"/>
                <a:cs typeface="Times New Roman"/>
              </a:rPr>
              <a:t> </a:t>
            </a:r>
            <a:r>
              <a:rPr dirty="0" sz="1000" spc="10">
                <a:latin typeface="Times New Roman"/>
                <a:cs typeface="Times New Roman"/>
              </a:rPr>
              <a:t>to</a:t>
            </a:r>
            <a:r>
              <a:rPr dirty="0" sz="1000" spc="70">
                <a:latin typeface="Times New Roman"/>
                <a:cs typeface="Times New Roman"/>
              </a:rPr>
              <a:t> </a:t>
            </a:r>
            <a:r>
              <a:rPr dirty="0" sz="1000" spc="10">
                <a:latin typeface="Times New Roman"/>
                <a:cs typeface="Times New Roman"/>
              </a:rPr>
              <a:t>imbalanced</a:t>
            </a:r>
            <a:r>
              <a:rPr dirty="0" sz="1000" spc="65">
                <a:latin typeface="Times New Roman"/>
                <a:cs typeface="Times New Roman"/>
              </a:rPr>
              <a:t> </a:t>
            </a:r>
            <a:r>
              <a:rPr dirty="0" sz="1000" spc="10">
                <a:latin typeface="Times New Roman"/>
                <a:cs typeface="Times New Roman"/>
              </a:rPr>
              <a:t>learning</a:t>
            </a:r>
            <a:r>
              <a:rPr dirty="0" sz="1000" spc="70">
                <a:latin typeface="Times New Roman"/>
                <a:cs typeface="Times New Roman"/>
              </a:rPr>
              <a:t> </a:t>
            </a:r>
            <a:r>
              <a:rPr dirty="0" sz="1000" spc="10">
                <a:latin typeface="Times New Roman"/>
                <a:cs typeface="Times New Roman"/>
              </a:rPr>
              <a:t>between</a:t>
            </a:r>
            <a:r>
              <a:rPr dirty="0" sz="1000" spc="70">
                <a:latin typeface="Times New Roman"/>
                <a:cs typeface="Times New Roman"/>
              </a:rPr>
              <a:t> </a:t>
            </a:r>
            <a:r>
              <a:rPr dirty="0" sz="1000" spc="-10">
                <a:latin typeface="Times New Roman"/>
                <a:cs typeface="Times New Roman"/>
              </a:rPr>
              <a:t>modali- </a:t>
            </a:r>
            <a:r>
              <a:rPr dirty="0" sz="1000">
                <a:latin typeface="Times New Roman"/>
                <a:cs typeface="Times New Roman"/>
              </a:rPr>
              <a:t>ties,</a:t>
            </a:r>
            <a:r>
              <a:rPr dirty="0" sz="1000" spc="95">
                <a:latin typeface="Times New Roman"/>
                <a:cs typeface="Times New Roman"/>
              </a:rPr>
              <a:t> </a:t>
            </a:r>
            <a:r>
              <a:rPr dirty="0" sz="1000">
                <a:latin typeface="Times New Roman"/>
                <a:cs typeface="Times New Roman"/>
              </a:rPr>
              <a:t>in</a:t>
            </a:r>
            <a:r>
              <a:rPr dirty="0" sz="1000" spc="75">
                <a:latin typeface="Times New Roman"/>
                <a:cs typeface="Times New Roman"/>
              </a:rPr>
              <a:t> </a:t>
            </a:r>
            <a:r>
              <a:rPr dirty="0" sz="1000">
                <a:latin typeface="Times New Roman"/>
                <a:cs typeface="Times New Roman"/>
              </a:rPr>
              <a:t>which</a:t>
            </a:r>
            <a:r>
              <a:rPr dirty="0" sz="1000" spc="75">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dominant</a:t>
            </a:r>
            <a:r>
              <a:rPr dirty="0" sz="1000" spc="80">
                <a:latin typeface="Times New Roman"/>
                <a:cs typeface="Times New Roman"/>
              </a:rPr>
              <a:t> </a:t>
            </a:r>
            <a:r>
              <a:rPr dirty="0" sz="1000">
                <a:latin typeface="Times New Roman"/>
                <a:cs typeface="Times New Roman"/>
              </a:rPr>
              <a:t>modality</a:t>
            </a:r>
            <a:r>
              <a:rPr dirty="0" sz="1000" spc="75">
                <a:latin typeface="Times New Roman"/>
                <a:cs typeface="Times New Roman"/>
              </a:rPr>
              <a:t> </a:t>
            </a:r>
            <a:r>
              <a:rPr dirty="0" sz="1000">
                <a:latin typeface="Times New Roman"/>
                <a:cs typeface="Times New Roman"/>
              </a:rPr>
              <a:t>that</a:t>
            </a:r>
            <a:r>
              <a:rPr dirty="0" sz="1000" spc="75">
                <a:latin typeface="Times New Roman"/>
                <a:cs typeface="Times New Roman"/>
              </a:rPr>
              <a:t> </a:t>
            </a:r>
            <a:r>
              <a:rPr dirty="0" sz="1000">
                <a:latin typeface="Times New Roman"/>
                <a:cs typeface="Times New Roman"/>
              </a:rPr>
              <a:t>has</a:t>
            </a:r>
            <a:r>
              <a:rPr dirty="0" sz="1000" spc="75">
                <a:latin typeface="Times New Roman"/>
                <a:cs typeface="Times New Roman"/>
              </a:rPr>
              <a:t> </a:t>
            </a:r>
            <a:r>
              <a:rPr dirty="0" sz="1000">
                <a:latin typeface="Times New Roman"/>
                <a:cs typeface="Times New Roman"/>
              </a:rPr>
              <a:t>better</a:t>
            </a:r>
            <a:r>
              <a:rPr dirty="0" sz="1000" spc="80">
                <a:latin typeface="Times New Roman"/>
                <a:cs typeface="Times New Roman"/>
              </a:rPr>
              <a:t> </a:t>
            </a:r>
            <a:r>
              <a:rPr dirty="0" sz="1000">
                <a:latin typeface="Times New Roman"/>
                <a:cs typeface="Times New Roman"/>
              </a:rPr>
              <a:t>performance</a:t>
            </a:r>
            <a:r>
              <a:rPr dirty="0" sz="1000" spc="75">
                <a:latin typeface="Times New Roman"/>
                <a:cs typeface="Times New Roman"/>
              </a:rPr>
              <a:t> </a:t>
            </a:r>
            <a:r>
              <a:rPr dirty="0" sz="1000">
                <a:latin typeface="Times New Roman"/>
                <a:cs typeface="Times New Roman"/>
              </a:rPr>
              <a:t>will</a:t>
            </a:r>
            <a:r>
              <a:rPr dirty="0" sz="1000" spc="75">
                <a:latin typeface="Times New Roman"/>
                <a:cs typeface="Times New Roman"/>
              </a:rPr>
              <a:t> </a:t>
            </a:r>
            <a:r>
              <a:rPr dirty="0" sz="1000">
                <a:latin typeface="Times New Roman"/>
                <a:cs typeface="Times New Roman"/>
              </a:rPr>
              <a:t>suppress</a:t>
            </a:r>
            <a:r>
              <a:rPr dirty="0" sz="1000" spc="7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optimization</a:t>
            </a:r>
            <a:r>
              <a:rPr dirty="0" sz="1000" spc="75">
                <a:latin typeface="Times New Roman"/>
                <a:cs typeface="Times New Roman"/>
              </a:rPr>
              <a:t> </a:t>
            </a:r>
            <a:r>
              <a:rPr dirty="0" sz="1000" spc="-45">
                <a:latin typeface="Times New Roman"/>
                <a:cs typeface="Times New Roman"/>
              </a:rPr>
              <a:t>of</a:t>
            </a:r>
            <a:r>
              <a:rPr dirty="0" sz="1000" spc="7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spc="-10">
                <a:latin typeface="Times New Roman"/>
                <a:cs typeface="Times New Roman"/>
              </a:rPr>
              <a:t>weaker </a:t>
            </a:r>
            <a:r>
              <a:rPr dirty="0" sz="1000" spc="10">
                <a:latin typeface="Times New Roman"/>
                <a:cs typeface="Times New Roman"/>
              </a:rPr>
              <a:t>modality,</a:t>
            </a:r>
            <a:r>
              <a:rPr dirty="0" sz="1000" spc="125">
                <a:latin typeface="Times New Roman"/>
                <a:cs typeface="Times New Roman"/>
              </a:rPr>
              <a:t> </a:t>
            </a:r>
            <a:r>
              <a:rPr dirty="0" sz="1000" spc="10">
                <a:latin typeface="Times New Roman"/>
                <a:cs typeface="Times New Roman"/>
              </a:rPr>
              <a:t>leading</a:t>
            </a:r>
            <a:r>
              <a:rPr dirty="0" sz="1000" spc="105">
                <a:latin typeface="Times New Roman"/>
                <a:cs typeface="Times New Roman"/>
              </a:rPr>
              <a:t> </a:t>
            </a:r>
            <a:r>
              <a:rPr dirty="0" sz="1000" spc="10">
                <a:latin typeface="Times New Roman"/>
                <a:cs typeface="Times New Roman"/>
              </a:rPr>
              <a:t>to</a:t>
            </a:r>
            <a:r>
              <a:rPr dirty="0" sz="1000" spc="100">
                <a:latin typeface="Times New Roman"/>
                <a:cs typeface="Times New Roman"/>
              </a:rPr>
              <a:t> </a:t>
            </a:r>
            <a:r>
              <a:rPr dirty="0" sz="1000" spc="10">
                <a:latin typeface="Times New Roman"/>
                <a:cs typeface="Times New Roman"/>
              </a:rPr>
              <a:t>inadequate</a:t>
            </a:r>
            <a:r>
              <a:rPr dirty="0" sz="1000" spc="105">
                <a:latin typeface="Times New Roman"/>
                <a:cs typeface="Times New Roman"/>
              </a:rPr>
              <a:t> </a:t>
            </a:r>
            <a:r>
              <a:rPr dirty="0" sz="1000" spc="10">
                <a:latin typeface="Times New Roman"/>
                <a:cs typeface="Times New Roman"/>
              </a:rPr>
              <a:t>feature</a:t>
            </a:r>
            <a:r>
              <a:rPr dirty="0" sz="1000" spc="105">
                <a:latin typeface="Times New Roman"/>
                <a:cs typeface="Times New Roman"/>
              </a:rPr>
              <a:t> </a:t>
            </a:r>
            <a:r>
              <a:rPr dirty="0" sz="1000" spc="10">
                <a:latin typeface="Times New Roman"/>
                <a:cs typeface="Times New Roman"/>
              </a:rPr>
              <a:t>learning</a:t>
            </a:r>
            <a:r>
              <a:rPr dirty="0" sz="1000" spc="100">
                <a:latin typeface="Times New Roman"/>
                <a:cs typeface="Times New Roman"/>
              </a:rPr>
              <a:t> </a:t>
            </a:r>
            <a:r>
              <a:rPr dirty="0" sz="1000" spc="10">
                <a:latin typeface="Times New Roman"/>
                <a:cs typeface="Times New Roman"/>
              </a:rPr>
              <a:t>in</a:t>
            </a:r>
            <a:r>
              <a:rPr dirty="0" sz="1000" spc="105">
                <a:latin typeface="Times New Roman"/>
                <a:cs typeface="Times New Roman"/>
              </a:rPr>
              <a:t> </a:t>
            </a:r>
            <a:r>
              <a:rPr dirty="0" sz="1000" spc="10">
                <a:latin typeface="Times New Roman"/>
                <a:cs typeface="Times New Roman"/>
              </a:rPr>
              <a:t>the</a:t>
            </a:r>
            <a:r>
              <a:rPr dirty="0" sz="1000" spc="105">
                <a:latin typeface="Times New Roman"/>
                <a:cs typeface="Times New Roman"/>
              </a:rPr>
              <a:t> </a:t>
            </a:r>
            <a:r>
              <a:rPr dirty="0" sz="1000" spc="10">
                <a:latin typeface="Times New Roman"/>
                <a:cs typeface="Times New Roman"/>
              </a:rPr>
              <a:t>weaker</a:t>
            </a:r>
            <a:r>
              <a:rPr dirty="0" sz="1000" spc="100">
                <a:latin typeface="Times New Roman"/>
                <a:cs typeface="Times New Roman"/>
              </a:rPr>
              <a:t> </a:t>
            </a:r>
            <a:r>
              <a:rPr dirty="0" sz="1000" spc="10">
                <a:latin typeface="Times New Roman"/>
                <a:cs typeface="Times New Roman"/>
              </a:rPr>
              <a:t>modality.</a:t>
            </a:r>
            <a:r>
              <a:rPr dirty="0" sz="1000" spc="365">
                <a:latin typeface="Times New Roman"/>
                <a:cs typeface="Times New Roman"/>
              </a:rPr>
              <a:t> </a:t>
            </a:r>
            <a:r>
              <a:rPr dirty="0" sz="1000" spc="10">
                <a:latin typeface="Times New Roman"/>
                <a:cs typeface="Times New Roman"/>
              </a:rPr>
              <a:t>To</a:t>
            </a:r>
            <a:r>
              <a:rPr dirty="0" sz="1000" spc="105">
                <a:latin typeface="Times New Roman"/>
                <a:cs typeface="Times New Roman"/>
              </a:rPr>
              <a:t> </a:t>
            </a:r>
            <a:r>
              <a:rPr dirty="0" sz="1000" spc="10">
                <a:latin typeface="Times New Roman"/>
                <a:cs typeface="Times New Roman"/>
              </a:rPr>
              <a:t>address</a:t>
            </a:r>
            <a:r>
              <a:rPr dirty="0" sz="1000" spc="100">
                <a:latin typeface="Times New Roman"/>
                <a:cs typeface="Times New Roman"/>
              </a:rPr>
              <a:t> </a:t>
            </a:r>
            <a:r>
              <a:rPr dirty="0" sz="1000" spc="10">
                <a:latin typeface="Times New Roman"/>
                <a:cs typeface="Times New Roman"/>
              </a:rPr>
              <a:t>this</a:t>
            </a:r>
            <a:r>
              <a:rPr dirty="0" sz="1000" spc="105">
                <a:latin typeface="Times New Roman"/>
                <a:cs typeface="Times New Roman"/>
              </a:rPr>
              <a:t> </a:t>
            </a:r>
            <a:r>
              <a:rPr dirty="0" sz="1000" spc="10">
                <a:latin typeface="Times New Roman"/>
                <a:cs typeface="Times New Roman"/>
              </a:rPr>
              <a:t>issue,</a:t>
            </a:r>
            <a:r>
              <a:rPr dirty="0" sz="1000" spc="125">
                <a:latin typeface="Times New Roman"/>
                <a:cs typeface="Times New Roman"/>
              </a:rPr>
              <a:t> </a:t>
            </a:r>
            <a:r>
              <a:rPr dirty="0" sz="1000" spc="-10">
                <a:latin typeface="Times New Roman"/>
                <a:cs typeface="Times New Roman"/>
              </a:rPr>
              <a:t>techniques </a:t>
            </a:r>
            <a:r>
              <a:rPr dirty="0" sz="1000" spc="10">
                <a:latin typeface="Times New Roman"/>
                <a:cs typeface="Times New Roman"/>
              </a:rPr>
              <a:t>such</a:t>
            </a:r>
            <a:r>
              <a:rPr dirty="0" sz="1000" spc="25">
                <a:latin typeface="Times New Roman"/>
                <a:cs typeface="Times New Roman"/>
              </a:rPr>
              <a:t> </a:t>
            </a:r>
            <a:r>
              <a:rPr dirty="0" sz="1000" spc="10">
                <a:latin typeface="Times New Roman"/>
                <a:cs typeface="Times New Roman"/>
              </a:rPr>
              <a:t>as</a:t>
            </a:r>
            <a:r>
              <a:rPr dirty="0" sz="1000" spc="25">
                <a:latin typeface="Times New Roman"/>
                <a:cs typeface="Times New Roman"/>
              </a:rPr>
              <a:t> </a:t>
            </a:r>
            <a:r>
              <a:rPr dirty="0" sz="1000" spc="10">
                <a:latin typeface="Times New Roman"/>
                <a:cs typeface="Times New Roman"/>
              </a:rPr>
              <a:t>teacher</a:t>
            </a:r>
            <a:r>
              <a:rPr dirty="0" sz="1000" spc="30">
                <a:latin typeface="Times New Roman"/>
                <a:cs typeface="Times New Roman"/>
              </a:rPr>
              <a:t> </a:t>
            </a:r>
            <a:r>
              <a:rPr dirty="0" sz="1000" spc="10">
                <a:latin typeface="Times New Roman"/>
                <a:cs typeface="Times New Roman"/>
              </a:rPr>
              <a:t>aid</a:t>
            </a:r>
            <a:r>
              <a:rPr dirty="0" sz="1000" spc="25">
                <a:latin typeface="Times New Roman"/>
                <a:cs typeface="Times New Roman"/>
              </a:rPr>
              <a:t> </a:t>
            </a:r>
            <a:r>
              <a:rPr dirty="0" sz="1000" spc="10">
                <a:latin typeface="Times New Roman"/>
                <a:cs typeface="Times New Roman"/>
              </a:rPr>
              <a:t>[8],</a:t>
            </a:r>
            <a:r>
              <a:rPr dirty="0" sz="1000" spc="30">
                <a:latin typeface="Times New Roman"/>
                <a:cs typeface="Times New Roman"/>
              </a:rPr>
              <a:t> </a:t>
            </a:r>
            <a:r>
              <a:rPr dirty="0" sz="1000" spc="10">
                <a:latin typeface="Times New Roman"/>
                <a:cs typeface="Times New Roman"/>
              </a:rPr>
              <a:t>gradient</a:t>
            </a:r>
            <a:r>
              <a:rPr dirty="0" sz="1000" spc="25">
                <a:latin typeface="Times New Roman"/>
                <a:cs typeface="Times New Roman"/>
              </a:rPr>
              <a:t> </a:t>
            </a:r>
            <a:r>
              <a:rPr dirty="0" sz="1000" spc="10">
                <a:latin typeface="Times New Roman"/>
                <a:cs typeface="Times New Roman"/>
              </a:rPr>
              <a:t>modulation</a:t>
            </a:r>
            <a:r>
              <a:rPr dirty="0" sz="1000" spc="25">
                <a:latin typeface="Times New Roman"/>
                <a:cs typeface="Times New Roman"/>
              </a:rPr>
              <a:t> </a:t>
            </a:r>
            <a:r>
              <a:rPr dirty="0" sz="1000" spc="10">
                <a:latin typeface="Times New Roman"/>
                <a:cs typeface="Times New Roman"/>
              </a:rPr>
              <a:t>[9,</a:t>
            </a:r>
            <a:r>
              <a:rPr dirty="0" sz="1000" spc="30">
                <a:latin typeface="Times New Roman"/>
                <a:cs typeface="Times New Roman"/>
              </a:rPr>
              <a:t> </a:t>
            </a:r>
            <a:r>
              <a:rPr dirty="0" sz="1000">
                <a:latin typeface="Times New Roman"/>
                <a:cs typeface="Times New Roman"/>
              </a:rPr>
              <a:t>17,</a:t>
            </a:r>
            <a:r>
              <a:rPr dirty="0" sz="1000" spc="25">
                <a:latin typeface="Times New Roman"/>
                <a:cs typeface="Times New Roman"/>
              </a:rPr>
              <a:t> </a:t>
            </a:r>
            <a:r>
              <a:rPr dirty="0" sz="1000">
                <a:latin typeface="Times New Roman"/>
                <a:cs typeface="Times New Roman"/>
              </a:rPr>
              <a:t>21,</a:t>
            </a:r>
            <a:r>
              <a:rPr dirty="0" sz="1000" spc="30">
                <a:latin typeface="Times New Roman"/>
                <a:cs typeface="Times New Roman"/>
              </a:rPr>
              <a:t> </a:t>
            </a:r>
            <a:r>
              <a:rPr dirty="0" sz="1000">
                <a:latin typeface="Times New Roman"/>
                <a:cs typeface="Times New Roman"/>
              </a:rPr>
              <a:t>36],</a:t>
            </a:r>
            <a:r>
              <a:rPr dirty="0" sz="1000" spc="25">
                <a:latin typeface="Times New Roman"/>
                <a:cs typeface="Times New Roman"/>
              </a:rPr>
              <a:t> </a:t>
            </a:r>
            <a:r>
              <a:rPr dirty="0" sz="1000" spc="10">
                <a:latin typeface="Times New Roman"/>
                <a:cs typeface="Times New Roman"/>
              </a:rPr>
              <a:t>and</a:t>
            </a:r>
            <a:r>
              <a:rPr dirty="0" sz="1000" spc="25">
                <a:latin typeface="Times New Roman"/>
                <a:cs typeface="Times New Roman"/>
              </a:rPr>
              <a:t> </a:t>
            </a:r>
            <a:r>
              <a:rPr dirty="0" sz="1000" spc="10">
                <a:latin typeface="Times New Roman"/>
                <a:cs typeface="Times New Roman"/>
              </a:rPr>
              <a:t>alternating</a:t>
            </a:r>
            <a:r>
              <a:rPr dirty="0" sz="1000" spc="30">
                <a:latin typeface="Times New Roman"/>
                <a:cs typeface="Times New Roman"/>
              </a:rPr>
              <a:t> </a:t>
            </a:r>
            <a:r>
              <a:rPr dirty="0" sz="1000" spc="10">
                <a:latin typeface="Times New Roman"/>
                <a:cs typeface="Times New Roman"/>
              </a:rPr>
              <a:t>optimization</a:t>
            </a:r>
            <a:r>
              <a:rPr dirty="0" sz="1000" spc="25">
                <a:latin typeface="Times New Roman"/>
                <a:cs typeface="Times New Roman"/>
              </a:rPr>
              <a:t> </a:t>
            </a:r>
            <a:r>
              <a:rPr dirty="0" sz="1000">
                <a:latin typeface="Times New Roman"/>
                <a:cs typeface="Times New Roman"/>
              </a:rPr>
              <a:t>[14,</a:t>
            </a:r>
            <a:r>
              <a:rPr dirty="0" sz="1000" spc="30">
                <a:latin typeface="Times New Roman"/>
                <a:cs typeface="Times New Roman"/>
              </a:rPr>
              <a:t> </a:t>
            </a:r>
            <a:r>
              <a:rPr dirty="0" sz="1000">
                <a:latin typeface="Times New Roman"/>
                <a:cs typeface="Times New Roman"/>
              </a:rPr>
              <a:t>32,</a:t>
            </a:r>
            <a:r>
              <a:rPr dirty="0" sz="1000" spc="25">
                <a:latin typeface="Times New Roman"/>
                <a:cs typeface="Times New Roman"/>
              </a:rPr>
              <a:t> </a:t>
            </a:r>
            <a:r>
              <a:rPr dirty="0" sz="1000">
                <a:latin typeface="Times New Roman"/>
                <a:cs typeface="Times New Roman"/>
              </a:rPr>
              <a:t>33,</a:t>
            </a:r>
            <a:r>
              <a:rPr dirty="0" sz="1000" spc="25">
                <a:latin typeface="Times New Roman"/>
                <a:cs typeface="Times New Roman"/>
              </a:rPr>
              <a:t> </a:t>
            </a:r>
            <a:r>
              <a:rPr dirty="0" sz="1000">
                <a:latin typeface="Times New Roman"/>
                <a:cs typeface="Times New Roman"/>
              </a:rPr>
              <a:t>39]</a:t>
            </a:r>
            <a:r>
              <a:rPr dirty="0" sz="1000" spc="30">
                <a:latin typeface="Times New Roman"/>
                <a:cs typeface="Times New Roman"/>
              </a:rPr>
              <a:t> </a:t>
            </a:r>
            <a:r>
              <a:rPr dirty="0" sz="1000" spc="-20">
                <a:latin typeface="Times New Roman"/>
                <a:cs typeface="Times New Roman"/>
              </a:rPr>
              <a:t>have </a:t>
            </a:r>
            <a:r>
              <a:rPr dirty="0" sz="1000" spc="10">
                <a:latin typeface="Times New Roman"/>
                <a:cs typeface="Times New Roman"/>
              </a:rPr>
              <a:t>been</a:t>
            </a:r>
            <a:r>
              <a:rPr dirty="0" sz="1000" spc="5">
                <a:latin typeface="Times New Roman"/>
                <a:cs typeface="Times New Roman"/>
              </a:rPr>
              <a:t> </a:t>
            </a:r>
            <a:r>
              <a:rPr dirty="0" sz="1000" spc="10">
                <a:latin typeface="Times New Roman"/>
                <a:cs typeface="Times New Roman"/>
              </a:rPr>
              <a:t>introduced</a:t>
            </a:r>
            <a:r>
              <a:rPr dirty="0" sz="1000" spc="5">
                <a:latin typeface="Times New Roman"/>
                <a:cs typeface="Times New Roman"/>
              </a:rPr>
              <a:t> </a:t>
            </a:r>
            <a:r>
              <a:rPr dirty="0" sz="1000">
                <a:latin typeface="Times New Roman"/>
                <a:cs typeface="Times New Roman"/>
              </a:rPr>
              <a:t>to</a:t>
            </a:r>
            <a:r>
              <a:rPr dirty="0" sz="1000" spc="5">
                <a:latin typeface="Times New Roman"/>
                <a:cs typeface="Times New Roman"/>
              </a:rPr>
              <a:t> </a:t>
            </a:r>
            <a:r>
              <a:rPr dirty="0" sz="1000">
                <a:latin typeface="Times New Roman"/>
                <a:cs typeface="Times New Roman"/>
              </a:rPr>
              <a:t>alleviate</a:t>
            </a:r>
            <a:r>
              <a:rPr dirty="0" sz="1000" spc="5">
                <a:latin typeface="Times New Roman"/>
                <a:cs typeface="Times New Roman"/>
              </a:rPr>
              <a:t> </a:t>
            </a:r>
            <a:r>
              <a:rPr dirty="0" sz="1000" spc="10">
                <a:latin typeface="Times New Roman"/>
                <a:cs typeface="Times New Roman"/>
              </a:rPr>
              <a:t>the imbalanced</a:t>
            </a:r>
            <a:r>
              <a:rPr dirty="0" sz="1000" spc="5">
                <a:latin typeface="Times New Roman"/>
                <a:cs typeface="Times New Roman"/>
              </a:rPr>
              <a:t> </a:t>
            </a:r>
            <a:r>
              <a:rPr dirty="0" sz="1000" spc="10">
                <a:latin typeface="Times New Roman"/>
                <a:cs typeface="Times New Roman"/>
              </a:rPr>
              <a:t>training</a:t>
            </a:r>
            <a:r>
              <a:rPr dirty="0" sz="1000" spc="5">
                <a:latin typeface="Times New Roman"/>
                <a:cs typeface="Times New Roman"/>
              </a:rPr>
              <a:t> </a:t>
            </a:r>
            <a:r>
              <a:rPr dirty="0" sz="1000" spc="10">
                <a:latin typeface="Times New Roman"/>
                <a:cs typeface="Times New Roman"/>
              </a:rPr>
              <a:t>and</a:t>
            </a:r>
            <a:r>
              <a:rPr dirty="0" sz="1000" spc="5">
                <a:latin typeface="Times New Roman"/>
                <a:cs typeface="Times New Roman"/>
              </a:rPr>
              <a:t> </a:t>
            </a:r>
            <a:r>
              <a:rPr dirty="0" sz="1000">
                <a:latin typeface="Times New Roman"/>
                <a:cs typeface="Times New Roman"/>
              </a:rPr>
              <a:t>have</a:t>
            </a:r>
            <a:r>
              <a:rPr dirty="0" sz="1000" spc="5">
                <a:latin typeface="Times New Roman"/>
                <a:cs typeface="Times New Roman"/>
              </a:rPr>
              <a:t> </a:t>
            </a:r>
            <a:r>
              <a:rPr dirty="0" sz="1000" spc="10">
                <a:latin typeface="Times New Roman"/>
                <a:cs typeface="Times New Roman"/>
              </a:rPr>
              <a:t>shown promising</a:t>
            </a:r>
            <a:r>
              <a:rPr dirty="0" sz="1000" spc="5">
                <a:latin typeface="Times New Roman"/>
                <a:cs typeface="Times New Roman"/>
              </a:rPr>
              <a:t> </a:t>
            </a:r>
            <a:r>
              <a:rPr dirty="0" sz="1000" spc="10">
                <a:latin typeface="Times New Roman"/>
                <a:cs typeface="Times New Roman"/>
              </a:rPr>
              <a:t>results.</a:t>
            </a:r>
            <a:r>
              <a:rPr dirty="0" sz="1000" spc="204">
                <a:latin typeface="Times New Roman"/>
                <a:cs typeface="Times New Roman"/>
              </a:rPr>
              <a:t> </a:t>
            </a:r>
            <a:r>
              <a:rPr dirty="0" sz="1000">
                <a:latin typeface="Times New Roman"/>
                <a:cs typeface="Times New Roman"/>
              </a:rPr>
              <a:t>However,</a:t>
            </a:r>
            <a:r>
              <a:rPr dirty="0" sz="1000" spc="30">
                <a:latin typeface="Times New Roman"/>
                <a:cs typeface="Times New Roman"/>
              </a:rPr>
              <a:t> </a:t>
            </a:r>
            <a:r>
              <a:rPr dirty="0" sz="1000" spc="10">
                <a:latin typeface="Times New Roman"/>
                <a:cs typeface="Times New Roman"/>
              </a:rPr>
              <a:t>these</a:t>
            </a:r>
            <a:r>
              <a:rPr dirty="0" sz="1000" spc="5">
                <a:latin typeface="Times New Roman"/>
                <a:cs typeface="Times New Roman"/>
              </a:rPr>
              <a:t> </a:t>
            </a:r>
            <a:r>
              <a:rPr dirty="0" sz="1000" spc="-10">
                <a:latin typeface="Times New Roman"/>
                <a:cs typeface="Times New Roman"/>
              </a:rPr>
              <a:t>meth- </a:t>
            </a:r>
            <a:r>
              <a:rPr dirty="0" sz="1000" spc="10">
                <a:latin typeface="Times New Roman"/>
                <a:cs typeface="Times New Roman"/>
              </a:rPr>
              <a:t>ods</a:t>
            </a:r>
            <a:r>
              <a:rPr dirty="0" sz="1000" spc="80">
                <a:latin typeface="Times New Roman"/>
                <a:cs typeface="Times New Roman"/>
              </a:rPr>
              <a:t> </a:t>
            </a:r>
            <a:r>
              <a:rPr dirty="0" sz="1000" spc="10">
                <a:latin typeface="Times New Roman"/>
                <a:cs typeface="Times New Roman"/>
              </a:rPr>
              <a:t>primarily</a:t>
            </a:r>
            <a:r>
              <a:rPr dirty="0" sz="1000" spc="80">
                <a:latin typeface="Times New Roman"/>
                <a:cs typeface="Times New Roman"/>
              </a:rPr>
              <a:t> </a:t>
            </a:r>
            <a:r>
              <a:rPr dirty="0" sz="1000" spc="10">
                <a:latin typeface="Times New Roman"/>
                <a:cs typeface="Times New Roman"/>
              </a:rPr>
              <a:t>focus</a:t>
            </a:r>
            <a:r>
              <a:rPr dirty="0" sz="1000" spc="85">
                <a:latin typeface="Times New Roman"/>
                <a:cs typeface="Times New Roman"/>
              </a:rPr>
              <a:t> </a:t>
            </a:r>
            <a:r>
              <a:rPr dirty="0" sz="1000" spc="10">
                <a:latin typeface="Times New Roman"/>
                <a:cs typeface="Times New Roman"/>
              </a:rPr>
              <a:t>on</a:t>
            </a:r>
            <a:r>
              <a:rPr dirty="0" sz="1000" spc="80">
                <a:latin typeface="Times New Roman"/>
                <a:cs typeface="Times New Roman"/>
              </a:rPr>
              <a:t> </a:t>
            </a:r>
            <a:r>
              <a:rPr dirty="0" sz="1000" spc="10">
                <a:latin typeface="Times New Roman"/>
                <a:cs typeface="Times New Roman"/>
              </a:rPr>
              <a:t>improving</a:t>
            </a:r>
            <a:r>
              <a:rPr dirty="0" sz="1000" spc="85">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weaker</a:t>
            </a:r>
            <a:r>
              <a:rPr dirty="0" sz="1000" spc="80">
                <a:latin typeface="Times New Roman"/>
                <a:cs typeface="Times New Roman"/>
              </a:rPr>
              <a:t> </a:t>
            </a:r>
            <a:r>
              <a:rPr dirty="0" sz="1000" spc="10">
                <a:latin typeface="Times New Roman"/>
                <a:cs typeface="Times New Roman"/>
              </a:rPr>
              <a:t>modality</a:t>
            </a:r>
            <a:r>
              <a:rPr dirty="0" sz="1000" spc="85">
                <a:latin typeface="Times New Roman"/>
                <a:cs typeface="Times New Roman"/>
              </a:rPr>
              <a:t> </a:t>
            </a:r>
            <a:r>
              <a:rPr dirty="0" sz="1000" spc="10">
                <a:latin typeface="Times New Roman"/>
                <a:cs typeface="Times New Roman"/>
              </a:rPr>
              <a:t>while</a:t>
            </a:r>
            <a:r>
              <a:rPr dirty="0" sz="1000" spc="80">
                <a:latin typeface="Times New Roman"/>
                <a:cs typeface="Times New Roman"/>
              </a:rPr>
              <a:t> </a:t>
            </a:r>
            <a:r>
              <a:rPr dirty="0" sz="1000" spc="10">
                <a:latin typeface="Times New Roman"/>
                <a:cs typeface="Times New Roman"/>
              </a:rPr>
              <a:t>overlooking</a:t>
            </a:r>
            <a:r>
              <a:rPr dirty="0" sz="1000" spc="85">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optimization</a:t>
            </a:r>
            <a:r>
              <a:rPr dirty="0" sz="1000" spc="85">
                <a:latin typeface="Times New Roman"/>
                <a:cs typeface="Times New Roman"/>
              </a:rPr>
              <a:t> </a:t>
            </a:r>
            <a:r>
              <a:rPr dirty="0" sz="1000" spc="10">
                <a:latin typeface="Times New Roman"/>
                <a:cs typeface="Times New Roman"/>
              </a:rPr>
              <a:t>of</a:t>
            </a:r>
            <a:r>
              <a:rPr dirty="0" sz="1000" spc="80">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dominant </a:t>
            </a:r>
            <a:r>
              <a:rPr dirty="0" sz="1000" spc="10">
                <a:latin typeface="Times New Roman"/>
                <a:cs typeface="Times New Roman"/>
              </a:rPr>
              <a:t>modality,</a:t>
            </a:r>
            <a:r>
              <a:rPr dirty="0" sz="1000" spc="55">
                <a:latin typeface="Times New Roman"/>
                <a:cs typeface="Times New Roman"/>
              </a:rPr>
              <a:t> </a:t>
            </a:r>
            <a:r>
              <a:rPr dirty="0" sz="1000" spc="10">
                <a:latin typeface="Times New Roman"/>
                <a:cs typeface="Times New Roman"/>
              </a:rPr>
              <a:t>which</a:t>
            </a:r>
            <a:r>
              <a:rPr dirty="0" sz="1000" spc="55">
                <a:latin typeface="Times New Roman"/>
                <a:cs typeface="Times New Roman"/>
              </a:rPr>
              <a:t> </a:t>
            </a:r>
            <a:r>
              <a:rPr dirty="0" sz="1000" spc="10">
                <a:latin typeface="Times New Roman"/>
                <a:cs typeface="Times New Roman"/>
              </a:rPr>
              <a:t>also</a:t>
            </a:r>
            <a:r>
              <a:rPr dirty="0" sz="1000" spc="60">
                <a:latin typeface="Times New Roman"/>
                <a:cs typeface="Times New Roman"/>
              </a:rPr>
              <a:t> </a:t>
            </a:r>
            <a:r>
              <a:rPr dirty="0" sz="1000" spc="10">
                <a:latin typeface="Times New Roman"/>
                <a:cs typeface="Times New Roman"/>
              </a:rPr>
              <a:t>exhibits</a:t>
            </a:r>
            <a:r>
              <a:rPr dirty="0" sz="1000" spc="55">
                <a:latin typeface="Times New Roman"/>
                <a:cs typeface="Times New Roman"/>
              </a:rPr>
              <a:t> </a:t>
            </a:r>
            <a:r>
              <a:rPr dirty="0" sz="1000" spc="10">
                <a:latin typeface="Times New Roman"/>
                <a:cs typeface="Times New Roman"/>
              </a:rPr>
              <a:t>sub-optimal</a:t>
            </a:r>
            <a:r>
              <a:rPr dirty="0" sz="1000" spc="60">
                <a:latin typeface="Times New Roman"/>
                <a:cs typeface="Times New Roman"/>
              </a:rPr>
              <a:t> </a:t>
            </a:r>
            <a:r>
              <a:rPr dirty="0" sz="1000" spc="10">
                <a:latin typeface="Times New Roman"/>
                <a:cs typeface="Times New Roman"/>
              </a:rPr>
              <a:t>performance</a:t>
            </a:r>
            <a:r>
              <a:rPr dirty="0" sz="1000" spc="55">
                <a:latin typeface="Times New Roman"/>
                <a:cs typeface="Times New Roman"/>
              </a:rPr>
              <a:t> </a:t>
            </a:r>
            <a:r>
              <a:rPr dirty="0" sz="1000" spc="10">
                <a:latin typeface="Times New Roman"/>
                <a:cs typeface="Times New Roman"/>
              </a:rPr>
              <a:t>compared</a:t>
            </a:r>
            <a:r>
              <a:rPr dirty="0" sz="1000" spc="55">
                <a:latin typeface="Times New Roman"/>
                <a:cs typeface="Times New Roman"/>
              </a:rPr>
              <a:t> </a:t>
            </a:r>
            <a:r>
              <a:rPr dirty="0" sz="1000" spc="10">
                <a:latin typeface="Times New Roman"/>
                <a:cs typeface="Times New Roman"/>
              </a:rPr>
              <a:t>to</a:t>
            </a:r>
            <a:r>
              <a:rPr dirty="0" sz="1000" spc="60">
                <a:latin typeface="Times New Roman"/>
                <a:cs typeface="Times New Roman"/>
              </a:rPr>
              <a:t> </a:t>
            </a:r>
            <a:r>
              <a:rPr dirty="0" sz="1000" spc="10">
                <a:latin typeface="Times New Roman"/>
                <a:cs typeface="Times New Roman"/>
              </a:rPr>
              <a:t>unimodal</a:t>
            </a:r>
            <a:r>
              <a:rPr dirty="0" sz="1000" spc="55">
                <a:latin typeface="Times New Roman"/>
                <a:cs typeface="Times New Roman"/>
              </a:rPr>
              <a:t> </a:t>
            </a:r>
            <a:r>
              <a:rPr dirty="0" sz="1000" spc="10">
                <a:latin typeface="Times New Roman"/>
                <a:cs typeface="Times New Roman"/>
              </a:rPr>
              <a:t>learning.</a:t>
            </a:r>
            <a:r>
              <a:rPr dirty="0" sz="1000" spc="165">
                <a:latin typeface="Times New Roman"/>
                <a:cs typeface="Times New Roman"/>
              </a:rPr>
              <a:t> </a:t>
            </a:r>
            <a:r>
              <a:rPr dirty="0" sz="1000" spc="10">
                <a:latin typeface="Times New Roman"/>
                <a:cs typeface="Times New Roman"/>
              </a:rPr>
              <a:t>As</a:t>
            </a:r>
            <a:r>
              <a:rPr dirty="0" sz="1000" spc="55">
                <a:latin typeface="Times New Roman"/>
                <a:cs typeface="Times New Roman"/>
              </a:rPr>
              <a:t> </a:t>
            </a:r>
            <a:r>
              <a:rPr dirty="0" sz="1000" spc="10">
                <a:latin typeface="Times New Roman"/>
                <a:cs typeface="Times New Roman"/>
              </a:rPr>
              <a:t>shown</a:t>
            </a:r>
            <a:r>
              <a:rPr dirty="0" sz="1000" spc="55">
                <a:latin typeface="Times New Roman"/>
                <a:cs typeface="Times New Roman"/>
              </a:rPr>
              <a:t> </a:t>
            </a:r>
            <a:r>
              <a:rPr dirty="0" sz="1000" spc="10">
                <a:latin typeface="Times New Roman"/>
                <a:cs typeface="Times New Roman"/>
              </a:rPr>
              <a:t>in</a:t>
            </a:r>
            <a:r>
              <a:rPr dirty="0" sz="1000" spc="60">
                <a:latin typeface="Times New Roman"/>
                <a:cs typeface="Times New Roman"/>
              </a:rPr>
              <a:t> </a:t>
            </a:r>
            <a:r>
              <a:rPr dirty="0" sz="1000" spc="10">
                <a:latin typeface="Times New Roman"/>
                <a:cs typeface="Times New Roman"/>
              </a:rPr>
              <a:t>Fig.</a:t>
            </a:r>
            <a:r>
              <a:rPr dirty="0" sz="1000" spc="160">
                <a:latin typeface="Times New Roman"/>
                <a:cs typeface="Times New Roman"/>
              </a:rPr>
              <a:t> </a:t>
            </a:r>
            <a:r>
              <a:rPr dirty="0" sz="1000" spc="-25">
                <a:latin typeface="Times New Roman"/>
                <a:cs typeface="Times New Roman"/>
              </a:rPr>
              <a:t>1, </a:t>
            </a:r>
            <a:r>
              <a:rPr dirty="0" sz="1000" spc="10">
                <a:latin typeface="Times New Roman"/>
                <a:cs typeface="Times New Roman"/>
              </a:rPr>
              <a:t>the</a:t>
            </a:r>
            <a:r>
              <a:rPr dirty="0" sz="1000" spc="90">
                <a:latin typeface="Times New Roman"/>
                <a:cs typeface="Times New Roman"/>
              </a:rPr>
              <a:t> </a:t>
            </a:r>
            <a:r>
              <a:rPr dirty="0" sz="1000" spc="10">
                <a:latin typeface="Times New Roman"/>
                <a:cs typeface="Times New Roman"/>
              </a:rPr>
              <a:t>audio</a:t>
            </a:r>
            <a:r>
              <a:rPr dirty="0" sz="1000" spc="95">
                <a:latin typeface="Times New Roman"/>
                <a:cs typeface="Times New Roman"/>
              </a:rPr>
              <a:t> </a:t>
            </a:r>
            <a:r>
              <a:rPr dirty="0" sz="1000" spc="10">
                <a:latin typeface="Times New Roman"/>
                <a:cs typeface="Times New Roman"/>
              </a:rPr>
              <a:t>branch</a:t>
            </a:r>
            <a:r>
              <a:rPr dirty="0" sz="1000" spc="95">
                <a:latin typeface="Times New Roman"/>
                <a:cs typeface="Times New Roman"/>
              </a:rPr>
              <a:t> </a:t>
            </a:r>
            <a:r>
              <a:rPr dirty="0" sz="1000" spc="10">
                <a:latin typeface="Times New Roman"/>
                <a:cs typeface="Times New Roman"/>
              </a:rPr>
              <a:t>that</a:t>
            </a:r>
            <a:r>
              <a:rPr dirty="0" sz="1000" spc="95">
                <a:latin typeface="Times New Roman"/>
                <a:cs typeface="Times New Roman"/>
              </a:rPr>
              <a:t> </a:t>
            </a:r>
            <a:r>
              <a:rPr dirty="0" sz="1000" spc="10">
                <a:latin typeface="Times New Roman"/>
                <a:cs typeface="Times New Roman"/>
              </a:rPr>
              <a:t>has</a:t>
            </a:r>
            <a:r>
              <a:rPr dirty="0" sz="1000" spc="90">
                <a:latin typeface="Times New Roman"/>
                <a:cs typeface="Times New Roman"/>
              </a:rPr>
              <a:t> </a:t>
            </a:r>
            <a:r>
              <a:rPr dirty="0" sz="1000" spc="10">
                <a:latin typeface="Times New Roman"/>
                <a:cs typeface="Times New Roman"/>
              </a:rPr>
              <a:t>better</a:t>
            </a:r>
            <a:r>
              <a:rPr dirty="0" sz="1000" spc="95">
                <a:latin typeface="Times New Roman"/>
                <a:cs typeface="Times New Roman"/>
              </a:rPr>
              <a:t> </a:t>
            </a:r>
            <a:r>
              <a:rPr dirty="0" sz="1000" spc="10">
                <a:latin typeface="Times New Roman"/>
                <a:cs typeface="Times New Roman"/>
              </a:rPr>
              <a:t>performance</a:t>
            </a:r>
            <a:r>
              <a:rPr dirty="0" sz="1000" spc="95">
                <a:latin typeface="Times New Roman"/>
                <a:cs typeface="Times New Roman"/>
              </a:rPr>
              <a:t> </a:t>
            </a:r>
            <a:r>
              <a:rPr dirty="0" sz="1000" spc="10">
                <a:latin typeface="Times New Roman"/>
                <a:cs typeface="Times New Roman"/>
              </a:rPr>
              <a:t>in</a:t>
            </a:r>
            <a:r>
              <a:rPr dirty="0" sz="1000" spc="95">
                <a:latin typeface="Times New Roman"/>
                <a:cs typeface="Times New Roman"/>
              </a:rPr>
              <a:t> </a:t>
            </a:r>
            <a:r>
              <a:rPr dirty="0" sz="1000" spc="10">
                <a:latin typeface="Times New Roman"/>
                <a:cs typeface="Times New Roman"/>
              </a:rPr>
              <a:t>the</a:t>
            </a:r>
            <a:r>
              <a:rPr dirty="0" sz="1000" spc="90">
                <a:latin typeface="Times New Roman"/>
                <a:cs typeface="Times New Roman"/>
              </a:rPr>
              <a:t> </a:t>
            </a:r>
            <a:r>
              <a:rPr dirty="0" sz="1000" spc="10">
                <a:latin typeface="Times New Roman"/>
                <a:cs typeface="Times New Roman"/>
              </a:rPr>
              <a:t>multimodal</a:t>
            </a:r>
            <a:r>
              <a:rPr dirty="0" sz="1000" spc="95">
                <a:latin typeface="Times New Roman"/>
                <a:cs typeface="Times New Roman"/>
              </a:rPr>
              <a:t> </a:t>
            </a:r>
            <a:r>
              <a:rPr dirty="0" sz="1000" spc="10">
                <a:latin typeface="Times New Roman"/>
                <a:cs typeface="Times New Roman"/>
              </a:rPr>
              <a:t>model</a:t>
            </a:r>
            <a:r>
              <a:rPr dirty="0" sz="1000" spc="95">
                <a:latin typeface="Times New Roman"/>
                <a:cs typeface="Times New Roman"/>
              </a:rPr>
              <a:t> </a:t>
            </a:r>
            <a:r>
              <a:rPr dirty="0" sz="1000" spc="10">
                <a:latin typeface="Times New Roman"/>
                <a:cs typeface="Times New Roman"/>
              </a:rPr>
              <a:t>(see</a:t>
            </a:r>
            <a:r>
              <a:rPr dirty="0" sz="1000" spc="95">
                <a:latin typeface="Times New Roman"/>
                <a:cs typeface="Times New Roman"/>
              </a:rPr>
              <a:t> </a:t>
            </a:r>
            <a:r>
              <a:rPr dirty="0" sz="1000" spc="10">
                <a:latin typeface="Times New Roman"/>
                <a:cs typeface="Times New Roman"/>
              </a:rPr>
              <a:t>Fig.</a:t>
            </a:r>
            <a:r>
              <a:rPr dirty="0" sz="1000" spc="275">
                <a:latin typeface="Times New Roman"/>
                <a:cs typeface="Times New Roman"/>
              </a:rPr>
              <a:t> </a:t>
            </a:r>
            <a:r>
              <a:rPr dirty="0" sz="1000" spc="10">
                <a:latin typeface="Times New Roman"/>
                <a:cs typeface="Times New Roman"/>
              </a:rPr>
              <a:t>1</a:t>
            </a:r>
            <a:r>
              <a:rPr dirty="0" sz="1000" spc="90">
                <a:latin typeface="Times New Roman"/>
                <a:cs typeface="Times New Roman"/>
              </a:rPr>
              <a:t> </a:t>
            </a:r>
            <a:r>
              <a:rPr dirty="0" sz="1000" spc="10">
                <a:latin typeface="Times New Roman"/>
                <a:cs typeface="Times New Roman"/>
              </a:rPr>
              <a:t>(a))</a:t>
            </a:r>
            <a:r>
              <a:rPr dirty="0" sz="1000" spc="95">
                <a:latin typeface="Times New Roman"/>
                <a:cs typeface="Times New Roman"/>
              </a:rPr>
              <a:t> </a:t>
            </a:r>
            <a:r>
              <a:rPr dirty="0" sz="1000" spc="10">
                <a:latin typeface="Times New Roman"/>
                <a:cs typeface="Times New Roman"/>
              </a:rPr>
              <a:t>also</a:t>
            </a:r>
            <a:r>
              <a:rPr dirty="0" sz="1000" spc="95">
                <a:latin typeface="Times New Roman"/>
                <a:cs typeface="Times New Roman"/>
              </a:rPr>
              <a:t> </a:t>
            </a:r>
            <a:r>
              <a:rPr dirty="0" sz="1000" spc="10">
                <a:latin typeface="Times New Roman"/>
                <a:cs typeface="Times New Roman"/>
              </a:rPr>
              <a:t>under-</a:t>
            </a:r>
            <a:r>
              <a:rPr dirty="0" sz="1000" spc="-10">
                <a:latin typeface="Times New Roman"/>
                <a:cs typeface="Times New Roman"/>
              </a:rPr>
              <a:t>performs </a:t>
            </a:r>
            <a:r>
              <a:rPr dirty="0" sz="1000" spc="10">
                <a:latin typeface="Times New Roman"/>
                <a:cs typeface="Times New Roman"/>
              </a:rPr>
              <a:t>its</a:t>
            </a:r>
            <a:r>
              <a:rPr dirty="0" sz="1000" spc="20">
                <a:latin typeface="Times New Roman"/>
                <a:cs typeface="Times New Roman"/>
              </a:rPr>
              <a:t> </a:t>
            </a:r>
            <a:r>
              <a:rPr dirty="0" sz="1000" spc="10">
                <a:latin typeface="Times New Roman"/>
                <a:cs typeface="Times New Roman"/>
              </a:rPr>
              <a:t>unimodal</a:t>
            </a:r>
            <a:r>
              <a:rPr dirty="0" sz="1000" spc="20">
                <a:latin typeface="Times New Roman"/>
                <a:cs typeface="Times New Roman"/>
              </a:rPr>
              <a:t> </a:t>
            </a:r>
            <a:r>
              <a:rPr dirty="0" sz="1000" spc="10">
                <a:latin typeface="Times New Roman"/>
                <a:cs typeface="Times New Roman"/>
              </a:rPr>
              <a:t>baseline</a:t>
            </a:r>
            <a:r>
              <a:rPr dirty="0" sz="1000" spc="25">
                <a:latin typeface="Times New Roman"/>
                <a:cs typeface="Times New Roman"/>
              </a:rPr>
              <a:t> </a:t>
            </a:r>
            <a:r>
              <a:rPr dirty="0" sz="1000" spc="10">
                <a:latin typeface="Times New Roman"/>
                <a:cs typeface="Times New Roman"/>
              </a:rPr>
              <a:t>(see</a:t>
            </a:r>
            <a:r>
              <a:rPr dirty="0" sz="1000" spc="20">
                <a:latin typeface="Times New Roman"/>
                <a:cs typeface="Times New Roman"/>
              </a:rPr>
              <a:t> </a:t>
            </a:r>
            <a:r>
              <a:rPr dirty="0" sz="1000" spc="10">
                <a:latin typeface="Times New Roman"/>
                <a:cs typeface="Times New Roman"/>
              </a:rPr>
              <a:t>Fig.</a:t>
            </a:r>
            <a:r>
              <a:rPr dirty="0" sz="1000" spc="114">
                <a:latin typeface="Times New Roman"/>
                <a:cs typeface="Times New Roman"/>
              </a:rPr>
              <a:t> </a:t>
            </a:r>
            <a:r>
              <a:rPr dirty="0" sz="1000" spc="10">
                <a:latin typeface="Times New Roman"/>
                <a:cs typeface="Times New Roman"/>
              </a:rPr>
              <a:t>1</a:t>
            </a:r>
            <a:r>
              <a:rPr dirty="0" sz="1000" spc="20">
                <a:latin typeface="Times New Roman"/>
                <a:cs typeface="Times New Roman"/>
              </a:rPr>
              <a:t> </a:t>
            </a:r>
            <a:r>
              <a:rPr dirty="0" sz="1000" spc="-10">
                <a:latin typeface="Times New Roman"/>
                <a:cs typeface="Times New Roman"/>
              </a:rPr>
              <a:t>(b)).</a:t>
            </a:r>
            <a:endParaRPr sz="1000">
              <a:latin typeface="Times New Roman"/>
              <a:cs typeface="Times New Roman"/>
            </a:endParaRPr>
          </a:p>
        </p:txBody>
      </p:sp>
      <p:sp>
        <p:nvSpPr>
          <p:cNvPr id="12" name="object 12"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88"/>
            <a:ext cx="5760085" cy="1335405"/>
            <a:chOff x="899998" y="899988"/>
            <a:chExt cx="5760085" cy="1335405"/>
          </a:xfrm>
        </p:grpSpPr>
        <p:sp>
          <p:nvSpPr>
            <p:cNvPr id="3" name="object 3" descr=""/>
            <p:cNvSpPr/>
            <p:nvPr/>
          </p:nvSpPr>
          <p:spPr>
            <a:xfrm>
              <a:off x="899998" y="899988"/>
              <a:ext cx="5760085" cy="1335405"/>
            </a:xfrm>
            <a:custGeom>
              <a:avLst/>
              <a:gdLst/>
              <a:ahLst/>
              <a:cxnLst/>
              <a:rect l="l" t="t" r="r" b="b"/>
              <a:pathLst>
                <a:path w="5760084" h="1335405">
                  <a:moveTo>
                    <a:pt x="5724074" y="0"/>
                  </a:moveTo>
                  <a:lnTo>
                    <a:pt x="36000" y="0"/>
                  </a:lnTo>
                  <a:lnTo>
                    <a:pt x="21987" y="2829"/>
                  </a:lnTo>
                  <a:lnTo>
                    <a:pt x="10544" y="10544"/>
                  </a:lnTo>
                  <a:lnTo>
                    <a:pt x="2829" y="21987"/>
                  </a:lnTo>
                  <a:lnTo>
                    <a:pt x="0" y="36000"/>
                  </a:lnTo>
                  <a:lnTo>
                    <a:pt x="0" y="1299389"/>
                  </a:lnTo>
                  <a:lnTo>
                    <a:pt x="2829" y="1313402"/>
                  </a:lnTo>
                  <a:lnTo>
                    <a:pt x="10544" y="1324845"/>
                  </a:lnTo>
                  <a:lnTo>
                    <a:pt x="21987" y="1332560"/>
                  </a:lnTo>
                  <a:lnTo>
                    <a:pt x="36000" y="1335389"/>
                  </a:lnTo>
                  <a:lnTo>
                    <a:pt x="5724074" y="1335389"/>
                  </a:lnTo>
                  <a:lnTo>
                    <a:pt x="5738087" y="1332560"/>
                  </a:lnTo>
                  <a:lnTo>
                    <a:pt x="5749530" y="1324845"/>
                  </a:lnTo>
                  <a:lnTo>
                    <a:pt x="5757245" y="1313402"/>
                  </a:lnTo>
                  <a:lnTo>
                    <a:pt x="5760074" y="129938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88"/>
              <a:ext cx="5760085" cy="1335405"/>
            </a:xfrm>
            <a:custGeom>
              <a:avLst/>
              <a:gdLst/>
              <a:ahLst/>
              <a:cxnLst/>
              <a:rect l="l" t="t" r="r" b="b"/>
              <a:pathLst>
                <a:path w="5760084" h="1335405">
                  <a:moveTo>
                    <a:pt x="5724074" y="0"/>
                  </a:moveTo>
                  <a:lnTo>
                    <a:pt x="36000" y="0"/>
                  </a:lnTo>
                  <a:lnTo>
                    <a:pt x="21987" y="2829"/>
                  </a:lnTo>
                  <a:lnTo>
                    <a:pt x="10544" y="10544"/>
                  </a:lnTo>
                  <a:lnTo>
                    <a:pt x="2829" y="21987"/>
                  </a:lnTo>
                  <a:lnTo>
                    <a:pt x="0" y="36000"/>
                  </a:lnTo>
                  <a:lnTo>
                    <a:pt x="0" y="1299389"/>
                  </a:lnTo>
                  <a:lnTo>
                    <a:pt x="2829" y="1313402"/>
                  </a:lnTo>
                  <a:lnTo>
                    <a:pt x="10544" y="1324845"/>
                  </a:lnTo>
                  <a:lnTo>
                    <a:pt x="21987" y="1332560"/>
                  </a:lnTo>
                  <a:lnTo>
                    <a:pt x="36000" y="1335389"/>
                  </a:lnTo>
                  <a:lnTo>
                    <a:pt x="5724074" y="1335389"/>
                  </a:lnTo>
                  <a:lnTo>
                    <a:pt x="5738087" y="1332560"/>
                  </a:lnTo>
                  <a:lnTo>
                    <a:pt x="5749530" y="1324845"/>
                  </a:lnTo>
                  <a:lnTo>
                    <a:pt x="5757245" y="1313402"/>
                  </a:lnTo>
                  <a:lnTo>
                    <a:pt x="5760074" y="129938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4209156"/>
            <a:ext cx="5760085" cy="1320165"/>
            <a:chOff x="899998" y="4209156"/>
            <a:chExt cx="5760085" cy="1320165"/>
          </a:xfrm>
        </p:grpSpPr>
        <p:sp>
          <p:nvSpPr>
            <p:cNvPr id="6" name="object 6" descr=""/>
            <p:cNvSpPr/>
            <p:nvPr/>
          </p:nvSpPr>
          <p:spPr>
            <a:xfrm>
              <a:off x="899998" y="4209156"/>
              <a:ext cx="5760085" cy="1320165"/>
            </a:xfrm>
            <a:custGeom>
              <a:avLst/>
              <a:gdLst/>
              <a:ahLst/>
              <a:cxnLst/>
              <a:rect l="l" t="t" r="r" b="b"/>
              <a:pathLst>
                <a:path w="5760084" h="1320164">
                  <a:moveTo>
                    <a:pt x="5724074" y="0"/>
                  </a:moveTo>
                  <a:lnTo>
                    <a:pt x="36000" y="0"/>
                  </a:lnTo>
                  <a:lnTo>
                    <a:pt x="21987" y="2829"/>
                  </a:lnTo>
                  <a:lnTo>
                    <a:pt x="10544" y="10544"/>
                  </a:lnTo>
                  <a:lnTo>
                    <a:pt x="2829" y="21987"/>
                  </a:lnTo>
                  <a:lnTo>
                    <a:pt x="0" y="36000"/>
                  </a:lnTo>
                  <a:lnTo>
                    <a:pt x="0" y="1283953"/>
                  </a:lnTo>
                  <a:lnTo>
                    <a:pt x="2829" y="1297966"/>
                  </a:lnTo>
                  <a:lnTo>
                    <a:pt x="10544" y="1309409"/>
                  </a:lnTo>
                  <a:lnTo>
                    <a:pt x="21987" y="1317124"/>
                  </a:lnTo>
                  <a:lnTo>
                    <a:pt x="36000" y="1319953"/>
                  </a:lnTo>
                  <a:lnTo>
                    <a:pt x="5724074" y="1319953"/>
                  </a:lnTo>
                  <a:lnTo>
                    <a:pt x="5738087" y="1317124"/>
                  </a:lnTo>
                  <a:lnTo>
                    <a:pt x="5749530" y="1309409"/>
                  </a:lnTo>
                  <a:lnTo>
                    <a:pt x="5757245" y="1297966"/>
                  </a:lnTo>
                  <a:lnTo>
                    <a:pt x="5760074" y="128395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4209156"/>
              <a:ext cx="5760085" cy="1320165"/>
            </a:xfrm>
            <a:custGeom>
              <a:avLst/>
              <a:gdLst/>
              <a:ahLst/>
              <a:cxnLst/>
              <a:rect l="l" t="t" r="r" b="b"/>
              <a:pathLst>
                <a:path w="5760084" h="1320164">
                  <a:moveTo>
                    <a:pt x="5724074" y="0"/>
                  </a:moveTo>
                  <a:lnTo>
                    <a:pt x="36000" y="0"/>
                  </a:lnTo>
                  <a:lnTo>
                    <a:pt x="21987" y="2829"/>
                  </a:lnTo>
                  <a:lnTo>
                    <a:pt x="10544" y="10544"/>
                  </a:lnTo>
                  <a:lnTo>
                    <a:pt x="2829" y="21987"/>
                  </a:lnTo>
                  <a:lnTo>
                    <a:pt x="0" y="36000"/>
                  </a:lnTo>
                  <a:lnTo>
                    <a:pt x="0" y="1283953"/>
                  </a:lnTo>
                  <a:lnTo>
                    <a:pt x="2829" y="1297966"/>
                  </a:lnTo>
                  <a:lnTo>
                    <a:pt x="10544" y="1309409"/>
                  </a:lnTo>
                  <a:lnTo>
                    <a:pt x="21987" y="1317124"/>
                  </a:lnTo>
                  <a:lnTo>
                    <a:pt x="36000" y="1319953"/>
                  </a:lnTo>
                  <a:lnTo>
                    <a:pt x="5724074" y="1319953"/>
                  </a:lnTo>
                  <a:lnTo>
                    <a:pt x="5738087" y="1317124"/>
                  </a:lnTo>
                  <a:lnTo>
                    <a:pt x="5749530" y="1309409"/>
                  </a:lnTo>
                  <a:lnTo>
                    <a:pt x="5757245" y="1297966"/>
                  </a:lnTo>
                  <a:lnTo>
                    <a:pt x="5760074" y="128395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7700279"/>
            <a:ext cx="5760085" cy="1532890"/>
            <a:chOff x="899998" y="7700279"/>
            <a:chExt cx="5760085" cy="1532890"/>
          </a:xfrm>
        </p:grpSpPr>
        <p:sp>
          <p:nvSpPr>
            <p:cNvPr id="9" name="object 9" descr=""/>
            <p:cNvSpPr/>
            <p:nvPr/>
          </p:nvSpPr>
          <p:spPr>
            <a:xfrm>
              <a:off x="899998" y="7700279"/>
              <a:ext cx="5760085" cy="1532890"/>
            </a:xfrm>
            <a:custGeom>
              <a:avLst/>
              <a:gdLst/>
              <a:ahLst/>
              <a:cxnLst/>
              <a:rect l="l" t="t" r="r" b="b"/>
              <a:pathLst>
                <a:path w="5760084" h="1532890">
                  <a:moveTo>
                    <a:pt x="5724074" y="0"/>
                  </a:moveTo>
                  <a:lnTo>
                    <a:pt x="36000" y="0"/>
                  </a:lnTo>
                  <a:lnTo>
                    <a:pt x="21987" y="2829"/>
                  </a:lnTo>
                  <a:lnTo>
                    <a:pt x="10544" y="10544"/>
                  </a:lnTo>
                  <a:lnTo>
                    <a:pt x="2829" y="21987"/>
                  </a:lnTo>
                  <a:lnTo>
                    <a:pt x="0" y="36000"/>
                  </a:lnTo>
                  <a:lnTo>
                    <a:pt x="0" y="1496772"/>
                  </a:lnTo>
                  <a:lnTo>
                    <a:pt x="2829" y="1510785"/>
                  </a:lnTo>
                  <a:lnTo>
                    <a:pt x="10544" y="1522228"/>
                  </a:lnTo>
                  <a:lnTo>
                    <a:pt x="21987" y="1529943"/>
                  </a:lnTo>
                  <a:lnTo>
                    <a:pt x="36000" y="1532772"/>
                  </a:lnTo>
                  <a:lnTo>
                    <a:pt x="5724074" y="1532772"/>
                  </a:lnTo>
                  <a:lnTo>
                    <a:pt x="5738087" y="1529943"/>
                  </a:lnTo>
                  <a:lnTo>
                    <a:pt x="5749530" y="1522228"/>
                  </a:lnTo>
                  <a:lnTo>
                    <a:pt x="5757245" y="1510785"/>
                  </a:lnTo>
                  <a:lnTo>
                    <a:pt x="5760074" y="149677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7700279"/>
              <a:ext cx="5760085" cy="1532890"/>
            </a:xfrm>
            <a:custGeom>
              <a:avLst/>
              <a:gdLst/>
              <a:ahLst/>
              <a:cxnLst/>
              <a:rect l="l" t="t" r="r" b="b"/>
              <a:pathLst>
                <a:path w="5760084" h="1532890">
                  <a:moveTo>
                    <a:pt x="5724074" y="0"/>
                  </a:moveTo>
                  <a:lnTo>
                    <a:pt x="36000" y="0"/>
                  </a:lnTo>
                  <a:lnTo>
                    <a:pt x="21987" y="2829"/>
                  </a:lnTo>
                  <a:lnTo>
                    <a:pt x="10544" y="10544"/>
                  </a:lnTo>
                  <a:lnTo>
                    <a:pt x="2829" y="21987"/>
                  </a:lnTo>
                  <a:lnTo>
                    <a:pt x="0" y="36000"/>
                  </a:lnTo>
                  <a:lnTo>
                    <a:pt x="0" y="1496772"/>
                  </a:lnTo>
                  <a:lnTo>
                    <a:pt x="2829" y="1510785"/>
                  </a:lnTo>
                  <a:lnTo>
                    <a:pt x="10544" y="1522228"/>
                  </a:lnTo>
                  <a:lnTo>
                    <a:pt x="21987" y="1529943"/>
                  </a:lnTo>
                  <a:lnTo>
                    <a:pt x="36000" y="1532772"/>
                  </a:lnTo>
                  <a:lnTo>
                    <a:pt x="5724074" y="1532772"/>
                  </a:lnTo>
                  <a:lnTo>
                    <a:pt x="5738087" y="1529943"/>
                  </a:lnTo>
                  <a:lnTo>
                    <a:pt x="5749530" y="1522228"/>
                  </a:lnTo>
                  <a:lnTo>
                    <a:pt x="5757245" y="1510785"/>
                  </a:lnTo>
                  <a:lnTo>
                    <a:pt x="5760074" y="149677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1" name="object 11" descr=""/>
          <p:cNvSpPr txBox="1"/>
          <p:nvPr/>
        </p:nvSpPr>
        <p:spPr>
          <a:xfrm>
            <a:off x="887298" y="930891"/>
            <a:ext cx="5785485" cy="8207375"/>
          </a:xfrm>
          <a:prstGeom prst="rect">
            <a:avLst/>
          </a:prstGeom>
        </p:spPr>
        <p:txBody>
          <a:bodyPr wrap="square" lIns="0" tIns="12700" rIns="0" bIns="0" rtlCol="0" vert="horz">
            <a:spAutoFit/>
          </a:bodyPr>
          <a:lstStyle/>
          <a:p>
            <a:pPr algn="just" marL="192405" marR="184785">
              <a:lnSpc>
                <a:spcPct val="129500"/>
              </a:lnSpc>
              <a:spcBef>
                <a:spcPts val="100"/>
              </a:spcBef>
            </a:pPr>
            <a:r>
              <a:rPr dirty="0" sz="1000" spc="30">
                <a:latin typeface="SimSun"/>
                <a:cs typeface="SimSun"/>
              </a:rPr>
              <a:t>最近的研究</a:t>
            </a:r>
            <a:r>
              <a:rPr dirty="0" sz="1000" spc="-5">
                <a:latin typeface="Times New Roman"/>
                <a:cs typeface="Times New Roman"/>
              </a:rPr>
              <a:t>[8,</a:t>
            </a:r>
            <a:r>
              <a:rPr dirty="0" sz="1000" spc="-30">
                <a:latin typeface="Times New Roman"/>
                <a:cs typeface="Times New Roman"/>
              </a:rPr>
              <a:t> </a:t>
            </a:r>
            <a:r>
              <a:rPr dirty="0" sz="1000" spc="-5">
                <a:latin typeface="Times New Roman"/>
                <a:cs typeface="Times New Roman"/>
              </a:rPr>
              <a:t>21]</a:t>
            </a:r>
            <a:r>
              <a:rPr dirty="0" sz="1000" spc="-35">
                <a:latin typeface="Times New Roman"/>
                <a:cs typeface="Times New Roman"/>
              </a:rPr>
              <a:t> </a:t>
            </a:r>
            <a:r>
              <a:rPr dirty="0" sz="1000" spc="-60">
                <a:latin typeface="SimSun"/>
                <a:cs typeface="SimSun"/>
              </a:rPr>
              <a:t>发现，在某些情况下，多模态模型可能不如单模态模型。这些研究将性能下降归</a:t>
            </a:r>
            <a:r>
              <a:rPr dirty="0" sz="1000" spc="-30">
                <a:latin typeface="SimSun"/>
                <a:cs typeface="SimSun"/>
              </a:rPr>
              <a:t>因于模态间的不平衡学习，其中性能较好的主导模态会抑制较弱模态的优化，导致较弱模态的特征</a:t>
            </a:r>
            <a:r>
              <a:rPr dirty="0" sz="1000">
                <a:latin typeface="SimSun"/>
                <a:cs typeface="SimSun"/>
              </a:rPr>
              <a:t>学习不足。为了解决这个问题，诸如教师辅助</a:t>
            </a:r>
            <a:r>
              <a:rPr dirty="0" sz="1000">
                <a:latin typeface="Times New Roman"/>
                <a:cs typeface="Times New Roman"/>
              </a:rPr>
              <a:t>[8])</a:t>
            </a:r>
            <a:r>
              <a:rPr dirty="0" sz="1000" spc="35">
                <a:latin typeface="SimSun"/>
                <a:cs typeface="SimSun"/>
              </a:rPr>
              <a:t>、梯度调制</a:t>
            </a:r>
            <a:r>
              <a:rPr dirty="0" sz="1000" spc="-5">
                <a:latin typeface="Times New Roman"/>
                <a:cs typeface="Times New Roman"/>
              </a:rPr>
              <a:t>[9,</a:t>
            </a:r>
            <a:r>
              <a:rPr dirty="0" sz="1000" spc="-10">
                <a:latin typeface="Times New Roman"/>
                <a:cs typeface="Times New Roman"/>
              </a:rPr>
              <a:t> 17, 21, </a:t>
            </a:r>
            <a:r>
              <a:rPr dirty="0" sz="1000" spc="-5">
                <a:latin typeface="Times New Roman"/>
                <a:cs typeface="Times New Roman"/>
              </a:rPr>
              <a:t>36]</a:t>
            </a:r>
            <a:r>
              <a:rPr dirty="0" sz="1000" spc="-15">
                <a:latin typeface="Times New Roman"/>
                <a:cs typeface="Times New Roman"/>
              </a:rPr>
              <a:t> </a:t>
            </a:r>
            <a:r>
              <a:rPr dirty="0" sz="1000" spc="35">
                <a:latin typeface="SimSun"/>
                <a:cs typeface="SimSun"/>
              </a:rPr>
              <a:t>和交替优化</a:t>
            </a:r>
            <a:r>
              <a:rPr dirty="0" sz="1000" spc="-5">
                <a:latin typeface="Times New Roman"/>
                <a:cs typeface="Times New Roman"/>
              </a:rPr>
              <a:t>[14,</a:t>
            </a:r>
            <a:r>
              <a:rPr dirty="0" sz="1000" spc="-10">
                <a:latin typeface="Times New Roman"/>
                <a:cs typeface="Times New Roman"/>
              </a:rPr>
              <a:t> 32, 33,</a:t>
            </a:r>
            <a:r>
              <a:rPr dirty="0" sz="1000" spc="-5">
                <a:latin typeface="Times New Roman"/>
                <a:cs typeface="Times New Roman"/>
              </a:rPr>
              <a:t> 39]</a:t>
            </a:r>
            <a:r>
              <a:rPr dirty="0" sz="1000" spc="-10">
                <a:latin typeface="Times New Roman"/>
                <a:cs typeface="Times New Roman"/>
              </a:rPr>
              <a:t> </a:t>
            </a:r>
            <a:r>
              <a:rPr dirty="0" sz="1000" spc="-10">
                <a:latin typeface="SimSun"/>
                <a:cs typeface="SimSun"/>
              </a:rPr>
              <a:t>等技术已被引入以缓解不平衡训练，并显示出有希望的结果。然而，这些方法主要侧重于改进</a:t>
            </a:r>
            <a:r>
              <a:rPr dirty="0" sz="1000" spc="-35">
                <a:latin typeface="SimSun"/>
                <a:cs typeface="SimSun"/>
              </a:rPr>
              <a:t>较弱的模态，而忽略了主导模态的优化，与单模态学习相比，主导模态的性能也表现欠佳。如图 </a:t>
            </a:r>
            <a:r>
              <a:rPr dirty="0" sz="1000" spc="-10">
                <a:latin typeface="Times New Roman"/>
                <a:cs typeface="Times New Roman"/>
              </a:rPr>
              <a:t>1</a:t>
            </a:r>
            <a:r>
              <a:rPr dirty="0" sz="1000">
                <a:latin typeface="SimSun"/>
                <a:cs typeface="SimSun"/>
              </a:rPr>
              <a:t>所示，在多模态模型中性能较好的音频分支</a:t>
            </a:r>
            <a:r>
              <a:rPr dirty="0" sz="1000">
                <a:latin typeface="Times New Roman"/>
                <a:cs typeface="Times New Roman"/>
              </a:rPr>
              <a:t>(</a:t>
            </a:r>
            <a:r>
              <a:rPr dirty="0" sz="1000" spc="-100">
                <a:latin typeface="SimSun"/>
                <a:cs typeface="SimSun"/>
              </a:rPr>
              <a:t>见图 </a:t>
            </a:r>
            <a:r>
              <a:rPr dirty="0" sz="1000">
                <a:latin typeface="Times New Roman"/>
                <a:cs typeface="Times New Roman"/>
              </a:rPr>
              <a:t>1(a))</a:t>
            </a:r>
            <a:r>
              <a:rPr dirty="0" sz="1000" spc="-20">
                <a:latin typeface="Times New Roman"/>
                <a:cs typeface="Times New Roman"/>
              </a:rPr>
              <a:t> </a:t>
            </a:r>
            <a:r>
              <a:rPr dirty="0" sz="1000" spc="15">
                <a:latin typeface="SimSun"/>
                <a:cs typeface="SimSun"/>
              </a:rPr>
              <a:t>也不如其单模态基线</a:t>
            </a:r>
            <a:r>
              <a:rPr dirty="0" sz="1000">
                <a:latin typeface="Times New Roman"/>
                <a:cs typeface="Times New Roman"/>
              </a:rPr>
              <a:t>(</a:t>
            </a:r>
            <a:r>
              <a:rPr dirty="0" sz="1000" spc="-100">
                <a:latin typeface="SimSun"/>
                <a:cs typeface="SimSun"/>
              </a:rPr>
              <a:t>见图 </a:t>
            </a:r>
            <a:r>
              <a:rPr dirty="0" sz="1000">
                <a:latin typeface="Times New Roman"/>
                <a:cs typeface="Times New Roman"/>
              </a:rPr>
              <a:t>1(b))</a:t>
            </a:r>
            <a:r>
              <a:rPr dirty="0" sz="1000" spc="-10">
                <a:latin typeface="SimSun"/>
                <a:cs typeface="SimSun"/>
              </a:rPr>
              <a:t>。</a:t>
            </a:r>
            <a:endParaRPr sz="1000">
              <a:latin typeface="SimSun"/>
              <a:cs typeface="SimSun"/>
            </a:endParaRPr>
          </a:p>
          <a:p>
            <a:pPr>
              <a:lnSpc>
                <a:spcPct val="100000"/>
              </a:lnSpc>
              <a:spcBef>
                <a:spcPts val="75"/>
              </a:spcBef>
            </a:pPr>
            <a:endParaRPr sz="1000">
              <a:latin typeface="SimSun"/>
              <a:cs typeface="SimSun"/>
            </a:endParaRPr>
          </a:p>
          <a:p>
            <a:pPr algn="just" marL="12700" marR="5080" indent="252729">
              <a:lnSpc>
                <a:spcPct val="129500"/>
              </a:lnSpc>
            </a:pPr>
            <a:r>
              <a:rPr dirty="0" sz="1000">
                <a:latin typeface="Times New Roman"/>
                <a:cs typeface="Times New Roman"/>
              </a:rPr>
              <a:t>To</a:t>
            </a:r>
            <a:r>
              <a:rPr dirty="0" sz="1000" spc="90">
                <a:latin typeface="Times New Roman"/>
                <a:cs typeface="Times New Roman"/>
              </a:rPr>
              <a:t> </a:t>
            </a:r>
            <a:r>
              <a:rPr dirty="0" sz="1000" spc="10">
                <a:latin typeface="Times New Roman"/>
                <a:cs typeface="Times New Roman"/>
              </a:rPr>
              <a:t>this</a:t>
            </a:r>
            <a:r>
              <a:rPr dirty="0" sz="1000" spc="95">
                <a:latin typeface="Times New Roman"/>
                <a:cs typeface="Times New Roman"/>
              </a:rPr>
              <a:t> </a:t>
            </a:r>
            <a:r>
              <a:rPr dirty="0" sz="1000" spc="10">
                <a:latin typeface="Times New Roman"/>
                <a:cs typeface="Times New Roman"/>
              </a:rPr>
              <a:t>end,</a:t>
            </a:r>
            <a:r>
              <a:rPr dirty="0" sz="1000" spc="105">
                <a:latin typeface="Times New Roman"/>
                <a:cs typeface="Times New Roman"/>
              </a:rPr>
              <a:t> </a:t>
            </a:r>
            <a:r>
              <a:rPr dirty="0" sz="1000" spc="10">
                <a:latin typeface="Times New Roman"/>
                <a:cs typeface="Times New Roman"/>
              </a:rPr>
              <a:t>this</a:t>
            </a:r>
            <a:r>
              <a:rPr dirty="0" sz="1000" spc="90">
                <a:latin typeface="Times New Roman"/>
                <a:cs typeface="Times New Roman"/>
              </a:rPr>
              <a:t> </a:t>
            </a:r>
            <a:r>
              <a:rPr dirty="0" sz="1000" spc="10">
                <a:latin typeface="Times New Roman"/>
                <a:cs typeface="Times New Roman"/>
              </a:rPr>
              <a:t>paper</a:t>
            </a:r>
            <a:r>
              <a:rPr dirty="0" sz="1000" spc="95">
                <a:latin typeface="Times New Roman"/>
                <a:cs typeface="Times New Roman"/>
              </a:rPr>
              <a:t> </a:t>
            </a:r>
            <a:r>
              <a:rPr dirty="0" sz="1000" spc="10">
                <a:latin typeface="Times New Roman"/>
                <a:cs typeface="Times New Roman"/>
              </a:rPr>
              <a:t>focuses</a:t>
            </a:r>
            <a:r>
              <a:rPr dirty="0" sz="1000" spc="95">
                <a:latin typeface="Times New Roman"/>
                <a:cs typeface="Times New Roman"/>
              </a:rPr>
              <a:t> </a:t>
            </a:r>
            <a:r>
              <a:rPr dirty="0" sz="1000" spc="10">
                <a:latin typeface="Times New Roman"/>
                <a:cs typeface="Times New Roman"/>
              </a:rPr>
              <a:t>on</a:t>
            </a:r>
            <a:r>
              <a:rPr dirty="0" sz="1000" spc="90">
                <a:latin typeface="Times New Roman"/>
                <a:cs typeface="Times New Roman"/>
              </a:rPr>
              <a:t> </a:t>
            </a:r>
            <a:r>
              <a:rPr dirty="0" sz="1000" spc="10">
                <a:latin typeface="Times New Roman"/>
                <a:cs typeface="Times New Roman"/>
              </a:rPr>
              <a:t>the</a:t>
            </a:r>
            <a:r>
              <a:rPr dirty="0" sz="1000" spc="95">
                <a:latin typeface="Times New Roman"/>
                <a:cs typeface="Times New Roman"/>
              </a:rPr>
              <a:t> </a:t>
            </a:r>
            <a:r>
              <a:rPr dirty="0" sz="1000" spc="10">
                <a:latin typeface="Times New Roman"/>
                <a:cs typeface="Times New Roman"/>
              </a:rPr>
              <a:t>question</a:t>
            </a:r>
            <a:r>
              <a:rPr dirty="0" sz="1000" spc="90">
                <a:latin typeface="Times New Roman"/>
                <a:cs typeface="Times New Roman"/>
              </a:rPr>
              <a:t> </a:t>
            </a:r>
            <a:r>
              <a:rPr dirty="0" sz="1000" spc="10">
                <a:latin typeface="Times New Roman"/>
                <a:cs typeface="Times New Roman"/>
              </a:rPr>
              <a:t>of</a:t>
            </a:r>
            <a:r>
              <a:rPr dirty="0" sz="1000" spc="95">
                <a:latin typeface="Times New Roman"/>
                <a:cs typeface="Times New Roman"/>
              </a:rPr>
              <a:t> </a:t>
            </a:r>
            <a:r>
              <a:rPr dirty="0" sz="1000" spc="10">
                <a:latin typeface="Times New Roman"/>
                <a:cs typeface="Times New Roman"/>
              </a:rPr>
              <a:t>what</a:t>
            </a:r>
            <a:r>
              <a:rPr dirty="0" sz="1000" spc="90">
                <a:latin typeface="Times New Roman"/>
                <a:cs typeface="Times New Roman"/>
              </a:rPr>
              <a:t> </a:t>
            </a:r>
            <a:r>
              <a:rPr dirty="0" sz="1000" spc="10">
                <a:latin typeface="Times New Roman"/>
                <a:cs typeface="Times New Roman"/>
              </a:rPr>
              <a:t>makes</a:t>
            </a:r>
            <a:r>
              <a:rPr dirty="0" sz="1000" spc="95">
                <a:latin typeface="Times New Roman"/>
                <a:cs typeface="Times New Roman"/>
              </a:rPr>
              <a:t> </a:t>
            </a:r>
            <a:r>
              <a:rPr dirty="0" sz="1000" spc="10">
                <a:latin typeface="Times New Roman"/>
                <a:cs typeface="Times New Roman"/>
              </a:rPr>
              <a:t>the</a:t>
            </a:r>
            <a:r>
              <a:rPr dirty="0" sz="1000" spc="95">
                <a:latin typeface="Times New Roman"/>
                <a:cs typeface="Times New Roman"/>
              </a:rPr>
              <a:t> </a:t>
            </a:r>
            <a:r>
              <a:rPr dirty="0" sz="1000" spc="10">
                <a:latin typeface="Times New Roman"/>
                <a:cs typeface="Times New Roman"/>
              </a:rPr>
              <a:t>dominant</a:t>
            </a:r>
            <a:r>
              <a:rPr dirty="0" sz="1000" spc="90">
                <a:latin typeface="Times New Roman"/>
                <a:cs typeface="Times New Roman"/>
              </a:rPr>
              <a:t> </a:t>
            </a:r>
            <a:r>
              <a:rPr dirty="0" sz="1000" spc="10">
                <a:latin typeface="Times New Roman"/>
                <a:cs typeface="Times New Roman"/>
              </a:rPr>
              <a:t>modality</a:t>
            </a:r>
            <a:r>
              <a:rPr dirty="0" sz="1000" spc="95">
                <a:latin typeface="Times New Roman"/>
                <a:cs typeface="Times New Roman"/>
              </a:rPr>
              <a:t> </a:t>
            </a:r>
            <a:r>
              <a:rPr dirty="0" sz="1000" spc="10">
                <a:latin typeface="Times New Roman"/>
                <a:cs typeface="Times New Roman"/>
              </a:rPr>
              <a:t>under-</a:t>
            </a:r>
            <a:r>
              <a:rPr dirty="0" sz="1000" spc="-10">
                <a:latin typeface="Times New Roman"/>
                <a:cs typeface="Times New Roman"/>
              </a:rPr>
              <a:t>optimized </a:t>
            </a:r>
            <a:r>
              <a:rPr dirty="0" sz="1000">
                <a:latin typeface="Times New Roman"/>
                <a:cs typeface="Times New Roman"/>
              </a:rPr>
              <a:t>in</a:t>
            </a:r>
            <a:r>
              <a:rPr dirty="0" sz="1000" spc="215">
                <a:latin typeface="Times New Roman"/>
                <a:cs typeface="Times New Roman"/>
              </a:rPr>
              <a:t> </a:t>
            </a:r>
            <a:r>
              <a:rPr dirty="0" sz="1000">
                <a:latin typeface="Times New Roman"/>
                <a:cs typeface="Times New Roman"/>
              </a:rPr>
              <a:t>multimodal</a:t>
            </a:r>
            <a:r>
              <a:rPr dirty="0" sz="1000" spc="229">
                <a:latin typeface="Times New Roman"/>
                <a:cs typeface="Times New Roman"/>
              </a:rPr>
              <a:t> </a:t>
            </a:r>
            <a:r>
              <a:rPr dirty="0" sz="1000">
                <a:latin typeface="Times New Roman"/>
                <a:cs typeface="Times New Roman"/>
              </a:rPr>
              <a:t>learning.</a:t>
            </a:r>
            <a:r>
              <a:rPr dirty="0" sz="1000" spc="195">
                <a:latin typeface="Times New Roman"/>
                <a:cs typeface="Times New Roman"/>
              </a:rPr>
              <a:t>  </a:t>
            </a:r>
            <a:r>
              <a:rPr dirty="0" sz="1000">
                <a:latin typeface="Times New Roman"/>
                <a:cs typeface="Times New Roman"/>
              </a:rPr>
              <a:t>Here,</a:t>
            </a:r>
            <a:r>
              <a:rPr dirty="0" sz="1000" spc="270">
                <a:latin typeface="Times New Roman"/>
                <a:cs typeface="Times New Roman"/>
              </a:rPr>
              <a:t> </a:t>
            </a:r>
            <a:r>
              <a:rPr dirty="0" sz="1000">
                <a:latin typeface="Times New Roman"/>
                <a:cs typeface="Times New Roman"/>
              </a:rPr>
              <a:t>we</a:t>
            </a:r>
            <a:r>
              <a:rPr dirty="0" sz="1000" spc="220">
                <a:latin typeface="Times New Roman"/>
                <a:cs typeface="Times New Roman"/>
              </a:rPr>
              <a:t> </a:t>
            </a:r>
            <a:r>
              <a:rPr dirty="0" sz="1000">
                <a:latin typeface="Times New Roman"/>
                <a:cs typeface="Times New Roman"/>
              </a:rPr>
              <a:t>reveal</a:t>
            </a:r>
            <a:r>
              <a:rPr dirty="0" sz="1000" spc="215">
                <a:latin typeface="Times New Roman"/>
                <a:cs typeface="Times New Roman"/>
              </a:rPr>
              <a:t> </a:t>
            </a:r>
            <a:r>
              <a:rPr dirty="0" sz="1000">
                <a:latin typeface="Times New Roman"/>
                <a:cs typeface="Times New Roman"/>
              </a:rPr>
              <a:t>that</a:t>
            </a:r>
            <a:r>
              <a:rPr dirty="0" sz="1000" spc="220">
                <a:latin typeface="Times New Roman"/>
                <a:cs typeface="Times New Roman"/>
              </a:rPr>
              <a:t> </a:t>
            </a:r>
            <a:r>
              <a:rPr dirty="0" sz="1000">
                <a:latin typeface="Times New Roman"/>
                <a:cs typeface="Times New Roman"/>
              </a:rPr>
              <a:t>each</a:t>
            </a:r>
            <a:r>
              <a:rPr dirty="0" sz="1000" spc="229">
                <a:latin typeface="Times New Roman"/>
                <a:cs typeface="Times New Roman"/>
              </a:rPr>
              <a:t> </a:t>
            </a:r>
            <a:r>
              <a:rPr dirty="0" sz="1000">
                <a:latin typeface="Times New Roman"/>
                <a:cs typeface="Times New Roman"/>
              </a:rPr>
              <a:t>modality</a:t>
            </a:r>
            <a:r>
              <a:rPr dirty="0" sz="1000" spc="225">
                <a:latin typeface="Times New Roman"/>
                <a:cs typeface="Times New Roman"/>
              </a:rPr>
              <a:t> </a:t>
            </a:r>
            <a:r>
              <a:rPr dirty="0" sz="1000">
                <a:latin typeface="Times New Roman"/>
                <a:cs typeface="Times New Roman"/>
              </a:rPr>
              <a:t>in</a:t>
            </a:r>
            <a:r>
              <a:rPr dirty="0" sz="1000" spc="225">
                <a:latin typeface="Times New Roman"/>
                <a:cs typeface="Times New Roman"/>
              </a:rPr>
              <a:t> </a:t>
            </a:r>
            <a:r>
              <a:rPr dirty="0" sz="1000">
                <a:latin typeface="Times New Roman"/>
                <a:cs typeface="Times New Roman"/>
              </a:rPr>
              <a:t>the</a:t>
            </a:r>
            <a:r>
              <a:rPr dirty="0" sz="1000" spc="229">
                <a:latin typeface="Times New Roman"/>
                <a:cs typeface="Times New Roman"/>
              </a:rPr>
              <a:t> </a:t>
            </a:r>
            <a:r>
              <a:rPr dirty="0" sz="1000">
                <a:latin typeface="Times New Roman"/>
                <a:cs typeface="Times New Roman"/>
              </a:rPr>
              <a:t>multimodal</a:t>
            </a:r>
            <a:r>
              <a:rPr dirty="0" sz="1000" spc="220">
                <a:latin typeface="Times New Roman"/>
                <a:cs typeface="Times New Roman"/>
              </a:rPr>
              <a:t> </a:t>
            </a:r>
            <a:r>
              <a:rPr dirty="0" sz="1000">
                <a:latin typeface="Times New Roman"/>
                <a:cs typeface="Times New Roman"/>
              </a:rPr>
              <a:t>model,</a:t>
            </a:r>
            <a:r>
              <a:rPr dirty="0" sz="1000" spc="260">
                <a:latin typeface="Times New Roman"/>
                <a:cs typeface="Times New Roman"/>
              </a:rPr>
              <a:t> </a:t>
            </a:r>
            <a:r>
              <a:rPr dirty="0" sz="1000">
                <a:latin typeface="Times New Roman"/>
                <a:cs typeface="Times New Roman"/>
              </a:rPr>
              <a:t>even</a:t>
            </a:r>
            <a:r>
              <a:rPr dirty="0" sz="1000" spc="220">
                <a:latin typeface="Times New Roman"/>
                <a:cs typeface="Times New Roman"/>
              </a:rPr>
              <a:t> </a:t>
            </a:r>
            <a:r>
              <a:rPr dirty="0" sz="1000">
                <a:latin typeface="Times New Roman"/>
                <a:cs typeface="Times New Roman"/>
              </a:rPr>
              <a:t>the</a:t>
            </a:r>
            <a:r>
              <a:rPr dirty="0" sz="1000" spc="225">
                <a:latin typeface="Times New Roman"/>
                <a:cs typeface="Times New Roman"/>
              </a:rPr>
              <a:t> </a:t>
            </a:r>
            <a:r>
              <a:rPr dirty="0" sz="1000" spc="-10">
                <a:latin typeface="Times New Roman"/>
                <a:cs typeface="Times New Roman"/>
              </a:rPr>
              <a:t>highest- </a:t>
            </a:r>
            <a:r>
              <a:rPr dirty="0" sz="1000">
                <a:latin typeface="Times New Roman"/>
                <a:cs typeface="Times New Roman"/>
              </a:rPr>
              <a:t>performing</a:t>
            </a:r>
            <a:r>
              <a:rPr dirty="0" sz="1000" spc="90">
                <a:latin typeface="Times New Roman"/>
                <a:cs typeface="Times New Roman"/>
              </a:rPr>
              <a:t> </a:t>
            </a:r>
            <a:r>
              <a:rPr dirty="0" sz="1000">
                <a:latin typeface="Times New Roman"/>
                <a:cs typeface="Times New Roman"/>
              </a:rPr>
              <a:t>one,</a:t>
            </a:r>
            <a:r>
              <a:rPr dirty="0" sz="1000" spc="105">
                <a:latin typeface="Times New Roman"/>
                <a:cs typeface="Times New Roman"/>
              </a:rPr>
              <a:t> </a:t>
            </a:r>
            <a:r>
              <a:rPr dirty="0" sz="1000">
                <a:latin typeface="Times New Roman"/>
                <a:cs typeface="Times New Roman"/>
              </a:rPr>
              <a:t>learns</a:t>
            </a:r>
            <a:r>
              <a:rPr dirty="0" sz="1000" spc="95">
                <a:latin typeface="Times New Roman"/>
                <a:cs typeface="Times New Roman"/>
              </a:rPr>
              <a:t> </a:t>
            </a:r>
            <a:r>
              <a:rPr dirty="0" sz="1000">
                <a:latin typeface="Times New Roman"/>
                <a:cs typeface="Times New Roman"/>
              </a:rPr>
              <a:t>less</a:t>
            </a:r>
            <a:r>
              <a:rPr dirty="0" sz="1000" spc="95">
                <a:latin typeface="Times New Roman"/>
                <a:cs typeface="Times New Roman"/>
              </a:rPr>
              <a:t> </a:t>
            </a:r>
            <a:r>
              <a:rPr dirty="0" sz="1000" spc="-10">
                <a:latin typeface="Times New Roman"/>
                <a:cs typeface="Times New Roman"/>
              </a:rPr>
              <a:t>effectively</a:t>
            </a:r>
            <a:r>
              <a:rPr dirty="0" sz="1000" spc="95">
                <a:latin typeface="Times New Roman"/>
                <a:cs typeface="Times New Roman"/>
              </a:rPr>
              <a:t> </a:t>
            </a:r>
            <a:r>
              <a:rPr dirty="0" sz="1000" spc="50">
                <a:latin typeface="Times New Roman"/>
                <a:cs typeface="Times New Roman"/>
              </a:rPr>
              <a:t>than</a:t>
            </a:r>
            <a:r>
              <a:rPr dirty="0" sz="1000" spc="90">
                <a:latin typeface="Times New Roman"/>
                <a:cs typeface="Times New Roman"/>
              </a:rPr>
              <a:t> </a:t>
            </a:r>
            <a:r>
              <a:rPr dirty="0" sz="1000">
                <a:latin typeface="Times New Roman"/>
                <a:cs typeface="Times New Roman"/>
              </a:rPr>
              <a:t>in</a:t>
            </a:r>
            <a:r>
              <a:rPr dirty="0" sz="1000" spc="95">
                <a:latin typeface="Times New Roman"/>
                <a:cs typeface="Times New Roman"/>
              </a:rPr>
              <a:t> </a:t>
            </a:r>
            <a:r>
              <a:rPr dirty="0" sz="1000">
                <a:latin typeface="Times New Roman"/>
                <a:cs typeface="Times New Roman"/>
              </a:rPr>
              <a:t>unimodal</a:t>
            </a:r>
            <a:r>
              <a:rPr dirty="0" sz="1000" spc="95">
                <a:latin typeface="Times New Roman"/>
                <a:cs typeface="Times New Roman"/>
              </a:rPr>
              <a:t> </a:t>
            </a:r>
            <a:r>
              <a:rPr dirty="0" sz="1000">
                <a:latin typeface="Times New Roman"/>
                <a:cs typeface="Times New Roman"/>
              </a:rPr>
              <a:t>models</a:t>
            </a:r>
            <a:r>
              <a:rPr dirty="0" sz="1000" spc="95">
                <a:latin typeface="Times New Roman"/>
                <a:cs typeface="Times New Roman"/>
              </a:rPr>
              <a:t> </a:t>
            </a:r>
            <a:r>
              <a:rPr dirty="0" sz="1000">
                <a:latin typeface="Times New Roman"/>
                <a:cs typeface="Times New Roman"/>
              </a:rPr>
              <a:t>due</a:t>
            </a:r>
            <a:r>
              <a:rPr dirty="0" sz="1000" spc="95">
                <a:latin typeface="Times New Roman"/>
                <a:cs typeface="Times New Roman"/>
              </a:rPr>
              <a:t> </a:t>
            </a:r>
            <a:r>
              <a:rPr dirty="0" sz="1000">
                <a:latin typeface="Times New Roman"/>
                <a:cs typeface="Times New Roman"/>
              </a:rPr>
              <a:t>to</a:t>
            </a:r>
            <a:r>
              <a:rPr dirty="0" sz="1000" spc="95">
                <a:latin typeface="Times New Roman"/>
                <a:cs typeface="Times New Roman"/>
              </a:rPr>
              <a:t> </a:t>
            </a:r>
            <a:r>
              <a:rPr dirty="0" sz="1000">
                <a:latin typeface="Times New Roman"/>
                <a:cs typeface="Times New Roman"/>
              </a:rPr>
              <a:t>optimization</a:t>
            </a:r>
            <a:r>
              <a:rPr dirty="0" sz="1000" spc="95">
                <a:latin typeface="Times New Roman"/>
                <a:cs typeface="Times New Roman"/>
              </a:rPr>
              <a:t> </a:t>
            </a:r>
            <a:r>
              <a:rPr dirty="0" sz="1000">
                <a:latin typeface="Times New Roman"/>
                <a:cs typeface="Times New Roman"/>
              </a:rPr>
              <a:t>conflicts</a:t>
            </a:r>
            <a:r>
              <a:rPr dirty="0" sz="1000" spc="95">
                <a:latin typeface="Times New Roman"/>
                <a:cs typeface="Times New Roman"/>
              </a:rPr>
              <a:t> </a:t>
            </a:r>
            <a:r>
              <a:rPr dirty="0" sz="1000">
                <a:latin typeface="Times New Roman"/>
                <a:cs typeface="Times New Roman"/>
              </a:rPr>
              <a:t>with</a:t>
            </a:r>
            <a:r>
              <a:rPr dirty="0" sz="1000" spc="90">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spc="-10">
                <a:latin typeface="Times New Roman"/>
                <a:cs typeface="Times New Roman"/>
              </a:rPr>
              <a:t>fusion </a:t>
            </a:r>
            <a:r>
              <a:rPr dirty="0" sz="1000">
                <a:latin typeface="Times New Roman"/>
                <a:cs typeface="Times New Roman"/>
              </a:rPr>
              <a:t>module.</a:t>
            </a:r>
            <a:r>
              <a:rPr dirty="0" sz="1000" spc="260">
                <a:latin typeface="Times New Roman"/>
                <a:cs typeface="Times New Roman"/>
              </a:rPr>
              <a:t> </a:t>
            </a:r>
            <a:r>
              <a:rPr dirty="0" sz="1000" spc="-20">
                <a:latin typeface="Times New Roman"/>
                <a:cs typeface="Times New Roman"/>
              </a:rPr>
              <a:t>Specifically,</a:t>
            </a:r>
            <a:r>
              <a:rPr dirty="0" sz="1000" spc="85">
                <a:latin typeface="Times New Roman"/>
                <a:cs typeface="Times New Roman"/>
              </a:rPr>
              <a:t> </a:t>
            </a:r>
            <a:r>
              <a:rPr dirty="0" sz="1000">
                <a:latin typeface="Times New Roman"/>
                <a:cs typeface="Times New Roman"/>
              </a:rPr>
              <a:t>compared</a:t>
            </a:r>
            <a:r>
              <a:rPr dirty="0" sz="1000" spc="65">
                <a:latin typeface="Times New Roman"/>
                <a:cs typeface="Times New Roman"/>
              </a:rPr>
              <a:t> </a:t>
            </a:r>
            <a:r>
              <a:rPr dirty="0" sz="1000">
                <a:latin typeface="Times New Roman"/>
                <a:cs typeface="Times New Roman"/>
              </a:rPr>
              <a:t>with</a:t>
            </a:r>
            <a:r>
              <a:rPr dirty="0" sz="1000" spc="70">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unimodal</a:t>
            </a:r>
            <a:r>
              <a:rPr dirty="0" sz="1000" spc="70">
                <a:latin typeface="Times New Roman"/>
                <a:cs typeface="Times New Roman"/>
              </a:rPr>
              <a:t> </a:t>
            </a:r>
            <a:r>
              <a:rPr dirty="0" sz="1000">
                <a:latin typeface="Times New Roman"/>
                <a:cs typeface="Times New Roman"/>
              </a:rPr>
              <a:t>model,</a:t>
            </a:r>
            <a:r>
              <a:rPr dirty="0" sz="1000" spc="85">
                <a:latin typeface="Times New Roman"/>
                <a:cs typeface="Times New Roman"/>
              </a:rPr>
              <a:t> </a:t>
            </a:r>
            <a:r>
              <a:rPr dirty="0" sz="1000">
                <a:latin typeface="Times New Roman"/>
                <a:cs typeface="Times New Roman"/>
              </a:rPr>
              <a:t>we</a:t>
            </a:r>
            <a:r>
              <a:rPr dirty="0" sz="1000" spc="65">
                <a:latin typeface="Times New Roman"/>
                <a:cs typeface="Times New Roman"/>
              </a:rPr>
              <a:t> </a:t>
            </a:r>
            <a:r>
              <a:rPr dirty="0" sz="1000">
                <a:latin typeface="Times New Roman"/>
                <a:cs typeface="Times New Roman"/>
              </a:rPr>
              <a:t>prove</a:t>
            </a:r>
            <a:r>
              <a:rPr dirty="0" sz="1000" spc="70">
                <a:latin typeface="Times New Roman"/>
                <a:cs typeface="Times New Roman"/>
              </a:rPr>
              <a:t> </a:t>
            </a:r>
            <a:r>
              <a:rPr dirty="0" sz="1000">
                <a:latin typeface="Times New Roman"/>
                <a:cs typeface="Times New Roman"/>
              </a:rPr>
              <a:t>that</a:t>
            </a:r>
            <a:r>
              <a:rPr dirty="0" sz="1000" spc="6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modality</a:t>
            </a:r>
            <a:r>
              <a:rPr dirty="0" sz="1000" spc="65">
                <a:latin typeface="Times New Roman"/>
                <a:cs typeface="Times New Roman"/>
              </a:rPr>
              <a:t> </a:t>
            </a:r>
            <a:r>
              <a:rPr dirty="0" sz="1000">
                <a:latin typeface="Times New Roman"/>
                <a:cs typeface="Times New Roman"/>
              </a:rPr>
              <a:t>fusion</a:t>
            </a:r>
            <a:r>
              <a:rPr dirty="0" sz="1000" spc="70">
                <a:latin typeface="Times New Roman"/>
                <a:cs typeface="Times New Roman"/>
              </a:rPr>
              <a:t> </a:t>
            </a:r>
            <a:r>
              <a:rPr dirty="0" sz="1000">
                <a:latin typeface="Times New Roman"/>
                <a:cs typeface="Times New Roman"/>
              </a:rPr>
              <a:t>module</a:t>
            </a:r>
            <a:r>
              <a:rPr dirty="0" sz="1000" spc="65">
                <a:latin typeface="Times New Roman"/>
                <a:cs typeface="Times New Roman"/>
              </a:rPr>
              <a:t> </a:t>
            </a:r>
            <a:r>
              <a:rPr dirty="0" sz="1000">
                <a:latin typeface="Times New Roman"/>
                <a:cs typeface="Times New Roman"/>
              </a:rPr>
              <a:t>in</a:t>
            </a:r>
            <a:r>
              <a:rPr dirty="0" sz="1000" spc="65">
                <a:latin typeface="Times New Roman"/>
                <a:cs typeface="Times New Roman"/>
              </a:rPr>
              <a:t> </a:t>
            </a:r>
            <a:r>
              <a:rPr dirty="0" sz="1000" spc="-10">
                <a:latin typeface="Times New Roman"/>
                <a:cs typeface="Times New Roman"/>
              </a:rPr>
              <a:t>multi- </a:t>
            </a:r>
            <a:r>
              <a:rPr dirty="0" sz="1000" spc="10">
                <a:latin typeface="Times New Roman"/>
                <a:cs typeface="Times New Roman"/>
              </a:rPr>
              <a:t>modal</a:t>
            </a:r>
            <a:r>
              <a:rPr dirty="0" sz="1000" spc="-10">
                <a:latin typeface="Times New Roman"/>
                <a:cs typeface="Times New Roman"/>
              </a:rPr>
              <a:t> </a:t>
            </a:r>
            <a:r>
              <a:rPr dirty="0" sz="1000" spc="10">
                <a:latin typeface="Times New Roman"/>
                <a:cs typeface="Times New Roman"/>
              </a:rPr>
              <a:t>models</a:t>
            </a:r>
            <a:r>
              <a:rPr dirty="0" sz="1000" spc="5">
                <a:latin typeface="Times New Roman"/>
                <a:cs typeface="Times New Roman"/>
              </a:rPr>
              <a:t> </a:t>
            </a:r>
            <a:r>
              <a:rPr dirty="0" sz="1000">
                <a:latin typeface="Times New Roman"/>
                <a:cs typeface="Times New Roman"/>
              </a:rPr>
              <a:t>will </a:t>
            </a:r>
            <a:r>
              <a:rPr dirty="0" sz="1000" spc="10">
                <a:latin typeface="Times New Roman"/>
                <a:cs typeface="Times New Roman"/>
              </a:rPr>
              <a:t>suppress</a:t>
            </a:r>
            <a:r>
              <a:rPr dirty="0" sz="1000" spc="5">
                <a:latin typeface="Times New Roman"/>
                <a:cs typeface="Times New Roman"/>
              </a:rPr>
              <a:t> </a:t>
            </a:r>
            <a:r>
              <a:rPr dirty="0" sz="1000" spc="10">
                <a:latin typeface="Times New Roman"/>
                <a:cs typeface="Times New Roman"/>
              </a:rPr>
              <a:t>the</a:t>
            </a:r>
            <a:r>
              <a:rPr dirty="0" sz="1000">
                <a:latin typeface="Times New Roman"/>
                <a:cs typeface="Times New Roman"/>
              </a:rPr>
              <a:t> </a:t>
            </a:r>
            <a:r>
              <a:rPr dirty="0" sz="1000" spc="10">
                <a:latin typeface="Times New Roman"/>
                <a:cs typeface="Times New Roman"/>
              </a:rPr>
              <a:t>gradient</a:t>
            </a:r>
            <a:r>
              <a:rPr dirty="0" sz="1000" spc="5">
                <a:latin typeface="Times New Roman"/>
                <a:cs typeface="Times New Roman"/>
              </a:rPr>
              <a:t> </a:t>
            </a:r>
            <a:r>
              <a:rPr dirty="0" sz="1000" spc="10">
                <a:latin typeface="Times New Roman"/>
                <a:cs typeface="Times New Roman"/>
              </a:rPr>
              <a:t>back-propagated</a:t>
            </a:r>
            <a:r>
              <a:rPr dirty="0" sz="1000">
                <a:latin typeface="Times New Roman"/>
                <a:cs typeface="Times New Roman"/>
              </a:rPr>
              <a:t> </a:t>
            </a:r>
            <a:r>
              <a:rPr dirty="0" sz="1000" spc="10">
                <a:latin typeface="Times New Roman"/>
                <a:cs typeface="Times New Roman"/>
              </a:rPr>
              <a:t>to</a:t>
            </a:r>
            <a:r>
              <a:rPr dirty="0" sz="1000" spc="5">
                <a:latin typeface="Times New Roman"/>
                <a:cs typeface="Times New Roman"/>
              </a:rPr>
              <a:t> </a:t>
            </a:r>
            <a:r>
              <a:rPr dirty="0" sz="1000" spc="10">
                <a:latin typeface="Times New Roman"/>
                <a:cs typeface="Times New Roman"/>
              </a:rPr>
              <a:t>the</a:t>
            </a:r>
            <a:r>
              <a:rPr dirty="0" sz="1000">
                <a:latin typeface="Times New Roman"/>
                <a:cs typeface="Times New Roman"/>
              </a:rPr>
              <a:t> </a:t>
            </a:r>
            <a:r>
              <a:rPr dirty="0" sz="1000" spc="10">
                <a:latin typeface="Times New Roman"/>
                <a:cs typeface="Times New Roman"/>
              </a:rPr>
              <a:t>modality</a:t>
            </a:r>
            <a:r>
              <a:rPr dirty="0" sz="1000" spc="5">
                <a:latin typeface="Times New Roman"/>
                <a:cs typeface="Times New Roman"/>
              </a:rPr>
              <a:t> </a:t>
            </a:r>
            <a:r>
              <a:rPr dirty="0" sz="1000" spc="10">
                <a:latin typeface="Times New Roman"/>
                <a:cs typeface="Times New Roman"/>
              </a:rPr>
              <a:t>encoder.</a:t>
            </a:r>
            <a:r>
              <a:rPr dirty="0" sz="1000" spc="145">
                <a:latin typeface="Times New Roman"/>
                <a:cs typeface="Times New Roman"/>
              </a:rPr>
              <a:t> </a:t>
            </a:r>
            <a:r>
              <a:rPr dirty="0" sz="1000">
                <a:latin typeface="Times New Roman"/>
                <a:cs typeface="Times New Roman"/>
              </a:rPr>
              <a:t>Moreover,</a:t>
            </a:r>
            <a:r>
              <a:rPr dirty="0" sz="1000" spc="15">
                <a:latin typeface="Times New Roman"/>
                <a:cs typeface="Times New Roman"/>
              </a:rPr>
              <a:t> </a:t>
            </a:r>
            <a:r>
              <a:rPr dirty="0" sz="1000" spc="10">
                <a:latin typeface="Times New Roman"/>
                <a:cs typeface="Times New Roman"/>
              </a:rPr>
              <a:t>the</a:t>
            </a:r>
            <a:r>
              <a:rPr dirty="0" sz="1000" spc="5">
                <a:latin typeface="Times New Roman"/>
                <a:cs typeface="Times New Roman"/>
              </a:rPr>
              <a:t> </a:t>
            </a:r>
            <a:r>
              <a:rPr dirty="0" sz="1000" spc="-10">
                <a:latin typeface="Times New Roman"/>
                <a:cs typeface="Times New Roman"/>
              </a:rPr>
              <a:t>suppression </a:t>
            </a:r>
            <a:r>
              <a:rPr dirty="0" sz="1000" spc="10">
                <a:latin typeface="Times New Roman"/>
                <a:cs typeface="Times New Roman"/>
              </a:rPr>
              <a:t>degree</a:t>
            </a:r>
            <a:r>
              <a:rPr dirty="0" sz="1000" spc="55">
                <a:latin typeface="Times New Roman"/>
                <a:cs typeface="Times New Roman"/>
              </a:rPr>
              <a:t> </a:t>
            </a:r>
            <a:r>
              <a:rPr dirty="0" sz="1000" spc="10">
                <a:latin typeface="Times New Roman"/>
                <a:cs typeface="Times New Roman"/>
              </a:rPr>
              <a:t>will</a:t>
            </a:r>
            <a:r>
              <a:rPr dirty="0" sz="1000" spc="70">
                <a:latin typeface="Times New Roman"/>
                <a:cs typeface="Times New Roman"/>
              </a:rPr>
              <a:t> </a:t>
            </a:r>
            <a:r>
              <a:rPr dirty="0" sz="1000" spc="10">
                <a:latin typeface="Times New Roman"/>
                <a:cs typeface="Times New Roman"/>
              </a:rPr>
              <a:t>increase</a:t>
            </a:r>
            <a:r>
              <a:rPr dirty="0" sz="1000" spc="55">
                <a:latin typeface="Times New Roman"/>
                <a:cs typeface="Times New Roman"/>
              </a:rPr>
              <a:t> </a:t>
            </a:r>
            <a:r>
              <a:rPr dirty="0" sz="1000" spc="10">
                <a:latin typeface="Times New Roman"/>
                <a:cs typeface="Times New Roman"/>
              </a:rPr>
              <a:t>with</a:t>
            </a:r>
            <a:r>
              <a:rPr dirty="0" sz="1000" spc="70">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optimization</a:t>
            </a:r>
            <a:r>
              <a:rPr dirty="0" sz="1000" spc="65">
                <a:latin typeface="Times New Roman"/>
                <a:cs typeface="Times New Roman"/>
              </a:rPr>
              <a:t> </a:t>
            </a:r>
            <a:r>
              <a:rPr dirty="0" sz="1000" spc="10">
                <a:latin typeface="Times New Roman"/>
                <a:cs typeface="Times New Roman"/>
              </a:rPr>
              <a:t>progress.</a:t>
            </a:r>
            <a:r>
              <a:rPr dirty="0" sz="1000" spc="225">
                <a:latin typeface="Times New Roman"/>
                <a:cs typeface="Times New Roman"/>
              </a:rPr>
              <a:t> </a:t>
            </a:r>
            <a:r>
              <a:rPr dirty="0" sz="1000" spc="10">
                <a:latin typeface="Times New Roman"/>
                <a:cs typeface="Times New Roman"/>
              </a:rPr>
              <a:t>As</a:t>
            </a:r>
            <a:r>
              <a:rPr dirty="0" sz="1000" spc="65">
                <a:latin typeface="Times New Roman"/>
                <a:cs typeface="Times New Roman"/>
              </a:rPr>
              <a:t> </a:t>
            </a:r>
            <a:r>
              <a:rPr dirty="0" sz="1000" spc="10">
                <a:latin typeface="Times New Roman"/>
                <a:cs typeface="Times New Roman"/>
              </a:rPr>
              <a:t>shown</a:t>
            </a:r>
            <a:r>
              <a:rPr dirty="0" sz="1000" spc="60">
                <a:latin typeface="Times New Roman"/>
                <a:cs typeface="Times New Roman"/>
              </a:rPr>
              <a:t> </a:t>
            </a:r>
            <a:r>
              <a:rPr dirty="0" sz="1000" spc="10">
                <a:latin typeface="Times New Roman"/>
                <a:cs typeface="Times New Roman"/>
              </a:rPr>
              <a:t>in</a:t>
            </a:r>
            <a:r>
              <a:rPr dirty="0" sz="1000" spc="65">
                <a:latin typeface="Times New Roman"/>
                <a:cs typeface="Times New Roman"/>
              </a:rPr>
              <a:t> </a:t>
            </a:r>
            <a:r>
              <a:rPr dirty="0" sz="1000" spc="10">
                <a:latin typeface="Times New Roman"/>
                <a:cs typeface="Times New Roman"/>
              </a:rPr>
              <a:t>Fig.</a:t>
            </a:r>
            <a:r>
              <a:rPr dirty="0" sz="1000" spc="225">
                <a:latin typeface="Times New Roman"/>
                <a:cs typeface="Times New Roman"/>
              </a:rPr>
              <a:t> </a:t>
            </a:r>
            <a:r>
              <a:rPr dirty="0" sz="1000" spc="10">
                <a:latin typeface="Times New Roman"/>
                <a:cs typeface="Times New Roman"/>
              </a:rPr>
              <a:t>1(c),</a:t>
            </a:r>
            <a:r>
              <a:rPr dirty="0" sz="1000" spc="7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gradient</a:t>
            </a:r>
            <a:r>
              <a:rPr dirty="0" sz="1000" spc="60">
                <a:latin typeface="Times New Roman"/>
                <a:cs typeface="Times New Roman"/>
              </a:rPr>
              <a:t> </a:t>
            </a:r>
            <a:r>
              <a:rPr dirty="0" sz="1000" spc="10">
                <a:latin typeface="Times New Roman"/>
                <a:cs typeface="Times New Roman"/>
              </a:rPr>
              <a:t>back-propagated</a:t>
            </a:r>
            <a:r>
              <a:rPr dirty="0" sz="1000" spc="60">
                <a:latin typeface="Times New Roman"/>
                <a:cs typeface="Times New Roman"/>
              </a:rPr>
              <a:t> </a:t>
            </a:r>
            <a:r>
              <a:rPr dirty="0" sz="1000" spc="-25">
                <a:latin typeface="Times New Roman"/>
                <a:cs typeface="Times New Roman"/>
              </a:rPr>
              <a:t>to </a:t>
            </a:r>
            <a:r>
              <a:rPr dirty="0" sz="1000" spc="10">
                <a:latin typeface="Times New Roman"/>
                <a:cs typeface="Times New Roman"/>
              </a:rPr>
              <a:t>the</a:t>
            </a:r>
            <a:r>
              <a:rPr dirty="0" sz="1000" spc="100">
                <a:latin typeface="Times New Roman"/>
                <a:cs typeface="Times New Roman"/>
              </a:rPr>
              <a:t> </a:t>
            </a:r>
            <a:r>
              <a:rPr dirty="0" sz="1000" spc="10">
                <a:latin typeface="Times New Roman"/>
                <a:cs typeface="Times New Roman"/>
              </a:rPr>
              <a:t>audio</a:t>
            </a:r>
            <a:r>
              <a:rPr dirty="0" sz="1000" spc="110">
                <a:latin typeface="Times New Roman"/>
                <a:cs typeface="Times New Roman"/>
              </a:rPr>
              <a:t> </a:t>
            </a:r>
            <a:r>
              <a:rPr dirty="0" sz="1000" spc="10">
                <a:latin typeface="Times New Roman"/>
                <a:cs typeface="Times New Roman"/>
              </a:rPr>
              <a:t>encoder</a:t>
            </a:r>
            <a:r>
              <a:rPr dirty="0" sz="1000" spc="105">
                <a:latin typeface="Times New Roman"/>
                <a:cs typeface="Times New Roman"/>
              </a:rPr>
              <a:t> </a:t>
            </a:r>
            <a:r>
              <a:rPr dirty="0" sz="1000" spc="10">
                <a:latin typeface="Times New Roman"/>
                <a:cs typeface="Times New Roman"/>
              </a:rPr>
              <a:t>from</a:t>
            </a:r>
            <a:r>
              <a:rPr dirty="0" sz="1000" spc="105">
                <a:latin typeface="Times New Roman"/>
                <a:cs typeface="Times New Roman"/>
              </a:rPr>
              <a:t> </a:t>
            </a:r>
            <a:r>
              <a:rPr dirty="0" sz="1000" spc="10">
                <a:latin typeface="Times New Roman"/>
                <a:cs typeface="Times New Roman"/>
              </a:rPr>
              <a:t>the</a:t>
            </a:r>
            <a:r>
              <a:rPr dirty="0" sz="1000" spc="105">
                <a:latin typeface="Times New Roman"/>
                <a:cs typeface="Times New Roman"/>
              </a:rPr>
              <a:t> </a:t>
            </a:r>
            <a:r>
              <a:rPr dirty="0" sz="1000" spc="10">
                <a:latin typeface="Times New Roman"/>
                <a:cs typeface="Times New Roman"/>
              </a:rPr>
              <a:t>multimodal</a:t>
            </a:r>
            <a:r>
              <a:rPr dirty="0" sz="1000" spc="105">
                <a:latin typeface="Times New Roman"/>
                <a:cs typeface="Times New Roman"/>
              </a:rPr>
              <a:t> </a:t>
            </a:r>
            <a:r>
              <a:rPr dirty="0" sz="1000" spc="10">
                <a:latin typeface="Times New Roman"/>
                <a:cs typeface="Times New Roman"/>
              </a:rPr>
              <a:t>loss</a:t>
            </a:r>
            <a:r>
              <a:rPr dirty="0" sz="1000" spc="105">
                <a:latin typeface="Times New Roman"/>
                <a:cs typeface="Times New Roman"/>
              </a:rPr>
              <a:t> </a:t>
            </a:r>
            <a:r>
              <a:rPr dirty="0" sz="1000" spc="10">
                <a:latin typeface="Times New Roman"/>
                <a:cs typeface="Times New Roman"/>
              </a:rPr>
              <a:t>is</a:t>
            </a:r>
            <a:r>
              <a:rPr dirty="0" sz="1000" spc="110">
                <a:latin typeface="Times New Roman"/>
                <a:cs typeface="Times New Roman"/>
              </a:rPr>
              <a:t> </a:t>
            </a:r>
            <a:r>
              <a:rPr dirty="0" sz="1000" spc="10">
                <a:latin typeface="Times New Roman"/>
                <a:cs typeface="Times New Roman"/>
              </a:rPr>
              <a:t>smaller</a:t>
            </a:r>
            <a:r>
              <a:rPr dirty="0" sz="1000" spc="110">
                <a:latin typeface="Times New Roman"/>
                <a:cs typeface="Times New Roman"/>
              </a:rPr>
              <a:t> </a:t>
            </a:r>
            <a:r>
              <a:rPr dirty="0" sz="1000" spc="50">
                <a:latin typeface="Times New Roman"/>
                <a:cs typeface="Times New Roman"/>
              </a:rPr>
              <a:t>than</a:t>
            </a:r>
            <a:r>
              <a:rPr dirty="0" sz="1000" spc="105">
                <a:latin typeface="Times New Roman"/>
                <a:cs typeface="Times New Roman"/>
              </a:rPr>
              <a:t> </a:t>
            </a:r>
            <a:r>
              <a:rPr dirty="0" sz="1000" spc="10">
                <a:latin typeface="Times New Roman"/>
                <a:cs typeface="Times New Roman"/>
              </a:rPr>
              <a:t>that</a:t>
            </a:r>
            <a:r>
              <a:rPr dirty="0" sz="1000" spc="105">
                <a:latin typeface="Times New Roman"/>
                <a:cs typeface="Times New Roman"/>
              </a:rPr>
              <a:t> </a:t>
            </a:r>
            <a:r>
              <a:rPr dirty="0" sz="1000" spc="10">
                <a:latin typeface="Times New Roman"/>
                <a:cs typeface="Times New Roman"/>
              </a:rPr>
              <a:t>from</a:t>
            </a:r>
            <a:r>
              <a:rPr dirty="0" sz="1000" spc="100">
                <a:latin typeface="Times New Roman"/>
                <a:cs typeface="Times New Roman"/>
              </a:rPr>
              <a:t> </a:t>
            </a:r>
            <a:r>
              <a:rPr dirty="0" sz="1000" spc="10">
                <a:latin typeface="Times New Roman"/>
                <a:cs typeface="Times New Roman"/>
              </a:rPr>
              <a:t>the</a:t>
            </a:r>
            <a:r>
              <a:rPr dirty="0" sz="1000" spc="110">
                <a:latin typeface="Times New Roman"/>
                <a:cs typeface="Times New Roman"/>
              </a:rPr>
              <a:t> </a:t>
            </a:r>
            <a:r>
              <a:rPr dirty="0" sz="1000" spc="10">
                <a:latin typeface="Times New Roman"/>
                <a:cs typeface="Times New Roman"/>
              </a:rPr>
              <a:t>unimodal</a:t>
            </a:r>
            <a:r>
              <a:rPr dirty="0" sz="1000" spc="110">
                <a:latin typeface="Times New Roman"/>
                <a:cs typeface="Times New Roman"/>
              </a:rPr>
              <a:t> </a:t>
            </a:r>
            <a:r>
              <a:rPr dirty="0" sz="1000" spc="10">
                <a:latin typeface="Times New Roman"/>
                <a:cs typeface="Times New Roman"/>
              </a:rPr>
              <a:t>loss.</a:t>
            </a:r>
            <a:r>
              <a:rPr dirty="0" sz="1000" spc="340">
                <a:latin typeface="Times New Roman"/>
                <a:cs typeface="Times New Roman"/>
              </a:rPr>
              <a:t> </a:t>
            </a:r>
            <a:r>
              <a:rPr dirty="0" sz="1000" spc="10">
                <a:latin typeface="Times New Roman"/>
                <a:cs typeface="Times New Roman"/>
              </a:rPr>
              <a:t>And</a:t>
            </a:r>
            <a:r>
              <a:rPr dirty="0" sz="1000" spc="105">
                <a:latin typeface="Times New Roman"/>
                <a:cs typeface="Times New Roman"/>
              </a:rPr>
              <a:t> </a:t>
            </a:r>
            <a:r>
              <a:rPr dirty="0" sz="1000" spc="10">
                <a:latin typeface="Times New Roman"/>
                <a:cs typeface="Times New Roman"/>
              </a:rPr>
              <a:t>this</a:t>
            </a:r>
            <a:r>
              <a:rPr dirty="0" sz="1000" spc="105">
                <a:latin typeface="Times New Roman"/>
                <a:cs typeface="Times New Roman"/>
              </a:rPr>
              <a:t> </a:t>
            </a:r>
            <a:r>
              <a:rPr dirty="0" sz="1000" spc="10">
                <a:latin typeface="Times New Roman"/>
                <a:cs typeface="Times New Roman"/>
              </a:rPr>
              <a:t>gap</a:t>
            </a:r>
            <a:r>
              <a:rPr dirty="0" sz="1000" spc="105">
                <a:latin typeface="Times New Roman"/>
                <a:cs typeface="Times New Roman"/>
              </a:rPr>
              <a:t> </a:t>
            </a:r>
            <a:r>
              <a:rPr dirty="0" sz="1000" spc="-25">
                <a:latin typeface="Times New Roman"/>
                <a:cs typeface="Times New Roman"/>
              </a:rPr>
              <a:t>be- </a:t>
            </a:r>
            <a:r>
              <a:rPr dirty="0" sz="1000">
                <a:latin typeface="Times New Roman"/>
                <a:cs typeface="Times New Roman"/>
              </a:rPr>
              <a:t>comes</a:t>
            </a:r>
            <a:r>
              <a:rPr dirty="0" sz="1000" spc="40">
                <a:latin typeface="Times New Roman"/>
                <a:cs typeface="Times New Roman"/>
              </a:rPr>
              <a:t> </a:t>
            </a:r>
            <a:r>
              <a:rPr dirty="0" sz="1000">
                <a:latin typeface="Times New Roman"/>
                <a:cs typeface="Times New Roman"/>
              </a:rPr>
              <a:t>larger</a:t>
            </a:r>
            <a:r>
              <a:rPr dirty="0" sz="1000" spc="45">
                <a:latin typeface="Times New Roman"/>
                <a:cs typeface="Times New Roman"/>
              </a:rPr>
              <a:t> </a:t>
            </a:r>
            <a:r>
              <a:rPr dirty="0" sz="1000">
                <a:latin typeface="Times New Roman"/>
                <a:cs typeface="Times New Roman"/>
              </a:rPr>
              <a:t>in</a:t>
            </a:r>
            <a:r>
              <a:rPr dirty="0" sz="1000" spc="40">
                <a:latin typeface="Times New Roman"/>
                <a:cs typeface="Times New Roman"/>
              </a:rPr>
              <a:t> </a:t>
            </a:r>
            <a:r>
              <a:rPr dirty="0" sz="1000">
                <a:latin typeface="Times New Roman"/>
                <a:cs typeface="Times New Roman"/>
              </a:rPr>
              <a:t>the</a:t>
            </a:r>
            <a:r>
              <a:rPr dirty="0" sz="1000" spc="55">
                <a:latin typeface="Times New Roman"/>
                <a:cs typeface="Times New Roman"/>
              </a:rPr>
              <a:t> </a:t>
            </a:r>
            <a:r>
              <a:rPr dirty="0" sz="1000">
                <a:latin typeface="Times New Roman"/>
                <a:cs typeface="Times New Roman"/>
              </a:rPr>
              <a:t>middle</a:t>
            </a:r>
            <a:r>
              <a:rPr dirty="0" sz="1000" spc="40">
                <a:latin typeface="Times New Roman"/>
                <a:cs typeface="Times New Roman"/>
              </a:rPr>
              <a:t> </a:t>
            </a:r>
            <a:r>
              <a:rPr dirty="0" sz="1000" spc="-50">
                <a:latin typeface="Times New Roman"/>
                <a:cs typeface="Times New Roman"/>
              </a:rPr>
              <a:t>of</a:t>
            </a:r>
            <a:r>
              <a:rPr dirty="0" sz="1000" spc="45">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a:latin typeface="Times New Roman"/>
                <a:cs typeface="Times New Roman"/>
              </a:rPr>
              <a:t>training.</a:t>
            </a:r>
            <a:r>
              <a:rPr dirty="0" sz="1000" spc="250">
                <a:latin typeface="Times New Roman"/>
                <a:cs typeface="Times New Roman"/>
              </a:rPr>
              <a:t> </a:t>
            </a:r>
            <a:r>
              <a:rPr dirty="0" sz="1000">
                <a:latin typeface="Times New Roman"/>
                <a:cs typeface="Times New Roman"/>
              </a:rPr>
              <a:t>Consequently,</a:t>
            </a:r>
            <a:r>
              <a:rPr dirty="0" sz="1000" spc="70">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a:latin typeface="Times New Roman"/>
                <a:cs typeface="Times New Roman"/>
              </a:rPr>
              <a:t>performance</a:t>
            </a:r>
            <a:r>
              <a:rPr dirty="0" sz="1000" spc="50">
                <a:latin typeface="Times New Roman"/>
                <a:cs typeface="Times New Roman"/>
              </a:rPr>
              <a:t> </a:t>
            </a:r>
            <a:r>
              <a:rPr dirty="0" sz="1000" spc="-50">
                <a:latin typeface="Times New Roman"/>
                <a:cs typeface="Times New Roman"/>
              </a:rPr>
              <a:t>of</a:t>
            </a:r>
            <a:r>
              <a:rPr dirty="0" sz="1000" spc="45">
                <a:latin typeface="Times New Roman"/>
                <a:cs typeface="Times New Roman"/>
              </a:rPr>
              <a:t> </a:t>
            </a:r>
            <a:r>
              <a:rPr dirty="0" sz="1000">
                <a:latin typeface="Times New Roman"/>
                <a:cs typeface="Times New Roman"/>
              </a:rPr>
              <a:t>each</a:t>
            </a:r>
            <a:r>
              <a:rPr dirty="0" sz="1000" spc="40">
                <a:latin typeface="Times New Roman"/>
                <a:cs typeface="Times New Roman"/>
              </a:rPr>
              <a:t> </a:t>
            </a:r>
            <a:r>
              <a:rPr dirty="0" sz="1000">
                <a:latin typeface="Times New Roman"/>
                <a:cs typeface="Times New Roman"/>
              </a:rPr>
              <a:t>modality</a:t>
            </a:r>
            <a:r>
              <a:rPr dirty="0" sz="1000" spc="45">
                <a:latin typeface="Times New Roman"/>
                <a:cs typeface="Times New Roman"/>
              </a:rPr>
              <a:t> </a:t>
            </a:r>
            <a:r>
              <a:rPr dirty="0" sz="1000">
                <a:latin typeface="Times New Roman"/>
                <a:cs typeface="Times New Roman"/>
              </a:rPr>
              <a:t>in</a:t>
            </a:r>
            <a:r>
              <a:rPr dirty="0" sz="1000" spc="50">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spc="-10">
                <a:latin typeface="Times New Roman"/>
                <a:cs typeface="Times New Roman"/>
              </a:rPr>
              <a:t>multimodal </a:t>
            </a:r>
            <a:r>
              <a:rPr dirty="0" sz="1000" spc="10">
                <a:latin typeface="Times New Roman"/>
                <a:cs typeface="Times New Roman"/>
              </a:rPr>
              <a:t>model</a:t>
            </a:r>
            <a:r>
              <a:rPr dirty="0" sz="1000" spc="60">
                <a:latin typeface="Times New Roman"/>
                <a:cs typeface="Times New Roman"/>
              </a:rPr>
              <a:t> </a:t>
            </a:r>
            <a:r>
              <a:rPr dirty="0" sz="1000" spc="10">
                <a:latin typeface="Times New Roman"/>
                <a:cs typeface="Times New Roman"/>
              </a:rPr>
              <a:t>is</a:t>
            </a:r>
            <a:r>
              <a:rPr dirty="0" sz="1000" spc="65">
                <a:latin typeface="Times New Roman"/>
                <a:cs typeface="Times New Roman"/>
              </a:rPr>
              <a:t> </a:t>
            </a:r>
            <a:r>
              <a:rPr dirty="0" sz="1000" spc="10">
                <a:latin typeface="Times New Roman"/>
                <a:cs typeface="Times New Roman"/>
              </a:rPr>
              <a:t>inferior</a:t>
            </a:r>
            <a:r>
              <a:rPr dirty="0" sz="1000" spc="65">
                <a:latin typeface="Times New Roman"/>
                <a:cs typeface="Times New Roman"/>
              </a:rPr>
              <a:t> </a:t>
            </a:r>
            <a:r>
              <a:rPr dirty="0" sz="1000" spc="10">
                <a:latin typeface="Times New Roman"/>
                <a:cs typeface="Times New Roman"/>
              </a:rPr>
              <a:t>to</a:t>
            </a:r>
            <a:r>
              <a:rPr dirty="0" sz="1000" spc="65">
                <a:latin typeface="Times New Roman"/>
                <a:cs typeface="Times New Roman"/>
              </a:rPr>
              <a:t> </a:t>
            </a:r>
            <a:r>
              <a:rPr dirty="0" sz="1000" spc="10">
                <a:latin typeface="Times New Roman"/>
                <a:cs typeface="Times New Roman"/>
              </a:rPr>
              <a:t>that</a:t>
            </a:r>
            <a:r>
              <a:rPr dirty="0" sz="1000" spc="65">
                <a:latin typeface="Times New Roman"/>
                <a:cs typeface="Times New Roman"/>
              </a:rPr>
              <a:t> </a:t>
            </a:r>
            <a:r>
              <a:rPr dirty="0" sz="1000" spc="10">
                <a:latin typeface="Times New Roman"/>
                <a:cs typeface="Times New Roman"/>
              </a:rPr>
              <a:t>in</a:t>
            </a:r>
            <a:r>
              <a:rPr dirty="0" sz="1000" spc="6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unimodal</a:t>
            </a:r>
            <a:r>
              <a:rPr dirty="0" sz="1000" spc="60">
                <a:latin typeface="Times New Roman"/>
                <a:cs typeface="Times New Roman"/>
              </a:rPr>
              <a:t> </a:t>
            </a:r>
            <a:r>
              <a:rPr dirty="0" sz="1000" spc="-10">
                <a:latin typeface="Times New Roman"/>
                <a:cs typeface="Times New Roman"/>
              </a:rPr>
              <a:t>model.</a:t>
            </a:r>
            <a:endParaRPr sz="1000">
              <a:latin typeface="Times New Roman"/>
              <a:cs typeface="Times New Roman"/>
            </a:endParaRPr>
          </a:p>
          <a:p>
            <a:pPr>
              <a:lnSpc>
                <a:spcPct val="100000"/>
              </a:lnSpc>
              <a:spcBef>
                <a:spcPts val="229"/>
              </a:spcBef>
            </a:pPr>
            <a:endParaRPr sz="1000">
              <a:latin typeface="Times New Roman"/>
              <a:cs typeface="Times New Roman"/>
            </a:endParaRPr>
          </a:p>
          <a:p>
            <a:pPr marL="192405" marR="86995">
              <a:lnSpc>
                <a:spcPct val="129500"/>
              </a:lnSpc>
            </a:pPr>
            <a:r>
              <a:rPr dirty="0" sz="1000" spc="-45">
                <a:latin typeface="SimSun"/>
                <a:cs typeface="SimSun"/>
              </a:rPr>
              <a:t>为此，本文关注在多模态学习中是什么导致主导模态优化不足的问题。在此，我们揭示多模态模型中</a:t>
            </a:r>
            <a:r>
              <a:rPr dirty="0" sz="1000" spc="-50">
                <a:latin typeface="SimSun"/>
                <a:cs typeface="SimSun"/>
              </a:rPr>
              <a:t>的每个模态，即使是性能最佳的模态，由于与融合模块的优化冲突，其学习效率也低于单模态模型。</a:t>
            </a:r>
            <a:r>
              <a:rPr dirty="0" sz="1000" spc="-45">
                <a:latin typeface="SimSun"/>
                <a:cs typeface="SimSun"/>
              </a:rPr>
              <a:t>具体而言，与单模态模型相比，我们证明多模态模型中的模态融合模块会抑制反向传播到模态编码</a:t>
            </a:r>
            <a:r>
              <a:rPr dirty="0" sz="1000" spc="-60">
                <a:latin typeface="SimSun"/>
                <a:cs typeface="SimSun"/>
              </a:rPr>
              <a:t>器的梯度。而且，抑制程度会随着优化进程而增加。如图 </a:t>
            </a:r>
            <a:r>
              <a:rPr dirty="0" sz="1000" spc="-5">
                <a:latin typeface="Times New Roman"/>
                <a:cs typeface="Times New Roman"/>
              </a:rPr>
              <a:t>1(c)</a:t>
            </a:r>
            <a:r>
              <a:rPr dirty="0" sz="1000" spc="-30">
                <a:latin typeface="Times New Roman"/>
                <a:cs typeface="Times New Roman"/>
              </a:rPr>
              <a:t> </a:t>
            </a:r>
            <a:r>
              <a:rPr dirty="0" sz="1000" spc="-35">
                <a:latin typeface="SimSun"/>
                <a:cs typeface="SimSun"/>
              </a:rPr>
              <a:t>所示，从多模态损失反向传播到音频编码器的梯度小于从单模态损失反向传播的梯度。并且在训练中期这个差距会变得更大。因此，多模态</a:t>
            </a:r>
            <a:r>
              <a:rPr dirty="0" sz="1000" spc="-10">
                <a:latin typeface="SimSun"/>
                <a:cs typeface="SimSun"/>
              </a:rPr>
              <a:t>模型中每个模态的性能都不如单模态模型。</a:t>
            </a:r>
            <a:endParaRPr sz="1000">
              <a:latin typeface="SimSun"/>
              <a:cs typeface="SimSun"/>
            </a:endParaRPr>
          </a:p>
          <a:p>
            <a:pPr algn="just" marL="12700" marR="5080" indent="252729">
              <a:lnSpc>
                <a:spcPct val="129500"/>
              </a:lnSpc>
              <a:spcBef>
                <a:spcPts val="1245"/>
              </a:spcBef>
            </a:pPr>
            <a:r>
              <a:rPr dirty="0" sz="1000">
                <a:latin typeface="Times New Roman"/>
                <a:cs typeface="Times New Roman"/>
              </a:rPr>
              <a:t>To</a:t>
            </a:r>
            <a:r>
              <a:rPr dirty="0" sz="1000" spc="114">
                <a:latin typeface="Times New Roman"/>
                <a:cs typeface="Times New Roman"/>
              </a:rPr>
              <a:t> </a:t>
            </a:r>
            <a:r>
              <a:rPr dirty="0" sz="1000">
                <a:latin typeface="Times New Roman"/>
                <a:cs typeface="Times New Roman"/>
              </a:rPr>
              <a:t>tackle</a:t>
            </a:r>
            <a:r>
              <a:rPr dirty="0" sz="1000" spc="120">
                <a:latin typeface="Times New Roman"/>
                <a:cs typeface="Times New Roman"/>
              </a:rPr>
              <a:t> </a:t>
            </a:r>
            <a:r>
              <a:rPr dirty="0" sz="1000">
                <a:latin typeface="Times New Roman"/>
                <a:cs typeface="Times New Roman"/>
              </a:rPr>
              <a:t>this</a:t>
            </a:r>
            <a:r>
              <a:rPr dirty="0" sz="1000" spc="114">
                <a:latin typeface="Times New Roman"/>
                <a:cs typeface="Times New Roman"/>
              </a:rPr>
              <a:t> </a:t>
            </a:r>
            <a:r>
              <a:rPr dirty="0" sz="1000">
                <a:latin typeface="Times New Roman"/>
                <a:cs typeface="Times New Roman"/>
              </a:rPr>
              <a:t>issue,</a:t>
            </a:r>
            <a:r>
              <a:rPr dirty="0" sz="1000" spc="135">
                <a:latin typeface="Times New Roman"/>
                <a:cs typeface="Times New Roman"/>
              </a:rPr>
              <a:t> </a:t>
            </a:r>
            <a:r>
              <a:rPr dirty="0" sz="1000">
                <a:latin typeface="Times New Roman"/>
                <a:cs typeface="Times New Roman"/>
              </a:rPr>
              <a:t>we</a:t>
            </a:r>
            <a:r>
              <a:rPr dirty="0" sz="1000" spc="120">
                <a:latin typeface="Times New Roman"/>
                <a:cs typeface="Times New Roman"/>
              </a:rPr>
              <a:t> </a:t>
            </a:r>
            <a:r>
              <a:rPr dirty="0" sz="1000">
                <a:latin typeface="Times New Roman"/>
                <a:cs typeface="Times New Roman"/>
              </a:rPr>
              <a:t>introduce</a:t>
            </a:r>
            <a:r>
              <a:rPr dirty="0" sz="1000" spc="114">
                <a:latin typeface="Times New Roman"/>
                <a:cs typeface="Times New Roman"/>
              </a:rPr>
              <a:t> </a:t>
            </a:r>
            <a:r>
              <a:rPr dirty="0" sz="1000">
                <a:latin typeface="Times New Roman"/>
                <a:cs typeface="Times New Roman"/>
              </a:rPr>
              <a:t>the</a:t>
            </a:r>
            <a:r>
              <a:rPr dirty="0" sz="1000" spc="120">
                <a:latin typeface="Times New Roman"/>
                <a:cs typeface="Times New Roman"/>
              </a:rPr>
              <a:t> </a:t>
            </a:r>
            <a:r>
              <a:rPr dirty="0" sz="1000">
                <a:latin typeface="Times New Roman"/>
                <a:cs typeface="Times New Roman"/>
              </a:rPr>
              <a:t>disentangled</a:t>
            </a:r>
            <a:r>
              <a:rPr dirty="0" sz="1000" spc="114">
                <a:latin typeface="Times New Roman"/>
                <a:cs typeface="Times New Roman"/>
              </a:rPr>
              <a:t> </a:t>
            </a:r>
            <a:r>
              <a:rPr dirty="0" sz="1000">
                <a:latin typeface="Times New Roman"/>
                <a:cs typeface="Times New Roman"/>
              </a:rPr>
              <a:t>gradient</a:t>
            </a:r>
            <a:r>
              <a:rPr dirty="0" sz="1000" spc="120">
                <a:latin typeface="Times New Roman"/>
                <a:cs typeface="Times New Roman"/>
              </a:rPr>
              <a:t> </a:t>
            </a:r>
            <a:r>
              <a:rPr dirty="0" sz="1000">
                <a:latin typeface="Times New Roman"/>
                <a:cs typeface="Times New Roman"/>
              </a:rPr>
              <a:t>learning</a:t>
            </a:r>
            <a:r>
              <a:rPr dirty="0" sz="1000" spc="120">
                <a:latin typeface="Times New Roman"/>
                <a:cs typeface="Times New Roman"/>
              </a:rPr>
              <a:t> </a:t>
            </a:r>
            <a:r>
              <a:rPr dirty="0" sz="1000">
                <a:latin typeface="Times New Roman"/>
                <a:cs typeface="Times New Roman"/>
              </a:rPr>
              <a:t>(DGL)</a:t>
            </a:r>
            <a:r>
              <a:rPr dirty="0" sz="1000" spc="114">
                <a:latin typeface="Times New Roman"/>
                <a:cs typeface="Times New Roman"/>
              </a:rPr>
              <a:t> </a:t>
            </a:r>
            <a:r>
              <a:rPr dirty="0" sz="1000">
                <a:latin typeface="Times New Roman"/>
                <a:cs typeface="Times New Roman"/>
              </a:rPr>
              <a:t>strategy.</a:t>
            </a:r>
            <a:r>
              <a:rPr dirty="0" sz="1000" spc="330">
                <a:latin typeface="Times New Roman"/>
                <a:cs typeface="Times New Roman"/>
              </a:rPr>
              <a:t> </a:t>
            </a:r>
            <a:r>
              <a:rPr dirty="0" sz="1000" spc="-10">
                <a:latin typeface="Times New Roman"/>
                <a:cs typeface="Times New Roman"/>
              </a:rPr>
              <a:t>Specifically,</a:t>
            </a:r>
            <a:r>
              <a:rPr dirty="0" sz="1000" spc="135">
                <a:latin typeface="Times New Roman"/>
                <a:cs typeface="Times New Roman"/>
              </a:rPr>
              <a:t> </a:t>
            </a:r>
            <a:r>
              <a:rPr dirty="0" sz="1000" spc="-25">
                <a:latin typeface="Times New Roman"/>
                <a:cs typeface="Times New Roman"/>
              </a:rPr>
              <a:t>DGL </a:t>
            </a:r>
            <a:r>
              <a:rPr dirty="0" sz="1000" spc="10">
                <a:latin typeface="Times New Roman"/>
                <a:cs typeface="Times New Roman"/>
              </a:rPr>
              <a:t>first</a:t>
            </a:r>
            <a:r>
              <a:rPr dirty="0" sz="1000" spc="40">
                <a:latin typeface="Times New Roman"/>
                <a:cs typeface="Times New Roman"/>
              </a:rPr>
              <a:t> </a:t>
            </a:r>
            <a:r>
              <a:rPr dirty="0" sz="1000" spc="10">
                <a:latin typeface="Times New Roman"/>
                <a:cs typeface="Times New Roman"/>
              </a:rPr>
              <a:t>truncates</a:t>
            </a:r>
            <a:r>
              <a:rPr dirty="0" sz="1000" spc="40">
                <a:latin typeface="Times New Roman"/>
                <a:cs typeface="Times New Roman"/>
              </a:rPr>
              <a:t> </a:t>
            </a:r>
            <a:r>
              <a:rPr dirty="0" sz="1000" spc="10">
                <a:latin typeface="Times New Roman"/>
                <a:cs typeface="Times New Roman"/>
              </a:rPr>
              <a:t>the</a:t>
            </a:r>
            <a:r>
              <a:rPr dirty="0" sz="1000" spc="40">
                <a:latin typeface="Times New Roman"/>
                <a:cs typeface="Times New Roman"/>
              </a:rPr>
              <a:t> </a:t>
            </a:r>
            <a:r>
              <a:rPr dirty="0" sz="1000" spc="10">
                <a:latin typeface="Times New Roman"/>
                <a:cs typeface="Times New Roman"/>
              </a:rPr>
              <a:t>gradient</a:t>
            </a:r>
            <a:r>
              <a:rPr dirty="0" sz="1000" spc="40">
                <a:latin typeface="Times New Roman"/>
                <a:cs typeface="Times New Roman"/>
              </a:rPr>
              <a:t> </a:t>
            </a:r>
            <a:r>
              <a:rPr dirty="0" sz="1000" spc="10">
                <a:latin typeface="Times New Roman"/>
                <a:cs typeface="Times New Roman"/>
              </a:rPr>
              <a:t>from</a:t>
            </a:r>
            <a:r>
              <a:rPr dirty="0" sz="1000" spc="45">
                <a:latin typeface="Times New Roman"/>
                <a:cs typeface="Times New Roman"/>
              </a:rPr>
              <a:t> </a:t>
            </a:r>
            <a:r>
              <a:rPr dirty="0" sz="1000" spc="10">
                <a:latin typeface="Times New Roman"/>
                <a:cs typeface="Times New Roman"/>
              </a:rPr>
              <a:t>the</a:t>
            </a:r>
            <a:r>
              <a:rPr dirty="0" sz="1000" spc="40">
                <a:latin typeface="Times New Roman"/>
                <a:cs typeface="Times New Roman"/>
              </a:rPr>
              <a:t> </a:t>
            </a:r>
            <a:r>
              <a:rPr dirty="0" sz="1000" spc="10">
                <a:latin typeface="Times New Roman"/>
                <a:cs typeface="Times New Roman"/>
              </a:rPr>
              <a:t>modality</a:t>
            </a:r>
            <a:r>
              <a:rPr dirty="0" sz="1000" spc="40">
                <a:latin typeface="Times New Roman"/>
                <a:cs typeface="Times New Roman"/>
              </a:rPr>
              <a:t> </a:t>
            </a:r>
            <a:r>
              <a:rPr dirty="0" sz="1000" spc="10">
                <a:latin typeface="Times New Roman"/>
                <a:cs typeface="Times New Roman"/>
              </a:rPr>
              <a:t>fusion</a:t>
            </a:r>
            <a:r>
              <a:rPr dirty="0" sz="1000" spc="40">
                <a:latin typeface="Times New Roman"/>
                <a:cs typeface="Times New Roman"/>
              </a:rPr>
              <a:t> </a:t>
            </a:r>
            <a:r>
              <a:rPr dirty="0" sz="1000" spc="10">
                <a:latin typeface="Times New Roman"/>
                <a:cs typeface="Times New Roman"/>
              </a:rPr>
              <a:t>module</a:t>
            </a:r>
            <a:r>
              <a:rPr dirty="0" sz="1000" spc="40">
                <a:latin typeface="Times New Roman"/>
                <a:cs typeface="Times New Roman"/>
              </a:rPr>
              <a:t> </a:t>
            </a:r>
            <a:r>
              <a:rPr dirty="0" sz="1000" spc="10">
                <a:latin typeface="Times New Roman"/>
                <a:cs typeface="Times New Roman"/>
              </a:rPr>
              <a:t>propagating</a:t>
            </a:r>
            <a:r>
              <a:rPr dirty="0" sz="1000" spc="45">
                <a:latin typeface="Times New Roman"/>
                <a:cs typeface="Times New Roman"/>
              </a:rPr>
              <a:t> </a:t>
            </a:r>
            <a:r>
              <a:rPr dirty="0" sz="1000" spc="10">
                <a:latin typeface="Times New Roman"/>
                <a:cs typeface="Times New Roman"/>
              </a:rPr>
              <a:t>to</a:t>
            </a:r>
            <a:r>
              <a:rPr dirty="0" sz="1000" spc="40">
                <a:latin typeface="Times New Roman"/>
                <a:cs typeface="Times New Roman"/>
              </a:rPr>
              <a:t> </a:t>
            </a:r>
            <a:r>
              <a:rPr dirty="0" sz="1000" spc="10">
                <a:latin typeface="Times New Roman"/>
                <a:cs typeface="Times New Roman"/>
              </a:rPr>
              <a:t>the</a:t>
            </a:r>
            <a:r>
              <a:rPr dirty="0" sz="1000" spc="40">
                <a:latin typeface="Times New Roman"/>
                <a:cs typeface="Times New Roman"/>
              </a:rPr>
              <a:t> </a:t>
            </a:r>
            <a:r>
              <a:rPr dirty="0" sz="1000" spc="10">
                <a:latin typeface="Times New Roman"/>
                <a:cs typeface="Times New Roman"/>
              </a:rPr>
              <a:t>modality</a:t>
            </a:r>
            <a:r>
              <a:rPr dirty="0" sz="1000" spc="40">
                <a:latin typeface="Times New Roman"/>
                <a:cs typeface="Times New Roman"/>
              </a:rPr>
              <a:t> </a:t>
            </a:r>
            <a:r>
              <a:rPr dirty="0" sz="1000" spc="10">
                <a:latin typeface="Times New Roman"/>
                <a:cs typeface="Times New Roman"/>
              </a:rPr>
              <a:t>encoder.</a:t>
            </a:r>
            <a:r>
              <a:rPr dirty="0" sz="1000" spc="165">
                <a:latin typeface="Times New Roman"/>
                <a:cs typeface="Times New Roman"/>
              </a:rPr>
              <a:t> </a:t>
            </a:r>
            <a:r>
              <a:rPr dirty="0" sz="1000" spc="10">
                <a:latin typeface="Times New Roman"/>
                <a:cs typeface="Times New Roman"/>
              </a:rPr>
              <a:t>This</a:t>
            </a:r>
            <a:r>
              <a:rPr dirty="0" sz="1000" spc="40">
                <a:latin typeface="Times New Roman"/>
                <a:cs typeface="Times New Roman"/>
              </a:rPr>
              <a:t> </a:t>
            </a:r>
            <a:r>
              <a:rPr dirty="0" sz="1000" spc="-10">
                <a:latin typeface="Times New Roman"/>
                <a:cs typeface="Times New Roman"/>
              </a:rPr>
              <a:t>helps </a:t>
            </a:r>
            <a:r>
              <a:rPr dirty="0" sz="1000">
                <a:latin typeface="Times New Roman"/>
                <a:cs typeface="Times New Roman"/>
              </a:rPr>
              <a:t>avoid</a:t>
            </a:r>
            <a:r>
              <a:rPr dirty="0" sz="1000" spc="8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problem</a:t>
            </a:r>
            <a:r>
              <a:rPr dirty="0" sz="1000" spc="80">
                <a:latin typeface="Times New Roman"/>
                <a:cs typeface="Times New Roman"/>
              </a:rPr>
              <a:t> </a:t>
            </a:r>
            <a:r>
              <a:rPr dirty="0" sz="1000" spc="-30">
                <a:latin typeface="Times New Roman"/>
                <a:cs typeface="Times New Roman"/>
              </a:rPr>
              <a:t>of</a:t>
            </a:r>
            <a:r>
              <a:rPr dirty="0" sz="1000" spc="85">
                <a:latin typeface="Times New Roman"/>
                <a:cs typeface="Times New Roman"/>
              </a:rPr>
              <a:t> </a:t>
            </a:r>
            <a:r>
              <a:rPr dirty="0" sz="1000">
                <a:latin typeface="Times New Roman"/>
                <a:cs typeface="Times New Roman"/>
              </a:rPr>
              <a:t>gradient</a:t>
            </a:r>
            <a:r>
              <a:rPr dirty="0" sz="1000" spc="80">
                <a:latin typeface="Times New Roman"/>
                <a:cs typeface="Times New Roman"/>
              </a:rPr>
              <a:t> </a:t>
            </a:r>
            <a:r>
              <a:rPr dirty="0" sz="1000">
                <a:latin typeface="Times New Roman"/>
                <a:cs typeface="Times New Roman"/>
              </a:rPr>
              <a:t>suppression.</a:t>
            </a:r>
            <a:r>
              <a:rPr dirty="0" sz="1000" spc="265">
                <a:latin typeface="Times New Roman"/>
                <a:cs typeface="Times New Roman"/>
              </a:rPr>
              <a:t> </a:t>
            </a:r>
            <a:r>
              <a:rPr dirty="0" sz="1000">
                <a:latin typeface="Times New Roman"/>
                <a:cs typeface="Times New Roman"/>
              </a:rPr>
              <a:t>Then</a:t>
            </a:r>
            <a:r>
              <a:rPr dirty="0" sz="1000" spc="95">
                <a:latin typeface="Times New Roman"/>
                <a:cs typeface="Times New Roman"/>
              </a:rPr>
              <a:t> </a:t>
            </a:r>
            <a:r>
              <a:rPr dirty="0" sz="1000" spc="-20">
                <a:latin typeface="Times New Roman"/>
                <a:cs typeface="Times New Roman"/>
              </a:rPr>
              <a:t>DGL</a:t>
            </a:r>
            <a:r>
              <a:rPr dirty="0" sz="1000" spc="90">
                <a:latin typeface="Times New Roman"/>
                <a:cs typeface="Times New Roman"/>
              </a:rPr>
              <a:t> </a:t>
            </a:r>
            <a:r>
              <a:rPr dirty="0" sz="1000">
                <a:latin typeface="Times New Roman"/>
                <a:cs typeface="Times New Roman"/>
              </a:rPr>
              <a:t>introduces</a:t>
            </a:r>
            <a:r>
              <a:rPr dirty="0" sz="1000" spc="80">
                <a:latin typeface="Times New Roman"/>
                <a:cs typeface="Times New Roman"/>
              </a:rPr>
              <a:t> </a:t>
            </a:r>
            <a:r>
              <a:rPr dirty="0" sz="1000">
                <a:latin typeface="Times New Roman"/>
                <a:cs typeface="Times New Roman"/>
              </a:rPr>
              <a:t>independent</a:t>
            </a:r>
            <a:r>
              <a:rPr dirty="0" sz="1000" spc="90">
                <a:latin typeface="Times New Roman"/>
                <a:cs typeface="Times New Roman"/>
              </a:rPr>
              <a:t> </a:t>
            </a:r>
            <a:r>
              <a:rPr dirty="0" sz="1000">
                <a:latin typeface="Times New Roman"/>
                <a:cs typeface="Times New Roman"/>
              </a:rPr>
              <a:t>unimodal</a:t>
            </a:r>
            <a:r>
              <a:rPr dirty="0" sz="1000" spc="90">
                <a:latin typeface="Times New Roman"/>
                <a:cs typeface="Times New Roman"/>
              </a:rPr>
              <a:t> </a:t>
            </a:r>
            <a:r>
              <a:rPr dirty="0" sz="1000">
                <a:latin typeface="Times New Roman"/>
                <a:cs typeface="Times New Roman"/>
              </a:rPr>
              <a:t>loss</a:t>
            </a:r>
            <a:r>
              <a:rPr dirty="0" sz="1000" spc="95">
                <a:latin typeface="Times New Roman"/>
                <a:cs typeface="Times New Roman"/>
              </a:rPr>
              <a:t> </a:t>
            </a:r>
            <a:r>
              <a:rPr dirty="0" sz="1000">
                <a:latin typeface="Times New Roman"/>
                <a:cs typeface="Times New Roman"/>
              </a:rPr>
              <a:t>for</a:t>
            </a:r>
            <a:r>
              <a:rPr dirty="0" sz="1000" spc="80">
                <a:latin typeface="Times New Roman"/>
                <a:cs typeface="Times New Roman"/>
              </a:rPr>
              <a:t> </a:t>
            </a:r>
            <a:r>
              <a:rPr dirty="0" sz="1000">
                <a:latin typeface="Times New Roman"/>
                <a:cs typeface="Times New Roman"/>
              </a:rPr>
              <a:t>each</a:t>
            </a:r>
            <a:r>
              <a:rPr dirty="0" sz="1000" spc="90">
                <a:latin typeface="Times New Roman"/>
                <a:cs typeface="Times New Roman"/>
              </a:rPr>
              <a:t> </a:t>
            </a:r>
            <a:r>
              <a:rPr dirty="0" sz="1000" spc="-10">
                <a:latin typeface="Times New Roman"/>
                <a:cs typeface="Times New Roman"/>
              </a:rPr>
              <a:t>modal- </a:t>
            </a:r>
            <a:r>
              <a:rPr dirty="0" sz="1000" spc="20">
                <a:latin typeface="Times New Roman"/>
                <a:cs typeface="Times New Roman"/>
              </a:rPr>
              <a:t>ity</a:t>
            </a:r>
            <a:r>
              <a:rPr dirty="0" sz="1000" spc="25">
                <a:latin typeface="Times New Roman"/>
                <a:cs typeface="Times New Roman"/>
              </a:rPr>
              <a:t> </a:t>
            </a:r>
            <a:r>
              <a:rPr dirty="0" sz="1000" spc="20">
                <a:latin typeface="Times New Roman"/>
                <a:cs typeface="Times New Roman"/>
              </a:rPr>
              <a:t>encoder</a:t>
            </a:r>
            <a:r>
              <a:rPr dirty="0" sz="1000" spc="25">
                <a:latin typeface="Times New Roman"/>
                <a:cs typeface="Times New Roman"/>
              </a:rPr>
              <a:t> </a:t>
            </a:r>
            <a:r>
              <a:rPr dirty="0" sz="1000" spc="20">
                <a:latin typeface="Times New Roman"/>
                <a:cs typeface="Times New Roman"/>
              </a:rPr>
              <a:t>via</a:t>
            </a:r>
            <a:r>
              <a:rPr dirty="0" sz="1000" spc="30">
                <a:latin typeface="Times New Roman"/>
                <a:cs typeface="Times New Roman"/>
              </a:rPr>
              <a:t> </a:t>
            </a:r>
            <a:r>
              <a:rPr dirty="0" sz="1000" spc="20">
                <a:latin typeface="Times New Roman"/>
                <a:cs typeface="Times New Roman"/>
              </a:rPr>
              <a:t>the</a:t>
            </a:r>
            <a:r>
              <a:rPr dirty="0" sz="1000" spc="25">
                <a:latin typeface="Times New Roman"/>
                <a:cs typeface="Times New Roman"/>
              </a:rPr>
              <a:t> </a:t>
            </a:r>
            <a:r>
              <a:rPr dirty="0" sz="1000" spc="20">
                <a:latin typeface="Times New Roman"/>
                <a:cs typeface="Times New Roman"/>
              </a:rPr>
              <a:t>parameter-</a:t>
            </a:r>
            <a:r>
              <a:rPr dirty="0" sz="1000" spc="10">
                <a:latin typeface="Times New Roman"/>
                <a:cs typeface="Times New Roman"/>
              </a:rPr>
              <a:t>free</a:t>
            </a:r>
            <a:r>
              <a:rPr dirty="0" sz="1000" spc="30">
                <a:latin typeface="Times New Roman"/>
                <a:cs typeface="Times New Roman"/>
              </a:rPr>
              <a:t> </a:t>
            </a:r>
            <a:r>
              <a:rPr dirty="0" sz="1000" spc="20">
                <a:latin typeface="Times New Roman"/>
                <a:cs typeface="Times New Roman"/>
              </a:rPr>
              <a:t>modality</a:t>
            </a:r>
            <a:r>
              <a:rPr dirty="0" sz="1000" spc="25">
                <a:latin typeface="Times New Roman"/>
                <a:cs typeface="Times New Roman"/>
              </a:rPr>
              <a:t> </a:t>
            </a:r>
            <a:r>
              <a:rPr dirty="0" sz="1000" spc="20">
                <a:latin typeface="Times New Roman"/>
                <a:cs typeface="Times New Roman"/>
              </a:rPr>
              <a:t>dropout</a:t>
            </a:r>
            <a:r>
              <a:rPr dirty="0" sz="1000" spc="30">
                <a:latin typeface="Times New Roman"/>
                <a:cs typeface="Times New Roman"/>
              </a:rPr>
              <a:t> </a:t>
            </a:r>
            <a:r>
              <a:rPr dirty="0" sz="1000" spc="20">
                <a:latin typeface="Times New Roman"/>
                <a:cs typeface="Times New Roman"/>
              </a:rPr>
              <a:t>technique.</a:t>
            </a:r>
            <a:r>
              <a:rPr dirty="0" sz="1000" spc="155">
                <a:latin typeface="Times New Roman"/>
                <a:cs typeface="Times New Roman"/>
              </a:rPr>
              <a:t> </a:t>
            </a:r>
            <a:r>
              <a:rPr dirty="0" sz="1000" spc="20">
                <a:latin typeface="Times New Roman"/>
                <a:cs typeface="Times New Roman"/>
              </a:rPr>
              <a:t>This</a:t>
            </a:r>
            <a:r>
              <a:rPr dirty="0" sz="1000" spc="25">
                <a:latin typeface="Times New Roman"/>
                <a:cs typeface="Times New Roman"/>
              </a:rPr>
              <a:t> </a:t>
            </a:r>
            <a:r>
              <a:rPr dirty="0" sz="1000" spc="20">
                <a:latin typeface="Times New Roman"/>
                <a:cs typeface="Times New Roman"/>
              </a:rPr>
              <a:t>provides</a:t>
            </a:r>
            <a:r>
              <a:rPr dirty="0" sz="1000" spc="25">
                <a:latin typeface="Times New Roman"/>
                <a:cs typeface="Times New Roman"/>
              </a:rPr>
              <a:t> </a:t>
            </a:r>
            <a:r>
              <a:rPr dirty="0" sz="1000" spc="20">
                <a:latin typeface="Times New Roman"/>
                <a:cs typeface="Times New Roman"/>
              </a:rPr>
              <a:t>an</a:t>
            </a:r>
            <a:r>
              <a:rPr dirty="0" sz="1000" spc="30">
                <a:latin typeface="Times New Roman"/>
                <a:cs typeface="Times New Roman"/>
              </a:rPr>
              <a:t> </a:t>
            </a:r>
            <a:r>
              <a:rPr dirty="0" sz="1000" spc="20">
                <a:latin typeface="Times New Roman"/>
                <a:cs typeface="Times New Roman"/>
              </a:rPr>
              <a:t>independent</a:t>
            </a:r>
            <a:r>
              <a:rPr dirty="0" sz="1000" spc="25">
                <a:latin typeface="Times New Roman"/>
                <a:cs typeface="Times New Roman"/>
              </a:rPr>
              <a:t> </a:t>
            </a:r>
            <a:r>
              <a:rPr dirty="0" sz="1000" spc="20">
                <a:latin typeface="Times New Roman"/>
                <a:cs typeface="Times New Roman"/>
              </a:rPr>
              <a:t>gradient</a:t>
            </a:r>
            <a:r>
              <a:rPr dirty="0" sz="1000" spc="30">
                <a:latin typeface="Times New Roman"/>
                <a:cs typeface="Times New Roman"/>
              </a:rPr>
              <a:t> </a:t>
            </a:r>
            <a:r>
              <a:rPr dirty="0" sz="1000" spc="-20">
                <a:latin typeface="Times New Roman"/>
                <a:cs typeface="Times New Roman"/>
              </a:rPr>
              <a:t>path </a:t>
            </a:r>
            <a:r>
              <a:rPr dirty="0" sz="1000">
                <a:latin typeface="Times New Roman"/>
                <a:cs typeface="Times New Roman"/>
              </a:rPr>
              <a:t>for</a:t>
            </a:r>
            <a:r>
              <a:rPr dirty="0" sz="1000" spc="204">
                <a:latin typeface="Times New Roman"/>
                <a:cs typeface="Times New Roman"/>
              </a:rPr>
              <a:t> </a:t>
            </a:r>
            <a:r>
              <a:rPr dirty="0" sz="1000">
                <a:latin typeface="Times New Roman"/>
                <a:cs typeface="Times New Roman"/>
              </a:rPr>
              <a:t>each</a:t>
            </a:r>
            <a:r>
              <a:rPr dirty="0" sz="1000" spc="204">
                <a:latin typeface="Times New Roman"/>
                <a:cs typeface="Times New Roman"/>
              </a:rPr>
              <a:t> </a:t>
            </a:r>
            <a:r>
              <a:rPr dirty="0" sz="1000">
                <a:latin typeface="Times New Roman"/>
                <a:cs typeface="Times New Roman"/>
              </a:rPr>
              <a:t>modality</a:t>
            </a:r>
            <a:r>
              <a:rPr dirty="0" sz="1000" spc="210">
                <a:latin typeface="Times New Roman"/>
                <a:cs typeface="Times New Roman"/>
              </a:rPr>
              <a:t> </a:t>
            </a:r>
            <a:r>
              <a:rPr dirty="0" sz="1000">
                <a:latin typeface="Times New Roman"/>
                <a:cs typeface="Times New Roman"/>
              </a:rPr>
              <a:t>encoder,</a:t>
            </a:r>
            <a:r>
              <a:rPr dirty="0" sz="1000" spc="229">
                <a:latin typeface="Times New Roman"/>
                <a:cs typeface="Times New Roman"/>
              </a:rPr>
              <a:t> </a:t>
            </a:r>
            <a:r>
              <a:rPr dirty="0" sz="1000">
                <a:latin typeface="Times New Roman"/>
                <a:cs typeface="Times New Roman"/>
              </a:rPr>
              <a:t>eliminating</a:t>
            </a:r>
            <a:r>
              <a:rPr dirty="0" sz="1000" spc="204">
                <a:latin typeface="Times New Roman"/>
                <a:cs typeface="Times New Roman"/>
              </a:rPr>
              <a:t> </a:t>
            </a:r>
            <a:r>
              <a:rPr dirty="0" sz="1000">
                <a:latin typeface="Times New Roman"/>
                <a:cs typeface="Times New Roman"/>
              </a:rPr>
              <a:t>inter-modality</a:t>
            </a:r>
            <a:r>
              <a:rPr dirty="0" sz="1000" spc="210">
                <a:latin typeface="Times New Roman"/>
                <a:cs typeface="Times New Roman"/>
              </a:rPr>
              <a:t> </a:t>
            </a:r>
            <a:r>
              <a:rPr dirty="0" sz="1000">
                <a:latin typeface="Times New Roman"/>
                <a:cs typeface="Times New Roman"/>
              </a:rPr>
              <a:t>interference</a:t>
            </a:r>
            <a:r>
              <a:rPr dirty="0" sz="1000" spc="204">
                <a:latin typeface="Times New Roman"/>
                <a:cs typeface="Times New Roman"/>
              </a:rPr>
              <a:t> </a:t>
            </a:r>
            <a:r>
              <a:rPr dirty="0" sz="1000">
                <a:latin typeface="Times New Roman"/>
                <a:cs typeface="Times New Roman"/>
              </a:rPr>
              <a:t>and</a:t>
            </a:r>
            <a:r>
              <a:rPr dirty="0" sz="1000" spc="204">
                <a:latin typeface="Times New Roman"/>
                <a:cs typeface="Times New Roman"/>
              </a:rPr>
              <a:t> </a:t>
            </a:r>
            <a:r>
              <a:rPr dirty="0" sz="1000">
                <a:latin typeface="Times New Roman"/>
                <a:cs typeface="Times New Roman"/>
              </a:rPr>
              <a:t>enabling</a:t>
            </a:r>
            <a:r>
              <a:rPr dirty="0" sz="1000" spc="210">
                <a:latin typeface="Times New Roman"/>
                <a:cs typeface="Times New Roman"/>
              </a:rPr>
              <a:t> </a:t>
            </a:r>
            <a:r>
              <a:rPr dirty="0" sz="1000">
                <a:latin typeface="Times New Roman"/>
                <a:cs typeface="Times New Roman"/>
              </a:rPr>
              <a:t>their</a:t>
            </a:r>
            <a:r>
              <a:rPr dirty="0" sz="1000" spc="215">
                <a:latin typeface="Times New Roman"/>
                <a:cs typeface="Times New Roman"/>
              </a:rPr>
              <a:t> </a:t>
            </a:r>
            <a:r>
              <a:rPr dirty="0" sz="1000">
                <a:latin typeface="Times New Roman"/>
                <a:cs typeface="Times New Roman"/>
              </a:rPr>
              <a:t>optimization.</a:t>
            </a:r>
            <a:r>
              <a:rPr dirty="0" sz="1000" spc="140">
                <a:latin typeface="Times New Roman"/>
                <a:cs typeface="Times New Roman"/>
              </a:rPr>
              <a:t>  </a:t>
            </a:r>
            <a:r>
              <a:rPr dirty="0" sz="1000" spc="-10">
                <a:latin typeface="Times New Roman"/>
                <a:cs typeface="Times New Roman"/>
              </a:rPr>
              <a:t>More- over,</a:t>
            </a:r>
            <a:r>
              <a:rPr dirty="0" sz="1000" spc="8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gradient</a:t>
            </a:r>
            <a:r>
              <a:rPr dirty="0" sz="1000" spc="80">
                <a:latin typeface="Times New Roman"/>
                <a:cs typeface="Times New Roman"/>
              </a:rPr>
              <a:t> </a:t>
            </a:r>
            <a:r>
              <a:rPr dirty="0" sz="1000">
                <a:latin typeface="Times New Roman"/>
                <a:cs typeface="Times New Roman"/>
              </a:rPr>
              <a:t>from</a:t>
            </a:r>
            <a:r>
              <a:rPr dirty="0" sz="1000" spc="8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unimodal</a:t>
            </a:r>
            <a:r>
              <a:rPr dirty="0" sz="1000" spc="75">
                <a:latin typeface="Times New Roman"/>
                <a:cs typeface="Times New Roman"/>
              </a:rPr>
              <a:t> </a:t>
            </a:r>
            <a:r>
              <a:rPr dirty="0" sz="1000">
                <a:latin typeface="Times New Roman"/>
                <a:cs typeface="Times New Roman"/>
              </a:rPr>
              <a:t>loss</a:t>
            </a:r>
            <a:r>
              <a:rPr dirty="0" sz="1000" spc="80">
                <a:latin typeface="Times New Roman"/>
                <a:cs typeface="Times New Roman"/>
              </a:rPr>
              <a:t> </a:t>
            </a:r>
            <a:r>
              <a:rPr dirty="0" sz="1000">
                <a:latin typeface="Times New Roman"/>
                <a:cs typeface="Times New Roman"/>
              </a:rPr>
              <a:t>propagating</a:t>
            </a:r>
            <a:r>
              <a:rPr dirty="0" sz="1000" spc="80">
                <a:latin typeface="Times New Roman"/>
                <a:cs typeface="Times New Roman"/>
              </a:rPr>
              <a:t> </a:t>
            </a:r>
            <a:r>
              <a:rPr dirty="0" sz="1000">
                <a:latin typeface="Times New Roman"/>
                <a:cs typeface="Times New Roman"/>
              </a:rPr>
              <a:t>to</a:t>
            </a:r>
            <a:r>
              <a:rPr dirty="0" sz="1000" spc="8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modality</a:t>
            </a:r>
            <a:r>
              <a:rPr dirty="0" sz="1000" spc="80">
                <a:latin typeface="Times New Roman"/>
                <a:cs typeface="Times New Roman"/>
              </a:rPr>
              <a:t> </a:t>
            </a:r>
            <a:r>
              <a:rPr dirty="0" sz="1000">
                <a:latin typeface="Times New Roman"/>
                <a:cs typeface="Times New Roman"/>
              </a:rPr>
              <a:t>fusion</a:t>
            </a:r>
            <a:r>
              <a:rPr dirty="0" sz="1000" spc="80">
                <a:latin typeface="Times New Roman"/>
                <a:cs typeface="Times New Roman"/>
              </a:rPr>
              <a:t> </a:t>
            </a:r>
            <a:r>
              <a:rPr dirty="0" sz="1000">
                <a:latin typeface="Times New Roman"/>
                <a:cs typeface="Times New Roman"/>
              </a:rPr>
              <a:t>modules</a:t>
            </a:r>
            <a:r>
              <a:rPr dirty="0" sz="1000" spc="85">
                <a:latin typeface="Times New Roman"/>
                <a:cs typeface="Times New Roman"/>
              </a:rPr>
              <a:t> </a:t>
            </a:r>
            <a:r>
              <a:rPr dirty="0" sz="1000">
                <a:latin typeface="Times New Roman"/>
                <a:cs typeface="Times New Roman"/>
              </a:rPr>
              <a:t>is</a:t>
            </a:r>
            <a:r>
              <a:rPr dirty="0" sz="1000" spc="80">
                <a:latin typeface="Times New Roman"/>
                <a:cs typeface="Times New Roman"/>
              </a:rPr>
              <a:t> </a:t>
            </a:r>
            <a:r>
              <a:rPr dirty="0" sz="1000">
                <a:latin typeface="Times New Roman"/>
                <a:cs typeface="Times New Roman"/>
              </a:rPr>
              <a:t>also</a:t>
            </a:r>
            <a:r>
              <a:rPr dirty="0" sz="1000" spc="90">
                <a:latin typeface="Times New Roman"/>
                <a:cs typeface="Times New Roman"/>
              </a:rPr>
              <a:t> </a:t>
            </a:r>
            <a:r>
              <a:rPr dirty="0" sz="1000">
                <a:latin typeface="Times New Roman"/>
                <a:cs typeface="Times New Roman"/>
              </a:rPr>
              <a:t>removed,</a:t>
            </a:r>
            <a:r>
              <a:rPr dirty="0" sz="1000" spc="85">
                <a:latin typeface="Times New Roman"/>
                <a:cs typeface="Times New Roman"/>
              </a:rPr>
              <a:t> </a:t>
            </a:r>
            <a:r>
              <a:rPr dirty="0" sz="1000" spc="-10">
                <a:latin typeface="Times New Roman"/>
                <a:cs typeface="Times New Roman"/>
              </a:rPr>
              <a:t>avoid- </a:t>
            </a:r>
            <a:r>
              <a:rPr dirty="0" sz="1000" spc="10">
                <a:latin typeface="Times New Roman"/>
                <a:cs typeface="Times New Roman"/>
              </a:rPr>
              <a:t>ing</a:t>
            </a:r>
            <a:r>
              <a:rPr dirty="0" sz="1000" spc="110">
                <a:latin typeface="Times New Roman"/>
                <a:cs typeface="Times New Roman"/>
              </a:rPr>
              <a:t> </a:t>
            </a:r>
            <a:r>
              <a:rPr dirty="0" sz="1000" spc="10">
                <a:latin typeface="Times New Roman"/>
                <a:cs typeface="Times New Roman"/>
              </a:rPr>
              <a:t>the</a:t>
            </a:r>
            <a:r>
              <a:rPr dirty="0" sz="1000" spc="114">
                <a:latin typeface="Times New Roman"/>
                <a:cs typeface="Times New Roman"/>
              </a:rPr>
              <a:t> </a:t>
            </a:r>
            <a:r>
              <a:rPr dirty="0" sz="1000" spc="10">
                <a:latin typeface="Times New Roman"/>
                <a:cs typeface="Times New Roman"/>
              </a:rPr>
              <a:t>gradient</a:t>
            </a:r>
            <a:r>
              <a:rPr dirty="0" sz="1000" spc="110">
                <a:latin typeface="Times New Roman"/>
                <a:cs typeface="Times New Roman"/>
              </a:rPr>
              <a:t> </a:t>
            </a:r>
            <a:r>
              <a:rPr dirty="0" sz="1000" spc="10">
                <a:latin typeface="Times New Roman"/>
                <a:cs typeface="Times New Roman"/>
              </a:rPr>
              <a:t>interference</a:t>
            </a:r>
            <a:r>
              <a:rPr dirty="0" sz="1000" spc="114">
                <a:latin typeface="Times New Roman"/>
                <a:cs typeface="Times New Roman"/>
              </a:rPr>
              <a:t> </a:t>
            </a:r>
            <a:r>
              <a:rPr dirty="0" sz="1000" spc="10">
                <a:latin typeface="Times New Roman"/>
                <a:cs typeface="Times New Roman"/>
              </a:rPr>
              <a:t>between</a:t>
            </a:r>
            <a:r>
              <a:rPr dirty="0" sz="1000" spc="110">
                <a:latin typeface="Times New Roman"/>
                <a:cs typeface="Times New Roman"/>
              </a:rPr>
              <a:t> </a:t>
            </a:r>
            <a:r>
              <a:rPr dirty="0" sz="1000" spc="10">
                <a:latin typeface="Times New Roman"/>
                <a:cs typeface="Times New Roman"/>
              </a:rPr>
              <a:t>the</a:t>
            </a:r>
            <a:r>
              <a:rPr dirty="0" sz="1000" spc="114">
                <a:latin typeface="Times New Roman"/>
                <a:cs typeface="Times New Roman"/>
              </a:rPr>
              <a:t> </a:t>
            </a:r>
            <a:r>
              <a:rPr dirty="0" sz="1000" spc="10">
                <a:latin typeface="Times New Roman"/>
                <a:cs typeface="Times New Roman"/>
              </a:rPr>
              <a:t>unimodal</a:t>
            </a:r>
            <a:r>
              <a:rPr dirty="0" sz="1000" spc="110">
                <a:latin typeface="Times New Roman"/>
                <a:cs typeface="Times New Roman"/>
              </a:rPr>
              <a:t> </a:t>
            </a:r>
            <a:r>
              <a:rPr dirty="0" sz="1000" spc="10">
                <a:latin typeface="Times New Roman"/>
                <a:cs typeface="Times New Roman"/>
              </a:rPr>
              <a:t>loss</a:t>
            </a:r>
            <a:r>
              <a:rPr dirty="0" sz="1000" spc="114">
                <a:latin typeface="Times New Roman"/>
                <a:cs typeface="Times New Roman"/>
              </a:rPr>
              <a:t> </a:t>
            </a:r>
            <a:r>
              <a:rPr dirty="0" sz="1000" spc="10">
                <a:latin typeface="Times New Roman"/>
                <a:cs typeface="Times New Roman"/>
              </a:rPr>
              <a:t>and</a:t>
            </a:r>
            <a:r>
              <a:rPr dirty="0" sz="1000" spc="110">
                <a:latin typeface="Times New Roman"/>
                <a:cs typeface="Times New Roman"/>
              </a:rPr>
              <a:t> </a:t>
            </a:r>
            <a:r>
              <a:rPr dirty="0" sz="1000" spc="10">
                <a:latin typeface="Times New Roman"/>
                <a:cs typeface="Times New Roman"/>
              </a:rPr>
              <a:t>the</a:t>
            </a:r>
            <a:r>
              <a:rPr dirty="0" sz="1000" spc="114">
                <a:latin typeface="Times New Roman"/>
                <a:cs typeface="Times New Roman"/>
              </a:rPr>
              <a:t> </a:t>
            </a:r>
            <a:r>
              <a:rPr dirty="0" sz="1000" spc="10">
                <a:latin typeface="Times New Roman"/>
                <a:cs typeface="Times New Roman"/>
              </a:rPr>
              <a:t>multimodal</a:t>
            </a:r>
            <a:r>
              <a:rPr dirty="0" sz="1000" spc="110">
                <a:latin typeface="Times New Roman"/>
                <a:cs typeface="Times New Roman"/>
              </a:rPr>
              <a:t> </a:t>
            </a:r>
            <a:r>
              <a:rPr dirty="0" sz="1000" spc="10">
                <a:latin typeface="Times New Roman"/>
                <a:cs typeface="Times New Roman"/>
              </a:rPr>
              <a:t>loss.</a:t>
            </a:r>
            <a:r>
              <a:rPr dirty="0" sz="1000" spc="340">
                <a:latin typeface="Times New Roman"/>
                <a:cs typeface="Times New Roman"/>
              </a:rPr>
              <a:t> </a:t>
            </a:r>
            <a:r>
              <a:rPr dirty="0" sz="1000" spc="10">
                <a:latin typeface="Times New Roman"/>
                <a:cs typeface="Times New Roman"/>
              </a:rPr>
              <a:t>This</a:t>
            </a:r>
            <a:r>
              <a:rPr dirty="0" sz="1000" spc="110">
                <a:latin typeface="Times New Roman"/>
                <a:cs typeface="Times New Roman"/>
              </a:rPr>
              <a:t> </a:t>
            </a:r>
            <a:r>
              <a:rPr dirty="0" sz="1000" spc="10">
                <a:latin typeface="Times New Roman"/>
                <a:cs typeface="Times New Roman"/>
              </a:rPr>
              <a:t>enables</a:t>
            </a:r>
            <a:r>
              <a:rPr dirty="0" sz="1000" spc="114">
                <a:latin typeface="Times New Roman"/>
                <a:cs typeface="Times New Roman"/>
              </a:rPr>
              <a:t> </a:t>
            </a:r>
            <a:r>
              <a:rPr dirty="0" sz="1000" spc="10">
                <a:latin typeface="Times New Roman"/>
                <a:cs typeface="Times New Roman"/>
              </a:rPr>
              <a:t>the</a:t>
            </a:r>
            <a:r>
              <a:rPr dirty="0" sz="1000" spc="110">
                <a:latin typeface="Times New Roman"/>
                <a:cs typeface="Times New Roman"/>
              </a:rPr>
              <a:t> </a:t>
            </a:r>
            <a:r>
              <a:rPr dirty="0" sz="1000" spc="-10">
                <a:latin typeface="Times New Roman"/>
                <a:cs typeface="Times New Roman"/>
              </a:rPr>
              <a:t>normal </a:t>
            </a:r>
            <a:r>
              <a:rPr dirty="0" sz="1000" spc="10">
                <a:latin typeface="Times New Roman"/>
                <a:cs typeface="Times New Roman"/>
              </a:rPr>
              <a:t>optimization</a:t>
            </a:r>
            <a:r>
              <a:rPr dirty="0" sz="1000" spc="50">
                <a:latin typeface="Times New Roman"/>
                <a:cs typeface="Times New Roman"/>
              </a:rPr>
              <a:t> </a:t>
            </a:r>
            <a:r>
              <a:rPr dirty="0" sz="1000" spc="10">
                <a:latin typeface="Times New Roman"/>
                <a:cs typeface="Times New Roman"/>
              </a:rPr>
              <a:t>of</a:t>
            </a:r>
            <a:r>
              <a:rPr dirty="0" sz="1000" spc="50">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spc="10">
                <a:latin typeface="Times New Roman"/>
                <a:cs typeface="Times New Roman"/>
              </a:rPr>
              <a:t>fusion</a:t>
            </a:r>
            <a:r>
              <a:rPr dirty="0" sz="1000" spc="50">
                <a:latin typeface="Times New Roman"/>
                <a:cs typeface="Times New Roman"/>
              </a:rPr>
              <a:t> </a:t>
            </a:r>
            <a:r>
              <a:rPr dirty="0" sz="1000" spc="10">
                <a:latin typeface="Times New Roman"/>
                <a:cs typeface="Times New Roman"/>
              </a:rPr>
              <a:t>module</a:t>
            </a:r>
            <a:r>
              <a:rPr dirty="0" sz="1000" spc="55">
                <a:latin typeface="Times New Roman"/>
                <a:cs typeface="Times New Roman"/>
              </a:rPr>
              <a:t> </a:t>
            </a:r>
            <a:r>
              <a:rPr dirty="0" sz="1000" spc="10">
                <a:latin typeface="Times New Roman"/>
                <a:cs typeface="Times New Roman"/>
              </a:rPr>
              <a:t>in</a:t>
            </a:r>
            <a:r>
              <a:rPr dirty="0" sz="1000" spc="50">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spc="10">
                <a:latin typeface="Times New Roman"/>
                <a:cs typeface="Times New Roman"/>
              </a:rPr>
              <a:t>multimodal</a:t>
            </a:r>
            <a:r>
              <a:rPr dirty="0" sz="1000" spc="50">
                <a:latin typeface="Times New Roman"/>
                <a:cs typeface="Times New Roman"/>
              </a:rPr>
              <a:t> </a:t>
            </a:r>
            <a:r>
              <a:rPr dirty="0" sz="1000" spc="10">
                <a:latin typeface="Times New Roman"/>
                <a:cs typeface="Times New Roman"/>
              </a:rPr>
              <a:t>model.</a:t>
            </a:r>
            <a:r>
              <a:rPr dirty="0" sz="1000" spc="170">
                <a:latin typeface="Times New Roman"/>
                <a:cs typeface="Times New Roman"/>
              </a:rPr>
              <a:t> </a:t>
            </a:r>
            <a:r>
              <a:rPr dirty="0" sz="1000">
                <a:latin typeface="Times New Roman"/>
                <a:cs typeface="Times New Roman"/>
              </a:rPr>
              <a:t>Notably,</a:t>
            </a:r>
            <a:r>
              <a:rPr dirty="0" sz="1000" spc="55">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a:latin typeface="Times New Roman"/>
                <a:cs typeface="Times New Roman"/>
              </a:rPr>
              <a:t>DGL</a:t>
            </a:r>
            <a:r>
              <a:rPr dirty="0" sz="1000" spc="50">
                <a:latin typeface="Times New Roman"/>
                <a:cs typeface="Times New Roman"/>
              </a:rPr>
              <a:t> </a:t>
            </a:r>
            <a:r>
              <a:rPr dirty="0" sz="1000" spc="10">
                <a:latin typeface="Times New Roman"/>
                <a:cs typeface="Times New Roman"/>
              </a:rPr>
              <a:t>relies</a:t>
            </a:r>
            <a:r>
              <a:rPr dirty="0" sz="1000" spc="50">
                <a:latin typeface="Times New Roman"/>
                <a:cs typeface="Times New Roman"/>
              </a:rPr>
              <a:t> </a:t>
            </a:r>
            <a:r>
              <a:rPr dirty="0" sz="1000" spc="10">
                <a:latin typeface="Times New Roman"/>
                <a:cs typeface="Times New Roman"/>
              </a:rPr>
              <a:t>solely</a:t>
            </a:r>
            <a:r>
              <a:rPr dirty="0" sz="1000" spc="50">
                <a:latin typeface="Times New Roman"/>
                <a:cs typeface="Times New Roman"/>
              </a:rPr>
              <a:t> </a:t>
            </a:r>
            <a:r>
              <a:rPr dirty="0" sz="1000" spc="10">
                <a:latin typeface="Times New Roman"/>
                <a:cs typeface="Times New Roman"/>
              </a:rPr>
              <a:t>on</a:t>
            </a:r>
            <a:r>
              <a:rPr dirty="0" sz="1000" spc="55">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spc="-10">
                <a:latin typeface="Times New Roman"/>
                <a:cs typeface="Times New Roman"/>
              </a:rPr>
              <a:t>represen- </a:t>
            </a:r>
            <a:r>
              <a:rPr dirty="0" sz="1000">
                <a:latin typeface="Times New Roman"/>
                <a:cs typeface="Times New Roman"/>
              </a:rPr>
              <a:t>tations</a:t>
            </a:r>
            <a:r>
              <a:rPr dirty="0" sz="1000" spc="155">
                <a:latin typeface="Times New Roman"/>
                <a:cs typeface="Times New Roman"/>
              </a:rPr>
              <a:t> </a:t>
            </a:r>
            <a:r>
              <a:rPr dirty="0" sz="1000">
                <a:latin typeface="Times New Roman"/>
                <a:cs typeface="Times New Roman"/>
              </a:rPr>
              <a:t>of</a:t>
            </a:r>
            <a:r>
              <a:rPr dirty="0" sz="1000" spc="160">
                <a:latin typeface="Times New Roman"/>
                <a:cs typeface="Times New Roman"/>
              </a:rPr>
              <a:t> </a:t>
            </a:r>
            <a:r>
              <a:rPr dirty="0" sz="1000">
                <a:latin typeface="Times New Roman"/>
                <a:cs typeface="Times New Roman"/>
              </a:rPr>
              <a:t>each</a:t>
            </a:r>
            <a:r>
              <a:rPr dirty="0" sz="1000" spc="160">
                <a:latin typeface="Times New Roman"/>
                <a:cs typeface="Times New Roman"/>
              </a:rPr>
              <a:t> </a:t>
            </a:r>
            <a:r>
              <a:rPr dirty="0" sz="1000">
                <a:latin typeface="Times New Roman"/>
                <a:cs typeface="Times New Roman"/>
              </a:rPr>
              <a:t>modality,</a:t>
            </a:r>
            <a:r>
              <a:rPr dirty="0" sz="1000" spc="180">
                <a:latin typeface="Times New Roman"/>
                <a:cs typeface="Times New Roman"/>
              </a:rPr>
              <a:t> </a:t>
            </a:r>
            <a:r>
              <a:rPr dirty="0" sz="1000">
                <a:latin typeface="Times New Roman"/>
                <a:cs typeface="Times New Roman"/>
              </a:rPr>
              <a:t>free</a:t>
            </a:r>
            <a:r>
              <a:rPr dirty="0" sz="1000" spc="160">
                <a:latin typeface="Times New Roman"/>
                <a:cs typeface="Times New Roman"/>
              </a:rPr>
              <a:t> </a:t>
            </a:r>
            <a:r>
              <a:rPr dirty="0" sz="1000">
                <a:latin typeface="Times New Roman"/>
                <a:cs typeface="Times New Roman"/>
              </a:rPr>
              <a:t>from</a:t>
            </a:r>
            <a:r>
              <a:rPr dirty="0" sz="1000" spc="160">
                <a:latin typeface="Times New Roman"/>
                <a:cs typeface="Times New Roman"/>
              </a:rPr>
              <a:t> </a:t>
            </a:r>
            <a:r>
              <a:rPr dirty="0" sz="1000">
                <a:latin typeface="Times New Roman"/>
                <a:cs typeface="Times New Roman"/>
              </a:rPr>
              <a:t>constraints</a:t>
            </a:r>
            <a:r>
              <a:rPr dirty="0" sz="1000" spc="160">
                <a:latin typeface="Times New Roman"/>
                <a:cs typeface="Times New Roman"/>
              </a:rPr>
              <a:t> </a:t>
            </a:r>
            <a:r>
              <a:rPr dirty="0" sz="1000">
                <a:latin typeface="Times New Roman"/>
                <a:cs typeface="Times New Roman"/>
              </a:rPr>
              <a:t>of</a:t>
            </a:r>
            <a:r>
              <a:rPr dirty="0" sz="1000" spc="155">
                <a:latin typeface="Times New Roman"/>
                <a:cs typeface="Times New Roman"/>
              </a:rPr>
              <a:t> </a:t>
            </a:r>
            <a:r>
              <a:rPr dirty="0" sz="1000">
                <a:latin typeface="Times New Roman"/>
                <a:cs typeface="Times New Roman"/>
              </a:rPr>
              <a:t>model</a:t>
            </a:r>
            <a:r>
              <a:rPr dirty="0" sz="1000" spc="160">
                <a:latin typeface="Times New Roman"/>
                <a:cs typeface="Times New Roman"/>
              </a:rPr>
              <a:t> </a:t>
            </a:r>
            <a:r>
              <a:rPr dirty="0" sz="1000">
                <a:latin typeface="Times New Roman"/>
                <a:cs typeface="Times New Roman"/>
              </a:rPr>
              <a:t>structures</a:t>
            </a:r>
            <a:r>
              <a:rPr dirty="0" sz="1000" spc="160">
                <a:latin typeface="Times New Roman"/>
                <a:cs typeface="Times New Roman"/>
              </a:rPr>
              <a:t> </a:t>
            </a:r>
            <a:r>
              <a:rPr dirty="0" sz="1000">
                <a:latin typeface="Times New Roman"/>
                <a:cs typeface="Times New Roman"/>
              </a:rPr>
              <a:t>and</a:t>
            </a:r>
            <a:r>
              <a:rPr dirty="0" sz="1000" spc="160">
                <a:latin typeface="Times New Roman"/>
                <a:cs typeface="Times New Roman"/>
              </a:rPr>
              <a:t> </a:t>
            </a:r>
            <a:r>
              <a:rPr dirty="0" sz="1000">
                <a:latin typeface="Times New Roman"/>
                <a:cs typeface="Times New Roman"/>
              </a:rPr>
              <a:t>fusion</a:t>
            </a:r>
            <a:r>
              <a:rPr dirty="0" sz="1000" spc="160">
                <a:latin typeface="Times New Roman"/>
                <a:cs typeface="Times New Roman"/>
              </a:rPr>
              <a:t> </a:t>
            </a:r>
            <a:r>
              <a:rPr dirty="0" sz="1000">
                <a:latin typeface="Times New Roman"/>
                <a:cs typeface="Times New Roman"/>
              </a:rPr>
              <a:t>methods,</a:t>
            </a:r>
            <a:r>
              <a:rPr dirty="0" sz="1000" spc="180">
                <a:latin typeface="Times New Roman"/>
                <a:cs typeface="Times New Roman"/>
              </a:rPr>
              <a:t> </a:t>
            </a:r>
            <a:r>
              <a:rPr dirty="0" sz="1000">
                <a:latin typeface="Times New Roman"/>
                <a:cs typeface="Times New Roman"/>
              </a:rPr>
              <a:t>making</a:t>
            </a:r>
            <a:r>
              <a:rPr dirty="0" sz="1000" spc="160">
                <a:latin typeface="Times New Roman"/>
                <a:cs typeface="Times New Roman"/>
              </a:rPr>
              <a:t> </a:t>
            </a:r>
            <a:r>
              <a:rPr dirty="0" sz="1000">
                <a:latin typeface="Times New Roman"/>
                <a:cs typeface="Times New Roman"/>
              </a:rPr>
              <a:t>it</a:t>
            </a:r>
            <a:r>
              <a:rPr dirty="0" sz="1000" spc="155">
                <a:latin typeface="Times New Roman"/>
                <a:cs typeface="Times New Roman"/>
              </a:rPr>
              <a:t> </a:t>
            </a:r>
            <a:r>
              <a:rPr dirty="0" sz="1000" spc="-10">
                <a:latin typeface="Times New Roman"/>
                <a:cs typeface="Times New Roman"/>
              </a:rPr>
              <a:t>versatile </a:t>
            </a:r>
            <a:r>
              <a:rPr dirty="0" sz="1000" spc="10">
                <a:latin typeface="Times New Roman"/>
                <a:cs typeface="Times New Roman"/>
              </a:rPr>
              <a:t>for</a:t>
            </a:r>
            <a:r>
              <a:rPr dirty="0" sz="1000" spc="-5">
                <a:latin typeface="Times New Roman"/>
                <a:cs typeface="Times New Roman"/>
              </a:rPr>
              <a:t> </a:t>
            </a:r>
            <a:r>
              <a:rPr dirty="0" sz="1000" spc="10">
                <a:latin typeface="Times New Roman"/>
                <a:cs typeface="Times New Roman"/>
              </a:rPr>
              <a:t>diverse</a:t>
            </a:r>
            <a:r>
              <a:rPr dirty="0" sz="1000">
                <a:latin typeface="Times New Roman"/>
                <a:cs typeface="Times New Roman"/>
              </a:rPr>
              <a:t> </a:t>
            </a:r>
            <a:r>
              <a:rPr dirty="0" sz="1000" spc="20">
                <a:latin typeface="Times New Roman"/>
                <a:cs typeface="Times New Roman"/>
              </a:rPr>
              <a:t>scenarios.</a:t>
            </a:r>
            <a:r>
              <a:rPr dirty="0" sz="1000" spc="85">
                <a:latin typeface="Times New Roman"/>
                <a:cs typeface="Times New Roman"/>
              </a:rPr>
              <a:t> </a:t>
            </a:r>
            <a:r>
              <a:rPr dirty="0" sz="1000" spc="20">
                <a:latin typeface="Times New Roman"/>
                <a:cs typeface="Times New Roman"/>
              </a:rPr>
              <a:t>In</a:t>
            </a:r>
            <a:r>
              <a:rPr dirty="0" sz="1000" spc="-5">
                <a:latin typeface="Times New Roman"/>
                <a:cs typeface="Times New Roman"/>
              </a:rPr>
              <a:t> </a:t>
            </a:r>
            <a:r>
              <a:rPr dirty="0" sz="1000" spc="20">
                <a:latin typeface="Times New Roman"/>
                <a:cs typeface="Times New Roman"/>
              </a:rPr>
              <a:t>summary,</a:t>
            </a:r>
            <a:r>
              <a:rPr dirty="0" sz="1000">
                <a:latin typeface="Times New Roman"/>
                <a:cs typeface="Times New Roman"/>
              </a:rPr>
              <a:t> </a:t>
            </a:r>
            <a:r>
              <a:rPr dirty="0" sz="1000" spc="20">
                <a:latin typeface="Times New Roman"/>
                <a:cs typeface="Times New Roman"/>
              </a:rPr>
              <a:t>our</a:t>
            </a:r>
            <a:r>
              <a:rPr dirty="0" sz="1000">
                <a:latin typeface="Times New Roman"/>
                <a:cs typeface="Times New Roman"/>
              </a:rPr>
              <a:t> </a:t>
            </a:r>
            <a:r>
              <a:rPr dirty="0" sz="1000" spc="20">
                <a:latin typeface="Times New Roman"/>
                <a:cs typeface="Times New Roman"/>
              </a:rPr>
              <a:t>contributions</a:t>
            </a:r>
            <a:r>
              <a:rPr dirty="0" sz="1000" spc="-5">
                <a:latin typeface="Times New Roman"/>
                <a:cs typeface="Times New Roman"/>
              </a:rPr>
              <a:t> </a:t>
            </a:r>
            <a:r>
              <a:rPr dirty="0" sz="1000" spc="20">
                <a:latin typeface="Times New Roman"/>
                <a:cs typeface="Times New Roman"/>
              </a:rPr>
              <a:t>are</a:t>
            </a:r>
            <a:r>
              <a:rPr dirty="0" sz="1000">
                <a:latin typeface="Times New Roman"/>
                <a:cs typeface="Times New Roman"/>
              </a:rPr>
              <a:t> </a:t>
            </a:r>
            <a:r>
              <a:rPr dirty="0" sz="1000" spc="20">
                <a:latin typeface="Times New Roman"/>
                <a:cs typeface="Times New Roman"/>
              </a:rPr>
              <a:t>as</a:t>
            </a:r>
            <a:r>
              <a:rPr dirty="0" sz="1000">
                <a:latin typeface="Times New Roman"/>
                <a:cs typeface="Times New Roman"/>
              </a:rPr>
              <a:t> </a:t>
            </a:r>
            <a:r>
              <a:rPr dirty="0" sz="1000" spc="-10">
                <a:latin typeface="Times New Roman"/>
                <a:cs typeface="Times New Roman"/>
              </a:rPr>
              <a:t>follows:</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spc="-25">
                <a:latin typeface="SimSun"/>
                <a:cs typeface="SimSun"/>
              </a:rPr>
              <a:t>为了解决这个问题，我们引入了解耦梯度学习 </a:t>
            </a:r>
            <a:r>
              <a:rPr dirty="0" sz="1000" spc="-10">
                <a:latin typeface="Times New Roman"/>
                <a:cs typeface="Times New Roman"/>
              </a:rPr>
              <a:t>(DGL)</a:t>
            </a:r>
            <a:r>
              <a:rPr dirty="0" sz="1000">
                <a:latin typeface="Times New Roman"/>
                <a:cs typeface="Times New Roman"/>
              </a:rPr>
              <a:t> </a:t>
            </a:r>
            <a:r>
              <a:rPr dirty="0" sz="1000" spc="-15">
                <a:latin typeface="SimSun"/>
                <a:cs typeface="SimSun"/>
              </a:rPr>
              <a:t>策略。具体来说，</a:t>
            </a:r>
            <a:r>
              <a:rPr dirty="0" sz="1000" spc="-15">
                <a:latin typeface="Times New Roman"/>
                <a:cs typeface="Times New Roman"/>
              </a:rPr>
              <a:t>DGL</a:t>
            </a:r>
            <a:r>
              <a:rPr dirty="0" sz="1000">
                <a:latin typeface="Times New Roman"/>
                <a:cs typeface="Times New Roman"/>
              </a:rPr>
              <a:t> </a:t>
            </a:r>
            <a:r>
              <a:rPr dirty="0" sz="1000" spc="-10">
                <a:latin typeface="SimSun"/>
                <a:cs typeface="SimSun"/>
              </a:rPr>
              <a:t>首先截断从模态融合</a:t>
            </a:r>
            <a:r>
              <a:rPr dirty="0" sz="1000" spc="-40">
                <a:latin typeface="SimSun"/>
                <a:cs typeface="SimSun"/>
              </a:rPr>
              <a:t>模块传播到模态编码器的梯度。这有助于避免梯度抑制问题。然后，</a:t>
            </a:r>
            <a:r>
              <a:rPr dirty="0" sz="1000" spc="-65">
                <a:latin typeface="Times New Roman"/>
                <a:cs typeface="Times New Roman"/>
              </a:rPr>
              <a:t>DGL</a:t>
            </a:r>
            <a:r>
              <a:rPr dirty="0" sz="1000" spc="-40">
                <a:latin typeface="Times New Roman"/>
                <a:cs typeface="Times New Roman"/>
              </a:rPr>
              <a:t> </a:t>
            </a:r>
            <a:r>
              <a:rPr dirty="0" sz="1000" spc="-10">
                <a:latin typeface="SimSun"/>
                <a:cs typeface="SimSun"/>
              </a:rPr>
              <a:t>通过无参数模态随机失活</a:t>
            </a:r>
            <a:r>
              <a:rPr dirty="0" sz="1000" spc="-25">
                <a:latin typeface="SimSun"/>
                <a:cs typeface="SimSun"/>
              </a:rPr>
              <a:t>技术为每个模态编码器引入独立的单模态损失。这为每个模态编码器提供了独立的梯度路径，消除</a:t>
            </a:r>
            <a:r>
              <a:rPr dirty="0" sz="1000" spc="-35">
                <a:latin typeface="SimSun"/>
                <a:cs typeface="SimSun"/>
              </a:rPr>
              <a:t>了模态间干扰并使其能够进行优化。此外，从单模态损失传播到模态融合模块的梯度也被去除，避</a:t>
            </a:r>
            <a:r>
              <a:rPr dirty="0" sz="1000" spc="-25">
                <a:latin typeface="SimSun"/>
                <a:cs typeface="SimSun"/>
              </a:rPr>
              <a:t>免了单模态损失和多模态损失之间的梯度干扰。这使得多模态模型中的融合模块能够正常优化。值</a:t>
            </a:r>
            <a:r>
              <a:rPr dirty="0" sz="1000" spc="-20">
                <a:latin typeface="SimSun"/>
                <a:cs typeface="SimSun"/>
              </a:rPr>
              <a:t>得注意的是，</a:t>
            </a:r>
            <a:r>
              <a:rPr dirty="0" sz="1000" spc="-60">
                <a:latin typeface="Times New Roman"/>
                <a:cs typeface="Times New Roman"/>
              </a:rPr>
              <a:t>DGL</a:t>
            </a:r>
            <a:r>
              <a:rPr dirty="0" sz="1000" spc="-40">
                <a:latin typeface="Times New Roman"/>
                <a:cs typeface="Times New Roman"/>
              </a:rPr>
              <a:t> </a:t>
            </a:r>
            <a:r>
              <a:rPr dirty="0" sz="1000" spc="-40">
                <a:latin typeface="SimSun"/>
                <a:cs typeface="SimSun"/>
              </a:rPr>
              <a:t>仅依赖于每个模态的表示，不受模型结构和融合方法的约束，使其在各种场景中</a:t>
            </a:r>
            <a:r>
              <a:rPr dirty="0" sz="1000" spc="-10">
                <a:latin typeface="SimSun"/>
                <a:cs typeface="SimSun"/>
              </a:rPr>
              <a:t>具有通用性。综上所述，我们的贡献如下</a:t>
            </a:r>
            <a:r>
              <a:rPr dirty="0" sz="1000" spc="-35">
                <a:latin typeface="Times New Roman"/>
                <a:cs typeface="Times New Roman"/>
              </a:rPr>
              <a:t>:</a:t>
            </a:r>
            <a:endParaRPr sz="1000">
              <a:latin typeface="Times New Roman"/>
              <a:cs typeface="Times New Roman"/>
            </a:endParaRPr>
          </a:p>
        </p:txBody>
      </p:sp>
      <p:sp>
        <p:nvSpPr>
          <p:cNvPr id="12" name="object 12"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931767" y="931687"/>
            <a:ext cx="5704392" cy="1667742"/>
          </a:xfrm>
          <a:prstGeom prst="rect">
            <a:avLst/>
          </a:prstGeom>
        </p:spPr>
      </p:pic>
      <p:grpSp>
        <p:nvGrpSpPr>
          <p:cNvPr id="3" name="object 3" descr=""/>
          <p:cNvGrpSpPr/>
          <p:nvPr/>
        </p:nvGrpSpPr>
        <p:grpSpPr>
          <a:xfrm>
            <a:off x="899998" y="3868765"/>
            <a:ext cx="5760085" cy="730250"/>
            <a:chOff x="899998" y="3868765"/>
            <a:chExt cx="5760085" cy="730250"/>
          </a:xfrm>
        </p:grpSpPr>
        <p:sp>
          <p:nvSpPr>
            <p:cNvPr id="4" name="object 4" descr=""/>
            <p:cNvSpPr/>
            <p:nvPr/>
          </p:nvSpPr>
          <p:spPr>
            <a:xfrm>
              <a:off x="899998" y="3868765"/>
              <a:ext cx="5760085" cy="730250"/>
            </a:xfrm>
            <a:custGeom>
              <a:avLst/>
              <a:gdLst/>
              <a:ahLst/>
              <a:cxnLst/>
              <a:rect l="l" t="t" r="r" b="b"/>
              <a:pathLst>
                <a:path w="5760084" h="730250">
                  <a:moveTo>
                    <a:pt x="5724074" y="0"/>
                  </a:moveTo>
                  <a:lnTo>
                    <a:pt x="36000" y="0"/>
                  </a:lnTo>
                  <a:lnTo>
                    <a:pt x="21987" y="2829"/>
                  </a:lnTo>
                  <a:lnTo>
                    <a:pt x="10544" y="10544"/>
                  </a:lnTo>
                  <a:lnTo>
                    <a:pt x="2829" y="21987"/>
                  </a:lnTo>
                  <a:lnTo>
                    <a:pt x="0" y="36000"/>
                  </a:lnTo>
                  <a:lnTo>
                    <a:pt x="0" y="694208"/>
                  </a:lnTo>
                  <a:lnTo>
                    <a:pt x="2829" y="708221"/>
                  </a:lnTo>
                  <a:lnTo>
                    <a:pt x="10544" y="719664"/>
                  </a:lnTo>
                  <a:lnTo>
                    <a:pt x="21987" y="727380"/>
                  </a:lnTo>
                  <a:lnTo>
                    <a:pt x="36000" y="730209"/>
                  </a:lnTo>
                  <a:lnTo>
                    <a:pt x="5724074" y="730209"/>
                  </a:lnTo>
                  <a:lnTo>
                    <a:pt x="5738087" y="727380"/>
                  </a:lnTo>
                  <a:lnTo>
                    <a:pt x="5749530" y="719664"/>
                  </a:lnTo>
                  <a:lnTo>
                    <a:pt x="5757245" y="708221"/>
                  </a:lnTo>
                  <a:lnTo>
                    <a:pt x="5760074" y="69420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5" name="object 5" descr=""/>
            <p:cNvSpPr/>
            <p:nvPr/>
          </p:nvSpPr>
          <p:spPr>
            <a:xfrm>
              <a:off x="899998" y="3868765"/>
              <a:ext cx="5760085" cy="730250"/>
            </a:xfrm>
            <a:custGeom>
              <a:avLst/>
              <a:gdLst/>
              <a:ahLst/>
              <a:cxnLst/>
              <a:rect l="l" t="t" r="r" b="b"/>
              <a:pathLst>
                <a:path w="5760084" h="730250">
                  <a:moveTo>
                    <a:pt x="5724074" y="0"/>
                  </a:moveTo>
                  <a:lnTo>
                    <a:pt x="36000" y="0"/>
                  </a:lnTo>
                  <a:lnTo>
                    <a:pt x="21987" y="2829"/>
                  </a:lnTo>
                  <a:lnTo>
                    <a:pt x="10544" y="10544"/>
                  </a:lnTo>
                  <a:lnTo>
                    <a:pt x="2829" y="21987"/>
                  </a:lnTo>
                  <a:lnTo>
                    <a:pt x="0" y="36000"/>
                  </a:lnTo>
                  <a:lnTo>
                    <a:pt x="0" y="694208"/>
                  </a:lnTo>
                  <a:lnTo>
                    <a:pt x="2829" y="708221"/>
                  </a:lnTo>
                  <a:lnTo>
                    <a:pt x="10544" y="719664"/>
                  </a:lnTo>
                  <a:lnTo>
                    <a:pt x="21987" y="727380"/>
                  </a:lnTo>
                  <a:lnTo>
                    <a:pt x="36000" y="730209"/>
                  </a:lnTo>
                  <a:lnTo>
                    <a:pt x="5724074" y="730209"/>
                  </a:lnTo>
                  <a:lnTo>
                    <a:pt x="5738087" y="727380"/>
                  </a:lnTo>
                  <a:lnTo>
                    <a:pt x="5749530" y="719664"/>
                  </a:lnTo>
                  <a:lnTo>
                    <a:pt x="5757245" y="708221"/>
                  </a:lnTo>
                  <a:lnTo>
                    <a:pt x="5760074" y="69420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6" name="object 6" descr=""/>
          <p:cNvGrpSpPr/>
          <p:nvPr/>
        </p:nvGrpSpPr>
        <p:grpSpPr>
          <a:xfrm>
            <a:off x="899998" y="5414337"/>
            <a:ext cx="5760085" cy="531495"/>
            <a:chOff x="899998" y="5414337"/>
            <a:chExt cx="5760085" cy="531495"/>
          </a:xfrm>
        </p:grpSpPr>
        <p:sp>
          <p:nvSpPr>
            <p:cNvPr id="7" name="object 7" descr=""/>
            <p:cNvSpPr/>
            <p:nvPr/>
          </p:nvSpPr>
          <p:spPr>
            <a:xfrm>
              <a:off x="899998" y="5414337"/>
              <a:ext cx="5760085" cy="531495"/>
            </a:xfrm>
            <a:custGeom>
              <a:avLst/>
              <a:gdLst/>
              <a:ahLst/>
              <a:cxnLst/>
              <a:rect l="l" t="t" r="r" b="b"/>
              <a:pathLst>
                <a:path w="5760084" h="531495">
                  <a:moveTo>
                    <a:pt x="5724074" y="0"/>
                  </a:moveTo>
                  <a:lnTo>
                    <a:pt x="36000" y="0"/>
                  </a:lnTo>
                  <a:lnTo>
                    <a:pt x="21987" y="2829"/>
                  </a:lnTo>
                  <a:lnTo>
                    <a:pt x="10544" y="10544"/>
                  </a:lnTo>
                  <a:lnTo>
                    <a:pt x="2829" y="21987"/>
                  </a:lnTo>
                  <a:lnTo>
                    <a:pt x="0" y="36000"/>
                  </a:lnTo>
                  <a:lnTo>
                    <a:pt x="0" y="495434"/>
                  </a:lnTo>
                  <a:lnTo>
                    <a:pt x="2829" y="509447"/>
                  </a:lnTo>
                  <a:lnTo>
                    <a:pt x="10544" y="520890"/>
                  </a:lnTo>
                  <a:lnTo>
                    <a:pt x="21987" y="528605"/>
                  </a:lnTo>
                  <a:lnTo>
                    <a:pt x="36000" y="531434"/>
                  </a:lnTo>
                  <a:lnTo>
                    <a:pt x="5724074" y="531434"/>
                  </a:lnTo>
                  <a:lnTo>
                    <a:pt x="5738087" y="528605"/>
                  </a:lnTo>
                  <a:lnTo>
                    <a:pt x="5749530" y="520890"/>
                  </a:lnTo>
                  <a:lnTo>
                    <a:pt x="5757245" y="509447"/>
                  </a:lnTo>
                  <a:lnTo>
                    <a:pt x="5760074" y="49543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8" name="object 8" descr=""/>
            <p:cNvSpPr/>
            <p:nvPr/>
          </p:nvSpPr>
          <p:spPr>
            <a:xfrm>
              <a:off x="899998" y="5414337"/>
              <a:ext cx="5760085" cy="531495"/>
            </a:xfrm>
            <a:custGeom>
              <a:avLst/>
              <a:gdLst/>
              <a:ahLst/>
              <a:cxnLst/>
              <a:rect l="l" t="t" r="r" b="b"/>
              <a:pathLst>
                <a:path w="5760084" h="531495">
                  <a:moveTo>
                    <a:pt x="5724074" y="0"/>
                  </a:moveTo>
                  <a:lnTo>
                    <a:pt x="36000" y="0"/>
                  </a:lnTo>
                  <a:lnTo>
                    <a:pt x="21987" y="2829"/>
                  </a:lnTo>
                  <a:lnTo>
                    <a:pt x="10544" y="10544"/>
                  </a:lnTo>
                  <a:lnTo>
                    <a:pt x="2829" y="21987"/>
                  </a:lnTo>
                  <a:lnTo>
                    <a:pt x="0" y="36000"/>
                  </a:lnTo>
                  <a:lnTo>
                    <a:pt x="0" y="495434"/>
                  </a:lnTo>
                  <a:lnTo>
                    <a:pt x="2829" y="509447"/>
                  </a:lnTo>
                  <a:lnTo>
                    <a:pt x="10544" y="520890"/>
                  </a:lnTo>
                  <a:lnTo>
                    <a:pt x="21987" y="528605"/>
                  </a:lnTo>
                  <a:lnTo>
                    <a:pt x="36000" y="531434"/>
                  </a:lnTo>
                  <a:lnTo>
                    <a:pt x="5724074" y="531434"/>
                  </a:lnTo>
                  <a:lnTo>
                    <a:pt x="5738087" y="528605"/>
                  </a:lnTo>
                  <a:lnTo>
                    <a:pt x="5749530" y="520890"/>
                  </a:lnTo>
                  <a:lnTo>
                    <a:pt x="5757245" y="509447"/>
                  </a:lnTo>
                  <a:lnTo>
                    <a:pt x="5760074" y="49543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9" name="object 9" descr=""/>
          <p:cNvGrpSpPr/>
          <p:nvPr/>
        </p:nvGrpSpPr>
        <p:grpSpPr>
          <a:xfrm>
            <a:off x="899998" y="6958507"/>
            <a:ext cx="5760085" cy="546100"/>
            <a:chOff x="899998" y="6958507"/>
            <a:chExt cx="5760085" cy="546100"/>
          </a:xfrm>
        </p:grpSpPr>
        <p:sp>
          <p:nvSpPr>
            <p:cNvPr id="10" name="object 10" descr=""/>
            <p:cNvSpPr/>
            <p:nvPr/>
          </p:nvSpPr>
          <p:spPr>
            <a:xfrm>
              <a:off x="899998" y="6958507"/>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1" name="object 11" descr=""/>
            <p:cNvSpPr/>
            <p:nvPr/>
          </p:nvSpPr>
          <p:spPr>
            <a:xfrm>
              <a:off x="899998" y="6958507"/>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2" name="object 12" descr=""/>
          <p:cNvGrpSpPr/>
          <p:nvPr/>
        </p:nvGrpSpPr>
        <p:grpSpPr>
          <a:xfrm>
            <a:off x="899998" y="8319730"/>
            <a:ext cx="5760085" cy="546100"/>
            <a:chOff x="899998" y="8319730"/>
            <a:chExt cx="5760085" cy="546100"/>
          </a:xfrm>
        </p:grpSpPr>
        <p:sp>
          <p:nvSpPr>
            <p:cNvPr id="13" name="object 13" descr=""/>
            <p:cNvSpPr/>
            <p:nvPr/>
          </p:nvSpPr>
          <p:spPr>
            <a:xfrm>
              <a:off x="899998" y="8319730"/>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605"/>
                  </a:lnTo>
                  <a:lnTo>
                    <a:pt x="2829" y="523618"/>
                  </a:lnTo>
                  <a:lnTo>
                    <a:pt x="10544" y="535061"/>
                  </a:lnTo>
                  <a:lnTo>
                    <a:pt x="21987" y="542776"/>
                  </a:lnTo>
                  <a:lnTo>
                    <a:pt x="36000" y="545605"/>
                  </a:lnTo>
                  <a:lnTo>
                    <a:pt x="5724074" y="545605"/>
                  </a:lnTo>
                  <a:lnTo>
                    <a:pt x="5738087" y="542776"/>
                  </a:lnTo>
                  <a:lnTo>
                    <a:pt x="5749530" y="535061"/>
                  </a:lnTo>
                  <a:lnTo>
                    <a:pt x="5757245" y="523618"/>
                  </a:lnTo>
                  <a:lnTo>
                    <a:pt x="5760074" y="50960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4" name="object 14" descr=""/>
            <p:cNvSpPr/>
            <p:nvPr/>
          </p:nvSpPr>
          <p:spPr>
            <a:xfrm>
              <a:off x="899998" y="8319730"/>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605"/>
                  </a:lnTo>
                  <a:lnTo>
                    <a:pt x="2829" y="523618"/>
                  </a:lnTo>
                  <a:lnTo>
                    <a:pt x="10544" y="535061"/>
                  </a:lnTo>
                  <a:lnTo>
                    <a:pt x="21987" y="542776"/>
                  </a:lnTo>
                  <a:lnTo>
                    <a:pt x="36000" y="545605"/>
                  </a:lnTo>
                  <a:lnTo>
                    <a:pt x="5724074" y="545605"/>
                  </a:lnTo>
                  <a:lnTo>
                    <a:pt x="5738087" y="542776"/>
                  </a:lnTo>
                  <a:lnTo>
                    <a:pt x="5749530" y="535061"/>
                  </a:lnTo>
                  <a:lnTo>
                    <a:pt x="5757245" y="523618"/>
                  </a:lnTo>
                  <a:lnTo>
                    <a:pt x="5760074" y="50960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5" name="object 15" descr=""/>
          <p:cNvGrpSpPr/>
          <p:nvPr/>
        </p:nvGrpSpPr>
        <p:grpSpPr>
          <a:xfrm>
            <a:off x="899998" y="9463944"/>
            <a:ext cx="5760085" cy="387350"/>
            <a:chOff x="899998" y="9463944"/>
            <a:chExt cx="5760085" cy="387350"/>
          </a:xfrm>
        </p:grpSpPr>
        <p:sp>
          <p:nvSpPr>
            <p:cNvPr id="16" name="object 16" descr=""/>
            <p:cNvSpPr/>
            <p:nvPr/>
          </p:nvSpPr>
          <p:spPr>
            <a:xfrm>
              <a:off x="899998" y="9463944"/>
              <a:ext cx="5760085" cy="387350"/>
            </a:xfrm>
            <a:custGeom>
              <a:avLst/>
              <a:gdLst/>
              <a:ahLst/>
              <a:cxnLst/>
              <a:rect l="l" t="t" r="r" b="b"/>
              <a:pathLst>
                <a:path w="5760084" h="387350">
                  <a:moveTo>
                    <a:pt x="5724074" y="0"/>
                  </a:moveTo>
                  <a:lnTo>
                    <a:pt x="36000" y="0"/>
                  </a:lnTo>
                  <a:lnTo>
                    <a:pt x="21987" y="2829"/>
                  </a:lnTo>
                  <a:lnTo>
                    <a:pt x="10544" y="10544"/>
                  </a:lnTo>
                  <a:lnTo>
                    <a:pt x="2829" y="21987"/>
                  </a:lnTo>
                  <a:lnTo>
                    <a:pt x="0" y="36000"/>
                  </a:lnTo>
                  <a:lnTo>
                    <a:pt x="0" y="351268"/>
                  </a:lnTo>
                  <a:lnTo>
                    <a:pt x="2829" y="365281"/>
                  </a:lnTo>
                  <a:lnTo>
                    <a:pt x="10544" y="376724"/>
                  </a:lnTo>
                  <a:lnTo>
                    <a:pt x="21987" y="384439"/>
                  </a:lnTo>
                  <a:lnTo>
                    <a:pt x="36000" y="387268"/>
                  </a:lnTo>
                  <a:lnTo>
                    <a:pt x="5724074" y="387268"/>
                  </a:lnTo>
                  <a:lnTo>
                    <a:pt x="5738087" y="384439"/>
                  </a:lnTo>
                  <a:lnTo>
                    <a:pt x="5749530" y="376724"/>
                  </a:lnTo>
                  <a:lnTo>
                    <a:pt x="5757245" y="365281"/>
                  </a:lnTo>
                  <a:lnTo>
                    <a:pt x="5760074" y="35126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7" name="object 17" descr=""/>
            <p:cNvSpPr/>
            <p:nvPr/>
          </p:nvSpPr>
          <p:spPr>
            <a:xfrm>
              <a:off x="899998" y="9463944"/>
              <a:ext cx="5760085" cy="387350"/>
            </a:xfrm>
            <a:custGeom>
              <a:avLst/>
              <a:gdLst/>
              <a:ahLst/>
              <a:cxnLst/>
              <a:rect l="l" t="t" r="r" b="b"/>
              <a:pathLst>
                <a:path w="5760084" h="387350">
                  <a:moveTo>
                    <a:pt x="5724074" y="0"/>
                  </a:moveTo>
                  <a:lnTo>
                    <a:pt x="36000" y="0"/>
                  </a:lnTo>
                  <a:lnTo>
                    <a:pt x="21987" y="2829"/>
                  </a:lnTo>
                  <a:lnTo>
                    <a:pt x="10544" y="10544"/>
                  </a:lnTo>
                  <a:lnTo>
                    <a:pt x="2829" y="21987"/>
                  </a:lnTo>
                  <a:lnTo>
                    <a:pt x="0" y="36000"/>
                  </a:lnTo>
                  <a:lnTo>
                    <a:pt x="0" y="351268"/>
                  </a:lnTo>
                  <a:lnTo>
                    <a:pt x="2829" y="365281"/>
                  </a:lnTo>
                  <a:lnTo>
                    <a:pt x="10544" y="376724"/>
                  </a:lnTo>
                  <a:lnTo>
                    <a:pt x="21987" y="384439"/>
                  </a:lnTo>
                  <a:lnTo>
                    <a:pt x="36000" y="387268"/>
                  </a:lnTo>
                  <a:lnTo>
                    <a:pt x="5724074" y="387268"/>
                  </a:lnTo>
                  <a:lnTo>
                    <a:pt x="5738087" y="384439"/>
                  </a:lnTo>
                  <a:lnTo>
                    <a:pt x="5749530" y="376724"/>
                  </a:lnTo>
                  <a:lnTo>
                    <a:pt x="5757245" y="365281"/>
                  </a:lnTo>
                  <a:lnTo>
                    <a:pt x="5760074" y="35126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8" name="object 18" descr=""/>
          <p:cNvSpPr txBox="1"/>
          <p:nvPr/>
        </p:nvSpPr>
        <p:spPr>
          <a:xfrm>
            <a:off x="887298" y="2933948"/>
            <a:ext cx="5921375" cy="6842125"/>
          </a:xfrm>
          <a:prstGeom prst="rect">
            <a:avLst/>
          </a:prstGeom>
        </p:spPr>
        <p:txBody>
          <a:bodyPr wrap="square" lIns="0" tIns="12700" rIns="0" bIns="0" rtlCol="0" vert="horz">
            <a:spAutoFit/>
          </a:bodyPr>
          <a:lstStyle/>
          <a:p>
            <a:pPr algn="just" marL="12700" marR="140335" indent="252729">
              <a:lnSpc>
                <a:spcPct val="129500"/>
              </a:lnSpc>
              <a:spcBef>
                <a:spcPts val="100"/>
              </a:spcBef>
            </a:pPr>
            <a:r>
              <a:rPr dirty="0" sz="1000">
                <a:latin typeface="Times New Roman"/>
                <a:cs typeface="Times New Roman"/>
              </a:rPr>
              <a:t>Figure</a:t>
            </a:r>
            <a:r>
              <a:rPr dirty="0" sz="1000" spc="190">
                <a:latin typeface="Times New Roman"/>
                <a:cs typeface="Times New Roman"/>
              </a:rPr>
              <a:t> </a:t>
            </a:r>
            <a:r>
              <a:rPr dirty="0" sz="1000">
                <a:latin typeface="Times New Roman"/>
                <a:cs typeface="Times New Roman"/>
              </a:rPr>
              <a:t>1.</a:t>
            </a:r>
            <a:r>
              <a:rPr dirty="0" sz="1000" spc="170">
                <a:latin typeface="Times New Roman"/>
                <a:cs typeface="Times New Roman"/>
              </a:rPr>
              <a:t>  </a:t>
            </a:r>
            <a:r>
              <a:rPr dirty="0" sz="1000">
                <a:latin typeface="Times New Roman"/>
                <a:cs typeface="Times New Roman"/>
              </a:rPr>
              <a:t>Visualization</a:t>
            </a:r>
            <a:r>
              <a:rPr dirty="0" sz="1000" spc="190">
                <a:latin typeface="Times New Roman"/>
                <a:cs typeface="Times New Roman"/>
              </a:rPr>
              <a:t> </a:t>
            </a:r>
            <a:r>
              <a:rPr dirty="0" sz="1000">
                <a:latin typeface="Times New Roman"/>
                <a:cs typeface="Times New Roman"/>
              </a:rPr>
              <a:t>on</a:t>
            </a:r>
            <a:r>
              <a:rPr dirty="0" sz="1000" spc="200">
                <a:latin typeface="Times New Roman"/>
                <a:cs typeface="Times New Roman"/>
              </a:rPr>
              <a:t> </a:t>
            </a:r>
            <a:r>
              <a:rPr dirty="0" sz="1000">
                <a:latin typeface="Times New Roman"/>
                <a:cs typeface="Times New Roman"/>
              </a:rPr>
              <a:t>the</a:t>
            </a:r>
            <a:r>
              <a:rPr dirty="0" sz="1000" spc="190">
                <a:latin typeface="Times New Roman"/>
                <a:cs typeface="Times New Roman"/>
              </a:rPr>
              <a:t> </a:t>
            </a:r>
            <a:r>
              <a:rPr dirty="0" sz="1000" spc="-10">
                <a:latin typeface="Times New Roman"/>
                <a:cs typeface="Times New Roman"/>
              </a:rPr>
              <a:t>CREMA-</a:t>
            </a:r>
            <a:r>
              <a:rPr dirty="0" sz="1000">
                <a:latin typeface="Times New Roman"/>
                <a:cs typeface="Times New Roman"/>
              </a:rPr>
              <a:t>D</a:t>
            </a:r>
            <a:r>
              <a:rPr dirty="0" sz="1000" spc="190">
                <a:latin typeface="Times New Roman"/>
                <a:cs typeface="Times New Roman"/>
              </a:rPr>
              <a:t> </a:t>
            </a:r>
            <a:r>
              <a:rPr dirty="0" sz="1000">
                <a:latin typeface="Times New Roman"/>
                <a:cs typeface="Times New Roman"/>
              </a:rPr>
              <a:t>dataset.</a:t>
            </a:r>
            <a:r>
              <a:rPr dirty="0" sz="1000" spc="170">
                <a:latin typeface="Times New Roman"/>
                <a:cs typeface="Times New Roman"/>
              </a:rPr>
              <a:t>  </a:t>
            </a:r>
            <a:r>
              <a:rPr dirty="0" sz="1000">
                <a:latin typeface="Times New Roman"/>
                <a:cs typeface="Times New Roman"/>
              </a:rPr>
              <a:t>(a)</a:t>
            </a:r>
            <a:r>
              <a:rPr dirty="0" sz="1000" spc="200">
                <a:latin typeface="Times New Roman"/>
                <a:cs typeface="Times New Roman"/>
              </a:rPr>
              <a:t> </a:t>
            </a:r>
            <a:r>
              <a:rPr dirty="0" sz="1000">
                <a:latin typeface="Times New Roman"/>
                <a:cs typeface="Times New Roman"/>
              </a:rPr>
              <a:t>illustrates</a:t>
            </a:r>
            <a:r>
              <a:rPr dirty="0" sz="1000" spc="190">
                <a:latin typeface="Times New Roman"/>
                <a:cs typeface="Times New Roman"/>
              </a:rPr>
              <a:t> </a:t>
            </a:r>
            <a:r>
              <a:rPr dirty="0" sz="1000">
                <a:latin typeface="Times New Roman"/>
                <a:cs typeface="Times New Roman"/>
              </a:rPr>
              <a:t>the</a:t>
            </a:r>
            <a:r>
              <a:rPr dirty="0" sz="1000" spc="195">
                <a:latin typeface="Times New Roman"/>
                <a:cs typeface="Times New Roman"/>
              </a:rPr>
              <a:t> </a:t>
            </a:r>
            <a:r>
              <a:rPr dirty="0" sz="1000">
                <a:latin typeface="Times New Roman"/>
                <a:cs typeface="Times New Roman"/>
              </a:rPr>
              <a:t>performance</a:t>
            </a:r>
            <a:r>
              <a:rPr dirty="0" sz="1000" spc="195">
                <a:latin typeface="Times New Roman"/>
                <a:cs typeface="Times New Roman"/>
              </a:rPr>
              <a:t> </a:t>
            </a:r>
            <a:r>
              <a:rPr dirty="0" sz="1000">
                <a:latin typeface="Times New Roman"/>
                <a:cs typeface="Times New Roman"/>
              </a:rPr>
              <a:t>of</a:t>
            </a:r>
            <a:r>
              <a:rPr dirty="0" sz="1000" spc="195">
                <a:latin typeface="Times New Roman"/>
                <a:cs typeface="Times New Roman"/>
              </a:rPr>
              <a:t> </a:t>
            </a:r>
            <a:r>
              <a:rPr dirty="0" sz="1000">
                <a:latin typeface="Times New Roman"/>
                <a:cs typeface="Times New Roman"/>
              </a:rPr>
              <a:t>each</a:t>
            </a:r>
            <a:r>
              <a:rPr dirty="0" sz="1000" spc="190">
                <a:latin typeface="Times New Roman"/>
                <a:cs typeface="Times New Roman"/>
              </a:rPr>
              <a:t> </a:t>
            </a:r>
            <a:r>
              <a:rPr dirty="0" sz="1000" spc="-10">
                <a:latin typeface="Times New Roman"/>
                <a:cs typeface="Times New Roman"/>
              </a:rPr>
              <a:t>unimodal </a:t>
            </a:r>
            <a:r>
              <a:rPr dirty="0" sz="1000" spc="10">
                <a:latin typeface="Times New Roman"/>
                <a:cs typeface="Times New Roman"/>
              </a:rPr>
              <a:t>branch</a:t>
            </a:r>
            <a:r>
              <a:rPr dirty="0" sz="1000" spc="120">
                <a:latin typeface="Times New Roman"/>
                <a:cs typeface="Times New Roman"/>
              </a:rPr>
              <a:t> </a:t>
            </a:r>
            <a:r>
              <a:rPr dirty="0" sz="1000" spc="10">
                <a:latin typeface="Times New Roman"/>
                <a:cs typeface="Times New Roman"/>
              </a:rPr>
              <a:t>and</a:t>
            </a:r>
            <a:r>
              <a:rPr dirty="0" sz="1000" spc="125">
                <a:latin typeface="Times New Roman"/>
                <a:cs typeface="Times New Roman"/>
              </a:rPr>
              <a:t> </a:t>
            </a:r>
            <a:r>
              <a:rPr dirty="0" sz="1000" spc="10">
                <a:latin typeface="Times New Roman"/>
                <a:cs typeface="Times New Roman"/>
              </a:rPr>
              <a:t>their</a:t>
            </a:r>
            <a:r>
              <a:rPr dirty="0" sz="1000" spc="125">
                <a:latin typeface="Times New Roman"/>
                <a:cs typeface="Times New Roman"/>
              </a:rPr>
              <a:t> </a:t>
            </a:r>
            <a:r>
              <a:rPr dirty="0" sz="1000" spc="10">
                <a:latin typeface="Times New Roman"/>
                <a:cs typeface="Times New Roman"/>
              </a:rPr>
              <a:t>fusion</a:t>
            </a:r>
            <a:r>
              <a:rPr dirty="0" sz="1000" spc="120">
                <a:latin typeface="Times New Roman"/>
                <a:cs typeface="Times New Roman"/>
              </a:rPr>
              <a:t> </a:t>
            </a:r>
            <a:r>
              <a:rPr dirty="0" sz="1000" spc="10">
                <a:latin typeface="Times New Roman"/>
                <a:cs typeface="Times New Roman"/>
              </a:rPr>
              <a:t>in</a:t>
            </a:r>
            <a:r>
              <a:rPr dirty="0" sz="1000" spc="125">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multimodal</a:t>
            </a:r>
            <a:r>
              <a:rPr dirty="0" sz="1000" spc="125">
                <a:latin typeface="Times New Roman"/>
                <a:cs typeface="Times New Roman"/>
              </a:rPr>
              <a:t> </a:t>
            </a:r>
            <a:r>
              <a:rPr dirty="0" sz="1000" spc="10">
                <a:latin typeface="Times New Roman"/>
                <a:cs typeface="Times New Roman"/>
              </a:rPr>
              <a:t>model.</a:t>
            </a:r>
            <a:r>
              <a:rPr dirty="0" sz="1000" spc="380">
                <a:latin typeface="Times New Roman"/>
                <a:cs typeface="Times New Roman"/>
              </a:rPr>
              <a:t> </a:t>
            </a:r>
            <a:r>
              <a:rPr dirty="0" sz="1000" spc="10">
                <a:latin typeface="Times New Roman"/>
                <a:cs typeface="Times New Roman"/>
              </a:rPr>
              <a:t>(b)</a:t>
            </a:r>
            <a:r>
              <a:rPr dirty="0" sz="1000" spc="125">
                <a:latin typeface="Times New Roman"/>
                <a:cs typeface="Times New Roman"/>
              </a:rPr>
              <a:t> </a:t>
            </a:r>
            <a:r>
              <a:rPr dirty="0" sz="1000" spc="10">
                <a:latin typeface="Times New Roman"/>
                <a:cs typeface="Times New Roman"/>
              </a:rPr>
              <a:t>illustrates</a:t>
            </a:r>
            <a:r>
              <a:rPr dirty="0" sz="1000" spc="120">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performance</a:t>
            </a:r>
            <a:r>
              <a:rPr dirty="0" sz="1000" spc="125">
                <a:latin typeface="Times New Roman"/>
                <a:cs typeface="Times New Roman"/>
              </a:rPr>
              <a:t> </a:t>
            </a:r>
            <a:r>
              <a:rPr dirty="0" sz="1000" spc="10">
                <a:latin typeface="Times New Roman"/>
                <a:cs typeface="Times New Roman"/>
              </a:rPr>
              <a:t>of</a:t>
            </a:r>
            <a:r>
              <a:rPr dirty="0" sz="1000" spc="125">
                <a:latin typeface="Times New Roman"/>
                <a:cs typeface="Times New Roman"/>
              </a:rPr>
              <a:t> </a:t>
            </a:r>
            <a:r>
              <a:rPr dirty="0" sz="1000" spc="10">
                <a:latin typeface="Times New Roman"/>
                <a:cs typeface="Times New Roman"/>
              </a:rPr>
              <a:t>audio</a:t>
            </a:r>
            <a:r>
              <a:rPr dirty="0" sz="1000" spc="120">
                <a:latin typeface="Times New Roman"/>
                <a:cs typeface="Times New Roman"/>
              </a:rPr>
              <a:t> </a:t>
            </a:r>
            <a:r>
              <a:rPr dirty="0" sz="1000" spc="10">
                <a:latin typeface="Times New Roman"/>
                <a:cs typeface="Times New Roman"/>
              </a:rPr>
              <a:t>modality</a:t>
            </a:r>
            <a:r>
              <a:rPr dirty="0" sz="1000" spc="125">
                <a:latin typeface="Times New Roman"/>
                <a:cs typeface="Times New Roman"/>
              </a:rPr>
              <a:t> </a:t>
            </a:r>
            <a:r>
              <a:rPr dirty="0" sz="1000" spc="10">
                <a:latin typeface="Times New Roman"/>
                <a:cs typeface="Times New Roman"/>
              </a:rPr>
              <a:t>in</a:t>
            </a:r>
            <a:r>
              <a:rPr dirty="0" sz="1000" spc="125">
                <a:latin typeface="Times New Roman"/>
                <a:cs typeface="Times New Roman"/>
              </a:rPr>
              <a:t> </a:t>
            </a:r>
            <a:r>
              <a:rPr dirty="0" sz="1000" spc="-25">
                <a:latin typeface="Times New Roman"/>
                <a:cs typeface="Times New Roman"/>
              </a:rPr>
              <a:t>the </a:t>
            </a:r>
            <a:r>
              <a:rPr dirty="0" sz="1000">
                <a:latin typeface="Times New Roman"/>
                <a:cs typeface="Times New Roman"/>
              </a:rPr>
              <a:t>unimodal</a:t>
            </a:r>
            <a:r>
              <a:rPr dirty="0" sz="1000" spc="75">
                <a:latin typeface="Times New Roman"/>
                <a:cs typeface="Times New Roman"/>
              </a:rPr>
              <a:t> </a:t>
            </a:r>
            <a:r>
              <a:rPr dirty="0" sz="1000">
                <a:latin typeface="Times New Roman"/>
                <a:cs typeface="Times New Roman"/>
              </a:rPr>
              <a:t>and</a:t>
            </a:r>
            <a:r>
              <a:rPr dirty="0" sz="1000" spc="80">
                <a:latin typeface="Times New Roman"/>
                <a:cs typeface="Times New Roman"/>
              </a:rPr>
              <a:t> </a:t>
            </a:r>
            <a:r>
              <a:rPr dirty="0" sz="1000">
                <a:latin typeface="Times New Roman"/>
                <a:cs typeface="Times New Roman"/>
              </a:rPr>
              <a:t>multimodal</a:t>
            </a:r>
            <a:r>
              <a:rPr dirty="0" sz="1000" spc="80">
                <a:latin typeface="Times New Roman"/>
                <a:cs typeface="Times New Roman"/>
              </a:rPr>
              <a:t> </a:t>
            </a:r>
            <a:r>
              <a:rPr dirty="0" sz="1000">
                <a:latin typeface="Times New Roman"/>
                <a:cs typeface="Times New Roman"/>
              </a:rPr>
              <a:t>models,</a:t>
            </a:r>
            <a:r>
              <a:rPr dirty="0" sz="1000" spc="95">
                <a:latin typeface="Times New Roman"/>
                <a:cs typeface="Times New Roman"/>
              </a:rPr>
              <a:t> </a:t>
            </a:r>
            <a:r>
              <a:rPr dirty="0" sz="1000">
                <a:latin typeface="Times New Roman"/>
                <a:cs typeface="Times New Roman"/>
              </a:rPr>
              <a:t>respectively.</a:t>
            </a:r>
            <a:r>
              <a:rPr dirty="0" sz="1000" spc="280">
                <a:latin typeface="Times New Roman"/>
                <a:cs typeface="Times New Roman"/>
              </a:rPr>
              <a:t> </a:t>
            </a:r>
            <a:r>
              <a:rPr dirty="0" sz="1000" spc="-10">
                <a:latin typeface="Times New Roman"/>
                <a:cs typeface="Times New Roman"/>
              </a:rPr>
              <a:t>(c)</a:t>
            </a:r>
            <a:r>
              <a:rPr dirty="0" sz="1000" spc="75">
                <a:latin typeface="Times New Roman"/>
                <a:cs typeface="Times New Roman"/>
              </a:rPr>
              <a:t> </a:t>
            </a:r>
            <a:r>
              <a:rPr dirty="0" sz="1000">
                <a:latin typeface="Times New Roman"/>
                <a:cs typeface="Times New Roman"/>
              </a:rPr>
              <a:t>illustrates</a:t>
            </a:r>
            <a:r>
              <a:rPr dirty="0" sz="1000" spc="80">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gradient</a:t>
            </a:r>
            <a:r>
              <a:rPr dirty="0" sz="1000" spc="75">
                <a:latin typeface="Times New Roman"/>
                <a:cs typeface="Times New Roman"/>
              </a:rPr>
              <a:t> </a:t>
            </a:r>
            <a:r>
              <a:rPr dirty="0" sz="1000" spc="-35">
                <a:latin typeface="Times New Roman"/>
                <a:cs typeface="Times New Roman"/>
              </a:rPr>
              <a:t>of</a:t>
            </a:r>
            <a:r>
              <a:rPr dirty="0" sz="1000" spc="80">
                <a:latin typeface="Times New Roman"/>
                <a:cs typeface="Times New Roman"/>
              </a:rPr>
              <a:t> </a:t>
            </a:r>
            <a:r>
              <a:rPr dirty="0" sz="1000">
                <a:latin typeface="Times New Roman"/>
                <a:cs typeface="Times New Roman"/>
              </a:rPr>
              <a:t>audio</a:t>
            </a:r>
            <a:r>
              <a:rPr dirty="0" sz="1000" spc="80">
                <a:latin typeface="Times New Roman"/>
                <a:cs typeface="Times New Roman"/>
              </a:rPr>
              <a:t> </a:t>
            </a:r>
            <a:r>
              <a:rPr dirty="0" sz="1000">
                <a:latin typeface="Times New Roman"/>
                <a:cs typeface="Times New Roman"/>
              </a:rPr>
              <a:t>modality</a:t>
            </a:r>
            <a:r>
              <a:rPr dirty="0" sz="1000" spc="75">
                <a:latin typeface="Times New Roman"/>
                <a:cs typeface="Times New Roman"/>
              </a:rPr>
              <a:t> </a:t>
            </a:r>
            <a:r>
              <a:rPr dirty="0" sz="1000">
                <a:latin typeface="Times New Roman"/>
                <a:cs typeface="Times New Roman"/>
              </a:rPr>
              <a:t>back-</a:t>
            </a:r>
            <a:r>
              <a:rPr dirty="0" sz="1000" spc="-10">
                <a:latin typeface="Times New Roman"/>
                <a:cs typeface="Times New Roman"/>
              </a:rPr>
              <a:t>propagated </a:t>
            </a:r>
            <a:r>
              <a:rPr dirty="0" sz="1000" spc="10">
                <a:latin typeface="Times New Roman"/>
                <a:cs typeface="Times New Roman"/>
              </a:rPr>
              <a:t>the</a:t>
            </a:r>
            <a:r>
              <a:rPr dirty="0" sz="1000" spc="114">
                <a:latin typeface="Times New Roman"/>
                <a:cs typeface="Times New Roman"/>
              </a:rPr>
              <a:t> </a:t>
            </a:r>
            <a:r>
              <a:rPr dirty="0" sz="1000" spc="10">
                <a:latin typeface="Times New Roman"/>
                <a:cs typeface="Times New Roman"/>
              </a:rPr>
              <a:t>unimodal</a:t>
            </a:r>
            <a:r>
              <a:rPr dirty="0" sz="1000" spc="120">
                <a:latin typeface="Times New Roman"/>
                <a:cs typeface="Times New Roman"/>
              </a:rPr>
              <a:t> </a:t>
            </a:r>
            <a:r>
              <a:rPr dirty="0" sz="1000" spc="10">
                <a:latin typeface="Times New Roman"/>
                <a:cs typeface="Times New Roman"/>
              </a:rPr>
              <a:t>and</a:t>
            </a:r>
            <a:r>
              <a:rPr dirty="0" sz="1000" spc="120">
                <a:latin typeface="Times New Roman"/>
                <a:cs typeface="Times New Roman"/>
              </a:rPr>
              <a:t> </a:t>
            </a:r>
            <a:r>
              <a:rPr dirty="0" sz="1000" spc="10">
                <a:latin typeface="Times New Roman"/>
                <a:cs typeface="Times New Roman"/>
              </a:rPr>
              <a:t>multimodal</a:t>
            </a:r>
            <a:r>
              <a:rPr dirty="0" sz="1000" spc="114">
                <a:latin typeface="Times New Roman"/>
                <a:cs typeface="Times New Roman"/>
              </a:rPr>
              <a:t> </a:t>
            </a:r>
            <a:r>
              <a:rPr dirty="0" sz="1000" spc="10">
                <a:latin typeface="Times New Roman"/>
                <a:cs typeface="Times New Roman"/>
              </a:rPr>
              <a:t>models,</a:t>
            </a:r>
            <a:r>
              <a:rPr dirty="0" sz="1000" spc="120">
                <a:latin typeface="Times New Roman"/>
                <a:cs typeface="Times New Roman"/>
              </a:rPr>
              <a:t> </a:t>
            </a:r>
            <a:r>
              <a:rPr dirty="0" sz="1000" spc="-10">
                <a:latin typeface="Times New Roman"/>
                <a:cs typeface="Times New Roman"/>
              </a:rPr>
              <a:t>respectively.</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320675">
              <a:lnSpc>
                <a:spcPct val="129500"/>
              </a:lnSpc>
            </a:pPr>
            <a:r>
              <a:rPr dirty="0" sz="1000" spc="-145">
                <a:latin typeface="SimSun"/>
                <a:cs typeface="SimSun"/>
              </a:rPr>
              <a:t>图 </a:t>
            </a:r>
            <a:r>
              <a:rPr dirty="0" sz="1000" spc="-10">
                <a:latin typeface="Times New Roman"/>
                <a:cs typeface="Times New Roman"/>
              </a:rPr>
              <a:t>1.</a:t>
            </a:r>
            <a:r>
              <a:rPr dirty="0" sz="1000" spc="60">
                <a:latin typeface="Times New Roman"/>
                <a:cs typeface="Times New Roman"/>
              </a:rPr>
              <a:t> </a:t>
            </a:r>
            <a:r>
              <a:rPr dirty="0" sz="1000" spc="-5">
                <a:latin typeface="Times New Roman"/>
                <a:cs typeface="Times New Roman"/>
              </a:rPr>
              <a:t>CREMA-</a:t>
            </a:r>
            <a:r>
              <a:rPr dirty="0" sz="1000" spc="-25">
                <a:latin typeface="Times New Roman"/>
                <a:cs typeface="Times New Roman"/>
              </a:rPr>
              <a:t>D</a:t>
            </a:r>
            <a:r>
              <a:rPr dirty="0" sz="1000" spc="-20">
                <a:latin typeface="Times New Roman"/>
                <a:cs typeface="Times New Roman"/>
              </a:rPr>
              <a:t> </a:t>
            </a:r>
            <a:r>
              <a:rPr dirty="0" sz="1000" spc="-15">
                <a:latin typeface="SimSun"/>
                <a:cs typeface="SimSun"/>
              </a:rPr>
              <a:t>数据集上的可视化。</a:t>
            </a:r>
            <a:r>
              <a:rPr dirty="0" sz="1000" spc="10">
                <a:latin typeface="Times New Roman"/>
                <a:cs typeface="Times New Roman"/>
              </a:rPr>
              <a:t>(a)</a:t>
            </a:r>
            <a:r>
              <a:rPr dirty="0" sz="1000" spc="-20">
                <a:latin typeface="Times New Roman"/>
                <a:cs typeface="Times New Roman"/>
              </a:rPr>
              <a:t> </a:t>
            </a:r>
            <a:r>
              <a:rPr dirty="0" sz="1000" spc="-15">
                <a:latin typeface="SimSun"/>
                <a:cs typeface="SimSun"/>
              </a:rPr>
              <a:t>展示了多模态模型中每个单模态分支及其融合的性能。</a:t>
            </a:r>
            <a:r>
              <a:rPr dirty="0" sz="1000" spc="5">
                <a:latin typeface="Times New Roman"/>
                <a:cs typeface="Times New Roman"/>
              </a:rPr>
              <a:t>(b)</a:t>
            </a:r>
            <a:r>
              <a:rPr dirty="0" sz="1000" spc="-10">
                <a:latin typeface="SimSun"/>
                <a:cs typeface="SimSun"/>
              </a:rPr>
              <a:t>分别展示了单模态和多模态模型中音频模态的性能。</a:t>
            </a:r>
            <a:r>
              <a:rPr dirty="0" sz="1000">
                <a:latin typeface="Times New Roman"/>
                <a:cs typeface="Times New Roman"/>
              </a:rPr>
              <a:t>(c)</a:t>
            </a:r>
            <a:r>
              <a:rPr dirty="0" sz="1000" spc="5">
                <a:latin typeface="Times New Roman"/>
                <a:cs typeface="Times New Roman"/>
              </a:rPr>
              <a:t> </a:t>
            </a:r>
            <a:r>
              <a:rPr dirty="0" sz="1000" spc="-10">
                <a:latin typeface="SimSun"/>
                <a:cs typeface="SimSun"/>
              </a:rPr>
              <a:t>分别展示了音频模态在单模态和多模态模型中反向传播的梯度。</a:t>
            </a:r>
            <a:endParaRPr sz="1000">
              <a:latin typeface="SimSun"/>
              <a:cs typeface="SimSun"/>
            </a:endParaRPr>
          </a:p>
          <a:p>
            <a:pPr>
              <a:lnSpc>
                <a:spcPct val="100000"/>
              </a:lnSpc>
              <a:spcBef>
                <a:spcPts val="175"/>
              </a:spcBef>
            </a:pPr>
            <a:endParaRPr sz="1000">
              <a:latin typeface="SimSun"/>
              <a:cs typeface="SimSun"/>
            </a:endParaRPr>
          </a:p>
          <a:p>
            <a:pPr marL="328930" marR="5080" indent="-121285">
              <a:lnSpc>
                <a:spcPct val="129500"/>
              </a:lnSpc>
              <a:spcBef>
                <a:spcPts val="5"/>
              </a:spcBef>
              <a:buChar char="•"/>
              <a:tabLst>
                <a:tab pos="328930" algn="l"/>
              </a:tabLst>
            </a:pPr>
            <a:r>
              <a:rPr dirty="0" sz="1000" spc="-45">
                <a:latin typeface="Times New Roman"/>
                <a:cs typeface="Times New Roman"/>
              </a:rPr>
              <a:t>We</a:t>
            </a:r>
            <a:r>
              <a:rPr dirty="0" sz="1000" spc="65">
                <a:latin typeface="Times New Roman"/>
                <a:cs typeface="Times New Roman"/>
              </a:rPr>
              <a:t> </a:t>
            </a:r>
            <a:r>
              <a:rPr dirty="0" sz="1000">
                <a:latin typeface="Times New Roman"/>
                <a:cs typeface="Times New Roman"/>
              </a:rPr>
              <a:t>reveal</a:t>
            </a:r>
            <a:r>
              <a:rPr dirty="0" sz="1000" spc="65">
                <a:latin typeface="Times New Roman"/>
                <a:cs typeface="Times New Roman"/>
              </a:rPr>
              <a:t> </a:t>
            </a:r>
            <a:r>
              <a:rPr dirty="0" sz="1000">
                <a:latin typeface="Times New Roman"/>
                <a:cs typeface="Times New Roman"/>
              </a:rPr>
              <a:t>that</a:t>
            </a:r>
            <a:r>
              <a:rPr dirty="0" sz="1000" spc="65">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cross-modal</a:t>
            </a:r>
            <a:r>
              <a:rPr dirty="0" sz="1000" spc="65">
                <a:latin typeface="Times New Roman"/>
                <a:cs typeface="Times New Roman"/>
              </a:rPr>
              <a:t> </a:t>
            </a:r>
            <a:r>
              <a:rPr dirty="0" sz="1000">
                <a:latin typeface="Times New Roman"/>
                <a:cs typeface="Times New Roman"/>
              </a:rPr>
              <a:t>interaction</a:t>
            </a:r>
            <a:r>
              <a:rPr dirty="0" sz="1000" spc="65">
                <a:latin typeface="Times New Roman"/>
                <a:cs typeface="Times New Roman"/>
              </a:rPr>
              <a:t> </a:t>
            </a:r>
            <a:r>
              <a:rPr dirty="0" sz="1000">
                <a:latin typeface="Times New Roman"/>
                <a:cs typeface="Times New Roman"/>
              </a:rPr>
              <a:t>in</a:t>
            </a:r>
            <a:r>
              <a:rPr dirty="0" sz="1000" spc="65">
                <a:latin typeface="Times New Roman"/>
                <a:cs typeface="Times New Roman"/>
              </a:rPr>
              <a:t> </a:t>
            </a:r>
            <a:r>
              <a:rPr dirty="0" sz="1000">
                <a:latin typeface="Times New Roman"/>
                <a:cs typeface="Times New Roman"/>
              </a:rPr>
              <a:t>multimodal</a:t>
            </a:r>
            <a:r>
              <a:rPr dirty="0" sz="1000" spc="65">
                <a:latin typeface="Times New Roman"/>
                <a:cs typeface="Times New Roman"/>
              </a:rPr>
              <a:t> </a:t>
            </a:r>
            <a:r>
              <a:rPr dirty="0" sz="1000">
                <a:latin typeface="Times New Roman"/>
                <a:cs typeface="Times New Roman"/>
              </a:rPr>
              <a:t>learning</a:t>
            </a:r>
            <a:r>
              <a:rPr dirty="0" sz="1000" spc="65">
                <a:latin typeface="Times New Roman"/>
                <a:cs typeface="Times New Roman"/>
              </a:rPr>
              <a:t> </a:t>
            </a:r>
            <a:r>
              <a:rPr dirty="0" sz="1000">
                <a:latin typeface="Times New Roman"/>
                <a:cs typeface="Times New Roman"/>
              </a:rPr>
              <a:t>decreases</a:t>
            </a:r>
            <a:r>
              <a:rPr dirty="0" sz="1000" spc="55">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gradient</a:t>
            </a:r>
            <a:r>
              <a:rPr dirty="0" sz="1000" spc="65">
                <a:latin typeface="Times New Roman"/>
                <a:cs typeface="Times New Roman"/>
              </a:rPr>
              <a:t> </a:t>
            </a:r>
            <a:r>
              <a:rPr dirty="0" sz="1000">
                <a:latin typeface="Times New Roman"/>
                <a:cs typeface="Times New Roman"/>
              </a:rPr>
              <a:t>back-</a:t>
            </a:r>
            <a:r>
              <a:rPr dirty="0" sz="1000" spc="-10">
                <a:latin typeface="Times New Roman"/>
                <a:cs typeface="Times New Roman"/>
              </a:rPr>
              <a:t>propagating </a:t>
            </a:r>
            <a:r>
              <a:rPr dirty="0" sz="1000" spc="10">
                <a:latin typeface="Times New Roman"/>
                <a:cs typeface="Times New Roman"/>
              </a:rPr>
              <a:t>to</a:t>
            </a:r>
            <a:r>
              <a:rPr dirty="0" sz="1000" spc="-20">
                <a:latin typeface="Times New Roman"/>
                <a:cs typeface="Times New Roman"/>
              </a:rPr>
              <a:t> </a:t>
            </a:r>
            <a:r>
              <a:rPr dirty="0" sz="1000" spc="10">
                <a:latin typeface="Times New Roman"/>
                <a:cs typeface="Times New Roman"/>
              </a:rPr>
              <a:t>each</a:t>
            </a:r>
            <a:r>
              <a:rPr dirty="0" sz="1000" spc="-15">
                <a:latin typeface="Times New Roman"/>
                <a:cs typeface="Times New Roman"/>
              </a:rPr>
              <a:t> </a:t>
            </a:r>
            <a:r>
              <a:rPr dirty="0" sz="1000" spc="10">
                <a:latin typeface="Times New Roman"/>
                <a:cs typeface="Times New Roman"/>
              </a:rPr>
              <a:t>modality</a:t>
            </a:r>
            <a:r>
              <a:rPr dirty="0" sz="1000" spc="-15">
                <a:latin typeface="Times New Roman"/>
                <a:cs typeface="Times New Roman"/>
              </a:rPr>
              <a:t> </a:t>
            </a:r>
            <a:r>
              <a:rPr dirty="0" sz="1000" spc="10">
                <a:latin typeface="Times New Roman"/>
                <a:cs typeface="Times New Roman"/>
              </a:rPr>
              <a:t>encoder,</a:t>
            </a:r>
            <a:r>
              <a:rPr dirty="0" sz="1000">
                <a:latin typeface="Times New Roman"/>
                <a:cs typeface="Times New Roman"/>
              </a:rPr>
              <a:t> </a:t>
            </a:r>
            <a:r>
              <a:rPr dirty="0" sz="1000" spc="10">
                <a:latin typeface="Times New Roman"/>
                <a:cs typeface="Times New Roman"/>
              </a:rPr>
              <a:t>leading</a:t>
            </a:r>
            <a:r>
              <a:rPr dirty="0" sz="1000" spc="-15">
                <a:latin typeface="Times New Roman"/>
                <a:cs typeface="Times New Roman"/>
              </a:rPr>
              <a:t> </a:t>
            </a:r>
            <a:r>
              <a:rPr dirty="0" sz="1000" spc="10">
                <a:latin typeface="Times New Roman"/>
                <a:cs typeface="Times New Roman"/>
              </a:rPr>
              <a:t>to</a:t>
            </a:r>
            <a:r>
              <a:rPr dirty="0" sz="1000" spc="-15">
                <a:latin typeface="Times New Roman"/>
                <a:cs typeface="Times New Roman"/>
              </a:rPr>
              <a:t> </a:t>
            </a:r>
            <a:r>
              <a:rPr dirty="0" sz="1000" spc="10">
                <a:latin typeface="Times New Roman"/>
                <a:cs typeface="Times New Roman"/>
              </a:rPr>
              <a:t>their</a:t>
            </a:r>
            <a:r>
              <a:rPr dirty="0" sz="1000" spc="-20">
                <a:latin typeface="Times New Roman"/>
                <a:cs typeface="Times New Roman"/>
              </a:rPr>
              <a:t> </a:t>
            </a:r>
            <a:r>
              <a:rPr dirty="0" sz="1000" spc="10">
                <a:latin typeface="Times New Roman"/>
                <a:cs typeface="Times New Roman"/>
              </a:rPr>
              <a:t>inferior</a:t>
            </a:r>
            <a:r>
              <a:rPr dirty="0" sz="1000" spc="-15">
                <a:latin typeface="Times New Roman"/>
                <a:cs typeface="Times New Roman"/>
              </a:rPr>
              <a:t> </a:t>
            </a:r>
            <a:r>
              <a:rPr dirty="0" sz="1000" spc="10">
                <a:latin typeface="Times New Roman"/>
                <a:cs typeface="Times New Roman"/>
              </a:rPr>
              <a:t>learning.</a:t>
            </a:r>
            <a:r>
              <a:rPr dirty="0" sz="1000" spc="140">
                <a:latin typeface="Times New Roman"/>
                <a:cs typeface="Times New Roman"/>
              </a:rPr>
              <a:t> </a:t>
            </a:r>
            <a:r>
              <a:rPr dirty="0" sz="1000" spc="10">
                <a:latin typeface="Times New Roman"/>
                <a:cs typeface="Times New Roman"/>
              </a:rPr>
              <a:t>This</a:t>
            </a:r>
            <a:r>
              <a:rPr dirty="0" sz="1000" spc="-15">
                <a:latin typeface="Times New Roman"/>
                <a:cs typeface="Times New Roman"/>
              </a:rPr>
              <a:t> </a:t>
            </a:r>
            <a:r>
              <a:rPr dirty="0" sz="1000" spc="10">
                <a:latin typeface="Times New Roman"/>
                <a:cs typeface="Times New Roman"/>
              </a:rPr>
              <a:t>helps</a:t>
            </a:r>
            <a:r>
              <a:rPr dirty="0" sz="1000" spc="-15">
                <a:latin typeface="Times New Roman"/>
                <a:cs typeface="Times New Roman"/>
              </a:rPr>
              <a:t> </a:t>
            </a:r>
            <a:r>
              <a:rPr dirty="0" sz="1000" spc="10">
                <a:latin typeface="Times New Roman"/>
                <a:cs typeface="Times New Roman"/>
              </a:rPr>
              <a:t>explain</a:t>
            </a:r>
            <a:r>
              <a:rPr dirty="0" sz="1000" spc="-25">
                <a:latin typeface="Times New Roman"/>
                <a:cs typeface="Times New Roman"/>
              </a:rPr>
              <a:t> </a:t>
            </a:r>
            <a:r>
              <a:rPr dirty="0" sz="1000" spc="10">
                <a:latin typeface="Times New Roman"/>
                <a:cs typeface="Times New Roman"/>
              </a:rPr>
              <a:t>the</a:t>
            </a:r>
            <a:r>
              <a:rPr dirty="0" sz="1000" spc="-15">
                <a:latin typeface="Times New Roman"/>
                <a:cs typeface="Times New Roman"/>
              </a:rPr>
              <a:t> </a:t>
            </a:r>
            <a:r>
              <a:rPr dirty="0" sz="1000" spc="10">
                <a:latin typeface="Times New Roman"/>
                <a:cs typeface="Times New Roman"/>
              </a:rPr>
              <a:t>insufficient</a:t>
            </a:r>
            <a:r>
              <a:rPr dirty="0" sz="1000" spc="-15">
                <a:latin typeface="Times New Roman"/>
                <a:cs typeface="Times New Roman"/>
              </a:rPr>
              <a:t> </a:t>
            </a:r>
            <a:r>
              <a:rPr dirty="0" sz="1000" spc="-10">
                <a:latin typeface="Times New Roman"/>
                <a:cs typeface="Times New Roman"/>
              </a:rPr>
              <a:t>optimiza- </a:t>
            </a:r>
            <a:r>
              <a:rPr dirty="0" sz="1000">
                <a:latin typeface="Times New Roman"/>
                <a:cs typeface="Times New Roman"/>
              </a:rPr>
              <a:t>tion</a:t>
            </a:r>
            <a:r>
              <a:rPr dirty="0" sz="1000" spc="170">
                <a:latin typeface="Times New Roman"/>
                <a:cs typeface="Times New Roman"/>
              </a:rPr>
              <a:t> </a:t>
            </a:r>
            <a:r>
              <a:rPr dirty="0" sz="1000">
                <a:latin typeface="Times New Roman"/>
                <a:cs typeface="Times New Roman"/>
              </a:rPr>
              <a:t>phenomenon</a:t>
            </a:r>
            <a:r>
              <a:rPr dirty="0" sz="1000" spc="170">
                <a:latin typeface="Times New Roman"/>
                <a:cs typeface="Times New Roman"/>
              </a:rPr>
              <a:t> </a:t>
            </a:r>
            <a:r>
              <a:rPr dirty="0" sz="1000">
                <a:latin typeface="Times New Roman"/>
                <a:cs typeface="Times New Roman"/>
              </a:rPr>
              <a:t>of</a:t>
            </a:r>
            <a:r>
              <a:rPr dirty="0" sz="1000" spc="175">
                <a:latin typeface="Times New Roman"/>
                <a:cs typeface="Times New Roman"/>
              </a:rPr>
              <a:t> </a:t>
            </a:r>
            <a:r>
              <a:rPr dirty="0" sz="1000">
                <a:latin typeface="Times New Roman"/>
                <a:cs typeface="Times New Roman"/>
              </a:rPr>
              <a:t>the</a:t>
            </a:r>
            <a:r>
              <a:rPr dirty="0" sz="1000" spc="170">
                <a:latin typeface="Times New Roman"/>
                <a:cs typeface="Times New Roman"/>
              </a:rPr>
              <a:t> </a:t>
            </a:r>
            <a:r>
              <a:rPr dirty="0" sz="1000">
                <a:latin typeface="Times New Roman"/>
                <a:cs typeface="Times New Roman"/>
              </a:rPr>
              <a:t>dominant</a:t>
            </a:r>
            <a:r>
              <a:rPr dirty="0" sz="1000" spc="175">
                <a:latin typeface="Times New Roman"/>
                <a:cs typeface="Times New Roman"/>
              </a:rPr>
              <a:t> </a:t>
            </a:r>
            <a:r>
              <a:rPr dirty="0" sz="1000">
                <a:latin typeface="Times New Roman"/>
                <a:cs typeface="Times New Roman"/>
              </a:rPr>
              <a:t>modality</a:t>
            </a:r>
            <a:r>
              <a:rPr dirty="0" sz="1000" spc="170">
                <a:latin typeface="Times New Roman"/>
                <a:cs typeface="Times New Roman"/>
              </a:rPr>
              <a:t> </a:t>
            </a:r>
            <a:r>
              <a:rPr dirty="0" sz="1000">
                <a:latin typeface="Times New Roman"/>
                <a:cs typeface="Times New Roman"/>
              </a:rPr>
              <a:t>in</a:t>
            </a:r>
            <a:r>
              <a:rPr dirty="0" sz="1000" spc="175">
                <a:latin typeface="Times New Roman"/>
                <a:cs typeface="Times New Roman"/>
              </a:rPr>
              <a:t> </a:t>
            </a:r>
            <a:r>
              <a:rPr dirty="0" sz="1000">
                <a:latin typeface="Times New Roman"/>
                <a:cs typeface="Times New Roman"/>
              </a:rPr>
              <a:t>multimodal</a:t>
            </a:r>
            <a:r>
              <a:rPr dirty="0" sz="1000" spc="170">
                <a:latin typeface="Times New Roman"/>
                <a:cs typeface="Times New Roman"/>
              </a:rPr>
              <a:t> </a:t>
            </a:r>
            <a:r>
              <a:rPr dirty="0" sz="1000" spc="-10">
                <a:latin typeface="Times New Roman"/>
                <a:cs typeface="Times New Roman"/>
              </a:rPr>
              <a:t>learning.</a:t>
            </a:r>
            <a:endParaRPr sz="1000">
              <a:latin typeface="Times New Roman"/>
              <a:cs typeface="Times New Roman"/>
            </a:endParaRPr>
          </a:p>
          <a:p>
            <a:pPr>
              <a:lnSpc>
                <a:spcPct val="100000"/>
              </a:lnSpc>
              <a:spcBef>
                <a:spcPts val="235"/>
              </a:spcBef>
              <a:buFont typeface="Times New Roman"/>
              <a:buChar char="•"/>
            </a:pPr>
            <a:endParaRPr sz="1000">
              <a:latin typeface="Times New Roman"/>
              <a:cs typeface="Times New Roman"/>
            </a:endParaRPr>
          </a:p>
          <a:p>
            <a:pPr lvl="1" marL="508634" marR="320675" indent="-121285">
              <a:lnSpc>
                <a:spcPct val="129500"/>
              </a:lnSpc>
              <a:buFont typeface="Times New Roman"/>
              <a:buChar char="•"/>
              <a:tabLst>
                <a:tab pos="508634" algn="l"/>
              </a:tabLst>
            </a:pPr>
            <a:r>
              <a:rPr dirty="0" sz="1000" spc="-15">
                <a:latin typeface="SimSun"/>
                <a:cs typeface="SimSun"/>
              </a:rPr>
              <a:t>我们发现多模态学习中的跨模态交互会减少反向传播到每个模态编码器的梯度，导致其学习效果不佳。这有助于解释多模态学习中主导模态优化不足的现象。</a:t>
            </a:r>
            <a:endParaRPr sz="1000">
              <a:latin typeface="SimSun"/>
              <a:cs typeface="SimSun"/>
            </a:endParaRPr>
          </a:p>
          <a:p>
            <a:pPr lvl="1">
              <a:lnSpc>
                <a:spcPct val="100000"/>
              </a:lnSpc>
              <a:spcBef>
                <a:spcPts val="165"/>
              </a:spcBef>
              <a:buFont typeface="Times New Roman"/>
              <a:buChar char="•"/>
            </a:pPr>
            <a:endParaRPr sz="1000">
              <a:latin typeface="SimSun"/>
              <a:cs typeface="SimSun"/>
            </a:endParaRPr>
          </a:p>
          <a:p>
            <a:pPr algn="just" marL="328930" marR="140335" indent="-121285">
              <a:lnSpc>
                <a:spcPct val="129500"/>
              </a:lnSpc>
              <a:buChar char="•"/>
              <a:tabLst>
                <a:tab pos="328930" algn="l"/>
              </a:tabLst>
            </a:pPr>
            <a:r>
              <a:rPr dirty="0" sz="1000" spc="-60">
                <a:latin typeface="Times New Roman"/>
                <a:cs typeface="Times New Roman"/>
              </a:rPr>
              <a:t>We</a:t>
            </a:r>
            <a:r>
              <a:rPr dirty="0" sz="1000" spc="90">
                <a:latin typeface="Times New Roman"/>
                <a:cs typeface="Times New Roman"/>
              </a:rPr>
              <a:t> </a:t>
            </a:r>
            <a:r>
              <a:rPr dirty="0" sz="1000">
                <a:latin typeface="Times New Roman"/>
                <a:cs typeface="Times New Roman"/>
              </a:rPr>
              <a:t>introduce</a:t>
            </a:r>
            <a:r>
              <a:rPr dirty="0" sz="1000" spc="90">
                <a:latin typeface="Times New Roman"/>
                <a:cs typeface="Times New Roman"/>
              </a:rPr>
              <a:t> </a:t>
            </a:r>
            <a:r>
              <a:rPr dirty="0" sz="1000" spc="-20">
                <a:latin typeface="Times New Roman"/>
                <a:cs typeface="Times New Roman"/>
              </a:rPr>
              <a:t>DGL</a:t>
            </a:r>
            <a:r>
              <a:rPr dirty="0" sz="1000" spc="90">
                <a:latin typeface="Times New Roman"/>
                <a:cs typeface="Times New Roman"/>
              </a:rPr>
              <a:t> </a:t>
            </a:r>
            <a:r>
              <a:rPr dirty="0" sz="1000">
                <a:latin typeface="Times New Roman"/>
                <a:cs typeface="Times New Roman"/>
              </a:rPr>
              <a:t>to</a:t>
            </a:r>
            <a:r>
              <a:rPr dirty="0" sz="1000" spc="90">
                <a:latin typeface="Times New Roman"/>
                <a:cs typeface="Times New Roman"/>
              </a:rPr>
              <a:t> </a:t>
            </a:r>
            <a:r>
              <a:rPr dirty="0" sz="1000">
                <a:latin typeface="Times New Roman"/>
                <a:cs typeface="Times New Roman"/>
              </a:rPr>
              <a:t>truncate</a:t>
            </a:r>
            <a:r>
              <a:rPr dirty="0" sz="1000" spc="9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gradient</a:t>
            </a:r>
            <a:r>
              <a:rPr dirty="0" sz="1000" spc="90">
                <a:latin typeface="Times New Roman"/>
                <a:cs typeface="Times New Roman"/>
              </a:rPr>
              <a:t> </a:t>
            </a:r>
            <a:r>
              <a:rPr dirty="0" sz="1000">
                <a:latin typeface="Times New Roman"/>
                <a:cs typeface="Times New Roman"/>
              </a:rPr>
              <a:t>from</a:t>
            </a:r>
            <a:r>
              <a:rPr dirty="0" sz="1000" spc="9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modality</a:t>
            </a:r>
            <a:r>
              <a:rPr dirty="0" sz="1000" spc="90">
                <a:latin typeface="Times New Roman"/>
                <a:cs typeface="Times New Roman"/>
              </a:rPr>
              <a:t> </a:t>
            </a:r>
            <a:r>
              <a:rPr dirty="0" sz="1000">
                <a:latin typeface="Times New Roman"/>
                <a:cs typeface="Times New Roman"/>
              </a:rPr>
              <a:t>fusion</a:t>
            </a:r>
            <a:r>
              <a:rPr dirty="0" sz="1000" spc="90">
                <a:latin typeface="Times New Roman"/>
                <a:cs typeface="Times New Roman"/>
              </a:rPr>
              <a:t> </a:t>
            </a:r>
            <a:r>
              <a:rPr dirty="0" sz="1000">
                <a:latin typeface="Times New Roman"/>
                <a:cs typeface="Times New Roman"/>
              </a:rPr>
              <a:t>module</a:t>
            </a:r>
            <a:r>
              <a:rPr dirty="0" sz="1000" spc="95">
                <a:latin typeface="Times New Roman"/>
                <a:cs typeface="Times New Roman"/>
              </a:rPr>
              <a:t> </a:t>
            </a:r>
            <a:r>
              <a:rPr dirty="0" sz="1000">
                <a:latin typeface="Times New Roman"/>
                <a:cs typeface="Times New Roman"/>
              </a:rPr>
              <a:t>propagating</a:t>
            </a:r>
            <a:r>
              <a:rPr dirty="0" sz="1000" spc="90">
                <a:latin typeface="Times New Roman"/>
                <a:cs typeface="Times New Roman"/>
              </a:rPr>
              <a:t> </a:t>
            </a:r>
            <a:r>
              <a:rPr dirty="0" sz="1000">
                <a:latin typeface="Times New Roman"/>
                <a:cs typeface="Times New Roman"/>
              </a:rPr>
              <a:t>to</a:t>
            </a:r>
            <a:r>
              <a:rPr dirty="0" sz="1000" spc="9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spc="-10">
                <a:latin typeface="Times New Roman"/>
                <a:cs typeface="Times New Roman"/>
              </a:rPr>
              <a:t>modal- </a:t>
            </a:r>
            <a:r>
              <a:rPr dirty="0" sz="1000" spc="20">
                <a:latin typeface="Times New Roman"/>
                <a:cs typeface="Times New Roman"/>
              </a:rPr>
              <a:t>ity encoder and replace</a:t>
            </a:r>
            <a:r>
              <a:rPr dirty="0" sz="1000" spc="25">
                <a:latin typeface="Times New Roman"/>
                <a:cs typeface="Times New Roman"/>
              </a:rPr>
              <a:t> </a:t>
            </a:r>
            <a:r>
              <a:rPr dirty="0" sz="1000" spc="20">
                <a:latin typeface="Times New Roman"/>
                <a:cs typeface="Times New Roman"/>
              </a:rPr>
              <a:t>it with the gradient</a:t>
            </a:r>
            <a:r>
              <a:rPr dirty="0" sz="1000" spc="25">
                <a:latin typeface="Times New Roman"/>
                <a:cs typeface="Times New Roman"/>
              </a:rPr>
              <a:t> </a:t>
            </a:r>
            <a:r>
              <a:rPr dirty="0" sz="1000" spc="20">
                <a:latin typeface="Times New Roman"/>
                <a:cs typeface="Times New Roman"/>
              </a:rPr>
              <a:t>from independent unimodal loss.</a:t>
            </a:r>
            <a:r>
              <a:rPr dirty="0" sz="1000" spc="125">
                <a:latin typeface="Times New Roman"/>
                <a:cs typeface="Times New Roman"/>
              </a:rPr>
              <a:t> </a:t>
            </a:r>
            <a:r>
              <a:rPr dirty="0" sz="1000" spc="20">
                <a:latin typeface="Times New Roman"/>
                <a:cs typeface="Times New Roman"/>
              </a:rPr>
              <a:t>This helps eliminate</a:t>
            </a:r>
            <a:r>
              <a:rPr dirty="0" sz="1000" spc="25">
                <a:latin typeface="Times New Roman"/>
                <a:cs typeface="Times New Roman"/>
              </a:rPr>
              <a:t> </a:t>
            </a:r>
            <a:r>
              <a:rPr dirty="0" sz="1000" spc="-25">
                <a:latin typeface="Times New Roman"/>
                <a:cs typeface="Times New Roman"/>
              </a:rPr>
              <a:t>op- </a:t>
            </a:r>
            <a:r>
              <a:rPr dirty="0" sz="1000" spc="10">
                <a:latin typeface="Times New Roman"/>
                <a:cs typeface="Times New Roman"/>
              </a:rPr>
              <a:t>timization</a:t>
            </a:r>
            <a:r>
              <a:rPr dirty="0" sz="1000" spc="90">
                <a:latin typeface="Times New Roman"/>
                <a:cs typeface="Times New Roman"/>
              </a:rPr>
              <a:t> </a:t>
            </a:r>
            <a:r>
              <a:rPr dirty="0" sz="1000" spc="10">
                <a:latin typeface="Times New Roman"/>
                <a:cs typeface="Times New Roman"/>
              </a:rPr>
              <a:t>conflicts</a:t>
            </a:r>
            <a:r>
              <a:rPr dirty="0" sz="1000" spc="95">
                <a:latin typeface="Times New Roman"/>
                <a:cs typeface="Times New Roman"/>
              </a:rPr>
              <a:t> </a:t>
            </a:r>
            <a:r>
              <a:rPr dirty="0" sz="1000" spc="10">
                <a:latin typeface="Times New Roman"/>
                <a:cs typeface="Times New Roman"/>
              </a:rPr>
              <a:t>between</a:t>
            </a:r>
            <a:r>
              <a:rPr dirty="0" sz="1000" spc="90">
                <a:latin typeface="Times New Roman"/>
                <a:cs typeface="Times New Roman"/>
              </a:rPr>
              <a:t> </a:t>
            </a:r>
            <a:r>
              <a:rPr dirty="0" sz="1000" spc="10">
                <a:latin typeface="Times New Roman"/>
                <a:cs typeface="Times New Roman"/>
              </a:rPr>
              <a:t>the</a:t>
            </a:r>
            <a:r>
              <a:rPr dirty="0" sz="1000" spc="100">
                <a:latin typeface="Times New Roman"/>
                <a:cs typeface="Times New Roman"/>
              </a:rPr>
              <a:t> </a:t>
            </a:r>
            <a:r>
              <a:rPr dirty="0" sz="1000" spc="10">
                <a:latin typeface="Times New Roman"/>
                <a:cs typeface="Times New Roman"/>
              </a:rPr>
              <a:t>fusion</a:t>
            </a:r>
            <a:r>
              <a:rPr dirty="0" sz="1000" spc="95">
                <a:latin typeface="Times New Roman"/>
                <a:cs typeface="Times New Roman"/>
              </a:rPr>
              <a:t> </a:t>
            </a:r>
            <a:r>
              <a:rPr dirty="0" sz="1000" spc="10">
                <a:latin typeface="Times New Roman"/>
                <a:cs typeface="Times New Roman"/>
              </a:rPr>
              <a:t>module</a:t>
            </a:r>
            <a:r>
              <a:rPr dirty="0" sz="1000" spc="100">
                <a:latin typeface="Times New Roman"/>
                <a:cs typeface="Times New Roman"/>
              </a:rPr>
              <a:t> </a:t>
            </a:r>
            <a:r>
              <a:rPr dirty="0" sz="1000" spc="10">
                <a:latin typeface="Times New Roman"/>
                <a:cs typeface="Times New Roman"/>
              </a:rPr>
              <a:t>and</a:t>
            </a:r>
            <a:r>
              <a:rPr dirty="0" sz="1000" spc="95">
                <a:latin typeface="Times New Roman"/>
                <a:cs typeface="Times New Roman"/>
              </a:rPr>
              <a:t> </a:t>
            </a:r>
            <a:r>
              <a:rPr dirty="0" sz="1000" spc="10">
                <a:latin typeface="Times New Roman"/>
                <a:cs typeface="Times New Roman"/>
              </a:rPr>
              <a:t>encoders,</a:t>
            </a:r>
            <a:r>
              <a:rPr dirty="0" sz="1000" spc="105">
                <a:latin typeface="Times New Roman"/>
                <a:cs typeface="Times New Roman"/>
              </a:rPr>
              <a:t> </a:t>
            </a:r>
            <a:r>
              <a:rPr dirty="0" sz="1000" spc="10">
                <a:latin typeface="Times New Roman"/>
                <a:cs typeface="Times New Roman"/>
              </a:rPr>
              <a:t>as</a:t>
            </a:r>
            <a:r>
              <a:rPr dirty="0" sz="1000" spc="90">
                <a:latin typeface="Times New Roman"/>
                <a:cs typeface="Times New Roman"/>
              </a:rPr>
              <a:t> </a:t>
            </a:r>
            <a:r>
              <a:rPr dirty="0" sz="1000" spc="10">
                <a:latin typeface="Times New Roman"/>
                <a:cs typeface="Times New Roman"/>
              </a:rPr>
              <a:t>well</a:t>
            </a:r>
            <a:r>
              <a:rPr dirty="0" sz="1000" spc="90">
                <a:latin typeface="Times New Roman"/>
                <a:cs typeface="Times New Roman"/>
              </a:rPr>
              <a:t> </a:t>
            </a:r>
            <a:r>
              <a:rPr dirty="0" sz="1000" spc="10">
                <a:latin typeface="Times New Roman"/>
                <a:cs typeface="Times New Roman"/>
              </a:rPr>
              <a:t>as</a:t>
            </a:r>
            <a:r>
              <a:rPr dirty="0" sz="1000" spc="100">
                <a:latin typeface="Times New Roman"/>
                <a:cs typeface="Times New Roman"/>
              </a:rPr>
              <a:t> </a:t>
            </a:r>
            <a:r>
              <a:rPr dirty="0" sz="1000" spc="10">
                <a:latin typeface="Times New Roman"/>
                <a:cs typeface="Times New Roman"/>
              </a:rPr>
              <a:t>interference</a:t>
            </a:r>
            <a:r>
              <a:rPr dirty="0" sz="1000" spc="90">
                <a:latin typeface="Times New Roman"/>
                <a:cs typeface="Times New Roman"/>
              </a:rPr>
              <a:t> </a:t>
            </a:r>
            <a:r>
              <a:rPr dirty="0" sz="1000" spc="10">
                <a:latin typeface="Times New Roman"/>
                <a:cs typeface="Times New Roman"/>
              </a:rPr>
              <a:t>among</a:t>
            </a:r>
            <a:r>
              <a:rPr dirty="0" sz="1000" spc="95">
                <a:latin typeface="Times New Roman"/>
                <a:cs typeface="Times New Roman"/>
              </a:rPr>
              <a:t> </a:t>
            </a:r>
            <a:r>
              <a:rPr dirty="0" sz="1000" spc="-10">
                <a:latin typeface="Times New Roman"/>
                <a:cs typeface="Times New Roman"/>
              </a:rPr>
              <a:t>different encoders.</a:t>
            </a:r>
            <a:endParaRPr sz="1000">
              <a:latin typeface="Times New Roman"/>
              <a:cs typeface="Times New Roman"/>
            </a:endParaRPr>
          </a:p>
          <a:p>
            <a:pPr>
              <a:lnSpc>
                <a:spcPct val="100000"/>
              </a:lnSpc>
              <a:spcBef>
                <a:spcPts val="240"/>
              </a:spcBef>
              <a:buFont typeface="Times New Roman"/>
              <a:buChar char="•"/>
            </a:pPr>
            <a:endParaRPr sz="1000">
              <a:latin typeface="Times New Roman"/>
              <a:cs typeface="Times New Roman"/>
            </a:endParaRPr>
          </a:p>
          <a:p>
            <a:pPr lvl="1" marL="508634" marR="320675" indent="-121285">
              <a:lnSpc>
                <a:spcPct val="129500"/>
              </a:lnSpc>
              <a:buFont typeface="Times New Roman"/>
              <a:buChar char="•"/>
              <a:tabLst>
                <a:tab pos="508634" algn="l"/>
              </a:tabLst>
            </a:pPr>
            <a:r>
              <a:rPr dirty="0" sz="1000" spc="35">
                <a:latin typeface="SimSun"/>
                <a:cs typeface="SimSun"/>
              </a:rPr>
              <a:t>我们引入</a:t>
            </a:r>
            <a:r>
              <a:rPr dirty="0" sz="1000" spc="-20">
                <a:latin typeface="Times New Roman"/>
                <a:cs typeface="Times New Roman"/>
              </a:rPr>
              <a:t>DGL</a:t>
            </a:r>
            <a:r>
              <a:rPr dirty="0" sz="1000" spc="-35">
                <a:latin typeface="Times New Roman"/>
                <a:cs typeface="Times New Roman"/>
              </a:rPr>
              <a:t> </a:t>
            </a:r>
            <a:r>
              <a:rPr dirty="0" sz="1000" spc="-30">
                <a:latin typeface="SimSun"/>
                <a:cs typeface="SimSun"/>
              </a:rPr>
              <a:t>来截断从模态融合模块传播到模态编码器的梯度，并用独立单模态损失的梯度</a:t>
            </a:r>
            <a:r>
              <a:rPr dirty="0" sz="1000" spc="-15">
                <a:latin typeface="SimSun"/>
                <a:cs typeface="SimSun"/>
              </a:rPr>
              <a:t>取而代之。这有助于消除融合模块和编码器之间的优化冲突，以及不同编码器之间的干扰。</a:t>
            </a:r>
            <a:endParaRPr sz="1000">
              <a:latin typeface="SimSun"/>
              <a:cs typeface="SimSun"/>
            </a:endParaRPr>
          </a:p>
          <a:p>
            <a:pPr lvl="1">
              <a:lnSpc>
                <a:spcPct val="100000"/>
              </a:lnSpc>
              <a:spcBef>
                <a:spcPts val="275"/>
              </a:spcBef>
              <a:buFont typeface="Times New Roman"/>
              <a:buChar char="•"/>
            </a:pPr>
            <a:endParaRPr sz="1000">
              <a:latin typeface="SimSun"/>
              <a:cs typeface="SimSun"/>
            </a:endParaRPr>
          </a:p>
          <a:p>
            <a:pPr algn="just" marL="328930" marR="140335" indent="-121285">
              <a:lnSpc>
                <a:spcPct val="129500"/>
              </a:lnSpc>
              <a:spcBef>
                <a:spcPts val="5"/>
              </a:spcBef>
              <a:buChar char="•"/>
              <a:tabLst>
                <a:tab pos="328930" algn="l"/>
              </a:tabLst>
            </a:pPr>
            <a:r>
              <a:rPr dirty="0" sz="1000" spc="10">
                <a:latin typeface="Times New Roman"/>
                <a:cs typeface="Times New Roman"/>
              </a:rPr>
              <a:t>Extensive</a:t>
            </a:r>
            <a:r>
              <a:rPr dirty="0" sz="1000" spc="60">
                <a:latin typeface="Times New Roman"/>
                <a:cs typeface="Times New Roman"/>
              </a:rPr>
              <a:t> </a:t>
            </a:r>
            <a:r>
              <a:rPr dirty="0" sz="1000" spc="10">
                <a:latin typeface="Times New Roman"/>
                <a:cs typeface="Times New Roman"/>
              </a:rPr>
              <a:t>experiments</a:t>
            </a:r>
            <a:r>
              <a:rPr dirty="0" sz="1000" spc="60">
                <a:latin typeface="Times New Roman"/>
                <a:cs typeface="Times New Roman"/>
              </a:rPr>
              <a:t> </a:t>
            </a:r>
            <a:r>
              <a:rPr dirty="0" sz="1000" spc="10">
                <a:latin typeface="Times New Roman"/>
                <a:cs typeface="Times New Roman"/>
              </a:rPr>
              <a:t>demonstrate</a:t>
            </a:r>
            <a:r>
              <a:rPr dirty="0" sz="1000" spc="60">
                <a:latin typeface="Times New Roman"/>
                <a:cs typeface="Times New Roman"/>
              </a:rPr>
              <a:t> </a:t>
            </a:r>
            <a:r>
              <a:rPr dirty="0" sz="1000" spc="10">
                <a:latin typeface="Times New Roman"/>
                <a:cs typeface="Times New Roman"/>
              </a:rPr>
              <a:t>that</a:t>
            </a:r>
            <a:r>
              <a:rPr dirty="0" sz="1000" spc="60">
                <a:latin typeface="Times New Roman"/>
                <a:cs typeface="Times New Roman"/>
              </a:rPr>
              <a:t> </a:t>
            </a:r>
            <a:r>
              <a:rPr dirty="0" sz="1000" spc="10">
                <a:latin typeface="Times New Roman"/>
                <a:cs typeface="Times New Roman"/>
              </a:rPr>
              <a:t>1)</a:t>
            </a:r>
            <a:r>
              <a:rPr dirty="0" sz="1000" spc="65">
                <a:latin typeface="Times New Roman"/>
                <a:cs typeface="Times New Roman"/>
              </a:rPr>
              <a:t> </a:t>
            </a:r>
            <a:r>
              <a:rPr dirty="0" sz="1000">
                <a:latin typeface="Times New Roman"/>
                <a:cs typeface="Times New Roman"/>
              </a:rPr>
              <a:t>DGL</a:t>
            </a:r>
            <a:r>
              <a:rPr dirty="0" sz="1000" spc="60">
                <a:latin typeface="Times New Roman"/>
                <a:cs typeface="Times New Roman"/>
              </a:rPr>
              <a:t> </a:t>
            </a:r>
            <a:r>
              <a:rPr dirty="0" sz="1000" spc="10">
                <a:latin typeface="Times New Roman"/>
                <a:cs typeface="Times New Roman"/>
              </a:rPr>
              <a:t>can</a:t>
            </a:r>
            <a:r>
              <a:rPr dirty="0" sz="1000" spc="60">
                <a:latin typeface="Times New Roman"/>
                <a:cs typeface="Times New Roman"/>
              </a:rPr>
              <a:t> </a:t>
            </a:r>
            <a:r>
              <a:rPr dirty="0" sz="1000" spc="10">
                <a:latin typeface="Times New Roman"/>
                <a:cs typeface="Times New Roman"/>
              </a:rPr>
              <a:t>achieve</a:t>
            </a:r>
            <a:r>
              <a:rPr dirty="0" sz="1000" spc="60">
                <a:latin typeface="Times New Roman"/>
                <a:cs typeface="Times New Roman"/>
              </a:rPr>
              <a:t> </a:t>
            </a:r>
            <a:r>
              <a:rPr dirty="0" sz="1000" spc="10">
                <a:latin typeface="Times New Roman"/>
                <a:cs typeface="Times New Roman"/>
              </a:rPr>
              <a:t>considerable</a:t>
            </a:r>
            <a:r>
              <a:rPr dirty="0" sz="1000" spc="65">
                <a:latin typeface="Times New Roman"/>
                <a:cs typeface="Times New Roman"/>
              </a:rPr>
              <a:t> </a:t>
            </a:r>
            <a:r>
              <a:rPr dirty="0" sz="1000" spc="10">
                <a:latin typeface="Times New Roman"/>
                <a:cs typeface="Times New Roman"/>
              </a:rPr>
              <a:t>improvements</a:t>
            </a:r>
            <a:r>
              <a:rPr dirty="0" sz="1000" spc="60">
                <a:latin typeface="Times New Roman"/>
                <a:cs typeface="Times New Roman"/>
              </a:rPr>
              <a:t> </a:t>
            </a:r>
            <a:r>
              <a:rPr dirty="0" sz="1000" spc="10">
                <a:latin typeface="Times New Roman"/>
                <a:cs typeface="Times New Roman"/>
              </a:rPr>
              <a:t>over</a:t>
            </a:r>
            <a:r>
              <a:rPr dirty="0" sz="1000" spc="60">
                <a:latin typeface="Times New Roman"/>
                <a:cs typeface="Times New Roman"/>
              </a:rPr>
              <a:t> </a:t>
            </a:r>
            <a:r>
              <a:rPr dirty="0" sz="1000" spc="-10">
                <a:latin typeface="Times New Roman"/>
                <a:cs typeface="Times New Roman"/>
              </a:rPr>
              <a:t>existing </a:t>
            </a:r>
            <a:r>
              <a:rPr dirty="0" sz="1000" spc="10">
                <a:latin typeface="Times New Roman"/>
                <a:cs typeface="Times New Roman"/>
              </a:rPr>
              <a:t>methods;</a:t>
            </a:r>
            <a:r>
              <a:rPr dirty="0" sz="1000" spc="90">
                <a:latin typeface="Times New Roman"/>
                <a:cs typeface="Times New Roman"/>
              </a:rPr>
              <a:t> </a:t>
            </a:r>
            <a:r>
              <a:rPr dirty="0" sz="1000" spc="10">
                <a:latin typeface="Times New Roman"/>
                <a:cs typeface="Times New Roman"/>
              </a:rPr>
              <a:t>2)</a:t>
            </a:r>
            <a:r>
              <a:rPr dirty="0" sz="1000" spc="75">
                <a:latin typeface="Times New Roman"/>
                <a:cs typeface="Times New Roman"/>
              </a:rPr>
              <a:t> </a:t>
            </a:r>
            <a:r>
              <a:rPr dirty="0" sz="1000" spc="10">
                <a:latin typeface="Times New Roman"/>
                <a:cs typeface="Times New Roman"/>
              </a:rPr>
              <a:t>DGL</a:t>
            </a:r>
            <a:r>
              <a:rPr dirty="0" sz="1000" spc="70">
                <a:latin typeface="Times New Roman"/>
                <a:cs typeface="Times New Roman"/>
              </a:rPr>
              <a:t> </a:t>
            </a:r>
            <a:r>
              <a:rPr dirty="0" sz="1000" spc="10">
                <a:latin typeface="Times New Roman"/>
                <a:cs typeface="Times New Roman"/>
              </a:rPr>
              <a:t>is</a:t>
            </a:r>
            <a:r>
              <a:rPr dirty="0" sz="1000" spc="75">
                <a:latin typeface="Times New Roman"/>
                <a:cs typeface="Times New Roman"/>
              </a:rPr>
              <a:t> </a:t>
            </a:r>
            <a:r>
              <a:rPr dirty="0" sz="1000" spc="10">
                <a:latin typeface="Times New Roman"/>
                <a:cs typeface="Times New Roman"/>
              </a:rPr>
              <a:t>modality-data,</a:t>
            </a:r>
            <a:r>
              <a:rPr dirty="0" sz="1000" spc="85">
                <a:latin typeface="Times New Roman"/>
                <a:cs typeface="Times New Roman"/>
              </a:rPr>
              <a:t> </a:t>
            </a:r>
            <a:r>
              <a:rPr dirty="0" sz="1000" spc="10">
                <a:latin typeface="Times New Roman"/>
                <a:cs typeface="Times New Roman"/>
              </a:rPr>
              <a:t>fusion-method,</a:t>
            </a:r>
            <a:r>
              <a:rPr dirty="0" sz="1000" spc="90">
                <a:latin typeface="Times New Roman"/>
                <a:cs typeface="Times New Roman"/>
              </a:rPr>
              <a:t> </a:t>
            </a:r>
            <a:r>
              <a:rPr dirty="0" sz="1000" spc="10">
                <a:latin typeface="Times New Roman"/>
                <a:cs typeface="Times New Roman"/>
              </a:rPr>
              <a:t>and</a:t>
            </a:r>
            <a:r>
              <a:rPr dirty="0" sz="1000" spc="70">
                <a:latin typeface="Times New Roman"/>
                <a:cs typeface="Times New Roman"/>
              </a:rPr>
              <a:t> </a:t>
            </a:r>
            <a:r>
              <a:rPr dirty="0" sz="1000" spc="10">
                <a:latin typeface="Times New Roman"/>
                <a:cs typeface="Times New Roman"/>
              </a:rPr>
              <a:t>model-structure</a:t>
            </a:r>
            <a:r>
              <a:rPr dirty="0" sz="1000" spc="75">
                <a:latin typeface="Times New Roman"/>
                <a:cs typeface="Times New Roman"/>
              </a:rPr>
              <a:t> </a:t>
            </a:r>
            <a:r>
              <a:rPr dirty="0" sz="1000" spc="10">
                <a:latin typeface="Times New Roman"/>
                <a:cs typeface="Times New Roman"/>
              </a:rPr>
              <a:t>agnostic,</a:t>
            </a:r>
            <a:r>
              <a:rPr dirty="0" sz="1000" spc="85">
                <a:latin typeface="Times New Roman"/>
                <a:cs typeface="Times New Roman"/>
              </a:rPr>
              <a:t> </a:t>
            </a:r>
            <a:r>
              <a:rPr dirty="0" sz="1000" spc="10">
                <a:latin typeface="Times New Roman"/>
                <a:cs typeface="Times New Roman"/>
              </a:rPr>
              <a:t>offering</a:t>
            </a:r>
            <a:r>
              <a:rPr dirty="0" sz="1000" spc="75">
                <a:latin typeface="Times New Roman"/>
                <a:cs typeface="Times New Roman"/>
              </a:rPr>
              <a:t> </a:t>
            </a:r>
            <a:r>
              <a:rPr dirty="0" sz="1000" spc="10">
                <a:latin typeface="Times New Roman"/>
                <a:cs typeface="Times New Roman"/>
              </a:rPr>
              <a:t>high</a:t>
            </a:r>
            <a:r>
              <a:rPr dirty="0" sz="1000" spc="75">
                <a:latin typeface="Times New Roman"/>
                <a:cs typeface="Times New Roman"/>
              </a:rPr>
              <a:t> </a:t>
            </a:r>
            <a:r>
              <a:rPr dirty="0" sz="1000" spc="-10">
                <a:latin typeface="Times New Roman"/>
                <a:cs typeface="Times New Roman"/>
              </a:rPr>
              <a:t>gener- ality.</a:t>
            </a:r>
            <a:endParaRPr sz="1000">
              <a:latin typeface="Times New Roman"/>
              <a:cs typeface="Times New Roman"/>
            </a:endParaRPr>
          </a:p>
          <a:p>
            <a:pPr>
              <a:lnSpc>
                <a:spcPct val="100000"/>
              </a:lnSpc>
              <a:spcBef>
                <a:spcPts val="235"/>
              </a:spcBef>
              <a:buFont typeface="Times New Roman"/>
              <a:buChar char="•"/>
            </a:pPr>
            <a:endParaRPr sz="1000">
              <a:latin typeface="Times New Roman"/>
              <a:cs typeface="Times New Roman"/>
            </a:endParaRPr>
          </a:p>
          <a:p>
            <a:pPr lvl="1" marL="508634" marR="320675" indent="-121285">
              <a:lnSpc>
                <a:spcPct val="129500"/>
              </a:lnSpc>
              <a:buFont typeface="Times New Roman"/>
              <a:buChar char="•"/>
              <a:tabLst>
                <a:tab pos="508634" algn="l"/>
              </a:tabLst>
            </a:pPr>
            <a:r>
              <a:rPr dirty="0" sz="1000" spc="-10">
                <a:latin typeface="SimSun"/>
                <a:cs typeface="SimSun"/>
              </a:rPr>
              <a:t>大量实验表明</a:t>
            </a:r>
            <a:r>
              <a:rPr dirty="0" sz="1000">
                <a:latin typeface="Times New Roman"/>
                <a:cs typeface="Times New Roman"/>
              </a:rPr>
              <a:t>:1)</a:t>
            </a:r>
            <a:r>
              <a:rPr dirty="0" sz="1000" spc="-5">
                <a:latin typeface="Times New Roman"/>
                <a:cs typeface="Times New Roman"/>
              </a:rPr>
              <a:t> </a:t>
            </a:r>
            <a:r>
              <a:rPr dirty="0" sz="1000">
                <a:latin typeface="Times New Roman"/>
                <a:cs typeface="Times New Roman"/>
              </a:rPr>
              <a:t>DGL</a:t>
            </a:r>
            <a:r>
              <a:rPr dirty="0" sz="1000" spc="-5">
                <a:latin typeface="Times New Roman"/>
                <a:cs typeface="Times New Roman"/>
              </a:rPr>
              <a:t> </a:t>
            </a:r>
            <a:r>
              <a:rPr dirty="0" sz="1000" spc="-10">
                <a:latin typeface="SimSun"/>
                <a:cs typeface="SimSun"/>
              </a:rPr>
              <a:t>相对于现有方法能取得显著改进；</a:t>
            </a:r>
            <a:r>
              <a:rPr dirty="0" sz="1000">
                <a:latin typeface="Times New Roman"/>
                <a:cs typeface="Times New Roman"/>
              </a:rPr>
              <a:t>2)</a:t>
            </a:r>
            <a:r>
              <a:rPr dirty="0" sz="1000" spc="-5">
                <a:latin typeface="Times New Roman"/>
                <a:cs typeface="Times New Roman"/>
              </a:rPr>
              <a:t> </a:t>
            </a:r>
            <a:r>
              <a:rPr dirty="0" sz="1000">
                <a:latin typeface="Times New Roman"/>
                <a:cs typeface="Times New Roman"/>
              </a:rPr>
              <a:t>DGL</a:t>
            </a:r>
            <a:r>
              <a:rPr dirty="0" sz="1000" spc="-5">
                <a:latin typeface="Times New Roman"/>
                <a:cs typeface="Times New Roman"/>
              </a:rPr>
              <a:t> </a:t>
            </a:r>
            <a:r>
              <a:rPr dirty="0" sz="1000" spc="-15">
                <a:latin typeface="SimSun"/>
                <a:cs typeface="SimSun"/>
              </a:rPr>
              <a:t>与模态数据、融合方法和模型结构无关，具有很高的通用性。</a:t>
            </a:r>
            <a:endParaRPr sz="1000">
              <a:latin typeface="SimSun"/>
              <a:cs typeface="SimSun"/>
            </a:endParaRPr>
          </a:p>
          <a:p>
            <a:pPr>
              <a:lnSpc>
                <a:spcPct val="100000"/>
              </a:lnSpc>
            </a:pPr>
            <a:endParaRPr sz="1000">
              <a:latin typeface="SimSun"/>
              <a:cs typeface="SimSun"/>
            </a:endParaRPr>
          </a:p>
          <a:p>
            <a:pPr>
              <a:lnSpc>
                <a:spcPct val="100000"/>
              </a:lnSpc>
              <a:spcBef>
                <a:spcPts val="390"/>
              </a:spcBef>
            </a:pPr>
            <a:endParaRPr sz="1000">
              <a:latin typeface="SimSun"/>
              <a:cs typeface="SimSun"/>
            </a:endParaRPr>
          </a:p>
          <a:p>
            <a:pPr marL="12700">
              <a:lnSpc>
                <a:spcPct val="100000"/>
              </a:lnSpc>
              <a:spcBef>
                <a:spcPts val="5"/>
              </a:spcBef>
            </a:pPr>
            <a:r>
              <a:rPr dirty="0" sz="1400" b="1">
                <a:latin typeface="Times New Roman"/>
                <a:cs typeface="Times New Roman"/>
              </a:rPr>
              <a:t>2.</a:t>
            </a:r>
            <a:r>
              <a:rPr dirty="0" sz="1400" spc="280" b="1">
                <a:latin typeface="Times New Roman"/>
                <a:cs typeface="Times New Roman"/>
              </a:rPr>
              <a:t> </a:t>
            </a:r>
            <a:r>
              <a:rPr dirty="0" sz="1400" b="1">
                <a:latin typeface="Times New Roman"/>
                <a:cs typeface="Times New Roman"/>
              </a:rPr>
              <a:t>Related</a:t>
            </a:r>
            <a:r>
              <a:rPr dirty="0" sz="1400" spc="125" b="1">
                <a:latin typeface="Times New Roman"/>
                <a:cs typeface="Times New Roman"/>
              </a:rPr>
              <a:t> </a:t>
            </a:r>
            <a:r>
              <a:rPr dirty="0" sz="1400" spc="-20" b="1">
                <a:latin typeface="Times New Roman"/>
                <a:cs typeface="Times New Roman"/>
              </a:rPr>
              <a:t>Work</a:t>
            </a:r>
            <a:endParaRPr sz="1400">
              <a:latin typeface="Times New Roman"/>
              <a:cs typeface="Times New Roman"/>
            </a:endParaRPr>
          </a:p>
          <a:p>
            <a:pPr marL="192405">
              <a:lnSpc>
                <a:spcPct val="100000"/>
              </a:lnSpc>
              <a:spcBef>
                <a:spcPts val="1590"/>
              </a:spcBef>
            </a:pPr>
            <a:r>
              <a:rPr dirty="0" sz="1400" b="1">
                <a:latin typeface="Times New Roman"/>
                <a:cs typeface="Times New Roman"/>
              </a:rPr>
              <a:t>2.</a:t>
            </a:r>
            <a:r>
              <a:rPr dirty="0" sz="1400" spc="210" b="1">
                <a:latin typeface="Times New Roman"/>
                <a:cs typeface="Times New Roman"/>
              </a:rPr>
              <a:t> </a:t>
            </a:r>
            <a:r>
              <a:rPr dirty="0" sz="1400" spc="-15" b="1">
                <a:latin typeface="Microsoft JhengHei"/>
                <a:cs typeface="Microsoft JhengHei"/>
              </a:rPr>
              <a:t>相关工作</a:t>
            </a:r>
            <a:endParaRPr sz="1400">
              <a:latin typeface="Microsoft JhengHei"/>
              <a:cs typeface="Microsoft JhengHei"/>
            </a:endParaRPr>
          </a:p>
        </p:txBody>
      </p:sp>
      <p:sp>
        <p:nvSpPr>
          <p:cNvPr id="19" name="object 19"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221744"/>
            <a:ext cx="5760085" cy="387985"/>
            <a:chOff x="899998" y="1221744"/>
            <a:chExt cx="5760085" cy="387985"/>
          </a:xfrm>
        </p:grpSpPr>
        <p:sp>
          <p:nvSpPr>
            <p:cNvPr id="3" name="object 3" descr=""/>
            <p:cNvSpPr/>
            <p:nvPr/>
          </p:nvSpPr>
          <p:spPr>
            <a:xfrm>
              <a:off x="899998" y="1221744"/>
              <a:ext cx="5760085" cy="387985"/>
            </a:xfrm>
            <a:custGeom>
              <a:avLst/>
              <a:gdLst/>
              <a:ahLst/>
              <a:cxnLst/>
              <a:rect l="l" t="t" r="r" b="b"/>
              <a:pathLst>
                <a:path w="5760084" h="387984">
                  <a:moveTo>
                    <a:pt x="5724074" y="0"/>
                  </a:moveTo>
                  <a:lnTo>
                    <a:pt x="36000" y="0"/>
                  </a:lnTo>
                  <a:lnTo>
                    <a:pt x="21987" y="2829"/>
                  </a:lnTo>
                  <a:lnTo>
                    <a:pt x="10544" y="10544"/>
                  </a:lnTo>
                  <a:lnTo>
                    <a:pt x="2829" y="21987"/>
                  </a:lnTo>
                  <a:lnTo>
                    <a:pt x="0" y="36000"/>
                  </a:lnTo>
                  <a:lnTo>
                    <a:pt x="0" y="351815"/>
                  </a:lnTo>
                  <a:lnTo>
                    <a:pt x="2829" y="365828"/>
                  </a:lnTo>
                  <a:lnTo>
                    <a:pt x="10544" y="377271"/>
                  </a:lnTo>
                  <a:lnTo>
                    <a:pt x="21987" y="384986"/>
                  </a:lnTo>
                  <a:lnTo>
                    <a:pt x="36000" y="387815"/>
                  </a:lnTo>
                  <a:lnTo>
                    <a:pt x="5724074" y="387815"/>
                  </a:lnTo>
                  <a:lnTo>
                    <a:pt x="5738087" y="384986"/>
                  </a:lnTo>
                  <a:lnTo>
                    <a:pt x="5749530" y="377271"/>
                  </a:lnTo>
                  <a:lnTo>
                    <a:pt x="5757245" y="365828"/>
                  </a:lnTo>
                  <a:lnTo>
                    <a:pt x="5760074" y="35181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221744"/>
              <a:ext cx="5760085" cy="387985"/>
            </a:xfrm>
            <a:custGeom>
              <a:avLst/>
              <a:gdLst/>
              <a:ahLst/>
              <a:cxnLst/>
              <a:rect l="l" t="t" r="r" b="b"/>
              <a:pathLst>
                <a:path w="5760084" h="387984">
                  <a:moveTo>
                    <a:pt x="5724074" y="0"/>
                  </a:moveTo>
                  <a:lnTo>
                    <a:pt x="36000" y="0"/>
                  </a:lnTo>
                  <a:lnTo>
                    <a:pt x="21987" y="2829"/>
                  </a:lnTo>
                  <a:lnTo>
                    <a:pt x="10544" y="10544"/>
                  </a:lnTo>
                  <a:lnTo>
                    <a:pt x="2829" y="21987"/>
                  </a:lnTo>
                  <a:lnTo>
                    <a:pt x="0" y="36000"/>
                  </a:lnTo>
                  <a:lnTo>
                    <a:pt x="0" y="351815"/>
                  </a:lnTo>
                  <a:lnTo>
                    <a:pt x="2829" y="365828"/>
                  </a:lnTo>
                  <a:lnTo>
                    <a:pt x="10544" y="377271"/>
                  </a:lnTo>
                  <a:lnTo>
                    <a:pt x="21987" y="384986"/>
                  </a:lnTo>
                  <a:lnTo>
                    <a:pt x="36000" y="387815"/>
                  </a:lnTo>
                  <a:lnTo>
                    <a:pt x="5724074" y="387815"/>
                  </a:lnTo>
                  <a:lnTo>
                    <a:pt x="5738087" y="384986"/>
                  </a:lnTo>
                  <a:lnTo>
                    <a:pt x="5749530" y="377271"/>
                  </a:lnTo>
                  <a:lnTo>
                    <a:pt x="5757245" y="365828"/>
                  </a:lnTo>
                  <a:lnTo>
                    <a:pt x="5760074" y="35181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3583344"/>
            <a:ext cx="5760085" cy="1335405"/>
            <a:chOff x="899998" y="3583344"/>
            <a:chExt cx="5760085" cy="1335405"/>
          </a:xfrm>
        </p:grpSpPr>
        <p:sp>
          <p:nvSpPr>
            <p:cNvPr id="6" name="object 6" descr=""/>
            <p:cNvSpPr/>
            <p:nvPr/>
          </p:nvSpPr>
          <p:spPr>
            <a:xfrm>
              <a:off x="899998" y="3583344"/>
              <a:ext cx="5760085" cy="1335405"/>
            </a:xfrm>
            <a:custGeom>
              <a:avLst/>
              <a:gdLst/>
              <a:ahLst/>
              <a:cxnLst/>
              <a:rect l="l" t="t" r="r" b="b"/>
              <a:pathLst>
                <a:path w="5760084" h="1335404">
                  <a:moveTo>
                    <a:pt x="5724074" y="0"/>
                  </a:moveTo>
                  <a:lnTo>
                    <a:pt x="36000" y="0"/>
                  </a:lnTo>
                  <a:lnTo>
                    <a:pt x="21987" y="2829"/>
                  </a:lnTo>
                  <a:lnTo>
                    <a:pt x="10544" y="10544"/>
                  </a:lnTo>
                  <a:lnTo>
                    <a:pt x="2829" y="21987"/>
                  </a:lnTo>
                  <a:lnTo>
                    <a:pt x="0" y="36000"/>
                  </a:lnTo>
                  <a:lnTo>
                    <a:pt x="0" y="1299136"/>
                  </a:lnTo>
                  <a:lnTo>
                    <a:pt x="2829" y="1313149"/>
                  </a:lnTo>
                  <a:lnTo>
                    <a:pt x="10544" y="1324592"/>
                  </a:lnTo>
                  <a:lnTo>
                    <a:pt x="21987" y="1332307"/>
                  </a:lnTo>
                  <a:lnTo>
                    <a:pt x="36000" y="1335136"/>
                  </a:lnTo>
                  <a:lnTo>
                    <a:pt x="5724074" y="1335136"/>
                  </a:lnTo>
                  <a:lnTo>
                    <a:pt x="5738087" y="1332307"/>
                  </a:lnTo>
                  <a:lnTo>
                    <a:pt x="5749530" y="1324592"/>
                  </a:lnTo>
                  <a:lnTo>
                    <a:pt x="5757245" y="1313149"/>
                  </a:lnTo>
                  <a:lnTo>
                    <a:pt x="5760074" y="129913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3583344"/>
              <a:ext cx="5760085" cy="1335405"/>
            </a:xfrm>
            <a:custGeom>
              <a:avLst/>
              <a:gdLst/>
              <a:ahLst/>
              <a:cxnLst/>
              <a:rect l="l" t="t" r="r" b="b"/>
              <a:pathLst>
                <a:path w="5760084" h="1335404">
                  <a:moveTo>
                    <a:pt x="5724074" y="0"/>
                  </a:moveTo>
                  <a:lnTo>
                    <a:pt x="36000" y="0"/>
                  </a:lnTo>
                  <a:lnTo>
                    <a:pt x="21987" y="2829"/>
                  </a:lnTo>
                  <a:lnTo>
                    <a:pt x="10544" y="10544"/>
                  </a:lnTo>
                  <a:lnTo>
                    <a:pt x="2829" y="21987"/>
                  </a:lnTo>
                  <a:lnTo>
                    <a:pt x="0" y="36000"/>
                  </a:lnTo>
                  <a:lnTo>
                    <a:pt x="0" y="1299136"/>
                  </a:lnTo>
                  <a:lnTo>
                    <a:pt x="2829" y="1313149"/>
                  </a:lnTo>
                  <a:lnTo>
                    <a:pt x="10544" y="1324592"/>
                  </a:lnTo>
                  <a:lnTo>
                    <a:pt x="21987" y="1332307"/>
                  </a:lnTo>
                  <a:lnTo>
                    <a:pt x="36000" y="1335136"/>
                  </a:lnTo>
                  <a:lnTo>
                    <a:pt x="5724074" y="1335136"/>
                  </a:lnTo>
                  <a:lnTo>
                    <a:pt x="5738087" y="1332307"/>
                  </a:lnTo>
                  <a:lnTo>
                    <a:pt x="5749530" y="1324592"/>
                  </a:lnTo>
                  <a:lnTo>
                    <a:pt x="5757245" y="1313149"/>
                  </a:lnTo>
                  <a:lnTo>
                    <a:pt x="5760074" y="129913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5557909"/>
            <a:ext cx="5760085" cy="388620"/>
            <a:chOff x="899998" y="5557909"/>
            <a:chExt cx="5760085" cy="388620"/>
          </a:xfrm>
        </p:grpSpPr>
        <p:sp>
          <p:nvSpPr>
            <p:cNvPr id="9" name="object 9" descr=""/>
            <p:cNvSpPr/>
            <p:nvPr/>
          </p:nvSpPr>
          <p:spPr>
            <a:xfrm>
              <a:off x="899998" y="5557909"/>
              <a:ext cx="5760085" cy="388620"/>
            </a:xfrm>
            <a:custGeom>
              <a:avLst/>
              <a:gdLst/>
              <a:ahLst/>
              <a:cxnLst/>
              <a:rect l="l" t="t" r="r" b="b"/>
              <a:pathLst>
                <a:path w="5760084" h="388620">
                  <a:moveTo>
                    <a:pt x="5724074" y="0"/>
                  </a:moveTo>
                  <a:lnTo>
                    <a:pt x="36000" y="0"/>
                  </a:lnTo>
                  <a:lnTo>
                    <a:pt x="21987" y="2829"/>
                  </a:lnTo>
                  <a:lnTo>
                    <a:pt x="10544" y="10544"/>
                  </a:lnTo>
                  <a:lnTo>
                    <a:pt x="2829" y="21987"/>
                  </a:lnTo>
                  <a:lnTo>
                    <a:pt x="0" y="36000"/>
                  </a:lnTo>
                  <a:lnTo>
                    <a:pt x="0" y="352179"/>
                  </a:lnTo>
                  <a:lnTo>
                    <a:pt x="2829" y="366192"/>
                  </a:lnTo>
                  <a:lnTo>
                    <a:pt x="10544" y="377635"/>
                  </a:lnTo>
                  <a:lnTo>
                    <a:pt x="21987" y="385350"/>
                  </a:lnTo>
                  <a:lnTo>
                    <a:pt x="36000" y="388179"/>
                  </a:lnTo>
                  <a:lnTo>
                    <a:pt x="5724074" y="388179"/>
                  </a:lnTo>
                  <a:lnTo>
                    <a:pt x="5738087" y="385350"/>
                  </a:lnTo>
                  <a:lnTo>
                    <a:pt x="5749530" y="377635"/>
                  </a:lnTo>
                  <a:lnTo>
                    <a:pt x="5757245" y="366192"/>
                  </a:lnTo>
                  <a:lnTo>
                    <a:pt x="5760074" y="35217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5557909"/>
              <a:ext cx="5760085" cy="388620"/>
            </a:xfrm>
            <a:custGeom>
              <a:avLst/>
              <a:gdLst/>
              <a:ahLst/>
              <a:cxnLst/>
              <a:rect l="l" t="t" r="r" b="b"/>
              <a:pathLst>
                <a:path w="5760084" h="388620">
                  <a:moveTo>
                    <a:pt x="5724074" y="0"/>
                  </a:moveTo>
                  <a:lnTo>
                    <a:pt x="36000" y="0"/>
                  </a:lnTo>
                  <a:lnTo>
                    <a:pt x="21987" y="2829"/>
                  </a:lnTo>
                  <a:lnTo>
                    <a:pt x="10544" y="10544"/>
                  </a:lnTo>
                  <a:lnTo>
                    <a:pt x="2829" y="21987"/>
                  </a:lnTo>
                  <a:lnTo>
                    <a:pt x="0" y="36000"/>
                  </a:lnTo>
                  <a:lnTo>
                    <a:pt x="0" y="352179"/>
                  </a:lnTo>
                  <a:lnTo>
                    <a:pt x="2829" y="366192"/>
                  </a:lnTo>
                  <a:lnTo>
                    <a:pt x="10544" y="377635"/>
                  </a:lnTo>
                  <a:lnTo>
                    <a:pt x="21987" y="385350"/>
                  </a:lnTo>
                  <a:lnTo>
                    <a:pt x="36000" y="388179"/>
                  </a:lnTo>
                  <a:lnTo>
                    <a:pt x="5724074" y="388179"/>
                  </a:lnTo>
                  <a:lnTo>
                    <a:pt x="5738087" y="385350"/>
                  </a:lnTo>
                  <a:lnTo>
                    <a:pt x="5749530" y="377635"/>
                  </a:lnTo>
                  <a:lnTo>
                    <a:pt x="5757245" y="366192"/>
                  </a:lnTo>
                  <a:lnTo>
                    <a:pt x="5760074" y="35217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7525117"/>
            <a:ext cx="5760085" cy="1123950"/>
            <a:chOff x="899998" y="7525117"/>
            <a:chExt cx="5760085" cy="1123950"/>
          </a:xfrm>
        </p:grpSpPr>
        <p:sp>
          <p:nvSpPr>
            <p:cNvPr id="12" name="object 12" descr=""/>
            <p:cNvSpPr/>
            <p:nvPr/>
          </p:nvSpPr>
          <p:spPr>
            <a:xfrm>
              <a:off x="899998" y="7525117"/>
              <a:ext cx="5760085" cy="1123950"/>
            </a:xfrm>
            <a:custGeom>
              <a:avLst/>
              <a:gdLst/>
              <a:ahLst/>
              <a:cxnLst/>
              <a:rect l="l" t="t" r="r" b="b"/>
              <a:pathLst>
                <a:path w="5760084" h="1123950">
                  <a:moveTo>
                    <a:pt x="5724074" y="0"/>
                  </a:moveTo>
                  <a:lnTo>
                    <a:pt x="36000" y="0"/>
                  </a:lnTo>
                  <a:lnTo>
                    <a:pt x="21987" y="2829"/>
                  </a:lnTo>
                  <a:lnTo>
                    <a:pt x="10544" y="10544"/>
                  </a:lnTo>
                  <a:lnTo>
                    <a:pt x="2829" y="21987"/>
                  </a:lnTo>
                  <a:lnTo>
                    <a:pt x="0" y="36000"/>
                  </a:lnTo>
                  <a:lnTo>
                    <a:pt x="0" y="1087582"/>
                  </a:lnTo>
                  <a:lnTo>
                    <a:pt x="2829" y="1101595"/>
                  </a:lnTo>
                  <a:lnTo>
                    <a:pt x="10544" y="1113038"/>
                  </a:lnTo>
                  <a:lnTo>
                    <a:pt x="21987" y="1120753"/>
                  </a:lnTo>
                  <a:lnTo>
                    <a:pt x="36000" y="1123582"/>
                  </a:lnTo>
                  <a:lnTo>
                    <a:pt x="5724074" y="1123582"/>
                  </a:lnTo>
                  <a:lnTo>
                    <a:pt x="5738087" y="1120753"/>
                  </a:lnTo>
                  <a:lnTo>
                    <a:pt x="5749530" y="1113038"/>
                  </a:lnTo>
                  <a:lnTo>
                    <a:pt x="5757245" y="1101595"/>
                  </a:lnTo>
                  <a:lnTo>
                    <a:pt x="5760074" y="108758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7525117"/>
              <a:ext cx="5760085" cy="1123950"/>
            </a:xfrm>
            <a:custGeom>
              <a:avLst/>
              <a:gdLst/>
              <a:ahLst/>
              <a:cxnLst/>
              <a:rect l="l" t="t" r="r" b="b"/>
              <a:pathLst>
                <a:path w="5760084" h="1123950">
                  <a:moveTo>
                    <a:pt x="5724074" y="0"/>
                  </a:moveTo>
                  <a:lnTo>
                    <a:pt x="36000" y="0"/>
                  </a:lnTo>
                  <a:lnTo>
                    <a:pt x="21987" y="2829"/>
                  </a:lnTo>
                  <a:lnTo>
                    <a:pt x="10544" y="10544"/>
                  </a:lnTo>
                  <a:lnTo>
                    <a:pt x="2829" y="21987"/>
                  </a:lnTo>
                  <a:lnTo>
                    <a:pt x="0" y="36000"/>
                  </a:lnTo>
                  <a:lnTo>
                    <a:pt x="0" y="1087582"/>
                  </a:lnTo>
                  <a:lnTo>
                    <a:pt x="2829" y="1101595"/>
                  </a:lnTo>
                  <a:lnTo>
                    <a:pt x="10544" y="1113038"/>
                  </a:lnTo>
                  <a:lnTo>
                    <a:pt x="21987" y="1120753"/>
                  </a:lnTo>
                  <a:lnTo>
                    <a:pt x="36000" y="1123582"/>
                  </a:lnTo>
                  <a:lnTo>
                    <a:pt x="5724074" y="1123582"/>
                  </a:lnTo>
                  <a:lnTo>
                    <a:pt x="5738087" y="1120753"/>
                  </a:lnTo>
                  <a:lnTo>
                    <a:pt x="5749530" y="1113038"/>
                  </a:lnTo>
                  <a:lnTo>
                    <a:pt x="5757245" y="1101595"/>
                  </a:lnTo>
                  <a:lnTo>
                    <a:pt x="5760074" y="108758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4" name="object 14" descr=""/>
          <p:cNvSpPr txBox="1"/>
          <p:nvPr/>
        </p:nvSpPr>
        <p:spPr>
          <a:xfrm>
            <a:off x="887298" y="833739"/>
            <a:ext cx="5785485" cy="8879840"/>
          </a:xfrm>
          <a:prstGeom prst="rect">
            <a:avLst/>
          </a:prstGeom>
        </p:spPr>
        <p:txBody>
          <a:bodyPr wrap="square" lIns="0" tIns="17145" rIns="0" bIns="0" rtlCol="0" vert="horz">
            <a:spAutoFit/>
          </a:bodyPr>
          <a:lstStyle/>
          <a:p>
            <a:pPr marL="12700">
              <a:lnSpc>
                <a:spcPct val="100000"/>
              </a:lnSpc>
              <a:spcBef>
                <a:spcPts val="135"/>
              </a:spcBef>
            </a:pPr>
            <a:r>
              <a:rPr dirty="0" sz="1400" b="1">
                <a:latin typeface="Times New Roman"/>
                <a:cs typeface="Times New Roman"/>
              </a:rPr>
              <a:t>2.1.</a:t>
            </a:r>
            <a:r>
              <a:rPr dirty="0" sz="1400" spc="150" b="1">
                <a:latin typeface="Times New Roman"/>
                <a:cs typeface="Times New Roman"/>
              </a:rPr>
              <a:t> </a:t>
            </a:r>
            <a:r>
              <a:rPr dirty="0" sz="1400" spc="60" b="1">
                <a:latin typeface="Times New Roman"/>
                <a:cs typeface="Times New Roman"/>
              </a:rPr>
              <a:t>Multimodal</a:t>
            </a:r>
            <a:r>
              <a:rPr dirty="0" sz="1400" spc="25" b="1">
                <a:latin typeface="Times New Roman"/>
                <a:cs typeface="Times New Roman"/>
              </a:rPr>
              <a:t> </a:t>
            </a:r>
            <a:r>
              <a:rPr dirty="0" sz="1400" spc="-10" b="1">
                <a:latin typeface="Times New Roman"/>
                <a:cs typeface="Times New Roman"/>
              </a:rPr>
              <a:t>Learning</a:t>
            </a:r>
            <a:endParaRPr sz="1400">
              <a:latin typeface="Times New Roman"/>
              <a:cs typeface="Times New Roman"/>
            </a:endParaRPr>
          </a:p>
          <a:p>
            <a:pPr>
              <a:lnSpc>
                <a:spcPct val="100000"/>
              </a:lnSpc>
              <a:spcBef>
                <a:spcPts val="300"/>
              </a:spcBef>
            </a:pPr>
            <a:endParaRPr sz="1400">
              <a:latin typeface="Times New Roman"/>
              <a:cs typeface="Times New Roman"/>
            </a:endParaRPr>
          </a:p>
          <a:p>
            <a:pPr lvl="1" marL="525780" indent="-333375">
              <a:lnSpc>
                <a:spcPct val="100000"/>
              </a:lnSpc>
              <a:buFont typeface="Times New Roman"/>
              <a:buAutoNum type="arabicPeriod"/>
              <a:tabLst>
                <a:tab pos="525780" algn="l"/>
              </a:tabLst>
            </a:pPr>
            <a:r>
              <a:rPr dirty="0" sz="1400" spc="-10" b="1">
                <a:latin typeface="Microsoft JhengHei"/>
                <a:cs typeface="Microsoft JhengHei"/>
              </a:rPr>
              <a:t>多模态学习</a:t>
            </a:r>
            <a:endParaRPr sz="1400">
              <a:latin typeface="Microsoft JhengHei"/>
              <a:cs typeface="Microsoft JhengHei"/>
            </a:endParaRPr>
          </a:p>
          <a:p>
            <a:pPr algn="just" marL="12700" marR="5080" indent="252729">
              <a:lnSpc>
                <a:spcPct val="129500"/>
              </a:lnSpc>
              <a:spcBef>
                <a:spcPts val="1215"/>
              </a:spcBef>
            </a:pPr>
            <a:r>
              <a:rPr dirty="0" sz="1000" spc="20">
                <a:latin typeface="Times New Roman"/>
                <a:cs typeface="Times New Roman"/>
              </a:rPr>
              <a:t>Multimodal</a:t>
            </a:r>
            <a:r>
              <a:rPr dirty="0" sz="1000" spc="45">
                <a:latin typeface="Times New Roman"/>
                <a:cs typeface="Times New Roman"/>
              </a:rPr>
              <a:t> </a:t>
            </a:r>
            <a:r>
              <a:rPr dirty="0" sz="1000" spc="20">
                <a:latin typeface="Times New Roman"/>
                <a:cs typeface="Times New Roman"/>
              </a:rPr>
              <a:t>learning</a:t>
            </a:r>
            <a:r>
              <a:rPr dirty="0" sz="1000" spc="45">
                <a:latin typeface="Times New Roman"/>
                <a:cs typeface="Times New Roman"/>
              </a:rPr>
              <a:t> </a:t>
            </a:r>
            <a:r>
              <a:rPr dirty="0" sz="1000" spc="20">
                <a:latin typeface="Times New Roman"/>
                <a:cs typeface="Times New Roman"/>
              </a:rPr>
              <a:t>utilizes</a:t>
            </a:r>
            <a:r>
              <a:rPr dirty="0" sz="1000" spc="45">
                <a:latin typeface="Times New Roman"/>
                <a:cs typeface="Times New Roman"/>
              </a:rPr>
              <a:t> </a:t>
            </a:r>
            <a:r>
              <a:rPr dirty="0" sz="1000" spc="20">
                <a:latin typeface="Times New Roman"/>
                <a:cs typeface="Times New Roman"/>
              </a:rPr>
              <a:t>complementary</a:t>
            </a:r>
            <a:r>
              <a:rPr dirty="0" sz="1000" spc="45">
                <a:latin typeface="Times New Roman"/>
                <a:cs typeface="Times New Roman"/>
              </a:rPr>
              <a:t> </a:t>
            </a:r>
            <a:r>
              <a:rPr dirty="0" sz="1000" spc="20">
                <a:latin typeface="Times New Roman"/>
                <a:cs typeface="Times New Roman"/>
              </a:rPr>
              <a:t>information</a:t>
            </a:r>
            <a:r>
              <a:rPr dirty="0" sz="1000" spc="50">
                <a:latin typeface="Times New Roman"/>
                <a:cs typeface="Times New Roman"/>
              </a:rPr>
              <a:t> </a:t>
            </a:r>
            <a:r>
              <a:rPr dirty="0" sz="1000" spc="20">
                <a:latin typeface="Times New Roman"/>
                <a:cs typeface="Times New Roman"/>
              </a:rPr>
              <a:t>contained</a:t>
            </a:r>
            <a:r>
              <a:rPr dirty="0" sz="1000" spc="45">
                <a:latin typeface="Times New Roman"/>
                <a:cs typeface="Times New Roman"/>
              </a:rPr>
              <a:t> </a:t>
            </a:r>
            <a:r>
              <a:rPr dirty="0" sz="1000" spc="20">
                <a:latin typeface="Times New Roman"/>
                <a:cs typeface="Times New Roman"/>
              </a:rPr>
              <a:t>in</a:t>
            </a:r>
            <a:r>
              <a:rPr dirty="0" sz="1000" spc="45">
                <a:latin typeface="Times New Roman"/>
                <a:cs typeface="Times New Roman"/>
              </a:rPr>
              <a:t> </a:t>
            </a:r>
            <a:r>
              <a:rPr dirty="0" sz="1000" spc="20">
                <a:latin typeface="Times New Roman"/>
                <a:cs typeface="Times New Roman"/>
              </a:rPr>
              <a:t>multimodal</a:t>
            </a:r>
            <a:r>
              <a:rPr dirty="0" sz="1000" spc="45">
                <a:latin typeface="Times New Roman"/>
                <a:cs typeface="Times New Roman"/>
              </a:rPr>
              <a:t> </a:t>
            </a:r>
            <a:r>
              <a:rPr dirty="0" sz="1000" spc="20">
                <a:latin typeface="Times New Roman"/>
                <a:cs typeface="Times New Roman"/>
              </a:rPr>
              <a:t>data</a:t>
            </a:r>
            <a:r>
              <a:rPr dirty="0" sz="1000" spc="50">
                <a:latin typeface="Times New Roman"/>
                <a:cs typeface="Times New Roman"/>
              </a:rPr>
              <a:t> </a:t>
            </a:r>
            <a:r>
              <a:rPr dirty="0" sz="1000" spc="20">
                <a:latin typeface="Times New Roman"/>
                <a:cs typeface="Times New Roman"/>
              </a:rPr>
              <a:t>to</a:t>
            </a:r>
            <a:r>
              <a:rPr dirty="0" sz="1000" spc="45">
                <a:latin typeface="Times New Roman"/>
                <a:cs typeface="Times New Roman"/>
              </a:rPr>
              <a:t> </a:t>
            </a:r>
            <a:r>
              <a:rPr dirty="0" sz="1000" spc="20">
                <a:latin typeface="Times New Roman"/>
                <a:cs typeface="Times New Roman"/>
              </a:rPr>
              <a:t>improve</a:t>
            </a:r>
            <a:r>
              <a:rPr dirty="0" sz="1000" spc="45">
                <a:latin typeface="Times New Roman"/>
                <a:cs typeface="Times New Roman"/>
              </a:rPr>
              <a:t> </a:t>
            </a:r>
            <a:r>
              <a:rPr dirty="0" sz="1000" spc="-25">
                <a:latin typeface="Times New Roman"/>
                <a:cs typeface="Times New Roman"/>
              </a:rPr>
              <a:t>the </a:t>
            </a:r>
            <a:r>
              <a:rPr dirty="0" sz="1000" spc="10">
                <a:latin typeface="Times New Roman"/>
                <a:cs typeface="Times New Roman"/>
              </a:rPr>
              <a:t>performance</a:t>
            </a:r>
            <a:r>
              <a:rPr dirty="0" sz="1000" spc="120">
                <a:latin typeface="Times New Roman"/>
                <a:cs typeface="Times New Roman"/>
              </a:rPr>
              <a:t> </a:t>
            </a:r>
            <a:r>
              <a:rPr dirty="0" sz="1000" spc="10">
                <a:latin typeface="Times New Roman"/>
                <a:cs typeface="Times New Roman"/>
              </a:rPr>
              <a:t>of</a:t>
            </a:r>
            <a:r>
              <a:rPr dirty="0" sz="1000" spc="120">
                <a:latin typeface="Times New Roman"/>
                <a:cs typeface="Times New Roman"/>
              </a:rPr>
              <a:t> </a:t>
            </a:r>
            <a:r>
              <a:rPr dirty="0" sz="1000" spc="10">
                <a:latin typeface="Times New Roman"/>
                <a:cs typeface="Times New Roman"/>
              </a:rPr>
              <a:t>various</a:t>
            </a:r>
            <a:r>
              <a:rPr dirty="0" sz="1000" spc="120">
                <a:latin typeface="Times New Roman"/>
                <a:cs typeface="Times New Roman"/>
              </a:rPr>
              <a:t> </a:t>
            </a:r>
            <a:r>
              <a:rPr dirty="0" sz="1000" spc="10">
                <a:latin typeface="Times New Roman"/>
                <a:cs typeface="Times New Roman"/>
              </a:rPr>
              <a:t>tasks.</a:t>
            </a:r>
            <a:r>
              <a:rPr dirty="0" sz="1000" spc="405">
                <a:latin typeface="Times New Roman"/>
                <a:cs typeface="Times New Roman"/>
              </a:rPr>
              <a:t> </a:t>
            </a:r>
            <a:r>
              <a:rPr dirty="0" sz="1000" spc="10">
                <a:latin typeface="Times New Roman"/>
                <a:cs typeface="Times New Roman"/>
              </a:rPr>
              <a:t>One</a:t>
            </a:r>
            <a:r>
              <a:rPr dirty="0" sz="1000" spc="120">
                <a:latin typeface="Times New Roman"/>
                <a:cs typeface="Times New Roman"/>
              </a:rPr>
              <a:t> </a:t>
            </a:r>
            <a:r>
              <a:rPr dirty="0" sz="1000" spc="10">
                <a:latin typeface="Times New Roman"/>
                <a:cs typeface="Times New Roman"/>
              </a:rPr>
              <a:t>important</a:t>
            </a:r>
            <a:r>
              <a:rPr dirty="0" sz="1000" spc="125">
                <a:latin typeface="Times New Roman"/>
                <a:cs typeface="Times New Roman"/>
              </a:rPr>
              <a:t> </a:t>
            </a:r>
            <a:r>
              <a:rPr dirty="0" sz="1000" spc="10">
                <a:latin typeface="Times New Roman"/>
                <a:cs typeface="Times New Roman"/>
              </a:rPr>
              <a:t>direction</a:t>
            </a:r>
            <a:r>
              <a:rPr dirty="0" sz="1000" spc="120">
                <a:latin typeface="Times New Roman"/>
                <a:cs typeface="Times New Roman"/>
              </a:rPr>
              <a:t> </a:t>
            </a:r>
            <a:r>
              <a:rPr dirty="0" sz="1000" spc="10">
                <a:latin typeface="Times New Roman"/>
                <a:cs typeface="Times New Roman"/>
              </a:rPr>
              <a:t>in</a:t>
            </a:r>
            <a:r>
              <a:rPr dirty="0" sz="1000" spc="120">
                <a:latin typeface="Times New Roman"/>
                <a:cs typeface="Times New Roman"/>
              </a:rPr>
              <a:t> </a:t>
            </a:r>
            <a:r>
              <a:rPr dirty="0" sz="1000" spc="10">
                <a:latin typeface="Times New Roman"/>
                <a:cs typeface="Times New Roman"/>
              </a:rPr>
              <a:t>this</a:t>
            </a:r>
            <a:r>
              <a:rPr dirty="0" sz="1000" spc="125">
                <a:latin typeface="Times New Roman"/>
                <a:cs typeface="Times New Roman"/>
              </a:rPr>
              <a:t> </a:t>
            </a:r>
            <a:r>
              <a:rPr dirty="0" sz="1000" spc="10">
                <a:latin typeface="Times New Roman"/>
                <a:cs typeface="Times New Roman"/>
              </a:rPr>
              <a:t>area</a:t>
            </a:r>
            <a:r>
              <a:rPr dirty="0" sz="1000" spc="120">
                <a:latin typeface="Times New Roman"/>
                <a:cs typeface="Times New Roman"/>
              </a:rPr>
              <a:t> </a:t>
            </a:r>
            <a:r>
              <a:rPr dirty="0" sz="1000" spc="10">
                <a:latin typeface="Times New Roman"/>
                <a:cs typeface="Times New Roman"/>
              </a:rPr>
              <a:t>is</a:t>
            </a:r>
            <a:r>
              <a:rPr dirty="0" sz="1000" spc="120">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design</a:t>
            </a:r>
            <a:r>
              <a:rPr dirty="0" sz="1000" spc="120">
                <a:latin typeface="Times New Roman"/>
                <a:cs typeface="Times New Roman"/>
              </a:rPr>
              <a:t> </a:t>
            </a:r>
            <a:r>
              <a:rPr dirty="0" sz="1000" spc="10">
                <a:latin typeface="Times New Roman"/>
                <a:cs typeface="Times New Roman"/>
              </a:rPr>
              <a:t>of</a:t>
            </a:r>
            <a:r>
              <a:rPr dirty="0" sz="1000" spc="120">
                <a:latin typeface="Times New Roman"/>
                <a:cs typeface="Times New Roman"/>
              </a:rPr>
              <a:t> </a:t>
            </a:r>
            <a:r>
              <a:rPr dirty="0" sz="1000" spc="10">
                <a:latin typeface="Times New Roman"/>
                <a:cs typeface="Times New Roman"/>
              </a:rPr>
              <a:t>modality</a:t>
            </a:r>
            <a:r>
              <a:rPr dirty="0" sz="1000" spc="125">
                <a:latin typeface="Times New Roman"/>
                <a:cs typeface="Times New Roman"/>
              </a:rPr>
              <a:t> </a:t>
            </a:r>
            <a:r>
              <a:rPr dirty="0" sz="1000" spc="10">
                <a:latin typeface="Times New Roman"/>
                <a:cs typeface="Times New Roman"/>
              </a:rPr>
              <a:t>fusion</a:t>
            </a:r>
            <a:r>
              <a:rPr dirty="0" sz="1000" spc="120">
                <a:latin typeface="Times New Roman"/>
                <a:cs typeface="Times New Roman"/>
              </a:rPr>
              <a:t> </a:t>
            </a:r>
            <a:r>
              <a:rPr dirty="0" sz="1000" spc="-10">
                <a:latin typeface="Times New Roman"/>
                <a:cs typeface="Times New Roman"/>
              </a:rPr>
              <a:t>meth- </a:t>
            </a:r>
            <a:r>
              <a:rPr dirty="0" sz="1000">
                <a:latin typeface="Times New Roman"/>
                <a:cs typeface="Times New Roman"/>
              </a:rPr>
              <a:t>ods,</a:t>
            </a:r>
            <a:r>
              <a:rPr dirty="0" sz="1000" spc="145">
                <a:latin typeface="Times New Roman"/>
                <a:cs typeface="Times New Roman"/>
              </a:rPr>
              <a:t> </a:t>
            </a:r>
            <a:r>
              <a:rPr dirty="0" sz="1000">
                <a:latin typeface="Times New Roman"/>
                <a:cs typeface="Times New Roman"/>
              </a:rPr>
              <a:t>such</a:t>
            </a:r>
            <a:r>
              <a:rPr dirty="0" sz="1000" spc="130">
                <a:latin typeface="Times New Roman"/>
                <a:cs typeface="Times New Roman"/>
              </a:rPr>
              <a:t> </a:t>
            </a:r>
            <a:r>
              <a:rPr dirty="0" sz="1000">
                <a:latin typeface="Times New Roman"/>
                <a:cs typeface="Times New Roman"/>
              </a:rPr>
              <a:t>as</a:t>
            </a:r>
            <a:r>
              <a:rPr dirty="0" sz="1000" spc="130">
                <a:latin typeface="Times New Roman"/>
                <a:cs typeface="Times New Roman"/>
              </a:rPr>
              <a:t> </a:t>
            </a:r>
            <a:r>
              <a:rPr dirty="0" sz="1000">
                <a:latin typeface="Times New Roman"/>
                <a:cs typeface="Times New Roman"/>
              </a:rPr>
              <a:t>tensor-based</a:t>
            </a:r>
            <a:r>
              <a:rPr dirty="0" sz="1000" spc="130">
                <a:latin typeface="Times New Roman"/>
                <a:cs typeface="Times New Roman"/>
              </a:rPr>
              <a:t> </a:t>
            </a:r>
            <a:r>
              <a:rPr dirty="0" sz="1000">
                <a:latin typeface="Times New Roman"/>
                <a:cs typeface="Times New Roman"/>
              </a:rPr>
              <a:t>fusion</a:t>
            </a:r>
            <a:r>
              <a:rPr dirty="0" sz="1000" spc="130">
                <a:latin typeface="Times New Roman"/>
                <a:cs typeface="Times New Roman"/>
              </a:rPr>
              <a:t> </a:t>
            </a:r>
            <a:r>
              <a:rPr dirty="0" sz="1000">
                <a:latin typeface="Times New Roman"/>
                <a:cs typeface="Times New Roman"/>
              </a:rPr>
              <a:t>[12,</a:t>
            </a:r>
            <a:r>
              <a:rPr dirty="0" sz="1000" spc="145">
                <a:latin typeface="Times New Roman"/>
                <a:cs typeface="Times New Roman"/>
              </a:rPr>
              <a:t> </a:t>
            </a:r>
            <a:r>
              <a:rPr dirty="0" sz="1000">
                <a:latin typeface="Times New Roman"/>
                <a:cs typeface="Times New Roman"/>
              </a:rPr>
              <a:t>37]</a:t>
            </a:r>
            <a:r>
              <a:rPr dirty="0" sz="1000" spc="130">
                <a:latin typeface="Times New Roman"/>
                <a:cs typeface="Times New Roman"/>
              </a:rPr>
              <a:t> </a:t>
            </a:r>
            <a:r>
              <a:rPr dirty="0" sz="1000">
                <a:latin typeface="Times New Roman"/>
                <a:cs typeface="Times New Roman"/>
              </a:rPr>
              <a:t>and</a:t>
            </a:r>
            <a:r>
              <a:rPr dirty="0" sz="1000" spc="130">
                <a:latin typeface="Times New Roman"/>
                <a:cs typeface="Times New Roman"/>
              </a:rPr>
              <a:t> </a:t>
            </a:r>
            <a:r>
              <a:rPr dirty="0" sz="1000">
                <a:latin typeface="Times New Roman"/>
                <a:cs typeface="Times New Roman"/>
              </a:rPr>
              <a:t>attention-based</a:t>
            </a:r>
            <a:r>
              <a:rPr dirty="0" sz="1000" spc="130">
                <a:latin typeface="Times New Roman"/>
                <a:cs typeface="Times New Roman"/>
              </a:rPr>
              <a:t> </a:t>
            </a:r>
            <a:r>
              <a:rPr dirty="0" sz="1000">
                <a:latin typeface="Times New Roman"/>
                <a:cs typeface="Times New Roman"/>
              </a:rPr>
              <a:t>fusion</a:t>
            </a:r>
            <a:r>
              <a:rPr dirty="0" sz="1000" spc="130">
                <a:latin typeface="Times New Roman"/>
                <a:cs typeface="Times New Roman"/>
              </a:rPr>
              <a:t> </a:t>
            </a:r>
            <a:r>
              <a:rPr dirty="0" sz="1000">
                <a:latin typeface="Times New Roman"/>
                <a:cs typeface="Times New Roman"/>
              </a:rPr>
              <a:t>[7,</a:t>
            </a:r>
            <a:r>
              <a:rPr dirty="0" sz="1000" spc="145">
                <a:latin typeface="Times New Roman"/>
                <a:cs typeface="Times New Roman"/>
              </a:rPr>
              <a:t> </a:t>
            </a:r>
            <a:r>
              <a:rPr dirty="0" sz="1000">
                <a:latin typeface="Times New Roman"/>
                <a:cs typeface="Times New Roman"/>
              </a:rPr>
              <a:t>40].</a:t>
            </a:r>
            <a:r>
              <a:rPr dirty="0" sz="1000" spc="385">
                <a:latin typeface="Times New Roman"/>
                <a:cs typeface="Times New Roman"/>
              </a:rPr>
              <a:t> </a:t>
            </a:r>
            <a:r>
              <a:rPr dirty="0" sz="1000">
                <a:latin typeface="Times New Roman"/>
                <a:cs typeface="Times New Roman"/>
              </a:rPr>
              <a:t>Moreover,</a:t>
            </a:r>
            <a:r>
              <a:rPr dirty="0" sz="1000" spc="150">
                <a:latin typeface="Times New Roman"/>
                <a:cs typeface="Times New Roman"/>
              </a:rPr>
              <a:t> </a:t>
            </a:r>
            <a:r>
              <a:rPr dirty="0" sz="1000">
                <a:latin typeface="Times New Roman"/>
                <a:cs typeface="Times New Roman"/>
              </a:rPr>
              <a:t>considerable</a:t>
            </a:r>
            <a:r>
              <a:rPr dirty="0" sz="1000" spc="130">
                <a:latin typeface="Times New Roman"/>
                <a:cs typeface="Times New Roman"/>
              </a:rPr>
              <a:t> </a:t>
            </a:r>
            <a:r>
              <a:rPr dirty="0" sz="1000" spc="-10">
                <a:latin typeface="Times New Roman"/>
                <a:cs typeface="Times New Roman"/>
              </a:rPr>
              <a:t>efforts </a:t>
            </a:r>
            <a:r>
              <a:rPr dirty="0" sz="1000" spc="10">
                <a:latin typeface="Times New Roman"/>
                <a:cs typeface="Times New Roman"/>
              </a:rPr>
              <a:t>have</a:t>
            </a:r>
            <a:r>
              <a:rPr dirty="0" sz="1000" spc="120">
                <a:latin typeface="Times New Roman"/>
                <a:cs typeface="Times New Roman"/>
              </a:rPr>
              <a:t> </a:t>
            </a:r>
            <a:r>
              <a:rPr dirty="0" sz="1000" spc="10">
                <a:latin typeface="Times New Roman"/>
                <a:cs typeface="Times New Roman"/>
              </a:rPr>
              <a:t>been</a:t>
            </a:r>
            <a:r>
              <a:rPr dirty="0" sz="1000" spc="125">
                <a:latin typeface="Times New Roman"/>
                <a:cs typeface="Times New Roman"/>
              </a:rPr>
              <a:t> </a:t>
            </a:r>
            <a:r>
              <a:rPr dirty="0" sz="1000" spc="10">
                <a:latin typeface="Times New Roman"/>
                <a:cs typeface="Times New Roman"/>
              </a:rPr>
              <a:t>dedicated</a:t>
            </a:r>
            <a:r>
              <a:rPr dirty="0" sz="1000" spc="125">
                <a:latin typeface="Times New Roman"/>
                <a:cs typeface="Times New Roman"/>
              </a:rPr>
              <a:t> </a:t>
            </a:r>
            <a:r>
              <a:rPr dirty="0" sz="1000" spc="10">
                <a:latin typeface="Times New Roman"/>
                <a:cs typeface="Times New Roman"/>
              </a:rPr>
              <a:t>to</a:t>
            </a:r>
            <a:r>
              <a:rPr dirty="0" sz="1000" spc="125">
                <a:latin typeface="Times New Roman"/>
                <a:cs typeface="Times New Roman"/>
              </a:rPr>
              <a:t> </a:t>
            </a:r>
            <a:r>
              <a:rPr dirty="0" sz="1000" spc="10">
                <a:latin typeface="Times New Roman"/>
                <a:cs typeface="Times New Roman"/>
              </a:rPr>
              <a:t>harnessing</a:t>
            </a:r>
            <a:r>
              <a:rPr dirty="0" sz="1000" spc="125">
                <a:latin typeface="Times New Roman"/>
                <a:cs typeface="Times New Roman"/>
              </a:rPr>
              <a:t> </a:t>
            </a:r>
            <a:r>
              <a:rPr dirty="0" sz="1000" spc="10">
                <a:latin typeface="Times New Roman"/>
                <a:cs typeface="Times New Roman"/>
              </a:rPr>
              <a:t>information</a:t>
            </a:r>
            <a:r>
              <a:rPr dirty="0" sz="1000" spc="120">
                <a:latin typeface="Times New Roman"/>
                <a:cs typeface="Times New Roman"/>
              </a:rPr>
              <a:t> </a:t>
            </a:r>
            <a:r>
              <a:rPr dirty="0" sz="1000" spc="10">
                <a:latin typeface="Times New Roman"/>
                <a:cs typeface="Times New Roman"/>
              </a:rPr>
              <a:t>from</a:t>
            </a:r>
            <a:r>
              <a:rPr dirty="0" sz="1000" spc="125">
                <a:latin typeface="Times New Roman"/>
                <a:cs typeface="Times New Roman"/>
              </a:rPr>
              <a:t> </a:t>
            </a:r>
            <a:r>
              <a:rPr dirty="0" sz="1000" spc="10">
                <a:latin typeface="Times New Roman"/>
                <a:cs typeface="Times New Roman"/>
              </a:rPr>
              <a:t>multiple</a:t>
            </a:r>
            <a:r>
              <a:rPr dirty="0" sz="1000" spc="125">
                <a:latin typeface="Times New Roman"/>
                <a:cs typeface="Times New Roman"/>
              </a:rPr>
              <a:t> </a:t>
            </a:r>
            <a:r>
              <a:rPr dirty="0" sz="1000" spc="10">
                <a:latin typeface="Times New Roman"/>
                <a:cs typeface="Times New Roman"/>
              </a:rPr>
              <a:t>modalities</a:t>
            </a:r>
            <a:r>
              <a:rPr dirty="0" sz="1000" spc="130">
                <a:latin typeface="Times New Roman"/>
                <a:cs typeface="Times New Roman"/>
              </a:rPr>
              <a:t> </a:t>
            </a:r>
            <a:r>
              <a:rPr dirty="0" sz="1000" spc="10">
                <a:latin typeface="Times New Roman"/>
                <a:cs typeface="Times New Roman"/>
              </a:rPr>
              <a:t>to</a:t>
            </a:r>
            <a:r>
              <a:rPr dirty="0" sz="1000" spc="125">
                <a:latin typeface="Times New Roman"/>
                <a:cs typeface="Times New Roman"/>
              </a:rPr>
              <a:t> </a:t>
            </a:r>
            <a:r>
              <a:rPr dirty="0" sz="1000" spc="10">
                <a:latin typeface="Times New Roman"/>
                <a:cs typeface="Times New Roman"/>
              </a:rPr>
              <a:t>enhance</a:t>
            </a:r>
            <a:r>
              <a:rPr dirty="0" sz="1000" spc="125">
                <a:latin typeface="Times New Roman"/>
                <a:cs typeface="Times New Roman"/>
              </a:rPr>
              <a:t> </a:t>
            </a:r>
            <a:r>
              <a:rPr dirty="0" sz="1000" spc="10">
                <a:latin typeface="Times New Roman"/>
                <a:cs typeface="Times New Roman"/>
              </a:rPr>
              <a:t>model</a:t>
            </a:r>
            <a:r>
              <a:rPr dirty="0" sz="1000" spc="125">
                <a:latin typeface="Times New Roman"/>
                <a:cs typeface="Times New Roman"/>
              </a:rPr>
              <a:t> </a:t>
            </a:r>
            <a:r>
              <a:rPr dirty="0" sz="1000" spc="10">
                <a:latin typeface="Times New Roman"/>
                <a:cs typeface="Times New Roman"/>
              </a:rPr>
              <a:t>performance</a:t>
            </a:r>
            <a:r>
              <a:rPr dirty="0" sz="1000" spc="125">
                <a:latin typeface="Times New Roman"/>
                <a:cs typeface="Times New Roman"/>
              </a:rPr>
              <a:t> </a:t>
            </a:r>
            <a:r>
              <a:rPr dirty="0" sz="1000" spc="-25">
                <a:latin typeface="Times New Roman"/>
                <a:cs typeface="Times New Roman"/>
              </a:rPr>
              <a:t>in </a:t>
            </a:r>
            <a:r>
              <a:rPr dirty="0" sz="1000">
                <a:latin typeface="Times New Roman"/>
                <a:cs typeface="Times New Roman"/>
              </a:rPr>
              <a:t>specific</a:t>
            </a:r>
            <a:r>
              <a:rPr dirty="0" sz="1000" spc="45">
                <a:latin typeface="Times New Roman"/>
                <a:cs typeface="Times New Roman"/>
              </a:rPr>
              <a:t> </a:t>
            </a:r>
            <a:r>
              <a:rPr dirty="0" sz="1000" spc="10">
                <a:latin typeface="Times New Roman"/>
                <a:cs typeface="Times New Roman"/>
              </a:rPr>
              <a:t>tasks</a:t>
            </a:r>
            <a:r>
              <a:rPr dirty="0" sz="1000" spc="45">
                <a:latin typeface="Times New Roman"/>
                <a:cs typeface="Times New Roman"/>
              </a:rPr>
              <a:t> </a:t>
            </a:r>
            <a:r>
              <a:rPr dirty="0" sz="1000" spc="10">
                <a:latin typeface="Times New Roman"/>
                <a:cs typeface="Times New Roman"/>
              </a:rPr>
              <a:t>compared</a:t>
            </a:r>
            <a:r>
              <a:rPr dirty="0" sz="1000" spc="50">
                <a:latin typeface="Times New Roman"/>
                <a:cs typeface="Times New Roman"/>
              </a:rPr>
              <a:t> </a:t>
            </a:r>
            <a:r>
              <a:rPr dirty="0" sz="1000" spc="10">
                <a:latin typeface="Times New Roman"/>
                <a:cs typeface="Times New Roman"/>
              </a:rPr>
              <a:t>to</a:t>
            </a:r>
            <a:r>
              <a:rPr dirty="0" sz="1000" spc="45">
                <a:latin typeface="Times New Roman"/>
                <a:cs typeface="Times New Roman"/>
              </a:rPr>
              <a:t> </a:t>
            </a:r>
            <a:r>
              <a:rPr dirty="0" sz="1000" spc="10">
                <a:latin typeface="Times New Roman"/>
                <a:cs typeface="Times New Roman"/>
              </a:rPr>
              <a:t>unimodal</a:t>
            </a:r>
            <a:r>
              <a:rPr dirty="0" sz="1000" spc="50">
                <a:latin typeface="Times New Roman"/>
                <a:cs typeface="Times New Roman"/>
              </a:rPr>
              <a:t> </a:t>
            </a:r>
            <a:r>
              <a:rPr dirty="0" sz="1000" spc="10">
                <a:latin typeface="Times New Roman"/>
                <a:cs typeface="Times New Roman"/>
              </a:rPr>
              <a:t>frameworks.</a:t>
            </a:r>
            <a:r>
              <a:rPr dirty="0" sz="1000" spc="175">
                <a:latin typeface="Times New Roman"/>
                <a:cs typeface="Times New Roman"/>
              </a:rPr>
              <a:t> </a:t>
            </a:r>
            <a:r>
              <a:rPr dirty="0" sz="1000" spc="10">
                <a:latin typeface="Times New Roman"/>
                <a:cs typeface="Times New Roman"/>
              </a:rPr>
              <a:t>These</a:t>
            </a:r>
            <a:r>
              <a:rPr dirty="0" sz="1000" spc="45">
                <a:latin typeface="Times New Roman"/>
                <a:cs typeface="Times New Roman"/>
              </a:rPr>
              <a:t> </a:t>
            </a:r>
            <a:r>
              <a:rPr dirty="0" sz="1000" spc="10">
                <a:latin typeface="Times New Roman"/>
                <a:cs typeface="Times New Roman"/>
              </a:rPr>
              <a:t>tasks</a:t>
            </a:r>
            <a:r>
              <a:rPr dirty="0" sz="1000" spc="45">
                <a:latin typeface="Times New Roman"/>
                <a:cs typeface="Times New Roman"/>
              </a:rPr>
              <a:t> </a:t>
            </a:r>
            <a:r>
              <a:rPr dirty="0" sz="1000" spc="10">
                <a:latin typeface="Times New Roman"/>
                <a:cs typeface="Times New Roman"/>
              </a:rPr>
              <a:t>include</a:t>
            </a:r>
            <a:r>
              <a:rPr dirty="0" sz="1000" spc="50">
                <a:latin typeface="Times New Roman"/>
                <a:cs typeface="Times New Roman"/>
              </a:rPr>
              <a:t> </a:t>
            </a:r>
            <a:r>
              <a:rPr dirty="0" sz="1000" spc="10">
                <a:latin typeface="Times New Roman"/>
                <a:cs typeface="Times New Roman"/>
              </a:rPr>
              <a:t>action</a:t>
            </a:r>
            <a:r>
              <a:rPr dirty="0" sz="1000" spc="45">
                <a:latin typeface="Times New Roman"/>
                <a:cs typeface="Times New Roman"/>
              </a:rPr>
              <a:t> </a:t>
            </a:r>
            <a:r>
              <a:rPr dirty="0" sz="1000" spc="10">
                <a:latin typeface="Times New Roman"/>
                <a:cs typeface="Times New Roman"/>
              </a:rPr>
              <a:t>recognition</a:t>
            </a:r>
            <a:r>
              <a:rPr dirty="0" sz="1000" spc="50">
                <a:latin typeface="Times New Roman"/>
                <a:cs typeface="Times New Roman"/>
              </a:rPr>
              <a:t> </a:t>
            </a:r>
            <a:r>
              <a:rPr dirty="0" sz="1000" spc="10">
                <a:latin typeface="Times New Roman"/>
                <a:cs typeface="Times New Roman"/>
              </a:rPr>
              <a:t>[6,</a:t>
            </a:r>
            <a:r>
              <a:rPr dirty="0" sz="1000" spc="50">
                <a:latin typeface="Times New Roman"/>
                <a:cs typeface="Times New Roman"/>
              </a:rPr>
              <a:t> </a:t>
            </a:r>
            <a:r>
              <a:rPr dirty="0" sz="1000" spc="10">
                <a:latin typeface="Times New Roman"/>
                <a:cs typeface="Times New Roman"/>
              </a:rPr>
              <a:t>10,</a:t>
            </a:r>
            <a:r>
              <a:rPr dirty="0" sz="1000" spc="55">
                <a:latin typeface="Times New Roman"/>
                <a:cs typeface="Times New Roman"/>
              </a:rPr>
              <a:t> </a:t>
            </a:r>
            <a:r>
              <a:rPr dirty="0" sz="1000" spc="10">
                <a:latin typeface="Times New Roman"/>
                <a:cs typeface="Times New Roman"/>
              </a:rPr>
              <a:t>19],</a:t>
            </a:r>
            <a:r>
              <a:rPr dirty="0" sz="1000" spc="55">
                <a:latin typeface="Times New Roman"/>
                <a:cs typeface="Times New Roman"/>
              </a:rPr>
              <a:t> </a:t>
            </a:r>
            <a:r>
              <a:rPr dirty="0" sz="1000" spc="-10">
                <a:latin typeface="Times New Roman"/>
                <a:cs typeface="Times New Roman"/>
              </a:rPr>
              <a:t>seman- </a:t>
            </a:r>
            <a:r>
              <a:rPr dirty="0" sz="1000">
                <a:latin typeface="Times New Roman"/>
                <a:cs typeface="Times New Roman"/>
              </a:rPr>
              <a:t>tic</a:t>
            </a:r>
            <a:r>
              <a:rPr dirty="0" sz="1000" spc="100">
                <a:latin typeface="Times New Roman"/>
                <a:cs typeface="Times New Roman"/>
              </a:rPr>
              <a:t> </a:t>
            </a:r>
            <a:r>
              <a:rPr dirty="0" sz="1000">
                <a:latin typeface="Times New Roman"/>
                <a:cs typeface="Times New Roman"/>
              </a:rPr>
              <a:t>segmentation</a:t>
            </a:r>
            <a:r>
              <a:rPr dirty="0" sz="1000" spc="100">
                <a:latin typeface="Times New Roman"/>
                <a:cs typeface="Times New Roman"/>
              </a:rPr>
              <a:t> </a:t>
            </a:r>
            <a:r>
              <a:rPr dirty="0" sz="1000">
                <a:latin typeface="Times New Roman"/>
                <a:cs typeface="Times New Roman"/>
              </a:rPr>
              <a:t>[4,</a:t>
            </a:r>
            <a:r>
              <a:rPr dirty="0" sz="1000" spc="120">
                <a:latin typeface="Times New Roman"/>
                <a:cs typeface="Times New Roman"/>
              </a:rPr>
              <a:t> </a:t>
            </a:r>
            <a:r>
              <a:rPr dirty="0" sz="1000">
                <a:latin typeface="Times New Roman"/>
                <a:cs typeface="Times New Roman"/>
              </a:rPr>
              <a:t>13,</a:t>
            </a:r>
            <a:r>
              <a:rPr dirty="0" sz="1000" spc="120">
                <a:latin typeface="Times New Roman"/>
                <a:cs typeface="Times New Roman"/>
              </a:rPr>
              <a:t> </a:t>
            </a:r>
            <a:r>
              <a:rPr dirty="0" sz="1000">
                <a:latin typeface="Times New Roman"/>
                <a:cs typeface="Times New Roman"/>
              </a:rPr>
              <a:t>23]</a:t>
            </a:r>
            <a:r>
              <a:rPr dirty="0" sz="1000" spc="100">
                <a:latin typeface="Times New Roman"/>
                <a:cs typeface="Times New Roman"/>
              </a:rPr>
              <a:t> </a:t>
            </a:r>
            <a:r>
              <a:rPr dirty="0" sz="1000">
                <a:latin typeface="Times New Roman"/>
                <a:cs typeface="Times New Roman"/>
              </a:rPr>
              <a:t>and</a:t>
            </a:r>
            <a:r>
              <a:rPr dirty="0" sz="1000" spc="100">
                <a:latin typeface="Times New Roman"/>
                <a:cs typeface="Times New Roman"/>
              </a:rPr>
              <a:t> </a:t>
            </a:r>
            <a:r>
              <a:rPr dirty="0" sz="1000">
                <a:latin typeface="Times New Roman"/>
                <a:cs typeface="Times New Roman"/>
              </a:rPr>
              <a:t>audio-visual</a:t>
            </a:r>
            <a:r>
              <a:rPr dirty="0" sz="1000" spc="100">
                <a:latin typeface="Times New Roman"/>
                <a:cs typeface="Times New Roman"/>
              </a:rPr>
              <a:t> </a:t>
            </a:r>
            <a:r>
              <a:rPr dirty="0" sz="1000">
                <a:latin typeface="Times New Roman"/>
                <a:cs typeface="Times New Roman"/>
              </a:rPr>
              <a:t>speech</a:t>
            </a:r>
            <a:r>
              <a:rPr dirty="0" sz="1000" spc="105">
                <a:latin typeface="Times New Roman"/>
                <a:cs typeface="Times New Roman"/>
              </a:rPr>
              <a:t> </a:t>
            </a:r>
            <a:r>
              <a:rPr dirty="0" sz="1000">
                <a:latin typeface="Times New Roman"/>
                <a:cs typeface="Times New Roman"/>
              </a:rPr>
              <a:t>recognition</a:t>
            </a:r>
            <a:r>
              <a:rPr dirty="0" sz="1000" spc="100">
                <a:latin typeface="Times New Roman"/>
                <a:cs typeface="Times New Roman"/>
              </a:rPr>
              <a:t> </a:t>
            </a:r>
            <a:r>
              <a:rPr dirty="0" sz="1000">
                <a:latin typeface="Times New Roman"/>
                <a:cs typeface="Times New Roman"/>
              </a:rPr>
              <a:t>[1,</a:t>
            </a:r>
            <a:r>
              <a:rPr dirty="0" sz="1000" spc="120">
                <a:latin typeface="Times New Roman"/>
                <a:cs typeface="Times New Roman"/>
              </a:rPr>
              <a:t> </a:t>
            </a:r>
            <a:r>
              <a:rPr dirty="0" sz="1000">
                <a:latin typeface="Times New Roman"/>
                <a:cs typeface="Times New Roman"/>
              </a:rPr>
              <a:t>22,</a:t>
            </a:r>
            <a:r>
              <a:rPr dirty="0" sz="1000" spc="120">
                <a:latin typeface="Times New Roman"/>
                <a:cs typeface="Times New Roman"/>
              </a:rPr>
              <a:t> </a:t>
            </a:r>
            <a:r>
              <a:rPr dirty="0" sz="1000">
                <a:latin typeface="Times New Roman"/>
                <a:cs typeface="Times New Roman"/>
              </a:rPr>
              <a:t>27].</a:t>
            </a:r>
            <a:r>
              <a:rPr dirty="0" sz="1000" spc="325">
                <a:latin typeface="Times New Roman"/>
                <a:cs typeface="Times New Roman"/>
              </a:rPr>
              <a:t> </a:t>
            </a:r>
            <a:r>
              <a:rPr dirty="0" sz="1000" spc="-10">
                <a:latin typeface="Times New Roman"/>
                <a:cs typeface="Times New Roman"/>
              </a:rPr>
              <a:t>Yet,</a:t>
            </a:r>
            <a:r>
              <a:rPr dirty="0" sz="1000" spc="120">
                <a:latin typeface="Times New Roman"/>
                <a:cs typeface="Times New Roman"/>
              </a:rPr>
              <a:t> </a:t>
            </a:r>
            <a:r>
              <a:rPr dirty="0" sz="1000">
                <a:latin typeface="Times New Roman"/>
                <a:cs typeface="Times New Roman"/>
              </a:rPr>
              <a:t>in</a:t>
            </a:r>
            <a:r>
              <a:rPr dirty="0" sz="1000" spc="100">
                <a:latin typeface="Times New Roman"/>
                <a:cs typeface="Times New Roman"/>
              </a:rPr>
              <a:t> </a:t>
            </a:r>
            <a:r>
              <a:rPr dirty="0" sz="1000">
                <a:latin typeface="Times New Roman"/>
                <a:cs typeface="Times New Roman"/>
              </a:rPr>
              <a:t>joint</a:t>
            </a:r>
            <a:r>
              <a:rPr dirty="0" sz="1000" spc="100">
                <a:latin typeface="Times New Roman"/>
                <a:cs typeface="Times New Roman"/>
              </a:rPr>
              <a:t> </a:t>
            </a:r>
            <a:r>
              <a:rPr dirty="0" sz="1000">
                <a:latin typeface="Times New Roman"/>
                <a:cs typeface="Times New Roman"/>
              </a:rPr>
              <a:t>training</a:t>
            </a:r>
            <a:r>
              <a:rPr dirty="0" sz="1000" spc="100">
                <a:latin typeface="Times New Roman"/>
                <a:cs typeface="Times New Roman"/>
              </a:rPr>
              <a:t> </a:t>
            </a:r>
            <a:r>
              <a:rPr dirty="0" sz="1000" spc="-10">
                <a:latin typeface="Times New Roman"/>
                <a:cs typeface="Times New Roman"/>
              </a:rPr>
              <a:t>strategies, </a:t>
            </a:r>
            <a:r>
              <a:rPr dirty="0" sz="1000" spc="10">
                <a:latin typeface="Times New Roman"/>
                <a:cs typeface="Times New Roman"/>
              </a:rPr>
              <a:t>many</a:t>
            </a:r>
            <a:r>
              <a:rPr dirty="0" sz="1000" spc="135">
                <a:latin typeface="Times New Roman"/>
                <a:cs typeface="Times New Roman"/>
              </a:rPr>
              <a:t> </a:t>
            </a:r>
            <a:r>
              <a:rPr dirty="0" sz="1000" spc="10">
                <a:latin typeface="Times New Roman"/>
                <a:cs typeface="Times New Roman"/>
              </a:rPr>
              <a:t>multimodal</a:t>
            </a:r>
            <a:r>
              <a:rPr dirty="0" sz="1000" spc="145">
                <a:latin typeface="Times New Roman"/>
                <a:cs typeface="Times New Roman"/>
              </a:rPr>
              <a:t> </a:t>
            </a:r>
            <a:r>
              <a:rPr dirty="0" sz="1000" spc="10">
                <a:latin typeface="Times New Roman"/>
                <a:cs typeface="Times New Roman"/>
              </a:rPr>
              <a:t>methods</a:t>
            </a:r>
            <a:r>
              <a:rPr dirty="0" sz="1000" spc="145">
                <a:latin typeface="Times New Roman"/>
                <a:cs typeface="Times New Roman"/>
              </a:rPr>
              <a:t> </a:t>
            </a:r>
            <a:r>
              <a:rPr dirty="0" sz="1000" spc="10">
                <a:latin typeface="Times New Roman"/>
                <a:cs typeface="Times New Roman"/>
              </a:rPr>
              <a:t>often</a:t>
            </a:r>
            <a:r>
              <a:rPr dirty="0" sz="1000" spc="140">
                <a:latin typeface="Times New Roman"/>
                <a:cs typeface="Times New Roman"/>
              </a:rPr>
              <a:t> </a:t>
            </a:r>
            <a:r>
              <a:rPr dirty="0" sz="1000" spc="10">
                <a:latin typeface="Times New Roman"/>
                <a:cs typeface="Times New Roman"/>
              </a:rPr>
              <a:t>don’t</a:t>
            </a:r>
            <a:r>
              <a:rPr dirty="0" sz="1000" spc="135">
                <a:latin typeface="Times New Roman"/>
                <a:cs typeface="Times New Roman"/>
              </a:rPr>
              <a:t> </a:t>
            </a:r>
            <a:r>
              <a:rPr dirty="0" sz="1000" spc="10">
                <a:latin typeface="Times New Roman"/>
                <a:cs typeface="Times New Roman"/>
              </a:rPr>
              <a:t>fully</a:t>
            </a:r>
            <a:r>
              <a:rPr dirty="0" sz="1000" spc="140">
                <a:latin typeface="Times New Roman"/>
                <a:cs typeface="Times New Roman"/>
              </a:rPr>
              <a:t> </a:t>
            </a:r>
            <a:r>
              <a:rPr dirty="0" sz="1000" spc="10">
                <a:latin typeface="Times New Roman"/>
                <a:cs typeface="Times New Roman"/>
              </a:rPr>
              <a:t>utilize</a:t>
            </a:r>
            <a:r>
              <a:rPr dirty="0" sz="1000" spc="145">
                <a:latin typeface="Times New Roman"/>
                <a:cs typeface="Times New Roman"/>
              </a:rPr>
              <a:t> </a:t>
            </a:r>
            <a:r>
              <a:rPr dirty="0" sz="1000" spc="10">
                <a:latin typeface="Times New Roman"/>
                <a:cs typeface="Times New Roman"/>
              </a:rPr>
              <a:t>all</a:t>
            </a:r>
            <a:r>
              <a:rPr dirty="0" sz="1000" spc="145">
                <a:latin typeface="Times New Roman"/>
                <a:cs typeface="Times New Roman"/>
              </a:rPr>
              <a:t> </a:t>
            </a:r>
            <a:r>
              <a:rPr dirty="0" sz="1000" spc="10">
                <a:latin typeface="Times New Roman"/>
                <a:cs typeface="Times New Roman"/>
              </a:rPr>
              <a:t>modalities,</a:t>
            </a:r>
            <a:r>
              <a:rPr dirty="0" sz="1000" spc="165">
                <a:latin typeface="Times New Roman"/>
                <a:cs typeface="Times New Roman"/>
              </a:rPr>
              <a:t> </a:t>
            </a:r>
            <a:r>
              <a:rPr dirty="0" sz="1000" spc="10">
                <a:latin typeface="Times New Roman"/>
                <a:cs typeface="Times New Roman"/>
              </a:rPr>
              <a:t>resulting</a:t>
            </a:r>
            <a:r>
              <a:rPr dirty="0" sz="1000" spc="135">
                <a:latin typeface="Times New Roman"/>
                <a:cs typeface="Times New Roman"/>
              </a:rPr>
              <a:t> </a:t>
            </a:r>
            <a:r>
              <a:rPr dirty="0" sz="1000" spc="10">
                <a:latin typeface="Times New Roman"/>
                <a:cs typeface="Times New Roman"/>
              </a:rPr>
              <a:t>in</a:t>
            </a:r>
            <a:r>
              <a:rPr dirty="0" sz="1000" spc="140">
                <a:latin typeface="Times New Roman"/>
                <a:cs typeface="Times New Roman"/>
              </a:rPr>
              <a:t> </a:t>
            </a:r>
            <a:r>
              <a:rPr dirty="0" sz="1000" spc="10">
                <a:latin typeface="Times New Roman"/>
                <a:cs typeface="Times New Roman"/>
              </a:rPr>
              <a:t>suboptimal</a:t>
            </a:r>
            <a:r>
              <a:rPr dirty="0" sz="1000" spc="145">
                <a:latin typeface="Times New Roman"/>
                <a:cs typeface="Times New Roman"/>
              </a:rPr>
              <a:t> </a:t>
            </a:r>
            <a:r>
              <a:rPr dirty="0" sz="1000" spc="10">
                <a:latin typeface="Times New Roman"/>
                <a:cs typeface="Times New Roman"/>
              </a:rPr>
              <a:t>unimodal</a:t>
            </a:r>
            <a:r>
              <a:rPr dirty="0" sz="1000" spc="145">
                <a:latin typeface="Times New Roman"/>
                <a:cs typeface="Times New Roman"/>
              </a:rPr>
              <a:t> </a:t>
            </a:r>
            <a:r>
              <a:rPr dirty="0" sz="1000" spc="-10">
                <a:latin typeface="Times New Roman"/>
                <a:cs typeface="Times New Roman"/>
              </a:rPr>
              <a:t>repre- </a:t>
            </a:r>
            <a:r>
              <a:rPr dirty="0" sz="1000" spc="10">
                <a:latin typeface="Times New Roman"/>
                <a:cs typeface="Times New Roman"/>
              </a:rPr>
              <a:t>sentations.</a:t>
            </a:r>
            <a:r>
              <a:rPr dirty="0" sz="1000" spc="240">
                <a:latin typeface="Times New Roman"/>
                <a:cs typeface="Times New Roman"/>
              </a:rPr>
              <a:t> </a:t>
            </a:r>
            <a:r>
              <a:rPr dirty="0" sz="1000" spc="10">
                <a:latin typeface="Times New Roman"/>
                <a:cs typeface="Times New Roman"/>
              </a:rPr>
              <a:t>This</a:t>
            </a:r>
            <a:r>
              <a:rPr dirty="0" sz="1000" spc="80">
                <a:latin typeface="Times New Roman"/>
                <a:cs typeface="Times New Roman"/>
              </a:rPr>
              <a:t> </a:t>
            </a:r>
            <a:r>
              <a:rPr dirty="0" sz="1000" spc="10">
                <a:latin typeface="Times New Roman"/>
                <a:cs typeface="Times New Roman"/>
              </a:rPr>
              <a:t>leads</a:t>
            </a:r>
            <a:r>
              <a:rPr dirty="0" sz="1000" spc="80">
                <a:latin typeface="Times New Roman"/>
                <a:cs typeface="Times New Roman"/>
              </a:rPr>
              <a:t> </a:t>
            </a:r>
            <a:r>
              <a:rPr dirty="0" sz="1000" spc="10">
                <a:latin typeface="Times New Roman"/>
                <a:cs typeface="Times New Roman"/>
              </a:rPr>
              <a:t>to</a:t>
            </a:r>
            <a:r>
              <a:rPr dirty="0" sz="1000" spc="70">
                <a:latin typeface="Times New Roman"/>
                <a:cs typeface="Times New Roman"/>
              </a:rPr>
              <a:t> </a:t>
            </a:r>
            <a:r>
              <a:rPr dirty="0" sz="1000" spc="10">
                <a:latin typeface="Times New Roman"/>
                <a:cs typeface="Times New Roman"/>
              </a:rPr>
              <a:t>multimodal</a:t>
            </a:r>
            <a:r>
              <a:rPr dirty="0" sz="1000" spc="75">
                <a:latin typeface="Times New Roman"/>
                <a:cs typeface="Times New Roman"/>
              </a:rPr>
              <a:t> </a:t>
            </a:r>
            <a:r>
              <a:rPr dirty="0" sz="1000" spc="10">
                <a:latin typeface="Times New Roman"/>
                <a:cs typeface="Times New Roman"/>
              </a:rPr>
              <a:t>model</a:t>
            </a:r>
            <a:r>
              <a:rPr dirty="0" sz="1000" spc="80">
                <a:latin typeface="Times New Roman"/>
                <a:cs typeface="Times New Roman"/>
              </a:rPr>
              <a:t> </a:t>
            </a:r>
            <a:r>
              <a:rPr dirty="0" sz="1000" spc="10">
                <a:latin typeface="Times New Roman"/>
                <a:cs typeface="Times New Roman"/>
              </a:rPr>
              <a:t>performance</a:t>
            </a:r>
            <a:r>
              <a:rPr dirty="0" sz="1000" spc="75">
                <a:latin typeface="Times New Roman"/>
                <a:cs typeface="Times New Roman"/>
              </a:rPr>
              <a:t> </a:t>
            </a:r>
            <a:r>
              <a:rPr dirty="0" sz="1000" spc="10">
                <a:latin typeface="Times New Roman"/>
                <a:cs typeface="Times New Roman"/>
              </a:rPr>
              <a:t>falling</a:t>
            </a:r>
            <a:r>
              <a:rPr dirty="0" sz="1000" spc="80">
                <a:latin typeface="Times New Roman"/>
                <a:cs typeface="Times New Roman"/>
              </a:rPr>
              <a:t> </a:t>
            </a:r>
            <a:r>
              <a:rPr dirty="0" sz="1000" spc="10">
                <a:latin typeface="Times New Roman"/>
                <a:cs typeface="Times New Roman"/>
              </a:rPr>
              <a:t>short</a:t>
            </a:r>
            <a:r>
              <a:rPr dirty="0" sz="1000" spc="75">
                <a:latin typeface="Times New Roman"/>
                <a:cs typeface="Times New Roman"/>
              </a:rPr>
              <a:t> </a:t>
            </a:r>
            <a:r>
              <a:rPr dirty="0" sz="1000" spc="10">
                <a:latin typeface="Times New Roman"/>
                <a:cs typeface="Times New Roman"/>
              </a:rPr>
              <a:t>of</a:t>
            </a:r>
            <a:r>
              <a:rPr dirty="0" sz="1000" spc="80">
                <a:latin typeface="Times New Roman"/>
                <a:cs typeface="Times New Roman"/>
              </a:rPr>
              <a:t> </a:t>
            </a:r>
            <a:r>
              <a:rPr dirty="0" sz="1000" spc="10">
                <a:latin typeface="Times New Roman"/>
                <a:cs typeface="Times New Roman"/>
              </a:rPr>
              <a:t>expectations,</a:t>
            </a:r>
            <a:r>
              <a:rPr dirty="0" sz="1000" spc="85">
                <a:latin typeface="Times New Roman"/>
                <a:cs typeface="Times New Roman"/>
              </a:rPr>
              <a:t> </a:t>
            </a:r>
            <a:r>
              <a:rPr dirty="0" sz="1000" spc="10">
                <a:latin typeface="Times New Roman"/>
                <a:cs typeface="Times New Roman"/>
              </a:rPr>
              <a:t>even</a:t>
            </a:r>
            <a:r>
              <a:rPr dirty="0" sz="1000" spc="70">
                <a:latin typeface="Times New Roman"/>
                <a:cs typeface="Times New Roman"/>
              </a:rPr>
              <a:t> </a:t>
            </a:r>
            <a:r>
              <a:rPr dirty="0" sz="1000" spc="10">
                <a:latin typeface="Times New Roman"/>
                <a:cs typeface="Times New Roman"/>
              </a:rPr>
              <a:t>inferior</a:t>
            </a:r>
            <a:r>
              <a:rPr dirty="0" sz="1000" spc="80">
                <a:latin typeface="Times New Roman"/>
                <a:cs typeface="Times New Roman"/>
              </a:rPr>
              <a:t> </a:t>
            </a:r>
            <a:r>
              <a:rPr dirty="0" sz="1000" spc="10">
                <a:latin typeface="Times New Roman"/>
                <a:cs typeface="Times New Roman"/>
              </a:rPr>
              <a:t>to</a:t>
            </a:r>
            <a:r>
              <a:rPr dirty="0" sz="1000" spc="70">
                <a:latin typeface="Times New Roman"/>
                <a:cs typeface="Times New Roman"/>
              </a:rPr>
              <a:t> </a:t>
            </a:r>
            <a:r>
              <a:rPr dirty="0" sz="1000" spc="-10">
                <a:latin typeface="Times New Roman"/>
                <a:cs typeface="Times New Roman"/>
              </a:rPr>
              <a:t>their </a:t>
            </a:r>
            <a:r>
              <a:rPr dirty="0" sz="1000" spc="10">
                <a:latin typeface="Times New Roman"/>
                <a:cs typeface="Times New Roman"/>
              </a:rPr>
              <a:t>unimodal</a:t>
            </a:r>
            <a:r>
              <a:rPr dirty="0" sz="1000" spc="200">
                <a:latin typeface="Times New Roman"/>
                <a:cs typeface="Times New Roman"/>
              </a:rPr>
              <a:t> </a:t>
            </a:r>
            <a:r>
              <a:rPr dirty="0" sz="1000" spc="-10">
                <a:latin typeface="Times New Roman"/>
                <a:cs typeface="Times New Roman"/>
              </a:rPr>
              <a:t>counterparts.</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spc="-5">
                <a:latin typeface="SimSun"/>
                <a:cs typeface="SimSun"/>
              </a:rPr>
              <a:t>多模态学习利用多模态数据中包含的互补信息来提高各种任务的性能。该领域的一个重要方向是</a:t>
            </a:r>
            <a:r>
              <a:rPr dirty="0" sz="1000">
                <a:latin typeface="SimSun"/>
                <a:cs typeface="SimSun"/>
              </a:rPr>
              <a:t>模态融合方法的设计，如基于张量的融合</a:t>
            </a:r>
            <a:r>
              <a:rPr dirty="0" sz="1000" spc="-5">
                <a:latin typeface="Times New Roman"/>
                <a:cs typeface="Times New Roman"/>
              </a:rPr>
              <a:t>[12, 37] </a:t>
            </a:r>
            <a:r>
              <a:rPr dirty="0" sz="1000" spc="15">
                <a:latin typeface="SimSun"/>
                <a:cs typeface="SimSun"/>
              </a:rPr>
              <a:t>和基于注意力的融合</a:t>
            </a:r>
            <a:r>
              <a:rPr dirty="0" sz="1000" spc="-5">
                <a:latin typeface="Times New Roman"/>
                <a:cs typeface="Times New Roman"/>
              </a:rPr>
              <a:t>[7, 40]</a:t>
            </a:r>
            <a:r>
              <a:rPr dirty="0" sz="1000" spc="-10">
                <a:latin typeface="SimSun"/>
                <a:cs typeface="SimSun"/>
              </a:rPr>
              <a:t>。此外，与单模态框</a:t>
            </a:r>
            <a:r>
              <a:rPr dirty="0" sz="1000" spc="-45">
                <a:latin typeface="SimSun"/>
                <a:cs typeface="SimSun"/>
              </a:rPr>
              <a:t>架相比，人们已经投入了大量努力来利用来自多个模态的信息来提高特定任务中的模型性能。这些</a:t>
            </a:r>
            <a:r>
              <a:rPr dirty="0" sz="1000" spc="-40">
                <a:latin typeface="SimSun"/>
                <a:cs typeface="SimSun"/>
              </a:rPr>
              <a:t>任务包括动作识别 </a:t>
            </a:r>
            <a:r>
              <a:rPr dirty="0" sz="1000" spc="-5">
                <a:latin typeface="Times New Roman"/>
                <a:cs typeface="Times New Roman"/>
              </a:rPr>
              <a:t>[6,</a:t>
            </a:r>
            <a:r>
              <a:rPr dirty="0" sz="1000" spc="5">
                <a:latin typeface="Times New Roman"/>
                <a:cs typeface="Times New Roman"/>
              </a:rPr>
              <a:t> </a:t>
            </a:r>
            <a:r>
              <a:rPr dirty="0" sz="1000" spc="-10">
                <a:latin typeface="Times New Roman"/>
                <a:cs typeface="Times New Roman"/>
              </a:rPr>
              <a:t>10,</a:t>
            </a:r>
            <a:r>
              <a:rPr dirty="0" sz="1000" spc="5">
                <a:latin typeface="Times New Roman"/>
                <a:cs typeface="Times New Roman"/>
              </a:rPr>
              <a:t> </a:t>
            </a:r>
            <a:r>
              <a:rPr dirty="0" sz="1000" spc="-5">
                <a:latin typeface="Times New Roman"/>
                <a:cs typeface="Times New Roman"/>
              </a:rPr>
              <a:t>19]</a:t>
            </a:r>
            <a:r>
              <a:rPr dirty="0" sz="1000" spc="-50">
                <a:latin typeface="SimSun"/>
                <a:cs typeface="SimSun"/>
              </a:rPr>
              <a:t>、语义分割 </a:t>
            </a:r>
            <a:r>
              <a:rPr dirty="0" sz="1000" spc="-5">
                <a:latin typeface="Times New Roman"/>
                <a:cs typeface="Times New Roman"/>
              </a:rPr>
              <a:t>[4,</a:t>
            </a:r>
            <a:r>
              <a:rPr dirty="0" sz="1000" spc="5">
                <a:latin typeface="Times New Roman"/>
                <a:cs typeface="Times New Roman"/>
              </a:rPr>
              <a:t> </a:t>
            </a:r>
            <a:r>
              <a:rPr dirty="0" sz="1000" spc="-10">
                <a:latin typeface="Times New Roman"/>
                <a:cs typeface="Times New Roman"/>
              </a:rPr>
              <a:t>13,</a:t>
            </a:r>
            <a:r>
              <a:rPr dirty="0" sz="1000" spc="5">
                <a:latin typeface="Times New Roman"/>
                <a:cs typeface="Times New Roman"/>
              </a:rPr>
              <a:t> </a:t>
            </a:r>
            <a:r>
              <a:rPr dirty="0" sz="1000" spc="-5">
                <a:latin typeface="Times New Roman"/>
                <a:cs typeface="Times New Roman"/>
              </a:rPr>
              <a:t>23]</a:t>
            </a:r>
            <a:r>
              <a:rPr dirty="0" sz="1000">
                <a:latin typeface="Times New Roman"/>
                <a:cs typeface="Times New Roman"/>
              </a:rPr>
              <a:t> </a:t>
            </a:r>
            <a:r>
              <a:rPr dirty="0" sz="1000" spc="-40">
                <a:latin typeface="SimSun"/>
                <a:cs typeface="SimSun"/>
              </a:rPr>
              <a:t>和视听语音识别 </a:t>
            </a:r>
            <a:r>
              <a:rPr dirty="0" sz="1000" spc="-5">
                <a:latin typeface="Times New Roman"/>
                <a:cs typeface="Times New Roman"/>
              </a:rPr>
              <a:t>[1,</a:t>
            </a:r>
            <a:r>
              <a:rPr dirty="0" sz="1000" spc="5">
                <a:latin typeface="Times New Roman"/>
                <a:cs typeface="Times New Roman"/>
              </a:rPr>
              <a:t> </a:t>
            </a:r>
            <a:r>
              <a:rPr dirty="0" sz="1000" spc="-10">
                <a:latin typeface="Times New Roman"/>
                <a:cs typeface="Times New Roman"/>
              </a:rPr>
              <a:t>22,</a:t>
            </a:r>
            <a:r>
              <a:rPr dirty="0" sz="1000" spc="5">
                <a:latin typeface="Times New Roman"/>
                <a:cs typeface="Times New Roman"/>
              </a:rPr>
              <a:t> </a:t>
            </a:r>
            <a:r>
              <a:rPr dirty="0" sz="1000" spc="-5">
                <a:latin typeface="Times New Roman"/>
                <a:cs typeface="Times New Roman"/>
              </a:rPr>
              <a:t>27]</a:t>
            </a:r>
            <a:r>
              <a:rPr dirty="0" sz="1000" spc="-10">
                <a:latin typeface="SimSun"/>
                <a:cs typeface="SimSun"/>
              </a:rPr>
              <a:t>。然而，在联合训练</a:t>
            </a:r>
            <a:r>
              <a:rPr dirty="0" sz="1000" spc="-45">
                <a:latin typeface="SimSun"/>
                <a:cs typeface="SimSun"/>
              </a:rPr>
              <a:t>策略中，许多多模态方法往往没有充分利用所有模态，导致单模态表示次优。这导致多模态模型性</a:t>
            </a:r>
            <a:r>
              <a:rPr dirty="0" sz="1000" spc="-10">
                <a:latin typeface="SimSun"/>
                <a:cs typeface="SimSun"/>
              </a:rPr>
              <a:t>能未达预期，甚至不如其单模态对应模型。</a:t>
            </a:r>
            <a:endParaRPr sz="1000">
              <a:latin typeface="SimSun"/>
              <a:cs typeface="SimSun"/>
            </a:endParaRPr>
          </a:p>
          <a:p>
            <a:pPr>
              <a:lnSpc>
                <a:spcPct val="100000"/>
              </a:lnSpc>
            </a:pPr>
            <a:endParaRPr sz="1000">
              <a:latin typeface="SimSun"/>
              <a:cs typeface="SimSun"/>
            </a:endParaRPr>
          </a:p>
          <a:p>
            <a:pPr>
              <a:lnSpc>
                <a:spcPct val="100000"/>
              </a:lnSpc>
              <a:spcBef>
                <a:spcPts val="395"/>
              </a:spcBef>
            </a:pPr>
            <a:endParaRPr sz="1000">
              <a:latin typeface="SimSun"/>
              <a:cs typeface="SimSun"/>
            </a:endParaRPr>
          </a:p>
          <a:p>
            <a:pPr lvl="1" marL="346075" indent="-333375">
              <a:lnSpc>
                <a:spcPct val="100000"/>
              </a:lnSpc>
              <a:buAutoNum type="arabicPeriod" startAt="2"/>
              <a:tabLst>
                <a:tab pos="346075" algn="l"/>
              </a:tabLst>
            </a:pPr>
            <a:r>
              <a:rPr dirty="0" sz="1400" b="1">
                <a:latin typeface="Times New Roman"/>
                <a:cs typeface="Times New Roman"/>
              </a:rPr>
              <a:t>Under-</a:t>
            </a:r>
            <a:r>
              <a:rPr dirty="0" sz="1400" spc="60" b="1">
                <a:latin typeface="Times New Roman"/>
                <a:cs typeface="Times New Roman"/>
              </a:rPr>
              <a:t>optimization</a:t>
            </a:r>
            <a:r>
              <a:rPr dirty="0" sz="1400" spc="95" b="1">
                <a:latin typeface="Times New Roman"/>
                <a:cs typeface="Times New Roman"/>
              </a:rPr>
              <a:t> </a:t>
            </a:r>
            <a:r>
              <a:rPr dirty="0" sz="1400" spc="85" b="1">
                <a:latin typeface="Times New Roman"/>
                <a:cs typeface="Times New Roman"/>
              </a:rPr>
              <a:t>in</a:t>
            </a:r>
            <a:r>
              <a:rPr dirty="0" sz="1400" spc="100" b="1">
                <a:latin typeface="Times New Roman"/>
                <a:cs typeface="Times New Roman"/>
              </a:rPr>
              <a:t> </a:t>
            </a:r>
            <a:r>
              <a:rPr dirty="0" sz="1400" spc="60" b="1">
                <a:latin typeface="Times New Roman"/>
                <a:cs typeface="Times New Roman"/>
              </a:rPr>
              <a:t>Multimodal</a:t>
            </a:r>
            <a:r>
              <a:rPr dirty="0" sz="1400" spc="95" b="1">
                <a:latin typeface="Times New Roman"/>
                <a:cs typeface="Times New Roman"/>
              </a:rPr>
              <a:t> </a:t>
            </a:r>
            <a:r>
              <a:rPr dirty="0" sz="1400" spc="-10" b="1">
                <a:latin typeface="Times New Roman"/>
                <a:cs typeface="Times New Roman"/>
              </a:rPr>
              <a:t>Learning</a:t>
            </a:r>
            <a:endParaRPr sz="1400">
              <a:latin typeface="Times New Roman"/>
              <a:cs typeface="Times New Roman"/>
            </a:endParaRPr>
          </a:p>
          <a:p>
            <a:pPr>
              <a:lnSpc>
                <a:spcPct val="100000"/>
              </a:lnSpc>
              <a:spcBef>
                <a:spcPts val="305"/>
              </a:spcBef>
            </a:pPr>
            <a:endParaRPr sz="1400">
              <a:latin typeface="Times New Roman"/>
              <a:cs typeface="Times New Roman"/>
            </a:endParaRPr>
          </a:p>
          <a:p>
            <a:pPr marL="192405">
              <a:lnSpc>
                <a:spcPct val="100000"/>
              </a:lnSpc>
            </a:pPr>
            <a:r>
              <a:rPr dirty="0" sz="1400" b="1">
                <a:latin typeface="Times New Roman"/>
                <a:cs typeface="Times New Roman"/>
              </a:rPr>
              <a:t>2.2.</a:t>
            </a:r>
            <a:r>
              <a:rPr dirty="0" sz="1400" spc="434" b="1">
                <a:latin typeface="Times New Roman"/>
                <a:cs typeface="Times New Roman"/>
              </a:rPr>
              <a:t> </a:t>
            </a:r>
            <a:r>
              <a:rPr dirty="0" sz="1400" spc="-5" b="1">
                <a:latin typeface="Microsoft JhengHei"/>
                <a:cs typeface="Microsoft JhengHei"/>
              </a:rPr>
              <a:t>多模态学习中的优化不足</a:t>
            </a:r>
            <a:endParaRPr sz="1400">
              <a:latin typeface="Microsoft JhengHei"/>
              <a:cs typeface="Microsoft JhengHei"/>
            </a:endParaRPr>
          </a:p>
          <a:p>
            <a:pPr algn="just" marL="12700" marR="5080" indent="252729">
              <a:lnSpc>
                <a:spcPct val="129500"/>
              </a:lnSpc>
              <a:spcBef>
                <a:spcPts val="1215"/>
              </a:spcBef>
            </a:pPr>
            <a:r>
              <a:rPr dirty="0" sz="1000" spc="10">
                <a:latin typeface="Times New Roman"/>
                <a:cs typeface="Times New Roman"/>
              </a:rPr>
              <a:t>Recent</a:t>
            </a:r>
            <a:r>
              <a:rPr dirty="0" sz="1000" spc="80">
                <a:latin typeface="Times New Roman"/>
                <a:cs typeface="Times New Roman"/>
              </a:rPr>
              <a:t> </a:t>
            </a:r>
            <a:r>
              <a:rPr dirty="0" sz="1000" spc="10">
                <a:latin typeface="Times New Roman"/>
                <a:cs typeface="Times New Roman"/>
              </a:rPr>
              <a:t>studies</a:t>
            </a:r>
            <a:r>
              <a:rPr dirty="0" sz="1000" spc="85">
                <a:latin typeface="Times New Roman"/>
                <a:cs typeface="Times New Roman"/>
              </a:rPr>
              <a:t> </a:t>
            </a:r>
            <a:r>
              <a:rPr dirty="0" sz="1000" spc="10">
                <a:latin typeface="Times New Roman"/>
                <a:cs typeface="Times New Roman"/>
              </a:rPr>
              <a:t>pointed</a:t>
            </a:r>
            <a:r>
              <a:rPr dirty="0" sz="1000" spc="90">
                <a:latin typeface="Times New Roman"/>
                <a:cs typeface="Times New Roman"/>
              </a:rPr>
              <a:t> </a:t>
            </a:r>
            <a:r>
              <a:rPr dirty="0" sz="1000" spc="10">
                <a:latin typeface="Times New Roman"/>
                <a:cs typeface="Times New Roman"/>
              </a:rPr>
              <a:t>out</a:t>
            </a:r>
            <a:r>
              <a:rPr dirty="0" sz="1000" spc="90">
                <a:latin typeface="Times New Roman"/>
                <a:cs typeface="Times New Roman"/>
              </a:rPr>
              <a:t> </a:t>
            </a:r>
            <a:r>
              <a:rPr dirty="0" sz="1000" spc="10">
                <a:latin typeface="Times New Roman"/>
                <a:cs typeface="Times New Roman"/>
              </a:rPr>
              <a:t>that</a:t>
            </a:r>
            <a:r>
              <a:rPr dirty="0" sz="1000" spc="90">
                <a:latin typeface="Times New Roman"/>
                <a:cs typeface="Times New Roman"/>
              </a:rPr>
              <a:t> </a:t>
            </a:r>
            <a:r>
              <a:rPr dirty="0" sz="1000" spc="10">
                <a:latin typeface="Times New Roman"/>
                <a:cs typeface="Times New Roman"/>
              </a:rPr>
              <a:t>most</a:t>
            </a:r>
            <a:r>
              <a:rPr dirty="0" sz="1000" spc="85">
                <a:latin typeface="Times New Roman"/>
                <a:cs typeface="Times New Roman"/>
              </a:rPr>
              <a:t> </a:t>
            </a:r>
            <a:r>
              <a:rPr dirty="0" sz="1000" spc="10">
                <a:latin typeface="Times New Roman"/>
                <a:cs typeface="Times New Roman"/>
              </a:rPr>
              <a:t>multimodal</a:t>
            </a:r>
            <a:r>
              <a:rPr dirty="0" sz="1000" spc="90">
                <a:latin typeface="Times New Roman"/>
                <a:cs typeface="Times New Roman"/>
              </a:rPr>
              <a:t> </a:t>
            </a:r>
            <a:r>
              <a:rPr dirty="0" sz="1000" spc="10">
                <a:latin typeface="Times New Roman"/>
                <a:cs typeface="Times New Roman"/>
              </a:rPr>
              <a:t>learning</a:t>
            </a:r>
            <a:r>
              <a:rPr dirty="0" sz="1000" spc="90">
                <a:latin typeface="Times New Roman"/>
                <a:cs typeface="Times New Roman"/>
              </a:rPr>
              <a:t> </a:t>
            </a:r>
            <a:r>
              <a:rPr dirty="0" sz="1000" spc="10">
                <a:latin typeface="Times New Roman"/>
                <a:cs typeface="Times New Roman"/>
              </a:rPr>
              <a:t>methods</a:t>
            </a:r>
            <a:r>
              <a:rPr dirty="0" sz="1000" spc="85">
                <a:latin typeface="Times New Roman"/>
                <a:cs typeface="Times New Roman"/>
              </a:rPr>
              <a:t> </a:t>
            </a:r>
            <a:r>
              <a:rPr dirty="0" sz="1000" spc="10">
                <a:latin typeface="Times New Roman"/>
                <a:cs typeface="Times New Roman"/>
              </a:rPr>
              <a:t>fail</a:t>
            </a:r>
            <a:r>
              <a:rPr dirty="0" sz="1000" spc="90">
                <a:latin typeface="Times New Roman"/>
                <a:cs typeface="Times New Roman"/>
              </a:rPr>
              <a:t> </a:t>
            </a:r>
            <a:r>
              <a:rPr dirty="0" sz="1000" spc="10">
                <a:latin typeface="Times New Roman"/>
                <a:cs typeface="Times New Roman"/>
              </a:rPr>
              <a:t>to</a:t>
            </a:r>
            <a:r>
              <a:rPr dirty="0" sz="1000" spc="90">
                <a:latin typeface="Times New Roman"/>
                <a:cs typeface="Times New Roman"/>
              </a:rPr>
              <a:t> </a:t>
            </a:r>
            <a:r>
              <a:rPr dirty="0" sz="1000" spc="10">
                <a:latin typeface="Times New Roman"/>
                <a:cs typeface="Times New Roman"/>
              </a:rPr>
              <a:t>enhance</a:t>
            </a:r>
            <a:r>
              <a:rPr dirty="0" sz="1000" spc="85">
                <a:latin typeface="Times New Roman"/>
                <a:cs typeface="Times New Roman"/>
              </a:rPr>
              <a:t> </a:t>
            </a:r>
            <a:r>
              <a:rPr dirty="0" sz="1000" spc="10">
                <a:latin typeface="Times New Roman"/>
                <a:cs typeface="Times New Roman"/>
              </a:rPr>
              <a:t>performance</a:t>
            </a:r>
            <a:r>
              <a:rPr dirty="0" sz="1000" spc="90">
                <a:latin typeface="Times New Roman"/>
                <a:cs typeface="Times New Roman"/>
              </a:rPr>
              <a:t> </a:t>
            </a:r>
            <a:r>
              <a:rPr dirty="0" sz="1000" spc="-10">
                <a:latin typeface="Times New Roman"/>
                <a:cs typeface="Times New Roman"/>
              </a:rPr>
              <a:t>signifi- </a:t>
            </a:r>
            <a:r>
              <a:rPr dirty="0" sz="1000">
                <a:latin typeface="Times New Roman"/>
                <a:cs typeface="Times New Roman"/>
              </a:rPr>
              <a:t>cantly</a:t>
            </a:r>
            <a:r>
              <a:rPr dirty="0" sz="1000" spc="5">
                <a:latin typeface="Times New Roman"/>
                <a:cs typeface="Times New Roman"/>
              </a:rPr>
              <a:t> </a:t>
            </a:r>
            <a:r>
              <a:rPr dirty="0" sz="1000">
                <a:latin typeface="Times New Roman"/>
                <a:cs typeface="Times New Roman"/>
              </a:rPr>
              <a:t>even</a:t>
            </a:r>
            <a:r>
              <a:rPr dirty="0" sz="1000" spc="5">
                <a:latin typeface="Times New Roman"/>
                <a:cs typeface="Times New Roman"/>
              </a:rPr>
              <a:t> </a:t>
            </a:r>
            <a:r>
              <a:rPr dirty="0" sz="1000">
                <a:latin typeface="Times New Roman"/>
                <a:cs typeface="Times New Roman"/>
              </a:rPr>
              <a:t>with</a:t>
            </a:r>
            <a:r>
              <a:rPr dirty="0" sz="1000" spc="5">
                <a:latin typeface="Times New Roman"/>
                <a:cs typeface="Times New Roman"/>
              </a:rPr>
              <a:t> </a:t>
            </a:r>
            <a:r>
              <a:rPr dirty="0" sz="1000">
                <a:latin typeface="Times New Roman"/>
                <a:cs typeface="Times New Roman"/>
              </a:rPr>
              <a:t>more</a:t>
            </a:r>
            <a:r>
              <a:rPr dirty="0" sz="1000" spc="5">
                <a:latin typeface="Times New Roman"/>
                <a:cs typeface="Times New Roman"/>
              </a:rPr>
              <a:t> </a:t>
            </a:r>
            <a:r>
              <a:rPr dirty="0" sz="1000">
                <a:latin typeface="Times New Roman"/>
                <a:cs typeface="Times New Roman"/>
              </a:rPr>
              <a:t>information</a:t>
            </a:r>
            <a:r>
              <a:rPr dirty="0" sz="1000" spc="5">
                <a:latin typeface="Times New Roman"/>
                <a:cs typeface="Times New Roman"/>
              </a:rPr>
              <a:t> </a:t>
            </a:r>
            <a:r>
              <a:rPr dirty="0" sz="1000">
                <a:latin typeface="Times New Roman"/>
                <a:cs typeface="Times New Roman"/>
              </a:rPr>
              <a:t>[8,</a:t>
            </a:r>
            <a:r>
              <a:rPr dirty="0" sz="1000" spc="20">
                <a:latin typeface="Times New Roman"/>
                <a:cs typeface="Times New Roman"/>
              </a:rPr>
              <a:t> </a:t>
            </a:r>
            <a:r>
              <a:rPr dirty="0" sz="1000">
                <a:latin typeface="Times New Roman"/>
                <a:cs typeface="Times New Roman"/>
              </a:rPr>
              <a:t>9,</a:t>
            </a:r>
            <a:r>
              <a:rPr dirty="0" sz="1000" spc="20">
                <a:latin typeface="Times New Roman"/>
                <a:cs typeface="Times New Roman"/>
              </a:rPr>
              <a:t> </a:t>
            </a:r>
            <a:r>
              <a:rPr dirty="0" sz="1000" spc="-10">
                <a:latin typeface="Times New Roman"/>
                <a:cs typeface="Times New Roman"/>
              </a:rPr>
              <a:t>17,</a:t>
            </a:r>
            <a:r>
              <a:rPr dirty="0" sz="1000" spc="15">
                <a:latin typeface="Times New Roman"/>
                <a:cs typeface="Times New Roman"/>
              </a:rPr>
              <a:t> </a:t>
            </a:r>
            <a:r>
              <a:rPr dirty="0" sz="1000" spc="-10">
                <a:latin typeface="Times New Roman"/>
                <a:cs typeface="Times New Roman"/>
              </a:rPr>
              <a:t>21,</a:t>
            </a:r>
            <a:r>
              <a:rPr dirty="0" sz="1000" spc="20">
                <a:latin typeface="Times New Roman"/>
                <a:cs typeface="Times New Roman"/>
              </a:rPr>
              <a:t> </a:t>
            </a:r>
            <a:r>
              <a:rPr dirty="0" sz="1000" spc="-10">
                <a:latin typeface="Times New Roman"/>
                <a:cs typeface="Times New Roman"/>
              </a:rPr>
              <a:t>28,</a:t>
            </a:r>
            <a:r>
              <a:rPr dirty="0" sz="1000" spc="20">
                <a:latin typeface="Times New Roman"/>
                <a:cs typeface="Times New Roman"/>
              </a:rPr>
              <a:t> </a:t>
            </a:r>
            <a:r>
              <a:rPr dirty="0" sz="1000" spc="-10">
                <a:latin typeface="Times New Roman"/>
                <a:cs typeface="Times New Roman"/>
              </a:rPr>
              <a:t>36,</a:t>
            </a:r>
            <a:r>
              <a:rPr dirty="0" sz="1000" spc="15">
                <a:latin typeface="Times New Roman"/>
                <a:cs typeface="Times New Roman"/>
              </a:rPr>
              <a:t> </a:t>
            </a:r>
            <a:r>
              <a:rPr dirty="0" sz="1000">
                <a:latin typeface="Times New Roman"/>
                <a:cs typeface="Times New Roman"/>
              </a:rPr>
              <a:t>39].</a:t>
            </a:r>
            <a:r>
              <a:rPr dirty="0" sz="1000" spc="140">
                <a:latin typeface="Times New Roman"/>
                <a:cs typeface="Times New Roman"/>
              </a:rPr>
              <a:t> </a:t>
            </a:r>
            <a:r>
              <a:rPr dirty="0" sz="1000">
                <a:latin typeface="Times New Roman"/>
                <a:cs typeface="Times New Roman"/>
              </a:rPr>
              <a:t>Wang</a:t>
            </a:r>
            <a:r>
              <a:rPr dirty="0" sz="1000" spc="5">
                <a:latin typeface="Times New Roman"/>
                <a:cs typeface="Times New Roman"/>
              </a:rPr>
              <a:t> </a:t>
            </a:r>
            <a:r>
              <a:rPr dirty="0" sz="1000">
                <a:latin typeface="Times New Roman"/>
                <a:cs typeface="Times New Roman"/>
              </a:rPr>
              <a:t>et</a:t>
            </a:r>
            <a:r>
              <a:rPr dirty="0" sz="1000" spc="5">
                <a:latin typeface="Times New Roman"/>
                <a:cs typeface="Times New Roman"/>
              </a:rPr>
              <a:t> </a:t>
            </a:r>
            <a:r>
              <a:rPr dirty="0" sz="1000">
                <a:latin typeface="Times New Roman"/>
                <a:cs typeface="Times New Roman"/>
              </a:rPr>
              <a:t>al.</a:t>
            </a:r>
            <a:r>
              <a:rPr dirty="0" sz="1000" spc="135">
                <a:latin typeface="Times New Roman"/>
                <a:cs typeface="Times New Roman"/>
              </a:rPr>
              <a:t> </a:t>
            </a:r>
            <a:r>
              <a:rPr dirty="0" sz="1000">
                <a:latin typeface="Times New Roman"/>
                <a:cs typeface="Times New Roman"/>
              </a:rPr>
              <a:t>[28]</a:t>
            </a:r>
            <a:r>
              <a:rPr dirty="0" sz="1000" spc="5">
                <a:latin typeface="Times New Roman"/>
                <a:cs typeface="Times New Roman"/>
              </a:rPr>
              <a:t> </a:t>
            </a:r>
            <a:r>
              <a:rPr dirty="0" sz="1000">
                <a:latin typeface="Times New Roman"/>
                <a:cs typeface="Times New Roman"/>
              </a:rPr>
              <a:t>observed</a:t>
            </a:r>
            <a:r>
              <a:rPr dirty="0" sz="1000" spc="5">
                <a:latin typeface="Times New Roman"/>
                <a:cs typeface="Times New Roman"/>
              </a:rPr>
              <a:t> </a:t>
            </a:r>
            <a:r>
              <a:rPr dirty="0" sz="1000">
                <a:latin typeface="Times New Roman"/>
                <a:cs typeface="Times New Roman"/>
              </a:rPr>
              <a:t>that</a:t>
            </a:r>
            <a:r>
              <a:rPr dirty="0" sz="1000" spc="10">
                <a:latin typeface="Times New Roman"/>
                <a:cs typeface="Times New Roman"/>
              </a:rPr>
              <a:t> </a:t>
            </a:r>
            <a:r>
              <a:rPr dirty="0" sz="1000">
                <a:latin typeface="Times New Roman"/>
                <a:cs typeface="Times New Roman"/>
              </a:rPr>
              <a:t>different</a:t>
            </a:r>
            <a:r>
              <a:rPr dirty="0" sz="1000" spc="5">
                <a:latin typeface="Times New Roman"/>
                <a:cs typeface="Times New Roman"/>
              </a:rPr>
              <a:t> </a:t>
            </a:r>
            <a:r>
              <a:rPr dirty="0" sz="1000" spc="-10">
                <a:latin typeface="Times New Roman"/>
                <a:cs typeface="Times New Roman"/>
              </a:rPr>
              <a:t>modalities </a:t>
            </a:r>
            <a:r>
              <a:rPr dirty="0" sz="1000" spc="10">
                <a:latin typeface="Times New Roman"/>
                <a:cs typeface="Times New Roman"/>
              </a:rPr>
              <a:t>exhibit</a:t>
            </a:r>
            <a:r>
              <a:rPr dirty="0" sz="1000" spc="55">
                <a:latin typeface="Times New Roman"/>
                <a:cs typeface="Times New Roman"/>
              </a:rPr>
              <a:t> </a:t>
            </a:r>
            <a:r>
              <a:rPr dirty="0" sz="1000" spc="10">
                <a:latin typeface="Times New Roman"/>
                <a:cs typeface="Times New Roman"/>
              </a:rPr>
              <a:t>varying</a:t>
            </a:r>
            <a:r>
              <a:rPr dirty="0" sz="1000" spc="55">
                <a:latin typeface="Times New Roman"/>
                <a:cs typeface="Times New Roman"/>
              </a:rPr>
              <a:t> </a:t>
            </a:r>
            <a:r>
              <a:rPr dirty="0" sz="1000" spc="10">
                <a:latin typeface="Times New Roman"/>
                <a:cs typeface="Times New Roman"/>
              </a:rPr>
              <a:t>convergence</a:t>
            </a:r>
            <a:r>
              <a:rPr dirty="0" sz="1000" spc="60">
                <a:latin typeface="Times New Roman"/>
                <a:cs typeface="Times New Roman"/>
              </a:rPr>
              <a:t> </a:t>
            </a:r>
            <a:r>
              <a:rPr dirty="0" sz="1000" spc="10">
                <a:latin typeface="Times New Roman"/>
                <a:cs typeface="Times New Roman"/>
              </a:rPr>
              <a:t>rates,</a:t>
            </a:r>
            <a:r>
              <a:rPr dirty="0" sz="1000" spc="55">
                <a:latin typeface="Times New Roman"/>
                <a:cs typeface="Times New Roman"/>
              </a:rPr>
              <a:t> </a:t>
            </a:r>
            <a:r>
              <a:rPr dirty="0" sz="1000" spc="10">
                <a:latin typeface="Times New Roman"/>
                <a:cs typeface="Times New Roman"/>
              </a:rPr>
              <a:t>leading</a:t>
            </a:r>
            <a:r>
              <a:rPr dirty="0" sz="1000" spc="55">
                <a:latin typeface="Times New Roman"/>
                <a:cs typeface="Times New Roman"/>
              </a:rPr>
              <a:t> </a:t>
            </a:r>
            <a:r>
              <a:rPr dirty="0" sz="1000" spc="10">
                <a:latin typeface="Times New Roman"/>
                <a:cs typeface="Times New Roman"/>
              </a:rPr>
              <a:t>to</a:t>
            </a:r>
            <a:r>
              <a:rPr dirty="0" sz="1000" spc="60">
                <a:latin typeface="Times New Roman"/>
                <a:cs typeface="Times New Roman"/>
              </a:rPr>
              <a:t> </a:t>
            </a:r>
            <a:r>
              <a:rPr dirty="0" sz="1000" spc="10">
                <a:latin typeface="Times New Roman"/>
                <a:cs typeface="Times New Roman"/>
              </a:rPr>
              <a:t>multimodal</a:t>
            </a:r>
            <a:r>
              <a:rPr dirty="0" sz="1000" spc="55">
                <a:latin typeface="Times New Roman"/>
                <a:cs typeface="Times New Roman"/>
              </a:rPr>
              <a:t> </a:t>
            </a:r>
            <a:r>
              <a:rPr dirty="0" sz="1000" spc="10">
                <a:latin typeface="Times New Roman"/>
                <a:cs typeface="Times New Roman"/>
              </a:rPr>
              <a:t>models</a:t>
            </a:r>
            <a:r>
              <a:rPr dirty="0" sz="1000" spc="55">
                <a:latin typeface="Times New Roman"/>
                <a:cs typeface="Times New Roman"/>
              </a:rPr>
              <a:t> </a:t>
            </a:r>
            <a:r>
              <a:rPr dirty="0" sz="1000" spc="10">
                <a:latin typeface="Times New Roman"/>
                <a:cs typeface="Times New Roman"/>
              </a:rPr>
              <a:t>that</a:t>
            </a:r>
            <a:r>
              <a:rPr dirty="0" sz="1000" spc="60">
                <a:latin typeface="Times New Roman"/>
                <a:cs typeface="Times New Roman"/>
              </a:rPr>
              <a:t> </a:t>
            </a:r>
            <a:r>
              <a:rPr dirty="0" sz="1000" spc="10">
                <a:latin typeface="Times New Roman"/>
                <a:cs typeface="Times New Roman"/>
              </a:rPr>
              <a:t>fail</a:t>
            </a:r>
            <a:r>
              <a:rPr dirty="0" sz="1000" spc="55">
                <a:latin typeface="Times New Roman"/>
                <a:cs typeface="Times New Roman"/>
              </a:rPr>
              <a:t> </a:t>
            </a:r>
            <a:r>
              <a:rPr dirty="0" sz="1000" spc="10">
                <a:latin typeface="Times New Roman"/>
                <a:cs typeface="Times New Roman"/>
              </a:rPr>
              <a:t>to</a:t>
            </a:r>
            <a:r>
              <a:rPr dirty="0" sz="1000" spc="55">
                <a:latin typeface="Times New Roman"/>
                <a:cs typeface="Times New Roman"/>
              </a:rPr>
              <a:t> </a:t>
            </a:r>
            <a:r>
              <a:rPr dirty="0" sz="1000" spc="10">
                <a:latin typeface="Times New Roman"/>
                <a:cs typeface="Times New Roman"/>
              </a:rPr>
              <a:t>surpass</a:t>
            </a:r>
            <a:r>
              <a:rPr dirty="0" sz="1000" spc="60">
                <a:latin typeface="Times New Roman"/>
                <a:cs typeface="Times New Roman"/>
              </a:rPr>
              <a:t> </a:t>
            </a:r>
            <a:r>
              <a:rPr dirty="0" sz="1000" spc="10">
                <a:latin typeface="Times New Roman"/>
                <a:cs typeface="Times New Roman"/>
              </a:rPr>
              <a:t>their</a:t>
            </a:r>
            <a:r>
              <a:rPr dirty="0" sz="1000" spc="55">
                <a:latin typeface="Times New Roman"/>
                <a:cs typeface="Times New Roman"/>
              </a:rPr>
              <a:t> </a:t>
            </a:r>
            <a:r>
              <a:rPr dirty="0" sz="1000" spc="10">
                <a:latin typeface="Times New Roman"/>
                <a:cs typeface="Times New Roman"/>
              </a:rPr>
              <a:t>unimodal</a:t>
            </a:r>
            <a:r>
              <a:rPr dirty="0" sz="1000" spc="60">
                <a:latin typeface="Times New Roman"/>
                <a:cs typeface="Times New Roman"/>
              </a:rPr>
              <a:t> </a:t>
            </a:r>
            <a:r>
              <a:rPr dirty="0" sz="1000" spc="-10">
                <a:latin typeface="Times New Roman"/>
                <a:cs typeface="Times New Roman"/>
              </a:rPr>
              <a:t>counter- </a:t>
            </a:r>
            <a:r>
              <a:rPr dirty="0" sz="1000">
                <a:latin typeface="Times New Roman"/>
                <a:cs typeface="Times New Roman"/>
              </a:rPr>
              <a:t>parts.</a:t>
            </a:r>
            <a:r>
              <a:rPr dirty="0" sz="1000" spc="475">
                <a:latin typeface="Times New Roman"/>
                <a:cs typeface="Times New Roman"/>
              </a:rPr>
              <a:t> </a:t>
            </a:r>
            <a:r>
              <a:rPr dirty="0" sz="1000">
                <a:latin typeface="Times New Roman"/>
                <a:cs typeface="Times New Roman"/>
              </a:rPr>
              <a:t>Peng</a:t>
            </a:r>
            <a:r>
              <a:rPr dirty="0" sz="1000" spc="175">
                <a:latin typeface="Times New Roman"/>
                <a:cs typeface="Times New Roman"/>
              </a:rPr>
              <a:t> </a:t>
            </a:r>
            <a:r>
              <a:rPr dirty="0" sz="1000">
                <a:latin typeface="Times New Roman"/>
                <a:cs typeface="Times New Roman"/>
              </a:rPr>
              <a:t>et</a:t>
            </a:r>
            <a:r>
              <a:rPr dirty="0" sz="1000" spc="175">
                <a:latin typeface="Times New Roman"/>
                <a:cs typeface="Times New Roman"/>
              </a:rPr>
              <a:t> </a:t>
            </a:r>
            <a:r>
              <a:rPr dirty="0" sz="1000">
                <a:latin typeface="Times New Roman"/>
                <a:cs typeface="Times New Roman"/>
              </a:rPr>
              <a:t>al.</a:t>
            </a:r>
            <a:r>
              <a:rPr dirty="0" sz="1000" spc="475">
                <a:latin typeface="Times New Roman"/>
                <a:cs typeface="Times New Roman"/>
              </a:rPr>
              <a:t> </a:t>
            </a:r>
            <a:r>
              <a:rPr dirty="0" sz="1000">
                <a:latin typeface="Times New Roman"/>
                <a:cs typeface="Times New Roman"/>
              </a:rPr>
              <a:t>[21]</a:t>
            </a:r>
            <a:r>
              <a:rPr dirty="0" sz="1000" spc="175">
                <a:latin typeface="Times New Roman"/>
                <a:cs typeface="Times New Roman"/>
              </a:rPr>
              <a:t> </a:t>
            </a:r>
            <a:r>
              <a:rPr dirty="0" sz="1000">
                <a:latin typeface="Times New Roman"/>
                <a:cs typeface="Times New Roman"/>
              </a:rPr>
              <a:t>further</a:t>
            </a:r>
            <a:r>
              <a:rPr dirty="0" sz="1000" spc="175">
                <a:latin typeface="Times New Roman"/>
                <a:cs typeface="Times New Roman"/>
              </a:rPr>
              <a:t> </a:t>
            </a:r>
            <a:r>
              <a:rPr dirty="0" sz="1000">
                <a:latin typeface="Times New Roman"/>
                <a:cs typeface="Times New Roman"/>
              </a:rPr>
              <a:t>showed</a:t>
            </a:r>
            <a:r>
              <a:rPr dirty="0" sz="1000" spc="170">
                <a:latin typeface="Times New Roman"/>
                <a:cs typeface="Times New Roman"/>
              </a:rPr>
              <a:t> </a:t>
            </a:r>
            <a:r>
              <a:rPr dirty="0" sz="1000">
                <a:latin typeface="Times New Roman"/>
                <a:cs typeface="Times New Roman"/>
              </a:rPr>
              <a:t>that</a:t>
            </a:r>
            <a:r>
              <a:rPr dirty="0" sz="1000" spc="175">
                <a:latin typeface="Times New Roman"/>
                <a:cs typeface="Times New Roman"/>
              </a:rPr>
              <a:t> </a:t>
            </a:r>
            <a:r>
              <a:rPr dirty="0" sz="1000">
                <a:latin typeface="Times New Roman"/>
                <a:cs typeface="Times New Roman"/>
              </a:rPr>
              <a:t>the</a:t>
            </a:r>
            <a:r>
              <a:rPr dirty="0" sz="1000" spc="175">
                <a:latin typeface="Times New Roman"/>
                <a:cs typeface="Times New Roman"/>
              </a:rPr>
              <a:t> </a:t>
            </a:r>
            <a:r>
              <a:rPr dirty="0" sz="1000">
                <a:latin typeface="Times New Roman"/>
                <a:cs typeface="Times New Roman"/>
              </a:rPr>
              <a:t>modality</a:t>
            </a:r>
            <a:r>
              <a:rPr dirty="0" sz="1000" spc="175">
                <a:latin typeface="Times New Roman"/>
                <a:cs typeface="Times New Roman"/>
              </a:rPr>
              <a:t> </a:t>
            </a:r>
            <a:r>
              <a:rPr dirty="0" sz="1000">
                <a:latin typeface="Times New Roman"/>
                <a:cs typeface="Times New Roman"/>
              </a:rPr>
              <a:t>with</a:t>
            </a:r>
            <a:r>
              <a:rPr dirty="0" sz="1000" spc="170">
                <a:latin typeface="Times New Roman"/>
                <a:cs typeface="Times New Roman"/>
              </a:rPr>
              <a:t> </a:t>
            </a:r>
            <a:r>
              <a:rPr dirty="0" sz="1000">
                <a:latin typeface="Times New Roman"/>
                <a:cs typeface="Times New Roman"/>
              </a:rPr>
              <a:t>superior</a:t>
            </a:r>
            <a:r>
              <a:rPr dirty="0" sz="1000" spc="175">
                <a:latin typeface="Times New Roman"/>
                <a:cs typeface="Times New Roman"/>
              </a:rPr>
              <a:t> </a:t>
            </a:r>
            <a:r>
              <a:rPr dirty="0" sz="1000">
                <a:latin typeface="Times New Roman"/>
                <a:cs typeface="Times New Roman"/>
              </a:rPr>
              <a:t>performance</a:t>
            </a:r>
            <a:r>
              <a:rPr dirty="0" sz="1000" spc="175">
                <a:latin typeface="Times New Roman"/>
                <a:cs typeface="Times New Roman"/>
              </a:rPr>
              <a:t> </a:t>
            </a:r>
            <a:r>
              <a:rPr dirty="0" sz="1000">
                <a:latin typeface="Times New Roman"/>
                <a:cs typeface="Times New Roman"/>
              </a:rPr>
              <a:t>tends</a:t>
            </a:r>
            <a:r>
              <a:rPr dirty="0" sz="1000" spc="175">
                <a:latin typeface="Times New Roman"/>
                <a:cs typeface="Times New Roman"/>
              </a:rPr>
              <a:t> </a:t>
            </a:r>
            <a:r>
              <a:rPr dirty="0" sz="1000">
                <a:latin typeface="Times New Roman"/>
                <a:cs typeface="Times New Roman"/>
              </a:rPr>
              <a:t>to</a:t>
            </a:r>
            <a:r>
              <a:rPr dirty="0" sz="1000" spc="175">
                <a:latin typeface="Times New Roman"/>
                <a:cs typeface="Times New Roman"/>
              </a:rPr>
              <a:t> </a:t>
            </a:r>
            <a:r>
              <a:rPr dirty="0" sz="1000">
                <a:latin typeface="Times New Roman"/>
                <a:cs typeface="Times New Roman"/>
              </a:rPr>
              <a:t>dominate</a:t>
            </a:r>
            <a:r>
              <a:rPr dirty="0" sz="1000" spc="170">
                <a:latin typeface="Times New Roman"/>
                <a:cs typeface="Times New Roman"/>
              </a:rPr>
              <a:t> </a:t>
            </a:r>
            <a:r>
              <a:rPr dirty="0" sz="1000" spc="-25">
                <a:latin typeface="Times New Roman"/>
                <a:cs typeface="Times New Roman"/>
              </a:rPr>
              <a:t>the </a:t>
            </a:r>
            <a:r>
              <a:rPr dirty="0" sz="1000">
                <a:latin typeface="Times New Roman"/>
                <a:cs typeface="Times New Roman"/>
              </a:rPr>
              <a:t>optimization</a:t>
            </a:r>
            <a:r>
              <a:rPr dirty="0" sz="1000" spc="90">
                <a:latin typeface="Times New Roman"/>
                <a:cs typeface="Times New Roman"/>
              </a:rPr>
              <a:t> </a:t>
            </a:r>
            <a:r>
              <a:rPr dirty="0" sz="1000">
                <a:latin typeface="Times New Roman"/>
                <a:cs typeface="Times New Roman"/>
              </a:rPr>
              <a:t>process,</a:t>
            </a:r>
            <a:r>
              <a:rPr dirty="0" sz="1000" spc="105">
                <a:latin typeface="Times New Roman"/>
                <a:cs typeface="Times New Roman"/>
              </a:rPr>
              <a:t> </a:t>
            </a:r>
            <a:r>
              <a:rPr dirty="0" sz="1000">
                <a:latin typeface="Times New Roman"/>
                <a:cs typeface="Times New Roman"/>
              </a:rPr>
              <a:t>leading</a:t>
            </a:r>
            <a:r>
              <a:rPr dirty="0" sz="1000" spc="95">
                <a:latin typeface="Times New Roman"/>
                <a:cs typeface="Times New Roman"/>
              </a:rPr>
              <a:t> </a:t>
            </a:r>
            <a:r>
              <a:rPr dirty="0" sz="1000">
                <a:latin typeface="Times New Roman"/>
                <a:cs typeface="Times New Roman"/>
              </a:rPr>
              <a:t>to</a:t>
            </a:r>
            <a:r>
              <a:rPr dirty="0" sz="1000" spc="95">
                <a:latin typeface="Times New Roman"/>
                <a:cs typeface="Times New Roman"/>
              </a:rPr>
              <a:t> </a:t>
            </a:r>
            <a:r>
              <a:rPr dirty="0" sz="1000">
                <a:latin typeface="Times New Roman"/>
                <a:cs typeface="Times New Roman"/>
              </a:rPr>
              <a:t>inadequate</a:t>
            </a:r>
            <a:r>
              <a:rPr dirty="0" sz="1000" spc="85">
                <a:latin typeface="Times New Roman"/>
                <a:cs typeface="Times New Roman"/>
              </a:rPr>
              <a:t> </a:t>
            </a:r>
            <a:r>
              <a:rPr dirty="0" sz="1000">
                <a:latin typeface="Times New Roman"/>
                <a:cs typeface="Times New Roman"/>
              </a:rPr>
              <a:t>feature</a:t>
            </a:r>
            <a:r>
              <a:rPr dirty="0" sz="1000" spc="85">
                <a:latin typeface="Times New Roman"/>
                <a:cs typeface="Times New Roman"/>
              </a:rPr>
              <a:t> </a:t>
            </a:r>
            <a:r>
              <a:rPr dirty="0" sz="1000">
                <a:latin typeface="Times New Roman"/>
                <a:cs typeface="Times New Roman"/>
              </a:rPr>
              <a:t>learning</a:t>
            </a:r>
            <a:r>
              <a:rPr dirty="0" sz="1000" spc="95">
                <a:latin typeface="Times New Roman"/>
                <a:cs typeface="Times New Roman"/>
              </a:rPr>
              <a:t> </a:t>
            </a:r>
            <a:r>
              <a:rPr dirty="0" sz="1000">
                <a:latin typeface="Times New Roman"/>
                <a:cs typeface="Times New Roman"/>
              </a:rPr>
              <a:t>in</a:t>
            </a:r>
            <a:r>
              <a:rPr dirty="0" sz="1000" spc="95">
                <a:latin typeface="Times New Roman"/>
                <a:cs typeface="Times New Roman"/>
              </a:rPr>
              <a:t> </a:t>
            </a:r>
            <a:r>
              <a:rPr dirty="0" sz="1000">
                <a:latin typeface="Times New Roman"/>
                <a:cs typeface="Times New Roman"/>
              </a:rPr>
              <a:t>weaker</a:t>
            </a:r>
            <a:r>
              <a:rPr dirty="0" sz="1000" spc="85">
                <a:latin typeface="Times New Roman"/>
                <a:cs typeface="Times New Roman"/>
              </a:rPr>
              <a:t> </a:t>
            </a:r>
            <a:r>
              <a:rPr dirty="0" sz="1000">
                <a:latin typeface="Times New Roman"/>
                <a:cs typeface="Times New Roman"/>
              </a:rPr>
              <a:t>modalities.</a:t>
            </a:r>
            <a:r>
              <a:rPr dirty="0" sz="1000" spc="254">
                <a:latin typeface="Times New Roman"/>
                <a:cs typeface="Times New Roman"/>
              </a:rPr>
              <a:t> </a:t>
            </a:r>
            <a:r>
              <a:rPr dirty="0" sz="1000" spc="-60">
                <a:latin typeface="Times New Roman"/>
                <a:cs typeface="Times New Roman"/>
              </a:rPr>
              <a:t>To</a:t>
            </a:r>
            <a:r>
              <a:rPr dirty="0" sz="1000" spc="85">
                <a:latin typeface="Times New Roman"/>
                <a:cs typeface="Times New Roman"/>
              </a:rPr>
              <a:t> </a:t>
            </a:r>
            <a:r>
              <a:rPr dirty="0" sz="1000">
                <a:latin typeface="Times New Roman"/>
                <a:cs typeface="Times New Roman"/>
              </a:rPr>
              <a:t>this</a:t>
            </a:r>
            <a:r>
              <a:rPr dirty="0" sz="1000" spc="95">
                <a:latin typeface="Times New Roman"/>
                <a:cs typeface="Times New Roman"/>
              </a:rPr>
              <a:t> </a:t>
            </a:r>
            <a:r>
              <a:rPr dirty="0" sz="1000">
                <a:latin typeface="Times New Roman"/>
                <a:cs typeface="Times New Roman"/>
              </a:rPr>
              <a:t>end,</a:t>
            </a:r>
            <a:r>
              <a:rPr dirty="0" sz="1000" spc="105">
                <a:latin typeface="Times New Roman"/>
                <a:cs typeface="Times New Roman"/>
              </a:rPr>
              <a:t> </a:t>
            </a:r>
            <a:r>
              <a:rPr dirty="0" sz="1000">
                <a:latin typeface="Times New Roman"/>
                <a:cs typeface="Times New Roman"/>
              </a:rPr>
              <a:t>various</a:t>
            </a:r>
            <a:r>
              <a:rPr dirty="0" sz="1000" spc="85">
                <a:latin typeface="Times New Roman"/>
                <a:cs typeface="Times New Roman"/>
              </a:rPr>
              <a:t> </a:t>
            </a:r>
            <a:r>
              <a:rPr dirty="0" sz="1000" spc="-10">
                <a:latin typeface="Times New Roman"/>
                <a:cs typeface="Times New Roman"/>
              </a:rPr>
              <a:t>meth- </a:t>
            </a:r>
            <a:r>
              <a:rPr dirty="0" sz="1000" spc="10">
                <a:latin typeface="Times New Roman"/>
                <a:cs typeface="Times New Roman"/>
              </a:rPr>
              <a:t>ods</a:t>
            </a:r>
            <a:r>
              <a:rPr dirty="0" sz="1000" spc="114">
                <a:latin typeface="Times New Roman"/>
                <a:cs typeface="Times New Roman"/>
              </a:rPr>
              <a:t> </a:t>
            </a:r>
            <a:r>
              <a:rPr dirty="0" sz="1000" spc="10">
                <a:latin typeface="Times New Roman"/>
                <a:cs typeface="Times New Roman"/>
              </a:rPr>
              <a:t>have</a:t>
            </a:r>
            <a:r>
              <a:rPr dirty="0" sz="1000" spc="114">
                <a:latin typeface="Times New Roman"/>
                <a:cs typeface="Times New Roman"/>
              </a:rPr>
              <a:t> </a:t>
            </a:r>
            <a:r>
              <a:rPr dirty="0" sz="1000" spc="10">
                <a:latin typeface="Times New Roman"/>
                <a:cs typeface="Times New Roman"/>
              </a:rPr>
              <a:t>been</a:t>
            </a:r>
            <a:r>
              <a:rPr dirty="0" sz="1000" spc="120">
                <a:latin typeface="Times New Roman"/>
                <a:cs typeface="Times New Roman"/>
              </a:rPr>
              <a:t> </a:t>
            </a:r>
            <a:r>
              <a:rPr dirty="0" sz="1000" spc="10">
                <a:latin typeface="Times New Roman"/>
                <a:cs typeface="Times New Roman"/>
              </a:rPr>
              <a:t>developed</a:t>
            </a:r>
            <a:r>
              <a:rPr dirty="0" sz="1000" spc="114">
                <a:latin typeface="Times New Roman"/>
                <a:cs typeface="Times New Roman"/>
              </a:rPr>
              <a:t> </a:t>
            </a:r>
            <a:r>
              <a:rPr dirty="0" sz="1000" spc="10">
                <a:latin typeface="Times New Roman"/>
                <a:cs typeface="Times New Roman"/>
              </a:rPr>
              <a:t>to</a:t>
            </a:r>
            <a:r>
              <a:rPr dirty="0" sz="1000" spc="120">
                <a:latin typeface="Times New Roman"/>
                <a:cs typeface="Times New Roman"/>
              </a:rPr>
              <a:t> </a:t>
            </a:r>
            <a:r>
              <a:rPr dirty="0" sz="1000" spc="10">
                <a:latin typeface="Times New Roman"/>
                <a:cs typeface="Times New Roman"/>
              </a:rPr>
              <a:t>enhance</a:t>
            </a:r>
            <a:r>
              <a:rPr dirty="0" sz="1000" spc="114">
                <a:latin typeface="Times New Roman"/>
                <a:cs typeface="Times New Roman"/>
              </a:rPr>
              <a:t> </a:t>
            </a:r>
            <a:r>
              <a:rPr dirty="0" sz="1000" spc="10">
                <a:latin typeface="Times New Roman"/>
                <a:cs typeface="Times New Roman"/>
              </a:rPr>
              <a:t>the</a:t>
            </a:r>
            <a:r>
              <a:rPr dirty="0" sz="1000" spc="120">
                <a:latin typeface="Times New Roman"/>
                <a:cs typeface="Times New Roman"/>
              </a:rPr>
              <a:t> </a:t>
            </a:r>
            <a:r>
              <a:rPr dirty="0" sz="1000" spc="10">
                <a:latin typeface="Times New Roman"/>
                <a:cs typeface="Times New Roman"/>
              </a:rPr>
              <a:t>conventional</a:t>
            </a:r>
            <a:r>
              <a:rPr dirty="0" sz="1000" spc="114">
                <a:latin typeface="Times New Roman"/>
                <a:cs typeface="Times New Roman"/>
              </a:rPr>
              <a:t> </a:t>
            </a:r>
            <a:r>
              <a:rPr dirty="0" sz="1000" spc="10">
                <a:latin typeface="Times New Roman"/>
                <a:cs typeface="Times New Roman"/>
              </a:rPr>
              <a:t>multimodal</a:t>
            </a:r>
            <a:r>
              <a:rPr dirty="0" sz="1000" spc="120">
                <a:latin typeface="Times New Roman"/>
                <a:cs typeface="Times New Roman"/>
              </a:rPr>
              <a:t> </a:t>
            </a:r>
            <a:r>
              <a:rPr dirty="0" sz="1000" spc="10">
                <a:latin typeface="Times New Roman"/>
                <a:cs typeface="Times New Roman"/>
              </a:rPr>
              <a:t>learning</a:t>
            </a:r>
            <a:r>
              <a:rPr dirty="0" sz="1000" spc="114">
                <a:latin typeface="Times New Roman"/>
                <a:cs typeface="Times New Roman"/>
              </a:rPr>
              <a:t> </a:t>
            </a:r>
            <a:r>
              <a:rPr dirty="0" sz="1000" spc="10">
                <a:latin typeface="Times New Roman"/>
                <a:cs typeface="Times New Roman"/>
              </a:rPr>
              <a:t>framework</a:t>
            </a:r>
            <a:r>
              <a:rPr dirty="0" sz="1000" spc="120">
                <a:latin typeface="Times New Roman"/>
                <a:cs typeface="Times New Roman"/>
              </a:rPr>
              <a:t> </a:t>
            </a:r>
            <a:r>
              <a:rPr dirty="0" sz="1000" spc="10">
                <a:latin typeface="Times New Roman"/>
                <a:cs typeface="Times New Roman"/>
              </a:rPr>
              <a:t>and</a:t>
            </a:r>
            <a:r>
              <a:rPr dirty="0" sz="1000" spc="114">
                <a:latin typeface="Times New Roman"/>
                <a:cs typeface="Times New Roman"/>
              </a:rPr>
              <a:t> </a:t>
            </a:r>
            <a:r>
              <a:rPr dirty="0" sz="1000" spc="10">
                <a:latin typeface="Times New Roman"/>
                <a:cs typeface="Times New Roman"/>
              </a:rPr>
              <a:t>can</a:t>
            </a:r>
            <a:r>
              <a:rPr dirty="0" sz="1000" spc="120">
                <a:latin typeface="Times New Roman"/>
                <a:cs typeface="Times New Roman"/>
              </a:rPr>
              <a:t> </a:t>
            </a:r>
            <a:r>
              <a:rPr dirty="0" sz="1000" spc="10">
                <a:latin typeface="Times New Roman"/>
                <a:cs typeface="Times New Roman"/>
              </a:rPr>
              <a:t>be</a:t>
            </a:r>
            <a:r>
              <a:rPr dirty="0" sz="1000" spc="114">
                <a:latin typeface="Times New Roman"/>
                <a:cs typeface="Times New Roman"/>
              </a:rPr>
              <a:t> </a:t>
            </a:r>
            <a:r>
              <a:rPr dirty="0" sz="1000" spc="-10">
                <a:latin typeface="Times New Roman"/>
                <a:cs typeface="Times New Roman"/>
              </a:rPr>
              <a:t>roughly </a:t>
            </a:r>
            <a:r>
              <a:rPr dirty="0" sz="1000" spc="10">
                <a:latin typeface="Times New Roman"/>
                <a:cs typeface="Times New Roman"/>
              </a:rPr>
              <a:t>categorized</a:t>
            </a:r>
            <a:r>
              <a:rPr dirty="0" sz="1000" spc="65">
                <a:latin typeface="Times New Roman"/>
                <a:cs typeface="Times New Roman"/>
              </a:rPr>
              <a:t> </a:t>
            </a:r>
            <a:r>
              <a:rPr dirty="0" sz="1000" spc="10">
                <a:latin typeface="Times New Roman"/>
                <a:cs typeface="Times New Roman"/>
              </a:rPr>
              <a:t>into</a:t>
            </a:r>
            <a:r>
              <a:rPr dirty="0" sz="1000" spc="70">
                <a:latin typeface="Times New Roman"/>
                <a:cs typeface="Times New Roman"/>
              </a:rPr>
              <a:t> </a:t>
            </a:r>
            <a:r>
              <a:rPr dirty="0" sz="1000" spc="10">
                <a:latin typeface="Times New Roman"/>
                <a:cs typeface="Times New Roman"/>
              </a:rPr>
              <a:t>two</a:t>
            </a:r>
            <a:r>
              <a:rPr dirty="0" sz="1000" spc="65">
                <a:latin typeface="Times New Roman"/>
                <a:cs typeface="Times New Roman"/>
              </a:rPr>
              <a:t> </a:t>
            </a:r>
            <a:r>
              <a:rPr dirty="0" sz="1000" spc="10">
                <a:latin typeface="Times New Roman"/>
                <a:cs typeface="Times New Roman"/>
              </a:rPr>
              <a:t>types:</a:t>
            </a:r>
            <a:r>
              <a:rPr dirty="0" sz="1000" spc="180">
                <a:latin typeface="Times New Roman"/>
                <a:cs typeface="Times New Roman"/>
              </a:rPr>
              <a:t> </a:t>
            </a:r>
            <a:r>
              <a:rPr dirty="0" sz="1000" spc="10">
                <a:latin typeface="Times New Roman"/>
                <a:cs typeface="Times New Roman"/>
              </a:rPr>
              <a:t>gradient</a:t>
            </a:r>
            <a:r>
              <a:rPr dirty="0" sz="1000" spc="70">
                <a:latin typeface="Times New Roman"/>
                <a:cs typeface="Times New Roman"/>
              </a:rPr>
              <a:t> </a:t>
            </a:r>
            <a:r>
              <a:rPr dirty="0" sz="1000" spc="10">
                <a:latin typeface="Times New Roman"/>
                <a:cs typeface="Times New Roman"/>
              </a:rPr>
              <a:t>modulation</a:t>
            </a:r>
            <a:r>
              <a:rPr dirty="0" sz="1000" spc="65">
                <a:latin typeface="Times New Roman"/>
                <a:cs typeface="Times New Roman"/>
              </a:rPr>
              <a:t> </a:t>
            </a:r>
            <a:r>
              <a:rPr dirty="0" sz="1000" spc="10">
                <a:latin typeface="Times New Roman"/>
                <a:cs typeface="Times New Roman"/>
              </a:rPr>
              <a:t>and</a:t>
            </a:r>
            <a:r>
              <a:rPr dirty="0" sz="1000" spc="70">
                <a:latin typeface="Times New Roman"/>
                <a:cs typeface="Times New Roman"/>
              </a:rPr>
              <a:t> </a:t>
            </a:r>
            <a:r>
              <a:rPr dirty="0" sz="1000" spc="10">
                <a:latin typeface="Times New Roman"/>
                <a:cs typeface="Times New Roman"/>
              </a:rPr>
              <a:t>alternating</a:t>
            </a:r>
            <a:r>
              <a:rPr dirty="0" sz="1000" spc="70">
                <a:latin typeface="Times New Roman"/>
                <a:cs typeface="Times New Roman"/>
              </a:rPr>
              <a:t> </a:t>
            </a:r>
            <a:r>
              <a:rPr dirty="0" sz="1000" spc="-10">
                <a:latin typeface="Times New Roman"/>
                <a:cs typeface="Times New Roman"/>
              </a:rPr>
              <a:t>optimization.</a:t>
            </a:r>
            <a:endParaRPr sz="1000">
              <a:latin typeface="Times New Roman"/>
              <a:cs typeface="Times New Roman"/>
            </a:endParaRPr>
          </a:p>
          <a:p>
            <a:pPr>
              <a:lnSpc>
                <a:spcPct val="100000"/>
              </a:lnSpc>
              <a:spcBef>
                <a:spcPts val="590"/>
              </a:spcBef>
            </a:pPr>
            <a:endParaRPr sz="1000">
              <a:latin typeface="Times New Roman"/>
              <a:cs typeface="Times New Roman"/>
            </a:endParaRPr>
          </a:p>
          <a:p>
            <a:pPr algn="just" marL="192405">
              <a:lnSpc>
                <a:spcPct val="100000"/>
              </a:lnSpc>
            </a:pPr>
            <a:r>
              <a:rPr dirty="0" sz="1000" spc="-45">
                <a:latin typeface="SimSun"/>
                <a:cs typeface="SimSun"/>
              </a:rPr>
              <a:t>最近的研究指出，即使有更多信息，大多数多模态学习方法也未能显著提高性能 </a:t>
            </a:r>
            <a:r>
              <a:rPr dirty="0" sz="1000">
                <a:latin typeface="Times New Roman"/>
                <a:cs typeface="Times New Roman"/>
              </a:rPr>
              <a:t>[</a:t>
            </a:r>
            <a:r>
              <a:rPr dirty="0" sz="1000" spc="-145">
                <a:latin typeface="SimSun"/>
                <a:cs typeface="SimSun"/>
              </a:rPr>
              <a:t>第 </a:t>
            </a:r>
            <a:r>
              <a:rPr dirty="0" sz="1000">
                <a:latin typeface="Times New Roman"/>
                <a:cs typeface="Times New Roman"/>
              </a:rPr>
              <a:t>8,</a:t>
            </a:r>
            <a:r>
              <a:rPr dirty="0" sz="1000" spc="-65">
                <a:latin typeface="Times New Roman"/>
                <a:cs typeface="Times New Roman"/>
              </a:rPr>
              <a:t> </a:t>
            </a:r>
            <a:r>
              <a:rPr dirty="0" sz="1000">
                <a:latin typeface="Times New Roman"/>
                <a:cs typeface="Times New Roman"/>
              </a:rPr>
              <a:t>9,</a:t>
            </a:r>
            <a:r>
              <a:rPr dirty="0" sz="1000" spc="-40">
                <a:latin typeface="Times New Roman"/>
                <a:cs typeface="Times New Roman"/>
              </a:rPr>
              <a:t> </a:t>
            </a:r>
            <a:r>
              <a:rPr dirty="0" sz="1000">
                <a:latin typeface="Times New Roman"/>
                <a:cs typeface="Times New Roman"/>
              </a:rPr>
              <a:t>17,</a:t>
            </a:r>
            <a:r>
              <a:rPr dirty="0" sz="1000" spc="-40">
                <a:latin typeface="Times New Roman"/>
                <a:cs typeface="Times New Roman"/>
              </a:rPr>
              <a:t> </a:t>
            </a:r>
            <a:r>
              <a:rPr dirty="0" sz="1000">
                <a:latin typeface="Times New Roman"/>
                <a:cs typeface="Times New Roman"/>
              </a:rPr>
              <a:t>21,</a:t>
            </a:r>
            <a:r>
              <a:rPr dirty="0" sz="1000" spc="-35">
                <a:latin typeface="Times New Roman"/>
                <a:cs typeface="Times New Roman"/>
              </a:rPr>
              <a:t> </a:t>
            </a:r>
            <a:r>
              <a:rPr dirty="0" sz="1000" spc="-25">
                <a:latin typeface="Times New Roman"/>
                <a:cs typeface="Times New Roman"/>
              </a:rPr>
              <a:t>28,</a:t>
            </a:r>
            <a:endParaRPr sz="1000">
              <a:latin typeface="Times New Roman"/>
              <a:cs typeface="Times New Roman"/>
            </a:endParaRPr>
          </a:p>
          <a:p>
            <a:pPr algn="just" marL="192405" marR="184785">
              <a:lnSpc>
                <a:spcPct val="129500"/>
              </a:lnSpc>
            </a:pPr>
            <a:r>
              <a:rPr dirty="0" sz="1000" spc="-10">
                <a:latin typeface="Times New Roman"/>
                <a:cs typeface="Times New Roman"/>
              </a:rPr>
              <a:t>36,</a:t>
            </a:r>
            <a:r>
              <a:rPr dirty="0" sz="1000" spc="-25">
                <a:latin typeface="Times New Roman"/>
                <a:cs typeface="Times New Roman"/>
              </a:rPr>
              <a:t> </a:t>
            </a:r>
            <a:r>
              <a:rPr dirty="0" sz="1000" spc="-10">
                <a:latin typeface="Times New Roman"/>
                <a:cs typeface="Times New Roman"/>
              </a:rPr>
              <a:t>39</a:t>
            </a:r>
            <a:r>
              <a:rPr dirty="0" sz="1000" spc="-25">
                <a:latin typeface="Times New Roman"/>
                <a:cs typeface="Times New Roman"/>
              </a:rPr>
              <a:t> </a:t>
            </a:r>
            <a:r>
              <a:rPr dirty="0" sz="1000" spc="-15">
                <a:latin typeface="SimSun"/>
                <a:cs typeface="SimSun"/>
              </a:rPr>
              <a:t>条</a:t>
            </a:r>
            <a:r>
              <a:rPr dirty="0" sz="1000" spc="5">
                <a:latin typeface="Times New Roman"/>
                <a:cs typeface="Times New Roman"/>
              </a:rPr>
              <a:t>]</a:t>
            </a:r>
            <a:r>
              <a:rPr dirty="0" sz="1000" spc="-80">
                <a:latin typeface="SimSun"/>
                <a:cs typeface="SimSun"/>
              </a:rPr>
              <a:t>。</a:t>
            </a:r>
            <a:r>
              <a:rPr dirty="0" sz="1000" spc="-5">
                <a:latin typeface="Times New Roman"/>
                <a:cs typeface="Times New Roman"/>
              </a:rPr>
              <a:t>Wang</a:t>
            </a:r>
            <a:r>
              <a:rPr dirty="0" sz="1000" spc="-25">
                <a:latin typeface="Times New Roman"/>
                <a:cs typeface="Times New Roman"/>
              </a:rPr>
              <a:t> </a:t>
            </a:r>
            <a:r>
              <a:rPr dirty="0" sz="1000" spc="100">
                <a:latin typeface="SimSun"/>
                <a:cs typeface="SimSun"/>
              </a:rPr>
              <a:t>等人</a:t>
            </a:r>
            <a:r>
              <a:rPr dirty="0" sz="1000">
                <a:latin typeface="Times New Roman"/>
                <a:cs typeface="Times New Roman"/>
              </a:rPr>
              <a:t>[28]</a:t>
            </a:r>
            <a:r>
              <a:rPr dirty="0" sz="1000" spc="-25">
                <a:latin typeface="Times New Roman"/>
                <a:cs typeface="Times New Roman"/>
              </a:rPr>
              <a:t> </a:t>
            </a:r>
            <a:r>
              <a:rPr dirty="0" sz="1000" spc="-15">
                <a:latin typeface="SimSun"/>
                <a:cs typeface="SimSun"/>
              </a:rPr>
              <a:t>观察到不同模态表现出不同的收敛速度，导致多模态模型无法超越其单</a:t>
            </a:r>
            <a:r>
              <a:rPr dirty="0" sz="1000" spc="-10">
                <a:latin typeface="SimSun"/>
                <a:cs typeface="SimSun"/>
              </a:rPr>
              <a:t>模态对应模型。</a:t>
            </a:r>
            <a:r>
              <a:rPr dirty="0" sz="1000" spc="10">
                <a:latin typeface="Times New Roman"/>
                <a:cs typeface="Times New Roman"/>
              </a:rPr>
              <a:t>Peng</a:t>
            </a:r>
            <a:r>
              <a:rPr dirty="0" sz="1000">
                <a:latin typeface="Times New Roman"/>
                <a:cs typeface="Times New Roman"/>
              </a:rPr>
              <a:t> </a:t>
            </a:r>
            <a:r>
              <a:rPr dirty="0" sz="1000" spc="-90">
                <a:latin typeface="SimSun"/>
                <a:cs typeface="SimSun"/>
              </a:rPr>
              <a:t>等人 </a:t>
            </a:r>
            <a:r>
              <a:rPr dirty="0" sz="1000">
                <a:latin typeface="Times New Roman"/>
                <a:cs typeface="Times New Roman"/>
              </a:rPr>
              <a:t>[21] </a:t>
            </a:r>
            <a:r>
              <a:rPr dirty="0" sz="1000" spc="-10">
                <a:latin typeface="SimSun"/>
                <a:cs typeface="SimSun"/>
              </a:rPr>
              <a:t>进一步表明，性能优越的模态往往主导优化过程，导致较弱模态的特征学习不足。为此，已开发出各种方法来增强传统的多模态学习框架，大致可分为两类</a:t>
            </a:r>
            <a:r>
              <a:rPr dirty="0" sz="1000" spc="-20">
                <a:latin typeface="Times New Roman"/>
                <a:cs typeface="Times New Roman"/>
              </a:rPr>
              <a:t>: </a:t>
            </a:r>
            <a:r>
              <a:rPr dirty="0" sz="1000" spc="-10">
                <a:latin typeface="SimSun"/>
                <a:cs typeface="SimSun"/>
              </a:rPr>
              <a:t>梯度调制和交替优化。</a:t>
            </a:r>
            <a:endParaRPr sz="1000">
              <a:latin typeface="SimSun"/>
              <a:cs typeface="SimSun"/>
            </a:endParaRPr>
          </a:p>
          <a:p>
            <a:pPr algn="just" marL="12700" marR="5080" indent="252729">
              <a:lnSpc>
                <a:spcPct val="129500"/>
              </a:lnSpc>
              <a:spcBef>
                <a:spcPts val="1245"/>
              </a:spcBef>
            </a:pPr>
            <a:r>
              <a:rPr dirty="0" sz="1000">
                <a:latin typeface="Times New Roman"/>
                <a:cs typeface="Times New Roman"/>
              </a:rPr>
              <a:t>Gradient</a:t>
            </a:r>
            <a:r>
              <a:rPr dirty="0" sz="1000" spc="204">
                <a:latin typeface="Times New Roman"/>
                <a:cs typeface="Times New Roman"/>
              </a:rPr>
              <a:t> </a:t>
            </a:r>
            <a:r>
              <a:rPr dirty="0" sz="1000">
                <a:latin typeface="Times New Roman"/>
                <a:cs typeface="Times New Roman"/>
              </a:rPr>
              <a:t>modulation</a:t>
            </a:r>
            <a:r>
              <a:rPr dirty="0" sz="1000" spc="204">
                <a:latin typeface="Times New Roman"/>
                <a:cs typeface="Times New Roman"/>
              </a:rPr>
              <a:t> </a:t>
            </a:r>
            <a:r>
              <a:rPr dirty="0" sz="1000">
                <a:latin typeface="Times New Roman"/>
                <a:cs typeface="Times New Roman"/>
              </a:rPr>
              <a:t>[9,</a:t>
            </a:r>
            <a:r>
              <a:rPr dirty="0" sz="1000" spc="250">
                <a:latin typeface="Times New Roman"/>
                <a:cs typeface="Times New Roman"/>
              </a:rPr>
              <a:t> </a:t>
            </a:r>
            <a:r>
              <a:rPr dirty="0" sz="1000">
                <a:latin typeface="Times New Roman"/>
                <a:cs typeface="Times New Roman"/>
              </a:rPr>
              <a:t>17,</a:t>
            </a:r>
            <a:r>
              <a:rPr dirty="0" sz="1000" spc="254">
                <a:latin typeface="Times New Roman"/>
                <a:cs typeface="Times New Roman"/>
              </a:rPr>
              <a:t> </a:t>
            </a:r>
            <a:r>
              <a:rPr dirty="0" sz="1000">
                <a:latin typeface="Times New Roman"/>
                <a:cs typeface="Times New Roman"/>
              </a:rPr>
              <a:t>21,</a:t>
            </a:r>
            <a:r>
              <a:rPr dirty="0" sz="1000" spc="250">
                <a:latin typeface="Times New Roman"/>
                <a:cs typeface="Times New Roman"/>
              </a:rPr>
              <a:t> </a:t>
            </a:r>
            <a:r>
              <a:rPr dirty="0" sz="1000">
                <a:latin typeface="Times New Roman"/>
                <a:cs typeface="Times New Roman"/>
              </a:rPr>
              <a:t>36]</a:t>
            </a:r>
            <a:r>
              <a:rPr dirty="0" sz="1000" spc="204">
                <a:latin typeface="Times New Roman"/>
                <a:cs typeface="Times New Roman"/>
              </a:rPr>
              <a:t> </a:t>
            </a:r>
            <a:r>
              <a:rPr dirty="0" sz="1000">
                <a:latin typeface="Times New Roman"/>
                <a:cs typeface="Times New Roman"/>
              </a:rPr>
              <a:t>aims</a:t>
            </a:r>
            <a:r>
              <a:rPr dirty="0" sz="1000" spc="204">
                <a:latin typeface="Times New Roman"/>
                <a:cs typeface="Times New Roman"/>
              </a:rPr>
              <a:t> </a:t>
            </a:r>
            <a:r>
              <a:rPr dirty="0" sz="1000">
                <a:latin typeface="Times New Roman"/>
                <a:cs typeface="Times New Roman"/>
              </a:rPr>
              <a:t>to</a:t>
            </a:r>
            <a:r>
              <a:rPr dirty="0" sz="1000" spc="210">
                <a:latin typeface="Times New Roman"/>
                <a:cs typeface="Times New Roman"/>
              </a:rPr>
              <a:t> </a:t>
            </a:r>
            <a:r>
              <a:rPr dirty="0" sz="1000">
                <a:latin typeface="Times New Roman"/>
                <a:cs typeface="Times New Roman"/>
              </a:rPr>
              <a:t>enlarge</a:t>
            </a:r>
            <a:r>
              <a:rPr dirty="0" sz="1000" spc="204">
                <a:latin typeface="Times New Roman"/>
                <a:cs typeface="Times New Roman"/>
              </a:rPr>
              <a:t> </a:t>
            </a:r>
            <a:r>
              <a:rPr dirty="0" sz="1000">
                <a:latin typeface="Times New Roman"/>
                <a:cs typeface="Times New Roman"/>
              </a:rPr>
              <a:t>the</a:t>
            </a:r>
            <a:r>
              <a:rPr dirty="0" sz="1000" spc="210">
                <a:latin typeface="Times New Roman"/>
                <a:cs typeface="Times New Roman"/>
              </a:rPr>
              <a:t> </a:t>
            </a:r>
            <a:r>
              <a:rPr dirty="0" sz="1000">
                <a:latin typeface="Times New Roman"/>
                <a:cs typeface="Times New Roman"/>
              </a:rPr>
              <a:t>gradient</a:t>
            </a:r>
            <a:r>
              <a:rPr dirty="0" sz="1000" spc="204">
                <a:latin typeface="Times New Roman"/>
                <a:cs typeface="Times New Roman"/>
              </a:rPr>
              <a:t> </a:t>
            </a:r>
            <a:r>
              <a:rPr dirty="0" sz="1000">
                <a:latin typeface="Times New Roman"/>
                <a:cs typeface="Times New Roman"/>
              </a:rPr>
              <a:t>of</a:t>
            </a:r>
            <a:r>
              <a:rPr dirty="0" sz="1000" spc="204">
                <a:latin typeface="Times New Roman"/>
                <a:cs typeface="Times New Roman"/>
              </a:rPr>
              <a:t> </a:t>
            </a:r>
            <a:r>
              <a:rPr dirty="0" sz="1000">
                <a:latin typeface="Times New Roman"/>
                <a:cs typeface="Times New Roman"/>
              </a:rPr>
              <a:t>weaker</a:t>
            </a:r>
            <a:r>
              <a:rPr dirty="0" sz="1000" spc="210">
                <a:latin typeface="Times New Roman"/>
                <a:cs typeface="Times New Roman"/>
              </a:rPr>
              <a:t> </a:t>
            </a:r>
            <a:r>
              <a:rPr dirty="0" sz="1000">
                <a:latin typeface="Times New Roman"/>
                <a:cs typeface="Times New Roman"/>
              </a:rPr>
              <a:t>modality</a:t>
            </a:r>
            <a:r>
              <a:rPr dirty="0" sz="1000" spc="204">
                <a:latin typeface="Times New Roman"/>
                <a:cs typeface="Times New Roman"/>
              </a:rPr>
              <a:t> </a:t>
            </a:r>
            <a:r>
              <a:rPr dirty="0" sz="1000">
                <a:latin typeface="Times New Roman"/>
                <a:cs typeface="Times New Roman"/>
              </a:rPr>
              <a:t>in</a:t>
            </a:r>
            <a:r>
              <a:rPr dirty="0" sz="1000" spc="210">
                <a:latin typeface="Times New Roman"/>
                <a:cs typeface="Times New Roman"/>
              </a:rPr>
              <a:t> </a:t>
            </a:r>
            <a:r>
              <a:rPr dirty="0" sz="1000" spc="-10">
                <a:latin typeface="Times New Roman"/>
                <a:cs typeface="Times New Roman"/>
              </a:rPr>
              <a:t>multimodal </a:t>
            </a:r>
            <a:r>
              <a:rPr dirty="0" sz="1000">
                <a:latin typeface="Times New Roman"/>
                <a:cs typeface="Times New Roman"/>
              </a:rPr>
              <a:t>learning,</a:t>
            </a:r>
            <a:r>
              <a:rPr dirty="0" sz="1000" spc="225">
                <a:latin typeface="Times New Roman"/>
                <a:cs typeface="Times New Roman"/>
              </a:rPr>
              <a:t> </a:t>
            </a:r>
            <a:r>
              <a:rPr dirty="0" sz="1000">
                <a:latin typeface="Times New Roman"/>
                <a:cs typeface="Times New Roman"/>
              </a:rPr>
              <a:t>balancing</a:t>
            </a:r>
            <a:r>
              <a:rPr dirty="0" sz="1000" spc="190">
                <a:latin typeface="Times New Roman"/>
                <a:cs typeface="Times New Roman"/>
              </a:rPr>
              <a:t> </a:t>
            </a:r>
            <a:r>
              <a:rPr dirty="0" sz="1000">
                <a:latin typeface="Times New Roman"/>
                <a:cs typeface="Times New Roman"/>
              </a:rPr>
              <a:t>the</a:t>
            </a:r>
            <a:r>
              <a:rPr dirty="0" sz="1000" spc="190">
                <a:latin typeface="Times New Roman"/>
                <a:cs typeface="Times New Roman"/>
              </a:rPr>
              <a:t> </a:t>
            </a:r>
            <a:r>
              <a:rPr dirty="0" sz="1000">
                <a:latin typeface="Times New Roman"/>
                <a:cs typeface="Times New Roman"/>
              </a:rPr>
              <a:t>optimization</a:t>
            </a:r>
            <a:r>
              <a:rPr dirty="0" sz="1000" spc="185">
                <a:latin typeface="Times New Roman"/>
                <a:cs typeface="Times New Roman"/>
              </a:rPr>
              <a:t> </a:t>
            </a:r>
            <a:r>
              <a:rPr dirty="0" sz="1000">
                <a:latin typeface="Times New Roman"/>
                <a:cs typeface="Times New Roman"/>
              </a:rPr>
              <a:t>of</a:t>
            </a:r>
            <a:r>
              <a:rPr dirty="0" sz="1000" spc="190">
                <a:latin typeface="Times New Roman"/>
                <a:cs typeface="Times New Roman"/>
              </a:rPr>
              <a:t> </a:t>
            </a:r>
            <a:r>
              <a:rPr dirty="0" sz="1000">
                <a:latin typeface="Times New Roman"/>
                <a:cs typeface="Times New Roman"/>
              </a:rPr>
              <a:t>different</a:t>
            </a:r>
            <a:r>
              <a:rPr dirty="0" sz="1000" spc="190">
                <a:latin typeface="Times New Roman"/>
                <a:cs typeface="Times New Roman"/>
              </a:rPr>
              <a:t> </a:t>
            </a:r>
            <a:r>
              <a:rPr dirty="0" sz="1000">
                <a:latin typeface="Times New Roman"/>
                <a:cs typeface="Times New Roman"/>
              </a:rPr>
              <a:t>modality</a:t>
            </a:r>
            <a:r>
              <a:rPr dirty="0" sz="1000" spc="190">
                <a:latin typeface="Times New Roman"/>
                <a:cs typeface="Times New Roman"/>
              </a:rPr>
              <a:t> </a:t>
            </a:r>
            <a:r>
              <a:rPr dirty="0" sz="1000">
                <a:latin typeface="Times New Roman"/>
                <a:cs typeface="Times New Roman"/>
              </a:rPr>
              <a:t>encoders.</a:t>
            </a:r>
            <a:r>
              <a:rPr dirty="0" sz="1000" spc="160">
                <a:latin typeface="Times New Roman"/>
                <a:cs typeface="Times New Roman"/>
              </a:rPr>
              <a:t>  </a:t>
            </a:r>
            <a:r>
              <a:rPr dirty="0" sz="1000">
                <a:latin typeface="Times New Roman"/>
                <a:cs typeface="Times New Roman"/>
              </a:rPr>
              <a:t>Specifically,</a:t>
            </a:r>
            <a:r>
              <a:rPr dirty="0" sz="1000" spc="225">
                <a:latin typeface="Times New Roman"/>
                <a:cs typeface="Times New Roman"/>
              </a:rPr>
              <a:t> </a:t>
            </a:r>
            <a:r>
              <a:rPr dirty="0" sz="1000">
                <a:latin typeface="Times New Roman"/>
                <a:cs typeface="Times New Roman"/>
              </a:rPr>
              <a:t>OGM</a:t>
            </a:r>
            <a:r>
              <a:rPr dirty="0" sz="1000" spc="190">
                <a:latin typeface="Times New Roman"/>
                <a:cs typeface="Times New Roman"/>
              </a:rPr>
              <a:t> </a:t>
            </a:r>
            <a:r>
              <a:rPr dirty="0" sz="1000">
                <a:latin typeface="Times New Roman"/>
                <a:cs typeface="Times New Roman"/>
              </a:rPr>
              <a:t>[21]</a:t>
            </a:r>
            <a:r>
              <a:rPr dirty="0" sz="1000" spc="190">
                <a:latin typeface="Times New Roman"/>
                <a:cs typeface="Times New Roman"/>
              </a:rPr>
              <a:t> </a:t>
            </a:r>
            <a:r>
              <a:rPr dirty="0" sz="1000">
                <a:latin typeface="Times New Roman"/>
                <a:cs typeface="Times New Roman"/>
              </a:rPr>
              <a:t>proposes</a:t>
            </a:r>
            <a:r>
              <a:rPr dirty="0" sz="1000" spc="185">
                <a:latin typeface="Times New Roman"/>
                <a:cs typeface="Times New Roman"/>
              </a:rPr>
              <a:t> </a:t>
            </a:r>
            <a:r>
              <a:rPr dirty="0" sz="1000" spc="-25">
                <a:latin typeface="Times New Roman"/>
                <a:cs typeface="Times New Roman"/>
              </a:rPr>
              <a:t>on- </a:t>
            </a:r>
            <a:r>
              <a:rPr dirty="0" sz="1000" spc="10">
                <a:latin typeface="Times New Roman"/>
                <a:cs typeface="Times New Roman"/>
              </a:rPr>
              <a:t>the-fly</a:t>
            </a:r>
            <a:r>
              <a:rPr dirty="0" sz="1000" spc="110">
                <a:latin typeface="Times New Roman"/>
                <a:cs typeface="Times New Roman"/>
              </a:rPr>
              <a:t> </a:t>
            </a:r>
            <a:r>
              <a:rPr dirty="0" sz="1000" spc="10">
                <a:latin typeface="Times New Roman"/>
                <a:cs typeface="Times New Roman"/>
              </a:rPr>
              <a:t>gradient</a:t>
            </a:r>
            <a:r>
              <a:rPr dirty="0" sz="1000" spc="110">
                <a:latin typeface="Times New Roman"/>
                <a:cs typeface="Times New Roman"/>
              </a:rPr>
              <a:t> </a:t>
            </a:r>
            <a:r>
              <a:rPr dirty="0" sz="1000" spc="10">
                <a:latin typeface="Times New Roman"/>
                <a:cs typeface="Times New Roman"/>
              </a:rPr>
              <a:t>modulation</a:t>
            </a:r>
            <a:r>
              <a:rPr dirty="0" sz="1000" spc="114">
                <a:latin typeface="Times New Roman"/>
                <a:cs typeface="Times New Roman"/>
              </a:rPr>
              <a:t> </a:t>
            </a:r>
            <a:r>
              <a:rPr dirty="0" sz="1000" spc="10">
                <a:latin typeface="Times New Roman"/>
                <a:cs typeface="Times New Roman"/>
              </a:rPr>
              <a:t>to</a:t>
            </a:r>
            <a:r>
              <a:rPr dirty="0" sz="1000" spc="114">
                <a:latin typeface="Times New Roman"/>
                <a:cs typeface="Times New Roman"/>
              </a:rPr>
              <a:t> </a:t>
            </a:r>
            <a:r>
              <a:rPr dirty="0" sz="1000" spc="10">
                <a:latin typeface="Times New Roman"/>
                <a:cs typeface="Times New Roman"/>
              </a:rPr>
              <a:t>manage</a:t>
            </a:r>
            <a:r>
              <a:rPr dirty="0" sz="1000" spc="114">
                <a:latin typeface="Times New Roman"/>
                <a:cs typeface="Times New Roman"/>
              </a:rPr>
              <a:t> </a:t>
            </a:r>
            <a:r>
              <a:rPr dirty="0" sz="1000" spc="10">
                <a:latin typeface="Times New Roman"/>
                <a:cs typeface="Times New Roman"/>
              </a:rPr>
              <a:t>the</a:t>
            </a:r>
            <a:r>
              <a:rPr dirty="0" sz="1000" spc="110">
                <a:latin typeface="Times New Roman"/>
                <a:cs typeface="Times New Roman"/>
              </a:rPr>
              <a:t> </a:t>
            </a:r>
            <a:r>
              <a:rPr dirty="0" sz="1000" spc="10">
                <a:latin typeface="Times New Roman"/>
                <a:cs typeface="Times New Roman"/>
              </a:rPr>
              <a:t>optimization</a:t>
            </a:r>
            <a:r>
              <a:rPr dirty="0" sz="1000" spc="120">
                <a:latin typeface="Times New Roman"/>
                <a:cs typeface="Times New Roman"/>
              </a:rPr>
              <a:t> </a:t>
            </a:r>
            <a:r>
              <a:rPr dirty="0" sz="1000" spc="10">
                <a:latin typeface="Times New Roman"/>
                <a:cs typeface="Times New Roman"/>
              </a:rPr>
              <a:t>of</a:t>
            </a:r>
            <a:r>
              <a:rPr dirty="0" sz="1000" spc="110">
                <a:latin typeface="Times New Roman"/>
                <a:cs typeface="Times New Roman"/>
              </a:rPr>
              <a:t> </a:t>
            </a:r>
            <a:r>
              <a:rPr dirty="0" sz="1000" spc="10">
                <a:latin typeface="Times New Roman"/>
                <a:cs typeface="Times New Roman"/>
              </a:rPr>
              <a:t>each</a:t>
            </a:r>
            <a:r>
              <a:rPr dirty="0" sz="1000" spc="120">
                <a:latin typeface="Times New Roman"/>
                <a:cs typeface="Times New Roman"/>
              </a:rPr>
              <a:t> </a:t>
            </a:r>
            <a:r>
              <a:rPr dirty="0" sz="1000" spc="10">
                <a:latin typeface="Times New Roman"/>
                <a:cs typeface="Times New Roman"/>
              </a:rPr>
              <a:t>modality</a:t>
            </a:r>
            <a:r>
              <a:rPr dirty="0" sz="1000" spc="110">
                <a:latin typeface="Times New Roman"/>
                <a:cs typeface="Times New Roman"/>
              </a:rPr>
              <a:t> </a:t>
            </a:r>
            <a:r>
              <a:rPr dirty="0" sz="1000" spc="10">
                <a:latin typeface="Times New Roman"/>
                <a:cs typeface="Times New Roman"/>
              </a:rPr>
              <a:t>adaptively.</a:t>
            </a:r>
            <a:r>
              <a:rPr dirty="0" sz="1000" spc="390">
                <a:latin typeface="Times New Roman"/>
                <a:cs typeface="Times New Roman"/>
              </a:rPr>
              <a:t> </a:t>
            </a:r>
            <a:r>
              <a:rPr dirty="0" sz="1000" spc="10">
                <a:latin typeface="Times New Roman"/>
                <a:cs typeface="Times New Roman"/>
              </a:rPr>
              <a:t>MMCosine</a:t>
            </a:r>
            <a:r>
              <a:rPr dirty="0" sz="1000" spc="114">
                <a:latin typeface="Times New Roman"/>
                <a:cs typeface="Times New Roman"/>
              </a:rPr>
              <a:t> </a:t>
            </a:r>
            <a:r>
              <a:rPr dirty="0" sz="1000" spc="10">
                <a:latin typeface="Times New Roman"/>
                <a:cs typeface="Times New Roman"/>
              </a:rPr>
              <a:t>[36]</a:t>
            </a:r>
            <a:r>
              <a:rPr dirty="0" sz="1000" spc="114">
                <a:latin typeface="Times New Roman"/>
                <a:cs typeface="Times New Roman"/>
              </a:rPr>
              <a:t> </a:t>
            </a:r>
            <a:r>
              <a:rPr dirty="0" sz="1000" spc="-20">
                <a:latin typeface="Times New Roman"/>
                <a:cs typeface="Times New Roman"/>
              </a:rPr>
              <a:t>per- </a:t>
            </a:r>
            <a:r>
              <a:rPr dirty="0" sz="1000">
                <a:latin typeface="Times New Roman"/>
                <a:cs typeface="Times New Roman"/>
              </a:rPr>
              <a:t>forms</a:t>
            </a:r>
            <a:r>
              <a:rPr dirty="0" sz="1000" spc="95">
                <a:latin typeface="Times New Roman"/>
                <a:cs typeface="Times New Roman"/>
              </a:rPr>
              <a:t> </a:t>
            </a:r>
            <a:r>
              <a:rPr dirty="0" sz="1000">
                <a:latin typeface="Times New Roman"/>
                <a:cs typeface="Times New Roman"/>
              </a:rPr>
              <a:t>modality-wise</a:t>
            </a:r>
            <a:r>
              <a:rPr dirty="0" sz="1000" spc="95">
                <a:latin typeface="Times New Roman"/>
                <a:cs typeface="Times New Roman"/>
              </a:rPr>
              <a:t> </a:t>
            </a:r>
            <a:r>
              <a:rPr dirty="0" sz="1000" spc="-35">
                <a:latin typeface="Times New Roman"/>
                <a:cs typeface="Times New Roman"/>
              </a:rPr>
              <a:t>L2</a:t>
            </a:r>
            <a:r>
              <a:rPr dirty="0" sz="1000" spc="105">
                <a:latin typeface="Times New Roman"/>
                <a:cs typeface="Times New Roman"/>
              </a:rPr>
              <a:t> </a:t>
            </a:r>
            <a:r>
              <a:rPr dirty="0" sz="1000">
                <a:latin typeface="Times New Roman"/>
                <a:cs typeface="Times New Roman"/>
              </a:rPr>
              <a:t>normalization</a:t>
            </a:r>
            <a:r>
              <a:rPr dirty="0" sz="1000" spc="95">
                <a:latin typeface="Times New Roman"/>
                <a:cs typeface="Times New Roman"/>
              </a:rPr>
              <a:t> </a:t>
            </a:r>
            <a:r>
              <a:rPr dirty="0" sz="1000">
                <a:latin typeface="Times New Roman"/>
                <a:cs typeface="Times New Roman"/>
              </a:rPr>
              <a:t>to</a:t>
            </a:r>
            <a:r>
              <a:rPr dirty="0" sz="1000" spc="95">
                <a:latin typeface="Times New Roman"/>
                <a:cs typeface="Times New Roman"/>
              </a:rPr>
              <a:t> </a:t>
            </a:r>
            <a:r>
              <a:rPr dirty="0" sz="1000">
                <a:latin typeface="Times New Roman"/>
                <a:cs typeface="Times New Roman"/>
              </a:rPr>
              <a:t>features</a:t>
            </a:r>
            <a:r>
              <a:rPr dirty="0" sz="1000" spc="95">
                <a:latin typeface="Times New Roman"/>
                <a:cs typeface="Times New Roman"/>
              </a:rPr>
              <a:t> </a:t>
            </a:r>
            <a:r>
              <a:rPr dirty="0" sz="1000">
                <a:latin typeface="Times New Roman"/>
                <a:cs typeface="Times New Roman"/>
              </a:rPr>
              <a:t>and</a:t>
            </a:r>
            <a:r>
              <a:rPr dirty="0" sz="1000" spc="105">
                <a:latin typeface="Times New Roman"/>
                <a:cs typeface="Times New Roman"/>
              </a:rPr>
              <a:t> </a:t>
            </a:r>
            <a:r>
              <a:rPr dirty="0" sz="1000">
                <a:latin typeface="Times New Roman"/>
                <a:cs typeface="Times New Roman"/>
              </a:rPr>
              <a:t>weights</a:t>
            </a:r>
            <a:r>
              <a:rPr dirty="0" sz="1000" spc="95">
                <a:latin typeface="Times New Roman"/>
                <a:cs typeface="Times New Roman"/>
              </a:rPr>
              <a:t> </a:t>
            </a:r>
            <a:r>
              <a:rPr dirty="0" sz="1000">
                <a:latin typeface="Times New Roman"/>
                <a:cs typeface="Times New Roman"/>
              </a:rPr>
              <a:t>towards</a:t>
            </a:r>
            <a:r>
              <a:rPr dirty="0" sz="1000" spc="95">
                <a:latin typeface="Times New Roman"/>
                <a:cs typeface="Times New Roman"/>
              </a:rPr>
              <a:t> </a:t>
            </a:r>
            <a:r>
              <a:rPr dirty="0" sz="1000">
                <a:latin typeface="Times New Roman"/>
                <a:cs typeface="Times New Roman"/>
              </a:rPr>
              <a:t>balanced</a:t>
            </a:r>
            <a:r>
              <a:rPr dirty="0" sz="1000" spc="105">
                <a:latin typeface="Times New Roman"/>
                <a:cs typeface="Times New Roman"/>
              </a:rPr>
              <a:t> </a:t>
            </a:r>
            <a:r>
              <a:rPr dirty="0" sz="1000">
                <a:latin typeface="Times New Roman"/>
                <a:cs typeface="Times New Roman"/>
              </a:rPr>
              <a:t>and</a:t>
            </a:r>
            <a:r>
              <a:rPr dirty="0" sz="1000" spc="105">
                <a:latin typeface="Times New Roman"/>
                <a:cs typeface="Times New Roman"/>
              </a:rPr>
              <a:t> </a:t>
            </a:r>
            <a:r>
              <a:rPr dirty="0" sz="1000">
                <a:latin typeface="Times New Roman"/>
                <a:cs typeface="Times New Roman"/>
              </a:rPr>
              <a:t>better</a:t>
            </a:r>
            <a:r>
              <a:rPr dirty="0" sz="1000" spc="95">
                <a:latin typeface="Times New Roman"/>
                <a:cs typeface="Times New Roman"/>
              </a:rPr>
              <a:t> </a:t>
            </a:r>
            <a:r>
              <a:rPr dirty="0" sz="1000">
                <a:latin typeface="Times New Roman"/>
                <a:cs typeface="Times New Roman"/>
              </a:rPr>
              <a:t>multi-modal</a:t>
            </a:r>
            <a:r>
              <a:rPr dirty="0" sz="1000" spc="105">
                <a:latin typeface="Times New Roman"/>
                <a:cs typeface="Times New Roman"/>
              </a:rPr>
              <a:t> </a:t>
            </a:r>
            <a:r>
              <a:rPr dirty="0" sz="1000" spc="-10">
                <a:latin typeface="Times New Roman"/>
                <a:cs typeface="Times New Roman"/>
              </a:rPr>
              <a:t>fine- </a:t>
            </a:r>
            <a:r>
              <a:rPr dirty="0" sz="1000" spc="10">
                <a:latin typeface="Times New Roman"/>
                <a:cs typeface="Times New Roman"/>
              </a:rPr>
              <a:t>grained</a:t>
            </a:r>
            <a:r>
              <a:rPr dirty="0" sz="1000" spc="30">
                <a:latin typeface="Times New Roman"/>
                <a:cs typeface="Times New Roman"/>
              </a:rPr>
              <a:t> </a:t>
            </a:r>
            <a:r>
              <a:rPr dirty="0" sz="1000" spc="10">
                <a:latin typeface="Times New Roman"/>
                <a:cs typeface="Times New Roman"/>
              </a:rPr>
              <a:t>learning.</a:t>
            </a:r>
            <a:r>
              <a:rPr dirty="0" sz="1000" spc="150">
                <a:latin typeface="Times New Roman"/>
                <a:cs typeface="Times New Roman"/>
              </a:rPr>
              <a:t> </a:t>
            </a:r>
            <a:r>
              <a:rPr dirty="0" sz="1000">
                <a:latin typeface="Times New Roman"/>
                <a:cs typeface="Times New Roman"/>
              </a:rPr>
              <a:t>PMR</a:t>
            </a:r>
            <a:r>
              <a:rPr dirty="0" sz="1000" spc="35">
                <a:latin typeface="Times New Roman"/>
                <a:cs typeface="Times New Roman"/>
              </a:rPr>
              <a:t> </a:t>
            </a:r>
            <a:r>
              <a:rPr dirty="0" sz="1000">
                <a:latin typeface="Times New Roman"/>
                <a:cs typeface="Times New Roman"/>
              </a:rPr>
              <a:t>[9]</a:t>
            </a:r>
            <a:r>
              <a:rPr dirty="0" sz="1000" spc="30">
                <a:latin typeface="Times New Roman"/>
                <a:cs typeface="Times New Roman"/>
              </a:rPr>
              <a:t> </a:t>
            </a:r>
            <a:r>
              <a:rPr dirty="0" sz="1000" spc="10">
                <a:latin typeface="Times New Roman"/>
                <a:cs typeface="Times New Roman"/>
              </a:rPr>
              <a:t>proposes</a:t>
            </a:r>
            <a:r>
              <a:rPr dirty="0" sz="1000" spc="30">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prototypical</a:t>
            </a:r>
            <a:r>
              <a:rPr dirty="0" sz="1000" spc="30">
                <a:latin typeface="Times New Roman"/>
                <a:cs typeface="Times New Roman"/>
              </a:rPr>
              <a:t> </a:t>
            </a:r>
            <a:r>
              <a:rPr dirty="0" sz="1000" spc="10">
                <a:latin typeface="Times New Roman"/>
                <a:cs typeface="Times New Roman"/>
              </a:rPr>
              <a:t>rebalancing</a:t>
            </a:r>
            <a:r>
              <a:rPr dirty="0" sz="1000" spc="35">
                <a:latin typeface="Times New Roman"/>
                <a:cs typeface="Times New Roman"/>
              </a:rPr>
              <a:t> </a:t>
            </a:r>
            <a:r>
              <a:rPr dirty="0" sz="1000" spc="10">
                <a:latin typeface="Times New Roman"/>
                <a:cs typeface="Times New Roman"/>
              </a:rPr>
              <a:t>strategy</a:t>
            </a:r>
            <a:r>
              <a:rPr dirty="0" sz="1000" spc="30">
                <a:latin typeface="Times New Roman"/>
                <a:cs typeface="Times New Roman"/>
              </a:rPr>
              <a:t> </a:t>
            </a:r>
            <a:r>
              <a:rPr dirty="0" sz="1000" spc="10">
                <a:latin typeface="Times New Roman"/>
                <a:cs typeface="Times New Roman"/>
              </a:rPr>
              <a:t>to</a:t>
            </a:r>
            <a:r>
              <a:rPr dirty="0" sz="1000" spc="35">
                <a:latin typeface="Times New Roman"/>
                <a:cs typeface="Times New Roman"/>
              </a:rPr>
              <a:t> </a:t>
            </a:r>
            <a:r>
              <a:rPr dirty="0" sz="1000" spc="10">
                <a:latin typeface="Times New Roman"/>
                <a:cs typeface="Times New Roman"/>
              </a:rPr>
              <a:t>hasten</a:t>
            </a:r>
            <a:r>
              <a:rPr dirty="0" sz="1000" spc="30">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learning</a:t>
            </a:r>
            <a:r>
              <a:rPr dirty="0" sz="1000" spc="30">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spc="10">
                <a:latin typeface="Times New Roman"/>
                <a:cs typeface="Times New Roman"/>
              </a:rPr>
              <a:t>the</a:t>
            </a:r>
            <a:r>
              <a:rPr dirty="0" sz="1000" spc="30">
                <a:latin typeface="Times New Roman"/>
                <a:cs typeface="Times New Roman"/>
              </a:rPr>
              <a:t> </a:t>
            </a:r>
            <a:r>
              <a:rPr dirty="0" sz="1000" spc="-10">
                <a:latin typeface="Times New Roman"/>
                <a:cs typeface="Times New Roman"/>
              </a:rPr>
              <a:t>slower</a:t>
            </a:r>
            <a:endParaRPr sz="1000">
              <a:latin typeface="Times New Roman"/>
              <a:cs typeface="Times New Roman"/>
            </a:endParaRPr>
          </a:p>
        </p:txBody>
      </p:sp>
      <p:sp>
        <p:nvSpPr>
          <p:cNvPr id="15" name="object 15"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776554"/>
            <a:ext cx="5760085" cy="1335405"/>
            <a:chOff x="899998" y="1776554"/>
            <a:chExt cx="5760085" cy="1335405"/>
          </a:xfrm>
        </p:grpSpPr>
        <p:sp>
          <p:nvSpPr>
            <p:cNvPr id="3" name="object 3" descr=""/>
            <p:cNvSpPr/>
            <p:nvPr/>
          </p:nvSpPr>
          <p:spPr>
            <a:xfrm>
              <a:off x="899998" y="1776554"/>
              <a:ext cx="5760085" cy="1335405"/>
            </a:xfrm>
            <a:custGeom>
              <a:avLst/>
              <a:gdLst/>
              <a:ahLst/>
              <a:cxnLst/>
              <a:rect l="l" t="t" r="r" b="b"/>
              <a:pathLst>
                <a:path w="5760084" h="1335405">
                  <a:moveTo>
                    <a:pt x="5724074" y="0"/>
                  </a:moveTo>
                  <a:lnTo>
                    <a:pt x="36000" y="0"/>
                  </a:lnTo>
                  <a:lnTo>
                    <a:pt x="21987" y="2829"/>
                  </a:lnTo>
                  <a:lnTo>
                    <a:pt x="10544" y="10544"/>
                  </a:lnTo>
                  <a:lnTo>
                    <a:pt x="2829" y="21987"/>
                  </a:lnTo>
                  <a:lnTo>
                    <a:pt x="0" y="36000"/>
                  </a:lnTo>
                  <a:lnTo>
                    <a:pt x="0" y="1299389"/>
                  </a:lnTo>
                  <a:lnTo>
                    <a:pt x="2829" y="1313402"/>
                  </a:lnTo>
                  <a:lnTo>
                    <a:pt x="10544" y="1324845"/>
                  </a:lnTo>
                  <a:lnTo>
                    <a:pt x="21987" y="1332560"/>
                  </a:lnTo>
                  <a:lnTo>
                    <a:pt x="36000" y="1335389"/>
                  </a:lnTo>
                  <a:lnTo>
                    <a:pt x="5724074" y="1335389"/>
                  </a:lnTo>
                  <a:lnTo>
                    <a:pt x="5738087" y="1332560"/>
                  </a:lnTo>
                  <a:lnTo>
                    <a:pt x="5749530" y="1324845"/>
                  </a:lnTo>
                  <a:lnTo>
                    <a:pt x="5757245" y="1313402"/>
                  </a:lnTo>
                  <a:lnTo>
                    <a:pt x="5760074" y="129938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776554"/>
              <a:ext cx="5760085" cy="1335405"/>
            </a:xfrm>
            <a:custGeom>
              <a:avLst/>
              <a:gdLst/>
              <a:ahLst/>
              <a:cxnLst/>
              <a:rect l="l" t="t" r="r" b="b"/>
              <a:pathLst>
                <a:path w="5760084" h="1335405">
                  <a:moveTo>
                    <a:pt x="5724074" y="0"/>
                  </a:moveTo>
                  <a:lnTo>
                    <a:pt x="36000" y="0"/>
                  </a:lnTo>
                  <a:lnTo>
                    <a:pt x="21987" y="2829"/>
                  </a:lnTo>
                  <a:lnTo>
                    <a:pt x="10544" y="10544"/>
                  </a:lnTo>
                  <a:lnTo>
                    <a:pt x="2829" y="21987"/>
                  </a:lnTo>
                  <a:lnTo>
                    <a:pt x="0" y="36000"/>
                  </a:lnTo>
                  <a:lnTo>
                    <a:pt x="0" y="1299389"/>
                  </a:lnTo>
                  <a:lnTo>
                    <a:pt x="2829" y="1313402"/>
                  </a:lnTo>
                  <a:lnTo>
                    <a:pt x="10544" y="1324845"/>
                  </a:lnTo>
                  <a:lnTo>
                    <a:pt x="21987" y="1332560"/>
                  </a:lnTo>
                  <a:lnTo>
                    <a:pt x="36000" y="1335389"/>
                  </a:lnTo>
                  <a:lnTo>
                    <a:pt x="5724074" y="1335389"/>
                  </a:lnTo>
                  <a:lnTo>
                    <a:pt x="5738087" y="1332560"/>
                  </a:lnTo>
                  <a:lnTo>
                    <a:pt x="5749530" y="1324845"/>
                  </a:lnTo>
                  <a:lnTo>
                    <a:pt x="5757245" y="1313402"/>
                  </a:lnTo>
                  <a:lnTo>
                    <a:pt x="5760074" y="129938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5283109"/>
            <a:ext cx="5760085" cy="1518285"/>
            <a:chOff x="899998" y="5283109"/>
            <a:chExt cx="5760085" cy="1518285"/>
          </a:xfrm>
        </p:grpSpPr>
        <p:sp>
          <p:nvSpPr>
            <p:cNvPr id="6" name="object 6" descr=""/>
            <p:cNvSpPr/>
            <p:nvPr/>
          </p:nvSpPr>
          <p:spPr>
            <a:xfrm>
              <a:off x="899998" y="5283109"/>
              <a:ext cx="5760085" cy="1518285"/>
            </a:xfrm>
            <a:custGeom>
              <a:avLst/>
              <a:gdLst/>
              <a:ahLst/>
              <a:cxnLst/>
              <a:rect l="l" t="t" r="r" b="b"/>
              <a:pathLst>
                <a:path w="5760084" h="1518284">
                  <a:moveTo>
                    <a:pt x="5724074" y="0"/>
                  </a:moveTo>
                  <a:lnTo>
                    <a:pt x="36000" y="0"/>
                  </a:lnTo>
                  <a:lnTo>
                    <a:pt x="21987" y="2829"/>
                  </a:lnTo>
                  <a:lnTo>
                    <a:pt x="10544" y="10544"/>
                  </a:lnTo>
                  <a:lnTo>
                    <a:pt x="2829" y="21987"/>
                  </a:lnTo>
                  <a:lnTo>
                    <a:pt x="0" y="36000"/>
                  </a:lnTo>
                  <a:lnTo>
                    <a:pt x="0" y="1481842"/>
                  </a:lnTo>
                  <a:lnTo>
                    <a:pt x="2829" y="1495855"/>
                  </a:lnTo>
                  <a:lnTo>
                    <a:pt x="10544" y="1507298"/>
                  </a:lnTo>
                  <a:lnTo>
                    <a:pt x="21987" y="1515013"/>
                  </a:lnTo>
                  <a:lnTo>
                    <a:pt x="36000" y="1517842"/>
                  </a:lnTo>
                  <a:lnTo>
                    <a:pt x="5724074" y="1517842"/>
                  </a:lnTo>
                  <a:lnTo>
                    <a:pt x="5738087" y="1515013"/>
                  </a:lnTo>
                  <a:lnTo>
                    <a:pt x="5749530" y="1507298"/>
                  </a:lnTo>
                  <a:lnTo>
                    <a:pt x="5757245" y="1495855"/>
                  </a:lnTo>
                  <a:lnTo>
                    <a:pt x="5760074" y="148184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5283109"/>
              <a:ext cx="5760085" cy="1518285"/>
            </a:xfrm>
            <a:custGeom>
              <a:avLst/>
              <a:gdLst/>
              <a:ahLst/>
              <a:cxnLst/>
              <a:rect l="l" t="t" r="r" b="b"/>
              <a:pathLst>
                <a:path w="5760084" h="1518284">
                  <a:moveTo>
                    <a:pt x="5724074" y="0"/>
                  </a:moveTo>
                  <a:lnTo>
                    <a:pt x="36000" y="0"/>
                  </a:lnTo>
                  <a:lnTo>
                    <a:pt x="21987" y="2829"/>
                  </a:lnTo>
                  <a:lnTo>
                    <a:pt x="10544" y="10544"/>
                  </a:lnTo>
                  <a:lnTo>
                    <a:pt x="2829" y="21987"/>
                  </a:lnTo>
                  <a:lnTo>
                    <a:pt x="0" y="36000"/>
                  </a:lnTo>
                  <a:lnTo>
                    <a:pt x="0" y="1481842"/>
                  </a:lnTo>
                  <a:lnTo>
                    <a:pt x="2829" y="1495855"/>
                  </a:lnTo>
                  <a:lnTo>
                    <a:pt x="10544" y="1507298"/>
                  </a:lnTo>
                  <a:lnTo>
                    <a:pt x="21987" y="1515013"/>
                  </a:lnTo>
                  <a:lnTo>
                    <a:pt x="36000" y="1517842"/>
                  </a:lnTo>
                  <a:lnTo>
                    <a:pt x="5724074" y="1517842"/>
                  </a:lnTo>
                  <a:lnTo>
                    <a:pt x="5738087" y="1515013"/>
                  </a:lnTo>
                  <a:lnTo>
                    <a:pt x="5749530" y="1507298"/>
                  </a:lnTo>
                  <a:lnTo>
                    <a:pt x="5757245" y="1495855"/>
                  </a:lnTo>
                  <a:lnTo>
                    <a:pt x="5760074" y="148184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7400114"/>
            <a:ext cx="5760085" cy="400050"/>
            <a:chOff x="899998" y="7400114"/>
            <a:chExt cx="5760085" cy="400050"/>
          </a:xfrm>
        </p:grpSpPr>
        <p:sp>
          <p:nvSpPr>
            <p:cNvPr id="9" name="object 9" descr=""/>
            <p:cNvSpPr/>
            <p:nvPr/>
          </p:nvSpPr>
          <p:spPr>
            <a:xfrm>
              <a:off x="899998" y="7400114"/>
              <a:ext cx="5760085" cy="400050"/>
            </a:xfrm>
            <a:custGeom>
              <a:avLst/>
              <a:gdLst/>
              <a:ahLst/>
              <a:cxnLst/>
              <a:rect l="l" t="t" r="r" b="b"/>
              <a:pathLst>
                <a:path w="5760084" h="400050">
                  <a:moveTo>
                    <a:pt x="5724074" y="0"/>
                  </a:moveTo>
                  <a:lnTo>
                    <a:pt x="36000" y="0"/>
                  </a:lnTo>
                  <a:lnTo>
                    <a:pt x="21987" y="2829"/>
                  </a:lnTo>
                  <a:lnTo>
                    <a:pt x="10544" y="10544"/>
                  </a:lnTo>
                  <a:lnTo>
                    <a:pt x="2829" y="21987"/>
                  </a:lnTo>
                  <a:lnTo>
                    <a:pt x="0" y="36000"/>
                  </a:lnTo>
                  <a:lnTo>
                    <a:pt x="0" y="363476"/>
                  </a:lnTo>
                  <a:lnTo>
                    <a:pt x="2829" y="377489"/>
                  </a:lnTo>
                  <a:lnTo>
                    <a:pt x="10544" y="388932"/>
                  </a:lnTo>
                  <a:lnTo>
                    <a:pt x="21987" y="396647"/>
                  </a:lnTo>
                  <a:lnTo>
                    <a:pt x="36000" y="399476"/>
                  </a:lnTo>
                  <a:lnTo>
                    <a:pt x="5724074" y="399476"/>
                  </a:lnTo>
                  <a:lnTo>
                    <a:pt x="5738087" y="396647"/>
                  </a:lnTo>
                  <a:lnTo>
                    <a:pt x="5749530" y="388932"/>
                  </a:lnTo>
                  <a:lnTo>
                    <a:pt x="5757245" y="377489"/>
                  </a:lnTo>
                  <a:lnTo>
                    <a:pt x="5760074" y="36347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7400114"/>
              <a:ext cx="5760085" cy="400050"/>
            </a:xfrm>
            <a:custGeom>
              <a:avLst/>
              <a:gdLst/>
              <a:ahLst/>
              <a:cxnLst/>
              <a:rect l="l" t="t" r="r" b="b"/>
              <a:pathLst>
                <a:path w="5760084" h="400050">
                  <a:moveTo>
                    <a:pt x="5724074" y="0"/>
                  </a:moveTo>
                  <a:lnTo>
                    <a:pt x="36000" y="0"/>
                  </a:lnTo>
                  <a:lnTo>
                    <a:pt x="21987" y="2829"/>
                  </a:lnTo>
                  <a:lnTo>
                    <a:pt x="10544" y="10544"/>
                  </a:lnTo>
                  <a:lnTo>
                    <a:pt x="2829" y="21987"/>
                  </a:lnTo>
                  <a:lnTo>
                    <a:pt x="0" y="36000"/>
                  </a:lnTo>
                  <a:lnTo>
                    <a:pt x="0" y="363476"/>
                  </a:lnTo>
                  <a:lnTo>
                    <a:pt x="2829" y="377489"/>
                  </a:lnTo>
                  <a:lnTo>
                    <a:pt x="10544" y="388932"/>
                  </a:lnTo>
                  <a:lnTo>
                    <a:pt x="21987" y="396647"/>
                  </a:lnTo>
                  <a:lnTo>
                    <a:pt x="36000" y="399476"/>
                  </a:lnTo>
                  <a:lnTo>
                    <a:pt x="5724074" y="399476"/>
                  </a:lnTo>
                  <a:lnTo>
                    <a:pt x="5738087" y="396647"/>
                  </a:lnTo>
                  <a:lnTo>
                    <a:pt x="5749530" y="388932"/>
                  </a:lnTo>
                  <a:lnTo>
                    <a:pt x="5757245" y="377489"/>
                  </a:lnTo>
                  <a:lnTo>
                    <a:pt x="5760074" y="36347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8391725"/>
            <a:ext cx="5760085" cy="531495"/>
            <a:chOff x="899998" y="8391725"/>
            <a:chExt cx="5760085" cy="531495"/>
          </a:xfrm>
        </p:grpSpPr>
        <p:sp>
          <p:nvSpPr>
            <p:cNvPr id="12" name="object 12" descr=""/>
            <p:cNvSpPr/>
            <p:nvPr/>
          </p:nvSpPr>
          <p:spPr>
            <a:xfrm>
              <a:off x="899998" y="8391725"/>
              <a:ext cx="5760085" cy="531495"/>
            </a:xfrm>
            <a:custGeom>
              <a:avLst/>
              <a:gdLst/>
              <a:ahLst/>
              <a:cxnLst/>
              <a:rect l="l" t="t" r="r" b="b"/>
              <a:pathLst>
                <a:path w="5760084" h="531495">
                  <a:moveTo>
                    <a:pt x="5724074" y="0"/>
                  </a:moveTo>
                  <a:lnTo>
                    <a:pt x="36000" y="0"/>
                  </a:lnTo>
                  <a:lnTo>
                    <a:pt x="21987" y="2829"/>
                  </a:lnTo>
                  <a:lnTo>
                    <a:pt x="10544" y="10544"/>
                  </a:lnTo>
                  <a:lnTo>
                    <a:pt x="2829" y="21987"/>
                  </a:lnTo>
                  <a:lnTo>
                    <a:pt x="0" y="36000"/>
                  </a:lnTo>
                  <a:lnTo>
                    <a:pt x="0" y="495434"/>
                  </a:lnTo>
                  <a:lnTo>
                    <a:pt x="2829" y="509447"/>
                  </a:lnTo>
                  <a:lnTo>
                    <a:pt x="10544" y="520890"/>
                  </a:lnTo>
                  <a:lnTo>
                    <a:pt x="21987" y="528605"/>
                  </a:lnTo>
                  <a:lnTo>
                    <a:pt x="36000" y="531434"/>
                  </a:lnTo>
                  <a:lnTo>
                    <a:pt x="5724074" y="531434"/>
                  </a:lnTo>
                  <a:lnTo>
                    <a:pt x="5738087" y="528605"/>
                  </a:lnTo>
                  <a:lnTo>
                    <a:pt x="5749530" y="520890"/>
                  </a:lnTo>
                  <a:lnTo>
                    <a:pt x="5757245" y="509447"/>
                  </a:lnTo>
                  <a:lnTo>
                    <a:pt x="5760074" y="49543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8391725"/>
              <a:ext cx="5760085" cy="531495"/>
            </a:xfrm>
            <a:custGeom>
              <a:avLst/>
              <a:gdLst/>
              <a:ahLst/>
              <a:cxnLst/>
              <a:rect l="l" t="t" r="r" b="b"/>
              <a:pathLst>
                <a:path w="5760084" h="531495">
                  <a:moveTo>
                    <a:pt x="5724074" y="0"/>
                  </a:moveTo>
                  <a:lnTo>
                    <a:pt x="36000" y="0"/>
                  </a:lnTo>
                  <a:lnTo>
                    <a:pt x="21987" y="2829"/>
                  </a:lnTo>
                  <a:lnTo>
                    <a:pt x="10544" y="10544"/>
                  </a:lnTo>
                  <a:lnTo>
                    <a:pt x="2829" y="21987"/>
                  </a:lnTo>
                  <a:lnTo>
                    <a:pt x="0" y="36000"/>
                  </a:lnTo>
                  <a:lnTo>
                    <a:pt x="0" y="495434"/>
                  </a:lnTo>
                  <a:lnTo>
                    <a:pt x="2829" y="509447"/>
                  </a:lnTo>
                  <a:lnTo>
                    <a:pt x="10544" y="520890"/>
                  </a:lnTo>
                  <a:lnTo>
                    <a:pt x="21987" y="528605"/>
                  </a:lnTo>
                  <a:lnTo>
                    <a:pt x="36000" y="531434"/>
                  </a:lnTo>
                  <a:lnTo>
                    <a:pt x="5724074" y="531434"/>
                  </a:lnTo>
                  <a:lnTo>
                    <a:pt x="5738087" y="528605"/>
                  </a:lnTo>
                  <a:lnTo>
                    <a:pt x="5749530" y="520890"/>
                  </a:lnTo>
                  <a:lnTo>
                    <a:pt x="5757245" y="509447"/>
                  </a:lnTo>
                  <a:lnTo>
                    <a:pt x="5760074" y="49543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4" name="object 14" descr=""/>
          <p:cNvSpPr txBox="1"/>
          <p:nvPr/>
        </p:nvSpPr>
        <p:spPr>
          <a:xfrm>
            <a:off x="887298" y="841750"/>
            <a:ext cx="5785485" cy="8001634"/>
          </a:xfrm>
          <a:prstGeom prst="rect">
            <a:avLst/>
          </a:prstGeom>
        </p:spPr>
        <p:txBody>
          <a:bodyPr wrap="square" lIns="0" tIns="12700" rIns="0" bIns="0" rtlCol="0" vert="horz">
            <a:spAutoFit/>
          </a:bodyPr>
          <a:lstStyle/>
          <a:p>
            <a:pPr algn="just" marL="12700" marR="5080">
              <a:lnSpc>
                <a:spcPct val="129500"/>
              </a:lnSpc>
              <a:spcBef>
                <a:spcPts val="100"/>
              </a:spcBef>
            </a:pPr>
            <a:r>
              <a:rPr dirty="0" sz="1000" spc="10">
                <a:latin typeface="Times New Roman"/>
                <a:cs typeface="Times New Roman"/>
              </a:rPr>
              <a:t>modality</a:t>
            </a:r>
            <a:r>
              <a:rPr dirty="0" sz="1000" spc="95">
                <a:latin typeface="Times New Roman"/>
                <a:cs typeface="Times New Roman"/>
              </a:rPr>
              <a:t> </a:t>
            </a:r>
            <a:r>
              <a:rPr dirty="0" sz="1000" spc="10">
                <a:latin typeface="Times New Roman"/>
                <a:cs typeface="Times New Roman"/>
              </a:rPr>
              <a:t>and</a:t>
            </a:r>
            <a:r>
              <a:rPr dirty="0" sz="1000" spc="95">
                <a:latin typeface="Times New Roman"/>
                <a:cs typeface="Times New Roman"/>
              </a:rPr>
              <a:t> </a:t>
            </a:r>
            <a:r>
              <a:rPr dirty="0" sz="1000" spc="10">
                <a:latin typeface="Times New Roman"/>
                <a:cs typeface="Times New Roman"/>
              </a:rPr>
              <a:t>reduce</a:t>
            </a:r>
            <a:r>
              <a:rPr dirty="0" sz="1000" spc="95">
                <a:latin typeface="Times New Roman"/>
                <a:cs typeface="Times New Roman"/>
              </a:rPr>
              <a:t> </a:t>
            </a:r>
            <a:r>
              <a:rPr dirty="0" sz="1000" spc="10">
                <a:latin typeface="Times New Roman"/>
                <a:cs typeface="Times New Roman"/>
              </a:rPr>
              <a:t>the</a:t>
            </a:r>
            <a:r>
              <a:rPr dirty="0" sz="1000" spc="95">
                <a:latin typeface="Times New Roman"/>
                <a:cs typeface="Times New Roman"/>
              </a:rPr>
              <a:t> </a:t>
            </a:r>
            <a:r>
              <a:rPr dirty="0" sz="1000" spc="10">
                <a:latin typeface="Times New Roman"/>
                <a:cs typeface="Times New Roman"/>
              </a:rPr>
              <a:t>dominance</a:t>
            </a:r>
            <a:r>
              <a:rPr dirty="0" sz="1000" spc="95">
                <a:latin typeface="Times New Roman"/>
                <a:cs typeface="Times New Roman"/>
              </a:rPr>
              <a:t> </a:t>
            </a:r>
            <a:r>
              <a:rPr dirty="0" sz="1000" spc="10">
                <a:latin typeface="Times New Roman"/>
                <a:cs typeface="Times New Roman"/>
              </a:rPr>
              <a:t>of</a:t>
            </a:r>
            <a:r>
              <a:rPr dirty="0" sz="1000" spc="95">
                <a:latin typeface="Times New Roman"/>
                <a:cs typeface="Times New Roman"/>
              </a:rPr>
              <a:t> </a:t>
            </a:r>
            <a:r>
              <a:rPr dirty="0" sz="1000" spc="10">
                <a:latin typeface="Times New Roman"/>
                <a:cs typeface="Times New Roman"/>
              </a:rPr>
              <a:t>the</a:t>
            </a:r>
            <a:r>
              <a:rPr dirty="0" sz="1000" spc="95">
                <a:latin typeface="Times New Roman"/>
                <a:cs typeface="Times New Roman"/>
              </a:rPr>
              <a:t> </a:t>
            </a:r>
            <a:r>
              <a:rPr dirty="0" sz="1000" spc="10">
                <a:latin typeface="Times New Roman"/>
                <a:cs typeface="Times New Roman"/>
              </a:rPr>
              <a:t>stronger</a:t>
            </a:r>
            <a:r>
              <a:rPr dirty="0" sz="1000" spc="95">
                <a:latin typeface="Times New Roman"/>
                <a:cs typeface="Times New Roman"/>
              </a:rPr>
              <a:t> </a:t>
            </a:r>
            <a:r>
              <a:rPr dirty="0" sz="1000" spc="10">
                <a:latin typeface="Times New Roman"/>
                <a:cs typeface="Times New Roman"/>
              </a:rPr>
              <a:t>one.</a:t>
            </a:r>
            <a:r>
              <a:rPr dirty="0" sz="1000" spc="305">
                <a:latin typeface="Times New Roman"/>
                <a:cs typeface="Times New Roman"/>
              </a:rPr>
              <a:t> </a:t>
            </a:r>
            <a:r>
              <a:rPr dirty="0" sz="1000">
                <a:latin typeface="Times New Roman"/>
                <a:cs typeface="Times New Roman"/>
              </a:rPr>
              <a:t>AGM</a:t>
            </a:r>
            <a:r>
              <a:rPr dirty="0" sz="1000" spc="95">
                <a:latin typeface="Times New Roman"/>
                <a:cs typeface="Times New Roman"/>
              </a:rPr>
              <a:t> </a:t>
            </a:r>
            <a:r>
              <a:rPr dirty="0" sz="1000" spc="10">
                <a:latin typeface="Times New Roman"/>
                <a:cs typeface="Times New Roman"/>
              </a:rPr>
              <a:t>[17]</a:t>
            </a:r>
            <a:r>
              <a:rPr dirty="0" sz="1000" spc="95">
                <a:latin typeface="Times New Roman"/>
                <a:cs typeface="Times New Roman"/>
              </a:rPr>
              <a:t> </a:t>
            </a:r>
            <a:r>
              <a:rPr dirty="0" sz="1000" spc="10">
                <a:latin typeface="Times New Roman"/>
                <a:cs typeface="Times New Roman"/>
              </a:rPr>
              <a:t>introduces</a:t>
            </a:r>
            <a:r>
              <a:rPr dirty="0" sz="1000" spc="95">
                <a:latin typeface="Times New Roman"/>
                <a:cs typeface="Times New Roman"/>
              </a:rPr>
              <a:t> </a:t>
            </a:r>
            <a:r>
              <a:rPr dirty="0" sz="1000" spc="10">
                <a:latin typeface="Times New Roman"/>
                <a:cs typeface="Times New Roman"/>
              </a:rPr>
              <a:t>an</a:t>
            </a:r>
            <a:r>
              <a:rPr dirty="0" sz="1000" spc="95">
                <a:latin typeface="Times New Roman"/>
                <a:cs typeface="Times New Roman"/>
              </a:rPr>
              <a:t> </a:t>
            </a:r>
            <a:r>
              <a:rPr dirty="0" sz="1000" spc="10">
                <a:latin typeface="Times New Roman"/>
                <a:cs typeface="Times New Roman"/>
              </a:rPr>
              <a:t>adaptive</a:t>
            </a:r>
            <a:r>
              <a:rPr dirty="0" sz="1000" spc="95">
                <a:latin typeface="Times New Roman"/>
                <a:cs typeface="Times New Roman"/>
              </a:rPr>
              <a:t> </a:t>
            </a:r>
            <a:r>
              <a:rPr dirty="0" sz="1000" spc="10">
                <a:latin typeface="Times New Roman"/>
                <a:cs typeface="Times New Roman"/>
              </a:rPr>
              <a:t>gradient</a:t>
            </a:r>
            <a:r>
              <a:rPr dirty="0" sz="1000" spc="95">
                <a:latin typeface="Times New Roman"/>
                <a:cs typeface="Times New Roman"/>
              </a:rPr>
              <a:t> </a:t>
            </a:r>
            <a:r>
              <a:rPr dirty="0" sz="1000" spc="-10">
                <a:latin typeface="Times New Roman"/>
                <a:cs typeface="Times New Roman"/>
              </a:rPr>
              <a:t>modu- </a:t>
            </a:r>
            <a:r>
              <a:rPr dirty="0" sz="1000" spc="10">
                <a:latin typeface="Times New Roman"/>
                <a:cs typeface="Times New Roman"/>
              </a:rPr>
              <a:t>lation</a:t>
            </a:r>
            <a:r>
              <a:rPr dirty="0" sz="1000" spc="120">
                <a:latin typeface="Times New Roman"/>
                <a:cs typeface="Times New Roman"/>
              </a:rPr>
              <a:t> </a:t>
            </a:r>
            <a:r>
              <a:rPr dirty="0" sz="1000" spc="10">
                <a:latin typeface="Times New Roman"/>
                <a:cs typeface="Times New Roman"/>
              </a:rPr>
              <a:t>method</a:t>
            </a:r>
            <a:r>
              <a:rPr dirty="0" sz="1000" spc="125">
                <a:latin typeface="Times New Roman"/>
                <a:cs typeface="Times New Roman"/>
              </a:rPr>
              <a:t> </a:t>
            </a:r>
            <a:r>
              <a:rPr dirty="0" sz="1000" spc="10">
                <a:latin typeface="Times New Roman"/>
                <a:cs typeface="Times New Roman"/>
              </a:rPr>
              <a:t>that</a:t>
            </a:r>
            <a:r>
              <a:rPr dirty="0" sz="1000" spc="125">
                <a:latin typeface="Times New Roman"/>
                <a:cs typeface="Times New Roman"/>
              </a:rPr>
              <a:t> </a:t>
            </a:r>
            <a:r>
              <a:rPr dirty="0" sz="1000" spc="10">
                <a:latin typeface="Times New Roman"/>
                <a:cs typeface="Times New Roman"/>
              </a:rPr>
              <a:t>can</a:t>
            </a:r>
            <a:r>
              <a:rPr dirty="0" sz="1000" spc="120">
                <a:latin typeface="Times New Roman"/>
                <a:cs typeface="Times New Roman"/>
              </a:rPr>
              <a:t> </a:t>
            </a:r>
            <a:r>
              <a:rPr dirty="0" sz="1000" spc="10">
                <a:latin typeface="Times New Roman"/>
                <a:cs typeface="Times New Roman"/>
              </a:rPr>
              <a:t>boost</a:t>
            </a:r>
            <a:r>
              <a:rPr dirty="0" sz="1000" spc="125">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performance</a:t>
            </a:r>
            <a:r>
              <a:rPr dirty="0" sz="1000" spc="120">
                <a:latin typeface="Times New Roman"/>
                <a:cs typeface="Times New Roman"/>
              </a:rPr>
              <a:t> </a:t>
            </a:r>
            <a:r>
              <a:rPr dirty="0" sz="1000" spc="10">
                <a:latin typeface="Times New Roman"/>
                <a:cs typeface="Times New Roman"/>
              </a:rPr>
              <a:t>of</a:t>
            </a:r>
            <a:r>
              <a:rPr dirty="0" sz="1000" spc="130">
                <a:latin typeface="Times New Roman"/>
                <a:cs typeface="Times New Roman"/>
              </a:rPr>
              <a:t> </a:t>
            </a:r>
            <a:r>
              <a:rPr dirty="0" sz="1000" spc="10">
                <a:latin typeface="Times New Roman"/>
                <a:cs typeface="Times New Roman"/>
              </a:rPr>
              <a:t>multimodal</a:t>
            </a:r>
            <a:r>
              <a:rPr dirty="0" sz="1000" spc="125">
                <a:latin typeface="Times New Roman"/>
                <a:cs typeface="Times New Roman"/>
              </a:rPr>
              <a:t> </a:t>
            </a:r>
            <a:r>
              <a:rPr dirty="0" sz="1000" spc="10">
                <a:latin typeface="Times New Roman"/>
                <a:cs typeface="Times New Roman"/>
              </a:rPr>
              <a:t>models</a:t>
            </a:r>
            <a:r>
              <a:rPr dirty="0" sz="1000" spc="125">
                <a:latin typeface="Times New Roman"/>
                <a:cs typeface="Times New Roman"/>
              </a:rPr>
              <a:t> </a:t>
            </a:r>
            <a:r>
              <a:rPr dirty="0" sz="1000" spc="10">
                <a:latin typeface="Times New Roman"/>
                <a:cs typeface="Times New Roman"/>
              </a:rPr>
              <a:t>with</a:t>
            </a:r>
            <a:r>
              <a:rPr dirty="0" sz="1000" spc="120">
                <a:latin typeface="Times New Roman"/>
                <a:cs typeface="Times New Roman"/>
              </a:rPr>
              <a:t> </a:t>
            </a:r>
            <a:r>
              <a:rPr dirty="0" sz="1000" spc="10">
                <a:latin typeface="Times New Roman"/>
                <a:cs typeface="Times New Roman"/>
              </a:rPr>
              <a:t>various</a:t>
            </a:r>
            <a:r>
              <a:rPr dirty="0" sz="1000" spc="125">
                <a:latin typeface="Times New Roman"/>
                <a:cs typeface="Times New Roman"/>
              </a:rPr>
              <a:t> </a:t>
            </a:r>
            <a:r>
              <a:rPr dirty="0" sz="1000" spc="10">
                <a:latin typeface="Times New Roman"/>
                <a:cs typeface="Times New Roman"/>
              </a:rPr>
              <a:t>fusion</a:t>
            </a:r>
            <a:r>
              <a:rPr dirty="0" sz="1000" spc="125">
                <a:latin typeface="Times New Roman"/>
                <a:cs typeface="Times New Roman"/>
              </a:rPr>
              <a:t> </a:t>
            </a:r>
            <a:r>
              <a:rPr dirty="0" sz="1000" spc="10">
                <a:latin typeface="Times New Roman"/>
                <a:cs typeface="Times New Roman"/>
              </a:rPr>
              <a:t>strategies.</a:t>
            </a:r>
            <a:r>
              <a:rPr dirty="0" sz="1000" spc="380">
                <a:latin typeface="Times New Roman"/>
                <a:cs typeface="Times New Roman"/>
              </a:rPr>
              <a:t> </a:t>
            </a:r>
            <a:r>
              <a:rPr dirty="0" sz="1000" spc="-10">
                <a:latin typeface="Times New Roman"/>
                <a:cs typeface="Times New Roman"/>
              </a:rPr>
              <a:t>While </a:t>
            </a:r>
            <a:r>
              <a:rPr dirty="0" sz="1000" spc="20">
                <a:latin typeface="Times New Roman"/>
                <a:cs typeface="Times New Roman"/>
              </a:rPr>
              <a:t>gradient</a:t>
            </a:r>
            <a:r>
              <a:rPr dirty="0" sz="1000" spc="-25">
                <a:latin typeface="Times New Roman"/>
                <a:cs typeface="Times New Roman"/>
              </a:rPr>
              <a:t> </a:t>
            </a:r>
            <a:r>
              <a:rPr dirty="0" sz="1000" spc="20">
                <a:latin typeface="Times New Roman"/>
                <a:cs typeface="Times New Roman"/>
              </a:rPr>
              <a:t>modulation</a:t>
            </a:r>
            <a:r>
              <a:rPr dirty="0" sz="1000" spc="-15">
                <a:latin typeface="Times New Roman"/>
                <a:cs typeface="Times New Roman"/>
              </a:rPr>
              <a:t> </a:t>
            </a:r>
            <a:r>
              <a:rPr dirty="0" sz="1000" spc="20">
                <a:latin typeface="Times New Roman"/>
                <a:cs typeface="Times New Roman"/>
              </a:rPr>
              <a:t>methods</a:t>
            </a:r>
            <a:r>
              <a:rPr dirty="0" sz="1000" spc="-20">
                <a:latin typeface="Times New Roman"/>
                <a:cs typeface="Times New Roman"/>
              </a:rPr>
              <a:t> </a:t>
            </a:r>
            <a:r>
              <a:rPr dirty="0" sz="1000" spc="20">
                <a:latin typeface="Times New Roman"/>
                <a:cs typeface="Times New Roman"/>
              </a:rPr>
              <a:t>show</a:t>
            </a:r>
            <a:r>
              <a:rPr dirty="0" sz="1000" spc="-15">
                <a:latin typeface="Times New Roman"/>
                <a:cs typeface="Times New Roman"/>
              </a:rPr>
              <a:t> </a:t>
            </a:r>
            <a:r>
              <a:rPr dirty="0" sz="1000" spc="10">
                <a:latin typeface="Times New Roman"/>
                <a:cs typeface="Times New Roman"/>
              </a:rPr>
              <a:t>good</a:t>
            </a:r>
            <a:r>
              <a:rPr dirty="0" sz="1000" spc="-15">
                <a:latin typeface="Times New Roman"/>
                <a:cs typeface="Times New Roman"/>
              </a:rPr>
              <a:t> </a:t>
            </a:r>
            <a:r>
              <a:rPr dirty="0" sz="1000" spc="20">
                <a:latin typeface="Times New Roman"/>
                <a:cs typeface="Times New Roman"/>
              </a:rPr>
              <a:t>results,</a:t>
            </a:r>
            <a:r>
              <a:rPr dirty="0" sz="1000" spc="-15">
                <a:latin typeface="Times New Roman"/>
                <a:cs typeface="Times New Roman"/>
              </a:rPr>
              <a:t> </a:t>
            </a:r>
            <a:r>
              <a:rPr dirty="0" sz="1000" spc="20">
                <a:latin typeface="Times New Roman"/>
                <a:cs typeface="Times New Roman"/>
              </a:rPr>
              <a:t>improving</a:t>
            </a:r>
            <a:r>
              <a:rPr dirty="0" sz="1000" spc="-20">
                <a:latin typeface="Times New Roman"/>
                <a:cs typeface="Times New Roman"/>
              </a:rPr>
              <a:t> </a:t>
            </a:r>
            <a:r>
              <a:rPr dirty="0" sz="1000" spc="20">
                <a:latin typeface="Times New Roman"/>
                <a:cs typeface="Times New Roman"/>
              </a:rPr>
              <a:t>weak</a:t>
            </a:r>
            <a:r>
              <a:rPr dirty="0" sz="1000" spc="-25">
                <a:latin typeface="Times New Roman"/>
                <a:cs typeface="Times New Roman"/>
              </a:rPr>
              <a:t> </a:t>
            </a:r>
            <a:r>
              <a:rPr dirty="0" sz="1000" spc="20">
                <a:latin typeface="Times New Roman"/>
                <a:cs typeface="Times New Roman"/>
              </a:rPr>
              <a:t>modalities</a:t>
            </a:r>
            <a:r>
              <a:rPr dirty="0" sz="1000" spc="-15">
                <a:latin typeface="Times New Roman"/>
                <a:cs typeface="Times New Roman"/>
              </a:rPr>
              <a:t> </a:t>
            </a:r>
            <a:r>
              <a:rPr dirty="0" sz="1000" spc="20">
                <a:latin typeface="Times New Roman"/>
                <a:cs typeface="Times New Roman"/>
              </a:rPr>
              <a:t>often</a:t>
            </a:r>
            <a:r>
              <a:rPr dirty="0" sz="1000" spc="-15">
                <a:latin typeface="Times New Roman"/>
                <a:cs typeface="Times New Roman"/>
              </a:rPr>
              <a:t> </a:t>
            </a:r>
            <a:r>
              <a:rPr dirty="0" sz="1000" spc="10">
                <a:latin typeface="Times New Roman"/>
                <a:cs typeface="Times New Roman"/>
              </a:rPr>
              <a:t>degrades</a:t>
            </a:r>
            <a:r>
              <a:rPr dirty="0" sz="1000" spc="-25">
                <a:latin typeface="Times New Roman"/>
                <a:cs typeface="Times New Roman"/>
              </a:rPr>
              <a:t> </a:t>
            </a:r>
            <a:r>
              <a:rPr dirty="0" sz="1000" spc="20">
                <a:latin typeface="Times New Roman"/>
                <a:cs typeface="Times New Roman"/>
              </a:rPr>
              <a:t>the</a:t>
            </a:r>
            <a:r>
              <a:rPr dirty="0" sz="1000" spc="-15">
                <a:latin typeface="Times New Roman"/>
                <a:cs typeface="Times New Roman"/>
              </a:rPr>
              <a:t> </a:t>
            </a:r>
            <a:r>
              <a:rPr dirty="0" sz="1000" spc="-10">
                <a:latin typeface="Times New Roman"/>
                <a:cs typeface="Times New Roman"/>
              </a:rPr>
              <a:t>performance </a:t>
            </a:r>
            <a:r>
              <a:rPr dirty="0" sz="1000">
                <a:latin typeface="Times New Roman"/>
                <a:cs typeface="Times New Roman"/>
              </a:rPr>
              <a:t>of</a:t>
            </a:r>
            <a:r>
              <a:rPr dirty="0" sz="1000" spc="85">
                <a:latin typeface="Times New Roman"/>
                <a:cs typeface="Times New Roman"/>
              </a:rPr>
              <a:t> </a:t>
            </a:r>
            <a:r>
              <a:rPr dirty="0" sz="1000">
                <a:latin typeface="Times New Roman"/>
                <a:cs typeface="Times New Roman"/>
              </a:rPr>
              <a:t>strong</a:t>
            </a:r>
            <a:r>
              <a:rPr dirty="0" sz="1000" spc="90">
                <a:latin typeface="Times New Roman"/>
                <a:cs typeface="Times New Roman"/>
              </a:rPr>
              <a:t> </a:t>
            </a:r>
            <a:r>
              <a:rPr dirty="0" sz="1000">
                <a:latin typeface="Times New Roman"/>
                <a:cs typeface="Times New Roman"/>
              </a:rPr>
              <a:t>ones</a:t>
            </a:r>
            <a:r>
              <a:rPr dirty="0" sz="1000" spc="90">
                <a:latin typeface="Times New Roman"/>
                <a:cs typeface="Times New Roman"/>
              </a:rPr>
              <a:t> </a:t>
            </a:r>
            <a:r>
              <a:rPr dirty="0" sz="1000">
                <a:latin typeface="Times New Roman"/>
                <a:cs typeface="Times New Roman"/>
              </a:rPr>
              <a:t>due</a:t>
            </a:r>
            <a:r>
              <a:rPr dirty="0" sz="1000" spc="90">
                <a:latin typeface="Times New Roman"/>
                <a:cs typeface="Times New Roman"/>
              </a:rPr>
              <a:t> </a:t>
            </a:r>
            <a:r>
              <a:rPr dirty="0" sz="1000">
                <a:latin typeface="Times New Roman"/>
                <a:cs typeface="Times New Roman"/>
              </a:rPr>
              <a:t>to</a:t>
            </a:r>
            <a:r>
              <a:rPr dirty="0" sz="1000" spc="9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inter-modality</a:t>
            </a:r>
            <a:r>
              <a:rPr dirty="0" sz="1000" spc="90">
                <a:latin typeface="Times New Roman"/>
                <a:cs typeface="Times New Roman"/>
              </a:rPr>
              <a:t> </a:t>
            </a:r>
            <a:r>
              <a:rPr dirty="0" sz="1000" spc="-10">
                <a:latin typeface="Times New Roman"/>
                <a:cs typeface="Times New Roman"/>
              </a:rPr>
              <a:t>conflict.</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192405" marR="99060">
              <a:lnSpc>
                <a:spcPct val="129500"/>
              </a:lnSpc>
            </a:pPr>
            <a:r>
              <a:rPr dirty="0" sz="1000" spc="45">
                <a:latin typeface="SimSun"/>
                <a:cs typeface="SimSun"/>
              </a:rPr>
              <a:t>梯度调制</a:t>
            </a:r>
            <a:r>
              <a:rPr dirty="0" sz="1000" spc="5">
                <a:latin typeface="Times New Roman"/>
                <a:cs typeface="Times New Roman"/>
              </a:rPr>
              <a:t>[</a:t>
            </a:r>
            <a:r>
              <a:rPr dirty="0" sz="1000" spc="-145">
                <a:latin typeface="SimSun"/>
                <a:cs typeface="SimSun"/>
              </a:rPr>
              <a:t>第 </a:t>
            </a:r>
            <a:r>
              <a:rPr dirty="0" sz="1000" spc="-10">
                <a:latin typeface="Times New Roman"/>
                <a:cs typeface="Times New Roman"/>
              </a:rPr>
              <a:t>9,</a:t>
            </a:r>
            <a:r>
              <a:rPr dirty="0" sz="1000" spc="-30">
                <a:latin typeface="Times New Roman"/>
                <a:cs typeface="Times New Roman"/>
              </a:rPr>
              <a:t> </a:t>
            </a:r>
            <a:r>
              <a:rPr dirty="0" sz="1000" spc="-10">
                <a:latin typeface="Times New Roman"/>
                <a:cs typeface="Times New Roman"/>
              </a:rPr>
              <a:t>17,</a:t>
            </a:r>
            <a:r>
              <a:rPr dirty="0" sz="1000" spc="-30">
                <a:latin typeface="Times New Roman"/>
                <a:cs typeface="Times New Roman"/>
              </a:rPr>
              <a:t> </a:t>
            </a:r>
            <a:r>
              <a:rPr dirty="0" sz="1000" spc="-10">
                <a:latin typeface="Times New Roman"/>
                <a:cs typeface="Times New Roman"/>
              </a:rPr>
              <a:t>21,</a:t>
            </a:r>
            <a:r>
              <a:rPr dirty="0" sz="1000" spc="-25">
                <a:latin typeface="Times New Roman"/>
                <a:cs typeface="Times New Roman"/>
              </a:rPr>
              <a:t> </a:t>
            </a:r>
            <a:r>
              <a:rPr dirty="0" sz="1000" spc="-10">
                <a:latin typeface="Times New Roman"/>
                <a:cs typeface="Times New Roman"/>
              </a:rPr>
              <a:t>36</a:t>
            </a:r>
            <a:r>
              <a:rPr dirty="0" sz="1000" spc="-30">
                <a:latin typeface="Times New Roman"/>
                <a:cs typeface="Times New Roman"/>
              </a:rPr>
              <a:t> </a:t>
            </a:r>
            <a:r>
              <a:rPr dirty="0" sz="1000" spc="-15">
                <a:latin typeface="SimSun"/>
                <a:cs typeface="SimSun"/>
              </a:rPr>
              <a:t>条</a:t>
            </a:r>
            <a:r>
              <a:rPr dirty="0" sz="1000" spc="-15">
                <a:latin typeface="Times New Roman"/>
                <a:cs typeface="Times New Roman"/>
              </a:rPr>
              <a:t>] </a:t>
            </a:r>
            <a:r>
              <a:rPr dirty="0" sz="1000" spc="-20">
                <a:latin typeface="SimSun"/>
                <a:cs typeface="SimSun"/>
              </a:rPr>
              <a:t>旨在扩大多模态学习中较弱模态的梯度，平衡不同模态编码器的优化。</a:t>
            </a:r>
            <a:r>
              <a:rPr dirty="0" sz="1000" spc="-10">
                <a:latin typeface="SimSun"/>
                <a:cs typeface="SimSun"/>
              </a:rPr>
              <a:t>具体来说，</a:t>
            </a:r>
            <a:r>
              <a:rPr dirty="0" sz="1000" spc="-10">
                <a:latin typeface="Times New Roman"/>
                <a:cs typeface="Times New Roman"/>
              </a:rPr>
              <a:t>OGM[21]</a:t>
            </a:r>
            <a:r>
              <a:rPr dirty="0" sz="1000" spc="-25">
                <a:latin typeface="Times New Roman"/>
                <a:cs typeface="Times New Roman"/>
              </a:rPr>
              <a:t> </a:t>
            </a:r>
            <a:r>
              <a:rPr dirty="0" sz="1000" spc="-25">
                <a:latin typeface="SimSun"/>
                <a:cs typeface="SimSun"/>
              </a:rPr>
              <a:t>提出了即时梯度调制，以自适应地管理每个模态的优化。</a:t>
            </a:r>
            <a:r>
              <a:rPr dirty="0" sz="1000" spc="10">
                <a:latin typeface="Times New Roman"/>
                <a:cs typeface="Times New Roman"/>
              </a:rPr>
              <a:t>MMCosine[36]</a:t>
            </a:r>
            <a:r>
              <a:rPr dirty="0" sz="1000" spc="-25">
                <a:latin typeface="Times New Roman"/>
                <a:cs typeface="Times New Roman"/>
              </a:rPr>
              <a:t> </a:t>
            </a:r>
            <a:r>
              <a:rPr dirty="0" sz="1000" spc="-10">
                <a:latin typeface="SimSun"/>
                <a:cs typeface="SimSun"/>
              </a:rPr>
              <a:t>对特征和权重进行模态</a:t>
            </a:r>
            <a:r>
              <a:rPr dirty="0" sz="1000" spc="-45">
                <a:latin typeface="Times New Roman"/>
                <a:cs typeface="Times New Roman"/>
              </a:rPr>
              <a:t>-</a:t>
            </a:r>
            <a:r>
              <a:rPr dirty="0" sz="1000" spc="5">
                <a:latin typeface="Times New Roman"/>
                <a:cs typeface="Times New Roman"/>
              </a:rPr>
              <a:t>wise</a:t>
            </a:r>
            <a:r>
              <a:rPr dirty="0" sz="1000" spc="15">
                <a:latin typeface="Times New Roman"/>
                <a:cs typeface="Times New Roman"/>
              </a:rPr>
              <a:t> </a:t>
            </a:r>
            <a:r>
              <a:rPr dirty="0" sz="1000" spc="-25">
                <a:latin typeface="Times New Roman"/>
                <a:cs typeface="Times New Roman"/>
              </a:rPr>
              <a:t>L2</a:t>
            </a:r>
            <a:r>
              <a:rPr dirty="0" sz="1000" spc="15">
                <a:latin typeface="Times New Roman"/>
                <a:cs typeface="Times New Roman"/>
              </a:rPr>
              <a:t> </a:t>
            </a:r>
            <a:r>
              <a:rPr dirty="0" sz="1000" spc="-10">
                <a:latin typeface="SimSun"/>
                <a:cs typeface="SimSun"/>
              </a:rPr>
              <a:t>归一化，以实现平衡且更好的多模态细粒度学习。</a:t>
            </a:r>
            <a:r>
              <a:rPr dirty="0" sz="1000">
                <a:latin typeface="Times New Roman"/>
                <a:cs typeface="Times New Roman"/>
              </a:rPr>
              <a:t>PMR[9]</a:t>
            </a:r>
            <a:r>
              <a:rPr dirty="0" sz="1000" spc="15">
                <a:latin typeface="Times New Roman"/>
                <a:cs typeface="Times New Roman"/>
              </a:rPr>
              <a:t> </a:t>
            </a:r>
            <a:r>
              <a:rPr dirty="0" sz="1000" spc="-10">
                <a:latin typeface="SimSun"/>
                <a:cs typeface="SimSun"/>
              </a:rPr>
              <a:t>提出了原型重新平衡策略，以加速较慢模态的学习并减少较强模态的主导地位。</a:t>
            </a:r>
            <a:r>
              <a:rPr dirty="0" sz="1000" spc="-15">
                <a:latin typeface="Times New Roman"/>
                <a:cs typeface="Times New Roman"/>
              </a:rPr>
              <a:t>AGM[17]</a:t>
            </a:r>
            <a:r>
              <a:rPr dirty="0" sz="1000" spc="25">
                <a:latin typeface="Times New Roman"/>
                <a:cs typeface="Times New Roman"/>
              </a:rPr>
              <a:t> </a:t>
            </a:r>
            <a:r>
              <a:rPr dirty="0" sz="1000" spc="-10">
                <a:latin typeface="SimSun"/>
                <a:cs typeface="SimSun"/>
              </a:rPr>
              <a:t>引入了一种自适应梯度</a:t>
            </a:r>
            <a:r>
              <a:rPr dirty="0" sz="1000" spc="-45">
                <a:latin typeface="SimSun"/>
                <a:cs typeface="SimSun"/>
              </a:rPr>
              <a:t>调制方法，该方法可以通过各种融合策略提高多模态模型的性能。虽然梯度调制方法显示出良好的</a:t>
            </a:r>
            <a:r>
              <a:rPr dirty="0" sz="1000" spc="-10">
                <a:latin typeface="SimSun"/>
                <a:cs typeface="SimSun"/>
              </a:rPr>
              <a:t>效果，但由于模态间冲突，改善弱模态往往会降低强模态的性能</a:t>
            </a:r>
            <a:endParaRPr sz="1000">
              <a:latin typeface="SimSun"/>
              <a:cs typeface="SimSun"/>
            </a:endParaRPr>
          </a:p>
          <a:p>
            <a:pPr>
              <a:lnSpc>
                <a:spcPct val="100000"/>
              </a:lnSpc>
              <a:spcBef>
                <a:spcPts val="75"/>
              </a:spcBef>
            </a:pPr>
            <a:endParaRPr sz="1000">
              <a:latin typeface="SimSun"/>
              <a:cs typeface="SimSun"/>
            </a:endParaRPr>
          </a:p>
          <a:p>
            <a:pPr algn="just" marL="12700" marR="5080" indent="252729">
              <a:lnSpc>
                <a:spcPct val="129500"/>
              </a:lnSpc>
            </a:pPr>
            <a:r>
              <a:rPr dirty="0" sz="1000">
                <a:latin typeface="Times New Roman"/>
                <a:cs typeface="Times New Roman"/>
              </a:rPr>
              <a:t>To</a:t>
            </a:r>
            <a:r>
              <a:rPr dirty="0" sz="1000" spc="229">
                <a:latin typeface="Times New Roman"/>
                <a:cs typeface="Times New Roman"/>
              </a:rPr>
              <a:t> </a:t>
            </a:r>
            <a:r>
              <a:rPr dirty="0" sz="1000">
                <a:latin typeface="Times New Roman"/>
                <a:cs typeface="Times New Roman"/>
              </a:rPr>
              <a:t>this</a:t>
            </a:r>
            <a:r>
              <a:rPr dirty="0" sz="1000" spc="229">
                <a:latin typeface="Times New Roman"/>
                <a:cs typeface="Times New Roman"/>
              </a:rPr>
              <a:t> </a:t>
            </a:r>
            <a:r>
              <a:rPr dirty="0" sz="1000">
                <a:latin typeface="Times New Roman"/>
                <a:cs typeface="Times New Roman"/>
              </a:rPr>
              <a:t>end,</a:t>
            </a:r>
            <a:r>
              <a:rPr dirty="0" sz="1000" spc="270">
                <a:latin typeface="Times New Roman"/>
                <a:cs typeface="Times New Roman"/>
              </a:rPr>
              <a:t> </a:t>
            </a:r>
            <a:r>
              <a:rPr dirty="0" sz="1000">
                <a:latin typeface="Times New Roman"/>
                <a:cs typeface="Times New Roman"/>
              </a:rPr>
              <a:t>the</a:t>
            </a:r>
            <a:r>
              <a:rPr dirty="0" sz="1000" spc="235">
                <a:latin typeface="Times New Roman"/>
                <a:cs typeface="Times New Roman"/>
              </a:rPr>
              <a:t> </a:t>
            </a:r>
            <a:r>
              <a:rPr dirty="0" sz="1000">
                <a:latin typeface="Times New Roman"/>
                <a:cs typeface="Times New Roman"/>
              </a:rPr>
              <a:t>alternating</a:t>
            </a:r>
            <a:r>
              <a:rPr dirty="0" sz="1000" spc="229">
                <a:latin typeface="Times New Roman"/>
                <a:cs typeface="Times New Roman"/>
              </a:rPr>
              <a:t> </a:t>
            </a:r>
            <a:r>
              <a:rPr dirty="0" sz="1000">
                <a:latin typeface="Times New Roman"/>
                <a:cs typeface="Times New Roman"/>
              </a:rPr>
              <a:t>optimization</a:t>
            </a:r>
            <a:r>
              <a:rPr dirty="0" sz="1000" spc="235">
                <a:latin typeface="Times New Roman"/>
                <a:cs typeface="Times New Roman"/>
              </a:rPr>
              <a:t> </a:t>
            </a:r>
            <a:r>
              <a:rPr dirty="0" sz="1000">
                <a:latin typeface="Times New Roman"/>
                <a:cs typeface="Times New Roman"/>
              </a:rPr>
              <a:t>methods</a:t>
            </a:r>
            <a:r>
              <a:rPr dirty="0" sz="1000" spc="229">
                <a:latin typeface="Times New Roman"/>
                <a:cs typeface="Times New Roman"/>
              </a:rPr>
              <a:t> </a:t>
            </a:r>
            <a:r>
              <a:rPr dirty="0" sz="1000">
                <a:latin typeface="Times New Roman"/>
                <a:cs typeface="Times New Roman"/>
              </a:rPr>
              <a:t>are</a:t>
            </a:r>
            <a:r>
              <a:rPr dirty="0" sz="1000" spc="229">
                <a:latin typeface="Times New Roman"/>
                <a:cs typeface="Times New Roman"/>
              </a:rPr>
              <a:t> </a:t>
            </a:r>
            <a:r>
              <a:rPr dirty="0" sz="1000">
                <a:latin typeface="Times New Roman"/>
                <a:cs typeface="Times New Roman"/>
              </a:rPr>
              <a:t>proposed</a:t>
            </a:r>
            <a:r>
              <a:rPr dirty="0" sz="1000" spc="235">
                <a:latin typeface="Times New Roman"/>
                <a:cs typeface="Times New Roman"/>
              </a:rPr>
              <a:t> </a:t>
            </a:r>
            <a:r>
              <a:rPr dirty="0" sz="1000">
                <a:latin typeface="Times New Roman"/>
                <a:cs typeface="Times New Roman"/>
              </a:rPr>
              <a:t>to</a:t>
            </a:r>
            <a:r>
              <a:rPr dirty="0" sz="1000" spc="229">
                <a:latin typeface="Times New Roman"/>
                <a:cs typeface="Times New Roman"/>
              </a:rPr>
              <a:t> </a:t>
            </a:r>
            <a:r>
              <a:rPr dirty="0" sz="1000">
                <a:latin typeface="Times New Roman"/>
                <a:cs typeface="Times New Roman"/>
              </a:rPr>
              <a:t>improve</a:t>
            </a:r>
            <a:r>
              <a:rPr dirty="0" sz="1000" spc="235">
                <a:latin typeface="Times New Roman"/>
                <a:cs typeface="Times New Roman"/>
              </a:rPr>
              <a:t> </a:t>
            </a:r>
            <a:r>
              <a:rPr dirty="0" sz="1000">
                <a:latin typeface="Times New Roman"/>
                <a:cs typeface="Times New Roman"/>
              </a:rPr>
              <a:t>the</a:t>
            </a:r>
            <a:r>
              <a:rPr dirty="0" sz="1000" spc="229">
                <a:latin typeface="Times New Roman"/>
                <a:cs typeface="Times New Roman"/>
              </a:rPr>
              <a:t> </a:t>
            </a:r>
            <a:r>
              <a:rPr dirty="0" sz="1000">
                <a:latin typeface="Times New Roman"/>
                <a:cs typeface="Times New Roman"/>
              </a:rPr>
              <a:t>unimodal</a:t>
            </a:r>
            <a:r>
              <a:rPr dirty="0" sz="1000" spc="235">
                <a:latin typeface="Times New Roman"/>
                <a:cs typeface="Times New Roman"/>
              </a:rPr>
              <a:t> </a:t>
            </a:r>
            <a:r>
              <a:rPr dirty="0" sz="1000">
                <a:latin typeface="Times New Roman"/>
                <a:cs typeface="Times New Roman"/>
              </a:rPr>
              <a:t>learning</a:t>
            </a:r>
            <a:r>
              <a:rPr dirty="0" sz="1000" spc="229">
                <a:latin typeface="Times New Roman"/>
                <a:cs typeface="Times New Roman"/>
              </a:rPr>
              <a:t> </a:t>
            </a:r>
            <a:r>
              <a:rPr dirty="0" sz="1000" spc="-25">
                <a:latin typeface="Times New Roman"/>
                <a:cs typeface="Times New Roman"/>
              </a:rPr>
              <a:t>of </a:t>
            </a:r>
            <a:r>
              <a:rPr dirty="0" sz="1000" spc="10">
                <a:latin typeface="Times New Roman"/>
                <a:cs typeface="Times New Roman"/>
              </a:rPr>
              <a:t>each</a:t>
            </a:r>
            <a:r>
              <a:rPr dirty="0" sz="1000" spc="125">
                <a:latin typeface="Times New Roman"/>
                <a:cs typeface="Times New Roman"/>
              </a:rPr>
              <a:t> </a:t>
            </a:r>
            <a:r>
              <a:rPr dirty="0" sz="1000" spc="10">
                <a:latin typeface="Times New Roman"/>
                <a:cs typeface="Times New Roman"/>
              </a:rPr>
              <a:t>modality,</a:t>
            </a:r>
            <a:r>
              <a:rPr dirty="0" sz="1000" spc="150">
                <a:latin typeface="Times New Roman"/>
                <a:cs typeface="Times New Roman"/>
              </a:rPr>
              <a:t> </a:t>
            </a:r>
            <a:r>
              <a:rPr dirty="0" sz="1000" spc="10">
                <a:latin typeface="Times New Roman"/>
                <a:cs typeface="Times New Roman"/>
              </a:rPr>
              <a:t>including</a:t>
            </a:r>
            <a:r>
              <a:rPr dirty="0" sz="1000" spc="125">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domain</a:t>
            </a:r>
            <a:r>
              <a:rPr dirty="0" sz="1000" spc="125">
                <a:latin typeface="Times New Roman"/>
                <a:cs typeface="Times New Roman"/>
              </a:rPr>
              <a:t> </a:t>
            </a:r>
            <a:r>
              <a:rPr dirty="0" sz="1000" spc="10">
                <a:latin typeface="Times New Roman"/>
                <a:cs typeface="Times New Roman"/>
              </a:rPr>
              <a:t>one,</a:t>
            </a:r>
            <a:r>
              <a:rPr dirty="0" sz="1000" spc="150">
                <a:latin typeface="Times New Roman"/>
                <a:cs typeface="Times New Roman"/>
              </a:rPr>
              <a:t> </a:t>
            </a:r>
            <a:r>
              <a:rPr dirty="0" sz="1000" spc="10">
                <a:latin typeface="Times New Roman"/>
                <a:cs typeface="Times New Roman"/>
              </a:rPr>
              <a:t>in</a:t>
            </a:r>
            <a:r>
              <a:rPr dirty="0" sz="1000" spc="125">
                <a:latin typeface="Times New Roman"/>
                <a:cs typeface="Times New Roman"/>
              </a:rPr>
              <a:t> </a:t>
            </a:r>
            <a:r>
              <a:rPr dirty="0" sz="1000" spc="10">
                <a:latin typeface="Times New Roman"/>
                <a:cs typeface="Times New Roman"/>
              </a:rPr>
              <a:t>multimodal</a:t>
            </a:r>
            <a:r>
              <a:rPr dirty="0" sz="1000" spc="125">
                <a:latin typeface="Times New Roman"/>
                <a:cs typeface="Times New Roman"/>
              </a:rPr>
              <a:t> </a:t>
            </a:r>
            <a:r>
              <a:rPr dirty="0" sz="1000" spc="10">
                <a:latin typeface="Times New Roman"/>
                <a:cs typeface="Times New Roman"/>
              </a:rPr>
              <a:t>learning.</a:t>
            </a:r>
            <a:r>
              <a:rPr dirty="0" sz="1000" spc="409">
                <a:latin typeface="Times New Roman"/>
                <a:cs typeface="Times New Roman"/>
              </a:rPr>
              <a:t> </a:t>
            </a:r>
            <a:r>
              <a:rPr dirty="0" sz="1000" spc="10">
                <a:latin typeface="Times New Roman"/>
                <a:cs typeface="Times New Roman"/>
              </a:rPr>
              <a:t>MLA</a:t>
            </a:r>
            <a:r>
              <a:rPr dirty="0" sz="1000" spc="125">
                <a:latin typeface="Times New Roman"/>
                <a:cs typeface="Times New Roman"/>
              </a:rPr>
              <a:t> </a:t>
            </a:r>
            <a:r>
              <a:rPr dirty="0" sz="1000" spc="10">
                <a:latin typeface="Times New Roman"/>
                <a:cs typeface="Times New Roman"/>
              </a:rPr>
              <a:t>[39]</a:t>
            </a:r>
            <a:r>
              <a:rPr dirty="0" sz="1000" spc="125">
                <a:latin typeface="Times New Roman"/>
                <a:cs typeface="Times New Roman"/>
              </a:rPr>
              <a:t> </a:t>
            </a:r>
            <a:r>
              <a:rPr dirty="0" sz="1000" spc="10">
                <a:latin typeface="Times New Roman"/>
                <a:cs typeface="Times New Roman"/>
              </a:rPr>
              <a:t>transforms</a:t>
            </a:r>
            <a:r>
              <a:rPr dirty="0" sz="1000" spc="125">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conventional </a:t>
            </a:r>
            <a:r>
              <a:rPr dirty="0" sz="1000" spc="10">
                <a:latin typeface="Times New Roman"/>
                <a:cs typeface="Times New Roman"/>
              </a:rPr>
              <a:t>joint</a:t>
            </a:r>
            <a:r>
              <a:rPr dirty="0" sz="1000" spc="100">
                <a:latin typeface="Times New Roman"/>
                <a:cs typeface="Times New Roman"/>
              </a:rPr>
              <a:t> </a:t>
            </a:r>
            <a:r>
              <a:rPr dirty="0" sz="1000" spc="10">
                <a:latin typeface="Times New Roman"/>
                <a:cs typeface="Times New Roman"/>
              </a:rPr>
              <a:t>multimodal</a:t>
            </a:r>
            <a:r>
              <a:rPr dirty="0" sz="1000" spc="110">
                <a:latin typeface="Times New Roman"/>
                <a:cs typeface="Times New Roman"/>
              </a:rPr>
              <a:t> </a:t>
            </a:r>
            <a:r>
              <a:rPr dirty="0" sz="1000" spc="10">
                <a:latin typeface="Times New Roman"/>
                <a:cs typeface="Times New Roman"/>
              </a:rPr>
              <a:t>learning</a:t>
            </a:r>
            <a:r>
              <a:rPr dirty="0" sz="1000" spc="110">
                <a:latin typeface="Times New Roman"/>
                <a:cs typeface="Times New Roman"/>
              </a:rPr>
              <a:t> </a:t>
            </a:r>
            <a:r>
              <a:rPr dirty="0" sz="1000" spc="10">
                <a:latin typeface="Times New Roman"/>
                <a:cs typeface="Times New Roman"/>
              </a:rPr>
              <a:t>process</a:t>
            </a:r>
            <a:r>
              <a:rPr dirty="0" sz="1000" spc="105">
                <a:latin typeface="Times New Roman"/>
                <a:cs typeface="Times New Roman"/>
              </a:rPr>
              <a:t> </a:t>
            </a:r>
            <a:r>
              <a:rPr dirty="0" sz="1000" spc="10">
                <a:latin typeface="Times New Roman"/>
                <a:cs typeface="Times New Roman"/>
              </a:rPr>
              <a:t>into</a:t>
            </a:r>
            <a:r>
              <a:rPr dirty="0" sz="1000" spc="105">
                <a:latin typeface="Times New Roman"/>
                <a:cs typeface="Times New Roman"/>
              </a:rPr>
              <a:t> </a:t>
            </a:r>
            <a:r>
              <a:rPr dirty="0" sz="1000" spc="10">
                <a:latin typeface="Times New Roman"/>
                <a:cs typeface="Times New Roman"/>
              </a:rPr>
              <a:t>an</a:t>
            </a:r>
            <a:r>
              <a:rPr dirty="0" sz="1000" spc="110">
                <a:latin typeface="Times New Roman"/>
                <a:cs typeface="Times New Roman"/>
              </a:rPr>
              <a:t> </a:t>
            </a:r>
            <a:r>
              <a:rPr dirty="0" sz="1000" spc="10">
                <a:latin typeface="Times New Roman"/>
                <a:cs typeface="Times New Roman"/>
              </a:rPr>
              <a:t>alternating</a:t>
            </a:r>
            <a:r>
              <a:rPr dirty="0" sz="1000" spc="100">
                <a:latin typeface="Times New Roman"/>
                <a:cs typeface="Times New Roman"/>
              </a:rPr>
              <a:t> </a:t>
            </a:r>
            <a:r>
              <a:rPr dirty="0" sz="1000" spc="10">
                <a:latin typeface="Times New Roman"/>
                <a:cs typeface="Times New Roman"/>
              </a:rPr>
              <a:t>unimodal</a:t>
            </a:r>
            <a:r>
              <a:rPr dirty="0" sz="1000" spc="105">
                <a:latin typeface="Times New Roman"/>
                <a:cs typeface="Times New Roman"/>
              </a:rPr>
              <a:t> </a:t>
            </a:r>
            <a:r>
              <a:rPr dirty="0" sz="1000" spc="10">
                <a:latin typeface="Times New Roman"/>
                <a:cs typeface="Times New Roman"/>
              </a:rPr>
              <a:t>learning</a:t>
            </a:r>
            <a:r>
              <a:rPr dirty="0" sz="1000" spc="100">
                <a:latin typeface="Times New Roman"/>
                <a:cs typeface="Times New Roman"/>
              </a:rPr>
              <a:t> </a:t>
            </a:r>
            <a:r>
              <a:rPr dirty="0" sz="1000" spc="10">
                <a:latin typeface="Times New Roman"/>
                <a:cs typeface="Times New Roman"/>
              </a:rPr>
              <a:t>process</a:t>
            </a:r>
            <a:r>
              <a:rPr dirty="0" sz="1000" spc="105">
                <a:latin typeface="Times New Roman"/>
                <a:cs typeface="Times New Roman"/>
              </a:rPr>
              <a:t> </a:t>
            </a:r>
            <a:r>
              <a:rPr dirty="0" sz="1000" spc="10">
                <a:latin typeface="Times New Roman"/>
                <a:cs typeface="Times New Roman"/>
              </a:rPr>
              <a:t>to</a:t>
            </a:r>
            <a:r>
              <a:rPr dirty="0" sz="1000" spc="105">
                <a:latin typeface="Times New Roman"/>
                <a:cs typeface="Times New Roman"/>
              </a:rPr>
              <a:t> </a:t>
            </a:r>
            <a:r>
              <a:rPr dirty="0" sz="1000" spc="10">
                <a:latin typeface="Times New Roman"/>
                <a:cs typeface="Times New Roman"/>
              </a:rPr>
              <a:t>minimize</a:t>
            </a:r>
            <a:r>
              <a:rPr dirty="0" sz="1000" spc="110">
                <a:latin typeface="Times New Roman"/>
                <a:cs typeface="Times New Roman"/>
              </a:rPr>
              <a:t> </a:t>
            </a:r>
            <a:r>
              <a:rPr dirty="0" sz="1000" spc="10">
                <a:latin typeface="Times New Roman"/>
                <a:cs typeface="Times New Roman"/>
              </a:rPr>
              <a:t>inter-</a:t>
            </a:r>
            <a:r>
              <a:rPr dirty="0" sz="1000" spc="-10">
                <a:latin typeface="Times New Roman"/>
                <a:cs typeface="Times New Roman"/>
              </a:rPr>
              <a:t>modality </a:t>
            </a:r>
            <a:r>
              <a:rPr dirty="0" sz="1000">
                <a:latin typeface="Times New Roman"/>
                <a:cs typeface="Times New Roman"/>
              </a:rPr>
              <a:t>interference</a:t>
            </a:r>
            <a:r>
              <a:rPr dirty="0" sz="1000" spc="130">
                <a:latin typeface="Times New Roman"/>
                <a:cs typeface="Times New Roman"/>
              </a:rPr>
              <a:t> </a:t>
            </a:r>
            <a:r>
              <a:rPr dirty="0" sz="1000">
                <a:latin typeface="Times New Roman"/>
                <a:cs typeface="Times New Roman"/>
              </a:rPr>
              <a:t>directly.</a:t>
            </a:r>
            <a:r>
              <a:rPr dirty="0" sz="1000" spc="405">
                <a:latin typeface="Times New Roman"/>
                <a:cs typeface="Times New Roman"/>
              </a:rPr>
              <a:t> </a:t>
            </a:r>
            <a:r>
              <a:rPr dirty="0" sz="1000" spc="-10">
                <a:latin typeface="Times New Roman"/>
                <a:cs typeface="Times New Roman"/>
              </a:rPr>
              <a:t>Re-</a:t>
            </a:r>
            <a:r>
              <a:rPr dirty="0" sz="1000">
                <a:latin typeface="Times New Roman"/>
                <a:cs typeface="Times New Roman"/>
              </a:rPr>
              <a:t>conBoost</a:t>
            </a:r>
            <a:r>
              <a:rPr dirty="0" sz="1000" spc="145">
                <a:latin typeface="Times New Roman"/>
                <a:cs typeface="Times New Roman"/>
              </a:rPr>
              <a:t> </a:t>
            </a:r>
            <a:r>
              <a:rPr dirty="0" sz="1000">
                <a:latin typeface="Times New Roman"/>
                <a:cs typeface="Times New Roman"/>
              </a:rPr>
              <a:t>[14]</a:t>
            </a:r>
            <a:r>
              <a:rPr dirty="0" sz="1000" spc="140">
                <a:latin typeface="Times New Roman"/>
                <a:cs typeface="Times New Roman"/>
              </a:rPr>
              <a:t> </a:t>
            </a:r>
            <a:r>
              <a:rPr dirty="0" sz="1000">
                <a:latin typeface="Times New Roman"/>
                <a:cs typeface="Times New Roman"/>
              </a:rPr>
              <a:t>updates</a:t>
            </a:r>
            <a:r>
              <a:rPr dirty="0" sz="1000" spc="140">
                <a:latin typeface="Times New Roman"/>
                <a:cs typeface="Times New Roman"/>
              </a:rPr>
              <a:t> </a:t>
            </a:r>
            <a:r>
              <a:rPr dirty="0" sz="1000">
                <a:latin typeface="Times New Roman"/>
                <a:cs typeface="Times New Roman"/>
              </a:rPr>
              <a:t>a</a:t>
            </a:r>
            <a:r>
              <a:rPr dirty="0" sz="1000" spc="140">
                <a:latin typeface="Times New Roman"/>
                <a:cs typeface="Times New Roman"/>
              </a:rPr>
              <a:t> </a:t>
            </a:r>
            <a:r>
              <a:rPr dirty="0" sz="1000">
                <a:latin typeface="Times New Roman"/>
                <a:cs typeface="Times New Roman"/>
              </a:rPr>
              <a:t>fixed</a:t>
            </a:r>
            <a:r>
              <a:rPr dirty="0" sz="1000" spc="135">
                <a:latin typeface="Times New Roman"/>
                <a:cs typeface="Times New Roman"/>
              </a:rPr>
              <a:t> </a:t>
            </a:r>
            <a:r>
              <a:rPr dirty="0" sz="1000">
                <a:latin typeface="Times New Roman"/>
                <a:cs typeface="Times New Roman"/>
              </a:rPr>
              <a:t>modality</a:t>
            </a:r>
            <a:r>
              <a:rPr dirty="0" sz="1000" spc="140">
                <a:latin typeface="Times New Roman"/>
                <a:cs typeface="Times New Roman"/>
              </a:rPr>
              <a:t> </a:t>
            </a:r>
            <a:r>
              <a:rPr dirty="0" sz="1000">
                <a:latin typeface="Times New Roman"/>
                <a:cs typeface="Times New Roman"/>
              </a:rPr>
              <a:t>each</a:t>
            </a:r>
            <a:r>
              <a:rPr dirty="0" sz="1000" spc="140">
                <a:latin typeface="Times New Roman"/>
                <a:cs typeface="Times New Roman"/>
              </a:rPr>
              <a:t> </a:t>
            </a:r>
            <a:r>
              <a:rPr dirty="0" sz="1000">
                <a:latin typeface="Times New Roman"/>
                <a:cs typeface="Times New Roman"/>
              </a:rPr>
              <a:t>time</a:t>
            </a:r>
            <a:r>
              <a:rPr dirty="0" sz="1000" spc="140">
                <a:latin typeface="Times New Roman"/>
                <a:cs typeface="Times New Roman"/>
              </a:rPr>
              <a:t> </a:t>
            </a:r>
            <a:r>
              <a:rPr dirty="0" sz="1000">
                <a:latin typeface="Times New Roman"/>
                <a:cs typeface="Times New Roman"/>
              </a:rPr>
              <a:t>via</a:t>
            </a:r>
            <a:r>
              <a:rPr dirty="0" sz="1000" spc="140">
                <a:latin typeface="Times New Roman"/>
                <a:cs typeface="Times New Roman"/>
              </a:rPr>
              <a:t> </a:t>
            </a:r>
            <a:r>
              <a:rPr dirty="0" sz="1000">
                <a:latin typeface="Times New Roman"/>
                <a:cs typeface="Times New Roman"/>
              </a:rPr>
              <a:t>a</a:t>
            </a:r>
            <a:r>
              <a:rPr dirty="0" sz="1000" spc="145">
                <a:latin typeface="Times New Roman"/>
                <a:cs typeface="Times New Roman"/>
              </a:rPr>
              <a:t> </a:t>
            </a:r>
            <a:r>
              <a:rPr dirty="0" sz="1000">
                <a:latin typeface="Times New Roman"/>
                <a:cs typeface="Times New Roman"/>
              </a:rPr>
              <a:t>dynamical</a:t>
            </a:r>
            <a:r>
              <a:rPr dirty="0" sz="1000" spc="140">
                <a:latin typeface="Times New Roman"/>
                <a:cs typeface="Times New Roman"/>
              </a:rPr>
              <a:t> </a:t>
            </a:r>
            <a:r>
              <a:rPr dirty="0" sz="1000">
                <a:latin typeface="Times New Roman"/>
                <a:cs typeface="Times New Roman"/>
              </a:rPr>
              <a:t>learning</a:t>
            </a:r>
            <a:r>
              <a:rPr dirty="0" sz="1000" spc="140">
                <a:latin typeface="Times New Roman"/>
                <a:cs typeface="Times New Roman"/>
              </a:rPr>
              <a:t> </a:t>
            </a:r>
            <a:r>
              <a:rPr dirty="0" sz="1000" spc="-10">
                <a:latin typeface="Times New Roman"/>
                <a:cs typeface="Times New Roman"/>
              </a:rPr>
              <a:t>objec- </a:t>
            </a:r>
            <a:r>
              <a:rPr dirty="0" sz="1000" spc="10">
                <a:latin typeface="Times New Roman"/>
                <a:cs typeface="Times New Roman"/>
              </a:rPr>
              <a:t>tive</a:t>
            </a:r>
            <a:r>
              <a:rPr dirty="0" sz="1000" spc="35">
                <a:latin typeface="Times New Roman"/>
                <a:cs typeface="Times New Roman"/>
              </a:rPr>
              <a:t> </a:t>
            </a:r>
            <a:r>
              <a:rPr dirty="0" sz="1000" spc="10">
                <a:latin typeface="Times New Roman"/>
                <a:cs typeface="Times New Roman"/>
              </a:rPr>
              <a:t>to</a:t>
            </a:r>
            <a:r>
              <a:rPr dirty="0" sz="1000" spc="35">
                <a:latin typeface="Times New Roman"/>
                <a:cs typeface="Times New Roman"/>
              </a:rPr>
              <a:t> </a:t>
            </a:r>
            <a:r>
              <a:rPr dirty="0" sz="1000" spc="10">
                <a:latin typeface="Times New Roman"/>
                <a:cs typeface="Times New Roman"/>
              </a:rPr>
              <a:t>overcome</a:t>
            </a:r>
            <a:r>
              <a:rPr dirty="0" sz="1000" spc="40">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competition</a:t>
            </a:r>
            <a:r>
              <a:rPr dirty="0" sz="1000" spc="40">
                <a:latin typeface="Times New Roman"/>
                <a:cs typeface="Times New Roman"/>
              </a:rPr>
              <a:t> </a:t>
            </a:r>
            <a:r>
              <a:rPr dirty="0" sz="1000" spc="10">
                <a:latin typeface="Times New Roman"/>
                <a:cs typeface="Times New Roman"/>
              </a:rPr>
              <a:t>with</a:t>
            </a:r>
            <a:r>
              <a:rPr dirty="0" sz="1000" spc="35">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historical</a:t>
            </a:r>
            <a:r>
              <a:rPr dirty="0" sz="1000" spc="40">
                <a:latin typeface="Times New Roman"/>
                <a:cs typeface="Times New Roman"/>
              </a:rPr>
              <a:t> </a:t>
            </a:r>
            <a:r>
              <a:rPr dirty="0" sz="1000" spc="10">
                <a:latin typeface="Times New Roman"/>
                <a:cs typeface="Times New Roman"/>
              </a:rPr>
              <a:t>models.</a:t>
            </a:r>
            <a:r>
              <a:rPr dirty="0" sz="1000" spc="135">
                <a:latin typeface="Times New Roman"/>
                <a:cs typeface="Times New Roman"/>
              </a:rPr>
              <a:t> </a:t>
            </a:r>
            <a:r>
              <a:rPr dirty="0" sz="1000" spc="10">
                <a:latin typeface="Times New Roman"/>
                <a:cs typeface="Times New Roman"/>
              </a:rPr>
              <a:t>MMPareto</a:t>
            </a:r>
            <a:r>
              <a:rPr dirty="0" sz="1000" spc="40">
                <a:latin typeface="Times New Roman"/>
                <a:cs typeface="Times New Roman"/>
              </a:rPr>
              <a:t> </a:t>
            </a:r>
            <a:r>
              <a:rPr dirty="0" sz="1000" spc="10">
                <a:latin typeface="Times New Roman"/>
                <a:cs typeface="Times New Roman"/>
              </a:rPr>
              <a:t>[32]</a:t>
            </a:r>
            <a:r>
              <a:rPr dirty="0" sz="1000" spc="35">
                <a:latin typeface="Times New Roman"/>
                <a:cs typeface="Times New Roman"/>
              </a:rPr>
              <a:t> </a:t>
            </a:r>
            <a:r>
              <a:rPr dirty="0" sz="1000">
                <a:latin typeface="Times New Roman"/>
                <a:cs typeface="Times New Roman"/>
              </a:rPr>
              <a:t>leverages</a:t>
            </a:r>
            <a:r>
              <a:rPr dirty="0" sz="1000" spc="40">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Pareto</a:t>
            </a:r>
            <a:r>
              <a:rPr dirty="0" sz="1000" spc="35">
                <a:latin typeface="Times New Roman"/>
                <a:cs typeface="Times New Roman"/>
              </a:rPr>
              <a:t> </a:t>
            </a:r>
            <a:r>
              <a:rPr dirty="0" sz="1000" spc="-10">
                <a:latin typeface="Times New Roman"/>
                <a:cs typeface="Times New Roman"/>
              </a:rPr>
              <a:t>integration </a:t>
            </a:r>
            <a:r>
              <a:rPr dirty="0" sz="1000" spc="10">
                <a:latin typeface="Times New Roman"/>
                <a:cs typeface="Times New Roman"/>
              </a:rPr>
              <a:t>technique</a:t>
            </a:r>
            <a:r>
              <a:rPr dirty="0" sz="1000" spc="165">
                <a:latin typeface="Times New Roman"/>
                <a:cs typeface="Times New Roman"/>
              </a:rPr>
              <a:t> </a:t>
            </a:r>
            <a:r>
              <a:rPr dirty="0" sz="1000" spc="10">
                <a:latin typeface="Times New Roman"/>
                <a:cs typeface="Times New Roman"/>
              </a:rPr>
              <a:t>to</a:t>
            </a:r>
            <a:r>
              <a:rPr dirty="0" sz="1000" spc="165">
                <a:latin typeface="Times New Roman"/>
                <a:cs typeface="Times New Roman"/>
              </a:rPr>
              <a:t> </a:t>
            </a:r>
            <a:r>
              <a:rPr dirty="0" sz="1000" spc="10">
                <a:latin typeface="Times New Roman"/>
                <a:cs typeface="Times New Roman"/>
              </a:rPr>
              <a:t>catch</a:t>
            </a:r>
            <a:r>
              <a:rPr dirty="0" sz="1000" spc="165">
                <a:latin typeface="Times New Roman"/>
                <a:cs typeface="Times New Roman"/>
              </a:rPr>
              <a:t> </a:t>
            </a:r>
            <a:r>
              <a:rPr dirty="0" sz="1000" spc="10">
                <a:latin typeface="Times New Roman"/>
                <a:cs typeface="Times New Roman"/>
              </a:rPr>
              <a:t>innocent</a:t>
            </a:r>
            <a:r>
              <a:rPr dirty="0" sz="1000" spc="170">
                <a:latin typeface="Times New Roman"/>
                <a:cs typeface="Times New Roman"/>
              </a:rPr>
              <a:t> </a:t>
            </a:r>
            <a:r>
              <a:rPr dirty="0" sz="1000" spc="10">
                <a:latin typeface="Times New Roman"/>
                <a:cs typeface="Times New Roman"/>
              </a:rPr>
              <a:t>unimodal</a:t>
            </a:r>
            <a:r>
              <a:rPr dirty="0" sz="1000" spc="175">
                <a:latin typeface="Times New Roman"/>
                <a:cs typeface="Times New Roman"/>
              </a:rPr>
              <a:t> </a:t>
            </a:r>
            <a:r>
              <a:rPr dirty="0" sz="1000" spc="10">
                <a:latin typeface="Times New Roman"/>
                <a:cs typeface="Times New Roman"/>
              </a:rPr>
              <a:t>assistance,</a:t>
            </a:r>
            <a:r>
              <a:rPr dirty="0" sz="1000" spc="195">
                <a:latin typeface="Times New Roman"/>
                <a:cs typeface="Times New Roman"/>
              </a:rPr>
              <a:t> </a:t>
            </a:r>
            <a:r>
              <a:rPr dirty="0" sz="1000" spc="10">
                <a:latin typeface="Times New Roman"/>
                <a:cs typeface="Times New Roman"/>
              </a:rPr>
              <a:t>avoiding</a:t>
            </a:r>
            <a:r>
              <a:rPr dirty="0" sz="1000" spc="165">
                <a:latin typeface="Times New Roman"/>
                <a:cs typeface="Times New Roman"/>
              </a:rPr>
              <a:t> </a:t>
            </a:r>
            <a:r>
              <a:rPr dirty="0" sz="1000" spc="10">
                <a:latin typeface="Times New Roman"/>
                <a:cs typeface="Times New Roman"/>
              </a:rPr>
              <a:t>its</a:t>
            </a:r>
            <a:r>
              <a:rPr dirty="0" sz="1000" spc="175">
                <a:latin typeface="Times New Roman"/>
                <a:cs typeface="Times New Roman"/>
              </a:rPr>
              <a:t> </a:t>
            </a:r>
            <a:r>
              <a:rPr dirty="0" sz="1000" spc="10">
                <a:latin typeface="Times New Roman"/>
                <a:cs typeface="Times New Roman"/>
              </a:rPr>
              <a:t>conflict</a:t>
            </a:r>
            <a:r>
              <a:rPr dirty="0" sz="1000" spc="170">
                <a:latin typeface="Times New Roman"/>
                <a:cs typeface="Times New Roman"/>
              </a:rPr>
              <a:t> </a:t>
            </a:r>
            <a:r>
              <a:rPr dirty="0" sz="1000" spc="10">
                <a:latin typeface="Times New Roman"/>
                <a:cs typeface="Times New Roman"/>
              </a:rPr>
              <a:t>with</a:t>
            </a:r>
            <a:r>
              <a:rPr dirty="0" sz="1000" spc="175">
                <a:latin typeface="Times New Roman"/>
                <a:cs typeface="Times New Roman"/>
              </a:rPr>
              <a:t> </a:t>
            </a:r>
            <a:r>
              <a:rPr dirty="0" sz="1000" spc="10">
                <a:latin typeface="Times New Roman"/>
                <a:cs typeface="Times New Roman"/>
              </a:rPr>
              <a:t>multimodal</a:t>
            </a:r>
            <a:r>
              <a:rPr dirty="0" sz="1000" spc="170">
                <a:latin typeface="Times New Roman"/>
                <a:cs typeface="Times New Roman"/>
              </a:rPr>
              <a:t> </a:t>
            </a:r>
            <a:r>
              <a:rPr dirty="0" sz="1000" spc="10">
                <a:latin typeface="Times New Roman"/>
                <a:cs typeface="Times New Roman"/>
              </a:rPr>
              <a:t>optimization.</a:t>
            </a:r>
            <a:r>
              <a:rPr dirty="0" sz="1000" spc="125">
                <a:latin typeface="Times New Roman"/>
                <a:cs typeface="Times New Roman"/>
              </a:rPr>
              <a:t>  </a:t>
            </a:r>
            <a:r>
              <a:rPr dirty="0" sz="1000" spc="-25">
                <a:latin typeface="Times New Roman"/>
                <a:cs typeface="Times New Roman"/>
              </a:rPr>
              <a:t>Be- </a:t>
            </a:r>
            <a:r>
              <a:rPr dirty="0" sz="1000" spc="10">
                <a:latin typeface="Times New Roman"/>
                <a:cs typeface="Times New Roman"/>
              </a:rPr>
              <a:t>sides,</a:t>
            </a:r>
            <a:r>
              <a:rPr dirty="0" sz="1000" spc="65">
                <a:latin typeface="Times New Roman"/>
                <a:cs typeface="Times New Roman"/>
              </a:rPr>
              <a:t> </a:t>
            </a:r>
            <a:r>
              <a:rPr dirty="0" sz="1000">
                <a:latin typeface="Times New Roman"/>
                <a:cs typeface="Times New Roman"/>
              </a:rPr>
              <a:t>Wei</a:t>
            </a:r>
            <a:r>
              <a:rPr dirty="0" sz="1000" spc="60">
                <a:latin typeface="Times New Roman"/>
                <a:cs typeface="Times New Roman"/>
              </a:rPr>
              <a:t> </a:t>
            </a:r>
            <a:r>
              <a:rPr dirty="0" sz="1000" spc="10">
                <a:latin typeface="Times New Roman"/>
                <a:cs typeface="Times New Roman"/>
              </a:rPr>
              <a:t>et</a:t>
            </a:r>
            <a:r>
              <a:rPr dirty="0" sz="1000" spc="65">
                <a:latin typeface="Times New Roman"/>
                <a:cs typeface="Times New Roman"/>
              </a:rPr>
              <a:t> </a:t>
            </a:r>
            <a:r>
              <a:rPr dirty="0" sz="1000" spc="10">
                <a:latin typeface="Times New Roman"/>
                <a:cs typeface="Times New Roman"/>
              </a:rPr>
              <a:t>al.</a:t>
            </a:r>
            <a:r>
              <a:rPr dirty="0" sz="1000" spc="225">
                <a:latin typeface="Times New Roman"/>
                <a:cs typeface="Times New Roman"/>
              </a:rPr>
              <a:t> </a:t>
            </a:r>
            <a:r>
              <a:rPr dirty="0" sz="1000" spc="10">
                <a:latin typeface="Times New Roman"/>
                <a:cs typeface="Times New Roman"/>
              </a:rPr>
              <a:t>[33]</a:t>
            </a:r>
            <a:r>
              <a:rPr dirty="0" sz="1000" spc="60">
                <a:latin typeface="Times New Roman"/>
                <a:cs typeface="Times New Roman"/>
              </a:rPr>
              <a:t> </a:t>
            </a:r>
            <a:r>
              <a:rPr dirty="0" sz="1000" spc="10">
                <a:latin typeface="Times New Roman"/>
                <a:cs typeface="Times New Roman"/>
              </a:rPr>
              <a:t>proposes</a:t>
            </a:r>
            <a:r>
              <a:rPr dirty="0" sz="1000" spc="60">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Diagnosing</a:t>
            </a:r>
            <a:r>
              <a:rPr dirty="0" sz="1000" spc="60">
                <a:latin typeface="Times New Roman"/>
                <a:cs typeface="Times New Roman"/>
              </a:rPr>
              <a:t> </a:t>
            </a:r>
            <a:r>
              <a:rPr dirty="0" sz="1000" spc="10">
                <a:latin typeface="Times New Roman"/>
                <a:cs typeface="Times New Roman"/>
              </a:rPr>
              <a:t>&amp;</a:t>
            </a:r>
            <a:r>
              <a:rPr dirty="0" sz="1000" spc="65">
                <a:latin typeface="Times New Roman"/>
                <a:cs typeface="Times New Roman"/>
              </a:rPr>
              <a:t> </a:t>
            </a:r>
            <a:r>
              <a:rPr dirty="0" sz="1000">
                <a:latin typeface="Times New Roman"/>
                <a:cs typeface="Times New Roman"/>
              </a:rPr>
              <a:t>Re-</a:t>
            </a:r>
            <a:r>
              <a:rPr dirty="0" sz="1000" spc="10">
                <a:latin typeface="Times New Roman"/>
                <a:cs typeface="Times New Roman"/>
              </a:rPr>
              <a:t>learning</a:t>
            </a:r>
            <a:r>
              <a:rPr dirty="0" sz="1000" spc="60">
                <a:latin typeface="Times New Roman"/>
                <a:cs typeface="Times New Roman"/>
              </a:rPr>
              <a:t> </a:t>
            </a:r>
            <a:r>
              <a:rPr dirty="0" sz="1000" spc="10">
                <a:latin typeface="Times New Roman"/>
                <a:cs typeface="Times New Roman"/>
              </a:rPr>
              <a:t>method</a:t>
            </a:r>
            <a:r>
              <a:rPr dirty="0" sz="1000" spc="60">
                <a:latin typeface="Times New Roman"/>
                <a:cs typeface="Times New Roman"/>
              </a:rPr>
              <a:t> </a:t>
            </a:r>
            <a:r>
              <a:rPr dirty="0" sz="1000" spc="10">
                <a:latin typeface="Times New Roman"/>
                <a:cs typeface="Times New Roman"/>
              </a:rPr>
              <a:t>to</a:t>
            </a:r>
            <a:r>
              <a:rPr dirty="0" sz="1000" spc="65">
                <a:latin typeface="Times New Roman"/>
                <a:cs typeface="Times New Roman"/>
              </a:rPr>
              <a:t> </a:t>
            </a:r>
            <a:r>
              <a:rPr dirty="0" sz="1000" spc="10">
                <a:latin typeface="Times New Roman"/>
                <a:cs typeface="Times New Roman"/>
              </a:rPr>
              <a:t>overcome</a:t>
            </a:r>
            <a:r>
              <a:rPr dirty="0" sz="1000" spc="55">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intrinsic</a:t>
            </a:r>
            <a:r>
              <a:rPr dirty="0" sz="1000" spc="60">
                <a:latin typeface="Times New Roman"/>
                <a:cs typeface="Times New Roman"/>
              </a:rPr>
              <a:t> </a:t>
            </a:r>
            <a:r>
              <a:rPr dirty="0" sz="1000" spc="10">
                <a:latin typeface="Times New Roman"/>
                <a:cs typeface="Times New Roman"/>
              </a:rPr>
              <a:t>limitation</a:t>
            </a:r>
            <a:r>
              <a:rPr dirty="0" sz="1000" spc="65">
                <a:latin typeface="Times New Roman"/>
                <a:cs typeface="Times New Roman"/>
              </a:rPr>
              <a:t> </a:t>
            </a:r>
            <a:r>
              <a:rPr dirty="0" sz="1000" spc="-25">
                <a:latin typeface="Times New Roman"/>
                <a:cs typeface="Times New Roman"/>
              </a:rPr>
              <a:t>of </a:t>
            </a:r>
            <a:r>
              <a:rPr dirty="0" sz="1000" spc="10">
                <a:latin typeface="Times New Roman"/>
                <a:cs typeface="Times New Roman"/>
              </a:rPr>
              <a:t>modality</a:t>
            </a:r>
            <a:r>
              <a:rPr dirty="0" sz="1000" spc="30">
                <a:latin typeface="Times New Roman"/>
                <a:cs typeface="Times New Roman"/>
              </a:rPr>
              <a:t> </a:t>
            </a:r>
            <a:r>
              <a:rPr dirty="0" sz="1000" spc="10">
                <a:latin typeface="Times New Roman"/>
                <a:cs typeface="Times New Roman"/>
              </a:rPr>
              <a:t>capacity</a:t>
            </a:r>
            <a:r>
              <a:rPr dirty="0" sz="1000" spc="30">
                <a:latin typeface="Times New Roman"/>
                <a:cs typeface="Times New Roman"/>
              </a:rPr>
              <a:t> </a:t>
            </a:r>
            <a:r>
              <a:rPr dirty="0" sz="1000">
                <a:latin typeface="Times New Roman"/>
                <a:cs typeface="Times New Roman"/>
              </a:rPr>
              <a:t>via</a:t>
            </a:r>
            <a:r>
              <a:rPr dirty="0" sz="1000" spc="35">
                <a:latin typeface="Times New Roman"/>
                <a:cs typeface="Times New Roman"/>
              </a:rPr>
              <a:t> </a:t>
            </a:r>
            <a:r>
              <a:rPr dirty="0" sz="1000" spc="10">
                <a:latin typeface="Times New Roman"/>
                <a:cs typeface="Times New Roman"/>
              </a:rPr>
              <a:t>the</a:t>
            </a:r>
            <a:r>
              <a:rPr dirty="0" sz="1000" spc="30">
                <a:latin typeface="Times New Roman"/>
                <a:cs typeface="Times New Roman"/>
              </a:rPr>
              <a:t> </a:t>
            </a:r>
            <a:r>
              <a:rPr dirty="0" sz="1000" spc="10">
                <a:latin typeface="Times New Roman"/>
                <a:cs typeface="Times New Roman"/>
              </a:rPr>
              <a:t>network</a:t>
            </a:r>
            <a:r>
              <a:rPr dirty="0" sz="1000" spc="35">
                <a:latin typeface="Times New Roman"/>
                <a:cs typeface="Times New Roman"/>
              </a:rPr>
              <a:t> </a:t>
            </a:r>
            <a:r>
              <a:rPr dirty="0" sz="1000" spc="10">
                <a:latin typeface="Times New Roman"/>
                <a:cs typeface="Times New Roman"/>
              </a:rPr>
              <a:t>re-initialization</a:t>
            </a:r>
            <a:r>
              <a:rPr dirty="0" sz="1000" spc="30">
                <a:latin typeface="Times New Roman"/>
                <a:cs typeface="Times New Roman"/>
              </a:rPr>
              <a:t> </a:t>
            </a:r>
            <a:r>
              <a:rPr dirty="0" sz="1000" spc="10">
                <a:latin typeface="Times New Roman"/>
                <a:cs typeface="Times New Roman"/>
              </a:rPr>
              <a:t>technique.</a:t>
            </a:r>
            <a:r>
              <a:rPr dirty="0" sz="1000" spc="190">
                <a:latin typeface="Times New Roman"/>
                <a:cs typeface="Times New Roman"/>
              </a:rPr>
              <a:t> </a:t>
            </a:r>
            <a:r>
              <a:rPr dirty="0" sz="1000" spc="10">
                <a:latin typeface="Times New Roman"/>
                <a:cs typeface="Times New Roman"/>
              </a:rPr>
              <a:t>While</a:t>
            </a:r>
            <a:r>
              <a:rPr dirty="0" sz="1000" spc="30">
                <a:latin typeface="Times New Roman"/>
                <a:cs typeface="Times New Roman"/>
              </a:rPr>
              <a:t> </a:t>
            </a:r>
            <a:r>
              <a:rPr dirty="0" sz="1000" spc="10">
                <a:latin typeface="Times New Roman"/>
                <a:cs typeface="Times New Roman"/>
              </a:rPr>
              <a:t>these</a:t>
            </a:r>
            <a:r>
              <a:rPr dirty="0" sz="1000" spc="30">
                <a:latin typeface="Times New Roman"/>
                <a:cs typeface="Times New Roman"/>
              </a:rPr>
              <a:t> </a:t>
            </a:r>
            <a:r>
              <a:rPr dirty="0" sz="1000" spc="10">
                <a:latin typeface="Times New Roman"/>
                <a:cs typeface="Times New Roman"/>
              </a:rPr>
              <a:t>methods</a:t>
            </a:r>
            <a:r>
              <a:rPr dirty="0" sz="1000" spc="35">
                <a:latin typeface="Times New Roman"/>
                <a:cs typeface="Times New Roman"/>
              </a:rPr>
              <a:t> </a:t>
            </a:r>
            <a:r>
              <a:rPr dirty="0" sz="1000" spc="10">
                <a:latin typeface="Times New Roman"/>
                <a:cs typeface="Times New Roman"/>
              </a:rPr>
              <a:t>improve</a:t>
            </a:r>
            <a:r>
              <a:rPr dirty="0" sz="1000" spc="30">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performance </a:t>
            </a:r>
            <a:r>
              <a:rPr dirty="0" sz="1000">
                <a:latin typeface="Times New Roman"/>
                <a:cs typeface="Times New Roman"/>
              </a:rPr>
              <a:t>of</a:t>
            </a:r>
            <a:r>
              <a:rPr dirty="0" sz="1000" spc="95">
                <a:latin typeface="Times New Roman"/>
                <a:cs typeface="Times New Roman"/>
              </a:rPr>
              <a:t> </a:t>
            </a:r>
            <a:r>
              <a:rPr dirty="0" sz="1000">
                <a:latin typeface="Times New Roman"/>
                <a:cs typeface="Times New Roman"/>
              </a:rPr>
              <a:t>each</a:t>
            </a:r>
            <a:r>
              <a:rPr dirty="0" sz="1000" spc="95">
                <a:latin typeface="Times New Roman"/>
                <a:cs typeface="Times New Roman"/>
              </a:rPr>
              <a:t> </a:t>
            </a:r>
            <a:r>
              <a:rPr dirty="0" sz="1000">
                <a:latin typeface="Times New Roman"/>
                <a:cs typeface="Times New Roman"/>
              </a:rPr>
              <a:t>modality</a:t>
            </a:r>
            <a:r>
              <a:rPr dirty="0" sz="1000" spc="95">
                <a:latin typeface="Times New Roman"/>
                <a:cs typeface="Times New Roman"/>
              </a:rPr>
              <a:t> </a:t>
            </a:r>
            <a:r>
              <a:rPr dirty="0" sz="1000">
                <a:latin typeface="Times New Roman"/>
                <a:cs typeface="Times New Roman"/>
              </a:rPr>
              <a:t>in</a:t>
            </a:r>
            <a:r>
              <a:rPr dirty="0" sz="1000" spc="95">
                <a:latin typeface="Times New Roman"/>
                <a:cs typeface="Times New Roman"/>
              </a:rPr>
              <a:t> </a:t>
            </a:r>
            <a:r>
              <a:rPr dirty="0" sz="1000">
                <a:latin typeface="Times New Roman"/>
                <a:cs typeface="Times New Roman"/>
              </a:rPr>
              <a:t>multimodal</a:t>
            </a:r>
            <a:r>
              <a:rPr dirty="0" sz="1000" spc="95">
                <a:latin typeface="Times New Roman"/>
                <a:cs typeface="Times New Roman"/>
              </a:rPr>
              <a:t> </a:t>
            </a:r>
            <a:r>
              <a:rPr dirty="0" sz="1000">
                <a:latin typeface="Times New Roman"/>
                <a:cs typeface="Times New Roman"/>
              </a:rPr>
              <a:t>learning</a:t>
            </a:r>
            <a:r>
              <a:rPr dirty="0" sz="1000" spc="95">
                <a:latin typeface="Times New Roman"/>
                <a:cs typeface="Times New Roman"/>
              </a:rPr>
              <a:t> </a:t>
            </a:r>
            <a:r>
              <a:rPr dirty="0" sz="1000">
                <a:latin typeface="Times New Roman"/>
                <a:cs typeface="Times New Roman"/>
              </a:rPr>
              <a:t>simultaneously,</a:t>
            </a:r>
            <a:r>
              <a:rPr dirty="0" sz="1000" spc="105">
                <a:latin typeface="Times New Roman"/>
                <a:cs typeface="Times New Roman"/>
              </a:rPr>
              <a:t> </a:t>
            </a:r>
            <a:r>
              <a:rPr dirty="0" sz="1000">
                <a:latin typeface="Times New Roman"/>
                <a:cs typeface="Times New Roman"/>
              </a:rPr>
              <a:t>they</a:t>
            </a:r>
            <a:r>
              <a:rPr dirty="0" sz="1000" spc="95">
                <a:latin typeface="Times New Roman"/>
                <a:cs typeface="Times New Roman"/>
              </a:rPr>
              <a:t> </a:t>
            </a:r>
            <a:r>
              <a:rPr dirty="0" sz="1000">
                <a:latin typeface="Times New Roman"/>
                <a:cs typeface="Times New Roman"/>
              </a:rPr>
              <a:t>still</a:t>
            </a:r>
            <a:r>
              <a:rPr dirty="0" sz="1000" spc="95">
                <a:latin typeface="Times New Roman"/>
                <a:cs typeface="Times New Roman"/>
              </a:rPr>
              <a:t> </a:t>
            </a:r>
            <a:r>
              <a:rPr dirty="0" sz="1000">
                <a:latin typeface="Times New Roman"/>
                <a:cs typeface="Times New Roman"/>
              </a:rPr>
              <a:t>fail</a:t>
            </a:r>
            <a:r>
              <a:rPr dirty="0" sz="1000" spc="95">
                <a:latin typeface="Times New Roman"/>
                <a:cs typeface="Times New Roman"/>
              </a:rPr>
              <a:t> </a:t>
            </a:r>
            <a:r>
              <a:rPr dirty="0" sz="1000">
                <a:latin typeface="Times New Roman"/>
                <a:cs typeface="Times New Roman"/>
              </a:rPr>
              <a:t>to</a:t>
            </a:r>
            <a:r>
              <a:rPr dirty="0" sz="1000" spc="95">
                <a:latin typeface="Times New Roman"/>
                <a:cs typeface="Times New Roman"/>
              </a:rPr>
              <a:t> </a:t>
            </a:r>
            <a:r>
              <a:rPr dirty="0" sz="1000">
                <a:latin typeface="Times New Roman"/>
                <a:cs typeface="Times New Roman"/>
              </a:rPr>
              <a:t>explain</a:t>
            </a:r>
            <a:r>
              <a:rPr dirty="0" sz="1000" spc="95">
                <a:latin typeface="Times New Roman"/>
                <a:cs typeface="Times New Roman"/>
              </a:rPr>
              <a:t> </a:t>
            </a:r>
            <a:r>
              <a:rPr dirty="0" sz="1000">
                <a:latin typeface="Times New Roman"/>
                <a:cs typeface="Times New Roman"/>
              </a:rPr>
              <a:t>why</a:t>
            </a:r>
            <a:r>
              <a:rPr dirty="0" sz="1000" spc="95">
                <a:latin typeface="Times New Roman"/>
                <a:cs typeface="Times New Roman"/>
              </a:rPr>
              <a:t> </a:t>
            </a:r>
            <a:r>
              <a:rPr dirty="0" sz="1000">
                <a:latin typeface="Times New Roman"/>
                <a:cs typeface="Times New Roman"/>
              </a:rPr>
              <a:t>the</a:t>
            </a:r>
            <a:r>
              <a:rPr dirty="0" sz="1000" spc="100">
                <a:latin typeface="Times New Roman"/>
                <a:cs typeface="Times New Roman"/>
              </a:rPr>
              <a:t> </a:t>
            </a:r>
            <a:r>
              <a:rPr dirty="0" sz="1000">
                <a:latin typeface="Times New Roman"/>
                <a:cs typeface="Times New Roman"/>
              </a:rPr>
              <a:t>dominant</a:t>
            </a:r>
            <a:r>
              <a:rPr dirty="0" sz="1000" spc="95">
                <a:latin typeface="Times New Roman"/>
                <a:cs typeface="Times New Roman"/>
              </a:rPr>
              <a:t> </a:t>
            </a:r>
            <a:r>
              <a:rPr dirty="0" sz="1000" spc="-10">
                <a:latin typeface="Times New Roman"/>
                <a:cs typeface="Times New Roman"/>
              </a:rPr>
              <a:t>modality </a:t>
            </a:r>
            <a:r>
              <a:rPr dirty="0" sz="1000" spc="20">
                <a:latin typeface="Times New Roman"/>
                <a:cs typeface="Times New Roman"/>
              </a:rPr>
              <a:t>in</a:t>
            </a:r>
            <a:r>
              <a:rPr dirty="0" sz="1000" spc="65">
                <a:latin typeface="Times New Roman"/>
                <a:cs typeface="Times New Roman"/>
              </a:rPr>
              <a:t> </a:t>
            </a:r>
            <a:r>
              <a:rPr dirty="0" sz="1000" spc="20">
                <a:latin typeface="Times New Roman"/>
                <a:cs typeface="Times New Roman"/>
              </a:rPr>
              <a:t>multimodal</a:t>
            </a:r>
            <a:r>
              <a:rPr dirty="0" sz="1000" spc="70">
                <a:latin typeface="Times New Roman"/>
                <a:cs typeface="Times New Roman"/>
              </a:rPr>
              <a:t> </a:t>
            </a:r>
            <a:r>
              <a:rPr dirty="0" sz="1000" spc="20">
                <a:latin typeface="Times New Roman"/>
                <a:cs typeface="Times New Roman"/>
              </a:rPr>
              <a:t>models</a:t>
            </a:r>
            <a:r>
              <a:rPr dirty="0" sz="1000" spc="65">
                <a:latin typeface="Times New Roman"/>
                <a:cs typeface="Times New Roman"/>
              </a:rPr>
              <a:t> </a:t>
            </a:r>
            <a:r>
              <a:rPr dirty="0" sz="1000" spc="20">
                <a:latin typeface="Times New Roman"/>
                <a:cs typeface="Times New Roman"/>
              </a:rPr>
              <a:t>underperforms</a:t>
            </a:r>
            <a:r>
              <a:rPr dirty="0" sz="1000" spc="70">
                <a:latin typeface="Times New Roman"/>
                <a:cs typeface="Times New Roman"/>
              </a:rPr>
              <a:t> </a:t>
            </a:r>
            <a:r>
              <a:rPr dirty="0" sz="1000" spc="20">
                <a:latin typeface="Times New Roman"/>
                <a:cs typeface="Times New Roman"/>
              </a:rPr>
              <a:t>that</a:t>
            </a:r>
            <a:r>
              <a:rPr dirty="0" sz="1000" spc="70">
                <a:latin typeface="Times New Roman"/>
                <a:cs typeface="Times New Roman"/>
              </a:rPr>
              <a:t> </a:t>
            </a:r>
            <a:r>
              <a:rPr dirty="0" sz="1000" spc="20">
                <a:latin typeface="Times New Roman"/>
                <a:cs typeface="Times New Roman"/>
              </a:rPr>
              <a:t>in</a:t>
            </a:r>
            <a:r>
              <a:rPr dirty="0" sz="1000" spc="65">
                <a:latin typeface="Times New Roman"/>
                <a:cs typeface="Times New Roman"/>
              </a:rPr>
              <a:t> </a:t>
            </a:r>
            <a:r>
              <a:rPr dirty="0" sz="1000" spc="20">
                <a:latin typeface="Times New Roman"/>
                <a:cs typeface="Times New Roman"/>
              </a:rPr>
              <a:t>unimodal</a:t>
            </a:r>
            <a:r>
              <a:rPr dirty="0" sz="1000" spc="70">
                <a:latin typeface="Times New Roman"/>
                <a:cs typeface="Times New Roman"/>
              </a:rPr>
              <a:t> </a:t>
            </a:r>
            <a:r>
              <a:rPr dirty="0" sz="1000" spc="-10">
                <a:latin typeface="Times New Roman"/>
                <a:cs typeface="Times New Roman"/>
              </a:rPr>
              <a:t>learning.</a:t>
            </a:r>
            <a:endParaRPr sz="1000">
              <a:latin typeface="Times New Roman"/>
              <a:cs typeface="Times New Roman"/>
            </a:endParaRPr>
          </a:p>
          <a:p>
            <a:pPr>
              <a:lnSpc>
                <a:spcPct val="100000"/>
              </a:lnSpc>
              <a:spcBef>
                <a:spcPts val="590"/>
              </a:spcBef>
            </a:pPr>
            <a:endParaRPr sz="1000">
              <a:latin typeface="Times New Roman"/>
              <a:cs typeface="Times New Roman"/>
            </a:endParaRPr>
          </a:p>
          <a:p>
            <a:pPr marL="192405">
              <a:lnSpc>
                <a:spcPct val="100000"/>
              </a:lnSpc>
            </a:pPr>
            <a:r>
              <a:rPr dirty="0" sz="1000" spc="-65">
                <a:latin typeface="SimSun"/>
                <a:cs typeface="SimSun"/>
              </a:rPr>
              <a:t>为此，提出了交替优化方法，以改进多模态学习中每个模态 </a:t>
            </a:r>
            <a:r>
              <a:rPr dirty="0" sz="1000">
                <a:latin typeface="Times New Roman"/>
                <a:cs typeface="Times New Roman"/>
              </a:rPr>
              <a:t>(</a:t>
            </a:r>
            <a:r>
              <a:rPr dirty="0" sz="1000" spc="-10">
                <a:latin typeface="SimSun"/>
                <a:cs typeface="SimSun"/>
              </a:rPr>
              <a:t>包括领域模态</a:t>
            </a:r>
            <a:r>
              <a:rPr dirty="0" sz="1000" spc="-25">
                <a:latin typeface="Times New Roman"/>
                <a:cs typeface="Times New Roman"/>
              </a:rPr>
              <a:t>) </a:t>
            </a:r>
            <a:r>
              <a:rPr dirty="0" sz="1000" spc="-40">
                <a:latin typeface="SimSun"/>
                <a:cs typeface="SimSun"/>
              </a:rPr>
              <a:t>的单峰学习。</a:t>
            </a:r>
            <a:r>
              <a:rPr dirty="0" sz="1000" spc="-10">
                <a:latin typeface="Times New Roman"/>
                <a:cs typeface="Times New Roman"/>
              </a:rPr>
              <a:t>MLA</a:t>
            </a:r>
            <a:r>
              <a:rPr dirty="0" sz="1000" spc="-40">
                <a:latin typeface="Times New Roman"/>
                <a:cs typeface="Times New Roman"/>
              </a:rPr>
              <a:t> </a:t>
            </a:r>
            <a:r>
              <a:rPr dirty="0" sz="1000" spc="-20">
                <a:latin typeface="Times New Roman"/>
                <a:cs typeface="Times New Roman"/>
              </a:rPr>
              <a:t>[39]</a:t>
            </a:r>
            <a:endParaRPr sz="1000">
              <a:latin typeface="Times New Roman"/>
              <a:cs typeface="Times New Roman"/>
            </a:endParaRPr>
          </a:p>
          <a:p>
            <a:pPr marL="192405">
              <a:lnSpc>
                <a:spcPct val="100000"/>
              </a:lnSpc>
              <a:spcBef>
                <a:spcPts val="355"/>
              </a:spcBef>
            </a:pPr>
            <a:r>
              <a:rPr dirty="0" sz="1000" spc="-10">
                <a:latin typeface="SimSun"/>
                <a:cs typeface="SimSun"/>
              </a:rPr>
              <a:t>将传统的联合多模态学习过程转换为交替单峰学习过程，以直接最小化模态间干扰。</a:t>
            </a:r>
            <a:r>
              <a:rPr dirty="0" sz="1000" spc="-10">
                <a:latin typeface="Times New Roman"/>
                <a:cs typeface="Times New Roman"/>
              </a:rPr>
              <a:t>Re-conBoost</a:t>
            </a:r>
            <a:endParaRPr sz="1000">
              <a:latin typeface="Times New Roman"/>
              <a:cs typeface="Times New Roman"/>
            </a:endParaRPr>
          </a:p>
          <a:p>
            <a:pPr algn="just" marL="192405" marR="184785">
              <a:lnSpc>
                <a:spcPct val="129500"/>
              </a:lnSpc>
            </a:pPr>
            <a:r>
              <a:rPr dirty="0" sz="1000">
                <a:latin typeface="Times New Roman"/>
                <a:cs typeface="Times New Roman"/>
              </a:rPr>
              <a:t>[14] </a:t>
            </a:r>
            <a:r>
              <a:rPr dirty="0" sz="1000" spc="-10">
                <a:latin typeface="SimSun"/>
                <a:cs typeface="SimSun"/>
              </a:rPr>
              <a:t>每次通过动态学习目标更新一个固定模态，以克服与历史模型的竞争。</a:t>
            </a:r>
            <a:r>
              <a:rPr dirty="0" sz="1000">
                <a:latin typeface="Times New Roman"/>
                <a:cs typeface="Times New Roman"/>
              </a:rPr>
              <a:t>MMPareto [32] </a:t>
            </a:r>
            <a:r>
              <a:rPr dirty="0" sz="1000" spc="-25">
                <a:latin typeface="SimSun"/>
                <a:cs typeface="SimSun"/>
              </a:rPr>
              <a:t>利用帕</a:t>
            </a:r>
            <a:r>
              <a:rPr dirty="0" sz="1000" spc="-30">
                <a:latin typeface="SimSun"/>
                <a:cs typeface="SimSun"/>
              </a:rPr>
              <a:t>累托积分技术来捕捉无害的单峰辅助，避免其与多模态优化冲突。此外，</a:t>
            </a:r>
            <a:r>
              <a:rPr dirty="0" sz="1000" spc="-55">
                <a:latin typeface="Times New Roman"/>
                <a:cs typeface="Times New Roman"/>
              </a:rPr>
              <a:t>Wei</a:t>
            </a:r>
            <a:r>
              <a:rPr dirty="0" sz="1000" spc="-10">
                <a:latin typeface="Times New Roman"/>
                <a:cs typeface="Times New Roman"/>
              </a:rPr>
              <a:t> </a:t>
            </a:r>
            <a:r>
              <a:rPr dirty="0" sz="1000" spc="100">
                <a:latin typeface="SimSun"/>
                <a:cs typeface="SimSun"/>
              </a:rPr>
              <a:t>等人</a:t>
            </a:r>
            <a:r>
              <a:rPr dirty="0" sz="1000">
                <a:latin typeface="Times New Roman"/>
                <a:cs typeface="Times New Roman"/>
              </a:rPr>
              <a:t>[33]</a:t>
            </a:r>
            <a:r>
              <a:rPr dirty="0" sz="1000" spc="-20">
                <a:latin typeface="Times New Roman"/>
                <a:cs typeface="Times New Roman"/>
              </a:rPr>
              <a:t> </a:t>
            </a:r>
            <a:r>
              <a:rPr dirty="0" sz="1000" spc="-20">
                <a:latin typeface="SimSun"/>
                <a:cs typeface="SimSun"/>
              </a:rPr>
              <a:t>提出了诊断</a:t>
            </a:r>
            <a:r>
              <a:rPr dirty="0" sz="1000" spc="-45">
                <a:latin typeface="SimSun"/>
                <a:cs typeface="SimSun"/>
              </a:rPr>
              <a:t>与重新学习方法，通过网络重新初始化技术克服模态容量的内在限制。虽然这些方法同时提高了多</a:t>
            </a:r>
            <a:r>
              <a:rPr dirty="0" sz="1000" spc="-40">
                <a:latin typeface="SimSun"/>
                <a:cs typeface="SimSun"/>
              </a:rPr>
              <a:t>模态学习中每个模态的性能，但它们仍然无法解释为什么多模态模型中的主导模态在性能上不如单</a:t>
            </a:r>
            <a:r>
              <a:rPr dirty="0" sz="1000" spc="-15">
                <a:latin typeface="SimSun"/>
                <a:cs typeface="SimSun"/>
              </a:rPr>
              <a:t>模态学习中的主导模态。</a:t>
            </a:r>
            <a:endParaRPr sz="1000">
              <a:latin typeface="SimSun"/>
              <a:cs typeface="SimSun"/>
            </a:endParaRPr>
          </a:p>
          <a:p>
            <a:pPr>
              <a:lnSpc>
                <a:spcPct val="100000"/>
              </a:lnSpc>
            </a:pPr>
            <a:endParaRPr sz="1000">
              <a:latin typeface="SimSun"/>
              <a:cs typeface="SimSun"/>
            </a:endParaRPr>
          </a:p>
          <a:p>
            <a:pPr>
              <a:lnSpc>
                <a:spcPct val="100000"/>
              </a:lnSpc>
              <a:spcBef>
                <a:spcPts val="280"/>
              </a:spcBef>
            </a:pPr>
            <a:endParaRPr sz="1000">
              <a:latin typeface="SimSun"/>
              <a:cs typeface="SimSun"/>
            </a:endParaRPr>
          </a:p>
          <a:p>
            <a:pPr marL="12700">
              <a:lnSpc>
                <a:spcPct val="100000"/>
              </a:lnSpc>
              <a:spcBef>
                <a:spcPts val="5"/>
              </a:spcBef>
            </a:pPr>
            <a:r>
              <a:rPr dirty="0" sz="1400" b="1">
                <a:latin typeface="Times New Roman"/>
                <a:cs typeface="Times New Roman"/>
              </a:rPr>
              <a:t>3.</a:t>
            </a:r>
            <a:r>
              <a:rPr dirty="0" sz="1400" spc="125" b="1">
                <a:latin typeface="Times New Roman"/>
                <a:cs typeface="Times New Roman"/>
              </a:rPr>
              <a:t> </a:t>
            </a:r>
            <a:r>
              <a:rPr dirty="0" sz="1400" spc="50" b="1">
                <a:latin typeface="Times New Roman"/>
                <a:cs typeface="Times New Roman"/>
              </a:rPr>
              <a:t>Method</a:t>
            </a:r>
            <a:endParaRPr sz="1400">
              <a:latin typeface="Times New Roman"/>
              <a:cs typeface="Times New Roman"/>
            </a:endParaRPr>
          </a:p>
          <a:p>
            <a:pPr algn="just" marL="192405">
              <a:lnSpc>
                <a:spcPct val="100000"/>
              </a:lnSpc>
              <a:spcBef>
                <a:spcPts val="1595"/>
              </a:spcBef>
            </a:pPr>
            <a:r>
              <a:rPr dirty="0" sz="1400" b="1">
                <a:latin typeface="Times New Roman"/>
                <a:cs typeface="Times New Roman"/>
              </a:rPr>
              <a:t>3.</a:t>
            </a:r>
            <a:r>
              <a:rPr dirty="0" sz="1400" spc="150" b="1">
                <a:latin typeface="Times New Roman"/>
                <a:cs typeface="Times New Roman"/>
              </a:rPr>
              <a:t> </a:t>
            </a:r>
            <a:r>
              <a:rPr dirty="0" sz="1400" spc="-25" b="1">
                <a:latin typeface="Microsoft JhengHei"/>
                <a:cs typeface="Microsoft JhengHei"/>
              </a:rPr>
              <a:t>方法</a:t>
            </a:r>
            <a:endParaRPr sz="1400">
              <a:latin typeface="Microsoft JhengHei"/>
              <a:cs typeface="Microsoft JhengHei"/>
            </a:endParaRPr>
          </a:p>
          <a:p>
            <a:pPr algn="just" marL="12700" marR="5080" indent="252729">
              <a:lnSpc>
                <a:spcPct val="129500"/>
              </a:lnSpc>
              <a:spcBef>
                <a:spcPts val="1305"/>
              </a:spcBef>
            </a:pPr>
            <a:r>
              <a:rPr dirty="0" sz="1000">
                <a:latin typeface="Times New Roman"/>
                <a:cs typeface="Times New Roman"/>
              </a:rPr>
              <a:t>In</a:t>
            </a:r>
            <a:r>
              <a:rPr dirty="0" sz="1000" spc="240">
                <a:latin typeface="Times New Roman"/>
                <a:cs typeface="Times New Roman"/>
              </a:rPr>
              <a:t> </a:t>
            </a:r>
            <a:r>
              <a:rPr dirty="0" sz="1000">
                <a:latin typeface="Times New Roman"/>
                <a:cs typeface="Times New Roman"/>
              </a:rPr>
              <a:t>this</a:t>
            </a:r>
            <a:r>
              <a:rPr dirty="0" sz="1000" spc="250">
                <a:latin typeface="Times New Roman"/>
                <a:cs typeface="Times New Roman"/>
              </a:rPr>
              <a:t> </a:t>
            </a:r>
            <a:r>
              <a:rPr dirty="0" sz="1000">
                <a:latin typeface="Times New Roman"/>
                <a:cs typeface="Times New Roman"/>
              </a:rPr>
              <a:t>section,</a:t>
            </a:r>
            <a:r>
              <a:rPr dirty="0" sz="1000" spc="280">
                <a:latin typeface="Times New Roman"/>
                <a:cs typeface="Times New Roman"/>
              </a:rPr>
              <a:t> </a:t>
            </a:r>
            <a:r>
              <a:rPr dirty="0" sz="1000">
                <a:latin typeface="Times New Roman"/>
                <a:cs typeface="Times New Roman"/>
              </a:rPr>
              <a:t>we</a:t>
            </a:r>
            <a:r>
              <a:rPr dirty="0" sz="1000" spc="240">
                <a:latin typeface="Times New Roman"/>
                <a:cs typeface="Times New Roman"/>
              </a:rPr>
              <a:t> </a:t>
            </a:r>
            <a:r>
              <a:rPr dirty="0" sz="1000">
                <a:latin typeface="Times New Roman"/>
                <a:cs typeface="Times New Roman"/>
              </a:rPr>
              <a:t>analyze</a:t>
            </a:r>
            <a:r>
              <a:rPr dirty="0" sz="1000" spc="250">
                <a:latin typeface="Times New Roman"/>
                <a:cs typeface="Times New Roman"/>
              </a:rPr>
              <a:t> </a:t>
            </a:r>
            <a:r>
              <a:rPr dirty="0" sz="1000">
                <a:latin typeface="Times New Roman"/>
                <a:cs typeface="Times New Roman"/>
              </a:rPr>
              <a:t>the</a:t>
            </a:r>
            <a:r>
              <a:rPr dirty="0" sz="1000" spc="245">
                <a:latin typeface="Times New Roman"/>
                <a:cs typeface="Times New Roman"/>
              </a:rPr>
              <a:t> </a:t>
            </a:r>
            <a:r>
              <a:rPr dirty="0" sz="1000">
                <a:latin typeface="Times New Roman"/>
                <a:cs typeface="Times New Roman"/>
              </a:rPr>
              <a:t>under-optimization</a:t>
            </a:r>
            <a:r>
              <a:rPr dirty="0" sz="1000" spc="250">
                <a:latin typeface="Times New Roman"/>
                <a:cs typeface="Times New Roman"/>
              </a:rPr>
              <a:t> </a:t>
            </a:r>
            <a:r>
              <a:rPr dirty="0" sz="1000">
                <a:latin typeface="Times New Roman"/>
                <a:cs typeface="Times New Roman"/>
              </a:rPr>
              <a:t>problem</a:t>
            </a:r>
            <a:r>
              <a:rPr dirty="0" sz="1000" spc="245">
                <a:latin typeface="Times New Roman"/>
                <a:cs typeface="Times New Roman"/>
              </a:rPr>
              <a:t> </a:t>
            </a:r>
            <a:r>
              <a:rPr dirty="0" sz="1000">
                <a:latin typeface="Times New Roman"/>
                <a:cs typeface="Times New Roman"/>
              </a:rPr>
              <a:t>in</a:t>
            </a:r>
            <a:r>
              <a:rPr dirty="0" sz="1000" spc="240">
                <a:latin typeface="Times New Roman"/>
                <a:cs typeface="Times New Roman"/>
              </a:rPr>
              <a:t> </a:t>
            </a:r>
            <a:r>
              <a:rPr dirty="0" sz="1000">
                <a:latin typeface="Times New Roman"/>
                <a:cs typeface="Times New Roman"/>
              </a:rPr>
              <a:t>the</a:t>
            </a:r>
            <a:r>
              <a:rPr dirty="0" sz="1000" spc="250">
                <a:latin typeface="Times New Roman"/>
                <a:cs typeface="Times New Roman"/>
              </a:rPr>
              <a:t> </a:t>
            </a:r>
            <a:r>
              <a:rPr dirty="0" sz="1000">
                <a:latin typeface="Times New Roman"/>
                <a:cs typeface="Times New Roman"/>
              </a:rPr>
              <a:t>conventional</a:t>
            </a:r>
            <a:r>
              <a:rPr dirty="0" sz="1000" spc="240">
                <a:latin typeface="Times New Roman"/>
                <a:cs typeface="Times New Roman"/>
              </a:rPr>
              <a:t> </a:t>
            </a:r>
            <a:r>
              <a:rPr dirty="0" sz="1000">
                <a:latin typeface="Times New Roman"/>
                <a:cs typeface="Times New Roman"/>
              </a:rPr>
              <a:t>multimodal</a:t>
            </a:r>
            <a:r>
              <a:rPr dirty="0" sz="1000" spc="250">
                <a:latin typeface="Times New Roman"/>
                <a:cs typeface="Times New Roman"/>
              </a:rPr>
              <a:t> </a:t>
            </a:r>
            <a:r>
              <a:rPr dirty="0" sz="1000" spc="-10">
                <a:latin typeface="Times New Roman"/>
                <a:cs typeface="Times New Roman"/>
              </a:rPr>
              <a:t>learning </a:t>
            </a:r>
            <a:r>
              <a:rPr dirty="0" sz="1000" spc="10">
                <a:latin typeface="Times New Roman"/>
                <a:cs typeface="Times New Roman"/>
              </a:rPr>
              <a:t>paradigm,</a:t>
            </a:r>
            <a:r>
              <a:rPr dirty="0" sz="1000" spc="65">
                <a:latin typeface="Times New Roman"/>
                <a:cs typeface="Times New Roman"/>
              </a:rPr>
              <a:t> </a:t>
            </a:r>
            <a:r>
              <a:rPr dirty="0" sz="1000" spc="10">
                <a:latin typeface="Times New Roman"/>
                <a:cs typeface="Times New Roman"/>
              </a:rPr>
              <a:t>and</a:t>
            </a:r>
            <a:r>
              <a:rPr dirty="0" sz="1000" spc="65">
                <a:latin typeface="Times New Roman"/>
                <a:cs typeface="Times New Roman"/>
              </a:rPr>
              <a:t> </a:t>
            </a:r>
            <a:r>
              <a:rPr dirty="0" sz="1000" spc="10">
                <a:latin typeface="Times New Roman"/>
                <a:cs typeface="Times New Roman"/>
              </a:rPr>
              <a:t>then</a:t>
            </a:r>
            <a:r>
              <a:rPr dirty="0" sz="1000" spc="65">
                <a:latin typeface="Times New Roman"/>
                <a:cs typeface="Times New Roman"/>
              </a:rPr>
              <a:t> </a:t>
            </a:r>
            <a:r>
              <a:rPr dirty="0" sz="1000" spc="10">
                <a:latin typeface="Times New Roman"/>
                <a:cs typeface="Times New Roman"/>
              </a:rPr>
              <a:t>we</a:t>
            </a:r>
            <a:r>
              <a:rPr dirty="0" sz="1000" spc="65">
                <a:latin typeface="Times New Roman"/>
                <a:cs typeface="Times New Roman"/>
              </a:rPr>
              <a:t> </a:t>
            </a:r>
            <a:r>
              <a:rPr dirty="0" sz="1000" spc="10">
                <a:latin typeface="Times New Roman"/>
                <a:cs typeface="Times New Roman"/>
              </a:rPr>
              <a:t>describe</a:t>
            </a:r>
            <a:r>
              <a:rPr dirty="0" sz="1000" spc="6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details</a:t>
            </a:r>
            <a:r>
              <a:rPr dirty="0" sz="1000" spc="65">
                <a:latin typeface="Times New Roman"/>
                <a:cs typeface="Times New Roman"/>
              </a:rPr>
              <a:t> </a:t>
            </a:r>
            <a:r>
              <a:rPr dirty="0" sz="1000">
                <a:latin typeface="Times New Roman"/>
                <a:cs typeface="Times New Roman"/>
              </a:rPr>
              <a:t>of</a:t>
            </a:r>
            <a:r>
              <a:rPr dirty="0" sz="1000" spc="70">
                <a:latin typeface="Times New Roman"/>
                <a:cs typeface="Times New Roman"/>
              </a:rPr>
              <a:t> </a:t>
            </a:r>
            <a:r>
              <a:rPr dirty="0" sz="1000" spc="10">
                <a:latin typeface="Times New Roman"/>
                <a:cs typeface="Times New Roman"/>
              </a:rPr>
              <a:t>our</a:t>
            </a:r>
            <a:r>
              <a:rPr dirty="0" sz="1000" spc="65">
                <a:latin typeface="Times New Roman"/>
                <a:cs typeface="Times New Roman"/>
              </a:rPr>
              <a:t> </a:t>
            </a:r>
            <a:r>
              <a:rPr dirty="0" sz="1000" spc="10">
                <a:latin typeface="Times New Roman"/>
                <a:cs typeface="Times New Roman"/>
              </a:rPr>
              <a:t>proposed</a:t>
            </a:r>
            <a:r>
              <a:rPr dirty="0" sz="1000" spc="65">
                <a:latin typeface="Times New Roman"/>
                <a:cs typeface="Times New Roman"/>
              </a:rPr>
              <a:t> </a:t>
            </a:r>
            <a:r>
              <a:rPr dirty="0" sz="1000" spc="10">
                <a:latin typeface="Times New Roman"/>
                <a:cs typeface="Times New Roman"/>
              </a:rPr>
              <a:t>disentangled</a:t>
            </a:r>
            <a:r>
              <a:rPr dirty="0" sz="1000" spc="65">
                <a:latin typeface="Times New Roman"/>
                <a:cs typeface="Times New Roman"/>
              </a:rPr>
              <a:t> </a:t>
            </a:r>
            <a:r>
              <a:rPr dirty="0" sz="1000" spc="10">
                <a:latin typeface="Times New Roman"/>
                <a:cs typeface="Times New Roman"/>
              </a:rPr>
              <a:t>gradient</a:t>
            </a:r>
            <a:r>
              <a:rPr dirty="0" sz="1000" spc="65">
                <a:latin typeface="Times New Roman"/>
                <a:cs typeface="Times New Roman"/>
              </a:rPr>
              <a:t> </a:t>
            </a:r>
            <a:r>
              <a:rPr dirty="0" sz="1000" spc="10">
                <a:latin typeface="Times New Roman"/>
                <a:cs typeface="Times New Roman"/>
              </a:rPr>
              <a:t>learning</a:t>
            </a:r>
            <a:r>
              <a:rPr dirty="0" sz="1000" spc="65">
                <a:latin typeface="Times New Roman"/>
                <a:cs typeface="Times New Roman"/>
              </a:rPr>
              <a:t> </a:t>
            </a:r>
            <a:r>
              <a:rPr dirty="0" sz="1000" spc="-10">
                <a:latin typeface="Times New Roman"/>
                <a:cs typeface="Times New Roman"/>
              </a:rPr>
              <a:t>framework.</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192405" marR="184785">
              <a:lnSpc>
                <a:spcPct val="129500"/>
              </a:lnSpc>
            </a:pPr>
            <a:r>
              <a:rPr dirty="0" sz="1000" spc="-50">
                <a:latin typeface="SimSun"/>
                <a:cs typeface="SimSun"/>
              </a:rPr>
              <a:t>在本节中，我们分析了传统多模态学习范式中的欠优化问题，然后描述了我们提出的解缠梯度学习</a:t>
            </a:r>
            <a:r>
              <a:rPr dirty="0" sz="1000" spc="-20">
                <a:latin typeface="SimSun"/>
                <a:cs typeface="SimSun"/>
              </a:rPr>
              <a:t>框架的细节。</a:t>
            </a:r>
            <a:endParaRPr sz="1000">
              <a:latin typeface="SimSun"/>
              <a:cs typeface="SimSun"/>
            </a:endParaRPr>
          </a:p>
        </p:txBody>
      </p:sp>
      <p:sp>
        <p:nvSpPr>
          <p:cNvPr id="15" name="object 15"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221739"/>
            <a:ext cx="5760085" cy="389255"/>
            <a:chOff x="899998" y="1221739"/>
            <a:chExt cx="5760085" cy="389255"/>
          </a:xfrm>
        </p:grpSpPr>
        <p:sp>
          <p:nvSpPr>
            <p:cNvPr id="3" name="object 3" descr=""/>
            <p:cNvSpPr/>
            <p:nvPr/>
          </p:nvSpPr>
          <p:spPr>
            <a:xfrm>
              <a:off x="899998" y="1221739"/>
              <a:ext cx="5760085" cy="389255"/>
            </a:xfrm>
            <a:custGeom>
              <a:avLst/>
              <a:gdLst/>
              <a:ahLst/>
              <a:cxnLst/>
              <a:rect l="l" t="t" r="r" b="b"/>
              <a:pathLst>
                <a:path w="5760084" h="389255">
                  <a:moveTo>
                    <a:pt x="5724074" y="0"/>
                  </a:moveTo>
                  <a:lnTo>
                    <a:pt x="36000" y="0"/>
                  </a:lnTo>
                  <a:lnTo>
                    <a:pt x="21987" y="2829"/>
                  </a:lnTo>
                  <a:lnTo>
                    <a:pt x="10544" y="10544"/>
                  </a:lnTo>
                  <a:lnTo>
                    <a:pt x="2829" y="21987"/>
                  </a:lnTo>
                  <a:lnTo>
                    <a:pt x="0" y="36000"/>
                  </a:lnTo>
                  <a:lnTo>
                    <a:pt x="0" y="353090"/>
                  </a:lnTo>
                  <a:lnTo>
                    <a:pt x="2829" y="367103"/>
                  </a:lnTo>
                  <a:lnTo>
                    <a:pt x="10544" y="378546"/>
                  </a:lnTo>
                  <a:lnTo>
                    <a:pt x="21987" y="386261"/>
                  </a:lnTo>
                  <a:lnTo>
                    <a:pt x="36000" y="389090"/>
                  </a:lnTo>
                  <a:lnTo>
                    <a:pt x="5724074" y="389090"/>
                  </a:lnTo>
                  <a:lnTo>
                    <a:pt x="5738087" y="386261"/>
                  </a:lnTo>
                  <a:lnTo>
                    <a:pt x="5749530" y="378546"/>
                  </a:lnTo>
                  <a:lnTo>
                    <a:pt x="5757245" y="367103"/>
                  </a:lnTo>
                  <a:lnTo>
                    <a:pt x="5760074" y="35309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221739"/>
              <a:ext cx="5760085" cy="389255"/>
            </a:xfrm>
            <a:custGeom>
              <a:avLst/>
              <a:gdLst/>
              <a:ahLst/>
              <a:cxnLst/>
              <a:rect l="l" t="t" r="r" b="b"/>
              <a:pathLst>
                <a:path w="5760084" h="389255">
                  <a:moveTo>
                    <a:pt x="5724074" y="0"/>
                  </a:moveTo>
                  <a:lnTo>
                    <a:pt x="36000" y="0"/>
                  </a:lnTo>
                  <a:lnTo>
                    <a:pt x="21987" y="2829"/>
                  </a:lnTo>
                  <a:lnTo>
                    <a:pt x="10544" y="10544"/>
                  </a:lnTo>
                  <a:lnTo>
                    <a:pt x="2829" y="21987"/>
                  </a:lnTo>
                  <a:lnTo>
                    <a:pt x="0" y="36000"/>
                  </a:lnTo>
                  <a:lnTo>
                    <a:pt x="0" y="353090"/>
                  </a:lnTo>
                  <a:lnTo>
                    <a:pt x="2829" y="367103"/>
                  </a:lnTo>
                  <a:lnTo>
                    <a:pt x="10544" y="378546"/>
                  </a:lnTo>
                  <a:lnTo>
                    <a:pt x="21987" y="386261"/>
                  </a:lnTo>
                  <a:lnTo>
                    <a:pt x="36000" y="389090"/>
                  </a:lnTo>
                  <a:lnTo>
                    <a:pt x="5724074" y="389090"/>
                  </a:lnTo>
                  <a:lnTo>
                    <a:pt x="5738087" y="386261"/>
                  </a:lnTo>
                  <a:lnTo>
                    <a:pt x="5749530" y="378546"/>
                  </a:lnTo>
                  <a:lnTo>
                    <a:pt x="5757245" y="367103"/>
                  </a:lnTo>
                  <a:lnTo>
                    <a:pt x="5760074" y="35309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597729"/>
            <a:ext cx="5760085" cy="742315"/>
            <a:chOff x="899998" y="2597729"/>
            <a:chExt cx="5760085" cy="742315"/>
          </a:xfrm>
        </p:grpSpPr>
        <p:sp>
          <p:nvSpPr>
            <p:cNvPr id="6" name="object 6" descr=""/>
            <p:cNvSpPr/>
            <p:nvPr/>
          </p:nvSpPr>
          <p:spPr>
            <a:xfrm>
              <a:off x="899998" y="2597729"/>
              <a:ext cx="5760085" cy="742315"/>
            </a:xfrm>
            <a:custGeom>
              <a:avLst/>
              <a:gdLst/>
              <a:ahLst/>
              <a:cxnLst/>
              <a:rect l="l" t="t" r="r" b="b"/>
              <a:pathLst>
                <a:path w="5760084" h="742314">
                  <a:moveTo>
                    <a:pt x="5724074" y="0"/>
                  </a:moveTo>
                  <a:lnTo>
                    <a:pt x="36000" y="0"/>
                  </a:lnTo>
                  <a:lnTo>
                    <a:pt x="21987" y="2829"/>
                  </a:lnTo>
                  <a:lnTo>
                    <a:pt x="10544" y="10544"/>
                  </a:lnTo>
                  <a:lnTo>
                    <a:pt x="2829" y="21987"/>
                  </a:lnTo>
                  <a:lnTo>
                    <a:pt x="0" y="36000"/>
                  </a:lnTo>
                  <a:lnTo>
                    <a:pt x="0" y="705722"/>
                  </a:lnTo>
                  <a:lnTo>
                    <a:pt x="2829" y="719736"/>
                  </a:lnTo>
                  <a:lnTo>
                    <a:pt x="10544" y="731179"/>
                  </a:lnTo>
                  <a:lnTo>
                    <a:pt x="21987" y="738894"/>
                  </a:lnTo>
                  <a:lnTo>
                    <a:pt x="36000" y="741723"/>
                  </a:lnTo>
                  <a:lnTo>
                    <a:pt x="5724074" y="741723"/>
                  </a:lnTo>
                  <a:lnTo>
                    <a:pt x="5738087" y="738894"/>
                  </a:lnTo>
                  <a:lnTo>
                    <a:pt x="5749530" y="731179"/>
                  </a:lnTo>
                  <a:lnTo>
                    <a:pt x="5757245" y="719736"/>
                  </a:lnTo>
                  <a:lnTo>
                    <a:pt x="5760074" y="70572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597729"/>
              <a:ext cx="5760085" cy="742315"/>
            </a:xfrm>
            <a:custGeom>
              <a:avLst/>
              <a:gdLst/>
              <a:ahLst/>
              <a:cxnLst/>
              <a:rect l="l" t="t" r="r" b="b"/>
              <a:pathLst>
                <a:path w="5760084" h="742314">
                  <a:moveTo>
                    <a:pt x="5724074" y="0"/>
                  </a:moveTo>
                  <a:lnTo>
                    <a:pt x="36000" y="0"/>
                  </a:lnTo>
                  <a:lnTo>
                    <a:pt x="21987" y="2829"/>
                  </a:lnTo>
                  <a:lnTo>
                    <a:pt x="10544" y="10544"/>
                  </a:lnTo>
                  <a:lnTo>
                    <a:pt x="2829" y="21987"/>
                  </a:lnTo>
                  <a:lnTo>
                    <a:pt x="0" y="36000"/>
                  </a:lnTo>
                  <a:lnTo>
                    <a:pt x="0" y="705722"/>
                  </a:lnTo>
                  <a:lnTo>
                    <a:pt x="2829" y="719736"/>
                  </a:lnTo>
                  <a:lnTo>
                    <a:pt x="10544" y="731179"/>
                  </a:lnTo>
                  <a:lnTo>
                    <a:pt x="21987" y="738894"/>
                  </a:lnTo>
                  <a:lnTo>
                    <a:pt x="36000" y="741723"/>
                  </a:lnTo>
                  <a:lnTo>
                    <a:pt x="5724074" y="741723"/>
                  </a:lnTo>
                  <a:lnTo>
                    <a:pt x="5738087" y="738894"/>
                  </a:lnTo>
                  <a:lnTo>
                    <a:pt x="5749530" y="731179"/>
                  </a:lnTo>
                  <a:lnTo>
                    <a:pt x="5757245" y="719736"/>
                  </a:lnTo>
                  <a:lnTo>
                    <a:pt x="5760074" y="70572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4918469"/>
            <a:ext cx="5760085" cy="1335405"/>
            <a:chOff x="899998" y="4918469"/>
            <a:chExt cx="5760085" cy="1335405"/>
          </a:xfrm>
        </p:grpSpPr>
        <p:sp>
          <p:nvSpPr>
            <p:cNvPr id="9" name="object 9" descr=""/>
            <p:cNvSpPr/>
            <p:nvPr/>
          </p:nvSpPr>
          <p:spPr>
            <a:xfrm>
              <a:off x="899998" y="4918469"/>
              <a:ext cx="5760085" cy="1335405"/>
            </a:xfrm>
            <a:custGeom>
              <a:avLst/>
              <a:gdLst/>
              <a:ahLst/>
              <a:cxnLst/>
              <a:rect l="l" t="t" r="r" b="b"/>
              <a:pathLst>
                <a:path w="5760084" h="1335404">
                  <a:moveTo>
                    <a:pt x="5724074" y="0"/>
                  </a:moveTo>
                  <a:lnTo>
                    <a:pt x="36000" y="0"/>
                  </a:lnTo>
                  <a:lnTo>
                    <a:pt x="21987" y="2829"/>
                  </a:lnTo>
                  <a:lnTo>
                    <a:pt x="10544" y="10544"/>
                  </a:lnTo>
                  <a:lnTo>
                    <a:pt x="2829" y="21987"/>
                  </a:lnTo>
                  <a:lnTo>
                    <a:pt x="0" y="36000"/>
                  </a:lnTo>
                  <a:lnTo>
                    <a:pt x="0" y="1299010"/>
                  </a:lnTo>
                  <a:lnTo>
                    <a:pt x="2829" y="1313023"/>
                  </a:lnTo>
                  <a:lnTo>
                    <a:pt x="10544" y="1324466"/>
                  </a:lnTo>
                  <a:lnTo>
                    <a:pt x="21987" y="1332181"/>
                  </a:lnTo>
                  <a:lnTo>
                    <a:pt x="36000" y="1335010"/>
                  </a:lnTo>
                  <a:lnTo>
                    <a:pt x="5724074" y="1335010"/>
                  </a:lnTo>
                  <a:lnTo>
                    <a:pt x="5738087" y="1332181"/>
                  </a:lnTo>
                  <a:lnTo>
                    <a:pt x="5749530" y="1324466"/>
                  </a:lnTo>
                  <a:lnTo>
                    <a:pt x="5757245" y="1313023"/>
                  </a:lnTo>
                  <a:lnTo>
                    <a:pt x="5760074" y="129901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4918469"/>
              <a:ext cx="5760085" cy="1335405"/>
            </a:xfrm>
            <a:custGeom>
              <a:avLst/>
              <a:gdLst/>
              <a:ahLst/>
              <a:cxnLst/>
              <a:rect l="l" t="t" r="r" b="b"/>
              <a:pathLst>
                <a:path w="5760084" h="1335404">
                  <a:moveTo>
                    <a:pt x="5724074" y="0"/>
                  </a:moveTo>
                  <a:lnTo>
                    <a:pt x="36000" y="0"/>
                  </a:lnTo>
                  <a:lnTo>
                    <a:pt x="21987" y="2829"/>
                  </a:lnTo>
                  <a:lnTo>
                    <a:pt x="10544" y="10544"/>
                  </a:lnTo>
                  <a:lnTo>
                    <a:pt x="2829" y="21987"/>
                  </a:lnTo>
                  <a:lnTo>
                    <a:pt x="0" y="36000"/>
                  </a:lnTo>
                  <a:lnTo>
                    <a:pt x="0" y="1299010"/>
                  </a:lnTo>
                  <a:lnTo>
                    <a:pt x="2829" y="1313023"/>
                  </a:lnTo>
                  <a:lnTo>
                    <a:pt x="10544" y="1324466"/>
                  </a:lnTo>
                  <a:lnTo>
                    <a:pt x="21987" y="1332181"/>
                  </a:lnTo>
                  <a:lnTo>
                    <a:pt x="36000" y="1335010"/>
                  </a:lnTo>
                  <a:lnTo>
                    <a:pt x="5724074" y="1335010"/>
                  </a:lnTo>
                  <a:lnTo>
                    <a:pt x="5738087" y="1332181"/>
                  </a:lnTo>
                  <a:lnTo>
                    <a:pt x="5749530" y="1324466"/>
                  </a:lnTo>
                  <a:lnTo>
                    <a:pt x="5757245" y="1313023"/>
                  </a:lnTo>
                  <a:lnTo>
                    <a:pt x="5760074" y="129901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1" name="object 11" descr=""/>
          <p:cNvSpPr txBox="1"/>
          <p:nvPr/>
        </p:nvSpPr>
        <p:spPr>
          <a:xfrm>
            <a:off x="709498" y="833739"/>
            <a:ext cx="6153785" cy="5325110"/>
          </a:xfrm>
          <a:prstGeom prst="rect">
            <a:avLst/>
          </a:prstGeom>
        </p:spPr>
        <p:txBody>
          <a:bodyPr wrap="square" lIns="0" tIns="17145" rIns="0" bIns="0" rtlCol="0" vert="horz">
            <a:spAutoFit/>
          </a:bodyPr>
          <a:lstStyle/>
          <a:p>
            <a:pPr marL="190500">
              <a:lnSpc>
                <a:spcPct val="100000"/>
              </a:lnSpc>
              <a:spcBef>
                <a:spcPts val="135"/>
              </a:spcBef>
            </a:pPr>
            <a:r>
              <a:rPr dirty="0" sz="1400" b="1">
                <a:latin typeface="Times New Roman"/>
                <a:cs typeface="Times New Roman"/>
              </a:rPr>
              <a:t>3.1.</a:t>
            </a:r>
            <a:r>
              <a:rPr dirty="0" sz="1400" spc="195" b="1">
                <a:latin typeface="Times New Roman"/>
                <a:cs typeface="Times New Roman"/>
              </a:rPr>
              <a:t> </a:t>
            </a:r>
            <a:r>
              <a:rPr dirty="0" sz="1400" b="1">
                <a:latin typeface="Times New Roman"/>
                <a:cs typeface="Times New Roman"/>
              </a:rPr>
              <a:t>Under-</a:t>
            </a:r>
            <a:r>
              <a:rPr dirty="0" sz="1400" spc="60" b="1">
                <a:latin typeface="Times New Roman"/>
                <a:cs typeface="Times New Roman"/>
              </a:rPr>
              <a:t>optimization</a:t>
            </a:r>
            <a:r>
              <a:rPr dirty="0" sz="1400" spc="65" b="1">
                <a:latin typeface="Times New Roman"/>
                <a:cs typeface="Times New Roman"/>
              </a:rPr>
              <a:t> </a:t>
            </a:r>
            <a:r>
              <a:rPr dirty="0" sz="1400" spc="55" b="1">
                <a:latin typeface="Times New Roman"/>
                <a:cs typeface="Times New Roman"/>
              </a:rPr>
              <a:t>Analysis</a:t>
            </a:r>
            <a:r>
              <a:rPr dirty="0" sz="1400" spc="65" b="1">
                <a:latin typeface="Times New Roman"/>
                <a:cs typeface="Times New Roman"/>
              </a:rPr>
              <a:t> </a:t>
            </a:r>
            <a:r>
              <a:rPr dirty="0" sz="1400" spc="85" b="1">
                <a:latin typeface="Times New Roman"/>
                <a:cs typeface="Times New Roman"/>
              </a:rPr>
              <a:t>in</a:t>
            </a:r>
            <a:r>
              <a:rPr dirty="0" sz="1400" spc="60" b="1">
                <a:latin typeface="Times New Roman"/>
                <a:cs typeface="Times New Roman"/>
              </a:rPr>
              <a:t> Multimodal</a:t>
            </a:r>
            <a:r>
              <a:rPr dirty="0" sz="1400" spc="65" b="1">
                <a:latin typeface="Times New Roman"/>
                <a:cs typeface="Times New Roman"/>
              </a:rPr>
              <a:t> </a:t>
            </a:r>
            <a:r>
              <a:rPr dirty="0" sz="1400" spc="-10" b="1">
                <a:latin typeface="Times New Roman"/>
                <a:cs typeface="Times New Roman"/>
              </a:rPr>
              <a:t>Learning.</a:t>
            </a:r>
            <a:endParaRPr sz="1400">
              <a:latin typeface="Times New Roman"/>
              <a:cs typeface="Times New Roman"/>
            </a:endParaRPr>
          </a:p>
          <a:p>
            <a:pPr>
              <a:lnSpc>
                <a:spcPct val="100000"/>
              </a:lnSpc>
              <a:spcBef>
                <a:spcPts val="310"/>
              </a:spcBef>
            </a:pPr>
            <a:endParaRPr sz="1400">
              <a:latin typeface="Times New Roman"/>
              <a:cs typeface="Times New Roman"/>
            </a:endParaRPr>
          </a:p>
          <a:p>
            <a:pPr marL="370205">
              <a:lnSpc>
                <a:spcPct val="100000"/>
              </a:lnSpc>
            </a:pPr>
            <a:r>
              <a:rPr dirty="0" sz="1400" b="1">
                <a:latin typeface="Times New Roman"/>
                <a:cs typeface="Times New Roman"/>
              </a:rPr>
              <a:t>3.1.</a:t>
            </a:r>
            <a:r>
              <a:rPr dirty="0" sz="1400" spc="490" b="1">
                <a:latin typeface="Times New Roman"/>
                <a:cs typeface="Times New Roman"/>
              </a:rPr>
              <a:t> </a:t>
            </a:r>
            <a:r>
              <a:rPr dirty="0" sz="1400" spc="-5" b="1">
                <a:latin typeface="Microsoft JhengHei"/>
                <a:cs typeface="Microsoft JhengHei"/>
              </a:rPr>
              <a:t>多模态学习中的欠优化分析。</a:t>
            </a:r>
            <a:endParaRPr sz="1400">
              <a:latin typeface="Microsoft JhengHei"/>
              <a:cs typeface="Microsoft JhengHei"/>
            </a:endParaRPr>
          </a:p>
          <a:p>
            <a:pPr algn="just" marL="190500" marR="195580" indent="252729">
              <a:lnSpc>
                <a:spcPct val="129500"/>
              </a:lnSpc>
              <a:spcBef>
                <a:spcPts val="1215"/>
              </a:spcBef>
            </a:pPr>
            <a:r>
              <a:rPr dirty="0" sz="1000" spc="10">
                <a:latin typeface="Times New Roman"/>
                <a:cs typeface="Times New Roman"/>
              </a:rPr>
              <a:t>Existing</a:t>
            </a:r>
            <a:r>
              <a:rPr dirty="0" sz="1000" spc="110">
                <a:latin typeface="Times New Roman"/>
                <a:cs typeface="Times New Roman"/>
              </a:rPr>
              <a:t> </a:t>
            </a:r>
            <a:r>
              <a:rPr dirty="0" sz="1000" spc="10">
                <a:latin typeface="Times New Roman"/>
                <a:cs typeface="Times New Roman"/>
              </a:rPr>
              <a:t>methods</a:t>
            </a:r>
            <a:r>
              <a:rPr dirty="0" sz="1000" spc="110">
                <a:latin typeface="Times New Roman"/>
                <a:cs typeface="Times New Roman"/>
              </a:rPr>
              <a:t> </a:t>
            </a:r>
            <a:r>
              <a:rPr dirty="0" sz="1000" spc="10">
                <a:latin typeface="Times New Roman"/>
                <a:cs typeface="Times New Roman"/>
              </a:rPr>
              <a:t>attribute</a:t>
            </a:r>
            <a:r>
              <a:rPr dirty="0" sz="1000" spc="110">
                <a:latin typeface="Times New Roman"/>
                <a:cs typeface="Times New Roman"/>
              </a:rPr>
              <a:t> </a:t>
            </a:r>
            <a:r>
              <a:rPr dirty="0" sz="1000" spc="10">
                <a:latin typeface="Times New Roman"/>
                <a:cs typeface="Times New Roman"/>
              </a:rPr>
              <a:t>the</a:t>
            </a:r>
            <a:r>
              <a:rPr dirty="0" sz="1000" spc="110">
                <a:latin typeface="Times New Roman"/>
                <a:cs typeface="Times New Roman"/>
              </a:rPr>
              <a:t> </a:t>
            </a:r>
            <a:r>
              <a:rPr dirty="0" sz="1000" spc="10">
                <a:latin typeface="Times New Roman"/>
                <a:cs typeface="Times New Roman"/>
              </a:rPr>
              <a:t>insufficient</a:t>
            </a:r>
            <a:r>
              <a:rPr dirty="0" sz="1000" spc="120">
                <a:latin typeface="Times New Roman"/>
                <a:cs typeface="Times New Roman"/>
              </a:rPr>
              <a:t> </a:t>
            </a:r>
            <a:r>
              <a:rPr dirty="0" sz="1000" spc="10">
                <a:latin typeface="Times New Roman"/>
                <a:cs typeface="Times New Roman"/>
              </a:rPr>
              <a:t>multimodal</a:t>
            </a:r>
            <a:r>
              <a:rPr dirty="0" sz="1000" spc="110">
                <a:latin typeface="Times New Roman"/>
                <a:cs typeface="Times New Roman"/>
              </a:rPr>
              <a:t> </a:t>
            </a:r>
            <a:r>
              <a:rPr dirty="0" sz="1000" spc="10">
                <a:latin typeface="Times New Roman"/>
                <a:cs typeface="Times New Roman"/>
              </a:rPr>
              <a:t>performance</a:t>
            </a:r>
            <a:r>
              <a:rPr dirty="0" sz="1000" spc="110">
                <a:latin typeface="Times New Roman"/>
                <a:cs typeface="Times New Roman"/>
              </a:rPr>
              <a:t> </a:t>
            </a:r>
            <a:r>
              <a:rPr dirty="0" sz="1000" spc="10">
                <a:latin typeface="Times New Roman"/>
                <a:cs typeface="Times New Roman"/>
              </a:rPr>
              <a:t>to</a:t>
            </a:r>
            <a:r>
              <a:rPr dirty="0" sz="1000" spc="114">
                <a:latin typeface="Times New Roman"/>
                <a:cs typeface="Times New Roman"/>
              </a:rPr>
              <a:t> </a:t>
            </a:r>
            <a:r>
              <a:rPr dirty="0" sz="1000" spc="10">
                <a:latin typeface="Times New Roman"/>
                <a:cs typeface="Times New Roman"/>
              </a:rPr>
              <a:t>imbalanced</a:t>
            </a:r>
            <a:r>
              <a:rPr dirty="0" sz="1000" spc="110">
                <a:latin typeface="Times New Roman"/>
                <a:cs typeface="Times New Roman"/>
              </a:rPr>
              <a:t> </a:t>
            </a:r>
            <a:r>
              <a:rPr dirty="0" sz="1000" spc="10">
                <a:latin typeface="Times New Roman"/>
                <a:cs typeface="Times New Roman"/>
              </a:rPr>
              <a:t>learning,</a:t>
            </a:r>
            <a:r>
              <a:rPr dirty="0" sz="1000" spc="114">
                <a:latin typeface="Times New Roman"/>
                <a:cs typeface="Times New Roman"/>
              </a:rPr>
              <a:t> </a:t>
            </a:r>
            <a:r>
              <a:rPr dirty="0" sz="1000" spc="10">
                <a:latin typeface="Times New Roman"/>
                <a:cs typeface="Times New Roman"/>
              </a:rPr>
              <a:t>where</a:t>
            </a:r>
            <a:r>
              <a:rPr dirty="0" sz="1000" spc="114">
                <a:latin typeface="Times New Roman"/>
                <a:cs typeface="Times New Roman"/>
              </a:rPr>
              <a:t> </a:t>
            </a:r>
            <a:r>
              <a:rPr dirty="0" sz="1000" spc="-25">
                <a:latin typeface="Times New Roman"/>
                <a:cs typeface="Times New Roman"/>
              </a:rPr>
              <a:t>the </a:t>
            </a:r>
            <a:r>
              <a:rPr dirty="0" sz="1000">
                <a:latin typeface="Times New Roman"/>
                <a:cs typeface="Times New Roman"/>
              </a:rPr>
              <a:t>dominant</a:t>
            </a:r>
            <a:r>
              <a:rPr dirty="0" sz="1000" spc="75">
                <a:latin typeface="Times New Roman"/>
                <a:cs typeface="Times New Roman"/>
              </a:rPr>
              <a:t> </a:t>
            </a:r>
            <a:r>
              <a:rPr dirty="0" sz="1000">
                <a:latin typeface="Times New Roman"/>
                <a:cs typeface="Times New Roman"/>
              </a:rPr>
              <a:t>modality</a:t>
            </a:r>
            <a:r>
              <a:rPr dirty="0" sz="1000" spc="75">
                <a:latin typeface="Times New Roman"/>
                <a:cs typeface="Times New Roman"/>
              </a:rPr>
              <a:t> </a:t>
            </a:r>
            <a:r>
              <a:rPr dirty="0" sz="1000">
                <a:latin typeface="Times New Roman"/>
                <a:cs typeface="Times New Roman"/>
              </a:rPr>
              <a:t>will</a:t>
            </a:r>
            <a:r>
              <a:rPr dirty="0" sz="1000" spc="75">
                <a:latin typeface="Times New Roman"/>
                <a:cs typeface="Times New Roman"/>
              </a:rPr>
              <a:t> </a:t>
            </a:r>
            <a:r>
              <a:rPr dirty="0" sz="1000">
                <a:latin typeface="Times New Roman"/>
                <a:cs typeface="Times New Roman"/>
              </a:rPr>
              <a:t>suppress</a:t>
            </a:r>
            <a:r>
              <a:rPr dirty="0" sz="1000" spc="7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learning</a:t>
            </a:r>
            <a:r>
              <a:rPr dirty="0" sz="1000" spc="75">
                <a:latin typeface="Times New Roman"/>
                <a:cs typeface="Times New Roman"/>
              </a:rPr>
              <a:t> </a:t>
            </a:r>
            <a:r>
              <a:rPr dirty="0" sz="1000" spc="-10">
                <a:latin typeface="Times New Roman"/>
                <a:cs typeface="Times New Roman"/>
              </a:rPr>
              <a:t>of</a:t>
            </a:r>
            <a:r>
              <a:rPr dirty="0" sz="1000" spc="75">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weak</a:t>
            </a:r>
            <a:r>
              <a:rPr dirty="0" sz="1000" spc="80">
                <a:latin typeface="Times New Roman"/>
                <a:cs typeface="Times New Roman"/>
              </a:rPr>
              <a:t> </a:t>
            </a:r>
            <a:r>
              <a:rPr dirty="0" sz="1000">
                <a:latin typeface="Times New Roman"/>
                <a:cs typeface="Times New Roman"/>
              </a:rPr>
              <a:t>one.</a:t>
            </a:r>
            <a:r>
              <a:rPr dirty="0" sz="1000" spc="215">
                <a:latin typeface="Times New Roman"/>
                <a:cs typeface="Times New Roman"/>
              </a:rPr>
              <a:t> </a:t>
            </a:r>
            <a:r>
              <a:rPr dirty="0" sz="1000" spc="-55">
                <a:latin typeface="Times New Roman"/>
                <a:cs typeface="Times New Roman"/>
              </a:rPr>
              <a:t>We</a:t>
            </a:r>
            <a:r>
              <a:rPr dirty="0" sz="1000" spc="75">
                <a:latin typeface="Times New Roman"/>
                <a:cs typeface="Times New Roman"/>
              </a:rPr>
              <a:t> </a:t>
            </a:r>
            <a:r>
              <a:rPr dirty="0" sz="1000">
                <a:latin typeface="Times New Roman"/>
                <a:cs typeface="Times New Roman"/>
              </a:rPr>
              <a:t>reveal</a:t>
            </a:r>
            <a:r>
              <a:rPr dirty="0" sz="1000" spc="75">
                <a:latin typeface="Times New Roman"/>
                <a:cs typeface="Times New Roman"/>
              </a:rPr>
              <a:t> </a:t>
            </a:r>
            <a:r>
              <a:rPr dirty="0" sz="1000">
                <a:latin typeface="Times New Roman"/>
                <a:cs typeface="Times New Roman"/>
              </a:rPr>
              <a:t>that</a:t>
            </a:r>
            <a:r>
              <a:rPr dirty="0" sz="1000" spc="80">
                <a:latin typeface="Times New Roman"/>
                <a:cs typeface="Times New Roman"/>
              </a:rPr>
              <a:t> </a:t>
            </a:r>
            <a:r>
              <a:rPr dirty="0" sz="1000">
                <a:latin typeface="Times New Roman"/>
                <a:cs typeface="Times New Roman"/>
              </a:rPr>
              <a:t>all</a:t>
            </a:r>
            <a:r>
              <a:rPr dirty="0" sz="1000" spc="75">
                <a:latin typeface="Times New Roman"/>
                <a:cs typeface="Times New Roman"/>
              </a:rPr>
              <a:t> </a:t>
            </a:r>
            <a:r>
              <a:rPr dirty="0" sz="1000">
                <a:latin typeface="Times New Roman"/>
                <a:cs typeface="Times New Roman"/>
              </a:rPr>
              <a:t>modality</a:t>
            </a:r>
            <a:r>
              <a:rPr dirty="0" sz="1000" spc="75">
                <a:latin typeface="Times New Roman"/>
                <a:cs typeface="Times New Roman"/>
              </a:rPr>
              <a:t> </a:t>
            </a:r>
            <a:r>
              <a:rPr dirty="0" sz="1000">
                <a:latin typeface="Times New Roman"/>
                <a:cs typeface="Times New Roman"/>
              </a:rPr>
              <a:t>in</a:t>
            </a:r>
            <a:r>
              <a:rPr dirty="0" sz="1000" spc="7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spc="-10">
                <a:latin typeface="Times New Roman"/>
                <a:cs typeface="Times New Roman"/>
              </a:rPr>
              <a:t>multimodal </a:t>
            </a:r>
            <a:r>
              <a:rPr dirty="0" sz="1000" spc="10">
                <a:latin typeface="Times New Roman"/>
                <a:cs typeface="Times New Roman"/>
              </a:rPr>
              <a:t>model,</a:t>
            </a:r>
            <a:r>
              <a:rPr dirty="0" sz="1000" spc="190">
                <a:latin typeface="Times New Roman"/>
                <a:cs typeface="Times New Roman"/>
              </a:rPr>
              <a:t> </a:t>
            </a:r>
            <a:r>
              <a:rPr dirty="0" sz="1000" spc="10">
                <a:latin typeface="Times New Roman"/>
                <a:cs typeface="Times New Roman"/>
              </a:rPr>
              <a:t>including</a:t>
            </a:r>
            <a:r>
              <a:rPr dirty="0" sz="1000" spc="165">
                <a:latin typeface="Times New Roman"/>
                <a:cs typeface="Times New Roman"/>
              </a:rPr>
              <a:t> </a:t>
            </a:r>
            <a:r>
              <a:rPr dirty="0" sz="1000" spc="10">
                <a:latin typeface="Times New Roman"/>
                <a:cs typeface="Times New Roman"/>
              </a:rPr>
              <a:t>the</a:t>
            </a:r>
            <a:r>
              <a:rPr dirty="0" sz="1000" spc="170">
                <a:latin typeface="Times New Roman"/>
                <a:cs typeface="Times New Roman"/>
              </a:rPr>
              <a:t> </a:t>
            </a:r>
            <a:r>
              <a:rPr dirty="0" sz="1000" spc="10">
                <a:latin typeface="Times New Roman"/>
                <a:cs typeface="Times New Roman"/>
              </a:rPr>
              <a:t>dominant</a:t>
            </a:r>
            <a:r>
              <a:rPr dirty="0" sz="1000" spc="165">
                <a:latin typeface="Times New Roman"/>
                <a:cs typeface="Times New Roman"/>
              </a:rPr>
              <a:t> </a:t>
            </a:r>
            <a:r>
              <a:rPr dirty="0" sz="1000" spc="10">
                <a:latin typeface="Times New Roman"/>
                <a:cs typeface="Times New Roman"/>
              </a:rPr>
              <a:t>modality,</a:t>
            </a:r>
            <a:r>
              <a:rPr dirty="0" sz="1000" spc="190">
                <a:latin typeface="Times New Roman"/>
                <a:cs typeface="Times New Roman"/>
              </a:rPr>
              <a:t> </a:t>
            </a:r>
            <a:r>
              <a:rPr dirty="0" sz="1000" spc="10">
                <a:latin typeface="Times New Roman"/>
                <a:cs typeface="Times New Roman"/>
              </a:rPr>
              <a:t>is</a:t>
            </a:r>
            <a:r>
              <a:rPr dirty="0" sz="1000" spc="170">
                <a:latin typeface="Times New Roman"/>
                <a:cs typeface="Times New Roman"/>
              </a:rPr>
              <a:t> </a:t>
            </a:r>
            <a:r>
              <a:rPr dirty="0" sz="1000" spc="10">
                <a:latin typeface="Times New Roman"/>
                <a:cs typeface="Times New Roman"/>
              </a:rPr>
              <a:t>under-optimized</a:t>
            </a:r>
            <a:r>
              <a:rPr dirty="0" sz="1000" spc="165">
                <a:latin typeface="Times New Roman"/>
                <a:cs typeface="Times New Roman"/>
              </a:rPr>
              <a:t> </a:t>
            </a:r>
            <a:r>
              <a:rPr dirty="0" sz="1000" spc="10">
                <a:latin typeface="Times New Roman"/>
                <a:cs typeface="Times New Roman"/>
              </a:rPr>
              <a:t>compared</a:t>
            </a:r>
            <a:r>
              <a:rPr dirty="0" sz="1000" spc="165">
                <a:latin typeface="Times New Roman"/>
                <a:cs typeface="Times New Roman"/>
              </a:rPr>
              <a:t> </a:t>
            </a:r>
            <a:r>
              <a:rPr dirty="0" sz="1000" spc="10">
                <a:latin typeface="Times New Roman"/>
                <a:cs typeface="Times New Roman"/>
              </a:rPr>
              <a:t>to</a:t>
            </a:r>
            <a:r>
              <a:rPr dirty="0" sz="1000" spc="165">
                <a:latin typeface="Times New Roman"/>
                <a:cs typeface="Times New Roman"/>
              </a:rPr>
              <a:t> </a:t>
            </a:r>
            <a:r>
              <a:rPr dirty="0" sz="1000" spc="10">
                <a:latin typeface="Times New Roman"/>
                <a:cs typeface="Times New Roman"/>
              </a:rPr>
              <a:t>the</a:t>
            </a:r>
            <a:r>
              <a:rPr dirty="0" sz="1000" spc="165">
                <a:latin typeface="Times New Roman"/>
                <a:cs typeface="Times New Roman"/>
              </a:rPr>
              <a:t> </a:t>
            </a:r>
            <a:r>
              <a:rPr dirty="0" sz="1000" spc="10">
                <a:latin typeface="Times New Roman"/>
                <a:cs typeface="Times New Roman"/>
              </a:rPr>
              <a:t>unimodal</a:t>
            </a:r>
            <a:r>
              <a:rPr dirty="0" sz="1000" spc="170">
                <a:latin typeface="Times New Roman"/>
                <a:cs typeface="Times New Roman"/>
              </a:rPr>
              <a:t> </a:t>
            </a:r>
            <a:r>
              <a:rPr dirty="0" sz="1000" spc="10">
                <a:latin typeface="Times New Roman"/>
                <a:cs typeface="Times New Roman"/>
              </a:rPr>
              <a:t>model</a:t>
            </a:r>
            <a:r>
              <a:rPr dirty="0" sz="1000" spc="165">
                <a:latin typeface="Times New Roman"/>
                <a:cs typeface="Times New Roman"/>
              </a:rPr>
              <a:t> </a:t>
            </a:r>
            <a:r>
              <a:rPr dirty="0" sz="1000" spc="10">
                <a:latin typeface="Times New Roman"/>
                <a:cs typeface="Times New Roman"/>
              </a:rPr>
              <a:t>due</a:t>
            </a:r>
            <a:r>
              <a:rPr dirty="0" sz="1000" spc="165">
                <a:latin typeface="Times New Roman"/>
                <a:cs typeface="Times New Roman"/>
              </a:rPr>
              <a:t> </a:t>
            </a:r>
            <a:r>
              <a:rPr dirty="0" sz="1000" spc="10">
                <a:latin typeface="Times New Roman"/>
                <a:cs typeface="Times New Roman"/>
              </a:rPr>
              <a:t>to</a:t>
            </a:r>
            <a:r>
              <a:rPr dirty="0" sz="1000" spc="165">
                <a:latin typeface="Times New Roman"/>
                <a:cs typeface="Times New Roman"/>
              </a:rPr>
              <a:t> </a:t>
            </a:r>
            <a:r>
              <a:rPr dirty="0" sz="1000" spc="-25">
                <a:latin typeface="Times New Roman"/>
                <a:cs typeface="Times New Roman"/>
              </a:rPr>
              <a:t>the </a:t>
            </a:r>
            <a:r>
              <a:rPr dirty="0" sz="1000" spc="10">
                <a:latin typeface="Times New Roman"/>
                <a:cs typeface="Times New Roman"/>
              </a:rPr>
              <a:t>optimization</a:t>
            </a:r>
            <a:r>
              <a:rPr dirty="0" sz="1000" spc="80">
                <a:latin typeface="Times New Roman"/>
                <a:cs typeface="Times New Roman"/>
              </a:rPr>
              <a:t> </a:t>
            </a:r>
            <a:r>
              <a:rPr dirty="0" sz="1000" spc="10">
                <a:latin typeface="Times New Roman"/>
                <a:cs typeface="Times New Roman"/>
              </a:rPr>
              <a:t>conflict</a:t>
            </a:r>
            <a:r>
              <a:rPr dirty="0" sz="1000" spc="85">
                <a:latin typeface="Times New Roman"/>
                <a:cs typeface="Times New Roman"/>
              </a:rPr>
              <a:t> </a:t>
            </a:r>
            <a:r>
              <a:rPr dirty="0" sz="1000" spc="10">
                <a:latin typeface="Times New Roman"/>
                <a:cs typeface="Times New Roman"/>
              </a:rPr>
              <a:t>between</a:t>
            </a:r>
            <a:r>
              <a:rPr dirty="0" sz="1000" spc="80">
                <a:latin typeface="Times New Roman"/>
                <a:cs typeface="Times New Roman"/>
              </a:rPr>
              <a:t> </a:t>
            </a:r>
            <a:r>
              <a:rPr dirty="0" sz="1000" spc="10">
                <a:latin typeface="Times New Roman"/>
                <a:cs typeface="Times New Roman"/>
              </a:rPr>
              <a:t>the</a:t>
            </a:r>
            <a:r>
              <a:rPr dirty="0" sz="1000" spc="85">
                <a:latin typeface="Times New Roman"/>
                <a:cs typeface="Times New Roman"/>
              </a:rPr>
              <a:t> </a:t>
            </a:r>
            <a:r>
              <a:rPr dirty="0" sz="1000" spc="10">
                <a:latin typeface="Times New Roman"/>
                <a:cs typeface="Times New Roman"/>
              </a:rPr>
              <a:t>modality</a:t>
            </a:r>
            <a:r>
              <a:rPr dirty="0" sz="1000" spc="80">
                <a:latin typeface="Times New Roman"/>
                <a:cs typeface="Times New Roman"/>
              </a:rPr>
              <a:t> </a:t>
            </a:r>
            <a:r>
              <a:rPr dirty="0" sz="1000" spc="10">
                <a:latin typeface="Times New Roman"/>
                <a:cs typeface="Times New Roman"/>
              </a:rPr>
              <a:t>encoder</a:t>
            </a:r>
            <a:r>
              <a:rPr dirty="0" sz="1000" spc="85">
                <a:latin typeface="Times New Roman"/>
                <a:cs typeface="Times New Roman"/>
              </a:rPr>
              <a:t> </a:t>
            </a:r>
            <a:r>
              <a:rPr dirty="0" sz="1000" spc="10">
                <a:latin typeface="Times New Roman"/>
                <a:cs typeface="Times New Roman"/>
              </a:rPr>
              <a:t>and</a:t>
            </a:r>
            <a:r>
              <a:rPr dirty="0" sz="1000" spc="80">
                <a:latin typeface="Times New Roman"/>
                <a:cs typeface="Times New Roman"/>
              </a:rPr>
              <a:t> </a:t>
            </a:r>
            <a:r>
              <a:rPr dirty="0" sz="1000" spc="10">
                <a:latin typeface="Times New Roman"/>
                <a:cs typeface="Times New Roman"/>
              </a:rPr>
              <a:t>fusion</a:t>
            </a:r>
            <a:r>
              <a:rPr dirty="0" sz="1000" spc="85">
                <a:latin typeface="Times New Roman"/>
                <a:cs typeface="Times New Roman"/>
              </a:rPr>
              <a:t> </a:t>
            </a:r>
            <a:r>
              <a:rPr dirty="0" sz="1000" spc="10">
                <a:latin typeface="Times New Roman"/>
                <a:cs typeface="Times New Roman"/>
              </a:rPr>
              <a:t>module</a:t>
            </a:r>
            <a:r>
              <a:rPr dirty="0" sz="1000" spc="80">
                <a:latin typeface="Times New Roman"/>
                <a:cs typeface="Times New Roman"/>
              </a:rPr>
              <a:t> </a:t>
            </a:r>
            <a:r>
              <a:rPr dirty="0" sz="1000" spc="10">
                <a:latin typeface="Times New Roman"/>
                <a:cs typeface="Times New Roman"/>
              </a:rPr>
              <a:t>in</a:t>
            </a:r>
            <a:r>
              <a:rPr dirty="0" sz="1000" spc="85">
                <a:latin typeface="Times New Roman"/>
                <a:cs typeface="Times New Roman"/>
              </a:rPr>
              <a:t> </a:t>
            </a:r>
            <a:r>
              <a:rPr dirty="0" sz="1000" spc="10">
                <a:latin typeface="Times New Roman"/>
                <a:cs typeface="Times New Roman"/>
              </a:rPr>
              <a:t>the</a:t>
            </a:r>
            <a:r>
              <a:rPr dirty="0" sz="1000" spc="85">
                <a:latin typeface="Times New Roman"/>
                <a:cs typeface="Times New Roman"/>
              </a:rPr>
              <a:t> </a:t>
            </a:r>
            <a:r>
              <a:rPr dirty="0" sz="1000" spc="10">
                <a:latin typeface="Times New Roman"/>
                <a:cs typeface="Times New Roman"/>
              </a:rPr>
              <a:t>multimodal</a:t>
            </a:r>
            <a:r>
              <a:rPr dirty="0" sz="1000" spc="80">
                <a:latin typeface="Times New Roman"/>
                <a:cs typeface="Times New Roman"/>
              </a:rPr>
              <a:t> </a:t>
            </a:r>
            <a:r>
              <a:rPr dirty="0" sz="1000" spc="-10">
                <a:latin typeface="Times New Roman"/>
                <a:cs typeface="Times New Roman"/>
              </a:rPr>
              <a:t>model.</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370205" marR="375285">
              <a:lnSpc>
                <a:spcPct val="129500"/>
              </a:lnSpc>
            </a:pPr>
            <a:r>
              <a:rPr dirty="0" sz="1000" spc="-35">
                <a:latin typeface="SimSun"/>
                <a:cs typeface="SimSun"/>
              </a:rPr>
              <a:t>现有方法将多模态性能不足归因于不平衡学习，即主导模态会抑制弱模态的学习。我们发现，由于</a:t>
            </a:r>
            <a:r>
              <a:rPr dirty="0" sz="1000" spc="-30">
                <a:latin typeface="SimSun"/>
                <a:cs typeface="SimSun"/>
              </a:rPr>
              <a:t>多模态模型中模态编码器和融合模块之间的优化冲突，与单模态模型相比，多模态模型中的所有模</a:t>
            </a:r>
            <a:r>
              <a:rPr dirty="0" sz="1000" spc="220">
                <a:latin typeface="SimSun"/>
                <a:cs typeface="SimSun"/>
              </a:rPr>
              <a:t>态</a:t>
            </a:r>
            <a:r>
              <a:rPr dirty="0" sz="1000">
                <a:latin typeface="Times New Roman"/>
                <a:cs typeface="Times New Roman"/>
              </a:rPr>
              <a:t>(</a:t>
            </a:r>
            <a:r>
              <a:rPr dirty="0" sz="1000" spc="-10">
                <a:latin typeface="SimSun"/>
                <a:cs typeface="SimSun"/>
              </a:rPr>
              <a:t>包括主导模态</a:t>
            </a:r>
            <a:r>
              <a:rPr dirty="0" sz="1000" spc="-10">
                <a:latin typeface="Times New Roman"/>
                <a:cs typeface="Times New Roman"/>
              </a:rPr>
              <a:t>) </a:t>
            </a:r>
            <a:r>
              <a:rPr dirty="0" sz="1000" spc="-15">
                <a:latin typeface="SimSun"/>
                <a:cs typeface="SimSun"/>
              </a:rPr>
              <a:t>都未得到充分优化。</a:t>
            </a:r>
            <a:endParaRPr sz="1000">
              <a:latin typeface="SimSun"/>
              <a:cs typeface="SimSun"/>
            </a:endParaRPr>
          </a:p>
          <a:p>
            <a:pPr>
              <a:lnSpc>
                <a:spcPct val="100000"/>
              </a:lnSpc>
              <a:spcBef>
                <a:spcPts val="60"/>
              </a:spcBef>
            </a:pPr>
            <a:endParaRPr sz="1000">
              <a:latin typeface="SimSun"/>
              <a:cs typeface="SimSun"/>
            </a:endParaRPr>
          </a:p>
          <a:p>
            <a:pPr algn="just" marL="189865" marR="194945" indent="252729">
              <a:lnSpc>
                <a:spcPct val="130000"/>
              </a:lnSpc>
            </a:pPr>
            <a:r>
              <a:rPr dirty="0" sz="1000">
                <a:latin typeface="Times New Roman"/>
                <a:cs typeface="Times New Roman"/>
              </a:rPr>
              <a:t>Without</a:t>
            </a:r>
            <a:r>
              <a:rPr dirty="0" sz="1000" spc="130">
                <a:latin typeface="Times New Roman"/>
                <a:cs typeface="Times New Roman"/>
              </a:rPr>
              <a:t> </a:t>
            </a:r>
            <a:r>
              <a:rPr dirty="0" sz="1000">
                <a:latin typeface="Times New Roman"/>
                <a:cs typeface="Times New Roman"/>
              </a:rPr>
              <a:t>loss</a:t>
            </a:r>
            <a:r>
              <a:rPr dirty="0" sz="1000" spc="130">
                <a:latin typeface="Times New Roman"/>
                <a:cs typeface="Times New Roman"/>
              </a:rPr>
              <a:t> </a:t>
            </a:r>
            <a:r>
              <a:rPr dirty="0" sz="1000">
                <a:latin typeface="Times New Roman"/>
                <a:cs typeface="Times New Roman"/>
              </a:rPr>
              <a:t>of</a:t>
            </a:r>
            <a:r>
              <a:rPr dirty="0" sz="1000" spc="135">
                <a:latin typeface="Times New Roman"/>
                <a:cs typeface="Times New Roman"/>
              </a:rPr>
              <a:t> </a:t>
            </a:r>
            <a:r>
              <a:rPr dirty="0" sz="1000">
                <a:latin typeface="Times New Roman"/>
                <a:cs typeface="Times New Roman"/>
              </a:rPr>
              <a:t>generality,</a:t>
            </a:r>
            <a:r>
              <a:rPr dirty="0" sz="1000" spc="155">
                <a:latin typeface="Times New Roman"/>
                <a:cs typeface="Times New Roman"/>
              </a:rPr>
              <a:t> </a:t>
            </a:r>
            <a:r>
              <a:rPr dirty="0" sz="1000">
                <a:latin typeface="Times New Roman"/>
                <a:cs typeface="Times New Roman"/>
              </a:rPr>
              <a:t>we</a:t>
            </a:r>
            <a:r>
              <a:rPr dirty="0" sz="1000" spc="130">
                <a:latin typeface="Times New Roman"/>
                <a:cs typeface="Times New Roman"/>
              </a:rPr>
              <a:t> </a:t>
            </a:r>
            <a:r>
              <a:rPr dirty="0" sz="1000">
                <a:latin typeface="Times New Roman"/>
                <a:cs typeface="Times New Roman"/>
              </a:rPr>
              <a:t>consider</a:t>
            </a:r>
            <a:r>
              <a:rPr dirty="0" sz="1000" spc="135">
                <a:latin typeface="Times New Roman"/>
                <a:cs typeface="Times New Roman"/>
              </a:rPr>
              <a:t> </a:t>
            </a:r>
            <a:r>
              <a:rPr dirty="0" sz="1000">
                <a:latin typeface="Times New Roman"/>
                <a:cs typeface="Times New Roman"/>
              </a:rPr>
              <a:t>two</a:t>
            </a:r>
            <a:r>
              <a:rPr dirty="0" sz="1000" spc="130">
                <a:latin typeface="Times New Roman"/>
                <a:cs typeface="Times New Roman"/>
              </a:rPr>
              <a:t> </a:t>
            </a:r>
            <a:r>
              <a:rPr dirty="0" sz="1000">
                <a:latin typeface="Times New Roman"/>
                <a:cs typeface="Times New Roman"/>
              </a:rPr>
              <a:t>input</a:t>
            </a:r>
            <a:r>
              <a:rPr dirty="0" sz="1000" spc="135">
                <a:latin typeface="Times New Roman"/>
                <a:cs typeface="Times New Roman"/>
              </a:rPr>
              <a:t> </a:t>
            </a:r>
            <a:r>
              <a:rPr dirty="0" sz="1000">
                <a:latin typeface="Times New Roman"/>
                <a:cs typeface="Times New Roman"/>
              </a:rPr>
              <a:t>modalities</a:t>
            </a:r>
            <a:r>
              <a:rPr dirty="0" sz="1000" spc="130">
                <a:latin typeface="Times New Roman"/>
                <a:cs typeface="Times New Roman"/>
              </a:rPr>
              <a:t> </a:t>
            </a:r>
            <a:r>
              <a:rPr dirty="0" sz="1000">
                <a:latin typeface="Times New Roman"/>
                <a:cs typeface="Times New Roman"/>
              </a:rPr>
              <a:t>as</a:t>
            </a:r>
            <a:r>
              <a:rPr dirty="0" sz="1000" spc="130">
                <a:latin typeface="Times New Roman"/>
                <a:cs typeface="Times New Roman"/>
              </a:rPr>
              <a:t> </a:t>
            </a:r>
            <a:r>
              <a:rPr dirty="0" sz="1000">
                <a:latin typeface="Cambria"/>
                <a:cs typeface="Cambria"/>
              </a:rPr>
              <a:t>𝑚</a:t>
            </a:r>
            <a:r>
              <a:rPr dirty="0" baseline="-15873" sz="1050">
                <a:latin typeface="Cambria"/>
                <a:cs typeface="Cambria"/>
              </a:rPr>
              <a:t>1</a:t>
            </a:r>
            <a:r>
              <a:rPr dirty="0" baseline="-15873" sz="1050" spc="419">
                <a:latin typeface="Cambria"/>
                <a:cs typeface="Cambria"/>
              </a:rPr>
              <a:t> </a:t>
            </a:r>
            <a:r>
              <a:rPr dirty="0" sz="1000">
                <a:latin typeface="Times New Roman"/>
                <a:cs typeface="Times New Roman"/>
              </a:rPr>
              <a:t>and</a:t>
            </a:r>
            <a:r>
              <a:rPr dirty="0" sz="1000" spc="135">
                <a:latin typeface="Times New Roman"/>
                <a:cs typeface="Times New Roman"/>
              </a:rPr>
              <a:t> </a:t>
            </a:r>
            <a:r>
              <a:rPr dirty="0" sz="1000">
                <a:latin typeface="Cambria"/>
                <a:cs typeface="Cambria"/>
              </a:rPr>
              <a:t>𝑚</a:t>
            </a:r>
            <a:r>
              <a:rPr dirty="0" baseline="-15873" sz="1050">
                <a:latin typeface="Cambria"/>
                <a:cs typeface="Cambria"/>
              </a:rPr>
              <a:t>2</a:t>
            </a:r>
            <a:r>
              <a:rPr dirty="0" baseline="-15873" sz="1050" spc="419">
                <a:latin typeface="Cambria"/>
                <a:cs typeface="Cambria"/>
              </a:rPr>
              <a:t> </a:t>
            </a:r>
            <a:r>
              <a:rPr dirty="0" sz="1000">
                <a:latin typeface="Times New Roman"/>
                <a:cs typeface="Times New Roman"/>
              </a:rPr>
              <a:t>.</a:t>
            </a:r>
            <a:r>
              <a:rPr dirty="0" sz="1000" spc="430">
                <a:latin typeface="Times New Roman"/>
                <a:cs typeface="Times New Roman"/>
              </a:rPr>
              <a:t> </a:t>
            </a:r>
            <a:r>
              <a:rPr dirty="0" sz="1000">
                <a:latin typeface="Times New Roman"/>
                <a:cs typeface="Times New Roman"/>
              </a:rPr>
              <a:t>As</a:t>
            </a:r>
            <a:r>
              <a:rPr dirty="0" sz="1000" spc="130">
                <a:latin typeface="Times New Roman"/>
                <a:cs typeface="Times New Roman"/>
              </a:rPr>
              <a:t> </a:t>
            </a:r>
            <a:r>
              <a:rPr dirty="0" sz="1000">
                <a:latin typeface="Times New Roman"/>
                <a:cs typeface="Times New Roman"/>
              </a:rPr>
              <a:t>shown</a:t>
            </a:r>
            <a:r>
              <a:rPr dirty="0" sz="1000" spc="135">
                <a:latin typeface="Times New Roman"/>
                <a:cs typeface="Times New Roman"/>
              </a:rPr>
              <a:t> </a:t>
            </a:r>
            <a:r>
              <a:rPr dirty="0" sz="1000">
                <a:latin typeface="Times New Roman"/>
                <a:cs typeface="Times New Roman"/>
              </a:rPr>
              <a:t>in</a:t>
            </a:r>
            <a:r>
              <a:rPr dirty="0" sz="1000" spc="130">
                <a:latin typeface="Times New Roman"/>
                <a:cs typeface="Times New Roman"/>
              </a:rPr>
              <a:t> </a:t>
            </a:r>
            <a:r>
              <a:rPr dirty="0" sz="1000">
                <a:latin typeface="Times New Roman"/>
                <a:cs typeface="Times New Roman"/>
              </a:rPr>
              <a:t>Fig.</a:t>
            </a:r>
            <a:r>
              <a:rPr dirty="0" sz="1000" spc="430">
                <a:latin typeface="Times New Roman"/>
                <a:cs typeface="Times New Roman"/>
              </a:rPr>
              <a:t> </a:t>
            </a:r>
            <a:r>
              <a:rPr dirty="0" sz="1000">
                <a:latin typeface="Times New Roman"/>
                <a:cs typeface="Times New Roman"/>
              </a:rPr>
              <a:t>2</a:t>
            </a:r>
            <a:r>
              <a:rPr dirty="0" sz="1000" spc="130">
                <a:latin typeface="Times New Roman"/>
                <a:cs typeface="Times New Roman"/>
              </a:rPr>
              <a:t> </a:t>
            </a:r>
            <a:r>
              <a:rPr dirty="0" sz="1000" spc="-20">
                <a:latin typeface="Times New Roman"/>
                <a:cs typeface="Times New Roman"/>
              </a:rPr>
              <a:t>(a), </a:t>
            </a:r>
            <a:r>
              <a:rPr dirty="0" sz="1000" spc="10">
                <a:latin typeface="Times New Roman"/>
                <a:cs typeface="Times New Roman"/>
              </a:rPr>
              <a:t>conventional</a:t>
            </a:r>
            <a:r>
              <a:rPr dirty="0" sz="1000" spc="50">
                <a:latin typeface="Times New Roman"/>
                <a:cs typeface="Times New Roman"/>
              </a:rPr>
              <a:t> </a:t>
            </a:r>
            <a:r>
              <a:rPr dirty="0" sz="1000" spc="10">
                <a:latin typeface="Times New Roman"/>
                <a:cs typeface="Times New Roman"/>
              </a:rPr>
              <a:t>multimodal</a:t>
            </a:r>
            <a:r>
              <a:rPr dirty="0" sz="1000" spc="50">
                <a:latin typeface="Times New Roman"/>
                <a:cs typeface="Times New Roman"/>
              </a:rPr>
              <a:t> </a:t>
            </a:r>
            <a:r>
              <a:rPr dirty="0" sz="1000" spc="10">
                <a:latin typeface="Times New Roman"/>
                <a:cs typeface="Times New Roman"/>
              </a:rPr>
              <a:t>learning</a:t>
            </a:r>
            <a:r>
              <a:rPr dirty="0" sz="1000" spc="55">
                <a:latin typeface="Times New Roman"/>
                <a:cs typeface="Times New Roman"/>
              </a:rPr>
              <a:t> </a:t>
            </a:r>
            <a:r>
              <a:rPr dirty="0" sz="1000" spc="10">
                <a:latin typeface="Times New Roman"/>
                <a:cs typeface="Times New Roman"/>
              </a:rPr>
              <a:t>can</a:t>
            </a:r>
            <a:r>
              <a:rPr dirty="0" sz="1000" spc="50">
                <a:latin typeface="Times New Roman"/>
                <a:cs typeface="Times New Roman"/>
              </a:rPr>
              <a:t> </a:t>
            </a:r>
            <a:r>
              <a:rPr dirty="0" sz="1000" spc="10">
                <a:latin typeface="Times New Roman"/>
                <a:cs typeface="Times New Roman"/>
              </a:rPr>
              <a:t>be</a:t>
            </a:r>
            <a:r>
              <a:rPr dirty="0" sz="1000" spc="55">
                <a:latin typeface="Times New Roman"/>
                <a:cs typeface="Times New Roman"/>
              </a:rPr>
              <a:t> </a:t>
            </a:r>
            <a:r>
              <a:rPr dirty="0" sz="1000" spc="10">
                <a:latin typeface="Times New Roman"/>
                <a:cs typeface="Times New Roman"/>
              </a:rPr>
              <a:t>described</a:t>
            </a:r>
            <a:r>
              <a:rPr dirty="0" sz="1000" spc="50">
                <a:latin typeface="Times New Roman"/>
                <a:cs typeface="Times New Roman"/>
              </a:rPr>
              <a:t> </a:t>
            </a:r>
            <a:r>
              <a:rPr dirty="0" sz="1000" spc="10">
                <a:latin typeface="Times New Roman"/>
                <a:cs typeface="Times New Roman"/>
              </a:rPr>
              <a:t>as</a:t>
            </a:r>
            <a:r>
              <a:rPr dirty="0" sz="1000" spc="55">
                <a:latin typeface="Times New Roman"/>
                <a:cs typeface="Times New Roman"/>
              </a:rPr>
              <a:t> </a:t>
            </a:r>
            <a:r>
              <a:rPr dirty="0" sz="1000" spc="10">
                <a:latin typeface="Times New Roman"/>
                <a:cs typeface="Times New Roman"/>
              </a:rPr>
              <a:t>follows:</a:t>
            </a:r>
            <a:r>
              <a:rPr dirty="0" sz="1000" spc="170">
                <a:latin typeface="Times New Roman"/>
                <a:cs typeface="Times New Roman"/>
              </a:rPr>
              <a:t> </a:t>
            </a:r>
            <a:r>
              <a:rPr dirty="0" sz="1000" spc="10">
                <a:latin typeface="Times New Roman"/>
                <a:cs typeface="Times New Roman"/>
              </a:rPr>
              <a:t>given</a:t>
            </a:r>
            <a:r>
              <a:rPr dirty="0" sz="1000" spc="55">
                <a:latin typeface="Times New Roman"/>
                <a:cs typeface="Times New Roman"/>
              </a:rPr>
              <a:t> </a:t>
            </a:r>
            <a:r>
              <a:rPr dirty="0" sz="1000" spc="10">
                <a:latin typeface="Times New Roman"/>
                <a:cs typeface="Times New Roman"/>
              </a:rPr>
              <a:t>a</a:t>
            </a:r>
            <a:r>
              <a:rPr dirty="0" sz="1000" spc="50">
                <a:latin typeface="Times New Roman"/>
                <a:cs typeface="Times New Roman"/>
              </a:rPr>
              <a:t> </a:t>
            </a:r>
            <a:r>
              <a:rPr dirty="0" sz="1000" spc="10">
                <a:latin typeface="Times New Roman"/>
                <a:cs typeface="Times New Roman"/>
              </a:rPr>
              <a:t>training</a:t>
            </a:r>
            <a:r>
              <a:rPr dirty="0" sz="1000" spc="55">
                <a:latin typeface="Times New Roman"/>
                <a:cs typeface="Times New Roman"/>
              </a:rPr>
              <a:t> </a:t>
            </a:r>
            <a:r>
              <a:rPr dirty="0" sz="1000" spc="10">
                <a:latin typeface="Times New Roman"/>
                <a:cs typeface="Times New Roman"/>
              </a:rPr>
              <a:t>set</a:t>
            </a:r>
            <a:r>
              <a:rPr dirty="0" sz="1000" spc="50">
                <a:latin typeface="Times New Roman"/>
                <a:cs typeface="Times New Roman"/>
              </a:rPr>
              <a:t> </a:t>
            </a:r>
            <a:r>
              <a:rPr dirty="0" sz="1000" spc="95">
                <a:latin typeface="Cambria"/>
                <a:cs typeface="Cambria"/>
              </a:rPr>
              <a:t>𝒟</a:t>
            </a:r>
            <a:r>
              <a:rPr dirty="0" sz="1000" spc="210">
                <a:latin typeface="Cambria"/>
                <a:cs typeface="Cambria"/>
              </a:rPr>
              <a:t> </a:t>
            </a:r>
            <a:r>
              <a:rPr dirty="0" sz="1000" spc="165">
                <a:latin typeface="Cambria"/>
                <a:cs typeface="Cambria"/>
              </a:rPr>
              <a:t>= </a:t>
            </a:r>
            <a:r>
              <a:rPr dirty="0" sz="1000" spc="10">
                <a:latin typeface="Cambria"/>
                <a:cs typeface="Cambria"/>
              </a:rPr>
              <a:t>{𝑥</a:t>
            </a:r>
            <a:r>
              <a:rPr dirty="0" baseline="-15873" sz="1050" spc="15">
                <a:latin typeface="Cambria"/>
                <a:cs typeface="Cambria"/>
              </a:rPr>
              <a:t>𝑖</a:t>
            </a:r>
            <a:r>
              <a:rPr dirty="0" sz="1000" spc="10">
                <a:latin typeface="Cambria"/>
                <a:cs typeface="Cambria"/>
              </a:rPr>
              <a:t>,</a:t>
            </a:r>
            <a:r>
              <a:rPr dirty="0" sz="1000" spc="-25">
                <a:latin typeface="Cambria"/>
                <a:cs typeface="Cambria"/>
              </a:rPr>
              <a:t> </a:t>
            </a:r>
            <a:r>
              <a:rPr dirty="0" sz="1000" spc="10">
                <a:latin typeface="Cambria"/>
                <a:cs typeface="Cambria"/>
              </a:rPr>
              <a:t>𝑦</a:t>
            </a:r>
            <a:r>
              <a:rPr dirty="0" baseline="-15873" sz="1050" spc="15">
                <a:latin typeface="Cambria"/>
                <a:cs typeface="Cambria"/>
              </a:rPr>
              <a:t>𝑖</a:t>
            </a:r>
            <a:r>
              <a:rPr dirty="0" sz="1000" spc="10">
                <a:latin typeface="Cambria"/>
                <a:cs typeface="Cambria"/>
              </a:rPr>
              <a:t>}</a:t>
            </a:r>
            <a:r>
              <a:rPr dirty="0" baseline="-23809" sz="1050" spc="15">
                <a:latin typeface="Cambria"/>
                <a:cs typeface="Cambria"/>
              </a:rPr>
              <a:t>𝑖∈</a:t>
            </a:r>
            <a:r>
              <a:rPr dirty="0" baseline="-27777" sz="1050" spc="15">
                <a:latin typeface="Cambria"/>
                <a:cs typeface="Cambria"/>
              </a:rPr>
              <a:t>[</a:t>
            </a:r>
            <a:r>
              <a:rPr dirty="0" baseline="-23809" sz="1050" spc="15">
                <a:latin typeface="Cambria"/>
                <a:cs typeface="Cambria"/>
              </a:rPr>
              <a:t>𝑁</a:t>
            </a:r>
            <a:r>
              <a:rPr dirty="0" baseline="-27777" sz="1050" spc="15">
                <a:latin typeface="Cambria"/>
                <a:cs typeface="Cambria"/>
              </a:rPr>
              <a:t>]</a:t>
            </a:r>
            <a:r>
              <a:rPr dirty="0" baseline="-27777" sz="1050" spc="300">
                <a:latin typeface="Cambria"/>
                <a:cs typeface="Cambria"/>
              </a:rPr>
              <a:t> </a:t>
            </a:r>
            <a:r>
              <a:rPr dirty="0" sz="1000" spc="10">
                <a:latin typeface="Times New Roman"/>
                <a:cs typeface="Times New Roman"/>
              </a:rPr>
              <a:t>,</a:t>
            </a:r>
            <a:r>
              <a:rPr dirty="0" sz="1000" spc="60">
                <a:latin typeface="Times New Roman"/>
                <a:cs typeface="Times New Roman"/>
              </a:rPr>
              <a:t> </a:t>
            </a:r>
            <a:r>
              <a:rPr dirty="0" sz="1000" spc="-10">
                <a:latin typeface="Times New Roman"/>
                <a:cs typeface="Times New Roman"/>
              </a:rPr>
              <a:t>where </a:t>
            </a:r>
            <a:r>
              <a:rPr dirty="0" sz="1000">
                <a:latin typeface="Times New Roman"/>
                <a:cs typeface="Times New Roman"/>
              </a:rPr>
              <a:t>the</a:t>
            </a:r>
            <a:r>
              <a:rPr dirty="0" sz="1000" spc="60">
                <a:latin typeface="Times New Roman"/>
                <a:cs typeface="Times New Roman"/>
              </a:rPr>
              <a:t> </a:t>
            </a:r>
            <a:r>
              <a:rPr dirty="0" sz="1000">
                <a:latin typeface="Times New Roman"/>
                <a:cs typeface="Times New Roman"/>
              </a:rPr>
              <a:t>inputs</a:t>
            </a:r>
            <a:r>
              <a:rPr dirty="0" sz="1000" spc="60">
                <a:latin typeface="Times New Roman"/>
                <a:cs typeface="Times New Roman"/>
              </a:rPr>
              <a:t> </a:t>
            </a:r>
            <a:r>
              <a:rPr dirty="0" sz="1000">
                <a:latin typeface="Cambria"/>
                <a:cs typeface="Cambria"/>
              </a:rPr>
              <a:t>𝑥</a:t>
            </a:r>
            <a:r>
              <a:rPr dirty="0" baseline="-15873" sz="1050">
                <a:latin typeface="Cambria"/>
                <a:cs typeface="Cambria"/>
              </a:rPr>
              <a:t>𝑖</a:t>
            </a:r>
            <a:r>
              <a:rPr dirty="0" baseline="-15873" sz="1050" spc="494">
                <a:latin typeface="Cambria"/>
                <a:cs typeface="Cambria"/>
              </a:rPr>
              <a:t> </a:t>
            </a:r>
            <a:r>
              <a:rPr dirty="0" sz="1000" spc="165">
                <a:latin typeface="Cambria"/>
                <a:cs typeface="Cambria"/>
              </a:rPr>
              <a:t>=</a:t>
            </a:r>
            <a:r>
              <a:rPr dirty="0" sz="1000" spc="200">
                <a:latin typeface="Cambria"/>
                <a:cs typeface="Cambria"/>
              </a:rPr>
              <a:t>  </a:t>
            </a:r>
            <a:r>
              <a:rPr dirty="0" sz="1000" spc="-30">
                <a:latin typeface="Cambria"/>
                <a:cs typeface="Cambria"/>
              </a:rPr>
              <a:t>(𝑥</a:t>
            </a:r>
            <a:r>
              <a:rPr dirty="0" baseline="-19841" sz="1050" spc="-44">
                <a:latin typeface="Cambria"/>
                <a:cs typeface="Cambria"/>
              </a:rPr>
              <a:t>𝑖</a:t>
            </a:r>
            <a:r>
              <a:rPr dirty="0" baseline="43650" sz="1050" spc="-44">
                <a:latin typeface="Cambria"/>
                <a:cs typeface="Cambria"/>
              </a:rPr>
              <a:t>𝑚</a:t>
            </a:r>
            <a:r>
              <a:rPr dirty="0" baseline="40404" sz="825" spc="-44">
                <a:latin typeface="Cambria"/>
                <a:cs typeface="Cambria"/>
              </a:rPr>
              <a:t>1</a:t>
            </a:r>
            <a:r>
              <a:rPr dirty="0" baseline="40404" sz="825" spc="-7">
                <a:latin typeface="Cambria"/>
                <a:cs typeface="Cambria"/>
              </a:rPr>
              <a:t> </a:t>
            </a:r>
            <a:r>
              <a:rPr dirty="0" sz="1000">
                <a:latin typeface="Cambria"/>
                <a:cs typeface="Cambria"/>
              </a:rPr>
              <a:t>,</a:t>
            </a:r>
            <a:r>
              <a:rPr dirty="0" sz="1000" spc="-25">
                <a:latin typeface="Cambria"/>
                <a:cs typeface="Cambria"/>
              </a:rPr>
              <a:t> </a:t>
            </a:r>
            <a:r>
              <a:rPr dirty="0" sz="1000" spc="-35">
                <a:latin typeface="Cambria"/>
                <a:cs typeface="Cambria"/>
              </a:rPr>
              <a:t>𝑥</a:t>
            </a:r>
            <a:r>
              <a:rPr dirty="0" baseline="-19841" sz="1050" spc="-52">
                <a:latin typeface="Cambria"/>
                <a:cs typeface="Cambria"/>
              </a:rPr>
              <a:t>𝑖</a:t>
            </a:r>
            <a:r>
              <a:rPr dirty="0" baseline="43650" sz="1050" spc="-52">
                <a:latin typeface="Cambria"/>
                <a:cs typeface="Cambria"/>
              </a:rPr>
              <a:t>𝑚</a:t>
            </a:r>
            <a:r>
              <a:rPr dirty="0" baseline="40404" sz="825" spc="-52">
                <a:latin typeface="Cambria"/>
                <a:cs typeface="Cambria"/>
              </a:rPr>
              <a:t>2</a:t>
            </a:r>
            <a:r>
              <a:rPr dirty="0" baseline="40404" sz="825" spc="-7">
                <a:latin typeface="Cambria"/>
                <a:cs typeface="Cambria"/>
              </a:rPr>
              <a:t> </a:t>
            </a:r>
            <a:r>
              <a:rPr dirty="0" sz="1000">
                <a:latin typeface="Cambria"/>
                <a:cs typeface="Cambria"/>
              </a:rPr>
              <a:t>)</a:t>
            </a:r>
            <a:r>
              <a:rPr dirty="0" sz="1000" spc="95">
                <a:latin typeface="Cambria"/>
                <a:cs typeface="Cambria"/>
              </a:rPr>
              <a:t> </a:t>
            </a:r>
            <a:r>
              <a:rPr dirty="0" sz="1000">
                <a:latin typeface="Times New Roman"/>
                <a:cs typeface="Times New Roman"/>
              </a:rPr>
              <a:t>and</a:t>
            </a:r>
            <a:r>
              <a:rPr dirty="0" sz="1000" spc="60">
                <a:latin typeface="Times New Roman"/>
                <a:cs typeface="Times New Roman"/>
              </a:rPr>
              <a:t> </a:t>
            </a:r>
            <a:r>
              <a:rPr dirty="0" sz="1000">
                <a:latin typeface="Cambria"/>
                <a:cs typeface="Cambria"/>
              </a:rPr>
              <a:t>𝑦</a:t>
            </a:r>
            <a:r>
              <a:rPr dirty="0" baseline="-15873" sz="1050">
                <a:latin typeface="Cambria"/>
                <a:cs typeface="Cambria"/>
              </a:rPr>
              <a:t>𝑖</a:t>
            </a:r>
            <a:r>
              <a:rPr dirty="0" baseline="-15873" sz="1050" spc="487">
                <a:latin typeface="Cambria"/>
                <a:cs typeface="Cambria"/>
              </a:rPr>
              <a:t> </a:t>
            </a:r>
            <a:r>
              <a:rPr dirty="0" sz="1000" spc="85">
                <a:latin typeface="Cambria"/>
                <a:cs typeface="Cambria"/>
              </a:rPr>
              <a:t>∈</a:t>
            </a:r>
            <a:r>
              <a:rPr dirty="0" sz="1000" spc="210">
                <a:latin typeface="Cambria"/>
                <a:cs typeface="Cambria"/>
              </a:rPr>
              <a:t> </a:t>
            </a:r>
            <a:r>
              <a:rPr dirty="0" sz="1000" spc="-10">
                <a:latin typeface="Cambria"/>
                <a:cs typeface="Cambria"/>
              </a:rPr>
              <a:t>[1,</a:t>
            </a:r>
            <a:r>
              <a:rPr dirty="0" sz="1000" spc="-25">
                <a:latin typeface="Cambria"/>
                <a:cs typeface="Cambria"/>
              </a:rPr>
              <a:t> </a:t>
            </a:r>
            <a:r>
              <a:rPr dirty="0" sz="1000" spc="-10">
                <a:latin typeface="Cambria"/>
                <a:cs typeface="Cambria"/>
              </a:rPr>
              <a:t>2,</a:t>
            </a:r>
            <a:r>
              <a:rPr dirty="0" sz="1000" spc="-25">
                <a:latin typeface="Cambria"/>
                <a:cs typeface="Cambria"/>
              </a:rPr>
              <a:t> </a:t>
            </a:r>
            <a:r>
              <a:rPr dirty="0" sz="1000" spc="125">
                <a:latin typeface="Cambria"/>
                <a:cs typeface="Cambria"/>
              </a:rPr>
              <a:t>…</a:t>
            </a:r>
            <a:r>
              <a:rPr dirty="0" sz="1000" spc="-25">
                <a:latin typeface="Cambria"/>
                <a:cs typeface="Cambria"/>
              </a:rPr>
              <a:t> </a:t>
            </a:r>
            <a:r>
              <a:rPr dirty="0" sz="1000">
                <a:latin typeface="Cambria"/>
                <a:cs typeface="Cambria"/>
              </a:rPr>
              <a:t>,</a:t>
            </a:r>
            <a:r>
              <a:rPr dirty="0" sz="1000" spc="-25">
                <a:latin typeface="Cambria"/>
                <a:cs typeface="Cambria"/>
              </a:rPr>
              <a:t> </a:t>
            </a:r>
            <a:r>
              <a:rPr dirty="0" sz="1000">
                <a:latin typeface="Cambria"/>
                <a:cs typeface="Cambria"/>
              </a:rPr>
              <a:t>𝐾]</a:t>
            </a:r>
            <a:r>
              <a:rPr dirty="0" sz="1000" spc="90">
                <a:latin typeface="Cambria"/>
                <a:cs typeface="Cambria"/>
              </a:rPr>
              <a:t> </a:t>
            </a:r>
            <a:r>
              <a:rPr dirty="0" sz="1000">
                <a:latin typeface="Times New Roman"/>
                <a:cs typeface="Times New Roman"/>
              </a:rPr>
              <a:t>,</a:t>
            </a:r>
            <a:r>
              <a:rPr dirty="0" sz="1000" spc="75">
                <a:latin typeface="Times New Roman"/>
                <a:cs typeface="Times New Roman"/>
              </a:rPr>
              <a:t> </a:t>
            </a:r>
            <a:r>
              <a:rPr dirty="0" sz="1000">
                <a:latin typeface="Times New Roman"/>
                <a:cs typeface="Times New Roman"/>
              </a:rPr>
              <a:t>where</a:t>
            </a:r>
            <a:r>
              <a:rPr dirty="0" sz="1000" spc="65">
                <a:latin typeface="Times New Roman"/>
                <a:cs typeface="Times New Roman"/>
              </a:rPr>
              <a:t> </a:t>
            </a:r>
            <a:r>
              <a:rPr dirty="0" sz="1000">
                <a:latin typeface="Times New Roman"/>
                <a:cs typeface="Times New Roman"/>
              </a:rPr>
              <a:t>K</a:t>
            </a:r>
            <a:r>
              <a:rPr dirty="0" sz="1000" spc="60">
                <a:latin typeface="Times New Roman"/>
                <a:cs typeface="Times New Roman"/>
              </a:rPr>
              <a:t> </a:t>
            </a:r>
            <a:r>
              <a:rPr dirty="0" sz="1000">
                <a:latin typeface="Times New Roman"/>
                <a:cs typeface="Times New Roman"/>
              </a:rPr>
              <a:t>is</a:t>
            </a:r>
            <a:r>
              <a:rPr dirty="0" sz="1000" spc="65">
                <a:latin typeface="Times New Roman"/>
                <a:cs typeface="Times New Roman"/>
              </a:rPr>
              <a:t> </a:t>
            </a:r>
            <a:r>
              <a:rPr dirty="0" sz="1000">
                <a:latin typeface="Times New Roman"/>
                <a:cs typeface="Times New Roman"/>
              </a:rPr>
              <a:t>the</a:t>
            </a:r>
            <a:r>
              <a:rPr dirty="0" sz="1000" spc="60">
                <a:latin typeface="Times New Roman"/>
                <a:cs typeface="Times New Roman"/>
              </a:rPr>
              <a:t> </a:t>
            </a:r>
            <a:r>
              <a:rPr dirty="0" sz="1000">
                <a:latin typeface="Times New Roman"/>
                <a:cs typeface="Times New Roman"/>
              </a:rPr>
              <a:t>number</a:t>
            </a:r>
            <a:r>
              <a:rPr dirty="0" sz="1000" spc="60">
                <a:latin typeface="Times New Roman"/>
                <a:cs typeface="Times New Roman"/>
              </a:rPr>
              <a:t> </a:t>
            </a:r>
            <a:r>
              <a:rPr dirty="0" sz="1000">
                <a:latin typeface="Times New Roman"/>
                <a:cs typeface="Times New Roman"/>
              </a:rPr>
              <a:t>of</a:t>
            </a:r>
            <a:r>
              <a:rPr dirty="0" sz="1000" spc="65">
                <a:latin typeface="Times New Roman"/>
                <a:cs typeface="Times New Roman"/>
              </a:rPr>
              <a:t> </a:t>
            </a:r>
            <a:r>
              <a:rPr dirty="0" sz="1000">
                <a:latin typeface="Times New Roman"/>
                <a:cs typeface="Times New Roman"/>
              </a:rPr>
              <a:t>categories.</a:t>
            </a:r>
            <a:r>
              <a:rPr dirty="0" sz="1000" spc="235">
                <a:latin typeface="Times New Roman"/>
                <a:cs typeface="Times New Roman"/>
              </a:rPr>
              <a:t> </a:t>
            </a:r>
            <a:r>
              <a:rPr dirty="0" sz="1000">
                <a:latin typeface="Times New Roman"/>
                <a:cs typeface="Times New Roman"/>
              </a:rPr>
              <a:t>We</a:t>
            </a:r>
            <a:r>
              <a:rPr dirty="0" sz="1000" spc="60">
                <a:latin typeface="Times New Roman"/>
                <a:cs typeface="Times New Roman"/>
              </a:rPr>
              <a:t> </a:t>
            </a:r>
            <a:r>
              <a:rPr dirty="0" sz="1000">
                <a:latin typeface="Times New Roman"/>
                <a:cs typeface="Times New Roman"/>
              </a:rPr>
              <a:t>use</a:t>
            </a:r>
            <a:r>
              <a:rPr dirty="0" sz="1000" spc="60">
                <a:latin typeface="Times New Roman"/>
                <a:cs typeface="Times New Roman"/>
              </a:rPr>
              <a:t> </a:t>
            </a:r>
            <a:r>
              <a:rPr dirty="0" sz="1000">
                <a:latin typeface="Times New Roman"/>
                <a:cs typeface="Times New Roman"/>
              </a:rPr>
              <a:t>two</a:t>
            </a:r>
            <a:r>
              <a:rPr dirty="0" sz="1000" spc="65">
                <a:latin typeface="Times New Roman"/>
                <a:cs typeface="Times New Roman"/>
              </a:rPr>
              <a:t> </a:t>
            </a:r>
            <a:r>
              <a:rPr dirty="0" sz="1000" spc="-10">
                <a:latin typeface="Times New Roman"/>
                <a:cs typeface="Times New Roman"/>
              </a:rPr>
              <a:t>neural</a:t>
            </a:r>
            <a:endParaRPr sz="1000">
              <a:latin typeface="Times New Roman"/>
              <a:cs typeface="Times New Roman"/>
            </a:endParaRPr>
          </a:p>
          <a:p>
            <a:pPr algn="just" marL="189865">
              <a:lnSpc>
                <a:spcPct val="100000"/>
              </a:lnSpc>
              <a:spcBef>
                <a:spcPts val="355"/>
              </a:spcBef>
            </a:pPr>
            <a:r>
              <a:rPr dirty="0" baseline="-86111" sz="1500" spc="-637">
                <a:latin typeface="Cambria"/>
                <a:cs typeface="Cambria"/>
              </a:rPr>
              <a:t>𝑧</a:t>
            </a:r>
            <a:r>
              <a:rPr dirty="0" sz="1000" spc="70">
                <a:latin typeface="Times New Roman"/>
                <a:cs typeface="Times New Roman"/>
              </a:rPr>
              <a:t>net</a:t>
            </a:r>
            <a:r>
              <a:rPr dirty="0" sz="1000" spc="-1430">
                <a:latin typeface="Times New Roman"/>
                <a:cs typeface="Times New Roman"/>
              </a:rPr>
              <a:t>w</a:t>
            </a:r>
            <a:r>
              <a:rPr dirty="0" baseline="-138888" sz="1050" spc="104">
                <a:latin typeface="Cambria"/>
                <a:cs typeface="Cambria"/>
              </a:rPr>
              <a:t>𝑖</a:t>
            </a:r>
            <a:r>
              <a:rPr dirty="0" baseline="-138888" sz="1050" spc="540">
                <a:latin typeface="Cambria"/>
                <a:cs typeface="Cambria"/>
              </a:rPr>
              <a:t>   </a:t>
            </a:r>
            <a:r>
              <a:rPr dirty="0" sz="1000">
                <a:latin typeface="Times New Roman"/>
                <a:cs typeface="Times New Roman"/>
              </a:rPr>
              <a:t>ork</a:t>
            </a:r>
            <a:r>
              <a:rPr dirty="0" sz="1000" spc="-40">
                <a:latin typeface="Times New Roman"/>
                <a:cs typeface="Times New Roman"/>
              </a:rPr>
              <a:t> </a:t>
            </a:r>
            <a:r>
              <a:rPr dirty="0" sz="1000">
                <a:latin typeface="Times New Roman"/>
                <a:cs typeface="Times New Roman"/>
              </a:rPr>
              <a:t>encoders</a:t>
            </a:r>
            <a:r>
              <a:rPr dirty="0" sz="1000" spc="-35">
                <a:latin typeface="Times New Roman"/>
                <a:cs typeface="Times New Roman"/>
              </a:rPr>
              <a:t> </a:t>
            </a:r>
            <a:r>
              <a:rPr dirty="0" sz="1000" spc="-10">
                <a:latin typeface="Cambria"/>
                <a:cs typeface="Cambria"/>
              </a:rPr>
              <a:t>𝜑</a:t>
            </a:r>
            <a:r>
              <a:rPr dirty="0" baseline="-15873" sz="1050" spc="-15">
                <a:latin typeface="Cambria"/>
                <a:cs typeface="Cambria"/>
              </a:rPr>
              <a:t>1</a:t>
            </a:r>
            <a:r>
              <a:rPr dirty="0" baseline="-15873" sz="1050" spc="135">
                <a:latin typeface="Cambria"/>
                <a:cs typeface="Cambria"/>
              </a:rPr>
              <a:t> </a:t>
            </a:r>
            <a:r>
              <a:rPr dirty="0" sz="1000" spc="-10">
                <a:latin typeface="Cambria"/>
                <a:cs typeface="Cambria"/>
              </a:rPr>
              <a:t>(𝜃</a:t>
            </a:r>
            <a:r>
              <a:rPr dirty="0" baseline="-15873" sz="1050" spc="-15">
                <a:latin typeface="Cambria"/>
                <a:cs typeface="Cambria"/>
              </a:rPr>
              <a:t>1</a:t>
            </a:r>
            <a:r>
              <a:rPr dirty="0" sz="1000" spc="-10">
                <a:latin typeface="Cambria"/>
                <a:cs typeface="Cambria"/>
              </a:rPr>
              <a:t>,</a:t>
            </a:r>
            <a:r>
              <a:rPr dirty="0" sz="1000" spc="-30">
                <a:latin typeface="Cambria"/>
                <a:cs typeface="Cambria"/>
              </a:rPr>
              <a:t> </a:t>
            </a:r>
            <a:r>
              <a:rPr dirty="0" sz="1000" spc="-20">
                <a:latin typeface="Cambria"/>
                <a:cs typeface="Cambria"/>
              </a:rPr>
              <a:t>⋅)</a:t>
            </a:r>
            <a:r>
              <a:rPr dirty="0" sz="1000" spc="-5">
                <a:latin typeface="Cambria"/>
                <a:cs typeface="Cambria"/>
              </a:rPr>
              <a:t> </a:t>
            </a:r>
            <a:r>
              <a:rPr dirty="0" sz="1000">
                <a:latin typeface="Times New Roman"/>
                <a:cs typeface="Times New Roman"/>
              </a:rPr>
              <a:t>and</a:t>
            </a:r>
            <a:r>
              <a:rPr dirty="0" sz="1000" spc="-35">
                <a:latin typeface="Times New Roman"/>
                <a:cs typeface="Times New Roman"/>
              </a:rPr>
              <a:t> </a:t>
            </a:r>
            <a:r>
              <a:rPr dirty="0" sz="1000" spc="-10">
                <a:latin typeface="Cambria"/>
                <a:cs typeface="Cambria"/>
              </a:rPr>
              <a:t>𝜑</a:t>
            </a:r>
            <a:r>
              <a:rPr dirty="0" baseline="-15873" sz="1050" spc="-15">
                <a:latin typeface="Cambria"/>
                <a:cs typeface="Cambria"/>
              </a:rPr>
              <a:t>2</a:t>
            </a:r>
            <a:r>
              <a:rPr dirty="0" baseline="-15873" sz="1050" spc="135">
                <a:latin typeface="Cambria"/>
                <a:cs typeface="Cambria"/>
              </a:rPr>
              <a:t> </a:t>
            </a:r>
            <a:r>
              <a:rPr dirty="0" sz="1000" spc="-10">
                <a:latin typeface="Cambria"/>
                <a:cs typeface="Cambria"/>
              </a:rPr>
              <a:t>(𝜃</a:t>
            </a:r>
            <a:r>
              <a:rPr dirty="0" baseline="-15873" sz="1050" spc="-15">
                <a:latin typeface="Cambria"/>
                <a:cs typeface="Cambria"/>
              </a:rPr>
              <a:t>2</a:t>
            </a:r>
            <a:r>
              <a:rPr dirty="0" sz="1000" spc="-10">
                <a:latin typeface="Cambria"/>
                <a:cs typeface="Cambria"/>
              </a:rPr>
              <a:t>,</a:t>
            </a:r>
            <a:r>
              <a:rPr dirty="0" sz="1000" spc="-30">
                <a:latin typeface="Cambria"/>
                <a:cs typeface="Cambria"/>
              </a:rPr>
              <a:t> </a:t>
            </a:r>
            <a:r>
              <a:rPr dirty="0" sz="1000" spc="-20">
                <a:latin typeface="Cambria"/>
                <a:cs typeface="Cambria"/>
              </a:rPr>
              <a:t>⋅)</a:t>
            </a:r>
            <a:r>
              <a:rPr dirty="0" sz="1000" spc="-5">
                <a:latin typeface="Cambria"/>
                <a:cs typeface="Cambria"/>
              </a:rPr>
              <a:t> </a:t>
            </a:r>
            <a:r>
              <a:rPr dirty="0" sz="1000">
                <a:latin typeface="Times New Roman"/>
                <a:cs typeface="Times New Roman"/>
              </a:rPr>
              <a:t>to</a:t>
            </a:r>
            <a:r>
              <a:rPr dirty="0" sz="1000" spc="-45">
                <a:latin typeface="Times New Roman"/>
                <a:cs typeface="Times New Roman"/>
              </a:rPr>
              <a:t> </a:t>
            </a:r>
            <a:r>
              <a:rPr dirty="0" sz="1000">
                <a:latin typeface="Times New Roman"/>
                <a:cs typeface="Times New Roman"/>
              </a:rPr>
              <a:t>map</a:t>
            </a:r>
            <a:r>
              <a:rPr dirty="0" sz="1000" spc="-35">
                <a:latin typeface="Times New Roman"/>
                <a:cs typeface="Times New Roman"/>
              </a:rPr>
              <a:t> </a:t>
            </a:r>
            <a:r>
              <a:rPr dirty="0" sz="1000">
                <a:latin typeface="Times New Roman"/>
                <a:cs typeface="Times New Roman"/>
              </a:rPr>
              <a:t>each</a:t>
            </a:r>
            <a:r>
              <a:rPr dirty="0" sz="1000" spc="-40">
                <a:latin typeface="Times New Roman"/>
                <a:cs typeface="Times New Roman"/>
              </a:rPr>
              <a:t> </a:t>
            </a:r>
            <a:r>
              <a:rPr dirty="0" sz="1000">
                <a:latin typeface="Times New Roman"/>
                <a:cs typeface="Times New Roman"/>
              </a:rPr>
              <a:t>modality</a:t>
            </a:r>
            <a:r>
              <a:rPr dirty="0" sz="1000" spc="-35">
                <a:latin typeface="Times New Roman"/>
                <a:cs typeface="Times New Roman"/>
              </a:rPr>
              <a:t> </a:t>
            </a:r>
            <a:r>
              <a:rPr dirty="0" sz="1000" spc="-20">
                <a:latin typeface="Times New Roman"/>
                <a:cs typeface="Times New Roman"/>
              </a:rPr>
              <a:t>of</a:t>
            </a:r>
            <a:r>
              <a:rPr dirty="0" sz="1000" spc="-4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inputs</a:t>
            </a:r>
            <a:r>
              <a:rPr dirty="0" sz="1000" spc="-35">
                <a:latin typeface="Times New Roman"/>
                <a:cs typeface="Times New Roman"/>
              </a:rPr>
              <a:t> </a:t>
            </a:r>
            <a:r>
              <a:rPr dirty="0" sz="1000">
                <a:latin typeface="Times New Roman"/>
                <a:cs typeface="Times New Roman"/>
              </a:rPr>
              <a:t>to</a:t>
            </a:r>
            <a:r>
              <a:rPr dirty="0" sz="1000" spc="-40">
                <a:latin typeface="Times New Roman"/>
                <a:cs typeface="Times New Roman"/>
              </a:rPr>
              <a:t> </a:t>
            </a:r>
            <a:r>
              <a:rPr dirty="0" sz="1000">
                <a:latin typeface="Cambria"/>
                <a:cs typeface="Cambria"/>
              </a:rPr>
              <a:t>𝑧</a:t>
            </a:r>
            <a:r>
              <a:rPr dirty="0" baseline="-15873" sz="1050">
                <a:latin typeface="Cambria"/>
                <a:cs typeface="Cambria"/>
              </a:rPr>
              <a:t>𝑖</a:t>
            </a:r>
            <a:r>
              <a:rPr dirty="0" baseline="27777" sz="1050">
                <a:latin typeface="Cambria"/>
                <a:cs typeface="Cambria"/>
              </a:rPr>
              <a:t>𝑚</a:t>
            </a:r>
            <a:r>
              <a:rPr dirty="0" baseline="20202" sz="825">
                <a:latin typeface="Cambria"/>
                <a:cs typeface="Cambria"/>
              </a:rPr>
              <a:t>1</a:t>
            </a:r>
            <a:r>
              <a:rPr dirty="0" baseline="20202" sz="825" spc="480">
                <a:latin typeface="Cambria"/>
                <a:cs typeface="Cambria"/>
              </a:rPr>
              <a:t> </a:t>
            </a:r>
            <a:r>
              <a:rPr dirty="0" sz="1000" spc="165">
                <a:latin typeface="Cambria"/>
                <a:cs typeface="Cambria"/>
              </a:rPr>
              <a:t>=</a:t>
            </a:r>
            <a:r>
              <a:rPr dirty="0" sz="1000" spc="425">
                <a:latin typeface="Cambria"/>
                <a:cs typeface="Cambria"/>
              </a:rPr>
              <a:t> </a:t>
            </a:r>
            <a:r>
              <a:rPr dirty="0" sz="1000" spc="-10">
                <a:latin typeface="Cambria"/>
                <a:cs typeface="Cambria"/>
              </a:rPr>
              <a:t>𝜑</a:t>
            </a:r>
            <a:r>
              <a:rPr dirty="0" baseline="-15873" sz="1050" spc="-15">
                <a:latin typeface="Cambria"/>
                <a:cs typeface="Cambria"/>
              </a:rPr>
              <a:t>1</a:t>
            </a:r>
            <a:r>
              <a:rPr dirty="0" baseline="-15873" sz="1050" spc="135">
                <a:latin typeface="Cambria"/>
                <a:cs typeface="Cambria"/>
              </a:rPr>
              <a:t> </a:t>
            </a:r>
            <a:r>
              <a:rPr dirty="0" sz="1000" spc="-10">
                <a:latin typeface="Cambria"/>
                <a:cs typeface="Cambria"/>
              </a:rPr>
              <a:t>(𝜃</a:t>
            </a:r>
            <a:r>
              <a:rPr dirty="0" baseline="-15873" sz="1050" spc="-15">
                <a:latin typeface="Cambria"/>
                <a:cs typeface="Cambria"/>
              </a:rPr>
              <a:t>1</a:t>
            </a:r>
            <a:r>
              <a:rPr dirty="0" sz="1000" spc="-10">
                <a:latin typeface="Cambria"/>
                <a:cs typeface="Cambria"/>
              </a:rPr>
              <a:t>,</a:t>
            </a:r>
            <a:r>
              <a:rPr dirty="0" sz="1000" spc="-30">
                <a:latin typeface="Cambria"/>
                <a:cs typeface="Cambria"/>
              </a:rPr>
              <a:t> </a:t>
            </a:r>
            <a:r>
              <a:rPr dirty="0" sz="1000" spc="-35">
                <a:latin typeface="Cambria"/>
                <a:cs typeface="Cambria"/>
              </a:rPr>
              <a:t>𝑥</a:t>
            </a:r>
            <a:r>
              <a:rPr dirty="0" baseline="-19841" sz="1050" spc="-52">
                <a:latin typeface="Cambria"/>
                <a:cs typeface="Cambria"/>
              </a:rPr>
              <a:t>𝑖</a:t>
            </a:r>
            <a:r>
              <a:rPr dirty="0" baseline="43650" sz="1050" spc="-52">
                <a:latin typeface="Cambria"/>
                <a:cs typeface="Cambria"/>
              </a:rPr>
              <a:t>𝑚</a:t>
            </a:r>
            <a:r>
              <a:rPr dirty="0" baseline="40404" sz="825" spc="-52">
                <a:latin typeface="Cambria"/>
                <a:cs typeface="Cambria"/>
              </a:rPr>
              <a:t>1</a:t>
            </a:r>
            <a:r>
              <a:rPr dirty="0" baseline="40404" sz="825" spc="-15">
                <a:latin typeface="Cambria"/>
                <a:cs typeface="Cambria"/>
              </a:rPr>
              <a:t> </a:t>
            </a:r>
            <a:r>
              <a:rPr dirty="0" sz="1000">
                <a:latin typeface="Cambria"/>
                <a:cs typeface="Cambria"/>
              </a:rPr>
              <a:t>)</a:t>
            </a:r>
            <a:r>
              <a:rPr dirty="0" sz="1000" spc="100">
                <a:latin typeface="Cambria"/>
                <a:cs typeface="Cambria"/>
              </a:rPr>
              <a:t> </a:t>
            </a:r>
            <a:r>
              <a:rPr dirty="0" sz="1000" spc="85">
                <a:latin typeface="Cambria"/>
                <a:cs typeface="Cambria"/>
              </a:rPr>
              <a:t>∈</a:t>
            </a:r>
            <a:r>
              <a:rPr dirty="0" sz="1000" spc="95">
                <a:latin typeface="Cambria"/>
                <a:cs typeface="Cambria"/>
              </a:rPr>
              <a:t> </a:t>
            </a:r>
            <a:r>
              <a:rPr dirty="0" sz="1000">
                <a:latin typeface="Cambria"/>
                <a:cs typeface="Cambria"/>
              </a:rPr>
              <a:t>ℝ</a:t>
            </a:r>
            <a:r>
              <a:rPr dirty="0" baseline="27777" sz="1050">
                <a:latin typeface="Cambria"/>
                <a:cs typeface="Cambria"/>
              </a:rPr>
              <a:t>𝑑</a:t>
            </a:r>
            <a:r>
              <a:rPr dirty="0" baseline="20202" sz="825">
                <a:latin typeface="Cambria"/>
                <a:cs typeface="Cambria"/>
              </a:rPr>
              <a:t>1</a:t>
            </a:r>
            <a:r>
              <a:rPr dirty="0" baseline="20202" sz="825" spc="315">
                <a:latin typeface="Cambria"/>
                <a:cs typeface="Cambria"/>
              </a:rPr>
              <a:t> </a:t>
            </a:r>
            <a:r>
              <a:rPr dirty="0" sz="1000" spc="-25">
                <a:latin typeface="Times New Roman"/>
                <a:cs typeface="Times New Roman"/>
              </a:rPr>
              <a:t>and</a:t>
            </a:r>
            <a:endParaRPr sz="1000">
              <a:latin typeface="Times New Roman"/>
              <a:cs typeface="Times New Roman"/>
            </a:endParaRPr>
          </a:p>
          <a:p>
            <a:pPr algn="just" marL="189865" marR="194945" indent="99060">
              <a:lnSpc>
                <a:spcPct val="129000"/>
              </a:lnSpc>
              <a:spcBef>
                <a:spcPts val="5"/>
              </a:spcBef>
            </a:pPr>
            <a:r>
              <a:rPr dirty="0" baseline="27777" sz="1050">
                <a:latin typeface="Cambria"/>
                <a:cs typeface="Cambria"/>
              </a:rPr>
              <a:t>𝑚</a:t>
            </a:r>
            <a:r>
              <a:rPr dirty="0" baseline="20202" sz="825">
                <a:latin typeface="Cambria"/>
                <a:cs typeface="Cambria"/>
              </a:rPr>
              <a:t>2</a:t>
            </a:r>
            <a:r>
              <a:rPr dirty="0" baseline="20202" sz="825" spc="555">
                <a:latin typeface="Cambria"/>
                <a:cs typeface="Cambria"/>
              </a:rPr>
              <a:t> </a:t>
            </a:r>
            <a:r>
              <a:rPr dirty="0" sz="1000" spc="165">
                <a:latin typeface="Cambria"/>
                <a:cs typeface="Cambria"/>
              </a:rPr>
              <a:t>=</a:t>
            </a:r>
            <a:r>
              <a:rPr dirty="0" sz="1000" spc="180">
                <a:latin typeface="Cambria"/>
                <a:cs typeface="Cambria"/>
              </a:rPr>
              <a:t> </a:t>
            </a:r>
            <a:r>
              <a:rPr dirty="0" sz="1000">
                <a:latin typeface="Cambria"/>
                <a:cs typeface="Cambria"/>
              </a:rPr>
              <a:t>𝜑</a:t>
            </a:r>
            <a:r>
              <a:rPr dirty="0" baseline="-15873" sz="1050">
                <a:latin typeface="Cambria"/>
                <a:cs typeface="Cambria"/>
              </a:rPr>
              <a:t>2</a:t>
            </a:r>
            <a:r>
              <a:rPr dirty="0" baseline="-15873" sz="1050" spc="120">
                <a:latin typeface="Cambria"/>
                <a:cs typeface="Cambria"/>
              </a:rPr>
              <a:t> </a:t>
            </a:r>
            <a:r>
              <a:rPr dirty="0" sz="1000">
                <a:latin typeface="Cambria"/>
                <a:cs typeface="Cambria"/>
              </a:rPr>
              <a:t>(𝜃</a:t>
            </a:r>
            <a:r>
              <a:rPr dirty="0" baseline="-15873" sz="1050">
                <a:latin typeface="Cambria"/>
                <a:cs typeface="Cambria"/>
              </a:rPr>
              <a:t>2</a:t>
            </a:r>
            <a:r>
              <a:rPr dirty="0" sz="1000">
                <a:latin typeface="Cambria"/>
                <a:cs typeface="Cambria"/>
              </a:rPr>
              <a:t>,</a:t>
            </a:r>
            <a:r>
              <a:rPr dirty="0" sz="1000" spc="-40">
                <a:latin typeface="Cambria"/>
                <a:cs typeface="Cambria"/>
              </a:rPr>
              <a:t> </a:t>
            </a:r>
            <a:r>
              <a:rPr dirty="0" sz="1000" spc="-45">
                <a:latin typeface="Cambria"/>
                <a:cs typeface="Cambria"/>
              </a:rPr>
              <a:t>𝑥</a:t>
            </a:r>
            <a:r>
              <a:rPr dirty="0" baseline="-19841" sz="1050" spc="-67">
                <a:latin typeface="Cambria"/>
                <a:cs typeface="Cambria"/>
              </a:rPr>
              <a:t>𝑖</a:t>
            </a:r>
            <a:r>
              <a:rPr dirty="0" baseline="43650" sz="1050" spc="-67">
                <a:latin typeface="Cambria"/>
                <a:cs typeface="Cambria"/>
              </a:rPr>
              <a:t>𝑚</a:t>
            </a:r>
            <a:r>
              <a:rPr dirty="0" baseline="40404" sz="825" spc="-67">
                <a:latin typeface="Cambria"/>
                <a:cs typeface="Cambria"/>
              </a:rPr>
              <a:t>2</a:t>
            </a:r>
            <a:r>
              <a:rPr dirty="0" baseline="40404" sz="825" spc="22">
                <a:latin typeface="Cambria"/>
                <a:cs typeface="Cambria"/>
              </a:rPr>
              <a:t> </a:t>
            </a:r>
            <a:r>
              <a:rPr dirty="0" sz="1000">
                <a:latin typeface="Cambria"/>
                <a:cs typeface="Cambria"/>
              </a:rPr>
              <a:t>)</a:t>
            </a:r>
            <a:r>
              <a:rPr dirty="0" sz="1000" spc="180">
                <a:latin typeface="Cambria"/>
                <a:cs typeface="Cambria"/>
              </a:rPr>
              <a:t> </a:t>
            </a:r>
            <a:r>
              <a:rPr dirty="0" sz="1000" spc="85">
                <a:latin typeface="Cambria"/>
                <a:cs typeface="Cambria"/>
              </a:rPr>
              <a:t>∈</a:t>
            </a:r>
            <a:r>
              <a:rPr dirty="0" sz="1000" spc="185">
                <a:latin typeface="Cambria"/>
                <a:cs typeface="Cambria"/>
              </a:rPr>
              <a:t> </a:t>
            </a:r>
            <a:r>
              <a:rPr dirty="0" sz="1000">
                <a:latin typeface="Cambria"/>
                <a:cs typeface="Cambria"/>
              </a:rPr>
              <a:t>ℝ</a:t>
            </a:r>
            <a:r>
              <a:rPr dirty="0" baseline="27777" sz="1050">
                <a:latin typeface="Cambria"/>
                <a:cs typeface="Cambria"/>
              </a:rPr>
              <a:t>𝑑</a:t>
            </a:r>
            <a:r>
              <a:rPr dirty="0" baseline="20202" sz="825">
                <a:latin typeface="Cambria"/>
                <a:cs typeface="Cambria"/>
              </a:rPr>
              <a:t>2</a:t>
            </a:r>
            <a:r>
              <a:rPr dirty="0" baseline="20202" sz="825" spc="434">
                <a:latin typeface="Cambria"/>
                <a:cs typeface="Cambria"/>
              </a:rPr>
              <a:t> </a:t>
            </a:r>
            <a:r>
              <a:rPr dirty="0" sz="1000">
                <a:latin typeface="Times New Roman"/>
                <a:cs typeface="Times New Roman"/>
              </a:rPr>
              <a:t>.</a:t>
            </a:r>
            <a:r>
              <a:rPr dirty="0" sz="1000" spc="215">
                <a:latin typeface="Times New Roman"/>
                <a:cs typeface="Times New Roman"/>
              </a:rPr>
              <a:t> </a:t>
            </a:r>
            <a:r>
              <a:rPr dirty="0" sz="1000">
                <a:latin typeface="Times New Roman"/>
                <a:cs typeface="Times New Roman"/>
              </a:rPr>
              <a:t>Here</a:t>
            </a:r>
            <a:r>
              <a:rPr dirty="0" sz="1000" spc="45">
                <a:latin typeface="Times New Roman"/>
                <a:cs typeface="Times New Roman"/>
              </a:rPr>
              <a:t> </a:t>
            </a:r>
            <a:r>
              <a:rPr dirty="0" sz="1000">
                <a:latin typeface="Cambria"/>
                <a:cs typeface="Cambria"/>
              </a:rPr>
              <a:t>𝜃</a:t>
            </a:r>
            <a:r>
              <a:rPr dirty="0" baseline="-15873" sz="1050">
                <a:latin typeface="Cambria"/>
                <a:cs typeface="Cambria"/>
              </a:rPr>
              <a:t>1</a:t>
            </a:r>
            <a:r>
              <a:rPr dirty="0" sz="1000">
                <a:latin typeface="Cambria"/>
                <a:cs typeface="Cambria"/>
              </a:rPr>
              <a:t>,</a:t>
            </a:r>
            <a:r>
              <a:rPr dirty="0" sz="1000" spc="-40">
                <a:latin typeface="Cambria"/>
                <a:cs typeface="Cambria"/>
              </a:rPr>
              <a:t> </a:t>
            </a:r>
            <a:r>
              <a:rPr dirty="0" sz="1000">
                <a:latin typeface="Cambria"/>
                <a:cs typeface="Cambria"/>
              </a:rPr>
              <a:t>𝜃</a:t>
            </a:r>
            <a:r>
              <a:rPr dirty="0" baseline="-15873" sz="1050">
                <a:latin typeface="Cambria"/>
                <a:cs typeface="Cambria"/>
              </a:rPr>
              <a:t>2</a:t>
            </a:r>
            <a:r>
              <a:rPr dirty="0" baseline="-15873" sz="1050" spc="284">
                <a:latin typeface="Cambria"/>
                <a:cs typeface="Cambria"/>
              </a:rPr>
              <a:t> </a:t>
            </a:r>
            <a:r>
              <a:rPr dirty="0" sz="1000">
                <a:latin typeface="Times New Roman"/>
                <a:cs typeface="Times New Roman"/>
              </a:rPr>
              <a:t>are</a:t>
            </a:r>
            <a:r>
              <a:rPr dirty="0" sz="1000" spc="45">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a:latin typeface="Times New Roman"/>
                <a:cs typeface="Times New Roman"/>
              </a:rPr>
              <a:t>parameters</a:t>
            </a:r>
            <a:r>
              <a:rPr dirty="0" sz="1000" spc="40">
                <a:latin typeface="Times New Roman"/>
                <a:cs typeface="Times New Roman"/>
              </a:rPr>
              <a:t> </a:t>
            </a:r>
            <a:r>
              <a:rPr dirty="0" sz="1000">
                <a:latin typeface="Times New Roman"/>
                <a:cs typeface="Times New Roman"/>
              </a:rPr>
              <a:t>of</a:t>
            </a:r>
            <a:r>
              <a:rPr dirty="0" sz="1000" spc="45">
                <a:latin typeface="Times New Roman"/>
                <a:cs typeface="Times New Roman"/>
              </a:rPr>
              <a:t> </a:t>
            </a:r>
            <a:r>
              <a:rPr dirty="0" sz="1000">
                <a:latin typeface="Cambria"/>
                <a:cs typeface="Cambria"/>
              </a:rPr>
              <a:t>𝜑</a:t>
            </a:r>
            <a:r>
              <a:rPr dirty="0" baseline="-15873" sz="1050">
                <a:latin typeface="Cambria"/>
                <a:cs typeface="Cambria"/>
              </a:rPr>
              <a:t>1</a:t>
            </a:r>
            <a:r>
              <a:rPr dirty="0" baseline="-15873" sz="1050" spc="284">
                <a:latin typeface="Cambria"/>
                <a:cs typeface="Cambria"/>
              </a:rPr>
              <a:t> </a:t>
            </a:r>
            <a:r>
              <a:rPr dirty="0" sz="1000">
                <a:latin typeface="Times New Roman"/>
                <a:cs typeface="Times New Roman"/>
              </a:rPr>
              <a:t>and</a:t>
            </a:r>
            <a:r>
              <a:rPr dirty="0" sz="1000" spc="45">
                <a:latin typeface="Times New Roman"/>
                <a:cs typeface="Times New Roman"/>
              </a:rPr>
              <a:t> </a:t>
            </a:r>
            <a:r>
              <a:rPr dirty="0" sz="1000">
                <a:latin typeface="Cambria"/>
                <a:cs typeface="Cambria"/>
              </a:rPr>
              <a:t>𝜑</a:t>
            </a:r>
            <a:r>
              <a:rPr dirty="0" baseline="-15873" sz="1050">
                <a:latin typeface="Cambria"/>
                <a:cs typeface="Cambria"/>
              </a:rPr>
              <a:t>2</a:t>
            </a:r>
            <a:r>
              <a:rPr dirty="0" baseline="-15873" sz="1050" spc="292">
                <a:latin typeface="Cambria"/>
                <a:cs typeface="Cambria"/>
              </a:rPr>
              <a:t> </a:t>
            </a:r>
            <a:r>
              <a:rPr dirty="0" sz="1000">
                <a:latin typeface="Times New Roman"/>
                <a:cs typeface="Times New Roman"/>
              </a:rPr>
              <a:t>respectively.</a:t>
            </a:r>
            <a:r>
              <a:rPr dirty="0" sz="1000" spc="215">
                <a:latin typeface="Times New Roman"/>
                <a:cs typeface="Times New Roman"/>
              </a:rPr>
              <a:t> </a:t>
            </a:r>
            <a:r>
              <a:rPr dirty="0" sz="1000">
                <a:latin typeface="Times New Roman"/>
                <a:cs typeface="Times New Roman"/>
              </a:rPr>
              <a:t>let</a:t>
            </a:r>
            <a:r>
              <a:rPr dirty="0" sz="1000" spc="45">
                <a:latin typeface="Times New Roman"/>
                <a:cs typeface="Times New Roman"/>
              </a:rPr>
              <a:t> </a:t>
            </a:r>
            <a:r>
              <a:rPr dirty="0" sz="1000">
                <a:latin typeface="Cambria"/>
                <a:cs typeface="Cambria"/>
              </a:rPr>
              <a:t>𝜑</a:t>
            </a:r>
            <a:r>
              <a:rPr dirty="0" baseline="-15873" sz="1050">
                <a:latin typeface="Cambria"/>
                <a:cs typeface="Cambria"/>
              </a:rPr>
              <a:t>𝜏</a:t>
            </a:r>
            <a:r>
              <a:rPr dirty="0" baseline="-15873" sz="1050" spc="120">
                <a:latin typeface="Cambria"/>
                <a:cs typeface="Cambria"/>
              </a:rPr>
              <a:t> </a:t>
            </a:r>
            <a:r>
              <a:rPr dirty="0" sz="1000" spc="-10">
                <a:latin typeface="Cambria"/>
                <a:cs typeface="Cambria"/>
              </a:rPr>
              <a:t>(𝜃</a:t>
            </a:r>
            <a:r>
              <a:rPr dirty="0" baseline="-15873" sz="1050" spc="-15">
                <a:latin typeface="Cambria"/>
                <a:cs typeface="Cambria"/>
              </a:rPr>
              <a:t>𝜏</a:t>
            </a:r>
            <a:r>
              <a:rPr dirty="0" sz="1000" spc="-10">
                <a:latin typeface="Cambria"/>
                <a:cs typeface="Cambria"/>
              </a:rPr>
              <a:t>,</a:t>
            </a:r>
            <a:r>
              <a:rPr dirty="0" sz="1000" spc="-40">
                <a:latin typeface="Cambria"/>
                <a:cs typeface="Cambria"/>
              </a:rPr>
              <a:t> </a:t>
            </a:r>
            <a:r>
              <a:rPr dirty="0" sz="1000">
                <a:latin typeface="Cambria"/>
                <a:cs typeface="Cambria"/>
              </a:rPr>
              <a:t>⋅,</a:t>
            </a:r>
            <a:r>
              <a:rPr dirty="0" sz="1000" spc="-45">
                <a:latin typeface="Cambria"/>
                <a:cs typeface="Cambria"/>
              </a:rPr>
              <a:t> </a:t>
            </a:r>
            <a:r>
              <a:rPr dirty="0" sz="1000">
                <a:latin typeface="Cambria"/>
                <a:cs typeface="Cambria"/>
              </a:rPr>
              <a:t>⋅,)</a:t>
            </a:r>
            <a:r>
              <a:rPr dirty="0" sz="1000" spc="75">
                <a:latin typeface="Cambria"/>
                <a:cs typeface="Cambria"/>
              </a:rPr>
              <a:t> </a:t>
            </a:r>
            <a:r>
              <a:rPr dirty="0" sz="1000" spc="-10">
                <a:latin typeface="Times New Roman"/>
                <a:cs typeface="Times New Roman"/>
              </a:rPr>
              <a:t>denote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fusion</a:t>
            </a:r>
            <a:r>
              <a:rPr dirty="0" sz="1000" spc="85">
                <a:latin typeface="Times New Roman"/>
                <a:cs typeface="Times New Roman"/>
              </a:rPr>
              <a:t> </a:t>
            </a:r>
            <a:r>
              <a:rPr dirty="0" sz="1000">
                <a:latin typeface="Times New Roman"/>
                <a:cs typeface="Times New Roman"/>
              </a:rPr>
              <a:t>module,</a:t>
            </a:r>
            <a:r>
              <a:rPr dirty="0" sz="1000" spc="80">
                <a:latin typeface="Times New Roman"/>
                <a:cs typeface="Times New Roman"/>
              </a:rPr>
              <a:t> </a:t>
            </a:r>
            <a:r>
              <a:rPr dirty="0" sz="1000">
                <a:latin typeface="Cambria"/>
                <a:cs typeface="Cambria"/>
              </a:rPr>
              <a:t>𝑊</a:t>
            </a:r>
            <a:r>
              <a:rPr dirty="0" sz="1000" spc="335">
                <a:latin typeface="Cambria"/>
                <a:cs typeface="Cambria"/>
              </a:rPr>
              <a:t> </a:t>
            </a:r>
            <a:r>
              <a:rPr dirty="0" sz="1000" spc="85">
                <a:latin typeface="Cambria"/>
                <a:cs typeface="Cambria"/>
              </a:rPr>
              <a:t>∈</a:t>
            </a:r>
            <a:r>
              <a:rPr dirty="0" sz="1000" spc="180">
                <a:latin typeface="Cambria"/>
                <a:cs typeface="Cambria"/>
              </a:rPr>
              <a:t> </a:t>
            </a:r>
            <a:r>
              <a:rPr dirty="0" sz="1000">
                <a:latin typeface="Cambria"/>
                <a:cs typeface="Cambria"/>
              </a:rPr>
              <a:t>ℝ</a:t>
            </a:r>
            <a:r>
              <a:rPr dirty="0" baseline="27777" sz="1050">
                <a:latin typeface="Cambria"/>
                <a:cs typeface="Cambria"/>
              </a:rPr>
              <a:t>𝐾×(𝑑</a:t>
            </a:r>
            <a:r>
              <a:rPr dirty="0" baseline="20202" sz="825">
                <a:latin typeface="Cambria"/>
                <a:cs typeface="Cambria"/>
              </a:rPr>
              <a:t>1</a:t>
            </a:r>
            <a:r>
              <a:rPr dirty="0" baseline="27777" sz="1050">
                <a:latin typeface="Cambria"/>
                <a:cs typeface="Cambria"/>
              </a:rPr>
              <a:t>+𝑑</a:t>
            </a:r>
            <a:r>
              <a:rPr dirty="0" baseline="20202" sz="825">
                <a:latin typeface="Cambria"/>
                <a:cs typeface="Cambria"/>
              </a:rPr>
              <a:t>2</a:t>
            </a:r>
            <a:r>
              <a:rPr dirty="0" baseline="27777" sz="1050">
                <a:latin typeface="Cambria"/>
                <a:cs typeface="Cambria"/>
              </a:rPr>
              <a:t>)</a:t>
            </a:r>
            <a:r>
              <a:rPr dirty="0" baseline="27777" sz="1050" spc="367">
                <a:latin typeface="Cambria"/>
                <a:cs typeface="Cambria"/>
              </a:rPr>
              <a:t> </a:t>
            </a:r>
            <a:r>
              <a:rPr dirty="0" sz="1000">
                <a:latin typeface="Times New Roman"/>
                <a:cs typeface="Times New Roman"/>
              </a:rPr>
              <a:t>and</a:t>
            </a:r>
            <a:r>
              <a:rPr dirty="0" sz="1000" spc="85">
                <a:latin typeface="Times New Roman"/>
                <a:cs typeface="Times New Roman"/>
              </a:rPr>
              <a:t> </a:t>
            </a:r>
            <a:r>
              <a:rPr dirty="0" sz="1000">
                <a:latin typeface="Cambria"/>
                <a:cs typeface="Cambria"/>
              </a:rPr>
              <a:t>𝑏</a:t>
            </a:r>
            <a:r>
              <a:rPr dirty="0" sz="1000" spc="185">
                <a:latin typeface="Cambria"/>
                <a:cs typeface="Cambria"/>
              </a:rPr>
              <a:t> </a:t>
            </a:r>
            <a:r>
              <a:rPr dirty="0" sz="1000" spc="85">
                <a:latin typeface="Cambria"/>
                <a:cs typeface="Cambria"/>
              </a:rPr>
              <a:t>∈</a:t>
            </a:r>
            <a:r>
              <a:rPr dirty="0" sz="1000" spc="180">
                <a:latin typeface="Cambria"/>
                <a:cs typeface="Cambria"/>
              </a:rPr>
              <a:t> </a:t>
            </a:r>
            <a:r>
              <a:rPr dirty="0" sz="1000">
                <a:latin typeface="Cambria"/>
                <a:cs typeface="Cambria"/>
              </a:rPr>
              <a:t>ℝ</a:t>
            </a:r>
            <a:r>
              <a:rPr dirty="0" baseline="27777" sz="1050">
                <a:latin typeface="Cambria"/>
                <a:cs typeface="Cambria"/>
              </a:rPr>
              <a:t>𝐾</a:t>
            </a:r>
            <a:r>
              <a:rPr dirty="0" baseline="27777" sz="1050" spc="472">
                <a:latin typeface="Cambria"/>
                <a:cs typeface="Cambria"/>
              </a:rPr>
              <a:t> </a:t>
            </a:r>
            <a:r>
              <a:rPr dirty="0" sz="1000">
                <a:latin typeface="Times New Roman"/>
                <a:cs typeface="Times New Roman"/>
              </a:rPr>
              <a:t>denote</a:t>
            </a:r>
            <a:r>
              <a:rPr dirty="0" sz="1000" spc="85">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parameters</a:t>
            </a:r>
            <a:r>
              <a:rPr dirty="0" sz="1000" spc="80">
                <a:latin typeface="Times New Roman"/>
                <a:cs typeface="Times New Roman"/>
              </a:rPr>
              <a:t> </a:t>
            </a:r>
            <a:r>
              <a:rPr dirty="0" sz="1000">
                <a:latin typeface="Times New Roman"/>
                <a:cs typeface="Times New Roman"/>
              </a:rPr>
              <a:t>of</a:t>
            </a:r>
            <a:r>
              <a:rPr dirty="0" sz="1000" spc="8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linear</a:t>
            </a:r>
            <a:r>
              <a:rPr dirty="0" sz="1000" spc="85">
                <a:latin typeface="Times New Roman"/>
                <a:cs typeface="Times New Roman"/>
              </a:rPr>
              <a:t> </a:t>
            </a:r>
            <a:r>
              <a:rPr dirty="0" sz="1000">
                <a:latin typeface="Times New Roman"/>
                <a:cs typeface="Times New Roman"/>
              </a:rPr>
              <a:t>classifier</a:t>
            </a:r>
            <a:r>
              <a:rPr dirty="0" sz="1000" spc="80">
                <a:latin typeface="Times New Roman"/>
                <a:cs typeface="Times New Roman"/>
              </a:rPr>
              <a:t> </a:t>
            </a:r>
            <a:r>
              <a:rPr dirty="0" sz="1000">
                <a:latin typeface="Times New Roman"/>
                <a:cs typeface="Times New Roman"/>
              </a:rPr>
              <a:t>to</a:t>
            </a:r>
            <a:r>
              <a:rPr dirty="0" sz="1000" spc="85">
                <a:latin typeface="Times New Roman"/>
                <a:cs typeface="Times New Roman"/>
              </a:rPr>
              <a:t> </a:t>
            </a:r>
            <a:r>
              <a:rPr dirty="0" sz="1000">
                <a:latin typeface="Times New Roman"/>
                <a:cs typeface="Times New Roman"/>
              </a:rPr>
              <a:t>produce</a:t>
            </a:r>
            <a:r>
              <a:rPr dirty="0" sz="1000" spc="85">
                <a:latin typeface="Times New Roman"/>
                <a:cs typeface="Times New Roman"/>
              </a:rPr>
              <a:t> </a:t>
            </a:r>
            <a:r>
              <a:rPr dirty="0" sz="1000" spc="-25">
                <a:latin typeface="Times New Roman"/>
                <a:cs typeface="Times New Roman"/>
              </a:rPr>
              <a:t>the </a:t>
            </a:r>
            <a:r>
              <a:rPr dirty="0" sz="1000" spc="10">
                <a:latin typeface="Times New Roman"/>
                <a:cs typeface="Times New Roman"/>
              </a:rPr>
              <a:t>logits</a:t>
            </a:r>
            <a:r>
              <a:rPr dirty="0" sz="1000" spc="25">
                <a:latin typeface="Times New Roman"/>
                <a:cs typeface="Times New Roman"/>
              </a:rPr>
              <a:t> </a:t>
            </a:r>
            <a:r>
              <a:rPr dirty="0" sz="1000" spc="10">
                <a:latin typeface="Times New Roman"/>
                <a:cs typeface="Times New Roman"/>
              </a:rPr>
              <a:t>output.</a:t>
            </a:r>
            <a:r>
              <a:rPr dirty="0" sz="1000" spc="120">
                <a:latin typeface="Times New Roman"/>
                <a:cs typeface="Times New Roman"/>
              </a:rPr>
              <a:t> </a:t>
            </a:r>
            <a:r>
              <a:rPr dirty="0" sz="1000" spc="10">
                <a:latin typeface="Times New Roman"/>
                <a:cs typeface="Times New Roman"/>
              </a:rPr>
              <a:t>The</a:t>
            </a:r>
            <a:r>
              <a:rPr dirty="0" sz="1000" spc="25">
                <a:latin typeface="Times New Roman"/>
                <a:cs typeface="Times New Roman"/>
              </a:rPr>
              <a:t> </a:t>
            </a:r>
            <a:r>
              <a:rPr dirty="0" sz="1000" spc="10">
                <a:latin typeface="Times New Roman"/>
                <a:cs typeface="Times New Roman"/>
              </a:rPr>
              <a:t>classification</a:t>
            </a:r>
            <a:r>
              <a:rPr dirty="0" sz="1000" spc="25">
                <a:latin typeface="Times New Roman"/>
                <a:cs typeface="Times New Roman"/>
              </a:rPr>
              <a:t> </a:t>
            </a:r>
            <a:r>
              <a:rPr dirty="0" sz="1000" spc="10">
                <a:latin typeface="Times New Roman"/>
                <a:cs typeface="Times New Roman"/>
              </a:rPr>
              <a:t>loss</a:t>
            </a:r>
            <a:r>
              <a:rPr dirty="0" sz="1000" spc="25">
                <a:latin typeface="Times New Roman"/>
                <a:cs typeface="Times New Roman"/>
              </a:rPr>
              <a:t> </a:t>
            </a:r>
            <a:r>
              <a:rPr dirty="0" sz="1000" spc="10">
                <a:latin typeface="Times New Roman"/>
                <a:cs typeface="Times New Roman"/>
              </a:rPr>
              <a:t>value</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spc="10">
                <a:latin typeface="Times New Roman"/>
                <a:cs typeface="Times New Roman"/>
              </a:rPr>
              <a:t>input</a:t>
            </a:r>
            <a:r>
              <a:rPr dirty="0" sz="1000" spc="25">
                <a:latin typeface="Times New Roman"/>
                <a:cs typeface="Times New Roman"/>
              </a:rPr>
              <a:t> </a:t>
            </a:r>
            <a:r>
              <a:rPr dirty="0" sz="1000" spc="10">
                <a:latin typeface="Cambria"/>
                <a:cs typeface="Cambria"/>
              </a:rPr>
              <a:t>𝑥</a:t>
            </a:r>
            <a:r>
              <a:rPr dirty="0" baseline="-15873" sz="1050" spc="15">
                <a:latin typeface="Cambria"/>
                <a:cs typeface="Cambria"/>
              </a:rPr>
              <a:t>𝑖</a:t>
            </a:r>
            <a:r>
              <a:rPr dirty="0" baseline="-15873" sz="1050" spc="292">
                <a:latin typeface="Cambria"/>
                <a:cs typeface="Cambria"/>
              </a:rPr>
              <a:t> </a:t>
            </a:r>
            <a:r>
              <a:rPr dirty="0" sz="1000" spc="10">
                <a:latin typeface="Times New Roman"/>
                <a:cs typeface="Times New Roman"/>
              </a:rPr>
              <a:t>in</a:t>
            </a:r>
            <a:r>
              <a:rPr dirty="0" sz="1000" spc="25">
                <a:latin typeface="Times New Roman"/>
                <a:cs typeface="Times New Roman"/>
              </a:rPr>
              <a:t> </a:t>
            </a:r>
            <a:r>
              <a:rPr dirty="0" sz="1000" spc="10">
                <a:latin typeface="Times New Roman"/>
                <a:cs typeface="Times New Roman"/>
              </a:rPr>
              <a:t>a</a:t>
            </a:r>
            <a:r>
              <a:rPr dirty="0" sz="1000" spc="25">
                <a:latin typeface="Times New Roman"/>
                <a:cs typeface="Times New Roman"/>
              </a:rPr>
              <a:t> </a:t>
            </a:r>
            <a:r>
              <a:rPr dirty="0" sz="1000" spc="10">
                <a:latin typeface="Times New Roman"/>
                <a:cs typeface="Times New Roman"/>
              </a:rPr>
              <a:t>multimodal</a:t>
            </a:r>
            <a:r>
              <a:rPr dirty="0" sz="1000" spc="25">
                <a:latin typeface="Times New Roman"/>
                <a:cs typeface="Times New Roman"/>
              </a:rPr>
              <a:t> </a:t>
            </a:r>
            <a:r>
              <a:rPr dirty="0" sz="1000" spc="10">
                <a:latin typeface="Times New Roman"/>
                <a:cs typeface="Times New Roman"/>
              </a:rPr>
              <a:t>model</a:t>
            </a:r>
            <a:r>
              <a:rPr dirty="0" sz="1000" spc="25">
                <a:latin typeface="Times New Roman"/>
                <a:cs typeface="Times New Roman"/>
              </a:rPr>
              <a:t> </a:t>
            </a:r>
            <a:r>
              <a:rPr dirty="0" sz="1000" spc="10">
                <a:latin typeface="Times New Roman"/>
                <a:cs typeface="Times New Roman"/>
              </a:rPr>
              <a:t>can</a:t>
            </a:r>
            <a:r>
              <a:rPr dirty="0" sz="1000" spc="25">
                <a:latin typeface="Times New Roman"/>
                <a:cs typeface="Times New Roman"/>
              </a:rPr>
              <a:t> </a:t>
            </a:r>
            <a:r>
              <a:rPr dirty="0" sz="1000" spc="10">
                <a:latin typeface="Times New Roman"/>
                <a:cs typeface="Times New Roman"/>
              </a:rPr>
              <a:t>be</a:t>
            </a:r>
            <a:r>
              <a:rPr dirty="0" sz="1000" spc="25">
                <a:latin typeface="Times New Roman"/>
                <a:cs typeface="Times New Roman"/>
              </a:rPr>
              <a:t> </a:t>
            </a:r>
            <a:r>
              <a:rPr dirty="0" sz="1000" spc="10">
                <a:latin typeface="Times New Roman"/>
                <a:cs typeface="Times New Roman"/>
              </a:rPr>
              <a:t>expressed</a:t>
            </a:r>
            <a:r>
              <a:rPr dirty="0" sz="1000" spc="25">
                <a:latin typeface="Times New Roman"/>
                <a:cs typeface="Times New Roman"/>
              </a:rPr>
              <a:t> </a:t>
            </a:r>
            <a:r>
              <a:rPr dirty="0" sz="1000" spc="10">
                <a:latin typeface="Times New Roman"/>
                <a:cs typeface="Times New Roman"/>
              </a:rPr>
              <a:t>as</a:t>
            </a:r>
            <a:r>
              <a:rPr dirty="0" sz="1000" spc="25">
                <a:latin typeface="Times New Roman"/>
                <a:cs typeface="Times New Roman"/>
              </a:rPr>
              <a:t> </a:t>
            </a:r>
            <a:r>
              <a:rPr dirty="0" sz="1000" spc="-10">
                <a:latin typeface="Times New Roman"/>
                <a:cs typeface="Times New Roman"/>
              </a:rPr>
              <a:t>follows,</a:t>
            </a:r>
            <a:endParaRPr sz="1000">
              <a:latin typeface="Times New Roman"/>
              <a:cs typeface="Times New Roman"/>
            </a:endParaRPr>
          </a:p>
          <a:p>
            <a:pPr>
              <a:lnSpc>
                <a:spcPct val="100000"/>
              </a:lnSpc>
              <a:spcBef>
                <a:spcPts val="225"/>
              </a:spcBef>
            </a:pPr>
            <a:endParaRPr sz="1000">
              <a:latin typeface="Times New Roman"/>
              <a:cs typeface="Times New Roman"/>
            </a:endParaRPr>
          </a:p>
          <a:p>
            <a:pPr algn="just" marL="370205" marR="375285">
              <a:lnSpc>
                <a:spcPct val="130000"/>
              </a:lnSpc>
            </a:pPr>
            <a:r>
              <a:rPr dirty="0" sz="1000" spc="-10">
                <a:latin typeface="SimSun"/>
                <a:cs typeface="SimSun"/>
              </a:rPr>
              <a:t>不失一般性</a:t>
            </a:r>
            <a:r>
              <a:rPr dirty="0" sz="1000" spc="-70">
                <a:latin typeface="SimSun"/>
                <a:cs typeface="SimSun"/>
              </a:rPr>
              <a:t>，我们将两种输入模态视为</a:t>
            </a:r>
            <a:r>
              <a:rPr dirty="0" sz="1000" spc="-30">
                <a:latin typeface="Cambria"/>
                <a:cs typeface="Cambria"/>
              </a:rPr>
              <a:t>𝑚</a:t>
            </a:r>
            <a:r>
              <a:rPr dirty="0" baseline="-15873" sz="1050" spc="-44">
                <a:latin typeface="Cambria"/>
                <a:cs typeface="Cambria"/>
              </a:rPr>
              <a:t>1</a:t>
            </a:r>
            <a:r>
              <a:rPr dirty="0" baseline="-15873" sz="1050" spc="75">
                <a:latin typeface="Cambria"/>
                <a:cs typeface="Cambria"/>
              </a:rPr>
              <a:t> </a:t>
            </a:r>
            <a:r>
              <a:rPr dirty="0" sz="1000" spc="145">
                <a:latin typeface="SimSun"/>
                <a:cs typeface="SimSun"/>
              </a:rPr>
              <a:t>和</a:t>
            </a:r>
            <a:r>
              <a:rPr dirty="0" sz="1000" spc="-20">
                <a:latin typeface="Cambria"/>
                <a:cs typeface="Cambria"/>
              </a:rPr>
              <a:t>𝑚</a:t>
            </a:r>
            <a:r>
              <a:rPr dirty="0" baseline="-15873" sz="1050" spc="-30">
                <a:latin typeface="Cambria"/>
                <a:cs typeface="Cambria"/>
              </a:rPr>
              <a:t>2</a:t>
            </a:r>
            <a:r>
              <a:rPr dirty="0" baseline="-15873" sz="1050" spc="75">
                <a:latin typeface="Cambria"/>
                <a:cs typeface="Cambria"/>
              </a:rPr>
              <a:t> </a:t>
            </a:r>
            <a:r>
              <a:rPr dirty="0" sz="1000" spc="-165">
                <a:latin typeface="SimSun"/>
                <a:cs typeface="SimSun"/>
              </a:rPr>
              <a:t>。如图</a:t>
            </a:r>
            <a:r>
              <a:rPr dirty="0" sz="1000" spc="-10">
                <a:latin typeface="Times New Roman"/>
                <a:cs typeface="Times New Roman"/>
              </a:rPr>
              <a:t>2</a:t>
            </a:r>
            <a:r>
              <a:rPr dirty="0" sz="1000" spc="-95">
                <a:latin typeface="Times New Roman"/>
                <a:cs typeface="Times New Roman"/>
              </a:rPr>
              <a:t> </a:t>
            </a:r>
            <a:r>
              <a:rPr dirty="0" sz="1000" spc="10">
                <a:latin typeface="Times New Roman"/>
                <a:cs typeface="Times New Roman"/>
              </a:rPr>
              <a:t>(a)</a:t>
            </a:r>
            <a:r>
              <a:rPr dirty="0" sz="1000" spc="-95">
                <a:latin typeface="Times New Roman"/>
                <a:cs typeface="Times New Roman"/>
              </a:rPr>
              <a:t> </a:t>
            </a:r>
            <a:r>
              <a:rPr dirty="0" sz="1000" spc="-75">
                <a:latin typeface="SimSun"/>
                <a:cs typeface="SimSun"/>
              </a:rPr>
              <a:t>所示，传统多模态学习可描述如下</a:t>
            </a:r>
            <a:r>
              <a:rPr dirty="0" sz="1000" spc="-65">
                <a:latin typeface="Times New Roman"/>
                <a:cs typeface="Times New Roman"/>
              </a:rPr>
              <a:t>: </a:t>
            </a:r>
            <a:r>
              <a:rPr dirty="0" sz="1000" spc="-10">
                <a:latin typeface="SimSun"/>
                <a:cs typeface="SimSun"/>
              </a:rPr>
              <a:t>给定一</a:t>
            </a:r>
            <a:r>
              <a:rPr dirty="0" sz="1000" spc="30">
                <a:latin typeface="SimSun"/>
                <a:cs typeface="SimSun"/>
              </a:rPr>
              <a:t>个训练集</a:t>
            </a:r>
            <a:r>
              <a:rPr dirty="0" sz="1000" spc="95">
                <a:latin typeface="Cambria"/>
                <a:cs typeface="Cambria"/>
              </a:rPr>
              <a:t>𝒟</a:t>
            </a:r>
            <a:r>
              <a:rPr dirty="0" sz="1000" spc="75">
                <a:latin typeface="Cambria"/>
                <a:cs typeface="Cambria"/>
              </a:rPr>
              <a:t> = {</a:t>
            </a:r>
            <a:r>
              <a:rPr dirty="0" sz="1000" spc="15">
                <a:latin typeface="Cambria"/>
                <a:cs typeface="Cambria"/>
              </a:rPr>
              <a:t>𝑥</a:t>
            </a:r>
            <a:r>
              <a:rPr dirty="0" baseline="-15873" sz="1050" spc="22">
                <a:latin typeface="Cambria"/>
                <a:cs typeface="Cambria"/>
              </a:rPr>
              <a:t>𝑖</a:t>
            </a:r>
            <a:r>
              <a:rPr dirty="0" sz="1000" spc="-20">
                <a:latin typeface="Cambria"/>
                <a:cs typeface="Cambria"/>
              </a:rPr>
              <a:t>, </a:t>
            </a:r>
            <a:r>
              <a:rPr dirty="0" sz="1000" spc="25">
                <a:latin typeface="Cambria"/>
                <a:cs typeface="Cambria"/>
              </a:rPr>
              <a:t>𝑦</a:t>
            </a:r>
            <a:r>
              <a:rPr dirty="0" baseline="-15873" sz="1050" spc="37">
                <a:latin typeface="Cambria"/>
                <a:cs typeface="Cambria"/>
              </a:rPr>
              <a:t>𝑖</a:t>
            </a:r>
            <a:r>
              <a:rPr dirty="0" sz="1000" spc="25">
                <a:latin typeface="Cambria"/>
                <a:cs typeface="Cambria"/>
              </a:rPr>
              <a:t>}</a:t>
            </a:r>
            <a:r>
              <a:rPr dirty="0" baseline="-23809" sz="1050" spc="37">
                <a:latin typeface="Cambria"/>
                <a:cs typeface="Cambria"/>
              </a:rPr>
              <a:t>𝑖∈</a:t>
            </a:r>
            <a:r>
              <a:rPr dirty="0" baseline="-27777" sz="1050" spc="37">
                <a:latin typeface="Cambria"/>
                <a:cs typeface="Cambria"/>
              </a:rPr>
              <a:t>[</a:t>
            </a:r>
            <a:r>
              <a:rPr dirty="0" baseline="-23809" sz="1050" spc="37">
                <a:latin typeface="Cambria"/>
                <a:cs typeface="Cambria"/>
              </a:rPr>
              <a:t>𝑁</a:t>
            </a:r>
            <a:r>
              <a:rPr dirty="0" baseline="-27777" sz="1050" spc="60">
                <a:latin typeface="Cambria"/>
                <a:cs typeface="Cambria"/>
              </a:rPr>
              <a:t>] </a:t>
            </a:r>
            <a:r>
              <a:rPr dirty="0" sz="1000" spc="-100">
                <a:latin typeface="SimSun"/>
                <a:cs typeface="SimSun"/>
              </a:rPr>
              <a:t>，其中输入为</a:t>
            </a:r>
            <a:r>
              <a:rPr dirty="0" sz="1000" spc="5">
                <a:latin typeface="Cambria"/>
                <a:cs typeface="Cambria"/>
              </a:rPr>
              <a:t>𝑥</a:t>
            </a:r>
            <a:r>
              <a:rPr dirty="0" baseline="-15873" sz="1050" spc="7">
                <a:latin typeface="Cambria"/>
                <a:cs typeface="Cambria"/>
              </a:rPr>
              <a:t>𝑖</a:t>
            </a:r>
            <a:r>
              <a:rPr dirty="0" baseline="-15873" sz="1050" spc="270">
                <a:latin typeface="Cambria"/>
                <a:cs typeface="Cambria"/>
              </a:rPr>
              <a:t> </a:t>
            </a:r>
            <a:r>
              <a:rPr dirty="0" sz="1000" spc="155">
                <a:latin typeface="Cambria"/>
                <a:cs typeface="Cambria"/>
              </a:rPr>
              <a:t>= (</a:t>
            </a:r>
            <a:r>
              <a:rPr dirty="0" sz="1000" spc="-30">
                <a:latin typeface="Cambria"/>
                <a:cs typeface="Cambria"/>
              </a:rPr>
              <a:t>𝑥</a:t>
            </a:r>
            <a:r>
              <a:rPr dirty="0" baseline="-19841" sz="1050" spc="-44">
                <a:latin typeface="Cambria"/>
                <a:cs typeface="Cambria"/>
              </a:rPr>
              <a:t>𝑖</a:t>
            </a:r>
            <a:r>
              <a:rPr dirty="0" baseline="43650" sz="1050" spc="-44">
                <a:latin typeface="Cambria"/>
                <a:cs typeface="Cambria"/>
              </a:rPr>
              <a:t>𝑚</a:t>
            </a:r>
            <a:r>
              <a:rPr dirty="0" baseline="40404" sz="825" spc="-44">
                <a:latin typeface="Cambria"/>
                <a:cs typeface="Cambria"/>
              </a:rPr>
              <a:t>1</a:t>
            </a:r>
            <a:r>
              <a:rPr dirty="0" baseline="40404" sz="825" spc="-37">
                <a:latin typeface="Cambria"/>
                <a:cs typeface="Cambria"/>
              </a:rPr>
              <a:t> </a:t>
            </a:r>
            <a:r>
              <a:rPr dirty="0" sz="1000" spc="-10">
                <a:latin typeface="Cambria"/>
                <a:cs typeface="Cambria"/>
              </a:rPr>
              <a:t>, </a:t>
            </a:r>
            <a:r>
              <a:rPr dirty="0" sz="1000" spc="-30">
                <a:latin typeface="Cambria"/>
                <a:cs typeface="Cambria"/>
              </a:rPr>
              <a:t>𝑥</a:t>
            </a:r>
            <a:r>
              <a:rPr dirty="0" baseline="-19841" sz="1050" spc="-44">
                <a:latin typeface="Cambria"/>
                <a:cs typeface="Cambria"/>
              </a:rPr>
              <a:t>𝑖</a:t>
            </a:r>
            <a:r>
              <a:rPr dirty="0" baseline="43650" sz="1050" spc="-44">
                <a:latin typeface="Cambria"/>
                <a:cs typeface="Cambria"/>
              </a:rPr>
              <a:t>𝑚</a:t>
            </a:r>
            <a:r>
              <a:rPr dirty="0" baseline="40404" sz="825" spc="-44">
                <a:latin typeface="Cambria"/>
                <a:cs typeface="Cambria"/>
              </a:rPr>
              <a:t>2</a:t>
            </a:r>
            <a:r>
              <a:rPr dirty="0" baseline="40404" sz="825" spc="-37">
                <a:latin typeface="Cambria"/>
                <a:cs typeface="Cambria"/>
              </a:rPr>
              <a:t> </a:t>
            </a:r>
            <a:r>
              <a:rPr dirty="0" sz="1000" spc="-40">
                <a:latin typeface="Cambria"/>
                <a:cs typeface="Cambria"/>
              </a:rPr>
              <a:t>) </a:t>
            </a:r>
            <a:r>
              <a:rPr dirty="0" sz="1000" spc="150">
                <a:latin typeface="SimSun"/>
                <a:cs typeface="SimSun"/>
              </a:rPr>
              <a:t>和</a:t>
            </a:r>
            <a:r>
              <a:rPr dirty="0" sz="1000">
                <a:latin typeface="Cambria"/>
                <a:cs typeface="Cambria"/>
              </a:rPr>
              <a:t>𝑦</a:t>
            </a:r>
            <a:r>
              <a:rPr dirty="0" baseline="-15873" sz="1050">
                <a:latin typeface="Cambria"/>
                <a:cs typeface="Cambria"/>
              </a:rPr>
              <a:t>𝑖</a:t>
            </a:r>
            <a:r>
              <a:rPr dirty="0" baseline="-15873" sz="1050" spc="270">
                <a:latin typeface="Cambria"/>
                <a:cs typeface="Cambria"/>
              </a:rPr>
              <a:t> </a:t>
            </a:r>
            <a:r>
              <a:rPr dirty="0" sz="1000" spc="40">
                <a:latin typeface="Cambria"/>
                <a:cs typeface="Cambria"/>
              </a:rPr>
              <a:t>∈ [</a:t>
            </a:r>
            <a:r>
              <a:rPr dirty="0" sz="1000" spc="-10">
                <a:latin typeface="Cambria"/>
                <a:cs typeface="Cambria"/>
              </a:rPr>
              <a:t>1,</a:t>
            </a:r>
            <a:r>
              <a:rPr dirty="0" sz="1000" spc="-55">
                <a:latin typeface="Cambria"/>
                <a:cs typeface="Cambria"/>
              </a:rPr>
              <a:t> </a:t>
            </a:r>
            <a:r>
              <a:rPr dirty="0" sz="1000" spc="-10">
                <a:latin typeface="Cambria"/>
                <a:cs typeface="Cambria"/>
              </a:rPr>
              <a:t>2,</a:t>
            </a:r>
            <a:r>
              <a:rPr dirty="0" sz="1000" spc="-5">
                <a:latin typeface="Cambria"/>
                <a:cs typeface="Cambria"/>
              </a:rPr>
              <a:t> … , </a:t>
            </a:r>
            <a:r>
              <a:rPr dirty="0" sz="1000" spc="5">
                <a:latin typeface="Cambria"/>
                <a:cs typeface="Cambria"/>
              </a:rPr>
              <a:t>𝐾</a:t>
            </a:r>
            <a:r>
              <a:rPr dirty="0" sz="1000" spc="-30">
                <a:latin typeface="Cambria"/>
                <a:cs typeface="Cambria"/>
              </a:rPr>
              <a:t>] </a:t>
            </a:r>
            <a:r>
              <a:rPr dirty="0" sz="1000" spc="-175">
                <a:latin typeface="SimSun"/>
                <a:cs typeface="SimSun"/>
              </a:rPr>
              <a:t>，其中</a:t>
            </a:r>
            <a:r>
              <a:rPr dirty="0" sz="1000" spc="-30">
                <a:latin typeface="Times New Roman"/>
                <a:cs typeface="Times New Roman"/>
              </a:rPr>
              <a:t>K</a:t>
            </a:r>
            <a:r>
              <a:rPr dirty="0" sz="1000" spc="-90">
                <a:latin typeface="Times New Roman"/>
                <a:cs typeface="Times New Roman"/>
              </a:rPr>
              <a:t> </a:t>
            </a:r>
            <a:r>
              <a:rPr dirty="0" sz="1000" spc="-90">
                <a:latin typeface="SimSun"/>
                <a:cs typeface="SimSun"/>
              </a:rPr>
              <a:t>是类别数量。我们</a:t>
            </a:r>
            <a:r>
              <a:rPr dirty="0" sz="1000" spc="10">
                <a:latin typeface="SimSun"/>
                <a:cs typeface="SimSun"/>
              </a:rPr>
              <a:t>使用两个神经网络编码器</a:t>
            </a:r>
            <a:r>
              <a:rPr dirty="0" sz="1000" spc="-45">
                <a:latin typeface="Cambria"/>
                <a:cs typeface="Cambria"/>
              </a:rPr>
              <a:t>𝜑</a:t>
            </a:r>
            <a:r>
              <a:rPr dirty="0" baseline="-15873" sz="1050" spc="-67">
                <a:latin typeface="Cambria"/>
                <a:cs typeface="Cambria"/>
              </a:rPr>
              <a:t>1</a:t>
            </a:r>
            <a:r>
              <a:rPr dirty="0" baseline="-15873" sz="1050" spc="89">
                <a:latin typeface="Cambria"/>
                <a:cs typeface="Cambria"/>
              </a:rPr>
              <a:t> </a:t>
            </a:r>
            <a:r>
              <a:rPr dirty="0" sz="1000" spc="-10">
                <a:latin typeface="Cambria"/>
                <a:cs typeface="Cambria"/>
              </a:rPr>
              <a:t>(𝜃</a:t>
            </a:r>
            <a:r>
              <a:rPr dirty="0" baseline="-15873" sz="1050" spc="-15">
                <a:latin typeface="Cambria"/>
                <a:cs typeface="Cambria"/>
              </a:rPr>
              <a:t>1</a:t>
            </a:r>
            <a:r>
              <a:rPr dirty="0" sz="1000" spc="-20">
                <a:latin typeface="Cambria"/>
                <a:cs typeface="Cambria"/>
              </a:rPr>
              <a:t>, ⋅) </a:t>
            </a:r>
            <a:r>
              <a:rPr dirty="0" sz="1000" spc="229">
                <a:latin typeface="SimSun"/>
                <a:cs typeface="SimSun"/>
              </a:rPr>
              <a:t>和</a:t>
            </a:r>
            <a:r>
              <a:rPr dirty="0" sz="1000" spc="-40">
                <a:latin typeface="Cambria"/>
                <a:cs typeface="Cambria"/>
              </a:rPr>
              <a:t>𝜑</a:t>
            </a:r>
            <a:r>
              <a:rPr dirty="0" baseline="-15873" sz="1050" spc="-60">
                <a:latin typeface="Cambria"/>
                <a:cs typeface="Cambria"/>
              </a:rPr>
              <a:t>2</a:t>
            </a:r>
            <a:r>
              <a:rPr dirty="0" baseline="-15873" sz="1050" spc="89">
                <a:latin typeface="Cambria"/>
                <a:cs typeface="Cambria"/>
              </a:rPr>
              <a:t> </a:t>
            </a:r>
            <a:r>
              <a:rPr dirty="0" sz="1000" spc="-5">
                <a:latin typeface="Cambria"/>
                <a:cs typeface="Cambria"/>
              </a:rPr>
              <a:t>(𝜃</a:t>
            </a:r>
            <a:r>
              <a:rPr dirty="0" baseline="-15873" sz="1050" spc="-7">
                <a:latin typeface="Cambria"/>
                <a:cs typeface="Cambria"/>
              </a:rPr>
              <a:t>2</a:t>
            </a:r>
            <a:r>
              <a:rPr dirty="0" sz="1000" spc="-20">
                <a:latin typeface="Cambria"/>
                <a:cs typeface="Cambria"/>
              </a:rPr>
              <a:t>, ⋅) </a:t>
            </a:r>
            <a:r>
              <a:rPr dirty="0" sz="1000" spc="10">
                <a:latin typeface="SimSun"/>
                <a:cs typeface="SimSun"/>
              </a:rPr>
              <a:t>将输入的每个模态映射到</a:t>
            </a:r>
            <a:r>
              <a:rPr dirty="0" sz="1000" spc="35">
                <a:latin typeface="Cambria"/>
                <a:cs typeface="Cambria"/>
              </a:rPr>
              <a:t>𝑧</a:t>
            </a:r>
            <a:r>
              <a:rPr dirty="0" baseline="-15873" sz="1050" spc="52">
                <a:latin typeface="Cambria"/>
                <a:cs typeface="Cambria"/>
              </a:rPr>
              <a:t>𝑖</a:t>
            </a:r>
            <a:r>
              <a:rPr dirty="0" baseline="27777" sz="1050" spc="52">
                <a:latin typeface="Cambria"/>
                <a:cs typeface="Cambria"/>
              </a:rPr>
              <a:t>𝑚</a:t>
            </a:r>
            <a:r>
              <a:rPr dirty="0" baseline="20202" sz="825" spc="52">
                <a:latin typeface="Cambria"/>
                <a:cs typeface="Cambria"/>
              </a:rPr>
              <a:t>1</a:t>
            </a:r>
            <a:r>
              <a:rPr dirty="0" baseline="20202" sz="825" spc="419">
                <a:latin typeface="Cambria"/>
                <a:cs typeface="Cambria"/>
              </a:rPr>
              <a:t> </a:t>
            </a:r>
            <a:r>
              <a:rPr dirty="0" sz="1000" spc="270">
                <a:latin typeface="Cambria"/>
                <a:cs typeface="Cambria"/>
              </a:rPr>
              <a:t>= </a:t>
            </a:r>
            <a:r>
              <a:rPr dirty="0" sz="1000" spc="-45">
                <a:latin typeface="Cambria"/>
                <a:cs typeface="Cambria"/>
              </a:rPr>
              <a:t>𝜑</a:t>
            </a:r>
            <a:r>
              <a:rPr dirty="0" baseline="-15873" sz="1050" spc="-67">
                <a:latin typeface="Cambria"/>
                <a:cs typeface="Cambria"/>
              </a:rPr>
              <a:t>1</a:t>
            </a:r>
            <a:r>
              <a:rPr dirty="0" baseline="-15873" sz="1050" spc="89">
                <a:latin typeface="Cambria"/>
                <a:cs typeface="Cambria"/>
              </a:rPr>
              <a:t> </a:t>
            </a:r>
            <a:r>
              <a:rPr dirty="0" sz="1000" spc="-5">
                <a:latin typeface="Cambria"/>
                <a:cs typeface="Cambria"/>
              </a:rPr>
              <a:t>(𝜃</a:t>
            </a:r>
            <a:r>
              <a:rPr dirty="0" baseline="-15873" sz="1050" spc="-7">
                <a:latin typeface="Cambria"/>
                <a:cs typeface="Cambria"/>
              </a:rPr>
              <a:t>1</a:t>
            </a:r>
            <a:r>
              <a:rPr dirty="0" sz="1000" spc="-30">
                <a:latin typeface="Cambria"/>
                <a:cs typeface="Cambria"/>
              </a:rPr>
              <a:t>, 𝑥</a:t>
            </a:r>
            <a:r>
              <a:rPr dirty="0" baseline="-19841" sz="1050" spc="-44">
                <a:latin typeface="Cambria"/>
                <a:cs typeface="Cambria"/>
              </a:rPr>
              <a:t>𝑖</a:t>
            </a:r>
            <a:r>
              <a:rPr dirty="0" baseline="43650" sz="1050" spc="-44">
                <a:latin typeface="Cambria"/>
                <a:cs typeface="Cambria"/>
              </a:rPr>
              <a:t>𝑚</a:t>
            </a:r>
            <a:r>
              <a:rPr dirty="0" baseline="40404" sz="825" spc="-44">
                <a:latin typeface="Cambria"/>
                <a:cs typeface="Cambria"/>
              </a:rPr>
              <a:t>1</a:t>
            </a:r>
            <a:r>
              <a:rPr dirty="0" baseline="40404" sz="825" spc="-37">
                <a:latin typeface="Cambria"/>
                <a:cs typeface="Cambria"/>
              </a:rPr>
              <a:t> </a:t>
            </a:r>
            <a:r>
              <a:rPr dirty="0" sz="1000" spc="40">
                <a:latin typeface="Cambria"/>
                <a:cs typeface="Cambria"/>
              </a:rPr>
              <a:t>) ∈ ℝ</a:t>
            </a:r>
            <a:r>
              <a:rPr dirty="0" baseline="27777" sz="1050">
                <a:latin typeface="Cambria"/>
                <a:cs typeface="Cambria"/>
              </a:rPr>
              <a:t>𝑑</a:t>
            </a:r>
            <a:r>
              <a:rPr dirty="0" baseline="20202" sz="825">
                <a:latin typeface="Cambria"/>
                <a:cs typeface="Cambria"/>
              </a:rPr>
              <a:t>1</a:t>
            </a:r>
            <a:endParaRPr baseline="20202" sz="825">
              <a:latin typeface="Cambria"/>
              <a:cs typeface="Cambria"/>
            </a:endParaRPr>
          </a:p>
          <a:p>
            <a:pPr algn="just" marL="370205">
              <a:lnSpc>
                <a:spcPct val="100000"/>
              </a:lnSpc>
              <a:spcBef>
                <a:spcPts val="355"/>
              </a:spcBef>
            </a:pPr>
            <a:r>
              <a:rPr dirty="0" baseline="-86111" sz="1500" spc="-1425">
                <a:latin typeface="Cambria"/>
                <a:cs typeface="Cambria"/>
              </a:rPr>
              <a:t>𝑊</a:t>
            </a:r>
            <a:r>
              <a:rPr dirty="0" sz="1000" spc="-110">
                <a:latin typeface="SimSun"/>
                <a:cs typeface="SimSun"/>
              </a:rPr>
              <a:t>和 </a:t>
            </a:r>
            <a:r>
              <a:rPr dirty="0" sz="1000" spc="-420">
                <a:latin typeface="Cambria"/>
                <a:cs typeface="Cambria"/>
              </a:rPr>
              <a:t>𝑧</a:t>
            </a:r>
            <a:r>
              <a:rPr dirty="0" baseline="-86111" sz="1500" spc="-232">
                <a:latin typeface="Cambria"/>
                <a:cs typeface="Cambria"/>
              </a:rPr>
              <a:t>∈</a:t>
            </a:r>
            <a:r>
              <a:rPr dirty="0" baseline="-15873" sz="1050" spc="179">
                <a:latin typeface="Cambria"/>
                <a:cs typeface="Cambria"/>
              </a:rPr>
              <a:t>𝑖</a:t>
            </a:r>
            <a:r>
              <a:rPr dirty="0" baseline="27777" sz="1050" spc="89">
                <a:latin typeface="Cambria"/>
                <a:cs typeface="Cambria"/>
              </a:rPr>
              <a:t>𝑚</a:t>
            </a:r>
            <a:r>
              <a:rPr dirty="0" baseline="20202" sz="825" spc="89">
                <a:latin typeface="Cambria"/>
                <a:cs typeface="Cambria"/>
              </a:rPr>
              <a:t>2</a:t>
            </a:r>
            <a:r>
              <a:rPr dirty="0" baseline="20202" sz="825" spc="419">
                <a:latin typeface="Cambria"/>
                <a:cs typeface="Cambria"/>
              </a:rPr>
              <a:t> </a:t>
            </a:r>
            <a:r>
              <a:rPr dirty="0" sz="1000" spc="175">
                <a:latin typeface="Cambria"/>
                <a:cs typeface="Cambria"/>
              </a:rPr>
              <a:t>= </a:t>
            </a:r>
            <a:r>
              <a:rPr dirty="0" sz="1000">
                <a:latin typeface="Cambria"/>
                <a:cs typeface="Cambria"/>
              </a:rPr>
              <a:t>𝜑</a:t>
            </a:r>
            <a:r>
              <a:rPr dirty="0" baseline="-15873" sz="1050">
                <a:latin typeface="Cambria"/>
                <a:cs typeface="Cambria"/>
              </a:rPr>
              <a:t>2</a:t>
            </a:r>
            <a:r>
              <a:rPr dirty="0" baseline="-15873" sz="1050" spc="75">
                <a:latin typeface="Cambria"/>
                <a:cs typeface="Cambria"/>
              </a:rPr>
              <a:t> </a:t>
            </a:r>
            <a:r>
              <a:rPr dirty="0" sz="1000">
                <a:latin typeface="Cambria"/>
                <a:cs typeface="Cambria"/>
              </a:rPr>
              <a:t>(𝜃</a:t>
            </a:r>
            <a:r>
              <a:rPr dirty="0" baseline="-15873" sz="1050">
                <a:latin typeface="Cambria"/>
                <a:cs typeface="Cambria"/>
              </a:rPr>
              <a:t>2</a:t>
            </a:r>
            <a:r>
              <a:rPr dirty="0" sz="1000" spc="-30">
                <a:latin typeface="Cambria"/>
                <a:cs typeface="Cambria"/>
              </a:rPr>
              <a:t>, </a:t>
            </a:r>
            <a:r>
              <a:rPr dirty="0" sz="1000" spc="-35">
                <a:latin typeface="Cambria"/>
                <a:cs typeface="Cambria"/>
              </a:rPr>
              <a:t>𝑥</a:t>
            </a:r>
            <a:r>
              <a:rPr dirty="0" baseline="-19841" sz="1050" spc="-52">
                <a:latin typeface="Cambria"/>
                <a:cs typeface="Cambria"/>
              </a:rPr>
              <a:t>𝑖</a:t>
            </a:r>
            <a:r>
              <a:rPr dirty="0" baseline="43650" sz="1050" spc="-52">
                <a:latin typeface="Cambria"/>
                <a:cs typeface="Cambria"/>
              </a:rPr>
              <a:t>𝑚</a:t>
            </a:r>
            <a:r>
              <a:rPr dirty="0" baseline="40404" sz="825" spc="-52">
                <a:latin typeface="Cambria"/>
                <a:cs typeface="Cambria"/>
              </a:rPr>
              <a:t>2</a:t>
            </a:r>
            <a:r>
              <a:rPr dirty="0" baseline="40404" sz="825" spc="-37">
                <a:latin typeface="Cambria"/>
                <a:cs typeface="Cambria"/>
              </a:rPr>
              <a:t> </a:t>
            </a:r>
            <a:r>
              <a:rPr dirty="0" sz="1000" spc="85">
                <a:latin typeface="Cambria"/>
                <a:cs typeface="Cambria"/>
              </a:rPr>
              <a:t>) ∈ ℝ</a:t>
            </a:r>
            <a:r>
              <a:rPr dirty="0" baseline="27777" sz="1050">
                <a:latin typeface="Cambria"/>
                <a:cs typeface="Cambria"/>
              </a:rPr>
              <a:t>𝑑</a:t>
            </a:r>
            <a:r>
              <a:rPr dirty="0" baseline="20202" sz="825">
                <a:latin typeface="Cambria"/>
                <a:cs typeface="Cambria"/>
              </a:rPr>
              <a:t>2</a:t>
            </a:r>
            <a:r>
              <a:rPr dirty="0" baseline="20202" sz="825" spc="390">
                <a:latin typeface="Cambria"/>
                <a:cs typeface="Cambria"/>
              </a:rPr>
              <a:t> </a:t>
            </a:r>
            <a:r>
              <a:rPr dirty="0" sz="1000" spc="-55">
                <a:latin typeface="SimSun"/>
                <a:cs typeface="SimSun"/>
              </a:rPr>
              <a:t>。这里 </a:t>
            </a:r>
            <a:r>
              <a:rPr dirty="0" sz="1000">
                <a:latin typeface="Cambria"/>
                <a:cs typeface="Cambria"/>
              </a:rPr>
              <a:t>𝜃</a:t>
            </a:r>
            <a:r>
              <a:rPr dirty="0" baseline="-15873" sz="1050">
                <a:latin typeface="Cambria"/>
                <a:cs typeface="Cambria"/>
              </a:rPr>
              <a:t>1</a:t>
            </a:r>
            <a:r>
              <a:rPr dirty="0" sz="1000" spc="-30">
                <a:latin typeface="Cambria"/>
                <a:cs typeface="Cambria"/>
              </a:rPr>
              <a:t>, </a:t>
            </a:r>
            <a:r>
              <a:rPr dirty="0" sz="1000">
                <a:latin typeface="Cambria"/>
                <a:cs typeface="Cambria"/>
              </a:rPr>
              <a:t>𝜃</a:t>
            </a:r>
            <a:r>
              <a:rPr dirty="0" baseline="-15873" sz="1050">
                <a:latin typeface="Cambria"/>
                <a:cs typeface="Cambria"/>
              </a:rPr>
              <a:t>2</a:t>
            </a:r>
            <a:r>
              <a:rPr dirty="0" baseline="-15873" sz="1050" spc="254">
                <a:latin typeface="Cambria"/>
                <a:cs typeface="Cambria"/>
              </a:rPr>
              <a:t> </a:t>
            </a:r>
            <a:r>
              <a:rPr dirty="0" sz="1000" spc="-55">
                <a:latin typeface="SimSun"/>
                <a:cs typeface="SimSun"/>
              </a:rPr>
              <a:t>分别是 </a:t>
            </a:r>
            <a:r>
              <a:rPr dirty="0" sz="1000">
                <a:latin typeface="Cambria"/>
                <a:cs typeface="Cambria"/>
              </a:rPr>
              <a:t>𝜑</a:t>
            </a:r>
            <a:r>
              <a:rPr dirty="0" baseline="-15873" sz="1050">
                <a:latin typeface="Cambria"/>
                <a:cs typeface="Cambria"/>
              </a:rPr>
              <a:t>1</a:t>
            </a:r>
            <a:r>
              <a:rPr dirty="0" baseline="-15873" sz="1050" spc="254">
                <a:latin typeface="Cambria"/>
                <a:cs typeface="Cambria"/>
              </a:rPr>
              <a:t> </a:t>
            </a:r>
            <a:r>
              <a:rPr dirty="0" sz="1000" spc="-110">
                <a:latin typeface="SimSun"/>
                <a:cs typeface="SimSun"/>
              </a:rPr>
              <a:t>和 </a:t>
            </a:r>
            <a:r>
              <a:rPr dirty="0" sz="1000">
                <a:latin typeface="Cambria"/>
                <a:cs typeface="Cambria"/>
              </a:rPr>
              <a:t>𝜑</a:t>
            </a:r>
            <a:r>
              <a:rPr dirty="0" baseline="-15873" sz="1050">
                <a:latin typeface="Cambria"/>
                <a:cs typeface="Cambria"/>
              </a:rPr>
              <a:t>2</a:t>
            </a:r>
            <a:r>
              <a:rPr dirty="0" baseline="-15873" sz="1050" spc="247">
                <a:latin typeface="Cambria"/>
                <a:cs typeface="Cambria"/>
              </a:rPr>
              <a:t> </a:t>
            </a:r>
            <a:r>
              <a:rPr dirty="0" sz="1000" spc="-45">
                <a:latin typeface="SimSun"/>
                <a:cs typeface="SimSun"/>
              </a:rPr>
              <a:t>的参数。令 </a:t>
            </a:r>
            <a:r>
              <a:rPr dirty="0" sz="1000">
                <a:latin typeface="Cambria"/>
                <a:cs typeface="Cambria"/>
              </a:rPr>
              <a:t>𝜑</a:t>
            </a:r>
            <a:r>
              <a:rPr dirty="0" baseline="-15873" sz="1050">
                <a:latin typeface="Cambria"/>
                <a:cs typeface="Cambria"/>
              </a:rPr>
              <a:t>𝜏</a:t>
            </a:r>
            <a:r>
              <a:rPr dirty="0" baseline="-15873" sz="1050" spc="75">
                <a:latin typeface="Cambria"/>
                <a:cs typeface="Cambria"/>
              </a:rPr>
              <a:t> </a:t>
            </a:r>
            <a:r>
              <a:rPr dirty="0" sz="1000" spc="-10">
                <a:latin typeface="Cambria"/>
                <a:cs typeface="Cambria"/>
              </a:rPr>
              <a:t>(𝜃</a:t>
            </a:r>
            <a:r>
              <a:rPr dirty="0" baseline="-15873" sz="1050" spc="-15">
                <a:latin typeface="Cambria"/>
                <a:cs typeface="Cambria"/>
              </a:rPr>
              <a:t>𝜏</a:t>
            </a:r>
            <a:r>
              <a:rPr dirty="0" sz="1000" spc="-20">
                <a:latin typeface="Cambria"/>
                <a:cs typeface="Cambria"/>
              </a:rPr>
              <a:t>, ⋅, ⋅,) </a:t>
            </a:r>
            <a:r>
              <a:rPr dirty="0" sz="1000" spc="-15">
                <a:latin typeface="SimSun"/>
                <a:cs typeface="SimSun"/>
              </a:rPr>
              <a:t>表示融合模块，</a:t>
            </a:r>
            <a:endParaRPr sz="1000">
              <a:latin typeface="SimSun"/>
              <a:cs typeface="SimSun"/>
            </a:endParaRPr>
          </a:p>
          <a:p>
            <a:pPr marL="370205" marR="375285" indent="294005">
              <a:lnSpc>
                <a:spcPts val="1550"/>
              </a:lnSpc>
              <a:spcBef>
                <a:spcPts val="95"/>
              </a:spcBef>
            </a:pPr>
            <a:r>
              <a:rPr dirty="0" sz="1000">
                <a:latin typeface="Cambria"/>
                <a:cs typeface="Cambria"/>
              </a:rPr>
              <a:t>ℝ</a:t>
            </a:r>
            <a:r>
              <a:rPr dirty="0" baseline="27777" sz="1050">
                <a:latin typeface="Cambria"/>
                <a:cs typeface="Cambria"/>
              </a:rPr>
              <a:t>𝐾×(𝑑</a:t>
            </a:r>
            <a:r>
              <a:rPr dirty="0" baseline="20202" sz="825">
                <a:latin typeface="Cambria"/>
                <a:cs typeface="Cambria"/>
              </a:rPr>
              <a:t>1</a:t>
            </a:r>
            <a:r>
              <a:rPr dirty="0" baseline="27777" sz="1050">
                <a:latin typeface="Cambria"/>
                <a:cs typeface="Cambria"/>
              </a:rPr>
              <a:t>+𝑑</a:t>
            </a:r>
            <a:r>
              <a:rPr dirty="0" baseline="20202" sz="825">
                <a:latin typeface="Cambria"/>
                <a:cs typeface="Cambria"/>
              </a:rPr>
              <a:t>2</a:t>
            </a:r>
            <a:r>
              <a:rPr dirty="0" baseline="27777" sz="1050" spc="165">
                <a:latin typeface="Cambria"/>
                <a:cs typeface="Cambria"/>
              </a:rPr>
              <a:t>) </a:t>
            </a:r>
            <a:r>
              <a:rPr dirty="0" sz="1000" spc="229">
                <a:latin typeface="SimSun"/>
                <a:cs typeface="SimSun"/>
              </a:rPr>
              <a:t>和</a:t>
            </a:r>
            <a:r>
              <a:rPr dirty="0" sz="1000">
                <a:latin typeface="Cambria"/>
                <a:cs typeface="Cambria"/>
              </a:rPr>
              <a:t>𝑏</a:t>
            </a:r>
            <a:r>
              <a:rPr dirty="0" sz="1000" spc="60">
                <a:latin typeface="Cambria"/>
                <a:cs typeface="Cambria"/>
              </a:rPr>
              <a:t> ∈ ℝ</a:t>
            </a:r>
            <a:r>
              <a:rPr dirty="0" baseline="27777" sz="1050">
                <a:latin typeface="Cambria"/>
                <a:cs typeface="Cambria"/>
              </a:rPr>
              <a:t>𝐾</a:t>
            </a:r>
            <a:r>
              <a:rPr dirty="0" baseline="27777" sz="1050" spc="419">
                <a:latin typeface="Cambria"/>
                <a:cs typeface="Cambria"/>
              </a:rPr>
              <a:t> </a:t>
            </a:r>
            <a:r>
              <a:rPr dirty="0" sz="1000" spc="10">
                <a:latin typeface="SimSun"/>
                <a:cs typeface="SimSun"/>
              </a:rPr>
              <a:t>表示线性分类器产生对数</a:t>
            </a:r>
            <a:r>
              <a:rPr dirty="0" sz="1000">
                <a:latin typeface="Times New Roman"/>
                <a:cs typeface="Times New Roman"/>
              </a:rPr>
              <a:t>its </a:t>
            </a:r>
            <a:r>
              <a:rPr dirty="0" sz="1000" spc="5">
                <a:latin typeface="SimSun"/>
                <a:cs typeface="SimSun"/>
              </a:rPr>
              <a:t>输出的参数。多模态模型中输入</a:t>
            </a:r>
            <a:r>
              <a:rPr dirty="0" sz="1000">
                <a:latin typeface="Cambria"/>
                <a:cs typeface="Cambria"/>
              </a:rPr>
              <a:t>𝑥</a:t>
            </a:r>
            <a:r>
              <a:rPr dirty="0" baseline="-15873" sz="1050">
                <a:latin typeface="Cambria"/>
                <a:cs typeface="Cambria"/>
              </a:rPr>
              <a:t>𝑖</a:t>
            </a:r>
            <a:r>
              <a:rPr dirty="0" baseline="-15873" sz="1050" spc="359">
                <a:latin typeface="Cambria"/>
                <a:cs typeface="Cambria"/>
              </a:rPr>
              <a:t> </a:t>
            </a:r>
            <a:r>
              <a:rPr dirty="0" sz="1000" spc="-25">
                <a:latin typeface="SimSun"/>
                <a:cs typeface="SimSun"/>
              </a:rPr>
              <a:t>的分类</a:t>
            </a:r>
            <a:r>
              <a:rPr dirty="0" sz="1000" spc="-15">
                <a:latin typeface="SimSun"/>
                <a:cs typeface="SimSun"/>
              </a:rPr>
              <a:t>损失值可表示如下，</a:t>
            </a:r>
            <a:endParaRPr sz="1000">
              <a:latin typeface="SimSun"/>
              <a:cs typeface="SimSun"/>
            </a:endParaRPr>
          </a:p>
        </p:txBody>
      </p:sp>
      <p:sp>
        <p:nvSpPr>
          <p:cNvPr id="12" name="object 12" descr=""/>
          <p:cNvSpPr txBox="1"/>
          <p:nvPr/>
        </p:nvSpPr>
        <p:spPr>
          <a:xfrm>
            <a:off x="2929928" y="6595242"/>
            <a:ext cx="88900" cy="177800"/>
          </a:xfrm>
          <a:prstGeom prst="rect">
            <a:avLst/>
          </a:prstGeom>
        </p:spPr>
        <p:txBody>
          <a:bodyPr wrap="square" lIns="0" tIns="12065" rIns="0" bIns="0" rtlCol="0" vert="horz">
            <a:spAutoFit/>
          </a:bodyPr>
          <a:lstStyle/>
          <a:p>
            <a:pPr marL="12700">
              <a:lnSpc>
                <a:spcPct val="100000"/>
              </a:lnSpc>
              <a:spcBef>
                <a:spcPts val="95"/>
              </a:spcBef>
            </a:pPr>
            <a:r>
              <a:rPr dirty="0" sz="1000" spc="55">
                <a:latin typeface="Cambria"/>
                <a:cs typeface="Cambria"/>
              </a:rPr>
              <a:t>{</a:t>
            </a:r>
            <a:endParaRPr sz="1000">
              <a:latin typeface="Cambria"/>
              <a:cs typeface="Cambria"/>
            </a:endParaRPr>
          </a:p>
        </p:txBody>
      </p:sp>
      <p:sp>
        <p:nvSpPr>
          <p:cNvPr id="13" name="object 13" descr=""/>
          <p:cNvSpPr txBox="1"/>
          <p:nvPr/>
        </p:nvSpPr>
        <p:spPr>
          <a:xfrm>
            <a:off x="3149384" y="6494338"/>
            <a:ext cx="976630" cy="132080"/>
          </a:xfrm>
          <a:prstGeom prst="rect">
            <a:avLst/>
          </a:prstGeom>
        </p:spPr>
        <p:txBody>
          <a:bodyPr wrap="square" lIns="0" tIns="12065" rIns="0" bIns="0" rtlCol="0" vert="horz">
            <a:spAutoFit/>
          </a:bodyPr>
          <a:lstStyle/>
          <a:p>
            <a:pPr marL="12700">
              <a:lnSpc>
                <a:spcPct val="100000"/>
              </a:lnSpc>
              <a:spcBef>
                <a:spcPts val="95"/>
              </a:spcBef>
              <a:tabLst>
                <a:tab pos="916305" algn="l"/>
              </a:tabLst>
            </a:pPr>
            <a:r>
              <a:rPr dirty="0" sz="700" spc="-20">
                <a:latin typeface="Times New Roman"/>
                <a:cs typeface="Times New Roman"/>
              </a:rPr>
              <a:t>Multi</a:t>
            </a:r>
            <a:r>
              <a:rPr dirty="0" sz="700">
                <a:latin typeface="Times New Roman"/>
                <a:cs typeface="Times New Roman"/>
              </a:rPr>
              <a:t>	</a:t>
            </a:r>
            <a:r>
              <a:rPr dirty="0" sz="700" spc="-50">
                <a:latin typeface="Cambria"/>
                <a:cs typeface="Cambria"/>
              </a:rPr>
              <a:t>𝜏</a:t>
            </a:r>
            <a:endParaRPr sz="700">
              <a:latin typeface="Cambria"/>
              <a:cs typeface="Cambria"/>
            </a:endParaRPr>
          </a:p>
        </p:txBody>
      </p:sp>
      <p:sp>
        <p:nvSpPr>
          <p:cNvPr id="14" name="object 14" descr=""/>
          <p:cNvSpPr txBox="1"/>
          <p:nvPr/>
        </p:nvSpPr>
        <p:spPr>
          <a:xfrm>
            <a:off x="3617874" y="6566461"/>
            <a:ext cx="880744" cy="132080"/>
          </a:xfrm>
          <a:prstGeom prst="rect">
            <a:avLst/>
          </a:prstGeom>
        </p:spPr>
        <p:txBody>
          <a:bodyPr wrap="square" lIns="0" tIns="12065" rIns="0" bIns="0" rtlCol="0" vert="horz">
            <a:spAutoFit/>
          </a:bodyPr>
          <a:lstStyle/>
          <a:p>
            <a:pPr marL="12700">
              <a:lnSpc>
                <a:spcPct val="100000"/>
              </a:lnSpc>
              <a:spcBef>
                <a:spcPts val="95"/>
              </a:spcBef>
              <a:tabLst>
                <a:tab pos="410845" algn="l"/>
                <a:tab pos="838835" algn="l"/>
              </a:tabLst>
            </a:pPr>
            <a:r>
              <a:rPr dirty="0" sz="700" spc="75">
                <a:latin typeface="Cambria"/>
                <a:cs typeface="Cambria"/>
              </a:rPr>
              <a:t>𝐶𝐸</a:t>
            </a:r>
            <a:r>
              <a:rPr dirty="0" sz="700">
                <a:latin typeface="Cambria"/>
                <a:cs typeface="Cambria"/>
              </a:rPr>
              <a:t>	</a:t>
            </a:r>
            <a:r>
              <a:rPr dirty="0" sz="700" spc="-50">
                <a:latin typeface="Cambria"/>
                <a:cs typeface="Cambria"/>
              </a:rPr>
              <a:t>𝑖</a:t>
            </a:r>
            <a:r>
              <a:rPr dirty="0" sz="700">
                <a:latin typeface="Cambria"/>
                <a:cs typeface="Cambria"/>
              </a:rPr>
              <a:t>	</a:t>
            </a:r>
            <a:r>
              <a:rPr dirty="0" sz="700" spc="-50">
                <a:latin typeface="Cambria"/>
                <a:cs typeface="Cambria"/>
              </a:rPr>
              <a:t>𝑖</a:t>
            </a:r>
            <a:endParaRPr sz="700">
              <a:latin typeface="Cambria"/>
              <a:cs typeface="Cambria"/>
            </a:endParaRPr>
          </a:p>
        </p:txBody>
      </p:sp>
      <p:sp>
        <p:nvSpPr>
          <p:cNvPr id="15" name="object 15" descr=""/>
          <p:cNvSpPr txBox="1"/>
          <p:nvPr/>
        </p:nvSpPr>
        <p:spPr>
          <a:xfrm>
            <a:off x="3056572" y="6503446"/>
            <a:ext cx="1495425" cy="177800"/>
          </a:xfrm>
          <a:prstGeom prst="rect">
            <a:avLst/>
          </a:prstGeom>
        </p:spPr>
        <p:txBody>
          <a:bodyPr wrap="square" lIns="0" tIns="12065" rIns="0" bIns="0" rtlCol="0" vert="horz">
            <a:spAutoFit/>
          </a:bodyPr>
          <a:lstStyle/>
          <a:p>
            <a:pPr marL="12700">
              <a:lnSpc>
                <a:spcPct val="100000"/>
              </a:lnSpc>
              <a:spcBef>
                <a:spcPts val="95"/>
              </a:spcBef>
              <a:tabLst>
                <a:tab pos="375285" algn="l"/>
                <a:tab pos="738505" algn="l"/>
              </a:tabLst>
            </a:pPr>
            <a:r>
              <a:rPr dirty="0" sz="1000" spc="-50">
                <a:latin typeface="Cambria"/>
                <a:cs typeface="Cambria"/>
              </a:rPr>
              <a:t>𝐿</a:t>
            </a:r>
            <a:r>
              <a:rPr dirty="0" sz="1000">
                <a:latin typeface="Cambria"/>
                <a:cs typeface="Cambria"/>
              </a:rPr>
              <a:t>	</a:t>
            </a:r>
            <a:r>
              <a:rPr dirty="0" sz="1000" spc="165">
                <a:latin typeface="Cambria"/>
                <a:cs typeface="Cambria"/>
              </a:rPr>
              <a:t>=</a:t>
            </a:r>
            <a:r>
              <a:rPr dirty="0" sz="1000" spc="55">
                <a:latin typeface="Cambria"/>
                <a:cs typeface="Cambria"/>
              </a:rPr>
              <a:t> </a:t>
            </a:r>
            <a:r>
              <a:rPr dirty="0" sz="1000" spc="-50">
                <a:latin typeface="Cambria"/>
                <a:cs typeface="Cambria"/>
              </a:rPr>
              <a:t>𝐿</a:t>
            </a:r>
            <a:r>
              <a:rPr dirty="0" sz="1000">
                <a:latin typeface="Cambria"/>
                <a:cs typeface="Cambria"/>
              </a:rPr>
              <a:t>	(𝑊𝐳</a:t>
            </a:r>
            <a:r>
              <a:rPr dirty="0" sz="1000" spc="235">
                <a:latin typeface="Cambria"/>
                <a:cs typeface="Cambria"/>
              </a:rPr>
              <a:t>  </a:t>
            </a:r>
            <a:r>
              <a:rPr dirty="0" sz="1000" spc="165">
                <a:latin typeface="Cambria"/>
                <a:cs typeface="Cambria"/>
              </a:rPr>
              <a:t>+</a:t>
            </a:r>
            <a:r>
              <a:rPr dirty="0" sz="1000">
                <a:latin typeface="Cambria"/>
                <a:cs typeface="Cambria"/>
              </a:rPr>
              <a:t> 𝑏,</a:t>
            </a:r>
            <a:r>
              <a:rPr dirty="0" sz="1000" spc="-55">
                <a:latin typeface="Cambria"/>
                <a:cs typeface="Cambria"/>
              </a:rPr>
              <a:t> </a:t>
            </a:r>
            <a:r>
              <a:rPr dirty="0" sz="1000">
                <a:latin typeface="Cambria"/>
                <a:cs typeface="Cambria"/>
              </a:rPr>
              <a:t>𝑦</a:t>
            </a:r>
            <a:r>
              <a:rPr dirty="0" sz="1000" spc="125">
                <a:latin typeface="Cambria"/>
                <a:cs typeface="Cambria"/>
              </a:rPr>
              <a:t> </a:t>
            </a:r>
            <a:r>
              <a:rPr dirty="0" sz="1000" spc="-50">
                <a:latin typeface="Cambria"/>
                <a:cs typeface="Cambria"/>
              </a:rPr>
              <a:t>)</a:t>
            </a:r>
            <a:endParaRPr sz="1000">
              <a:latin typeface="Cambria"/>
              <a:cs typeface="Cambria"/>
            </a:endParaRPr>
          </a:p>
        </p:txBody>
      </p:sp>
      <p:sp>
        <p:nvSpPr>
          <p:cNvPr id="16" name="object 16" descr=""/>
          <p:cNvSpPr txBox="1"/>
          <p:nvPr/>
        </p:nvSpPr>
        <p:spPr>
          <a:xfrm>
            <a:off x="3031172" y="6700829"/>
            <a:ext cx="1321435" cy="177800"/>
          </a:xfrm>
          <a:prstGeom prst="rect">
            <a:avLst/>
          </a:prstGeom>
        </p:spPr>
        <p:txBody>
          <a:bodyPr wrap="square" lIns="0" tIns="12065" rIns="0" bIns="0" rtlCol="0" vert="horz">
            <a:spAutoFit/>
          </a:bodyPr>
          <a:lstStyle/>
          <a:p>
            <a:pPr marL="38100">
              <a:lnSpc>
                <a:spcPct val="100000"/>
              </a:lnSpc>
              <a:spcBef>
                <a:spcPts val="95"/>
              </a:spcBef>
            </a:pPr>
            <a:r>
              <a:rPr dirty="0" sz="1000">
                <a:latin typeface="Cambria"/>
                <a:cs typeface="Cambria"/>
              </a:rPr>
              <a:t>𝑧</a:t>
            </a:r>
            <a:r>
              <a:rPr dirty="0" baseline="-15873" sz="1050">
                <a:latin typeface="Cambria"/>
                <a:cs typeface="Cambria"/>
              </a:rPr>
              <a:t>𝑖</a:t>
            </a:r>
            <a:r>
              <a:rPr dirty="0" baseline="27777" sz="1050">
                <a:latin typeface="Cambria"/>
                <a:cs typeface="Cambria"/>
              </a:rPr>
              <a:t>𝜏</a:t>
            </a:r>
            <a:r>
              <a:rPr dirty="0" baseline="27777" sz="1050" spc="405">
                <a:latin typeface="Cambria"/>
                <a:cs typeface="Cambria"/>
              </a:rPr>
              <a:t> </a:t>
            </a:r>
            <a:r>
              <a:rPr dirty="0" sz="1000" spc="165">
                <a:latin typeface="Cambria"/>
                <a:cs typeface="Cambria"/>
              </a:rPr>
              <a:t>=</a:t>
            </a:r>
            <a:r>
              <a:rPr dirty="0" sz="1000" spc="155">
                <a:latin typeface="Cambria"/>
                <a:cs typeface="Cambria"/>
              </a:rPr>
              <a:t> </a:t>
            </a:r>
            <a:r>
              <a:rPr dirty="0" sz="1000">
                <a:latin typeface="Cambria"/>
                <a:cs typeface="Cambria"/>
              </a:rPr>
              <a:t>𝜑</a:t>
            </a:r>
            <a:r>
              <a:rPr dirty="0" baseline="-15873" sz="1050">
                <a:latin typeface="Cambria"/>
                <a:cs typeface="Cambria"/>
              </a:rPr>
              <a:t>𝜏</a:t>
            </a:r>
            <a:r>
              <a:rPr dirty="0" baseline="-15873" sz="1050" spc="195">
                <a:latin typeface="Cambria"/>
                <a:cs typeface="Cambria"/>
              </a:rPr>
              <a:t> </a:t>
            </a:r>
            <a:r>
              <a:rPr dirty="0" sz="1000" spc="-10">
                <a:latin typeface="Cambria"/>
                <a:cs typeface="Cambria"/>
              </a:rPr>
              <a:t>(𝜃</a:t>
            </a:r>
            <a:r>
              <a:rPr dirty="0" baseline="-15873" sz="1050" spc="-15">
                <a:latin typeface="Cambria"/>
                <a:cs typeface="Cambria"/>
              </a:rPr>
              <a:t>𝜏</a:t>
            </a:r>
            <a:r>
              <a:rPr dirty="0" sz="1000" spc="-10">
                <a:latin typeface="Cambria"/>
                <a:cs typeface="Cambria"/>
              </a:rPr>
              <a:t>,</a:t>
            </a:r>
            <a:r>
              <a:rPr dirty="0" sz="1000" spc="5">
                <a:latin typeface="Cambria"/>
                <a:cs typeface="Cambria"/>
              </a:rPr>
              <a:t> </a:t>
            </a:r>
            <a:r>
              <a:rPr dirty="0" sz="1000">
                <a:latin typeface="Cambria"/>
                <a:cs typeface="Cambria"/>
              </a:rPr>
              <a:t>𝑧</a:t>
            </a:r>
            <a:r>
              <a:rPr dirty="0" baseline="-15873" sz="1050">
                <a:latin typeface="Cambria"/>
                <a:cs typeface="Cambria"/>
              </a:rPr>
              <a:t>𝑖</a:t>
            </a:r>
            <a:r>
              <a:rPr dirty="0" baseline="27777" sz="1050">
                <a:latin typeface="Cambria"/>
                <a:cs typeface="Cambria"/>
              </a:rPr>
              <a:t>𝑚</a:t>
            </a:r>
            <a:r>
              <a:rPr dirty="0" baseline="20202" sz="825">
                <a:latin typeface="Cambria"/>
                <a:cs typeface="Cambria"/>
              </a:rPr>
              <a:t>1</a:t>
            </a:r>
            <a:r>
              <a:rPr dirty="0" baseline="20202" sz="825" spc="15">
                <a:latin typeface="Cambria"/>
                <a:cs typeface="Cambria"/>
              </a:rPr>
              <a:t> </a:t>
            </a:r>
            <a:r>
              <a:rPr dirty="0" sz="1000">
                <a:latin typeface="Cambria"/>
                <a:cs typeface="Cambria"/>
              </a:rPr>
              <a:t>,</a:t>
            </a:r>
            <a:r>
              <a:rPr dirty="0" sz="1000" spc="5">
                <a:latin typeface="Cambria"/>
                <a:cs typeface="Cambria"/>
              </a:rPr>
              <a:t> </a:t>
            </a:r>
            <a:r>
              <a:rPr dirty="0" sz="1000">
                <a:latin typeface="Cambria"/>
                <a:cs typeface="Cambria"/>
              </a:rPr>
              <a:t>𝑧</a:t>
            </a:r>
            <a:r>
              <a:rPr dirty="0" baseline="-15873" sz="1050">
                <a:latin typeface="Cambria"/>
                <a:cs typeface="Cambria"/>
              </a:rPr>
              <a:t>𝑖</a:t>
            </a:r>
            <a:r>
              <a:rPr dirty="0" baseline="27777" sz="1050">
                <a:latin typeface="Cambria"/>
                <a:cs typeface="Cambria"/>
              </a:rPr>
              <a:t>𝑚</a:t>
            </a:r>
            <a:r>
              <a:rPr dirty="0" baseline="20202" sz="825">
                <a:latin typeface="Cambria"/>
                <a:cs typeface="Cambria"/>
              </a:rPr>
              <a:t>2</a:t>
            </a:r>
            <a:r>
              <a:rPr dirty="0" baseline="20202" sz="825" spc="15">
                <a:latin typeface="Cambria"/>
                <a:cs typeface="Cambria"/>
              </a:rPr>
              <a:t> </a:t>
            </a:r>
            <a:r>
              <a:rPr dirty="0" sz="1000" spc="-50">
                <a:latin typeface="Cambria"/>
                <a:cs typeface="Cambria"/>
              </a:rPr>
              <a:t>)</a:t>
            </a:r>
            <a:endParaRPr sz="1000">
              <a:latin typeface="Cambria"/>
              <a:cs typeface="Cambria"/>
            </a:endParaRPr>
          </a:p>
        </p:txBody>
      </p:sp>
      <p:sp>
        <p:nvSpPr>
          <p:cNvPr id="17" name="object 17" descr=""/>
          <p:cNvSpPr txBox="1"/>
          <p:nvPr/>
        </p:nvSpPr>
        <p:spPr>
          <a:xfrm>
            <a:off x="6497878" y="6593794"/>
            <a:ext cx="175260" cy="177800"/>
          </a:xfrm>
          <a:prstGeom prst="rect">
            <a:avLst/>
          </a:prstGeom>
        </p:spPr>
        <p:txBody>
          <a:bodyPr wrap="square" lIns="0" tIns="12065" rIns="0" bIns="0" rtlCol="0" vert="horz">
            <a:spAutoFit/>
          </a:bodyPr>
          <a:lstStyle/>
          <a:p>
            <a:pPr marL="12700">
              <a:lnSpc>
                <a:spcPct val="100000"/>
              </a:lnSpc>
              <a:spcBef>
                <a:spcPts val="95"/>
              </a:spcBef>
            </a:pPr>
            <a:r>
              <a:rPr dirty="0" sz="1000" spc="-25">
                <a:latin typeface="Times New Roman"/>
                <a:cs typeface="Times New Roman"/>
              </a:rPr>
              <a:t>(1)</a:t>
            </a:r>
            <a:endParaRPr sz="1000">
              <a:latin typeface="Times New Roman"/>
              <a:cs typeface="Times New Roman"/>
            </a:endParaRPr>
          </a:p>
        </p:txBody>
      </p:sp>
      <p:grpSp>
        <p:nvGrpSpPr>
          <p:cNvPr id="18" name="object 18" descr=""/>
          <p:cNvGrpSpPr/>
          <p:nvPr/>
        </p:nvGrpSpPr>
        <p:grpSpPr>
          <a:xfrm>
            <a:off x="899998" y="7433962"/>
            <a:ext cx="5760085" cy="351155"/>
            <a:chOff x="899998" y="7433962"/>
            <a:chExt cx="5760085" cy="351155"/>
          </a:xfrm>
        </p:grpSpPr>
        <p:sp>
          <p:nvSpPr>
            <p:cNvPr id="19" name="object 19" descr=""/>
            <p:cNvSpPr/>
            <p:nvPr/>
          </p:nvSpPr>
          <p:spPr>
            <a:xfrm>
              <a:off x="899998" y="7433962"/>
              <a:ext cx="5760085" cy="351155"/>
            </a:xfrm>
            <a:custGeom>
              <a:avLst/>
              <a:gdLst/>
              <a:ahLst/>
              <a:cxnLst/>
              <a:rect l="l" t="t" r="r" b="b"/>
              <a:pathLst>
                <a:path w="5760084" h="351154">
                  <a:moveTo>
                    <a:pt x="5724074" y="0"/>
                  </a:moveTo>
                  <a:lnTo>
                    <a:pt x="36000" y="0"/>
                  </a:lnTo>
                  <a:lnTo>
                    <a:pt x="21987" y="2829"/>
                  </a:lnTo>
                  <a:lnTo>
                    <a:pt x="10544" y="10544"/>
                  </a:lnTo>
                  <a:lnTo>
                    <a:pt x="2829" y="21987"/>
                  </a:lnTo>
                  <a:lnTo>
                    <a:pt x="0" y="36000"/>
                  </a:lnTo>
                  <a:lnTo>
                    <a:pt x="0" y="314553"/>
                  </a:lnTo>
                  <a:lnTo>
                    <a:pt x="2829" y="328566"/>
                  </a:lnTo>
                  <a:lnTo>
                    <a:pt x="10544" y="340009"/>
                  </a:lnTo>
                  <a:lnTo>
                    <a:pt x="21987" y="347724"/>
                  </a:lnTo>
                  <a:lnTo>
                    <a:pt x="36000" y="350553"/>
                  </a:lnTo>
                  <a:lnTo>
                    <a:pt x="5724074" y="350553"/>
                  </a:lnTo>
                  <a:lnTo>
                    <a:pt x="5738087" y="347724"/>
                  </a:lnTo>
                  <a:lnTo>
                    <a:pt x="5749530" y="340009"/>
                  </a:lnTo>
                  <a:lnTo>
                    <a:pt x="5757245" y="328566"/>
                  </a:lnTo>
                  <a:lnTo>
                    <a:pt x="5760074" y="31455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0" name="object 20" descr=""/>
            <p:cNvSpPr/>
            <p:nvPr/>
          </p:nvSpPr>
          <p:spPr>
            <a:xfrm>
              <a:off x="899998" y="7433962"/>
              <a:ext cx="5760085" cy="351155"/>
            </a:xfrm>
            <a:custGeom>
              <a:avLst/>
              <a:gdLst/>
              <a:ahLst/>
              <a:cxnLst/>
              <a:rect l="l" t="t" r="r" b="b"/>
              <a:pathLst>
                <a:path w="5760084" h="351154">
                  <a:moveTo>
                    <a:pt x="5724074" y="0"/>
                  </a:moveTo>
                  <a:lnTo>
                    <a:pt x="36000" y="0"/>
                  </a:lnTo>
                  <a:lnTo>
                    <a:pt x="21987" y="2829"/>
                  </a:lnTo>
                  <a:lnTo>
                    <a:pt x="10544" y="10544"/>
                  </a:lnTo>
                  <a:lnTo>
                    <a:pt x="2829" y="21987"/>
                  </a:lnTo>
                  <a:lnTo>
                    <a:pt x="0" y="36000"/>
                  </a:lnTo>
                  <a:lnTo>
                    <a:pt x="0" y="314553"/>
                  </a:lnTo>
                  <a:lnTo>
                    <a:pt x="2829" y="328566"/>
                  </a:lnTo>
                  <a:lnTo>
                    <a:pt x="10544" y="340009"/>
                  </a:lnTo>
                  <a:lnTo>
                    <a:pt x="21987" y="347724"/>
                  </a:lnTo>
                  <a:lnTo>
                    <a:pt x="36000" y="350553"/>
                  </a:lnTo>
                  <a:lnTo>
                    <a:pt x="5724074" y="350553"/>
                  </a:lnTo>
                  <a:lnTo>
                    <a:pt x="5738087" y="347724"/>
                  </a:lnTo>
                  <a:lnTo>
                    <a:pt x="5749530" y="340009"/>
                  </a:lnTo>
                  <a:lnTo>
                    <a:pt x="5757245" y="328566"/>
                  </a:lnTo>
                  <a:lnTo>
                    <a:pt x="5760074" y="31455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1" name="object 21" descr=""/>
          <p:cNvSpPr txBox="1"/>
          <p:nvPr/>
        </p:nvSpPr>
        <p:spPr>
          <a:xfrm>
            <a:off x="1029195" y="6892397"/>
            <a:ext cx="3006725" cy="796290"/>
          </a:xfrm>
          <a:prstGeom prst="rect">
            <a:avLst/>
          </a:prstGeom>
        </p:spPr>
        <p:txBody>
          <a:bodyPr wrap="square" lIns="0" tIns="59055" rIns="0" bIns="0" rtlCol="0" vert="horz">
            <a:spAutoFit/>
          </a:bodyPr>
          <a:lstStyle/>
          <a:p>
            <a:pPr marL="123825">
              <a:lnSpc>
                <a:spcPct val="100000"/>
              </a:lnSpc>
              <a:spcBef>
                <a:spcPts val="465"/>
              </a:spcBef>
            </a:pPr>
            <a:r>
              <a:rPr dirty="0" sz="1000" spc="-25">
                <a:latin typeface="Times New Roman"/>
                <a:cs typeface="Times New Roman"/>
              </a:rPr>
              <a:t>(2)</a:t>
            </a:r>
            <a:endParaRPr sz="1000">
              <a:latin typeface="Times New Roman"/>
              <a:cs typeface="Times New Roman"/>
            </a:endParaRPr>
          </a:p>
          <a:p>
            <a:pPr marL="123825">
              <a:lnSpc>
                <a:spcPct val="100000"/>
              </a:lnSpc>
              <a:spcBef>
                <a:spcPts val="365"/>
              </a:spcBef>
            </a:pPr>
            <a:r>
              <a:rPr dirty="0" sz="1000">
                <a:latin typeface="Times New Roman"/>
                <a:cs typeface="Times New Roman"/>
              </a:rPr>
              <a:t>where</a:t>
            </a:r>
            <a:r>
              <a:rPr dirty="0" sz="1000" spc="55">
                <a:latin typeface="Times New Roman"/>
                <a:cs typeface="Times New Roman"/>
              </a:rPr>
              <a:t> </a:t>
            </a:r>
            <a:r>
              <a:rPr dirty="0" sz="1000" spc="70">
                <a:latin typeface="Cambria"/>
                <a:cs typeface="Cambria"/>
              </a:rPr>
              <a:t>𝐿</a:t>
            </a:r>
            <a:r>
              <a:rPr dirty="0" baseline="-15873" sz="1050" spc="104">
                <a:latin typeface="Cambria"/>
                <a:cs typeface="Cambria"/>
              </a:rPr>
              <a:t>𝐶𝐸</a:t>
            </a:r>
            <a:r>
              <a:rPr dirty="0" baseline="-15873" sz="1050" spc="232">
                <a:latin typeface="Cambria"/>
                <a:cs typeface="Cambria"/>
              </a:rPr>
              <a:t> </a:t>
            </a:r>
            <a:r>
              <a:rPr dirty="0" sz="1000">
                <a:latin typeface="Cambria"/>
                <a:cs typeface="Cambria"/>
              </a:rPr>
              <a:t>(., .)</a:t>
            </a:r>
            <a:r>
              <a:rPr dirty="0" sz="1000" spc="90">
                <a:latin typeface="Cambria"/>
                <a:cs typeface="Cambria"/>
              </a:rPr>
              <a:t> </a:t>
            </a:r>
            <a:r>
              <a:rPr dirty="0" sz="1000">
                <a:latin typeface="Times New Roman"/>
                <a:cs typeface="Times New Roman"/>
              </a:rPr>
              <a:t>is</a:t>
            </a:r>
            <a:r>
              <a:rPr dirty="0" sz="1000" spc="60">
                <a:latin typeface="Times New Roman"/>
                <a:cs typeface="Times New Roman"/>
              </a:rPr>
              <a:t> </a:t>
            </a:r>
            <a:r>
              <a:rPr dirty="0" sz="1000">
                <a:latin typeface="Times New Roman"/>
                <a:cs typeface="Times New Roman"/>
              </a:rPr>
              <a:t>the</a:t>
            </a:r>
            <a:r>
              <a:rPr dirty="0" sz="1000" spc="55">
                <a:latin typeface="Times New Roman"/>
                <a:cs typeface="Times New Roman"/>
              </a:rPr>
              <a:t> </a:t>
            </a:r>
            <a:r>
              <a:rPr dirty="0" sz="1000">
                <a:latin typeface="Times New Roman"/>
                <a:cs typeface="Times New Roman"/>
              </a:rPr>
              <a:t>the</a:t>
            </a:r>
            <a:r>
              <a:rPr dirty="0" sz="1000" spc="60">
                <a:latin typeface="Times New Roman"/>
                <a:cs typeface="Times New Roman"/>
              </a:rPr>
              <a:t> </a:t>
            </a:r>
            <a:r>
              <a:rPr dirty="0" sz="1000">
                <a:latin typeface="Times New Roman"/>
                <a:cs typeface="Times New Roman"/>
              </a:rPr>
              <a:t>cross-entropy</a:t>
            </a:r>
            <a:r>
              <a:rPr dirty="0" sz="1000" spc="60">
                <a:latin typeface="Times New Roman"/>
                <a:cs typeface="Times New Roman"/>
              </a:rPr>
              <a:t> </a:t>
            </a:r>
            <a:r>
              <a:rPr dirty="0" sz="1000">
                <a:latin typeface="Times New Roman"/>
                <a:cs typeface="Times New Roman"/>
              </a:rPr>
              <a:t>loss</a:t>
            </a:r>
            <a:r>
              <a:rPr dirty="0" sz="1000" spc="55">
                <a:latin typeface="Times New Roman"/>
                <a:cs typeface="Times New Roman"/>
              </a:rPr>
              <a:t> </a:t>
            </a:r>
            <a:r>
              <a:rPr dirty="0" sz="1000" spc="-10">
                <a:latin typeface="Times New Roman"/>
                <a:cs typeface="Times New Roman"/>
              </a:rPr>
              <a:t>function.</a:t>
            </a:r>
            <a:endParaRPr sz="1000">
              <a:latin typeface="Times New Roman"/>
              <a:cs typeface="Times New Roman"/>
            </a:endParaRPr>
          </a:p>
          <a:p>
            <a:pPr>
              <a:lnSpc>
                <a:spcPct val="100000"/>
              </a:lnSpc>
              <a:spcBef>
                <a:spcPts val="585"/>
              </a:spcBef>
            </a:pPr>
            <a:endParaRPr sz="1000">
              <a:latin typeface="Times New Roman"/>
              <a:cs typeface="Times New Roman"/>
            </a:endParaRPr>
          </a:p>
          <a:p>
            <a:pPr marL="50800">
              <a:lnSpc>
                <a:spcPct val="100000"/>
              </a:lnSpc>
            </a:pPr>
            <a:r>
              <a:rPr dirty="0" sz="1000" spc="105">
                <a:latin typeface="SimSun"/>
                <a:cs typeface="SimSun"/>
              </a:rPr>
              <a:t>其中</a:t>
            </a:r>
            <a:r>
              <a:rPr dirty="0" sz="1000" spc="70">
                <a:latin typeface="Cambria"/>
                <a:cs typeface="Cambria"/>
              </a:rPr>
              <a:t>𝐿</a:t>
            </a:r>
            <a:r>
              <a:rPr dirty="0" baseline="-15873" sz="1050" spc="104">
                <a:latin typeface="Cambria"/>
                <a:cs typeface="Cambria"/>
              </a:rPr>
              <a:t>𝐶𝐸</a:t>
            </a:r>
            <a:r>
              <a:rPr dirty="0" baseline="-15873" sz="1050" spc="150">
                <a:latin typeface="Cambria"/>
                <a:cs typeface="Cambria"/>
              </a:rPr>
              <a:t> </a:t>
            </a:r>
            <a:r>
              <a:rPr dirty="0" sz="1000" spc="-5">
                <a:latin typeface="Cambria"/>
                <a:cs typeface="Cambria"/>
              </a:rPr>
              <a:t>(., .) </a:t>
            </a:r>
            <a:r>
              <a:rPr dirty="0" sz="1000" spc="-15">
                <a:latin typeface="SimSun"/>
                <a:cs typeface="SimSun"/>
              </a:rPr>
              <a:t>是交叉熵损失函数。</a:t>
            </a:r>
            <a:endParaRPr sz="1000">
              <a:latin typeface="SimSun"/>
              <a:cs typeface="SimSun"/>
            </a:endParaRPr>
          </a:p>
        </p:txBody>
      </p:sp>
      <p:sp>
        <p:nvSpPr>
          <p:cNvPr id="22" name="object 22" descr=""/>
          <p:cNvSpPr txBox="1"/>
          <p:nvPr/>
        </p:nvSpPr>
        <p:spPr>
          <a:xfrm>
            <a:off x="3752862" y="7871145"/>
            <a:ext cx="233679"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Times New Roman"/>
                <a:cs typeface="Times New Roman"/>
              </a:rPr>
              <a:t>Multi</a:t>
            </a:r>
            <a:endParaRPr sz="700">
              <a:latin typeface="Times New Roman"/>
              <a:cs typeface="Times New Roman"/>
            </a:endParaRPr>
          </a:p>
        </p:txBody>
      </p:sp>
      <p:sp>
        <p:nvSpPr>
          <p:cNvPr id="23" name="object 23" descr=""/>
          <p:cNvSpPr txBox="1"/>
          <p:nvPr/>
        </p:nvSpPr>
        <p:spPr>
          <a:xfrm>
            <a:off x="3732060" y="7958495"/>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24" name="object 24" descr=""/>
          <p:cNvSpPr txBox="1"/>
          <p:nvPr/>
        </p:nvSpPr>
        <p:spPr>
          <a:xfrm>
            <a:off x="3784219" y="7996078"/>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25" name="object 25" descr=""/>
          <p:cNvSpPr txBox="1"/>
          <p:nvPr/>
        </p:nvSpPr>
        <p:spPr>
          <a:xfrm>
            <a:off x="5570524" y="7946684"/>
            <a:ext cx="254000" cy="132080"/>
          </a:xfrm>
          <a:prstGeom prst="rect">
            <a:avLst/>
          </a:prstGeom>
        </p:spPr>
        <p:txBody>
          <a:bodyPr wrap="square" lIns="0" tIns="12065" rIns="0" bIns="0" rtlCol="0" vert="horz">
            <a:spAutoFit/>
          </a:bodyPr>
          <a:lstStyle/>
          <a:p>
            <a:pPr marL="12700">
              <a:lnSpc>
                <a:spcPct val="100000"/>
              </a:lnSpc>
              <a:spcBef>
                <a:spcPts val="95"/>
              </a:spcBef>
              <a:tabLst>
                <a:tab pos="195580" algn="l"/>
              </a:tabLst>
            </a:pPr>
            <a:r>
              <a:rPr dirty="0" sz="700" spc="-50">
                <a:latin typeface="Cambria"/>
                <a:cs typeface="Cambria"/>
              </a:rPr>
              <a:t>1</a:t>
            </a:r>
            <a:r>
              <a:rPr dirty="0" sz="700">
                <a:latin typeface="Cambria"/>
                <a:cs typeface="Cambria"/>
              </a:rPr>
              <a:t>	</a:t>
            </a:r>
            <a:r>
              <a:rPr dirty="0" sz="700" spc="-50">
                <a:latin typeface="Cambria"/>
                <a:cs typeface="Cambria"/>
              </a:rPr>
              <a:t>1</a:t>
            </a:r>
            <a:endParaRPr sz="700">
              <a:latin typeface="Cambria"/>
              <a:cs typeface="Cambria"/>
            </a:endParaRPr>
          </a:p>
        </p:txBody>
      </p:sp>
      <p:sp>
        <p:nvSpPr>
          <p:cNvPr id="26" name="object 26" descr=""/>
          <p:cNvSpPr txBox="1"/>
          <p:nvPr/>
        </p:nvSpPr>
        <p:spPr>
          <a:xfrm>
            <a:off x="1140345" y="7883657"/>
            <a:ext cx="5532755" cy="177800"/>
          </a:xfrm>
          <a:prstGeom prst="rect">
            <a:avLst/>
          </a:prstGeom>
        </p:spPr>
        <p:txBody>
          <a:bodyPr wrap="square" lIns="0" tIns="12065" rIns="0" bIns="0" rtlCol="0" vert="horz">
            <a:spAutoFit/>
          </a:bodyPr>
          <a:lstStyle/>
          <a:p>
            <a:pPr marL="12700">
              <a:lnSpc>
                <a:spcPct val="100000"/>
              </a:lnSpc>
              <a:spcBef>
                <a:spcPts val="95"/>
              </a:spcBef>
              <a:tabLst>
                <a:tab pos="2891790" algn="l"/>
              </a:tabLst>
            </a:pPr>
            <a:r>
              <a:rPr dirty="0" sz="1000">
                <a:latin typeface="Times New Roman"/>
                <a:cs typeface="Times New Roman"/>
              </a:rPr>
              <a:t>Then,</a:t>
            </a:r>
            <a:r>
              <a:rPr dirty="0" sz="1000" spc="135">
                <a:latin typeface="Times New Roman"/>
                <a:cs typeface="Times New Roman"/>
              </a:rPr>
              <a:t> </a:t>
            </a:r>
            <a:r>
              <a:rPr dirty="0" sz="1000">
                <a:latin typeface="Times New Roman"/>
                <a:cs typeface="Times New Roman"/>
              </a:rPr>
              <a:t>according</a:t>
            </a:r>
            <a:r>
              <a:rPr dirty="0" sz="1000" spc="130">
                <a:latin typeface="Times New Roman"/>
                <a:cs typeface="Times New Roman"/>
              </a:rPr>
              <a:t> </a:t>
            </a:r>
            <a:r>
              <a:rPr dirty="0" sz="1000">
                <a:latin typeface="Times New Roman"/>
                <a:cs typeface="Times New Roman"/>
              </a:rPr>
              <a:t>to</a:t>
            </a:r>
            <a:r>
              <a:rPr dirty="0" sz="1000" spc="135">
                <a:latin typeface="Times New Roman"/>
                <a:cs typeface="Times New Roman"/>
              </a:rPr>
              <a:t> </a:t>
            </a:r>
            <a:r>
              <a:rPr dirty="0" sz="1000">
                <a:latin typeface="Times New Roman"/>
                <a:cs typeface="Times New Roman"/>
              </a:rPr>
              <a:t>the</a:t>
            </a:r>
            <a:r>
              <a:rPr dirty="0" sz="1000" spc="130">
                <a:latin typeface="Times New Roman"/>
                <a:cs typeface="Times New Roman"/>
              </a:rPr>
              <a:t> </a:t>
            </a:r>
            <a:r>
              <a:rPr dirty="0" sz="1000">
                <a:latin typeface="Times New Roman"/>
                <a:cs typeface="Times New Roman"/>
              </a:rPr>
              <a:t>chain</a:t>
            </a:r>
            <a:r>
              <a:rPr dirty="0" sz="1000" spc="130">
                <a:latin typeface="Times New Roman"/>
                <a:cs typeface="Times New Roman"/>
              </a:rPr>
              <a:t> </a:t>
            </a:r>
            <a:r>
              <a:rPr dirty="0" sz="1000">
                <a:latin typeface="Times New Roman"/>
                <a:cs typeface="Times New Roman"/>
              </a:rPr>
              <a:t>rule,</a:t>
            </a:r>
            <a:r>
              <a:rPr dirty="0" sz="1000" spc="140">
                <a:latin typeface="Times New Roman"/>
                <a:cs typeface="Times New Roman"/>
              </a:rPr>
              <a:t> </a:t>
            </a:r>
            <a:r>
              <a:rPr dirty="0" sz="1000">
                <a:latin typeface="Times New Roman"/>
                <a:cs typeface="Times New Roman"/>
              </a:rPr>
              <a:t>the</a:t>
            </a:r>
            <a:r>
              <a:rPr dirty="0" sz="1000" spc="130">
                <a:latin typeface="Times New Roman"/>
                <a:cs typeface="Times New Roman"/>
              </a:rPr>
              <a:t> </a:t>
            </a:r>
            <a:r>
              <a:rPr dirty="0" sz="1000">
                <a:latin typeface="Times New Roman"/>
                <a:cs typeface="Times New Roman"/>
              </a:rPr>
              <a:t>gradient</a:t>
            </a:r>
            <a:r>
              <a:rPr dirty="0" sz="1000" spc="130">
                <a:latin typeface="Times New Roman"/>
                <a:cs typeface="Times New Roman"/>
              </a:rPr>
              <a:t> </a:t>
            </a:r>
            <a:r>
              <a:rPr dirty="0" sz="1000" spc="-50">
                <a:latin typeface="Cambria"/>
                <a:cs typeface="Cambria"/>
              </a:rPr>
              <a:t>𝑔</a:t>
            </a:r>
            <a:r>
              <a:rPr dirty="0" sz="1000">
                <a:latin typeface="Cambria"/>
                <a:cs typeface="Cambria"/>
              </a:rPr>
              <a:t>	</a:t>
            </a:r>
            <a:r>
              <a:rPr dirty="0" sz="1000">
                <a:latin typeface="Times New Roman"/>
                <a:cs typeface="Times New Roman"/>
              </a:rPr>
              <a:t>passed</a:t>
            </a:r>
            <a:r>
              <a:rPr dirty="0" sz="1000" spc="40">
                <a:latin typeface="Times New Roman"/>
                <a:cs typeface="Times New Roman"/>
              </a:rPr>
              <a:t> </a:t>
            </a:r>
            <a:r>
              <a:rPr dirty="0" sz="1000">
                <a:latin typeface="Times New Roman"/>
                <a:cs typeface="Times New Roman"/>
              </a:rPr>
              <a:t>back</a:t>
            </a:r>
            <a:r>
              <a:rPr dirty="0" sz="1000" spc="45">
                <a:latin typeface="Times New Roman"/>
                <a:cs typeface="Times New Roman"/>
              </a:rPr>
              <a:t> </a:t>
            </a:r>
            <a:r>
              <a:rPr dirty="0" sz="1000">
                <a:latin typeface="Times New Roman"/>
                <a:cs typeface="Times New Roman"/>
              </a:rPr>
              <a:t>to</a:t>
            </a:r>
            <a:r>
              <a:rPr dirty="0" sz="1000" spc="45">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a:latin typeface="Times New Roman"/>
                <a:cs typeface="Times New Roman"/>
              </a:rPr>
              <a:t>encoder</a:t>
            </a:r>
            <a:r>
              <a:rPr dirty="0" sz="1000" spc="40">
                <a:latin typeface="Times New Roman"/>
                <a:cs typeface="Times New Roman"/>
              </a:rPr>
              <a:t> </a:t>
            </a:r>
            <a:r>
              <a:rPr dirty="0" sz="1000">
                <a:latin typeface="Cambria"/>
                <a:cs typeface="Cambria"/>
              </a:rPr>
              <a:t>𝜑</a:t>
            </a:r>
            <a:r>
              <a:rPr dirty="0" sz="1000" spc="495">
                <a:latin typeface="Cambria"/>
                <a:cs typeface="Cambria"/>
              </a:rPr>
              <a:t> </a:t>
            </a:r>
            <a:r>
              <a:rPr dirty="0" sz="1000">
                <a:latin typeface="Cambria"/>
                <a:cs typeface="Cambria"/>
              </a:rPr>
              <a:t>(𝜃</a:t>
            </a:r>
            <a:r>
              <a:rPr dirty="0" sz="1000" spc="260">
                <a:latin typeface="Cambria"/>
                <a:cs typeface="Cambria"/>
              </a:rPr>
              <a:t> </a:t>
            </a:r>
            <a:r>
              <a:rPr dirty="0" sz="1000">
                <a:latin typeface="Cambria"/>
                <a:cs typeface="Cambria"/>
              </a:rPr>
              <a:t>,</a:t>
            </a:r>
            <a:r>
              <a:rPr dirty="0" sz="1000" spc="-25">
                <a:latin typeface="Cambria"/>
                <a:cs typeface="Cambria"/>
              </a:rPr>
              <a:t> </a:t>
            </a:r>
            <a:r>
              <a:rPr dirty="0" sz="1000">
                <a:latin typeface="Cambria"/>
                <a:cs typeface="Cambria"/>
              </a:rPr>
              <a:t>⋅)</a:t>
            </a:r>
            <a:r>
              <a:rPr dirty="0" sz="1000" spc="75">
                <a:latin typeface="Cambria"/>
                <a:cs typeface="Cambria"/>
              </a:rPr>
              <a:t> </a:t>
            </a:r>
            <a:r>
              <a:rPr dirty="0" sz="1000">
                <a:latin typeface="Times New Roman"/>
                <a:cs typeface="Times New Roman"/>
              </a:rPr>
              <a:t>in</a:t>
            </a:r>
            <a:r>
              <a:rPr dirty="0" sz="1000" spc="45">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spc="-10">
                <a:latin typeface="Times New Roman"/>
                <a:cs typeface="Times New Roman"/>
              </a:rPr>
              <a:t>multi-</a:t>
            </a:r>
            <a:endParaRPr sz="1000">
              <a:latin typeface="Times New Roman"/>
              <a:cs typeface="Times New Roman"/>
            </a:endParaRPr>
          </a:p>
        </p:txBody>
      </p:sp>
      <p:sp>
        <p:nvSpPr>
          <p:cNvPr id="27" name="object 27" descr=""/>
          <p:cNvSpPr txBox="1"/>
          <p:nvPr/>
        </p:nvSpPr>
        <p:spPr>
          <a:xfrm>
            <a:off x="887298" y="8079529"/>
            <a:ext cx="2237105" cy="177800"/>
          </a:xfrm>
          <a:prstGeom prst="rect">
            <a:avLst/>
          </a:prstGeom>
        </p:spPr>
        <p:txBody>
          <a:bodyPr wrap="square" lIns="0" tIns="12065" rIns="0" bIns="0" rtlCol="0" vert="horz">
            <a:spAutoFit/>
          </a:bodyPr>
          <a:lstStyle/>
          <a:p>
            <a:pPr marL="12700">
              <a:lnSpc>
                <a:spcPct val="100000"/>
              </a:lnSpc>
              <a:spcBef>
                <a:spcPts val="95"/>
              </a:spcBef>
            </a:pPr>
            <a:r>
              <a:rPr dirty="0" sz="1000">
                <a:latin typeface="Times New Roman"/>
                <a:cs typeface="Times New Roman"/>
              </a:rPr>
              <a:t>modal</a:t>
            </a:r>
            <a:r>
              <a:rPr dirty="0" sz="1000" spc="65">
                <a:latin typeface="Times New Roman"/>
                <a:cs typeface="Times New Roman"/>
              </a:rPr>
              <a:t> </a:t>
            </a:r>
            <a:r>
              <a:rPr dirty="0" sz="1000">
                <a:latin typeface="Times New Roman"/>
                <a:cs typeface="Times New Roman"/>
              </a:rPr>
              <a:t>model</a:t>
            </a:r>
            <a:r>
              <a:rPr dirty="0" sz="1000" spc="65">
                <a:latin typeface="Times New Roman"/>
                <a:cs typeface="Times New Roman"/>
              </a:rPr>
              <a:t> </a:t>
            </a:r>
            <a:r>
              <a:rPr dirty="0" sz="1000">
                <a:latin typeface="Times New Roman"/>
                <a:cs typeface="Times New Roman"/>
              </a:rPr>
              <a:t>can</a:t>
            </a:r>
            <a:r>
              <a:rPr dirty="0" sz="1000" spc="65">
                <a:latin typeface="Times New Roman"/>
                <a:cs typeface="Times New Roman"/>
              </a:rPr>
              <a:t> </a:t>
            </a:r>
            <a:r>
              <a:rPr dirty="0" sz="1000">
                <a:latin typeface="Times New Roman"/>
                <a:cs typeface="Times New Roman"/>
              </a:rPr>
              <a:t>be</a:t>
            </a:r>
            <a:r>
              <a:rPr dirty="0" sz="1000" spc="65">
                <a:latin typeface="Times New Roman"/>
                <a:cs typeface="Times New Roman"/>
              </a:rPr>
              <a:t> </a:t>
            </a:r>
            <a:r>
              <a:rPr dirty="0" sz="1000">
                <a:latin typeface="Times New Roman"/>
                <a:cs typeface="Times New Roman"/>
              </a:rPr>
              <a:t>expressed</a:t>
            </a:r>
            <a:r>
              <a:rPr dirty="0" sz="1000" spc="65">
                <a:latin typeface="Times New Roman"/>
                <a:cs typeface="Times New Roman"/>
              </a:rPr>
              <a:t> </a:t>
            </a:r>
            <a:r>
              <a:rPr dirty="0" sz="1000">
                <a:latin typeface="Times New Roman"/>
                <a:cs typeface="Times New Roman"/>
              </a:rPr>
              <a:t>as</a:t>
            </a:r>
            <a:r>
              <a:rPr dirty="0" sz="1000" spc="70">
                <a:latin typeface="Times New Roman"/>
                <a:cs typeface="Times New Roman"/>
              </a:rPr>
              <a:t> </a:t>
            </a:r>
            <a:r>
              <a:rPr dirty="0" sz="1000" spc="-10">
                <a:latin typeface="Times New Roman"/>
                <a:cs typeface="Times New Roman"/>
              </a:rPr>
              <a:t>follows,</a:t>
            </a:r>
            <a:endParaRPr sz="1000">
              <a:latin typeface="Times New Roman"/>
              <a:cs typeface="Times New Roman"/>
            </a:endParaRPr>
          </a:p>
        </p:txBody>
      </p:sp>
      <p:grpSp>
        <p:nvGrpSpPr>
          <p:cNvPr id="28" name="object 28" descr=""/>
          <p:cNvGrpSpPr/>
          <p:nvPr/>
        </p:nvGrpSpPr>
        <p:grpSpPr>
          <a:xfrm>
            <a:off x="899998" y="8376658"/>
            <a:ext cx="5760085" cy="384810"/>
            <a:chOff x="899998" y="8376658"/>
            <a:chExt cx="5760085" cy="384810"/>
          </a:xfrm>
        </p:grpSpPr>
        <p:sp>
          <p:nvSpPr>
            <p:cNvPr id="29" name="object 29" descr=""/>
            <p:cNvSpPr/>
            <p:nvPr/>
          </p:nvSpPr>
          <p:spPr>
            <a:xfrm>
              <a:off x="899998" y="8376658"/>
              <a:ext cx="5760085" cy="384810"/>
            </a:xfrm>
            <a:custGeom>
              <a:avLst/>
              <a:gdLst/>
              <a:ahLst/>
              <a:cxnLst/>
              <a:rect l="l" t="t" r="r" b="b"/>
              <a:pathLst>
                <a:path w="5760084" h="384809">
                  <a:moveTo>
                    <a:pt x="5724074" y="0"/>
                  </a:moveTo>
                  <a:lnTo>
                    <a:pt x="36000" y="0"/>
                  </a:lnTo>
                  <a:lnTo>
                    <a:pt x="21987" y="2829"/>
                  </a:lnTo>
                  <a:lnTo>
                    <a:pt x="10544" y="10544"/>
                  </a:lnTo>
                  <a:lnTo>
                    <a:pt x="2829" y="21987"/>
                  </a:lnTo>
                  <a:lnTo>
                    <a:pt x="0" y="36000"/>
                  </a:lnTo>
                  <a:lnTo>
                    <a:pt x="0" y="348487"/>
                  </a:lnTo>
                  <a:lnTo>
                    <a:pt x="2829" y="362500"/>
                  </a:lnTo>
                  <a:lnTo>
                    <a:pt x="10544" y="373943"/>
                  </a:lnTo>
                  <a:lnTo>
                    <a:pt x="21987" y="381658"/>
                  </a:lnTo>
                  <a:lnTo>
                    <a:pt x="36000" y="384487"/>
                  </a:lnTo>
                  <a:lnTo>
                    <a:pt x="5724074" y="384487"/>
                  </a:lnTo>
                  <a:lnTo>
                    <a:pt x="5738087" y="381658"/>
                  </a:lnTo>
                  <a:lnTo>
                    <a:pt x="5749530" y="373943"/>
                  </a:lnTo>
                  <a:lnTo>
                    <a:pt x="5757245" y="362500"/>
                  </a:lnTo>
                  <a:lnTo>
                    <a:pt x="5760074" y="34848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30" name="object 30" descr=""/>
            <p:cNvSpPr/>
            <p:nvPr/>
          </p:nvSpPr>
          <p:spPr>
            <a:xfrm>
              <a:off x="899998" y="8376658"/>
              <a:ext cx="5760085" cy="384810"/>
            </a:xfrm>
            <a:custGeom>
              <a:avLst/>
              <a:gdLst/>
              <a:ahLst/>
              <a:cxnLst/>
              <a:rect l="l" t="t" r="r" b="b"/>
              <a:pathLst>
                <a:path w="5760084" h="384809">
                  <a:moveTo>
                    <a:pt x="5724074" y="0"/>
                  </a:moveTo>
                  <a:lnTo>
                    <a:pt x="36000" y="0"/>
                  </a:lnTo>
                  <a:lnTo>
                    <a:pt x="21987" y="2829"/>
                  </a:lnTo>
                  <a:lnTo>
                    <a:pt x="10544" y="10544"/>
                  </a:lnTo>
                  <a:lnTo>
                    <a:pt x="2829" y="21987"/>
                  </a:lnTo>
                  <a:lnTo>
                    <a:pt x="0" y="36000"/>
                  </a:lnTo>
                  <a:lnTo>
                    <a:pt x="0" y="348487"/>
                  </a:lnTo>
                  <a:lnTo>
                    <a:pt x="2829" y="362500"/>
                  </a:lnTo>
                  <a:lnTo>
                    <a:pt x="10544" y="373943"/>
                  </a:lnTo>
                  <a:lnTo>
                    <a:pt x="21987" y="381658"/>
                  </a:lnTo>
                  <a:lnTo>
                    <a:pt x="36000" y="384487"/>
                  </a:lnTo>
                  <a:lnTo>
                    <a:pt x="5724074" y="384487"/>
                  </a:lnTo>
                  <a:lnTo>
                    <a:pt x="5738087" y="381658"/>
                  </a:lnTo>
                  <a:lnTo>
                    <a:pt x="5749530" y="373943"/>
                  </a:lnTo>
                  <a:lnTo>
                    <a:pt x="5757245" y="362500"/>
                  </a:lnTo>
                  <a:lnTo>
                    <a:pt x="5760074" y="34848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31" name="object 31" descr=""/>
          <p:cNvSpPr txBox="1"/>
          <p:nvPr/>
        </p:nvSpPr>
        <p:spPr>
          <a:xfrm>
            <a:off x="4979657" y="8445921"/>
            <a:ext cx="233679"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Times New Roman"/>
                <a:cs typeface="Times New Roman"/>
              </a:rPr>
              <a:t>Multi</a:t>
            </a:r>
            <a:endParaRPr sz="700">
              <a:latin typeface="Times New Roman"/>
              <a:cs typeface="Times New Roman"/>
            </a:endParaRPr>
          </a:p>
        </p:txBody>
      </p:sp>
      <p:sp>
        <p:nvSpPr>
          <p:cNvPr id="32" name="object 32" descr=""/>
          <p:cNvSpPr txBox="1"/>
          <p:nvPr/>
        </p:nvSpPr>
        <p:spPr>
          <a:xfrm>
            <a:off x="4061688" y="8533272"/>
            <a:ext cx="987425" cy="132080"/>
          </a:xfrm>
          <a:prstGeom prst="rect">
            <a:avLst/>
          </a:prstGeom>
        </p:spPr>
        <p:txBody>
          <a:bodyPr wrap="square" lIns="0" tIns="12065" rIns="0" bIns="0" rtlCol="0" vert="horz">
            <a:spAutoFit/>
          </a:bodyPr>
          <a:lstStyle/>
          <a:p>
            <a:pPr marL="38100">
              <a:lnSpc>
                <a:spcPct val="100000"/>
              </a:lnSpc>
              <a:spcBef>
                <a:spcPts val="95"/>
              </a:spcBef>
              <a:tabLst>
                <a:tab pos="220979" algn="l"/>
                <a:tab pos="909319" algn="l"/>
              </a:tabLst>
            </a:pPr>
            <a:r>
              <a:rPr dirty="0" baseline="7936" sz="1050" spc="-75">
                <a:latin typeface="Cambria"/>
                <a:cs typeface="Cambria"/>
              </a:rPr>
              <a:t>1</a:t>
            </a:r>
            <a:r>
              <a:rPr dirty="0" baseline="7936" sz="1050">
                <a:latin typeface="Cambria"/>
                <a:cs typeface="Cambria"/>
              </a:rPr>
              <a:t>	</a:t>
            </a:r>
            <a:r>
              <a:rPr dirty="0" baseline="7936" sz="1050" spc="-75">
                <a:latin typeface="Cambria"/>
                <a:cs typeface="Cambria"/>
              </a:rPr>
              <a:t>1</a:t>
            </a:r>
            <a:r>
              <a:rPr dirty="0" baseline="7936" sz="1050">
                <a:latin typeface="Cambria"/>
                <a:cs typeface="Cambria"/>
              </a:rPr>
              <a:t>	</a:t>
            </a:r>
            <a:r>
              <a:rPr dirty="0" sz="700" spc="-50">
                <a:latin typeface="Cambria"/>
                <a:cs typeface="Cambria"/>
              </a:rPr>
              <a:t>𝜃</a:t>
            </a:r>
            <a:endParaRPr sz="700">
              <a:latin typeface="Cambria"/>
              <a:cs typeface="Cambria"/>
            </a:endParaRPr>
          </a:p>
        </p:txBody>
      </p:sp>
      <p:sp>
        <p:nvSpPr>
          <p:cNvPr id="33" name="object 33" descr=""/>
          <p:cNvSpPr txBox="1"/>
          <p:nvPr/>
        </p:nvSpPr>
        <p:spPr>
          <a:xfrm>
            <a:off x="5011000" y="8570855"/>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34" name="object 34" descr=""/>
          <p:cNvSpPr txBox="1"/>
          <p:nvPr/>
        </p:nvSpPr>
        <p:spPr>
          <a:xfrm>
            <a:off x="1067295" y="8458446"/>
            <a:ext cx="5088255" cy="177800"/>
          </a:xfrm>
          <a:prstGeom prst="rect">
            <a:avLst/>
          </a:prstGeom>
        </p:spPr>
        <p:txBody>
          <a:bodyPr wrap="square" lIns="0" tIns="12065" rIns="0" bIns="0" rtlCol="0" vert="horz">
            <a:spAutoFit/>
          </a:bodyPr>
          <a:lstStyle/>
          <a:p>
            <a:pPr marL="12700">
              <a:lnSpc>
                <a:spcPct val="100000"/>
              </a:lnSpc>
              <a:spcBef>
                <a:spcPts val="95"/>
              </a:spcBef>
              <a:tabLst>
                <a:tab pos="4189729" algn="l"/>
              </a:tabLst>
            </a:pPr>
            <a:r>
              <a:rPr dirty="0" sz="1000" spc="-10">
                <a:latin typeface="SimSun"/>
                <a:cs typeface="SimSun"/>
              </a:rPr>
              <a:t>然后，根据链式法则，在多模态模型中传回给编码</a:t>
            </a:r>
            <a:r>
              <a:rPr dirty="0" sz="1000" spc="220">
                <a:latin typeface="SimSun"/>
                <a:cs typeface="SimSun"/>
              </a:rPr>
              <a:t>器</a:t>
            </a:r>
            <a:r>
              <a:rPr dirty="0" sz="1000">
                <a:latin typeface="Cambria"/>
                <a:cs typeface="Cambria"/>
              </a:rPr>
              <a:t>𝜑</a:t>
            </a:r>
            <a:r>
              <a:rPr dirty="0" sz="1000" spc="305">
                <a:latin typeface="Cambria"/>
                <a:cs typeface="Cambria"/>
              </a:rPr>
              <a:t> </a:t>
            </a:r>
            <a:r>
              <a:rPr dirty="0" sz="1000">
                <a:latin typeface="Cambria"/>
                <a:cs typeface="Cambria"/>
              </a:rPr>
              <a:t>(𝜃</a:t>
            </a:r>
            <a:r>
              <a:rPr dirty="0" sz="1000" spc="145">
                <a:latin typeface="Cambria"/>
                <a:cs typeface="Cambria"/>
              </a:rPr>
              <a:t> </a:t>
            </a:r>
            <a:r>
              <a:rPr dirty="0" sz="1000">
                <a:latin typeface="Cambria"/>
                <a:cs typeface="Cambria"/>
              </a:rPr>
              <a:t>,</a:t>
            </a:r>
            <a:r>
              <a:rPr dirty="0" sz="1000" spc="-55">
                <a:latin typeface="Cambria"/>
                <a:cs typeface="Cambria"/>
              </a:rPr>
              <a:t> </a:t>
            </a:r>
            <a:r>
              <a:rPr dirty="0" sz="1000">
                <a:latin typeface="Cambria"/>
                <a:cs typeface="Cambria"/>
              </a:rPr>
              <a:t>⋅)</a:t>
            </a:r>
            <a:r>
              <a:rPr dirty="0" sz="1000" spc="-15">
                <a:latin typeface="Cambria"/>
                <a:cs typeface="Cambria"/>
              </a:rPr>
              <a:t> </a:t>
            </a:r>
            <a:r>
              <a:rPr dirty="0" sz="1000" spc="-10">
                <a:latin typeface="SimSun"/>
                <a:cs typeface="SimSun"/>
              </a:rPr>
              <a:t>的梯</a:t>
            </a:r>
            <a:r>
              <a:rPr dirty="0" sz="1000" spc="220">
                <a:latin typeface="SimSun"/>
                <a:cs typeface="SimSun"/>
              </a:rPr>
              <a:t>度</a:t>
            </a:r>
            <a:r>
              <a:rPr dirty="0" sz="1000" spc="-50">
                <a:latin typeface="Cambria"/>
                <a:cs typeface="Cambria"/>
              </a:rPr>
              <a:t>𝑔</a:t>
            </a:r>
            <a:r>
              <a:rPr dirty="0" sz="1000">
                <a:latin typeface="Cambria"/>
                <a:cs typeface="Cambria"/>
              </a:rPr>
              <a:t>	</a:t>
            </a:r>
            <a:r>
              <a:rPr dirty="0" sz="1000" spc="-10">
                <a:latin typeface="SimSun"/>
                <a:cs typeface="SimSun"/>
              </a:rPr>
              <a:t>可以表示如下</a:t>
            </a:r>
            <a:r>
              <a:rPr dirty="0" sz="1000" spc="-50">
                <a:latin typeface="SimSun"/>
                <a:cs typeface="SimSun"/>
              </a:rPr>
              <a:t>，</a:t>
            </a:r>
            <a:endParaRPr sz="1000">
              <a:latin typeface="SimSun"/>
              <a:cs typeface="SimSun"/>
            </a:endParaRPr>
          </a:p>
        </p:txBody>
      </p:sp>
      <p:sp>
        <p:nvSpPr>
          <p:cNvPr id="35" name="object 35" descr=""/>
          <p:cNvSpPr txBox="1"/>
          <p:nvPr/>
        </p:nvSpPr>
        <p:spPr>
          <a:xfrm>
            <a:off x="2973336" y="9077406"/>
            <a:ext cx="89535" cy="177800"/>
          </a:xfrm>
          <a:prstGeom prst="rect">
            <a:avLst/>
          </a:prstGeom>
        </p:spPr>
        <p:txBody>
          <a:bodyPr wrap="square" lIns="0" tIns="12065" rIns="0" bIns="0" rtlCol="0" vert="horz">
            <a:spAutoFit/>
          </a:bodyPr>
          <a:lstStyle/>
          <a:p>
            <a:pPr marL="12700">
              <a:lnSpc>
                <a:spcPct val="100000"/>
              </a:lnSpc>
              <a:spcBef>
                <a:spcPts val="95"/>
              </a:spcBef>
            </a:pPr>
            <a:r>
              <a:rPr dirty="0" sz="1000" spc="-65">
                <a:latin typeface="Cambria"/>
                <a:cs typeface="Cambria"/>
              </a:rPr>
              <a:t>𝑔</a:t>
            </a:r>
            <a:endParaRPr sz="1000">
              <a:latin typeface="Cambria"/>
              <a:cs typeface="Cambria"/>
            </a:endParaRPr>
          </a:p>
        </p:txBody>
      </p:sp>
      <p:sp>
        <p:nvSpPr>
          <p:cNvPr id="36" name="object 36" descr=""/>
          <p:cNvSpPr txBox="1"/>
          <p:nvPr/>
        </p:nvSpPr>
        <p:spPr>
          <a:xfrm>
            <a:off x="3036976" y="9066405"/>
            <a:ext cx="273050"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Cambria"/>
                <a:cs typeface="Cambria"/>
              </a:rPr>
              <a:t>𝑀𝑢𝑙𝑡𝑖</a:t>
            </a:r>
            <a:endParaRPr sz="700">
              <a:latin typeface="Cambria"/>
              <a:cs typeface="Cambria"/>
            </a:endParaRPr>
          </a:p>
        </p:txBody>
      </p:sp>
      <p:sp>
        <p:nvSpPr>
          <p:cNvPr id="37" name="object 37" descr=""/>
          <p:cNvSpPr txBox="1"/>
          <p:nvPr/>
        </p:nvSpPr>
        <p:spPr>
          <a:xfrm>
            <a:off x="3011576" y="9153755"/>
            <a:ext cx="167640" cy="132080"/>
          </a:xfrm>
          <a:prstGeom prst="rect">
            <a:avLst/>
          </a:prstGeom>
        </p:spPr>
        <p:txBody>
          <a:bodyPr wrap="square" lIns="0" tIns="12065" rIns="0" bIns="0" rtlCol="0" vert="horz">
            <a:spAutoFit/>
          </a:bodyPr>
          <a:lstStyle/>
          <a:p>
            <a:pPr marL="38100">
              <a:lnSpc>
                <a:spcPct val="100000"/>
              </a:lnSpc>
              <a:spcBef>
                <a:spcPts val="95"/>
              </a:spcBef>
            </a:pPr>
            <a:r>
              <a:rPr dirty="0" sz="700" spc="-25">
                <a:latin typeface="Cambria"/>
                <a:cs typeface="Cambria"/>
              </a:rPr>
              <a:t>𝜃</a:t>
            </a:r>
            <a:r>
              <a:rPr dirty="0" baseline="-15151" sz="825" spc="-37">
                <a:latin typeface="Cambria"/>
                <a:cs typeface="Cambria"/>
              </a:rPr>
              <a:t>1</a:t>
            </a:r>
            <a:endParaRPr baseline="-15151" sz="825">
              <a:latin typeface="Cambria"/>
              <a:cs typeface="Cambria"/>
            </a:endParaRPr>
          </a:p>
        </p:txBody>
      </p:sp>
      <p:sp>
        <p:nvSpPr>
          <p:cNvPr id="38" name="object 38" descr=""/>
          <p:cNvSpPr txBox="1"/>
          <p:nvPr/>
        </p:nvSpPr>
        <p:spPr>
          <a:xfrm>
            <a:off x="3327425" y="9077406"/>
            <a:ext cx="116839" cy="177800"/>
          </a:xfrm>
          <a:prstGeom prst="rect">
            <a:avLst/>
          </a:prstGeom>
        </p:spPr>
        <p:txBody>
          <a:bodyPr wrap="square" lIns="0" tIns="12065" rIns="0" bIns="0" rtlCol="0" vert="horz">
            <a:spAutoFit/>
          </a:bodyPr>
          <a:lstStyle/>
          <a:p>
            <a:pPr marL="12700">
              <a:lnSpc>
                <a:spcPct val="100000"/>
              </a:lnSpc>
              <a:spcBef>
                <a:spcPts val="95"/>
              </a:spcBef>
            </a:pPr>
            <a:r>
              <a:rPr dirty="0" sz="1000" spc="114">
                <a:latin typeface="Cambria"/>
                <a:cs typeface="Cambria"/>
              </a:rPr>
              <a:t>=</a:t>
            </a:r>
            <a:endParaRPr sz="1000">
              <a:latin typeface="Cambria"/>
              <a:cs typeface="Cambria"/>
            </a:endParaRPr>
          </a:p>
        </p:txBody>
      </p:sp>
      <p:sp>
        <p:nvSpPr>
          <p:cNvPr id="39" name="object 39" descr=""/>
          <p:cNvSpPr txBox="1"/>
          <p:nvPr/>
        </p:nvSpPr>
        <p:spPr>
          <a:xfrm>
            <a:off x="3468852" y="8996431"/>
            <a:ext cx="149225" cy="177800"/>
          </a:xfrm>
          <a:prstGeom prst="rect">
            <a:avLst/>
          </a:prstGeom>
        </p:spPr>
        <p:txBody>
          <a:bodyPr wrap="square" lIns="0" tIns="12065" rIns="0" bIns="0" rtlCol="0" vert="horz">
            <a:spAutoFit/>
          </a:bodyPr>
          <a:lstStyle/>
          <a:p>
            <a:pPr marL="12700">
              <a:lnSpc>
                <a:spcPct val="100000"/>
              </a:lnSpc>
              <a:spcBef>
                <a:spcPts val="95"/>
              </a:spcBef>
            </a:pPr>
            <a:r>
              <a:rPr dirty="0" sz="1000" spc="-40">
                <a:latin typeface="Cambria"/>
                <a:cs typeface="Cambria"/>
              </a:rPr>
              <a:t>𝜕𝐿</a:t>
            </a:r>
            <a:endParaRPr sz="1000">
              <a:latin typeface="Cambria"/>
              <a:cs typeface="Cambria"/>
            </a:endParaRPr>
          </a:p>
        </p:txBody>
      </p:sp>
      <p:sp>
        <p:nvSpPr>
          <p:cNvPr id="40" name="object 40" descr=""/>
          <p:cNvSpPr txBox="1"/>
          <p:nvPr/>
        </p:nvSpPr>
        <p:spPr>
          <a:xfrm>
            <a:off x="3591585" y="8988834"/>
            <a:ext cx="273050"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Cambria"/>
                <a:cs typeface="Cambria"/>
              </a:rPr>
              <a:t>𝑀𝑢𝑙𝑡𝑖</a:t>
            </a:r>
            <a:endParaRPr sz="700">
              <a:latin typeface="Cambria"/>
              <a:cs typeface="Cambria"/>
            </a:endParaRPr>
          </a:p>
        </p:txBody>
      </p:sp>
      <p:sp>
        <p:nvSpPr>
          <p:cNvPr id="41" name="object 41" descr=""/>
          <p:cNvSpPr/>
          <p:nvPr/>
        </p:nvSpPr>
        <p:spPr>
          <a:xfrm>
            <a:off x="3481552" y="9183992"/>
            <a:ext cx="378460" cy="0"/>
          </a:xfrm>
          <a:custGeom>
            <a:avLst/>
            <a:gdLst/>
            <a:ahLst/>
            <a:cxnLst/>
            <a:rect l="l" t="t" r="r" b="b"/>
            <a:pathLst>
              <a:path w="378460" h="0">
                <a:moveTo>
                  <a:pt x="0" y="0"/>
                </a:moveTo>
                <a:lnTo>
                  <a:pt x="378015" y="0"/>
                </a:lnTo>
              </a:path>
            </a:pathLst>
          </a:custGeom>
          <a:ln w="8602">
            <a:solidFill>
              <a:srgbClr val="000000"/>
            </a:solidFill>
          </a:ln>
        </p:spPr>
        <p:txBody>
          <a:bodyPr wrap="square" lIns="0" tIns="0" rIns="0" bIns="0" rtlCol="0"/>
          <a:lstStyle/>
          <a:p/>
        </p:txBody>
      </p:sp>
      <p:sp>
        <p:nvSpPr>
          <p:cNvPr id="42" name="object 42" descr=""/>
          <p:cNvSpPr txBox="1"/>
          <p:nvPr/>
        </p:nvSpPr>
        <p:spPr>
          <a:xfrm>
            <a:off x="3877233" y="8980620"/>
            <a:ext cx="297180" cy="177800"/>
          </a:xfrm>
          <a:prstGeom prst="rect">
            <a:avLst/>
          </a:prstGeom>
        </p:spPr>
        <p:txBody>
          <a:bodyPr wrap="square" lIns="0" tIns="12065" rIns="0" bIns="0" rtlCol="0" vert="horz">
            <a:spAutoFit/>
          </a:bodyPr>
          <a:lstStyle/>
          <a:p>
            <a:pPr marL="12700">
              <a:lnSpc>
                <a:spcPct val="100000"/>
              </a:lnSpc>
              <a:spcBef>
                <a:spcPts val="95"/>
              </a:spcBef>
            </a:pPr>
            <a:r>
              <a:rPr dirty="0" sz="1000" spc="-10">
                <a:latin typeface="Cambria"/>
                <a:cs typeface="Cambria"/>
              </a:rPr>
              <a:t>𝜕𝑓</a:t>
            </a:r>
            <a:r>
              <a:rPr dirty="0" sz="1000" spc="-45">
                <a:latin typeface="Cambria"/>
                <a:cs typeface="Cambria"/>
              </a:rPr>
              <a:t> </a:t>
            </a:r>
            <a:r>
              <a:rPr dirty="0" sz="1000" spc="-25">
                <a:latin typeface="Cambria"/>
                <a:cs typeface="Cambria"/>
              </a:rPr>
              <a:t>(𝑧</a:t>
            </a:r>
            <a:endParaRPr sz="1000">
              <a:latin typeface="Cambria"/>
              <a:cs typeface="Cambria"/>
            </a:endParaRPr>
          </a:p>
        </p:txBody>
      </p:sp>
      <p:sp>
        <p:nvSpPr>
          <p:cNvPr id="43" name="object 43" descr=""/>
          <p:cNvSpPr/>
          <p:nvPr/>
        </p:nvSpPr>
        <p:spPr>
          <a:xfrm>
            <a:off x="3889933" y="9183992"/>
            <a:ext cx="374650" cy="0"/>
          </a:xfrm>
          <a:custGeom>
            <a:avLst/>
            <a:gdLst/>
            <a:ahLst/>
            <a:cxnLst/>
            <a:rect l="l" t="t" r="r" b="b"/>
            <a:pathLst>
              <a:path w="374650" h="0">
                <a:moveTo>
                  <a:pt x="0" y="0"/>
                </a:moveTo>
                <a:lnTo>
                  <a:pt x="374218" y="0"/>
                </a:lnTo>
              </a:path>
            </a:pathLst>
          </a:custGeom>
          <a:ln w="8602">
            <a:solidFill>
              <a:srgbClr val="000000"/>
            </a:solidFill>
          </a:ln>
        </p:spPr>
        <p:txBody>
          <a:bodyPr wrap="square" lIns="0" tIns="0" rIns="0" bIns="0" rtlCol="0"/>
          <a:lstStyle/>
          <a:p/>
        </p:txBody>
      </p:sp>
      <p:sp>
        <p:nvSpPr>
          <p:cNvPr id="44" name="object 44" descr=""/>
          <p:cNvSpPr txBox="1"/>
          <p:nvPr/>
        </p:nvSpPr>
        <p:spPr>
          <a:xfrm>
            <a:off x="3973753" y="9162801"/>
            <a:ext cx="139700" cy="177800"/>
          </a:xfrm>
          <a:prstGeom prst="rect">
            <a:avLst/>
          </a:prstGeom>
        </p:spPr>
        <p:txBody>
          <a:bodyPr wrap="square" lIns="0" tIns="12065" rIns="0" bIns="0" rtlCol="0" vert="horz">
            <a:spAutoFit/>
          </a:bodyPr>
          <a:lstStyle/>
          <a:p>
            <a:pPr marL="12700">
              <a:lnSpc>
                <a:spcPct val="100000"/>
              </a:lnSpc>
              <a:spcBef>
                <a:spcPts val="95"/>
              </a:spcBef>
            </a:pPr>
            <a:r>
              <a:rPr dirty="0" sz="1000" spc="-70">
                <a:latin typeface="Cambria"/>
                <a:cs typeface="Cambria"/>
              </a:rPr>
              <a:t>𝜕</a:t>
            </a:r>
            <a:r>
              <a:rPr dirty="0" sz="1000" spc="-575">
                <a:latin typeface="Cambria"/>
                <a:cs typeface="Cambria"/>
              </a:rPr>
              <a:t>𝑧</a:t>
            </a:r>
            <a:endParaRPr sz="1000">
              <a:latin typeface="Cambria"/>
              <a:cs typeface="Cambria"/>
            </a:endParaRPr>
          </a:p>
        </p:txBody>
      </p:sp>
      <p:sp>
        <p:nvSpPr>
          <p:cNvPr id="45" name="object 45" descr=""/>
          <p:cNvSpPr txBox="1"/>
          <p:nvPr/>
        </p:nvSpPr>
        <p:spPr>
          <a:xfrm>
            <a:off x="4203242" y="8986106"/>
            <a:ext cx="272415" cy="177800"/>
          </a:xfrm>
          <a:prstGeom prst="rect">
            <a:avLst/>
          </a:prstGeom>
        </p:spPr>
        <p:txBody>
          <a:bodyPr wrap="square" lIns="0" tIns="12065" rIns="0" bIns="0" rtlCol="0" vert="horz">
            <a:spAutoFit/>
          </a:bodyPr>
          <a:lstStyle/>
          <a:p>
            <a:pPr marL="12700">
              <a:lnSpc>
                <a:spcPct val="100000"/>
              </a:lnSpc>
              <a:spcBef>
                <a:spcPts val="95"/>
              </a:spcBef>
            </a:pPr>
            <a:r>
              <a:rPr dirty="0" baseline="2777" sz="1500">
                <a:latin typeface="Cambria"/>
                <a:cs typeface="Cambria"/>
              </a:rPr>
              <a:t>)</a:t>
            </a:r>
            <a:r>
              <a:rPr dirty="0" baseline="2777" sz="1500" spc="509">
                <a:latin typeface="Cambria"/>
                <a:cs typeface="Cambria"/>
              </a:rPr>
              <a:t> </a:t>
            </a:r>
            <a:r>
              <a:rPr dirty="0" sz="1000" spc="-25">
                <a:latin typeface="Cambria"/>
                <a:cs typeface="Cambria"/>
              </a:rPr>
              <a:t>𝜕𝑧</a:t>
            </a:r>
            <a:endParaRPr sz="1000">
              <a:latin typeface="Cambria"/>
              <a:cs typeface="Cambria"/>
            </a:endParaRPr>
          </a:p>
        </p:txBody>
      </p:sp>
      <p:sp>
        <p:nvSpPr>
          <p:cNvPr id="46" name="object 46" descr=""/>
          <p:cNvSpPr txBox="1"/>
          <p:nvPr/>
        </p:nvSpPr>
        <p:spPr>
          <a:xfrm>
            <a:off x="4150233" y="8975181"/>
            <a:ext cx="373380" cy="132080"/>
          </a:xfrm>
          <a:prstGeom prst="rect">
            <a:avLst/>
          </a:prstGeom>
        </p:spPr>
        <p:txBody>
          <a:bodyPr wrap="square" lIns="0" tIns="12065" rIns="0" bIns="0" rtlCol="0" vert="horz">
            <a:spAutoFit/>
          </a:bodyPr>
          <a:lstStyle/>
          <a:p>
            <a:pPr marL="12700">
              <a:lnSpc>
                <a:spcPct val="100000"/>
              </a:lnSpc>
              <a:spcBef>
                <a:spcPts val="95"/>
              </a:spcBef>
              <a:tabLst>
                <a:tab pos="313690" algn="l"/>
              </a:tabLst>
            </a:pPr>
            <a:r>
              <a:rPr dirty="0" baseline="3968" sz="1050" spc="-75">
                <a:latin typeface="Cambria"/>
                <a:cs typeface="Cambria"/>
              </a:rPr>
              <a:t>𝜏</a:t>
            </a:r>
            <a:r>
              <a:rPr dirty="0" baseline="3968" sz="1050">
                <a:latin typeface="Cambria"/>
                <a:cs typeface="Cambria"/>
              </a:rPr>
              <a:t>	</a:t>
            </a:r>
            <a:r>
              <a:rPr dirty="0" sz="700" spc="-50">
                <a:latin typeface="Cambria"/>
                <a:cs typeface="Cambria"/>
              </a:rPr>
              <a:t>𝜏</a:t>
            </a:r>
            <a:endParaRPr sz="700">
              <a:latin typeface="Cambria"/>
              <a:cs typeface="Cambria"/>
            </a:endParaRPr>
          </a:p>
        </p:txBody>
      </p:sp>
      <p:sp>
        <p:nvSpPr>
          <p:cNvPr id="47" name="object 47" descr=""/>
          <p:cNvSpPr txBox="1"/>
          <p:nvPr/>
        </p:nvSpPr>
        <p:spPr>
          <a:xfrm>
            <a:off x="4148975" y="9058646"/>
            <a:ext cx="342900" cy="132080"/>
          </a:xfrm>
          <a:prstGeom prst="rect">
            <a:avLst/>
          </a:prstGeom>
        </p:spPr>
        <p:txBody>
          <a:bodyPr wrap="square" lIns="0" tIns="12065" rIns="0" bIns="0" rtlCol="0" vert="horz">
            <a:spAutoFit/>
          </a:bodyPr>
          <a:lstStyle/>
          <a:p>
            <a:pPr marL="12700">
              <a:lnSpc>
                <a:spcPct val="100000"/>
              </a:lnSpc>
              <a:spcBef>
                <a:spcPts val="95"/>
              </a:spcBef>
              <a:tabLst>
                <a:tab pos="313690" algn="l"/>
              </a:tabLst>
            </a:pPr>
            <a:r>
              <a:rPr dirty="0" baseline="3968" sz="1050" spc="-75">
                <a:latin typeface="Cambria"/>
                <a:cs typeface="Cambria"/>
              </a:rPr>
              <a:t>𝑖</a:t>
            </a:r>
            <a:r>
              <a:rPr dirty="0" baseline="3968" sz="1050">
                <a:latin typeface="Cambria"/>
                <a:cs typeface="Cambria"/>
              </a:rPr>
              <a:t>	</a:t>
            </a:r>
            <a:r>
              <a:rPr dirty="0" sz="700" spc="-50">
                <a:latin typeface="Cambria"/>
                <a:cs typeface="Cambria"/>
              </a:rPr>
              <a:t>𝑖</a:t>
            </a:r>
            <a:endParaRPr sz="700">
              <a:latin typeface="Cambria"/>
              <a:cs typeface="Cambria"/>
            </a:endParaRPr>
          </a:p>
        </p:txBody>
      </p:sp>
      <p:sp>
        <p:nvSpPr>
          <p:cNvPr id="48" name="object 48" descr=""/>
          <p:cNvSpPr/>
          <p:nvPr/>
        </p:nvSpPr>
        <p:spPr>
          <a:xfrm>
            <a:off x="4294517" y="9183992"/>
            <a:ext cx="264795" cy="0"/>
          </a:xfrm>
          <a:custGeom>
            <a:avLst/>
            <a:gdLst/>
            <a:ahLst/>
            <a:cxnLst/>
            <a:rect l="l" t="t" r="r" b="b"/>
            <a:pathLst>
              <a:path w="264795" h="0">
                <a:moveTo>
                  <a:pt x="0" y="0"/>
                </a:moveTo>
                <a:lnTo>
                  <a:pt x="264261" y="0"/>
                </a:lnTo>
              </a:path>
            </a:pathLst>
          </a:custGeom>
          <a:ln w="8602">
            <a:solidFill>
              <a:srgbClr val="000000"/>
            </a:solidFill>
          </a:ln>
        </p:spPr>
        <p:txBody>
          <a:bodyPr wrap="square" lIns="0" tIns="0" rIns="0" bIns="0" rtlCol="0"/>
          <a:lstStyle/>
          <a:p/>
        </p:txBody>
      </p:sp>
      <p:sp>
        <p:nvSpPr>
          <p:cNvPr id="49" name="object 49" descr=""/>
          <p:cNvSpPr txBox="1"/>
          <p:nvPr/>
        </p:nvSpPr>
        <p:spPr>
          <a:xfrm>
            <a:off x="3445357" y="9180517"/>
            <a:ext cx="1139190" cy="177800"/>
          </a:xfrm>
          <a:prstGeom prst="rect">
            <a:avLst/>
          </a:prstGeom>
        </p:spPr>
        <p:txBody>
          <a:bodyPr wrap="square" lIns="0" tIns="12065" rIns="0" bIns="0" rtlCol="0" vert="horz">
            <a:spAutoFit/>
          </a:bodyPr>
          <a:lstStyle/>
          <a:p>
            <a:pPr marL="38100">
              <a:lnSpc>
                <a:spcPct val="100000"/>
              </a:lnSpc>
              <a:spcBef>
                <a:spcPts val="95"/>
              </a:spcBef>
              <a:tabLst>
                <a:tab pos="667385" algn="l"/>
                <a:tab pos="848994" algn="l"/>
              </a:tabLst>
            </a:pPr>
            <a:r>
              <a:rPr dirty="0" baseline="2777" sz="1500" spc="-15">
                <a:latin typeface="Cambria"/>
                <a:cs typeface="Cambria"/>
              </a:rPr>
              <a:t>𝜕𝑓</a:t>
            </a:r>
            <a:r>
              <a:rPr dirty="0" baseline="2777" sz="1500" spc="-67">
                <a:latin typeface="Cambria"/>
                <a:cs typeface="Cambria"/>
              </a:rPr>
              <a:t> </a:t>
            </a:r>
            <a:r>
              <a:rPr dirty="0" baseline="2777" sz="1500" spc="-30">
                <a:latin typeface="Cambria"/>
                <a:cs typeface="Cambria"/>
              </a:rPr>
              <a:t>(𝑧</a:t>
            </a:r>
            <a:r>
              <a:rPr dirty="0" baseline="-19841" sz="1050" spc="-30">
                <a:latin typeface="Cambria"/>
                <a:cs typeface="Cambria"/>
              </a:rPr>
              <a:t>𝑖</a:t>
            </a:r>
            <a:r>
              <a:rPr dirty="0" baseline="31746" sz="1050" spc="-30">
                <a:latin typeface="Cambria"/>
                <a:cs typeface="Cambria"/>
              </a:rPr>
              <a:t>𝜏</a:t>
            </a:r>
            <a:r>
              <a:rPr dirty="0" baseline="2777" sz="1500" spc="-30">
                <a:latin typeface="Cambria"/>
                <a:cs typeface="Cambria"/>
              </a:rPr>
              <a:t>)</a:t>
            </a:r>
            <a:r>
              <a:rPr dirty="0" baseline="2777" sz="1500">
                <a:latin typeface="Cambria"/>
                <a:cs typeface="Cambria"/>
              </a:rPr>
              <a:t>	</a:t>
            </a:r>
            <a:r>
              <a:rPr dirty="0" baseline="-11904" sz="1050" spc="-37">
                <a:latin typeface="Cambria"/>
                <a:cs typeface="Cambria"/>
              </a:rPr>
              <a:t>𝑖</a:t>
            </a:r>
            <a:r>
              <a:rPr dirty="0" baseline="39682" sz="1050" spc="-37">
                <a:latin typeface="Cambria"/>
                <a:cs typeface="Cambria"/>
              </a:rPr>
              <a:t>𝜏</a:t>
            </a:r>
            <a:r>
              <a:rPr dirty="0" baseline="39682" sz="1050">
                <a:latin typeface="Cambria"/>
                <a:cs typeface="Cambria"/>
              </a:rPr>
              <a:t>	</a:t>
            </a:r>
            <a:r>
              <a:rPr dirty="0" sz="1000" spc="-20">
                <a:latin typeface="Cambria"/>
                <a:cs typeface="Cambria"/>
              </a:rPr>
              <a:t>𝜕𝑧</a:t>
            </a:r>
            <a:r>
              <a:rPr dirty="0" baseline="-19841" sz="1050" spc="-30">
                <a:latin typeface="Cambria"/>
                <a:cs typeface="Cambria"/>
              </a:rPr>
              <a:t>𝑖</a:t>
            </a:r>
            <a:r>
              <a:rPr dirty="0" baseline="43650" sz="1050" spc="-30">
                <a:latin typeface="Cambria"/>
                <a:cs typeface="Cambria"/>
              </a:rPr>
              <a:t>𝑚</a:t>
            </a:r>
            <a:r>
              <a:rPr dirty="0" baseline="40404" sz="825" spc="-30">
                <a:latin typeface="Cambria"/>
                <a:cs typeface="Cambria"/>
              </a:rPr>
              <a:t>1</a:t>
            </a:r>
            <a:endParaRPr baseline="40404" sz="825">
              <a:latin typeface="Cambria"/>
              <a:cs typeface="Cambria"/>
            </a:endParaRPr>
          </a:p>
        </p:txBody>
      </p:sp>
      <p:sp>
        <p:nvSpPr>
          <p:cNvPr id="54" name="object 54"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
        <p:nvSpPr>
          <p:cNvPr id="50" name="object 50" descr=""/>
          <p:cNvSpPr txBox="1"/>
          <p:nvPr/>
        </p:nvSpPr>
        <p:spPr>
          <a:xfrm>
            <a:off x="6497878" y="9077406"/>
            <a:ext cx="175260" cy="177800"/>
          </a:xfrm>
          <a:prstGeom prst="rect">
            <a:avLst/>
          </a:prstGeom>
        </p:spPr>
        <p:txBody>
          <a:bodyPr wrap="square" lIns="0" tIns="12065" rIns="0" bIns="0" rtlCol="0" vert="horz">
            <a:spAutoFit/>
          </a:bodyPr>
          <a:lstStyle/>
          <a:p>
            <a:pPr marL="12700">
              <a:lnSpc>
                <a:spcPct val="100000"/>
              </a:lnSpc>
              <a:spcBef>
                <a:spcPts val="95"/>
              </a:spcBef>
            </a:pPr>
            <a:r>
              <a:rPr dirty="0" sz="1000" spc="-25">
                <a:latin typeface="Times New Roman"/>
                <a:cs typeface="Times New Roman"/>
              </a:rPr>
              <a:t>(3)</a:t>
            </a:r>
            <a:endParaRPr sz="1000">
              <a:latin typeface="Times New Roman"/>
              <a:cs typeface="Times New Roman"/>
            </a:endParaRPr>
          </a:p>
        </p:txBody>
      </p:sp>
      <p:sp>
        <p:nvSpPr>
          <p:cNvPr id="51" name="object 51" descr=""/>
          <p:cNvSpPr txBox="1"/>
          <p:nvPr/>
        </p:nvSpPr>
        <p:spPr>
          <a:xfrm>
            <a:off x="1706257" y="9462810"/>
            <a:ext cx="541655" cy="132080"/>
          </a:xfrm>
          <a:prstGeom prst="rect">
            <a:avLst/>
          </a:prstGeom>
        </p:spPr>
        <p:txBody>
          <a:bodyPr wrap="square" lIns="0" tIns="12065" rIns="0" bIns="0" rtlCol="0" vert="horz">
            <a:spAutoFit/>
          </a:bodyPr>
          <a:lstStyle/>
          <a:p>
            <a:pPr marL="12700">
              <a:lnSpc>
                <a:spcPct val="100000"/>
              </a:lnSpc>
              <a:spcBef>
                <a:spcPts val="95"/>
              </a:spcBef>
              <a:tabLst>
                <a:tab pos="499109" algn="l"/>
              </a:tabLst>
            </a:pPr>
            <a:r>
              <a:rPr dirty="0" sz="700" spc="-50">
                <a:latin typeface="Cambria"/>
                <a:cs typeface="Cambria"/>
              </a:rPr>
              <a:t>𝑖</a:t>
            </a:r>
            <a:r>
              <a:rPr dirty="0" sz="700">
                <a:latin typeface="Cambria"/>
                <a:cs typeface="Cambria"/>
              </a:rPr>
              <a:t>	</a:t>
            </a:r>
            <a:r>
              <a:rPr dirty="0" sz="700" spc="-50">
                <a:latin typeface="Cambria"/>
                <a:cs typeface="Cambria"/>
              </a:rPr>
              <a:t>𝑖</a:t>
            </a:r>
            <a:endParaRPr sz="700">
              <a:latin typeface="Cambria"/>
              <a:cs typeface="Cambria"/>
            </a:endParaRPr>
          </a:p>
        </p:txBody>
      </p:sp>
      <p:sp>
        <p:nvSpPr>
          <p:cNvPr id="52" name="object 52" descr=""/>
          <p:cNvSpPr txBox="1"/>
          <p:nvPr/>
        </p:nvSpPr>
        <p:spPr>
          <a:xfrm>
            <a:off x="1743227" y="9390687"/>
            <a:ext cx="559435" cy="132080"/>
          </a:xfrm>
          <a:prstGeom prst="rect">
            <a:avLst/>
          </a:prstGeom>
        </p:spPr>
        <p:txBody>
          <a:bodyPr wrap="square" lIns="0" tIns="12065" rIns="0" bIns="0" rtlCol="0" vert="horz">
            <a:spAutoFit/>
          </a:bodyPr>
          <a:lstStyle/>
          <a:p>
            <a:pPr marL="12700">
              <a:lnSpc>
                <a:spcPct val="100000"/>
              </a:lnSpc>
              <a:spcBef>
                <a:spcPts val="95"/>
              </a:spcBef>
              <a:tabLst>
                <a:tab pos="499109" algn="l"/>
              </a:tabLst>
            </a:pPr>
            <a:r>
              <a:rPr dirty="0" sz="700" spc="-50">
                <a:latin typeface="Cambria"/>
                <a:cs typeface="Cambria"/>
              </a:rPr>
              <a:t>𝜏</a:t>
            </a:r>
            <a:r>
              <a:rPr dirty="0" sz="700">
                <a:latin typeface="Cambria"/>
                <a:cs typeface="Cambria"/>
              </a:rPr>
              <a:t>	</a:t>
            </a:r>
            <a:r>
              <a:rPr dirty="0" sz="700" spc="-50">
                <a:latin typeface="Cambria"/>
                <a:cs typeface="Cambria"/>
              </a:rPr>
              <a:t>𝜏</a:t>
            </a:r>
            <a:endParaRPr sz="700">
              <a:latin typeface="Cambria"/>
              <a:cs typeface="Cambria"/>
            </a:endParaRPr>
          </a:p>
        </p:txBody>
      </p:sp>
      <p:sp>
        <p:nvSpPr>
          <p:cNvPr id="53" name="object 53" descr=""/>
          <p:cNvSpPr txBox="1"/>
          <p:nvPr/>
        </p:nvSpPr>
        <p:spPr>
          <a:xfrm>
            <a:off x="1140345" y="9399796"/>
            <a:ext cx="1381760" cy="177800"/>
          </a:xfrm>
          <a:prstGeom prst="rect">
            <a:avLst/>
          </a:prstGeom>
        </p:spPr>
        <p:txBody>
          <a:bodyPr wrap="square" lIns="0" tIns="12065" rIns="0" bIns="0" rtlCol="0" vert="horz">
            <a:spAutoFit/>
          </a:bodyPr>
          <a:lstStyle/>
          <a:p>
            <a:pPr marL="12700">
              <a:lnSpc>
                <a:spcPct val="100000"/>
              </a:lnSpc>
              <a:spcBef>
                <a:spcPts val="95"/>
              </a:spcBef>
            </a:pPr>
            <a:r>
              <a:rPr dirty="0" sz="1000">
                <a:latin typeface="Times New Roman"/>
                <a:cs typeface="Times New Roman"/>
              </a:rPr>
              <a:t>where</a:t>
            </a:r>
            <a:r>
              <a:rPr dirty="0" sz="1000" spc="-10">
                <a:latin typeface="Times New Roman"/>
                <a:cs typeface="Times New Roman"/>
              </a:rPr>
              <a:t> </a:t>
            </a:r>
            <a:r>
              <a:rPr dirty="0" sz="1000">
                <a:latin typeface="Cambria"/>
                <a:cs typeface="Cambria"/>
              </a:rPr>
              <a:t>𝑓</a:t>
            </a:r>
            <a:r>
              <a:rPr dirty="0" sz="1000" spc="-25">
                <a:latin typeface="Cambria"/>
                <a:cs typeface="Cambria"/>
              </a:rPr>
              <a:t> </a:t>
            </a:r>
            <a:r>
              <a:rPr dirty="0" sz="1000">
                <a:latin typeface="Cambria"/>
                <a:cs typeface="Cambria"/>
              </a:rPr>
              <a:t>(𝑧</a:t>
            </a:r>
            <a:r>
              <a:rPr dirty="0" sz="1000" spc="150">
                <a:latin typeface="Cambria"/>
                <a:cs typeface="Cambria"/>
              </a:rPr>
              <a:t>  </a:t>
            </a:r>
            <a:r>
              <a:rPr dirty="0" sz="1000">
                <a:latin typeface="Cambria"/>
                <a:cs typeface="Cambria"/>
              </a:rPr>
              <a:t>)</a:t>
            </a:r>
            <a:r>
              <a:rPr dirty="0" sz="1000" spc="70">
                <a:latin typeface="Cambria"/>
                <a:cs typeface="Cambria"/>
              </a:rPr>
              <a:t> </a:t>
            </a:r>
            <a:r>
              <a:rPr dirty="0" sz="1000" spc="165">
                <a:latin typeface="Cambria"/>
                <a:cs typeface="Cambria"/>
              </a:rPr>
              <a:t>=</a:t>
            </a:r>
            <a:r>
              <a:rPr dirty="0" sz="1000" spc="70">
                <a:latin typeface="Cambria"/>
                <a:cs typeface="Cambria"/>
              </a:rPr>
              <a:t> </a:t>
            </a:r>
            <a:r>
              <a:rPr dirty="0" sz="1000">
                <a:latin typeface="Cambria"/>
                <a:cs typeface="Cambria"/>
              </a:rPr>
              <a:t>𝑊𝑧</a:t>
            </a:r>
            <a:r>
              <a:rPr dirty="0" sz="1000" spc="270">
                <a:latin typeface="Cambria"/>
                <a:cs typeface="Cambria"/>
              </a:rPr>
              <a:t>  </a:t>
            </a:r>
            <a:r>
              <a:rPr dirty="0" sz="1000" spc="165">
                <a:latin typeface="Cambria"/>
                <a:cs typeface="Cambria"/>
              </a:rPr>
              <a:t>+</a:t>
            </a:r>
            <a:r>
              <a:rPr dirty="0" sz="1000" spc="10">
                <a:latin typeface="Cambria"/>
                <a:cs typeface="Cambria"/>
              </a:rPr>
              <a:t> </a:t>
            </a:r>
            <a:r>
              <a:rPr dirty="0" sz="1000" spc="-50">
                <a:latin typeface="Cambria"/>
                <a:cs typeface="Cambria"/>
              </a:rPr>
              <a:t>𝑏</a:t>
            </a:r>
            <a:endParaRPr sz="1000">
              <a:latin typeface="Cambria"/>
              <a:cs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93"/>
            <a:ext cx="5760085" cy="347345"/>
            <a:chOff x="899998" y="899993"/>
            <a:chExt cx="5760085" cy="347345"/>
          </a:xfrm>
        </p:grpSpPr>
        <p:sp>
          <p:nvSpPr>
            <p:cNvPr id="3" name="object 3" descr=""/>
            <p:cNvSpPr/>
            <p:nvPr/>
          </p:nvSpPr>
          <p:spPr>
            <a:xfrm>
              <a:off x="899998" y="899993"/>
              <a:ext cx="5760085" cy="347345"/>
            </a:xfrm>
            <a:custGeom>
              <a:avLst/>
              <a:gdLst/>
              <a:ahLst/>
              <a:cxnLst/>
              <a:rect l="l" t="t" r="r" b="b"/>
              <a:pathLst>
                <a:path w="5760084" h="347344">
                  <a:moveTo>
                    <a:pt x="5724074" y="0"/>
                  </a:moveTo>
                  <a:lnTo>
                    <a:pt x="36000" y="0"/>
                  </a:lnTo>
                  <a:lnTo>
                    <a:pt x="21987" y="2829"/>
                  </a:lnTo>
                  <a:lnTo>
                    <a:pt x="10544" y="10544"/>
                  </a:lnTo>
                  <a:lnTo>
                    <a:pt x="2829" y="21987"/>
                  </a:lnTo>
                  <a:lnTo>
                    <a:pt x="0" y="36000"/>
                  </a:lnTo>
                  <a:lnTo>
                    <a:pt x="0" y="311210"/>
                  </a:lnTo>
                  <a:lnTo>
                    <a:pt x="2829" y="325223"/>
                  </a:lnTo>
                  <a:lnTo>
                    <a:pt x="10544" y="336666"/>
                  </a:lnTo>
                  <a:lnTo>
                    <a:pt x="21987" y="344381"/>
                  </a:lnTo>
                  <a:lnTo>
                    <a:pt x="36000" y="347210"/>
                  </a:lnTo>
                  <a:lnTo>
                    <a:pt x="5724074" y="347210"/>
                  </a:lnTo>
                  <a:lnTo>
                    <a:pt x="5738087" y="344381"/>
                  </a:lnTo>
                  <a:lnTo>
                    <a:pt x="5749530" y="336666"/>
                  </a:lnTo>
                  <a:lnTo>
                    <a:pt x="5757245" y="325223"/>
                  </a:lnTo>
                  <a:lnTo>
                    <a:pt x="5760074" y="31121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93"/>
              <a:ext cx="5760085" cy="347345"/>
            </a:xfrm>
            <a:custGeom>
              <a:avLst/>
              <a:gdLst/>
              <a:ahLst/>
              <a:cxnLst/>
              <a:rect l="l" t="t" r="r" b="b"/>
              <a:pathLst>
                <a:path w="5760084" h="347344">
                  <a:moveTo>
                    <a:pt x="5724074" y="0"/>
                  </a:moveTo>
                  <a:lnTo>
                    <a:pt x="36000" y="0"/>
                  </a:lnTo>
                  <a:lnTo>
                    <a:pt x="21987" y="2829"/>
                  </a:lnTo>
                  <a:lnTo>
                    <a:pt x="10544" y="10544"/>
                  </a:lnTo>
                  <a:lnTo>
                    <a:pt x="2829" y="21987"/>
                  </a:lnTo>
                  <a:lnTo>
                    <a:pt x="0" y="36000"/>
                  </a:lnTo>
                  <a:lnTo>
                    <a:pt x="0" y="311210"/>
                  </a:lnTo>
                  <a:lnTo>
                    <a:pt x="2829" y="325223"/>
                  </a:lnTo>
                  <a:lnTo>
                    <a:pt x="10544" y="336666"/>
                  </a:lnTo>
                  <a:lnTo>
                    <a:pt x="21987" y="344381"/>
                  </a:lnTo>
                  <a:lnTo>
                    <a:pt x="36000" y="347210"/>
                  </a:lnTo>
                  <a:lnTo>
                    <a:pt x="5724074" y="347210"/>
                  </a:lnTo>
                  <a:lnTo>
                    <a:pt x="5738087" y="344381"/>
                  </a:lnTo>
                  <a:lnTo>
                    <a:pt x="5749530" y="336666"/>
                  </a:lnTo>
                  <a:lnTo>
                    <a:pt x="5757245" y="325223"/>
                  </a:lnTo>
                  <a:lnTo>
                    <a:pt x="5760074" y="31121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 name="object 5" descr=""/>
          <p:cNvSpPr txBox="1"/>
          <p:nvPr/>
        </p:nvSpPr>
        <p:spPr>
          <a:xfrm>
            <a:off x="1029195" y="973015"/>
            <a:ext cx="5656580" cy="549275"/>
          </a:xfrm>
          <a:prstGeom prst="rect">
            <a:avLst/>
          </a:prstGeom>
        </p:spPr>
        <p:txBody>
          <a:bodyPr wrap="square" lIns="0" tIns="12065" rIns="0" bIns="0" rtlCol="0" vert="horz">
            <a:spAutoFit/>
          </a:bodyPr>
          <a:lstStyle/>
          <a:p>
            <a:pPr marL="50800">
              <a:lnSpc>
                <a:spcPct val="100000"/>
              </a:lnSpc>
              <a:spcBef>
                <a:spcPts val="95"/>
              </a:spcBef>
            </a:pPr>
            <a:r>
              <a:rPr dirty="0" sz="1000" spc="105">
                <a:latin typeface="SimSun"/>
                <a:cs typeface="SimSun"/>
              </a:rPr>
              <a:t>哪里</a:t>
            </a:r>
            <a:r>
              <a:rPr dirty="0" sz="1000">
                <a:latin typeface="Cambria"/>
                <a:cs typeface="Cambria"/>
              </a:rPr>
              <a:t>𝑓 (𝑧</a:t>
            </a:r>
            <a:r>
              <a:rPr dirty="0" baseline="-15873" sz="1050">
                <a:latin typeface="Cambria"/>
                <a:cs typeface="Cambria"/>
              </a:rPr>
              <a:t>𝑖</a:t>
            </a:r>
            <a:r>
              <a:rPr dirty="0" baseline="27777" sz="1050">
                <a:latin typeface="Cambria"/>
                <a:cs typeface="Cambria"/>
              </a:rPr>
              <a:t>𝜏</a:t>
            </a:r>
            <a:r>
              <a:rPr dirty="0" sz="1000" spc="95">
                <a:latin typeface="Cambria"/>
                <a:cs typeface="Cambria"/>
              </a:rPr>
              <a:t>) = </a:t>
            </a:r>
            <a:r>
              <a:rPr dirty="0" sz="1000">
                <a:latin typeface="Cambria"/>
                <a:cs typeface="Cambria"/>
              </a:rPr>
              <a:t>𝑊𝑧</a:t>
            </a:r>
            <a:r>
              <a:rPr dirty="0" baseline="-15873" sz="1050">
                <a:latin typeface="Cambria"/>
                <a:cs typeface="Cambria"/>
              </a:rPr>
              <a:t>𝑖</a:t>
            </a:r>
            <a:r>
              <a:rPr dirty="0" baseline="27777" sz="1050">
                <a:latin typeface="Cambria"/>
                <a:cs typeface="Cambria"/>
              </a:rPr>
              <a:t>𝜏</a:t>
            </a:r>
            <a:r>
              <a:rPr dirty="0" baseline="27777" sz="1050" spc="240">
                <a:latin typeface="Cambria"/>
                <a:cs typeface="Cambria"/>
              </a:rPr>
              <a:t> </a:t>
            </a:r>
            <a:r>
              <a:rPr dirty="0" sz="1000" spc="105">
                <a:latin typeface="Cambria"/>
                <a:cs typeface="Cambria"/>
              </a:rPr>
              <a:t>+ </a:t>
            </a:r>
            <a:r>
              <a:rPr dirty="0" sz="1000" spc="-50">
                <a:latin typeface="Cambria"/>
                <a:cs typeface="Cambria"/>
              </a:rPr>
              <a:t>𝑏</a:t>
            </a:r>
            <a:endParaRPr sz="1000">
              <a:latin typeface="Cambria"/>
              <a:cs typeface="Cambria"/>
            </a:endParaRPr>
          </a:p>
          <a:p>
            <a:pPr>
              <a:lnSpc>
                <a:spcPct val="100000"/>
              </a:lnSpc>
              <a:spcBef>
                <a:spcPts val="555"/>
              </a:spcBef>
            </a:pPr>
            <a:endParaRPr sz="1000">
              <a:latin typeface="Cambria"/>
              <a:cs typeface="Cambria"/>
            </a:endParaRPr>
          </a:p>
          <a:p>
            <a:pPr marL="123825">
              <a:lnSpc>
                <a:spcPct val="100000"/>
              </a:lnSpc>
            </a:pPr>
            <a:r>
              <a:rPr dirty="0" sz="1000" spc="10">
                <a:latin typeface="Times New Roman"/>
                <a:cs typeface="Times New Roman"/>
              </a:rPr>
              <a:t>Here,</a:t>
            </a:r>
            <a:r>
              <a:rPr dirty="0" sz="1000" spc="55">
                <a:latin typeface="Times New Roman"/>
                <a:cs typeface="Times New Roman"/>
              </a:rPr>
              <a:t> </a:t>
            </a:r>
            <a:r>
              <a:rPr dirty="0" sz="1000" spc="10">
                <a:latin typeface="Times New Roman"/>
                <a:cs typeface="Times New Roman"/>
              </a:rPr>
              <a:t>we</a:t>
            </a:r>
            <a:r>
              <a:rPr dirty="0" sz="1000" spc="55">
                <a:latin typeface="Times New Roman"/>
                <a:cs typeface="Times New Roman"/>
              </a:rPr>
              <a:t> </a:t>
            </a:r>
            <a:r>
              <a:rPr dirty="0" sz="1000" spc="10">
                <a:latin typeface="Times New Roman"/>
                <a:cs typeface="Times New Roman"/>
              </a:rPr>
              <a:t>set</a:t>
            </a:r>
            <a:r>
              <a:rPr dirty="0" sz="1000" spc="55">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fusion</a:t>
            </a:r>
            <a:r>
              <a:rPr dirty="0" sz="1000" spc="55">
                <a:latin typeface="Times New Roman"/>
                <a:cs typeface="Times New Roman"/>
              </a:rPr>
              <a:t> </a:t>
            </a:r>
            <a:r>
              <a:rPr dirty="0" sz="1000" spc="10">
                <a:latin typeface="Times New Roman"/>
                <a:cs typeface="Times New Roman"/>
              </a:rPr>
              <a:t>module</a:t>
            </a:r>
            <a:r>
              <a:rPr dirty="0" sz="1000" spc="55">
                <a:latin typeface="Times New Roman"/>
                <a:cs typeface="Times New Roman"/>
              </a:rPr>
              <a:t> </a:t>
            </a:r>
            <a:r>
              <a:rPr dirty="0" sz="1000" spc="10">
                <a:latin typeface="Times New Roman"/>
                <a:cs typeface="Times New Roman"/>
              </a:rPr>
              <a:t>as</a:t>
            </a:r>
            <a:r>
              <a:rPr dirty="0" sz="1000" spc="60">
                <a:latin typeface="Times New Roman"/>
                <a:cs typeface="Times New Roman"/>
              </a:rPr>
              <a:t> </a:t>
            </a:r>
            <a:r>
              <a:rPr dirty="0" sz="1000" spc="10">
                <a:latin typeface="Times New Roman"/>
                <a:cs typeface="Times New Roman"/>
              </a:rPr>
              <a:t>concatenation,</a:t>
            </a:r>
            <a:r>
              <a:rPr dirty="0" sz="1000" spc="55">
                <a:latin typeface="Times New Roman"/>
                <a:cs typeface="Times New Roman"/>
              </a:rPr>
              <a:t> </a:t>
            </a:r>
            <a:r>
              <a:rPr dirty="0" sz="1000" spc="10">
                <a:latin typeface="Times New Roman"/>
                <a:cs typeface="Times New Roman"/>
              </a:rPr>
              <a:t>which</a:t>
            </a:r>
            <a:r>
              <a:rPr dirty="0" sz="1000" spc="55">
                <a:latin typeface="Times New Roman"/>
                <a:cs typeface="Times New Roman"/>
              </a:rPr>
              <a:t> </a:t>
            </a:r>
            <a:r>
              <a:rPr dirty="0" sz="1000" spc="10">
                <a:latin typeface="Times New Roman"/>
                <a:cs typeface="Times New Roman"/>
              </a:rPr>
              <a:t>is</a:t>
            </a:r>
            <a:r>
              <a:rPr dirty="0" sz="1000" spc="60">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most</a:t>
            </a:r>
            <a:r>
              <a:rPr dirty="0" sz="1000" spc="55">
                <a:latin typeface="Times New Roman"/>
                <a:cs typeface="Times New Roman"/>
              </a:rPr>
              <a:t> </a:t>
            </a:r>
            <a:r>
              <a:rPr dirty="0" sz="1000" spc="10">
                <a:latin typeface="Times New Roman"/>
                <a:cs typeface="Times New Roman"/>
              </a:rPr>
              <a:t>widely</a:t>
            </a:r>
            <a:r>
              <a:rPr dirty="0" sz="1000" spc="60">
                <a:latin typeface="Times New Roman"/>
                <a:cs typeface="Times New Roman"/>
              </a:rPr>
              <a:t> </a:t>
            </a:r>
            <a:r>
              <a:rPr dirty="0" sz="1000" spc="10">
                <a:latin typeface="Times New Roman"/>
                <a:cs typeface="Times New Roman"/>
              </a:rPr>
              <a:t>used</a:t>
            </a:r>
            <a:r>
              <a:rPr dirty="0" sz="1000" spc="55">
                <a:latin typeface="Times New Roman"/>
                <a:cs typeface="Times New Roman"/>
              </a:rPr>
              <a:t> </a:t>
            </a:r>
            <a:r>
              <a:rPr dirty="0" sz="1000" spc="10">
                <a:latin typeface="Times New Roman"/>
                <a:cs typeface="Times New Roman"/>
              </a:rPr>
              <a:t>vanilla</a:t>
            </a:r>
            <a:r>
              <a:rPr dirty="0" sz="1000" spc="55">
                <a:latin typeface="Times New Roman"/>
                <a:cs typeface="Times New Roman"/>
              </a:rPr>
              <a:t> </a:t>
            </a:r>
            <a:r>
              <a:rPr dirty="0" sz="1000" spc="10">
                <a:latin typeface="Times New Roman"/>
                <a:cs typeface="Times New Roman"/>
              </a:rPr>
              <a:t>fusion</a:t>
            </a:r>
            <a:r>
              <a:rPr dirty="0" sz="1000" spc="60">
                <a:latin typeface="Times New Roman"/>
                <a:cs typeface="Times New Roman"/>
              </a:rPr>
              <a:t> </a:t>
            </a:r>
            <a:r>
              <a:rPr dirty="0" sz="1000" spc="-10">
                <a:latin typeface="Times New Roman"/>
                <a:cs typeface="Times New Roman"/>
              </a:rPr>
              <a:t>method,</a:t>
            </a:r>
            <a:endParaRPr sz="1000">
              <a:latin typeface="Times New Roman"/>
              <a:cs typeface="Times New Roman"/>
            </a:endParaRPr>
          </a:p>
        </p:txBody>
      </p:sp>
      <p:sp>
        <p:nvSpPr>
          <p:cNvPr id="6" name="object 6" descr=""/>
          <p:cNvSpPr txBox="1"/>
          <p:nvPr/>
        </p:nvSpPr>
        <p:spPr>
          <a:xfrm>
            <a:off x="1216621" y="1606743"/>
            <a:ext cx="751205" cy="132080"/>
          </a:xfrm>
          <a:prstGeom prst="rect">
            <a:avLst/>
          </a:prstGeom>
        </p:spPr>
        <p:txBody>
          <a:bodyPr wrap="square" lIns="0" tIns="12065" rIns="0" bIns="0" rtlCol="0" vert="horz">
            <a:spAutoFit/>
          </a:bodyPr>
          <a:lstStyle/>
          <a:p>
            <a:pPr marL="12700">
              <a:lnSpc>
                <a:spcPct val="100000"/>
              </a:lnSpc>
              <a:spcBef>
                <a:spcPts val="95"/>
              </a:spcBef>
              <a:tabLst>
                <a:tab pos="421640" algn="l"/>
                <a:tab pos="708660" algn="l"/>
              </a:tabLst>
            </a:pPr>
            <a:r>
              <a:rPr dirty="0" sz="700" spc="-50">
                <a:latin typeface="Cambria"/>
                <a:cs typeface="Cambria"/>
              </a:rPr>
              <a:t>𝑖</a:t>
            </a:r>
            <a:r>
              <a:rPr dirty="0" sz="700">
                <a:latin typeface="Cambria"/>
                <a:cs typeface="Cambria"/>
              </a:rPr>
              <a:t>	</a:t>
            </a:r>
            <a:r>
              <a:rPr dirty="0" sz="700" spc="-50">
                <a:latin typeface="Cambria"/>
                <a:cs typeface="Cambria"/>
              </a:rPr>
              <a:t>𝑖</a:t>
            </a:r>
            <a:r>
              <a:rPr dirty="0" sz="700">
                <a:latin typeface="Cambria"/>
                <a:cs typeface="Cambria"/>
              </a:rPr>
              <a:t>	</a:t>
            </a:r>
            <a:r>
              <a:rPr dirty="0" sz="700" spc="-50">
                <a:latin typeface="Cambria"/>
                <a:cs typeface="Cambria"/>
              </a:rPr>
              <a:t>𝑖</a:t>
            </a:r>
            <a:endParaRPr sz="700">
              <a:latin typeface="Cambria"/>
              <a:cs typeface="Cambria"/>
            </a:endParaRPr>
          </a:p>
        </p:txBody>
      </p:sp>
      <p:sp>
        <p:nvSpPr>
          <p:cNvPr id="7" name="object 7" descr=""/>
          <p:cNvSpPr txBox="1"/>
          <p:nvPr/>
        </p:nvSpPr>
        <p:spPr>
          <a:xfrm>
            <a:off x="1747037" y="1572203"/>
            <a:ext cx="352425" cy="109220"/>
          </a:xfrm>
          <a:prstGeom prst="rect">
            <a:avLst/>
          </a:prstGeom>
        </p:spPr>
        <p:txBody>
          <a:bodyPr wrap="square" lIns="0" tIns="12065" rIns="0" bIns="0" rtlCol="0" vert="horz">
            <a:spAutoFit/>
          </a:bodyPr>
          <a:lstStyle/>
          <a:p>
            <a:pPr marL="12700">
              <a:lnSpc>
                <a:spcPct val="100000"/>
              </a:lnSpc>
              <a:spcBef>
                <a:spcPts val="95"/>
              </a:spcBef>
              <a:tabLst>
                <a:tab pos="299720" algn="l"/>
              </a:tabLst>
            </a:pPr>
            <a:r>
              <a:rPr dirty="0" sz="550" spc="-50">
                <a:latin typeface="Cambria"/>
                <a:cs typeface="Cambria"/>
              </a:rPr>
              <a:t>1</a:t>
            </a:r>
            <a:r>
              <a:rPr dirty="0" sz="550">
                <a:latin typeface="Cambria"/>
                <a:cs typeface="Cambria"/>
              </a:rPr>
              <a:t>	</a:t>
            </a:r>
            <a:r>
              <a:rPr dirty="0" sz="550" spc="-50">
                <a:latin typeface="Cambria"/>
                <a:cs typeface="Cambria"/>
              </a:rPr>
              <a:t>2</a:t>
            </a:r>
            <a:endParaRPr sz="550">
              <a:latin typeface="Cambria"/>
              <a:cs typeface="Cambria"/>
            </a:endParaRPr>
          </a:p>
        </p:txBody>
      </p:sp>
      <p:sp>
        <p:nvSpPr>
          <p:cNvPr id="8" name="object 8" descr=""/>
          <p:cNvSpPr txBox="1"/>
          <p:nvPr/>
        </p:nvSpPr>
        <p:spPr>
          <a:xfrm>
            <a:off x="887298" y="1543728"/>
            <a:ext cx="5529580" cy="177800"/>
          </a:xfrm>
          <a:prstGeom prst="rect">
            <a:avLst/>
          </a:prstGeom>
        </p:spPr>
        <p:txBody>
          <a:bodyPr wrap="square" lIns="0" tIns="12065" rIns="0" bIns="0" rtlCol="0" vert="horz">
            <a:spAutoFit/>
          </a:bodyPr>
          <a:lstStyle/>
          <a:p>
            <a:pPr marL="12700">
              <a:lnSpc>
                <a:spcPct val="100000"/>
              </a:lnSpc>
              <a:spcBef>
                <a:spcPts val="95"/>
              </a:spcBef>
              <a:tabLst>
                <a:tab pos="471805" algn="l"/>
                <a:tab pos="923925" algn="l"/>
                <a:tab pos="1210945" algn="l"/>
              </a:tabLst>
            </a:pPr>
            <a:r>
              <a:rPr dirty="0" sz="1000">
                <a:latin typeface="Times New Roman"/>
                <a:cs typeface="Times New Roman"/>
              </a:rPr>
              <a:t>thus</a:t>
            </a:r>
            <a:r>
              <a:rPr dirty="0" sz="1000" spc="180">
                <a:latin typeface="Times New Roman"/>
                <a:cs typeface="Times New Roman"/>
              </a:rPr>
              <a:t> </a:t>
            </a:r>
            <a:r>
              <a:rPr dirty="0" sz="1000" spc="-50">
                <a:latin typeface="Cambria"/>
                <a:cs typeface="Cambria"/>
              </a:rPr>
              <a:t>𝑧</a:t>
            </a:r>
            <a:r>
              <a:rPr dirty="0" sz="1000">
                <a:latin typeface="Cambria"/>
                <a:cs typeface="Cambria"/>
              </a:rPr>
              <a:t>	</a:t>
            </a:r>
            <a:r>
              <a:rPr dirty="0" sz="1000" spc="165">
                <a:latin typeface="Cambria"/>
                <a:cs typeface="Cambria"/>
              </a:rPr>
              <a:t>=</a:t>
            </a:r>
            <a:r>
              <a:rPr dirty="0" sz="1000" spc="425">
                <a:latin typeface="Cambria"/>
                <a:cs typeface="Cambria"/>
              </a:rPr>
              <a:t> </a:t>
            </a:r>
            <a:r>
              <a:rPr dirty="0" sz="1000" spc="-25">
                <a:latin typeface="Cambria"/>
                <a:cs typeface="Cambria"/>
              </a:rPr>
              <a:t>[𝑧</a:t>
            </a:r>
            <a:r>
              <a:rPr dirty="0" sz="1000">
                <a:latin typeface="Cambria"/>
                <a:cs typeface="Cambria"/>
              </a:rPr>
              <a:t>	</a:t>
            </a:r>
            <a:r>
              <a:rPr dirty="0" sz="1000" spc="-25">
                <a:latin typeface="Cambria"/>
                <a:cs typeface="Cambria"/>
              </a:rPr>
              <a:t>;</a:t>
            </a:r>
            <a:r>
              <a:rPr dirty="0" sz="1000" spc="-55">
                <a:latin typeface="Cambria"/>
                <a:cs typeface="Cambria"/>
              </a:rPr>
              <a:t> </a:t>
            </a:r>
            <a:r>
              <a:rPr dirty="0" sz="1000" spc="-50">
                <a:latin typeface="Cambria"/>
                <a:cs typeface="Cambria"/>
              </a:rPr>
              <a:t>𝑧</a:t>
            </a:r>
            <a:r>
              <a:rPr dirty="0" sz="1000">
                <a:latin typeface="Cambria"/>
                <a:cs typeface="Cambria"/>
              </a:rPr>
              <a:t>	]</a:t>
            </a:r>
            <a:r>
              <a:rPr dirty="0" sz="1000" spc="110">
                <a:latin typeface="Cambria"/>
                <a:cs typeface="Cambria"/>
              </a:rPr>
              <a:t> </a:t>
            </a:r>
            <a:r>
              <a:rPr dirty="0" sz="1000">
                <a:latin typeface="Times New Roman"/>
                <a:cs typeface="Times New Roman"/>
              </a:rPr>
              <a:t>.</a:t>
            </a:r>
            <a:r>
              <a:rPr dirty="0" sz="1000" spc="229">
                <a:latin typeface="Times New Roman"/>
                <a:cs typeface="Times New Roman"/>
              </a:rPr>
              <a:t> </a:t>
            </a:r>
            <a:r>
              <a:rPr dirty="0" sz="1000">
                <a:latin typeface="Times New Roman"/>
                <a:cs typeface="Times New Roman"/>
              </a:rPr>
              <a:t>According</a:t>
            </a:r>
            <a:r>
              <a:rPr dirty="0" sz="1000" spc="85">
                <a:latin typeface="Times New Roman"/>
                <a:cs typeface="Times New Roman"/>
              </a:rPr>
              <a:t> </a:t>
            </a:r>
            <a:r>
              <a:rPr dirty="0" sz="1000">
                <a:latin typeface="Times New Roman"/>
                <a:cs typeface="Times New Roman"/>
              </a:rPr>
              <a:t>to</a:t>
            </a:r>
            <a:r>
              <a:rPr dirty="0" sz="1000" spc="8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gradient</a:t>
            </a:r>
            <a:r>
              <a:rPr dirty="0" sz="1000" spc="85">
                <a:latin typeface="Times New Roman"/>
                <a:cs typeface="Times New Roman"/>
              </a:rPr>
              <a:t> </a:t>
            </a:r>
            <a:r>
              <a:rPr dirty="0" sz="1000">
                <a:latin typeface="Times New Roman"/>
                <a:cs typeface="Times New Roman"/>
              </a:rPr>
              <a:t>formula</a:t>
            </a:r>
            <a:r>
              <a:rPr dirty="0" sz="1000" spc="80">
                <a:latin typeface="Times New Roman"/>
                <a:cs typeface="Times New Roman"/>
              </a:rPr>
              <a:t> </a:t>
            </a:r>
            <a:r>
              <a:rPr dirty="0" sz="1000">
                <a:latin typeface="Times New Roman"/>
                <a:cs typeface="Times New Roman"/>
              </a:rPr>
              <a:t>for</a:t>
            </a:r>
            <a:r>
              <a:rPr dirty="0" sz="1000" spc="85">
                <a:latin typeface="Times New Roman"/>
                <a:cs typeface="Times New Roman"/>
              </a:rPr>
              <a:t> </a:t>
            </a:r>
            <a:r>
              <a:rPr dirty="0" sz="1000">
                <a:latin typeface="Times New Roman"/>
                <a:cs typeface="Times New Roman"/>
              </a:rPr>
              <a:t>the</a:t>
            </a:r>
            <a:r>
              <a:rPr dirty="0" sz="1000" spc="85">
                <a:latin typeface="Times New Roman"/>
                <a:cs typeface="Times New Roman"/>
              </a:rPr>
              <a:t> </a:t>
            </a:r>
            <a:r>
              <a:rPr dirty="0" sz="1000">
                <a:latin typeface="Times New Roman"/>
                <a:cs typeface="Times New Roman"/>
              </a:rPr>
              <a:t>cross-entropy</a:t>
            </a:r>
            <a:r>
              <a:rPr dirty="0" sz="1000" spc="80">
                <a:latin typeface="Times New Roman"/>
                <a:cs typeface="Times New Roman"/>
              </a:rPr>
              <a:t> </a:t>
            </a:r>
            <a:r>
              <a:rPr dirty="0" sz="1000">
                <a:latin typeface="Times New Roman"/>
                <a:cs typeface="Times New Roman"/>
              </a:rPr>
              <a:t>loss,</a:t>
            </a:r>
            <a:r>
              <a:rPr dirty="0" sz="1000" spc="90">
                <a:latin typeface="Times New Roman"/>
                <a:cs typeface="Times New Roman"/>
              </a:rPr>
              <a:t> </a:t>
            </a:r>
            <a:r>
              <a:rPr dirty="0" sz="1000">
                <a:latin typeface="Times New Roman"/>
                <a:cs typeface="Times New Roman"/>
              </a:rPr>
              <a:t>we</a:t>
            </a:r>
            <a:r>
              <a:rPr dirty="0" sz="1000" spc="85">
                <a:latin typeface="Times New Roman"/>
                <a:cs typeface="Times New Roman"/>
              </a:rPr>
              <a:t> </a:t>
            </a:r>
            <a:r>
              <a:rPr dirty="0" sz="1000">
                <a:latin typeface="Times New Roman"/>
                <a:cs typeface="Times New Roman"/>
              </a:rPr>
              <a:t>can</a:t>
            </a:r>
            <a:r>
              <a:rPr dirty="0" sz="1000" spc="85">
                <a:latin typeface="Times New Roman"/>
                <a:cs typeface="Times New Roman"/>
              </a:rPr>
              <a:t> </a:t>
            </a:r>
            <a:r>
              <a:rPr dirty="0" sz="1000">
                <a:latin typeface="Times New Roman"/>
                <a:cs typeface="Times New Roman"/>
              </a:rPr>
              <a:t>rewrite</a:t>
            </a:r>
            <a:r>
              <a:rPr dirty="0" sz="1000" spc="80">
                <a:latin typeface="Times New Roman"/>
                <a:cs typeface="Times New Roman"/>
              </a:rPr>
              <a:t> </a:t>
            </a:r>
            <a:r>
              <a:rPr dirty="0" sz="1000" spc="-50">
                <a:latin typeface="Cambria"/>
                <a:cs typeface="Cambria"/>
              </a:rPr>
              <a:t>𝑔</a:t>
            </a:r>
            <a:endParaRPr sz="1000">
              <a:latin typeface="Cambria"/>
              <a:cs typeface="Cambria"/>
            </a:endParaRPr>
          </a:p>
        </p:txBody>
      </p:sp>
      <p:sp>
        <p:nvSpPr>
          <p:cNvPr id="9" name="object 9" descr=""/>
          <p:cNvSpPr txBox="1"/>
          <p:nvPr/>
        </p:nvSpPr>
        <p:spPr>
          <a:xfrm>
            <a:off x="1253591" y="1534619"/>
            <a:ext cx="5392420" cy="132080"/>
          </a:xfrm>
          <a:prstGeom prst="rect">
            <a:avLst/>
          </a:prstGeom>
        </p:spPr>
        <p:txBody>
          <a:bodyPr wrap="square" lIns="0" tIns="12065" rIns="0" bIns="0" rtlCol="0" vert="horz">
            <a:spAutoFit/>
          </a:bodyPr>
          <a:lstStyle/>
          <a:p>
            <a:pPr marL="12700">
              <a:lnSpc>
                <a:spcPct val="100000"/>
              </a:lnSpc>
              <a:spcBef>
                <a:spcPts val="95"/>
              </a:spcBef>
              <a:tabLst>
                <a:tab pos="421640" algn="l"/>
                <a:tab pos="708660" algn="l"/>
                <a:tab pos="5170805" algn="l"/>
              </a:tabLst>
            </a:pPr>
            <a:r>
              <a:rPr dirty="0" sz="700" spc="-50">
                <a:latin typeface="Cambria"/>
                <a:cs typeface="Cambria"/>
              </a:rPr>
              <a:t>𝜏</a:t>
            </a:r>
            <a:r>
              <a:rPr dirty="0" sz="700">
                <a:latin typeface="Cambria"/>
                <a:cs typeface="Cambria"/>
              </a:rPr>
              <a:t>	</a:t>
            </a:r>
            <a:r>
              <a:rPr dirty="0" sz="700" spc="25">
                <a:latin typeface="Cambria"/>
                <a:cs typeface="Cambria"/>
              </a:rPr>
              <a:t>𝑚</a:t>
            </a:r>
            <a:r>
              <a:rPr dirty="0" sz="700">
                <a:latin typeface="Cambria"/>
                <a:cs typeface="Cambria"/>
              </a:rPr>
              <a:t>	</a:t>
            </a:r>
            <a:r>
              <a:rPr dirty="0" sz="700" spc="25">
                <a:latin typeface="Cambria"/>
                <a:cs typeface="Cambria"/>
              </a:rPr>
              <a:t>𝑚</a:t>
            </a:r>
            <a:r>
              <a:rPr dirty="0" sz="700">
                <a:latin typeface="Cambria"/>
                <a:cs typeface="Cambria"/>
              </a:rPr>
              <a:t>	</a:t>
            </a:r>
            <a:r>
              <a:rPr dirty="0" baseline="3968" sz="1050" spc="-15">
                <a:latin typeface="Times New Roman"/>
                <a:cs typeface="Times New Roman"/>
              </a:rPr>
              <a:t>Multi</a:t>
            </a:r>
            <a:endParaRPr baseline="3968" sz="1050">
              <a:latin typeface="Times New Roman"/>
              <a:cs typeface="Times New Roman"/>
            </a:endParaRPr>
          </a:p>
        </p:txBody>
      </p:sp>
      <p:sp>
        <p:nvSpPr>
          <p:cNvPr id="10" name="object 10" descr=""/>
          <p:cNvSpPr txBox="1"/>
          <p:nvPr/>
        </p:nvSpPr>
        <p:spPr>
          <a:xfrm>
            <a:off x="6391389" y="1618567"/>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11" name="object 11" descr=""/>
          <p:cNvSpPr txBox="1"/>
          <p:nvPr/>
        </p:nvSpPr>
        <p:spPr>
          <a:xfrm>
            <a:off x="6443560" y="1656137"/>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grpSp>
        <p:nvGrpSpPr>
          <p:cNvPr id="12" name="object 12" descr=""/>
          <p:cNvGrpSpPr/>
          <p:nvPr/>
        </p:nvGrpSpPr>
        <p:grpSpPr>
          <a:xfrm>
            <a:off x="899998" y="2036726"/>
            <a:ext cx="5760085" cy="577850"/>
            <a:chOff x="899998" y="2036726"/>
            <a:chExt cx="5760085" cy="577850"/>
          </a:xfrm>
        </p:grpSpPr>
        <p:sp>
          <p:nvSpPr>
            <p:cNvPr id="13" name="object 13" descr=""/>
            <p:cNvSpPr/>
            <p:nvPr/>
          </p:nvSpPr>
          <p:spPr>
            <a:xfrm>
              <a:off x="899998" y="2036726"/>
              <a:ext cx="5760085" cy="577850"/>
            </a:xfrm>
            <a:custGeom>
              <a:avLst/>
              <a:gdLst/>
              <a:ahLst/>
              <a:cxnLst/>
              <a:rect l="l" t="t" r="r" b="b"/>
              <a:pathLst>
                <a:path w="5760084" h="577850">
                  <a:moveTo>
                    <a:pt x="5724074" y="0"/>
                  </a:moveTo>
                  <a:lnTo>
                    <a:pt x="36000" y="0"/>
                  </a:lnTo>
                  <a:lnTo>
                    <a:pt x="21987" y="2829"/>
                  </a:lnTo>
                  <a:lnTo>
                    <a:pt x="10544" y="10544"/>
                  </a:lnTo>
                  <a:lnTo>
                    <a:pt x="2829" y="21987"/>
                  </a:lnTo>
                  <a:lnTo>
                    <a:pt x="0" y="36000"/>
                  </a:lnTo>
                  <a:lnTo>
                    <a:pt x="0" y="541416"/>
                  </a:lnTo>
                  <a:lnTo>
                    <a:pt x="2829" y="555429"/>
                  </a:lnTo>
                  <a:lnTo>
                    <a:pt x="10544" y="566872"/>
                  </a:lnTo>
                  <a:lnTo>
                    <a:pt x="21987" y="574587"/>
                  </a:lnTo>
                  <a:lnTo>
                    <a:pt x="36000" y="577416"/>
                  </a:lnTo>
                  <a:lnTo>
                    <a:pt x="5724074" y="577416"/>
                  </a:lnTo>
                  <a:lnTo>
                    <a:pt x="5738087" y="574587"/>
                  </a:lnTo>
                  <a:lnTo>
                    <a:pt x="5749530" y="566872"/>
                  </a:lnTo>
                  <a:lnTo>
                    <a:pt x="5757245" y="555429"/>
                  </a:lnTo>
                  <a:lnTo>
                    <a:pt x="5760074" y="54141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4" name="object 14" descr=""/>
            <p:cNvSpPr/>
            <p:nvPr/>
          </p:nvSpPr>
          <p:spPr>
            <a:xfrm>
              <a:off x="899998" y="2036726"/>
              <a:ext cx="5760085" cy="577850"/>
            </a:xfrm>
            <a:custGeom>
              <a:avLst/>
              <a:gdLst/>
              <a:ahLst/>
              <a:cxnLst/>
              <a:rect l="l" t="t" r="r" b="b"/>
              <a:pathLst>
                <a:path w="5760084" h="577850">
                  <a:moveTo>
                    <a:pt x="5724074" y="0"/>
                  </a:moveTo>
                  <a:lnTo>
                    <a:pt x="36000" y="0"/>
                  </a:lnTo>
                  <a:lnTo>
                    <a:pt x="21987" y="2829"/>
                  </a:lnTo>
                  <a:lnTo>
                    <a:pt x="10544" y="10544"/>
                  </a:lnTo>
                  <a:lnTo>
                    <a:pt x="2829" y="21987"/>
                  </a:lnTo>
                  <a:lnTo>
                    <a:pt x="0" y="36000"/>
                  </a:lnTo>
                  <a:lnTo>
                    <a:pt x="0" y="541416"/>
                  </a:lnTo>
                  <a:lnTo>
                    <a:pt x="2829" y="555429"/>
                  </a:lnTo>
                  <a:lnTo>
                    <a:pt x="10544" y="566872"/>
                  </a:lnTo>
                  <a:lnTo>
                    <a:pt x="21987" y="574587"/>
                  </a:lnTo>
                  <a:lnTo>
                    <a:pt x="36000" y="577416"/>
                  </a:lnTo>
                  <a:lnTo>
                    <a:pt x="5724074" y="577416"/>
                  </a:lnTo>
                  <a:lnTo>
                    <a:pt x="5738087" y="574587"/>
                  </a:lnTo>
                  <a:lnTo>
                    <a:pt x="5749530" y="566872"/>
                  </a:lnTo>
                  <a:lnTo>
                    <a:pt x="5757245" y="555429"/>
                  </a:lnTo>
                  <a:lnTo>
                    <a:pt x="5760074" y="54141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5" name="object 15" descr=""/>
          <p:cNvSpPr txBox="1"/>
          <p:nvPr/>
        </p:nvSpPr>
        <p:spPr>
          <a:xfrm>
            <a:off x="874598" y="1739600"/>
            <a:ext cx="5656580" cy="551815"/>
          </a:xfrm>
          <a:prstGeom prst="rect">
            <a:avLst/>
          </a:prstGeom>
        </p:spPr>
        <p:txBody>
          <a:bodyPr wrap="square" lIns="0" tIns="12065" rIns="0" bIns="0" rtlCol="0" vert="horz">
            <a:spAutoFit/>
          </a:bodyPr>
          <a:lstStyle/>
          <a:p>
            <a:pPr marL="25400">
              <a:lnSpc>
                <a:spcPct val="100000"/>
              </a:lnSpc>
              <a:spcBef>
                <a:spcPts val="95"/>
              </a:spcBef>
            </a:pPr>
            <a:r>
              <a:rPr dirty="0" sz="1000">
                <a:latin typeface="Times New Roman"/>
                <a:cs typeface="Times New Roman"/>
              </a:rPr>
              <a:t>as</a:t>
            </a:r>
            <a:r>
              <a:rPr dirty="0" sz="1000" spc="10">
                <a:latin typeface="Times New Roman"/>
                <a:cs typeface="Times New Roman"/>
              </a:rPr>
              <a:t> </a:t>
            </a:r>
            <a:r>
              <a:rPr dirty="0" sz="1000" spc="-10">
                <a:latin typeface="Times New Roman"/>
                <a:cs typeface="Times New Roman"/>
              </a:rPr>
              <a:t>follows,</a:t>
            </a:r>
            <a:endParaRPr sz="1000">
              <a:latin typeface="Times New Roman"/>
              <a:cs typeface="Times New Roman"/>
            </a:endParaRPr>
          </a:p>
          <a:p>
            <a:pPr>
              <a:lnSpc>
                <a:spcPct val="100000"/>
              </a:lnSpc>
              <a:spcBef>
                <a:spcPts val="595"/>
              </a:spcBef>
            </a:pPr>
            <a:endParaRPr sz="1000">
              <a:latin typeface="Times New Roman"/>
              <a:cs typeface="Times New Roman"/>
            </a:endParaRPr>
          </a:p>
          <a:p>
            <a:pPr marL="205104">
              <a:lnSpc>
                <a:spcPct val="100000"/>
              </a:lnSpc>
              <a:spcBef>
                <a:spcPts val="5"/>
              </a:spcBef>
            </a:pPr>
            <a:r>
              <a:rPr dirty="0" sz="1000" spc="-40">
                <a:latin typeface="SimSun"/>
                <a:cs typeface="SimSun"/>
              </a:rPr>
              <a:t>在此，我们将融合模块设置为拼接，这是最广泛使用的普通融合方法，因此</a:t>
            </a:r>
            <a:r>
              <a:rPr dirty="0" sz="1000">
                <a:latin typeface="Cambria"/>
                <a:cs typeface="Cambria"/>
              </a:rPr>
              <a:t>𝑧</a:t>
            </a:r>
            <a:r>
              <a:rPr dirty="0" baseline="-15873" sz="1050">
                <a:latin typeface="Cambria"/>
                <a:cs typeface="Cambria"/>
              </a:rPr>
              <a:t>𝑖</a:t>
            </a:r>
            <a:r>
              <a:rPr dirty="0" baseline="27777" sz="1050">
                <a:latin typeface="Cambria"/>
                <a:cs typeface="Cambria"/>
              </a:rPr>
              <a:t>𝜏</a:t>
            </a:r>
            <a:r>
              <a:rPr dirty="0" baseline="27777" sz="1050" spc="367">
                <a:latin typeface="Cambria"/>
                <a:cs typeface="Cambria"/>
              </a:rPr>
              <a:t> </a:t>
            </a:r>
            <a:r>
              <a:rPr dirty="0" sz="1000" spc="215">
                <a:latin typeface="Cambria"/>
                <a:cs typeface="Cambria"/>
              </a:rPr>
              <a:t>= [</a:t>
            </a:r>
            <a:r>
              <a:rPr dirty="0" sz="1000">
                <a:latin typeface="Cambria"/>
                <a:cs typeface="Cambria"/>
              </a:rPr>
              <a:t>𝑧</a:t>
            </a:r>
            <a:r>
              <a:rPr dirty="0" baseline="-15873" sz="1050">
                <a:latin typeface="Cambria"/>
                <a:cs typeface="Cambria"/>
              </a:rPr>
              <a:t>𝑖</a:t>
            </a:r>
            <a:r>
              <a:rPr dirty="0" baseline="27777" sz="1050">
                <a:latin typeface="Cambria"/>
                <a:cs typeface="Cambria"/>
              </a:rPr>
              <a:t>𝑚</a:t>
            </a:r>
            <a:r>
              <a:rPr dirty="0" baseline="20202" sz="825">
                <a:latin typeface="Cambria"/>
                <a:cs typeface="Cambria"/>
              </a:rPr>
              <a:t>1 </a:t>
            </a:r>
            <a:r>
              <a:rPr dirty="0" sz="1000" spc="-20">
                <a:latin typeface="Cambria"/>
                <a:cs typeface="Cambria"/>
              </a:rPr>
              <a:t>; </a:t>
            </a:r>
            <a:r>
              <a:rPr dirty="0" sz="1000">
                <a:latin typeface="Cambria"/>
                <a:cs typeface="Cambria"/>
              </a:rPr>
              <a:t>𝑧</a:t>
            </a:r>
            <a:r>
              <a:rPr dirty="0" baseline="-15873" sz="1050">
                <a:latin typeface="Cambria"/>
                <a:cs typeface="Cambria"/>
              </a:rPr>
              <a:t>𝑖</a:t>
            </a:r>
            <a:r>
              <a:rPr dirty="0" baseline="27777" sz="1050">
                <a:latin typeface="Cambria"/>
                <a:cs typeface="Cambria"/>
              </a:rPr>
              <a:t>𝑚</a:t>
            </a:r>
            <a:r>
              <a:rPr dirty="0" baseline="20202" sz="825">
                <a:latin typeface="Cambria"/>
                <a:cs typeface="Cambria"/>
              </a:rPr>
              <a:t>2 </a:t>
            </a:r>
            <a:r>
              <a:rPr dirty="0" sz="1000" spc="30">
                <a:latin typeface="Cambria"/>
                <a:cs typeface="Cambria"/>
              </a:rPr>
              <a:t>] </a:t>
            </a:r>
            <a:r>
              <a:rPr dirty="0" sz="1000" spc="-75">
                <a:latin typeface="SimSun"/>
                <a:cs typeface="SimSun"/>
              </a:rPr>
              <a:t>。根</a:t>
            </a:r>
            <a:endParaRPr sz="1000">
              <a:latin typeface="SimSun"/>
              <a:cs typeface="SimSun"/>
            </a:endParaRPr>
          </a:p>
        </p:txBody>
      </p:sp>
      <p:sp>
        <p:nvSpPr>
          <p:cNvPr id="16" name="object 16" descr=""/>
          <p:cNvSpPr txBox="1"/>
          <p:nvPr/>
        </p:nvSpPr>
        <p:spPr>
          <a:xfrm>
            <a:off x="3332416" y="2298918"/>
            <a:ext cx="233679"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Times New Roman"/>
                <a:cs typeface="Times New Roman"/>
              </a:rPr>
              <a:t>Multi</a:t>
            </a:r>
            <a:endParaRPr sz="700">
              <a:latin typeface="Times New Roman"/>
              <a:cs typeface="Times New Roman"/>
            </a:endParaRPr>
          </a:p>
        </p:txBody>
      </p:sp>
      <p:sp>
        <p:nvSpPr>
          <p:cNvPr id="17" name="object 17" descr=""/>
          <p:cNvSpPr txBox="1"/>
          <p:nvPr/>
        </p:nvSpPr>
        <p:spPr>
          <a:xfrm>
            <a:off x="3311601" y="2386269"/>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18" name="object 18" descr=""/>
          <p:cNvSpPr txBox="1"/>
          <p:nvPr/>
        </p:nvSpPr>
        <p:spPr>
          <a:xfrm>
            <a:off x="3363772" y="2423851"/>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19" name="object 19" descr=""/>
          <p:cNvSpPr txBox="1"/>
          <p:nvPr/>
        </p:nvSpPr>
        <p:spPr>
          <a:xfrm>
            <a:off x="1067295" y="2309931"/>
            <a:ext cx="3188335" cy="177800"/>
          </a:xfrm>
          <a:prstGeom prst="rect">
            <a:avLst/>
          </a:prstGeom>
        </p:spPr>
        <p:txBody>
          <a:bodyPr wrap="square" lIns="0" tIns="12065" rIns="0" bIns="0" rtlCol="0" vert="horz">
            <a:spAutoFit/>
          </a:bodyPr>
          <a:lstStyle/>
          <a:p>
            <a:pPr marL="12700">
              <a:lnSpc>
                <a:spcPct val="100000"/>
              </a:lnSpc>
              <a:spcBef>
                <a:spcPts val="95"/>
              </a:spcBef>
              <a:tabLst>
                <a:tab pos="2542540" algn="l"/>
              </a:tabLst>
            </a:pPr>
            <a:r>
              <a:rPr dirty="0" sz="1000" spc="-10">
                <a:latin typeface="SimSun"/>
                <a:cs typeface="SimSun"/>
              </a:rPr>
              <a:t>据交叉熵损失的梯度公式，我们可以</a:t>
            </a:r>
            <a:r>
              <a:rPr dirty="0" sz="1000" spc="220">
                <a:latin typeface="SimSun"/>
                <a:cs typeface="SimSun"/>
              </a:rPr>
              <a:t>将</a:t>
            </a:r>
            <a:r>
              <a:rPr dirty="0" sz="1000" spc="-50">
                <a:latin typeface="Cambria"/>
                <a:cs typeface="Cambria"/>
              </a:rPr>
              <a:t>𝑔</a:t>
            </a:r>
            <a:r>
              <a:rPr dirty="0" sz="1000">
                <a:latin typeface="Cambria"/>
                <a:cs typeface="Cambria"/>
              </a:rPr>
              <a:t>	</a:t>
            </a:r>
            <a:r>
              <a:rPr dirty="0" sz="1000" spc="-10">
                <a:latin typeface="SimSun"/>
                <a:cs typeface="SimSun"/>
              </a:rPr>
              <a:t>重写如下</a:t>
            </a:r>
            <a:r>
              <a:rPr dirty="0" sz="1000" spc="-50">
                <a:latin typeface="SimSun"/>
                <a:cs typeface="SimSun"/>
              </a:rPr>
              <a:t>，</a:t>
            </a:r>
            <a:endParaRPr sz="1000">
              <a:latin typeface="SimSun"/>
              <a:cs typeface="SimSun"/>
            </a:endParaRPr>
          </a:p>
        </p:txBody>
      </p:sp>
      <p:sp>
        <p:nvSpPr>
          <p:cNvPr id="20" name="object 20" descr=""/>
          <p:cNvSpPr txBox="1"/>
          <p:nvPr/>
        </p:nvSpPr>
        <p:spPr>
          <a:xfrm>
            <a:off x="2340927" y="3103211"/>
            <a:ext cx="89535" cy="177800"/>
          </a:xfrm>
          <a:prstGeom prst="rect">
            <a:avLst/>
          </a:prstGeom>
        </p:spPr>
        <p:txBody>
          <a:bodyPr wrap="square" lIns="0" tIns="12065" rIns="0" bIns="0" rtlCol="0" vert="horz">
            <a:spAutoFit/>
          </a:bodyPr>
          <a:lstStyle/>
          <a:p>
            <a:pPr marL="12700">
              <a:lnSpc>
                <a:spcPct val="100000"/>
              </a:lnSpc>
              <a:spcBef>
                <a:spcPts val="95"/>
              </a:spcBef>
            </a:pPr>
            <a:r>
              <a:rPr dirty="0" sz="1000" spc="-65">
                <a:latin typeface="Cambria"/>
                <a:cs typeface="Cambria"/>
              </a:rPr>
              <a:t>𝑔</a:t>
            </a:r>
            <a:endParaRPr sz="1000">
              <a:latin typeface="Cambria"/>
              <a:cs typeface="Cambria"/>
            </a:endParaRPr>
          </a:p>
        </p:txBody>
      </p:sp>
      <p:sp>
        <p:nvSpPr>
          <p:cNvPr id="21" name="object 21" descr=""/>
          <p:cNvSpPr txBox="1"/>
          <p:nvPr/>
        </p:nvSpPr>
        <p:spPr>
          <a:xfrm>
            <a:off x="2404567" y="3092199"/>
            <a:ext cx="273050"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Cambria"/>
                <a:cs typeface="Cambria"/>
              </a:rPr>
              <a:t>𝑀𝑢𝑙𝑡𝑖</a:t>
            </a:r>
            <a:endParaRPr sz="700">
              <a:latin typeface="Cambria"/>
              <a:cs typeface="Cambria"/>
            </a:endParaRPr>
          </a:p>
        </p:txBody>
      </p:sp>
      <p:sp>
        <p:nvSpPr>
          <p:cNvPr id="22" name="object 22" descr=""/>
          <p:cNvSpPr txBox="1"/>
          <p:nvPr/>
        </p:nvSpPr>
        <p:spPr>
          <a:xfrm>
            <a:off x="2379167" y="3179561"/>
            <a:ext cx="167640" cy="132080"/>
          </a:xfrm>
          <a:prstGeom prst="rect">
            <a:avLst/>
          </a:prstGeom>
        </p:spPr>
        <p:txBody>
          <a:bodyPr wrap="square" lIns="0" tIns="12065" rIns="0" bIns="0" rtlCol="0" vert="horz">
            <a:spAutoFit/>
          </a:bodyPr>
          <a:lstStyle/>
          <a:p>
            <a:pPr marL="38100">
              <a:lnSpc>
                <a:spcPct val="100000"/>
              </a:lnSpc>
              <a:spcBef>
                <a:spcPts val="95"/>
              </a:spcBef>
            </a:pPr>
            <a:r>
              <a:rPr dirty="0" sz="700" spc="-25">
                <a:latin typeface="Cambria"/>
                <a:cs typeface="Cambria"/>
              </a:rPr>
              <a:t>𝜃</a:t>
            </a:r>
            <a:r>
              <a:rPr dirty="0" baseline="-15151" sz="825" spc="-37">
                <a:latin typeface="Cambria"/>
                <a:cs typeface="Cambria"/>
              </a:rPr>
              <a:t>1</a:t>
            </a:r>
            <a:endParaRPr baseline="-15151" sz="825">
              <a:latin typeface="Cambria"/>
              <a:cs typeface="Cambria"/>
            </a:endParaRPr>
          </a:p>
        </p:txBody>
      </p:sp>
      <p:sp>
        <p:nvSpPr>
          <p:cNvPr id="23" name="object 23" descr=""/>
          <p:cNvSpPr txBox="1"/>
          <p:nvPr/>
        </p:nvSpPr>
        <p:spPr>
          <a:xfrm>
            <a:off x="2695016" y="3103211"/>
            <a:ext cx="116839" cy="177800"/>
          </a:xfrm>
          <a:prstGeom prst="rect">
            <a:avLst/>
          </a:prstGeom>
        </p:spPr>
        <p:txBody>
          <a:bodyPr wrap="square" lIns="0" tIns="12065" rIns="0" bIns="0" rtlCol="0" vert="horz">
            <a:spAutoFit/>
          </a:bodyPr>
          <a:lstStyle/>
          <a:p>
            <a:pPr marL="12700">
              <a:lnSpc>
                <a:spcPct val="100000"/>
              </a:lnSpc>
              <a:spcBef>
                <a:spcPts val="95"/>
              </a:spcBef>
            </a:pPr>
            <a:r>
              <a:rPr dirty="0" sz="1000" spc="114">
                <a:latin typeface="Cambria"/>
                <a:cs typeface="Cambria"/>
              </a:rPr>
              <a:t>=</a:t>
            </a:r>
            <a:endParaRPr sz="1000">
              <a:latin typeface="Cambria"/>
              <a:cs typeface="Cambria"/>
            </a:endParaRPr>
          </a:p>
        </p:txBody>
      </p:sp>
      <p:sp>
        <p:nvSpPr>
          <p:cNvPr id="24" name="object 24" descr=""/>
          <p:cNvSpPr txBox="1"/>
          <p:nvPr/>
        </p:nvSpPr>
        <p:spPr>
          <a:xfrm>
            <a:off x="2821254" y="2885356"/>
            <a:ext cx="86995" cy="177800"/>
          </a:xfrm>
          <a:prstGeom prst="rect">
            <a:avLst/>
          </a:prstGeom>
        </p:spPr>
        <p:txBody>
          <a:bodyPr wrap="square" lIns="0" tIns="12065" rIns="0" bIns="0" rtlCol="0" vert="horz">
            <a:spAutoFit/>
          </a:bodyPr>
          <a:lstStyle/>
          <a:p>
            <a:pPr marL="12700">
              <a:lnSpc>
                <a:spcPct val="100000"/>
              </a:lnSpc>
              <a:spcBef>
                <a:spcPts val="95"/>
              </a:spcBef>
            </a:pPr>
            <a:r>
              <a:rPr dirty="0" sz="1000" spc="-335">
                <a:latin typeface="Cambria"/>
                <a:cs typeface="Cambria"/>
              </a:rPr>
              <a:t>⎛</a:t>
            </a:r>
            <a:endParaRPr sz="1000">
              <a:latin typeface="Cambria"/>
              <a:cs typeface="Cambria"/>
            </a:endParaRPr>
          </a:p>
        </p:txBody>
      </p:sp>
      <p:sp>
        <p:nvSpPr>
          <p:cNvPr id="25" name="object 25" descr=""/>
          <p:cNvSpPr txBox="1"/>
          <p:nvPr/>
        </p:nvSpPr>
        <p:spPr>
          <a:xfrm>
            <a:off x="2821254" y="3027025"/>
            <a:ext cx="74295" cy="177800"/>
          </a:xfrm>
          <a:prstGeom prst="rect">
            <a:avLst/>
          </a:prstGeom>
        </p:spPr>
        <p:txBody>
          <a:bodyPr wrap="square" lIns="0" tIns="12065" rIns="0" bIns="0" rtlCol="0" vert="horz">
            <a:spAutoFit/>
          </a:bodyPr>
          <a:lstStyle/>
          <a:p>
            <a:pPr marL="12700">
              <a:lnSpc>
                <a:spcPct val="100000"/>
              </a:lnSpc>
              <a:spcBef>
                <a:spcPts val="95"/>
              </a:spcBef>
            </a:pPr>
            <a:r>
              <a:rPr dirty="0" sz="1000" spc="-765">
                <a:latin typeface="Cambria"/>
                <a:cs typeface="Cambria"/>
              </a:rPr>
              <a:t>⎜</a:t>
            </a:r>
            <a:endParaRPr sz="1000">
              <a:latin typeface="Cambria"/>
              <a:cs typeface="Cambria"/>
            </a:endParaRPr>
          </a:p>
        </p:txBody>
      </p:sp>
      <p:sp>
        <p:nvSpPr>
          <p:cNvPr id="26" name="object 26" descr=""/>
          <p:cNvSpPr txBox="1"/>
          <p:nvPr/>
        </p:nvSpPr>
        <p:spPr>
          <a:xfrm>
            <a:off x="2821254" y="3272135"/>
            <a:ext cx="86995" cy="177800"/>
          </a:xfrm>
          <a:prstGeom prst="rect">
            <a:avLst/>
          </a:prstGeom>
        </p:spPr>
        <p:txBody>
          <a:bodyPr wrap="square" lIns="0" tIns="12065" rIns="0" bIns="0" rtlCol="0" vert="horz">
            <a:spAutoFit/>
          </a:bodyPr>
          <a:lstStyle/>
          <a:p>
            <a:pPr marL="12700">
              <a:lnSpc>
                <a:spcPct val="100000"/>
              </a:lnSpc>
              <a:spcBef>
                <a:spcPts val="95"/>
              </a:spcBef>
            </a:pPr>
            <a:r>
              <a:rPr dirty="0" sz="1000" spc="-335">
                <a:latin typeface="Cambria"/>
                <a:cs typeface="Cambria"/>
              </a:rPr>
              <a:t>⎜</a:t>
            </a:r>
            <a:endParaRPr sz="1000">
              <a:latin typeface="Cambria"/>
              <a:cs typeface="Cambria"/>
            </a:endParaRPr>
          </a:p>
        </p:txBody>
      </p:sp>
      <p:sp>
        <p:nvSpPr>
          <p:cNvPr id="27" name="object 27" descr=""/>
          <p:cNvSpPr txBox="1"/>
          <p:nvPr/>
        </p:nvSpPr>
        <p:spPr>
          <a:xfrm>
            <a:off x="3382289" y="2957175"/>
            <a:ext cx="774700" cy="177800"/>
          </a:xfrm>
          <a:prstGeom prst="rect">
            <a:avLst/>
          </a:prstGeom>
        </p:spPr>
        <p:txBody>
          <a:bodyPr wrap="square" lIns="0" tIns="12065" rIns="0" bIns="0" rtlCol="0" vert="horz">
            <a:spAutoFit/>
          </a:bodyPr>
          <a:lstStyle/>
          <a:p>
            <a:pPr marL="38100">
              <a:lnSpc>
                <a:spcPct val="100000"/>
              </a:lnSpc>
              <a:spcBef>
                <a:spcPts val="95"/>
              </a:spcBef>
            </a:pPr>
            <a:r>
              <a:rPr dirty="0" baseline="-27777" sz="1500" spc="-112">
                <a:latin typeface="Cambria"/>
                <a:cs typeface="Cambria"/>
              </a:rPr>
              <a:t>𝑒</a:t>
            </a:r>
            <a:r>
              <a:rPr dirty="0" sz="700" spc="-75">
                <a:latin typeface="Cambria"/>
                <a:cs typeface="Cambria"/>
              </a:rPr>
              <a:t>(𝑊</a:t>
            </a:r>
            <a:r>
              <a:rPr dirty="0" baseline="-15151" sz="825" spc="-112">
                <a:latin typeface="Cambria"/>
                <a:cs typeface="Cambria"/>
              </a:rPr>
              <a:t>𝑦</a:t>
            </a:r>
            <a:r>
              <a:rPr dirty="0" baseline="45454" sz="825" spc="-112">
                <a:latin typeface="Cambria"/>
                <a:cs typeface="Cambria"/>
              </a:rPr>
              <a:t>𝑚</a:t>
            </a:r>
            <a:r>
              <a:rPr dirty="0" baseline="-35353" sz="825" spc="-112">
                <a:latin typeface="Cambria"/>
                <a:cs typeface="Cambria"/>
              </a:rPr>
              <a:t>𝑖</a:t>
            </a:r>
            <a:r>
              <a:rPr dirty="0" baseline="-35353" sz="825" spc="-22">
                <a:latin typeface="Cambria"/>
                <a:cs typeface="Cambria"/>
              </a:rPr>
              <a:t> </a:t>
            </a:r>
            <a:r>
              <a:rPr dirty="0" baseline="25252" sz="825">
                <a:latin typeface="Cambria"/>
                <a:cs typeface="Cambria"/>
              </a:rPr>
              <a:t>1</a:t>
            </a:r>
            <a:r>
              <a:rPr dirty="0" baseline="25252" sz="825" spc="-7">
                <a:latin typeface="Cambria"/>
                <a:cs typeface="Cambria"/>
              </a:rPr>
              <a:t> </a:t>
            </a:r>
            <a:r>
              <a:rPr dirty="0" sz="700">
                <a:latin typeface="Cambria"/>
                <a:cs typeface="Cambria"/>
              </a:rPr>
              <a:t>𝑧</a:t>
            </a:r>
            <a:r>
              <a:rPr dirty="0" baseline="-25252" sz="825">
                <a:latin typeface="Cambria"/>
                <a:cs typeface="Cambria"/>
              </a:rPr>
              <a:t>𝑖</a:t>
            </a:r>
            <a:r>
              <a:rPr dirty="0" baseline="45454" sz="825">
                <a:latin typeface="Cambria"/>
                <a:cs typeface="Cambria"/>
              </a:rPr>
              <a:t>𝑚</a:t>
            </a:r>
            <a:r>
              <a:rPr dirty="0" baseline="25252" sz="825">
                <a:latin typeface="Cambria"/>
                <a:cs typeface="Cambria"/>
              </a:rPr>
              <a:t>1 </a:t>
            </a:r>
            <a:r>
              <a:rPr dirty="0" sz="700" spc="45">
                <a:latin typeface="Cambria"/>
                <a:cs typeface="Cambria"/>
              </a:rPr>
              <a:t>+𝑏</a:t>
            </a:r>
            <a:r>
              <a:rPr dirty="0" baseline="-15151" sz="825" spc="67">
                <a:latin typeface="Cambria"/>
                <a:cs typeface="Cambria"/>
              </a:rPr>
              <a:t>1</a:t>
            </a:r>
            <a:r>
              <a:rPr dirty="0" sz="700" spc="45">
                <a:latin typeface="Cambria"/>
                <a:cs typeface="Cambria"/>
              </a:rPr>
              <a:t>)</a:t>
            </a:r>
            <a:endParaRPr sz="700">
              <a:latin typeface="Cambria"/>
              <a:cs typeface="Cambria"/>
            </a:endParaRPr>
          </a:p>
        </p:txBody>
      </p:sp>
      <p:sp>
        <p:nvSpPr>
          <p:cNvPr id="28" name="object 28" descr=""/>
          <p:cNvSpPr/>
          <p:nvPr/>
        </p:nvSpPr>
        <p:spPr>
          <a:xfrm>
            <a:off x="2910382" y="3209785"/>
            <a:ext cx="1724660" cy="0"/>
          </a:xfrm>
          <a:custGeom>
            <a:avLst/>
            <a:gdLst/>
            <a:ahLst/>
            <a:cxnLst/>
            <a:rect l="l" t="t" r="r" b="b"/>
            <a:pathLst>
              <a:path w="1724660" h="0">
                <a:moveTo>
                  <a:pt x="0" y="0"/>
                </a:moveTo>
                <a:lnTo>
                  <a:pt x="1724240" y="0"/>
                </a:lnTo>
              </a:path>
            </a:pathLst>
          </a:custGeom>
          <a:ln w="8602">
            <a:solidFill>
              <a:srgbClr val="000000"/>
            </a:solidFill>
          </a:ln>
        </p:spPr>
        <p:txBody>
          <a:bodyPr wrap="square" lIns="0" tIns="0" rIns="0" bIns="0" rtlCol="0"/>
          <a:lstStyle/>
          <a:p/>
        </p:txBody>
      </p:sp>
      <p:sp>
        <p:nvSpPr>
          <p:cNvPr id="29" name="object 29" descr=""/>
          <p:cNvSpPr txBox="1"/>
          <p:nvPr/>
        </p:nvSpPr>
        <p:spPr>
          <a:xfrm>
            <a:off x="2943517" y="3213038"/>
            <a:ext cx="96520"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Cambria"/>
                <a:cs typeface="Cambria"/>
              </a:rPr>
              <a:t>𝐾</a:t>
            </a:r>
            <a:endParaRPr sz="700">
              <a:latin typeface="Cambria"/>
              <a:cs typeface="Cambria"/>
            </a:endParaRPr>
          </a:p>
        </p:txBody>
      </p:sp>
      <p:sp>
        <p:nvSpPr>
          <p:cNvPr id="30" name="object 30" descr=""/>
          <p:cNvSpPr txBox="1"/>
          <p:nvPr/>
        </p:nvSpPr>
        <p:spPr>
          <a:xfrm>
            <a:off x="2821254" y="3428116"/>
            <a:ext cx="269875" cy="177800"/>
          </a:xfrm>
          <a:prstGeom prst="rect">
            <a:avLst/>
          </a:prstGeom>
        </p:spPr>
        <p:txBody>
          <a:bodyPr wrap="square" lIns="0" tIns="12065" rIns="0" bIns="0" rtlCol="0" vert="horz">
            <a:spAutoFit/>
          </a:bodyPr>
          <a:lstStyle/>
          <a:p>
            <a:pPr marL="12700">
              <a:lnSpc>
                <a:spcPct val="100000"/>
              </a:lnSpc>
              <a:spcBef>
                <a:spcPts val="95"/>
              </a:spcBef>
            </a:pPr>
            <a:r>
              <a:rPr dirty="0" baseline="5555" sz="1500" spc="-30">
                <a:latin typeface="Cambria"/>
                <a:cs typeface="Cambria"/>
              </a:rPr>
              <a:t>⎝</a:t>
            </a:r>
            <a:r>
              <a:rPr dirty="0" sz="700" spc="-20">
                <a:latin typeface="Cambria"/>
                <a:cs typeface="Cambria"/>
              </a:rPr>
              <a:t>𝑘=1</a:t>
            </a:r>
            <a:endParaRPr sz="700">
              <a:latin typeface="Cambria"/>
              <a:cs typeface="Cambria"/>
            </a:endParaRPr>
          </a:p>
        </p:txBody>
      </p:sp>
      <p:sp>
        <p:nvSpPr>
          <p:cNvPr id="31" name="object 31" descr=""/>
          <p:cNvSpPr txBox="1"/>
          <p:nvPr/>
        </p:nvSpPr>
        <p:spPr>
          <a:xfrm>
            <a:off x="2922435" y="3311987"/>
            <a:ext cx="243840" cy="177800"/>
          </a:xfrm>
          <a:prstGeom prst="rect">
            <a:avLst/>
          </a:prstGeom>
        </p:spPr>
        <p:txBody>
          <a:bodyPr wrap="square" lIns="0" tIns="12065" rIns="0" bIns="0" rtlCol="0" vert="horz">
            <a:spAutoFit/>
          </a:bodyPr>
          <a:lstStyle/>
          <a:p>
            <a:pPr marL="12700">
              <a:lnSpc>
                <a:spcPct val="100000"/>
              </a:lnSpc>
              <a:spcBef>
                <a:spcPts val="95"/>
              </a:spcBef>
            </a:pPr>
            <a:r>
              <a:rPr dirty="0" sz="1000" spc="210">
                <a:latin typeface="Cambria"/>
                <a:cs typeface="Cambria"/>
              </a:rPr>
              <a:t>∑</a:t>
            </a:r>
            <a:r>
              <a:rPr dirty="0" sz="1000" spc="145">
                <a:latin typeface="Cambria"/>
                <a:cs typeface="Cambria"/>
              </a:rPr>
              <a:t> </a:t>
            </a:r>
            <a:r>
              <a:rPr dirty="0" sz="1000" spc="-50">
                <a:latin typeface="Cambria"/>
                <a:cs typeface="Cambria"/>
              </a:rPr>
              <a:t>𝑒</a:t>
            </a:r>
            <a:endParaRPr sz="1000">
              <a:latin typeface="Cambria"/>
              <a:cs typeface="Cambria"/>
            </a:endParaRPr>
          </a:p>
        </p:txBody>
      </p:sp>
      <p:sp>
        <p:nvSpPr>
          <p:cNvPr id="32" name="object 32" descr=""/>
          <p:cNvSpPr txBox="1"/>
          <p:nvPr/>
        </p:nvSpPr>
        <p:spPr>
          <a:xfrm>
            <a:off x="3269475" y="3335509"/>
            <a:ext cx="237490" cy="109220"/>
          </a:xfrm>
          <a:prstGeom prst="rect">
            <a:avLst/>
          </a:prstGeom>
        </p:spPr>
        <p:txBody>
          <a:bodyPr wrap="square" lIns="0" tIns="12065" rIns="0" bIns="0" rtlCol="0" vert="horz">
            <a:spAutoFit/>
          </a:bodyPr>
          <a:lstStyle/>
          <a:p>
            <a:pPr marL="12700">
              <a:lnSpc>
                <a:spcPct val="100000"/>
              </a:lnSpc>
              <a:spcBef>
                <a:spcPts val="95"/>
              </a:spcBef>
              <a:tabLst>
                <a:tab pos="197485" algn="l"/>
              </a:tabLst>
            </a:pPr>
            <a:r>
              <a:rPr dirty="0" sz="550" spc="25">
                <a:latin typeface="Cambria"/>
                <a:cs typeface="Cambria"/>
              </a:rPr>
              <a:t>𝑘</a:t>
            </a:r>
            <a:r>
              <a:rPr dirty="0" sz="550">
                <a:latin typeface="Cambria"/>
                <a:cs typeface="Cambria"/>
              </a:rPr>
              <a:t>	</a:t>
            </a:r>
            <a:r>
              <a:rPr dirty="0" baseline="5050" sz="825" spc="-450">
                <a:latin typeface="Cambria"/>
                <a:cs typeface="Cambria"/>
              </a:rPr>
              <a:t>1</a:t>
            </a:r>
            <a:endParaRPr baseline="5050" sz="825">
              <a:latin typeface="Cambria"/>
              <a:cs typeface="Cambria"/>
            </a:endParaRPr>
          </a:p>
        </p:txBody>
      </p:sp>
      <p:sp>
        <p:nvSpPr>
          <p:cNvPr id="33" name="object 33" descr=""/>
          <p:cNvSpPr txBox="1"/>
          <p:nvPr/>
        </p:nvSpPr>
        <p:spPr>
          <a:xfrm>
            <a:off x="3701402" y="3320281"/>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34" name="object 34" descr=""/>
          <p:cNvSpPr txBox="1"/>
          <p:nvPr/>
        </p:nvSpPr>
        <p:spPr>
          <a:xfrm>
            <a:off x="3790912" y="3310844"/>
            <a:ext cx="79375" cy="177800"/>
          </a:xfrm>
          <a:prstGeom prst="rect">
            <a:avLst/>
          </a:prstGeom>
        </p:spPr>
        <p:txBody>
          <a:bodyPr wrap="square" lIns="0" tIns="12065" rIns="0" bIns="0" rtlCol="0" vert="horz">
            <a:spAutoFit/>
          </a:bodyPr>
          <a:lstStyle/>
          <a:p>
            <a:pPr marL="12700">
              <a:lnSpc>
                <a:spcPct val="100000"/>
              </a:lnSpc>
              <a:spcBef>
                <a:spcPts val="95"/>
              </a:spcBef>
            </a:pPr>
            <a:r>
              <a:rPr dirty="0" sz="1000" spc="-50">
                <a:latin typeface="Cambria"/>
                <a:cs typeface="Cambria"/>
              </a:rPr>
              <a:t>𝑒</a:t>
            </a:r>
            <a:endParaRPr sz="1000">
              <a:latin typeface="Cambria"/>
              <a:cs typeface="Cambria"/>
            </a:endParaRPr>
          </a:p>
        </p:txBody>
      </p:sp>
      <p:sp>
        <p:nvSpPr>
          <p:cNvPr id="35" name="object 35" descr=""/>
          <p:cNvSpPr txBox="1"/>
          <p:nvPr/>
        </p:nvSpPr>
        <p:spPr>
          <a:xfrm>
            <a:off x="3278327" y="3245682"/>
            <a:ext cx="803275" cy="109220"/>
          </a:xfrm>
          <a:prstGeom prst="rect">
            <a:avLst/>
          </a:prstGeom>
        </p:spPr>
        <p:txBody>
          <a:bodyPr wrap="square" lIns="0" tIns="12065" rIns="0" bIns="0" rtlCol="0" vert="horz">
            <a:spAutoFit/>
          </a:bodyPr>
          <a:lstStyle/>
          <a:p>
            <a:pPr marL="12700">
              <a:lnSpc>
                <a:spcPct val="100000"/>
              </a:lnSpc>
              <a:spcBef>
                <a:spcPts val="95"/>
              </a:spcBef>
              <a:tabLst>
                <a:tab pos="716280" algn="l"/>
              </a:tabLst>
            </a:pPr>
            <a:r>
              <a:rPr dirty="0" sz="550" spc="110">
                <a:latin typeface="Cambria"/>
                <a:cs typeface="Cambria"/>
              </a:rPr>
              <a:t>𝑚</a:t>
            </a:r>
            <a:r>
              <a:rPr dirty="0" sz="550" spc="295">
                <a:latin typeface="Cambria"/>
                <a:cs typeface="Cambria"/>
              </a:rPr>
              <a:t>  </a:t>
            </a:r>
            <a:r>
              <a:rPr dirty="0" sz="550" spc="60">
                <a:latin typeface="Cambria"/>
                <a:cs typeface="Cambria"/>
              </a:rPr>
              <a:t>𝑚</a:t>
            </a:r>
            <a:r>
              <a:rPr dirty="0" sz="550">
                <a:latin typeface="Cambria"/>
                <a:cs typeface="Cambria"/>
              </a:rPr>
              <a:t>	</a:t>
            </a:r>
            <a:r>
              <a:rPr dirty="0" sz="550" spc="50">
                <a:latin typeface="Cambria"/>
                <a:cs typeface="Cambria"/>
              </a:rPr>
              <a:t>𝑚</a:t>
            </a:r>
            <a:endParaRPr sz="550">
              <a:latin typeface="Cambria"/>
              <a:cs typeface="Cambria"/>
            </a:endParaRPr>
          </a:p>
        </p:txBody>
      </p:sp>
      <p:sp>
        <p:nvSpPr>
          <p:cNvPr id="36" name="object 36" descr=""/>
          <p:cNvSpPr txBox="1"/>
          <p:nvPr/>
        </p:nvSpPr>
        <p:spPr>
          <a:xfrm>
            <a:off x="3351466" y="3268021"/>
            <a:ext cx="768985" cy="109220"/>
          </a:xfrm>
          <a:prstGeom prst="rect">
            <a:avLst/>
          </a:prstGeom>
        </p:spPr>
        <p:txBody>
          <a:bodyPr wrap="square" lIns="0" tIns="12065" rIns="0" bIns="0" rtlCol="0" vert="horz">
            <a:spAutoFit/>
          </a:bodyPr>
          <a:lstStyle/>
          <a:p>
            <a:pPr marL="12700">
              <a:lnSpc>
                <a:spcPct val="100000"/>
              </a:lnSpc>
              <a:spcBef>
                <a:spcPts val="95"/>
              </a:spcBef>
              <a:tabLst>
                <a:tab pos="189865" algn="l"/>
                <a:tab pos="716280" algn="l"/>
              </a:tabLst>
            </a:pPr>
            <a:r>
              <a:rPr dirty="0" sz="550" spc="-50">
                <a:latin typeface="Cambria"/>
                <a:cs typeface="Cambria"/>
              </a:rPr>
              <a:t>1</a:t>
            </a:r>
            <a:r>
              <a:rPr dirty="0" sz="550">
                <a:latin typeface="Cambria"/>
                <a:cs typeface="Cambria"/>
              </a:rPr>
              <a:t>	</a:t>
            </a:r>
            <a:r>
              <a:rPr dirty="0" sz="550" spc="-50">
                <a:latin typeface="Cambria"/>
                <a:cs typeface="Cambria"/>
              </a:rPr>
              <a:t>1</a:t>
            </a:r>
            <a:r>
              <a:rPr dirty="0" sz="550">
                <a:latin typeface="Cambria"/>
                <a:cs typeface="Cambria"/>
              </a:rPr>
              <a:t>	</a:t>
            </a:r>
            <a:r>
              <a:rPr dirty="0" sz="550" spc="-50">
                <a:latin typeface="Cambria"/>
                <a:cs typeface="Cambria"/>
              </a:rPr>
              <a:t>2</a:t>
            </a:r>
            <a:endParaRPr sz="550">
              <a:latin typeface="Cambria"/>
              <a:cs typeface="Cambria"/>
            </a:endParaRPr>
          </a:p>
        </p:txBody>
      </p:sp>
      <p:sp>
        <p:nvSpPr>
          <p:cNvPr id="37" name="object 37" descr=""/>
          <p:cNvSpPr txBox="1"/>
          <p:nvPr/>
        </p:nvSpPr>
        <p:spPr>
          <a:xfrm>
            <a:off x="3973690" y="3335509"/>
            <a:ext cx="6096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𝑘</a:t>
            </a:r>
            <a:endParaRPr sz="550">
              <a:latin typeface="Cambria"/>
              <a:cs typeface="Cambria"/>
            </a:endParaRPr>
          </a:p>
        </p:txBody>
      </p:sp>
      <p:sp>
        <p:nvSpPr>
          <p:cNvPr id="38" name="object 38" descr=""/>
          <p:cNvSpPr txBox="1"/>
          <p:nvPr/>
        </p:nvSpPr>
        <p:spPr>
          <a:xfrm>
            <a:off x="4348924" y="3268021"/>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2</a:t>
            </a:r>
            <a:endParaRPr sz="550">
              <a:latin typeface="Cambria"/>
              <a:cs typeface="Cambria"/>
            </a:endParaRPr>
          </a:p>
        </p:txBody>
      </p:sp>
      <p:sp>
        <p:nvSpPr>
          <p:cNvPr id="39" name="object 39" descr=""/>
          <p:cNvSpPr txBox="1"/>
          <p:nvPr/>
        </p:nvSpPr>
        <p:spPr>
          <a:xfrm>
            <a:off x="4266933" y="3319583"/>
            <a:ext cx="5841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𝑦</a:t>
            </a:r>
            <a:endParaRPr sz="550">
              <a:latin typeface="Cambria"/>
              <a:cs typeface="Cambria"/>
            </a:endParaRPr>
          </a:p>
        </p:txBody>
      </p:sp>
      <p:sp>
        <p:nvSpPr>
          <p:cNvPr id="40" name="object 40" descr=""/>
          <p:cNvSpPr txBox="1"/>
          <p:nvPr/>
        </p:nvSpPr>
        <p:spPr>
          <a:xfrm>
            <a:off x="4312373" y="3347408"/>
            <a:ext cx="5080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𝑖</a:t>
            </a:r>
            <a:endParaRPr sz="550">
              <a:latin typeface="Cambria"/>
              <a:cs typeface="Cambria"/>
            </a:endParaRPr>
          </a:p>
        </p:txBody>
      </p:sp>
      <p:sp>
        <p:nvSpPr>
          <p:cNvPr id="41" name="object 41" descr=""/>
          <p:cNvSpPr txBox="1"/>
          <p:nvPr/>
        </p:nvSpPr>
        <p:spPr>
          <a:xfrm>
            <a:off x="3140341" y="3283752"/>
            <a:ext cx="1375410" cy="132080"/>
          </a:xfrm>
          <a:prstGeom prst="rect">
            <a:avLst/>
          </a:prstGeom>
        </p:spPr>
        <p:txBody>
          <a:bodyPr wrap="square" lIns="0" tIns="12065" rIns="0" bIns="0" rtlCol="0" vert="horz">
            <a:spAutoFit/>
          </a:bodyPr>
          <a:lstStyle/>
          <a:p>
            <a:pPr marL="12700">
              <a:lnSpc>
                <a:spcPct val="100000"/>
              </a:lnSpc>
              <a:spcBef>
                <a:spcPts val="95"/>
              </a:spcBef>
              <a:tabLst>
                <a:tab pos="274955" algn="l"/>
                <a:tab pos="979169" algn="l"/>
                <a:tab pos="1272540" algn="l"/>
              </a:tabLst>
            </a:pPr>
            <a:r>
              <a:rPr dirty="0" sz="700" spc="-25">
                <a:latin typeface="Cambria"/>
                <a:cs typeface="Cambria"/>
              </a:rPr>
              <a:t>(𝑊</a:t>
            </a:r>
            <a:r>
              <a:rPr dirty="0" sz="700">
                <a:latin typeface="Cambria"/>
                <a:cs typeface="Cambria"/>
              </a:rPr>
              <a:t>	</a:t>
            </a:r>
            <a:r>
              <a:rPr dirty="0" sz="700" spc="65">
                <a:latin typeface="Cambria"/>
                <a:cs typeface="Cambria"/>
              </a:rPr>
              <a:t>𝑧</a:t>
            </a:r>
            <a:r>
              <a:rPr dirty="0" sz="700" spc="340">
                <a:latin typeface="Cambria"/>
                <a:cs typeface="Cambria"/>
              </a:rPr>
              <a:t>  </a:t>
            </a:r>
            <a:r>
              <a:rPr dirty="0" sz="700" spc="90">
                <a:latin typeface="Cambria"/>
                <a:cs typeface="Cambria"/>
              </a:rPr>
              <a:t>+𝑏</a:t>
            </a:r>
            <a:r>
              <a:rPr dirty="0" sz="700" spc="204">
                <a:latin typeface="Cambria"/>
                <a:cs typeface="Cambria"/>
              </a:rPr>
              <a:t> </a:t>
            </a:r>
            <a:r>
              <a:rPr dirty="0" sz="700">
                <a:latin typeface="Cambria"/>
                <a:cs typeface="Cambria"/>
              </a:rPr>
              <a:t>)</a:t>
            </a:r>
            <a:r>
              <a:rPr dirty="0" sz="700" spc="315">
                <a:latin typeface="Cambria"/>
                <a:cs typeface="Cambria"/>
              </a:rPr>
              <a:t> </a:t>
            </a:r>
            <a:r>
              <a:rPr dirty="0" sz="700" spc="-25">
                <a:latin typeface="Cambria"/>
                <a:cs typeface="Cambria"/>
              </a:rPr>
              <a:t>(𝑊</a:t>
            </a:r>
            <a:r>
              <a:rPr dirty="0" sz="700">
                <a:latin typeface="Cambria"/>
                <a:cs typeface="Cambria"/>
              </a:rPr>
              <a:t>	</a:t>
            </a:r>
            <a:r>
              <a:rPr dirty="0" sz="700" spc="70">
                <a:latin typeface="Cambria"/>
                <a:cs typeface="Cambria"/>
              </a:rPr>
              <a:t>−𝑊</a:t>
            </a:r>
            <a:r>
              <a:rPr dirty="0" sz="700">
                <a:latin typeface="Cambria"/>
                <a:cs typeface="Cambria"/>
              </a:rPr>
              <a:t>	</a:t>
            </a:r>
            <a:r>
              <a:rPr dirty="0" sz="700" spc="25">
                <a:latin typeface="Cambria"/>
                <a:cs typeface="Cambria"/>
              </a:rPr>
              <a:t>)𝑧</a:t>
            </a:r>
            <a:endParaRPr sz="700">
              <a:latin typeface="Cambria"/>
              <a:cs typeface="Cambria"/>
            </a:endParaRPr>
          </a:p>
        </p:txBody>
      </p:sp>
      <p:sp>
        <p:nvSpPr>
          <p:cNvPr id="42" name="object 42" descr=""/>
          <p:cNvSpPr txBox="1"/>
          <p:nvPr/>
        </p:nvSpPr>
        <p:spPr>
          <a:xfrm>
            <a:off x="4275785" y="3245402"/>
            <a:ext cx="313690" cy="109220"/>
          </a:xfrm>
          <a:prstGeom prst="rect">
            <a:avLst/>
          </a:prstGeom>
        </p:spPr>
        <p:txBody>
          <a:bodyPr wrap="square" lIns="0" tIns="12065" rIns="0" bIns="0" rtlCol="0" vert="horz">
            <a:spAutoFit/>
          </a:bodyPr>
          <a:lstStyle/>
          <a:p>
            <a:pPr marL="12700">
              <a:lnSpc>
                <a:spcPct val="100000"/>
              </a:lnSpc>
              <a:spcBef>
                <a:spcPts val="95"/>
              </a:spcBef>
              <a:tabLst>
                <a:tab pos="227329" algn="l"/>
              </a:tabLst>
            </a:pPr>
            <a:r>
              <a:rPr dirty="0" sz="550" spc="60">
                <a:latin typeface="Cambria"/>
                <a:cs typeface="Cambria"/>
              </a:rPr>
              <a:t>𝑚</a:t>
            </a:r>
            <a:r>
              <a:rPr dirty="0" sz="550">
                <a:latin typeface="Cambria"/>
                <a:cs typeface="Cambria"/>
              </a:rPr>
              <a:t>	</a:t>
            </a:r>
            <a:r>
              <a:rPr dirty="0" sz="550" spc="60">
                <a:latin typeface="Cambria"/>
                <a:cs typeface="Cambria"/>
              </a:rPr>
              <a:t>𝑚</a:t>
            </a:r>
            <a:endParaRPr sz="550">
              <a:latin typeface="Cambria"/>
              <a:cs typeface="Cambria"/>
            </a:endParaRPr>
          </a:p>
        </p:txBody>
      </p:sp>
      <p:sp>
        <p:nvSpPr>
          <p:cNvPr id="43" name="object 43" descr=""/>
          <p:cNvSpPr txBox="1"/>
          <p:nvPr/>
        </p:nvSpPr>
        <p:spPr>
          <a:xfrm>
            <a:off x="4564049" y="3268021"/>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2</a:t>
            </a:r>
            <a:endParaRPr sz="550">
              <a:latin typeface="Cambria"/>
              <a:cs typeface="Cambria"/>
            </a:endParaRPr>
          </a:p>
        </p:txBody>
      </p:sp>
      <p:sp>
        <p:nvSpPr>
          <p:cNvPr id="44" name="object 44" descr=""/>
          <p:cNvSpPr txBox="1"/>
          <p:nvPr/>
        </p:nvSpPr>
        <p:spPr>
          <a:xfrm>
            <a:off x="4490021" y="3334747"/>
            <a:ext cx="38100" cy="109220"/>
          </a:xfrm>
          <a:prstGeom prst="rect">
            <a:avLst/>
          </a:prstGeom>
        </p:spPr>
        <p:txBody>
          <a:bodyPr wrap="square" lIns="0" tIns="12065" rIns="0" bIns="0" rtlCol="0" vert="horz">
            <a:spAutoFit/>
          </a:bodyPr>
          <a:lstStyle/>
          <a:p>
            <a:pPr algn="ctr" marR="3810">
              <a:lnSpc>
                <a:spcPct val="100000"/>
              </a:lnSpc>
              <a:spcBef>
                <a:spcPts val="95"/>
              </a:spcBef>
            </a:pPr>
            <a:r>
              <a:rPr dirty="0" sz="550" spc="-50">
                <a:latin typeface="Cambria"/>
                <a:cs typeface="Cambria"/>
              </a:rPr>
              <a:t>𝑖</a:t>
            </a:r>
            <a:endParaRPr sz="550">
              <a:latin typeface="Cambria"/>
              <a:cs typeface="Cambria"/>
            </a:endParaRPr>
          </a:p>
        </p:txBody>
      </p:sp>
      <p:sp>
        <p:nvSpPr>
          <p:cNvPr id="45" name="object 45" descr=""/>
          <p:cNvSpPr txBox="1"/>
          <p:nvPr/>
        </p:nvSpPr>
        <p:spPr>
          <a:xfrm>
            <a:off x="4847069" y="3272135"/>
            <a:ext cx="86995" cy="177800"/>
          </a:xfrm>
          <a:prstGeom prst="rect">
            <a:avLst/>
          </a:prstGeom>
        </p:spPr>
        <p:txBody>
          <a:bodyPr wrap="square" lIns="0" tIns="12065" rIns="0" bIns="0" rtlCol="0" vert="horz">
            <a:spAutoFit/>
          </a:bodyPr>
          <a:lstStyle/>
          <a:p>
            <a:pPr marL="12700">
              <a:lnSpc>
                <a:spcPct val="100000"/>
              </a:lnSpc>
              <a:spcBef>
                <a:spcPts val="95"/>
              </a:spcBef>
            </a:pPr>
            <a:r>
              <a:rPr dirty="0" sz="1000" spc="-335">
                <a:latin typeface="Cambria"/>
                <a:cs typeface="Cambria"/>
              </a:rPr>
              <a:t>⎟</a:t>
            </a:r>
            <a:endParaRPr sz="1000">
              <a:latin typeface="Cambria"/>
              <a:cs typeface="Cambria"/>
            </a:endParaRPr>
          </a:p>
        </p:txBody>
      </p:sp>
      <p:sp>
        <p:nvSpPr>
          <p:cNvPr id="46" name="object 46" descr=""/>
          <p:cNvSpPr txBox="1"/>
          <p:nvPr/>
        </p:nvSpPr>
        <p:spPr>
          <a:xfrm>
            <a:off x="4847069" y="3416711"/>
            <a:ext cx="86995" cy="177800"/>
          </a:xfrm>
          <a:prstGeom prst="rect">
            <a:avLst/>
          </a:prstGeom>
        </p:spPr>
        <p:txBody>
          <a:bodyPr wrap="square" lIns="0" tIns="12065" rIns="0" bIns="0" rtlCol="0" vert="horz">
            <a:spAutoFit/>
          </a:bodyPr>
          <a:lstStyle/>
          <a:p>
            <a:pPr marL="12700">
              <a:lnSpc>
                <a:spcPct val="100000"/>
              </a:lnSpc>
              <a:spcBef>
                <a:spcPts val="95"/>
              </a:spcBef>
            </a:pPr>
            <a:r>
              <a:rPr dirty="0" sz="1000" spc="-335">
                <a:latin typeface="Cambria"/>
                <a:cs typeface="Cambria"/>
              </a:rPr>
              <a:t>⎠</a:t>
            </a:r>
            <a:endParaRPr sz="1000">
              <a:latin typeface="Cambria"/>
              <a:cs typeface="Cambria"/>
            </a:endParaRPr>
          </a:p>
        </p:txBody>
      </p:sp>
      <p:sp>
        <p:nvSpPr>
          <p:cNvPr id="47" name="object 47" descr=""/>
          <p:cNvSpPr txBox="1"/>
          <p:nvPr/>
        </p:nvSpPr>
        <p:spPr>
          <a:xfrm>
            <a:off x="4665230" y="3103211"/>
            <a:ext cx="405130" cy="177800"/>
          </a:xfrm>
          <a:prstGeom prst="rect">
            <a:avLst/>
          </a:prstGeom>
        </p:spPr>
        <p:txBody>
          <a:bodyPr wrap="square" lIns="0" tIns="12065" rIns="0" bIns="0" rtlCol="0" vert="horz">
            <a:spAutoFit/>
          </a:bodyPr>
          <a:lstStyle/>
          <a:p>
            <a:pPr marL="12700">
              <a:lnSpc>
                <a:spcPct val="100000"/>
              </a:lnSpc>
              <a:spcBef>
                <a:spcPts val="95"/>
              </a:spcBef>
            </a:pPr>
            <a:r>
              <a:rPr dirty="0" sz="1000" spc="165">
                <a:latin typeface="Cambria"/>
                <a:cs typeface="Cambria"/>
              </a:rPr>
              <a:t>−</a:t>
            </a:r>
            <a:r>
              <a:rPr dirty="0" sz="1000" spc="-20">
                <a:latin typeface="Cambria"/>
                <a:cs typeface="Cambria"/>
              </a:rPr>
              <a:t> </a:t>
            </a:r>
            <a:r>
              <a:rPr dirty="0" sz="1000">
                <a:latin typeface="Cambria"/>
                <a:cs typeface="Cambria"/>
              </a:rPr>
              <a:t>1</a:t>
            </a:r>
            <a:r>
              <a:rPr dirty="0" sz="1000" spc="390">
                <a:latin typeface="Cambria"/>
                <a:cs typeface="Cambria"/>
              </a:rPr>
              <a:t> </a:t>
            </a:r>
            <a:r>
              <a:rPr dirty="0" sz="1000" spc="-60">
                <a:latin typeface="Cambria"/>
                <a:cs typeface="Cambria"/>
              </a:rPr>
              <a:t>𝑊</a:t>
            </a:r>
            <a:endParaRPr sz="1000">
              <a:latin typeface="Cambria"/>
              <a:cs typeface="Cambria"/>
            </a:endParaRPr>
          </a:p>
        </p:txBody>
      </p:sp>
      <p:sp>
        <p:nvSpPr>
          <p:cNvPr id="48" name="object 48" descr=""/>
          <p:cNvSpPr txBox="1"/>
          <p:nvPr/>
        </p:nvSpPr>
        <p:spPr>
          <a:xfrm>
            <a:off x="4821669" y="3036536"/>
            <a:ext cx="410209" cy="177800"/>
          </a:xfrm>
          <a:prstGeom prst="rect">
            <a:avLst/>
          </a:prstGeom>
        </p:spPr>
        <p:txBody>
          <a:bodyPr wrap="square" lIns="0" tIns="12065" rIns="0" bIns="0" rtlCol="0" vert="horz">
            <a:spAutoFit/>
          </a:bodyPr>
          <a:lstStyle/>
          <a:p>
            <a:pPr marL="38100">
              <a:lnSpc>
                <a:spcPct val="100000"/>
              </a:lnSpc>
              <a:spcBef>
                <a:spcPts val="95"/>
              </a:spcBef>
              <a:tabLst>
                <a:tab pos="248285" algn="l"/>
              </a:tabLst>
            </a:pPr>
            <a:r>
              <a:rPr dirty="0" baseline="66666" sz="1500" spc="-1447">
                <a:latin typeface="Cambria"/>
                <a:cs typeface="Cambria"/>
              </a:rPr>
              <a:t>⎞</a:t>
            </a:r>
            <a:r>
              <a:rPr dirty="0" baseline="2777" sz="1500" spc="-292">
                <a:latin typeface="Cambria"/>
                <a:cs typeface="Cambria"/>
              </a:rPr>
              <a:t>⎟</a:t>
            </a:r>
            <a:r>
              <a:rPr dirty="0" baseline="2777" sz="1500">
                <a:latin typeface="Cambria"/>
                <a:cs typeface="Cambria"/>
              </a:rPr>
              <a:t>	</a:t>
            </a:r>
            <a:r>
              <a:rPr dirty="0" sz="700" spc="-25">
                <a:latin typeface="Cambria"/>
                <a:cs typeface="Cambria"/>
              </a:rPr>
              <a:t>𝑚</a:t>
            </a:r>
            <a:r>
              <a:rPr dirty="0" baseline="-15151" sz="825" spc="-37">
                <a:latin typeface="Cambria"/>
                <a:cs typeface="Cambria"/>
              </a:rPr>
              <a:t>1</a:t>
            </a:r>
            <a:endParaRPr baseline="-15151" sz="825">
              <a:latin typeface="Cambria"/>
              <a:cs typeface="Cambria"/>
            </a:endParaRPr>
          </a:p>
        </p:txBody>
      </p:sp>
      <p:sp>
        <p:nvSpPr>
          <p:cNvPr id="49" name="object 49" descr=""/>
          <p:cNvSpPr txBox="1"/>
          <p:nvPr/>
        </p:nvSpPr>
        <p:spPr>
          <a:xfrm>
            <a:off x="5034546" y="3158035"/>
            <a:ext cx="781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𝑦</a:t>
            </a:r>
            <a:endParaRPr sz="700">
              <a:latin typeface="Cambria"/>
              <a:cs typeface="Cambria"/>
            </a:endParaRPr>
          </a:p>
        </p:txBody>
      </p:sp>
      <p:sp>
        <p:nvSpPr>
          <p:cNvPr id="50" name="object 50" descr=""/>
          <p:cNvSpPr txBox="1"/>
          <p:nvPr/>
        </p:nvSpPr>
        <p:spPr>
          <a:xfrm>
            <a:off x="5086705" y="3197866"/>
            <a:ext cx="5080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𝑖</a:t>
            </a:r>
            <a:endParaRPr sz="550">
              <a:latin typeface="Cambria"/>
              <a:cs typeface="Cambria"/>
            </a:endParaRPr>
          </a:p>
        </p:txBody>
      </p:sp>
      <p:grpSp>
        <p:nvGrpSpPr>
          <p:cNvPr id="51" name="object 51" descr=""/>
          <p:cNvGrpSpPr/>
          <p:nvPr/>
        </p:nvGrpSpPr>
        <p:grpSpPr>
          <a:xfrm>
            <a:off x="899998" y="4123778"/>
            <a:ext cx="5760085" cy="374650"/>
            <a:chOff x="899998" y="4123778"/>
            <a:chExt cx="5760085" cy="374650"/>
          </a:xfrm>
        </p:grpSpPr>
        <p:sp>
          <p:nvSpPr>
            <p:cNvPr id="52" name="object 52" descr=""/>
            <p:cNvSpPr/>
            <p:nvPr/>
          </p:nvSpPr>
          <p:spPr>
            <a:xfrm>
              <a:off x="899998" y="4123778"/>
              <a:ext cx="5760085" cy="374650"/>
            </a:xfrm>
            <a:custGeom>
              <a:avLst/>
              <a:gdLst/>
              <a:ahLst/>
              <a:cxnLst/>
              <a:rect l="l" t="t" r="r" b="b"/>
              <a:pathLst>
                <a:path w="5760084" h="374650">
                  <a:moveTo>
                    <a:pt x="5724074" y="0"/>
                  </a:moveTo>
                  <a:lnTo>
                    <a:pt x="36000" y="0"/>
                  </a:lnTo>
                  <a:lnTo>
                    <a:pt x="21987" y="2829"/>
                  </a:lnTo>
                  <a:lnTo>
                    <a:pt x="10544" y="10544"/>
                  </a:lnTo>
                  <a:lnTo>
                    <a:pt x="2829" y="21987"/>
                  </a:lnTo>
                  <a:lnTo>
                    <a:pt x="0" y="36000"/>
                  </a:lnTo>
                  <a:lnTo>
                    <a:pt x="0" y="338219"/>
                  </a:lnTo>
                  <a:lnTo>
                    <a:pt x="2829" y="352232"/>
                  </a:lnTo>
                  <a:lnTo>
                    <a:pt x="10544" y="363675"/>
                  </a:lnTo>
                  <a:lnTo>
                    <a:pt x="21987" y="371390"/>
                  </a:lnTo>
                  <a:lnTo>
                    <a:pt x="36000" y="374219"/>
                  </a:lnTo>
                  <a:lnTo>
                    <a:pt x="5724074" y="374219"/>
                  </a:lnTo>
                  <a:lnTo>
                    <a:pt x="5738087" y="371390"/>
                  </a:lnTo>
                  <a:lnTo>
                    <a:pt x="5749530" y="363675"/>
                  </a:lnTo>
                  <a:lnTo>
                    <a:pt x="5757245" y="352232"/>
                  </a:lnTo>
                  <a:lnTo>
                    <a:pt x="5760074" y="33821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53" name="object 53" descr=""/>
            <p:cNvSpPr/>
            <p:nvPr/>
          </p:nvSpPr>
          <p:spPr>
            <a:xfrm>
              <a:off x="899998" y="4123778"/>
              <a:ext cx="5760085" cy="374650"/>
            </a:xfrm>
            <a:custGeom>
              <a:avLst/>
              <a:gdLst/>
              <a:ahLst/>
              <a:cxnLst/>
              <a:rect l="l" t="t" r="r" b="b"/>
              <a:pathLst>
                <a:path w="5760084" h="374650">
                  <a:moveTo>
                    <a:pt x="5724074" y="0"/>
                  </a:moveTo>
                  <a:lnTo>
                    <a:pt x="36000" y="0"/>
                  </a:lnTo>
                  <a:lnTo>
                    <a:pt x="21987" y="2829"/>
                  </a:lnTo>
                  <a:lnTo>
                    <a:pt x="10544" y="10544"/>
                  </a:lnTo>
                  <a:lnTo>
                    <a:pt x="2829" y="21987"/>
                  </a:lnTo>
                  <a:lnTo>
                    <a:pt x="0" y="36000"/>
                  </a:lnTo>
                  <a:lnTo>
                    <a:pt x="0" y="338219"/>
                  </a:lnTo>
                  <a:lnTo>
                    <a:pt x="2829" y="352232"/>
                  </a:lnTo>
                  <a:lnTo>
                    <a:pt x="10544" y="363675"/>
                  </a:lnTo>
                  <a:lnTo>
                    <a:pt x="21987" y="371390"/>
                  </a:lnTo>
                  <a:lnTo>
                    <a:pt x="36000" y="374219"/>
                  </a:lnTo>
                  <a:lnTo>
                    <a:pt x="5724074" y="374219"/>
                  </a:lnTo>
                  <a:lnTo>
                    <a:pt x="5738087" y="371390"/>
                  </a:lnTo>
                  <a:lnTo>
                    <a:pt x="5749530" y="363675"/>
                  </a:lnTo>
                  <a:lnTo>
                    <a:pt x="5757245" y="352232"/>
                  </a:lnTo>
                  <a:lnTo>
                    <a:pt x="5760074" y="33821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4" name="object 54" descr=""/>
          <p:cNvGrpSpPr/>
          <p:nvPr/>
        </p:nvGrpSpPr>
        <p:grpSpPr>
          <a:xfrm>
            <a:off x="899998" y="5287508"/>
            <a:ext cx="5760085" cy="571500"/>
            <a:chOff x="899998" y="5287508"/>
            <a:chExt cx="5760085" cy="571500"/>
          </a:xfrm>
        </p:grpSpPr>
        <p:sp>
          <p:nvSpPr>
            <p:cNvPr id="55" name="object 55" descr=""/>
            <p:cNvSpPr/>
            <p:nvPr/>
          </p:nvSpPr>
          <p:spPr>
            <a:xfrm>
              <a:off x="899998" y="5287508"/>
              <a:ext cx="5760085" cy="571500"/>
            </a:xfrm>
            <a:custGeom>
              <a:avLst/>
              <a:gdLst/>
              <a:ahLst/>
              <a:cxnLst/>
              <a:rect l="l" t="t" r="r" b="b"/>
              <a:pathLst>
                <a:path w="5760084" h="571500">
                  <a:moveTo>
                    <a:pt x="5724074" y="0"/>
                  </a:moveTo>
                  <a:lnTo>
                    <a:pt x="36000" y="0"/>
                  </a:lnTo>
                  <a:lnTo>
                    <a:pt x="21987" y="2829"/>
                  </a:lnTo>
                  <a:lnTo>
                    <a:pt x="10544" y="10544"/>
                  </a:lnTo>
                  <a:lnTo>
                    <a:pt x="2829" y="21987"/>
                  </a:lnTo>
                  <a:lnTo>
                    <a:pt x="0" y="36000"/>
                  </a:lnTo>
                  <a:lnTo>
                    <a:pt x="0" y="534976"/>
                  </a:lnTo>
                  <a:lnTo>
                    <a:pt x="2829" y="548989"/>
                  </a:lnTo>
                  <a:lnTo>
                    <a:pt x="10544" y="560432"/>
                  </a:lnTo>
                  <a:lnTo>
                    <a:pt x="21987" y="568147"/>
                  </a:lnTo>
                  <a:lnTo>
                    <a:pt x="36000" y="570976"/>
                  </a:lnTo>
                  <a:lnTo>
                    <a:pt x="5724074" y="570976"/>
                  </a:lnTo>
                  <a:lnTo>
                    <a:pt x="5738087" y="568147"/>
                  </a:lnTo>
                  <a:lnTo>
                    <a:pt x="5749530" y="560432"/>
                  </a:lnTo>
                  <a:lnTo>
                    <a:pt x="5757245" y="548989"/>
                  </a:lnTo>
                  <a:lnTo>
                    <a:pt x="5760074" y="53497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56" name="object 56" descr=""/>
            <p:cNvSpPr/>
            <p:nvPr/>
          </p:nvSpPr>
          <p:spPr>
            <a:xfrm>
              <a:off x="899998" y="5287508"/>
              <a:ext cx="5760085" cy="571500"/>
            </a:xfrm>
            <a:custGeom>
              <a:avLst/>
              <a:gdLst/>
              <a:ahLst/>
              <a:cxnLst/>
              <a:rect l="l" t="t" r="r" b="b"/>
              <a:pathLst>
                <a:path w="5760084" h="571500">
                  <a:moveTo>
                    <a:pt x="5724074" y="0"/>
                  </a:moveTo>
                  <a:lnTo>
                    <a:pt x="36000" y="0"/>
                  </a:lnTo>
                  <a:lnTo>
                    <a:pt x="21987" y="2829"/>
                  </a:lnTo>
                  <a:lnTo>
                    <a:pt x="10544" y="10544"/>
                  </a:lnTo>
                  <a:lnTo>
                    <a:pt x="2829" y="21987"/>
                  </a:lnTo>
                  <a:lnTo>
                    <a:pt x="0" y="36000"/>
                  </a:lnTo>
                  <a:lnTo>
                    <a:pt x="0" y="534976"/>
                  </a:lnTo>
                  <a:lnTo>
                    <a:pt x="2829" y="548989"/>
                  </a:lnTo>
                  <a:lnTo>
                    <a:pt x="10544" y="560432"/>
                  </a:lnTo>
                  <a:lnTo>
                    <a:pt x="21987" y="568147"/>
                  </a:lnTo>
                  <a:lnTo>
                    <a:pt x="36000" y="570976"/>
                  </a:lnTo>
                  <a:lnTo>
                    <a:pt x="5724074" y="570976"/>
                  </a:lnTo>
                  <a:lnTo>
                    <a:pt x="5738087" y="568147"/>
                  </a:lnTo>
                  <a:lnTo>
                    <a:pt x="5749530" y="560432"/>
                  </a:lnTo>
                  <a:lnTo>
                    <a:pt x="5757245" y="548989"/>
                  </a:lnTo>
                  <a:lnTo>
                    <a:pt x="5760074" y="53497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7" name="object 57" descr=""/>
          <p:cNvSpPr txBox="1"/>
          <p:nvPr/>
        </p:nvSpPr>
        <p:spPr>
          <a:xfrm>
            <a:off x="811098" y="3582206"/>
            <a:ext cx="5937885" cy="2181860"/>
          </a:xfrm>
          <a:prstGeom prst="rect">
            <a:avLst/>
          </a:prstGeom>
        </p:spPr>
        <p:txBody>
          <a:bodyPr wrap="square" lIns="0" tIns="59055" rIns="0" bIns="0" rtlCol="0" vert="horz">
            <a:spAutoFit/>
          </a:bodyPr>
          <a:lstStyle/>
          <a:p>
            <a:pPr marL="341630">
              <a:lnSpc>
                <a:spcPct val="100000"/>
              </a:lnSpc>
              <a:spcBef>
                <a:spcPts val="465"/>
              </a:spcBef>
            </a:pPr>
            <a:r>
              <a:rPr dirty="0" sz="1000" spc="-25">
                <a:latin typeface="Times New Roman"/>
                <a:cs typeface="Times New Roman"/>
              </a:rPr>
              <a:t>(4)</a:t>
            </a:r>
            <a:endParaRPr sz="1000">
              <a:latin typeface="Times New Roman"/>
              <a:cs typeface="Times New Roman"/>
            </a:endParaRPr>
          </a:p>
          <a:p>
            <a:pPr marL="341630">
              <a:lnSpc>
                <a:spcPct val="100000"/>
              </a:lnSpc>
              <a:spcBef>
                <a:spcPts val="365"/>
              </a:spcBef>
            </a:pPr>
            <a:r>
              <a:rPr dirty="0" sz="1000">
                <a:latin typeface="Times New Roman"/>
                <a:cs typeface="Times New Roman"/>
              </a:rPr>
              <a:t>where</a:t>
            </a:r>
            <a:r>
              <a:rPr dirty="0" sz="1000" spc="15">
                <a:latin typeface="Times New Roman"/>
                <a:cs typeface="Times New Roman"/>
              </a:rPr>
              <a:t> </a:t>
            </a:r>
            <a:r>
              <a:rPr dirty="0" sz="1000">
                <a:latin typeface="Cambria"/>
                <a:cs typeface="Cambria"/>
              </a:rPr>
              <a:t>𝑊</a:t>
            </a:r>
            <a:r>
              <a:rPr dirty="0" sz="1000" spc="225">
                <a:latin typeface="Cambria"/>
                <a:cs typeface="Cambria"/>
              </a:rPr>
              <a:t> </a:t>
            </a:r>
            <a:r>
              <a:rPr dirty="0" sz="1000" spc="165">
                <a:latin typeface="Cambria"/>
                <a:cs typeface="Cambria"/>
              </a:rPr>
              <a:t>=</a:t>
            </a:r>
            <a:r>
              <a:rPr dirty="0" sz="1000" spc="100">
                <a:latin typeface="Cambria"/>
                <a:cs typeface="Cambria"/>
              </a:rPr>
              <a:t> </a:t>
            </a:r>
            <a:r>
              <a:rPr dirty="0" sz="1000" spc="-30">
                <a:latin typeface="Cambria"/>
                <a:cs typeface="Cambria"/>
              </a:rPr>
              <a:t>[𝑊</a:t>
            </a:r>
            <a:r>
              <a:rPr dirty="0" sz="1000" spc="-25">
                <a:latin typeface="Cambria"/>
                <a:cs typeface="Cambria"/>
              </a:rPr>
              <a:t> </a:t>
            </a:r>
            <a:r>
              <a:rPr dirty="0" baseline="27777" sz="1050">
                <a:latin typeface="Cambria"/>
                <a:cs typeface="Cambria"/>
              </a:rPr>
              <a:t>𝑚</a:t>
            </a:r>
            <a:r>
              <a:rPr dirty="0" baseline="20202" sz="825">
                <a:latin typeface="Cambria"/>
                <a:cs typeface="Cambria"/>
              </a:rPr>
              <a:t>1</a:t>
            </a:r>
            <a:r>
              <a:rPr dirty="0" baseline="20202" sz="825" spc="-15">
                <a:latin typeface="Cambria"/>
                <a:cs typeface="Cambria"/>
              </a:rPr>
              <a:t> </a:t>
            </a:r>
            <a:r>
              <a:rPr dirty="0" sz="1000">
                <a:latin typeface="Cambria"/>
                <a:cs typeface="Cambria"/>
              </a:rPr>
              <a:t>,</a:t>
            </a:r>
            <a:r>
              <a:rPr dirty="0" sz="1000" spc="-25">
                <a:latin typeface="Cambria"/>
                <a:cs typeface="Cambria"/>
              </a:rPr>
              <a:t> </a:t>
            </a:r>
            <a:r>
              <a:rPr dirty="0" sz="1000" spc="-55">
                <a:latin typeface="Cambria"/>
                <a:cs typeface="Cambria"/>
              </a:rPr>
              <a:t>𝑊</a:t>
            </a:r>
            <a:r>
              <a:rPr dirty="0" sz="1000" spc="-25">
                <a:latin typeface="Cambria"/>
                <a:cs typeface="Cambria"/>
              </a:rPr>
              <a:t> </a:t>
            </a:r>
            <a:r>
              <a:rPr dirty="0" baseline="27777" sz="1050">
                <a:latin typeface="Cambria"/>
                <a:cs typeface="Cambria"/>
              </a:rPr>
              <a:t>𝑚</a:t>
            </a:r>
            <a:r>
              <a:rPr dirty="0" baseline="20202" sz="825">
                <a:latin typeface="Cambria"/>
                <a:cs typeface="Cambria"/>
              </a:rPr>
              <a:t>2</a:t>
            </a:r>
            <a:r>
              <a:rPr dirty="0" baseline="20202" sz="825" spc="-15">
                <a:latin typeface="Cambria"/>
                <a:cs typeface="Cambria"/>
              </a:rPr>
              <a:t> </a:t>
            </a:r>
            <a:r>
              <a:rPr dirty="0" sz="1000" spc="-10">
                <a:latin typeface="Cambria"/>
                <a:cs typeface="Cambria"/>
              </a:rPr>
              <a:t>]</a:t>
            </a:r>
            <a:r>
              <a:rPr dirty="0" sz="1000" spc="-25">
                <a:latin typeface="Cambria"/>
                <a:cs typeface="Cambria"/>
              </a:rPr>
              <a:t> </a:t>
            </a:r>
            <a:r>
              <a:rPr dirty="0" sz="1000">
                <a:latin typeface="Cambria"/>
                <a:cs typeface="Cambria"/>
              </a:rPr>
              <a:t>,</a:t>
            </a:r>
            <a:r>
              <a:rPr dirty="0" sz="1000" spc="-30">
                <a:latin typeface="Cambria"/>
                <a:cs typeface="Cambria"/>
              </a:rPr>
              <a:t> </a:t>
            </a:r>
            <a:r>
              <a:rPr dirty="0" sz="1000" spc="-55">
                <a:latin typeface="Cambria"/>
                <a:cs typeface="Cambria"/>
              </a:rPr>
              <a:t>𝑊</a:t>
            </a:r>
            <a:r>
              <a:rPr dirty="0" sz="1000" spc="-25">
                <a:latin typeface="Cambria"/>
                <a:cs typeface="Cambria"/>
              </a:rPr>
              <a:t> </a:t>
            </a:r>
            <a:r>
              <a:rPr dirty="0" baseline="27777" sz="1050">
                <a:latin typeface="Cambria"/>
                <a:cs typeface="Cambria"/>
              </a:rPr>
              <a:t>𝑚</a:t>
            </a:r>
            <a:r>
              <a:rPr dirty="0" baseline="20202" sz="825">
                <a:latin typeface="Cambria"/>
                <a:cs typeface="Cambria"/>
              </a:rPr>
              <a:t>1</a:t>
            </a:r>
            <a:r>
              <a:rPr dirty="0" baseline="20202" sz="825" spc="487">
                <a:latin typeface="Cambria"/>
                <a:cs typeface="Cambria"/>
              </a:rPr>
              <a:t> </a:t>
            </a:r>
            <a:r>
              <a:rPr dirty="0" sz="1000" spc="85">
                <a:latin typeface="Cambria"/>
                <a:cs typeface="Cambria"/>
              </a:rPr>
              <a:t>∈</a:t>
            </a:r>
            <a:r>
              <a:rPr dirty="0" sz="1000" spc="100">
                <a:latin typeface="Cambria"/>
                <a:cs typeface="Cambria"/>
              </a:rPr>
              <a:t> </a:t>
            </a:r>
            <a:r>
              <a:rPr dirty="0" sz="1000">
                <a:latin typeface="Cambria"/>
                <a:cs typeface="Cambria"/>
              </a:rPr>
              <a:t>ℝ</a:t>
            </a:r>
            <a:r>
              <a:rPr dirty="0" baseline="27777" sz="1050">
                <a:latin typeface="Cambria"/>
                <a:cs typeface="Cambria"/>
              </a:rPr>
              <a:t>𝑑</a:t>
            </a:r>
            <a:r>
              <a:rPr dirty="0" baseline="20202" sz="825">
                <a:latin typeface="Cambria"/>
                <a:cs typeface="Cambria"/>
              </a:rPr>
              <a:t>1</a:t>
            </a:r>
            <a:r>
              <a:rPr dirty="0" baseline="20202" sz="825" spc="-15">
                <a:latin typeface="Cambria"/>
                <a:cs typeface="Cambria"/>
              </a:rPr>
              <a:t> </a:t>
            </a:r>
            <a:r>
              <a:rPr dirty="0" sz="1000">
                <a:latin typeface="Cambria"/>
                <a:cs typeface="Cambria"/>
              </a:rPr>
              <a:t>,</a:t>
            </a:r>
            <a:r>
              <a:rPr dirty="0" sz="1000" spc="-25">
                <a:latin typeface="Cambria"/>
                <a:cs typeface="Cambria"/>
              </a:rPr>
              <a:t> </a:t>
            </a:r>
            <a:r>
              <a:rPr dirty="0" sz="1000" spc="-55">
                <a:latin typeface="Cambria"/>
                <a:cs typeface="Cambria"/>
              </a:rPr>
              <a:t>𝑊</a:t>
            </a:r>
            <a:r>
              <a:rPr dirty="0" sz="1000" spc="-25">
                <a:latin typeface="Cambria"/>
                <a:cs typeface="Cambria"/>
              </a:rPr>
              <a:t> </a:t>
            </a:r>
            <a:r>
              <a:rPr dirty="0" baseline="27777" sz="1050">
                <a:latin typeface="Cambria"/>
                <a:cs typeface="Cambria"/>
              </a:rPr>
              <a:t>𝑚</a:t>
            </a:r>
            <a:r>
              <a:rPr dirty="0" baseline="20202" sz="825">
                <a:latin typeface="Cambria"/>
                <a:cs typeface="Cambria"/>
              </a:rPr>
              <a:t>2</a:t>
            </a:r>
            <a:r>
              <a:rPr dirty="0" baseline="20202" sz="825" spc="487">
                <a:latin typeface="Cambria"/>
                <a:cs typeface="Cambria"/>
              </a:rPr>
              <a:t> </a:t>
            </a:r>
            <a:r>
              <a:rPr dirty="0" sz="1000" spc="85">
                <a:latin typeface="Cambria"/>
                <a:cs typeface="Cambria"/>
              </a:rPr>
              <a:t>∈</a:t>
            </a:r>
            <a:r>
              <a:rPr dirty="0" sz="1000" spc="100">
                <a:latin typeface="Cambria"/>
                <a:cs typeface="Cambria"/>
              </a:rPr>
              <a:t> </a:t>
            </a:r>
            <a:r>
              <a:rPr dirty="0" sz="1000">
                <a:latin typeface="Cambria"/>
                <a:cs typeface="Cambria"/>
              </a:rPr>
              <a:t>ℝ</a:t>
            </a:r>
            <a:r>
              <a:rPr dirty="0" baseline="27777" sz="1050">
                <a:latin typeface="Cambria"/>
                <a:cs typeface="Cambria"/>
              </a:rPr>
              <a:t>𝑑</a:t>
            </a:r>
            <a:r>
              <a:rPr dirty="0" baseline="20202" sz="825">
                <a:latin typeface="Cambria"/>
                <a:cs typeface="Cambria"/>
              </a:rPr>
              <a:t>2</a:t>
            </a:r>
            <a:r>
              <a:rPr dirty="0" baseline="20202" sz="825" spc="-15">
                <a:latin typeface="Cambria"/>
                <a:cs typeface="Cambria"/>
              </a:rPr>
              <a:t> </a:t>
            </a:r>
            <a:r>
              <a:rPr dirty="0" sz="1000">
                <a:latin typeface="Cambria"/>
                <a:cs typeface="Cambria"/>
              </a:rPr>
              <a:t>,</a:t>
            </a:r>
            <a:r>
              <a:rPr dirty="0" sz="1000" spc="-25">
                <a:latin typeface="Cambria"/>
                <a:cs typeface="Cambria"/>
              </a:rPr>
              <a:t> </a:t>
            </a:r>
            <a:r>
              <a:rPr dirty="0" sz="1000" spc="-55">
                <a:latin typeface="Cambria"/>
                <a:cs typeface="Cambria"/>
              </a:rPr>
              <a:t>𝑊</a:t>
            </a:r>
            <a:r>
              <a:rPr dirty="0" sz="1000" spc="-5">
                <a:latin typeface="Cambria"/>
                <a:cs typeface="Cambria"/>
              </a:rPr>
              <a:t> </a:t>
            </a:r>
            <a:r>
              <a:rPr dirty="0" baseline="-15873" sz="1050" spc="104">
                <a:latin typeface="Cambria"/>
                <a:cs typeface="Cambria"/>
              </a:rPr>
              <a:t>𝑗</a:t>
            </a:r>
            <a:r>
              <a:rPr dirty="0" baseline="-15873" sz="1050" spc="322">
                <a:latin typeface="Cambria"/>
                <a:cs typeface="Cambria"/>
              </a:rPr>
              <a:t> </a:t>
            </a:r>
            <a:r>
              <a:rPr dirty="0" sz="1000">
                <a:latin typeface="Times New Roman"/>
                <a:cs typeface="Times New Roman"/>
              </a:rPr>
              <a:t>denote</a:t>
            </a:r>
            <a:r>
              <a:rPr dirty="0" sz="1000" spc="1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Cambria"/>
                <a:cs typeface="Cambria"/>
              </a:rPr>
              <a:t>𝑗</a:t>
            </a:r>
            <a:r>
              <a:rPr dirty="0" baseline="-15873" sz="1050">
                <a:latin typeface="Cambria"/>
                <a:cs typeface="Cambria"/>
              </a:rPr>
              <a:t>𝑡ℎ</a:t>
            </a:r>
            <a:r>
              <a:rPr dirty="0" baseline="-15873" sz="1050" spc="254">
                <a:latin typeface="Cambria"/>
                <a:cs typeface="Cambria"/>
              </a:rPr>
              <a:t> </a:t>
            </a:r>
            <a:r>
              <a:rPr dirty="0" sz="1000">
                <a:latin typeface="Times New Roman"/>
                <a:cs typeface="Times New Roman"/>
              </a:rPr>
              <a:t>row</a:t>
            </a:r>
            <a:r>
              <a:rPr dirty="0" sz="1000" spc="2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Cambria"/>
                <a:cs typeface="Cambria"/>
              </a:rPr>
              <a:t>𝑊</a:t>
            </a:r>
            <a:r>
              <a:rPr dirty="0" sz="1000" spc="170">
                <a:latin typeface="Cambria"/>
                <a:cs typeface="Cambria"/>
              </a:rPr>
              <a:t> </a:t>
            </a:r>
            <a:r>
              <a:rPr dirty="0" sz="1000" spc="-50">
                <a:latin typeface="Times New Roman"/>
                <a:cs typeface="Times New Roman"/>
              </a:rPr>
              <a:t>.</a:t>
            </a:r>
            <a:endParaRPr sz="1000">
              <a:latin typeface="Times New Roman"/>
              <a:cs typeface="Times New Roman"/>
            </a:endParaRPr>
          </a:p>
          <a:p>
            <a:pPr>
              <a:lnSpc>
                <a:spcPct val="100000"/>
              </a:lnSpc>
              <a:spcBef>
                <a:spcPts val="625"/>
              </a:spcBef>
            </a:pPr>
            <a:endParaRPr sz="1000">
              <a:latin typeface="Times New Roman"/>
              <a:cs typeface="Times New Roman"/>
            </a:endParaRPr>
          </a:p>
          <a:p>
            <a:pPr marL="268605">
              <a:lnSpc>
                <a:spcPct val="100000"/>
              </a:lnSpc>
            </a:pPr>
            <a:r>
              <a:rPr dirty="0" sz="1000" spc="105">
                <a:latin typeface="SimSun"/>
                <a:cs typeface="SimSun"/>
              </a:rPr>
              <a:t>其中</a:t>
            </a:r>
            <a:r>
              <a:rPr dirty="0" sz="1000">
                <a:latin typeface="Cambria"/>
                <a:cs typeface="Cambria"/>
              </a:rPr>
              <a:t>𝑊</a:t>
            </a:r>
            <a:r>
              <a:rPr dirty="0" sz="1000" spc="105">
                <a:latin typeface="Cambria"/>
                <a:cs typeface="Cambria"/>
              </a:rPr>
              <a:t> = [</a:t>
            </a:r>
            <a:r>
              <a:rPr dirty="0" sz="1000" spc="-30">
                <a:latin typeface="Cambria"/>
                <a:cs typeface="Cambria"/>
              </a:rPr>
              <a:t>𝑊</a:t>
            </a:r>
            <a:r>
              <a:rPr dirty="0" sz="1000" spc="-35">
                <a:latin typeface="Cambria"/>
                <a:cs typeface="Cambria"/>
              </a:rPr>
              <a:t> </a:t>
            </a:r>
            <a:r>
              <a:rPr dirty="0" baseline="27777" sz="1050">
                <a:latin typeface="Cambria"/>
                <a:cs typeface="Cambria"/>
              </a:rPr>
              <a:t>𝑚</a:t>
            </a:r>
            <a:r>
              <a:rPr dirty="0" baseline="20202" sz="825">
                <a:latin typeface="Cambria"/>
                <a:cs typeface="Cambria"/>
              </a:rPr>
              <a:t>1</a:t>
            </a:r>
            <a:r>
              <a:rPr dirty="0" baseline="20202" sz="825" spc="-22">
                <a:latin typeface="Cambria"/>
                <a:cs typeface="Cambria"/>
              </a:rPr>
              <a:t> </a:t>
            </a:r>
            <a:r>
              <a:rPr dirty="0" sz="1000" spc="-20">
                <a:latin typeface="Cambria"/>
                <a:cs typeface="Cambria"/>
              </a:rPr>
              <a:t>, </a:t>
            </a:r>
            <a:r>
              <a:rPr dirty="0" sz="1000" spc="-55">
                <a:latin typeface="Cambria"/>
                <a:cs typeface="Cambria"/>
              </a:rPr>
              <a:t>𝑊</a:t>
            </a:r>
            <a:r>
              <a:rPr dirty="0" sz="1000" spc="-35">
                <a:latin typeface="Cambria"/>
                <a:cs typeface="Cambria"/>
              </a:rPr>
              <a:t> </a:t>
            </a:r>
            <a:r>
              <a:rPr dirty="0" baseline="27777" sz="1050">
                <a:latin typeface="Cambria"/>
                <a:cs typeface="Cambria"/>
              </a:rPr>
              <a:t>𝑚</a:t>
            </a:r>
            <a:r>
              <a:rPr dirty="0" baseline="20202" sz="825">
                <a:latin typeface="Cambria"/>
                <a:cs typeface="Cambria"/>
              </a:rPr>
              <a:t>2</a:t>
            </a:r>
            <a:r>
              <a:rPr dirty="0" baseline="20202" sz="825" spc="-22">
                <a:latin typeface="Cambria"/>
                <a:cs typeface="Cambria"/>
              </a:rPr>
              <a:t> </a:t>
            </a:r>
            <a:r>
              <a:rPr dirty="0" sz="1000" spc="-25">
                <a:latin typeface="Cambria"/>
                <a:cs typeface="Cambria"/>
              </a:rPr>
              <a:t>] , </a:t>
            </a:r>
            <a:r>
              <a:rPr dirty="0" sz="1000" spc="-55">
                <a:latin typeface="Cambria"/>
                <a:cs typeface="Cambria"/>
              </a:rPr>
              <a:t>𝑊</a:t>
            </a:r>
            <a:r>
              <a:rPr dirty="0" sz="1000" spc="-35">
                <a:latin typeface="Cambria"/>
                <a:cs typeface="Cambria"/>
              </a:rPr>
              <a:t> </a:t>
            </a:r>
            <a:r>
              <a:rPr dirty="0" baseline="27777" sz="1050">
                <a:latin typeface="Cambria"/>
                <a:cs typeface="Cambria"/>
              </a:rPr>
              <a:t>𝑚</a:t>
            </a:r>
            <a:r>
              <a:rPr dirty="0" baseline="20202" sz="825">
                <a:latin typeface="Cambria"/>
                <a:cs typeface="Cambria"/>
              </a:rPr>
              <a:t>1</a:t>
            </a:r>
            <a:r>
              <a:rPr dirty="0" baseline="20202" sz="825" spc="457">
                <a:latin typeface="Cambria"/>
                <a:cs typeface="Cambria"/>
              </a:rPr>
              <a:t> </a:t>
            </a:r>
            <a:r>
              <a:rPr dirty="0" sz="1000" spc="55">
                <a:latin typeface="Cambria"/>
                <a:cs typeface="Cambria"/>
              </a:rPr>
              <a:t>∈ ℝ</a:t>
            </a:r>
            <a:r>
              <a:rPr dirty="0" baseline="27777" sz="1050">
                <a:latin typeface="Cambria"/>
                <a:cs typeface="Cambria"/>
              </a:rPr>
              <a:t>𝑑</a:t>
            </a:r>
            <a:r>
              <a:rPr dirty="0" baseline="20202" sz="825">
                <a:latin typeface="Cambria"/>
                <a:cs typeface="Cambria"/>
              </a:rPr>
              <a:t>1</a:t>
            </a:r>
            <a:r>
              <a:rPr dirty="0" baseline="20202" sz="825" spc="-15">
                <a:latin typeface="Cambria"/>
                <a:cs typeface="Cambria"/>
              </a:rPr>
              <a:t> </a:t>
            </a:r>
            <a:r>
              <a:rPr dirty="0" sz="1000" spc="-20">
                <a:latin typeface="Cambria"/>
                <a:cs typeface="Cambria"/>
              </a:rPr>
              <a:t>, </a:t>
            </a:r>
            <a:r>
              <a:rPr dirty="0" sz="1000" spc="-55">
                <a:latin typeface="Cambria"/>
                <a:cs typeface="Cambria"/>
              </a:rPr>
              <a:t>𝑊</a:t>
            </a:r>
            <a:r>
              <a:rPr dirty="0" sz="1000" spc="-35">
                <a:latin typeface="Cambria"/>
                <a:cs typeface="Cambria"/>
              </a:rPr>
              <a:t> </a:t>
            </a:r>
            <a:r>
              <a:rPr dirty="0" baseline="27777" sz="1050">
                <a:latin typeface="Cambria"/>
                <a:cs typeface="Cambria"/>
              </a:rPr>
              <a:t>𝑚</a:t>
            </a:r>
            <a:r>
              <a:rPr dirty="0" baseline="20202" sz="825">
                <a:latin typeface="Cambria"/>
                <a:cs typeface="Cambria"/>
              </a:rPr>
              <a:t>2</a:t>
            </a:r>
            <a:r>
              <a:rPr dirty="0" baseline="20202" sz="825" spc="457">
                <a:latin typeface="Cambria"/>
                <a:cs typeface="Cambria"/>
              </a:rPr>
              <a:t> </a:t>
            </a:r>
            <a:r>
              <a:rPr dirty="0" sz="1000" spc="55">
                <a:latin typeface="Cambria"/>
                <a:cs typeface="Cambria"/>
              </a:rPr>
              <a:t>∈ ℝ</a:t>
            </a:r>
            <a:r>
              <a:rPr dirty="0" baseline="27777" sz="1050">
                <a:latin typeface="Cambria"/>
                <a:cs typeface="Cambria"/>
              </a:rPr>
              <a:t>𝑑</a:t>
            </a:r>
            <a:r>
              <a:rPr dirty="0" baseline="20202" sz="825">
                <a:latin typeface="Cambria"/>
                <a:cs typeface="Cambria"/>
              </a:rPr>
              <a:t>2</a:t>
            </a:r>
            <a:r>
              <a:rPr dirty="0" baseline="20202" sz="825" spc="-22">
                <a:latin typeface="Cambria"/>
                <a:cs typeface="Cambria"/>
              </a:rPr>
              <a:t> </a:t>
            </a:r>
            <a:r>
              <a:rPr dirty="0" sz="1000" spc="-20">
                <a:latin typeface="Cambria"/>
                <a:cs typeface="Cambria"/>
              </a:rPr>
              <a:t>, </a:t>
            </a:r>
            <a:r>
              <a:rPr dirty="0" sz="1000" spc="-55">
                <a:latin typeface="Cambria"/>
                <a:cs typeface="Cambria"/>
              </a:rPr>
              <a:t>𝑊</a:t>
            </a:r>
            <a:r>
              <a:rPr dirty="0" sz="1000" spc="-15">
                <a:latin typeface="Cambria"/>
                <a:cs typeface="Cambria"/>
              </a:rPr>
              <a:t> </a:t>
            </a:r>
            <a:r>
              <a:rPr dirty="0" baseline="-15873" sz="1050" spc="104">
                <a:latin typeface="Cambria"/>
                <a:cs typeface="Cambria"/>
              </a:rPr>
              <a:t>𝑗</a:t>
            </a:r>
            <a:r>
              <a:rPr dirty="0" baseline="-15873" sz="1050" spc="292">
                <a:latin typeface="Cambria"/>
                <a:cs typeface="Cambria"/>
              </a:rPr>
              <a:t> </a:t>
            </a:r>
            <a:r>
              <a:rPr dirty="0" sz="1000" spc="105">
                <a:latin typeface="SimSun"/>
                <a:cs typeface="SimSun"/>
              </a:rPr>
              <a:t>表示</a:t>
            </a:r>
            <a:r>
              <a:rPr dirty="0" sz="1000">
                <a:latin typeface="Cambria"/>
                <a:cs typeface="Cambria"/>
              </a:rPr>
              <a:t>𝑊</a:t>
            </a:r>
            <a:r>
              <a:rPr dirty="0" sz="1000" spc="155">
                <a:latin typeface="Cambria"/>
                <a:cs typeface="Cambria"/>
              </a:rPr>
              <a:t> </a:t>
            </a:r>
            <a:r>
              <a:rPr dirty="0" sz="1000" spc="220">
                <a:latin typeface="SimSun"/>
                <a:cs typeface="SimSun"/>
              </a:rPr>
              <a:t>的</a:t>
            </a:r>
            <a:r>
              <a:rPr dirty="0" sz="1000">
                <a:latin typeface="Cambria"/>
                <a:cs typeface="Cambria"/>
              </a:rPr>
              <a:t>𝑗</a:t>
            </a:r>
            <a:r>
              <a:rPr dirty="0" baseline="-15873" sz="1050">
                <a:latin typeface="Cambria"/>
                <a:cs typeface="Cambria"/>
              </a:rPr>
              <a:t>𝑡</a:t>
            </a:r>
            <a:r>
              <a:rPr dirty="0" baseline="-15873" sz="1050" spc="120">
                <a:latin typeface="Cambria"/>
                <a:cs typeface="Cambria"/>
              </a:rPr>
              <a:t>ℎ </a:t>
            </a:r>
            <a:r>
              <a:rPr dirty="0" sz="1000" spc="-30">
                <a:latin typeface="SimSun"/>
                <a:cs typeface="SimSun"/>
              </a:rPr>
              <a:t>行。</a:t>
            </a:r>
            <a:endParaRPr sz="1000">
              <a:latin typeface="SimSun"/>
              <a:cs typeface="SimSun"/>
            </a:endParaRPr>
          </a:p>
          <a:p>
            <a:pPr>
              <a:lnSpc>
                <a:spcPct val="100000"/>
              </a:lnSpc>
              <a:spcBef>
                <a:spcPts val="585"/>
              </a:spcBef>
            </a:pPr>
            <a:endParaRPr sz="1000">
              <a:latin typeface="SimSun"/>
              <a:cs typeface="SimSun"/>
            </a:endParaRPr>
          </a:p>
          <a:p>
            <a:pPr marL="341630">
              <a:lnSpc>
                <a:spcPct val="100000"/>
              </a:lnSpc>
              <a:spcBef>
                <a:spcPts val="5"/>
              </a:spcBef>
            </a:pPr>
            <a:r>
              <a:rPr dirty="0" sz="1000">
                <a:latin typeface="Times New Roman"/>
                <a:cs typeface="Times New Roman"/>
              </a:rPr>
              <a:t>Since</a:t>
            </a:r>
            <a:r>
              <a:rPr dirty="0" sz="1000" spc="90">
                <a:latin typeface="Times New Roman"/>
                <a:cs typeface="Times New Roman"/>
              </a:rPr>
              <a:t> </a:t>
            </a:r>
            <a:r>
              <a:rPr dirty="0" sz="1000">
                <a:latin typeface="Times New Roman"/>
                <a:cs typeface="Times New Roman"/>
              </a:rPr>
              <a:t>the</a:t>
            </a:r>
            <a:r>
              <a:rPr dirty="0" sz="1000" spc="105">
                <a:latin typeface="Times New Roman"/>
                <a:cs typeface="Times New Roman"/>
              </a:rPr>
              <a:t> </a:t>
            </a:r>
            <a:r>
              <a:rPr dirty="0" sz="1000">
                <a:latin typeface="Cambria"/>
                <a:cs typeface="Cambria"/>
              </a:rPr>
              <a:t>𝑦</a:t>
            </a:r>
            <a:r>
              <a:rPr dirty="0" baseline="-15873" sz="1050">
                <a:latin typeface="Cambria"/>
                <a:cs typeface="Cambria"/>
              </a:rPr>
              <a:t>𝑡ℎ</a:t>
            </a:r>
            <a:r>
              <a:rPr dirty="0" baseline="-15873" sz="1050" spc="367">
                <a:latin typeface="Cambria"/>
                <a:cs typeface="Cambria"/>
              </a:rPr>
              <a:t> </a:t>
            </a:r>
            <a:r>
              <a:rPr dirty="0" sz="1000">
                <a:latin typeface="Times New Roman"/>
                <a:cs typeface="Times New Roman"/>
              </a:rPr>
              <a:t>row</a:t>
            </a:r>
            <a:r>
              <a:rPr dirty="0" sz="1000" spc="95">
                <a:latin typeface="Times New Roman"/>
                <a:cs typeface="Times New Roman"/>
              </a:rPr>
              <a:t> </a:t>
            </a:r>
            <a:r>
              <a:rPr dirty="0" sz="1000">
                <a:latin typeface="Times New Roman"/>
                <a:cs typeface="Times New Roman"/>
              </a:rPr>
              <a:t>of</a:t>
            </a:r>
            <a:r>
              <a:rPr dirty="0" sz="1000" spc="100">
                <a:latin typeface="Times New Roman"/>
                <a:cs typeface="Times New Roman"/>
              </a:rPr>
              <a:t> </a:t>
            </a:r>
            <a:r>
              <a:rPr dirty="0" sz="1000">
                <a:latin typeface="Cambria"/>
                <a:cs typeface="Cambria"/>
              </a:rPr>
              <a:t>𝑊</a:t>
            </a:r>
            <a:r>
              <a:rPr dirty="0" sz="1000" spc="254">
                <a:latin typeface="Cambria"/>
                <a:cs typeface="Cambria"/>
              </a:rPr>
              <a:t> </a:t>
            </a:r>
            <a:r>
              <a:rPr dirty="0" sz="1000">
                <a:latin typeface="Times New Roman"/>
                <a:cs typeface="Times New Roman"/>
              </a:rPr>
              <a:t>is</a:t>
            </a:r>
            <a:r>
              <a:rPr dirty="0" sz="1000" spc="95">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class</a:t>
            </a:r>
            <a:r>
              <a:rPr dirty="0" sz="1000" spc="95">
                <a:latin typeface="Times New Roman"/>
                <a:cs typeface="Times New Roman"/>
              </a:rPr>
              <a:t> </a:t>
            </a:r>
            <a:r>
              <a:rPr dirty="0" sz="1000">
                <a:latin typeface="Times New Roman"/>
                <a:cs typeface="Times New Roman"/>
              </a:rPr>
              <a:t>center</a:t>
            </a:r>
            <a:r>
              <a:rPr dirty="0" sz="1000" spc="95">
                <a:latin typeface="Times New Roman"/>
                <a:cs typeface="Times New Roman"/>
              </a:rPr>
              <a:t> </a:t>
            </a:r>
            <a:r>
              <a:rPr dirty="0" sz="1000">
                <a:latin typeface="Times New Roman"/>
                <a:cs typeface="Times New Roman"/>
              </a:rPr>
              <a:t>of</a:t>
            </a:r>
            <a:r>
              <a:rPr dirty="0" sz="1000" spc="100">
                <a:latin typeface="Times New Roman"/>
                <a:cs typeface="Times New Roman"/>
              </a:rPr>
              <a:t> </a:t>
            </a:r>
            <a:r>
              <a:rPr dirty="0" sz="1000">
                <a:latin typeface="Times New Roman"/>
                <a:cs typeface="Times New Roman"/>
              </a:rPr>
              <a:t>the</a:t>
            </a:r>
            <a:r>
              <a:rPr dirty="0" sz="1000" spc="100">
                <a:latin typeface="Times New Roman"/>
                <a:cs typeface="Times New Roman"/>
              </a:rPr>
              <a:t> </a:t>
            </a:r>
            <a:r>
              <a:rPr dirty="0" sz="1000">
                <a:latin typeface="Cambria"/>
                <a:cs typeface="Cambria"/>
              </a:rPr>
              <a:t>𝑦</a:t>
            </a:r>
            <a:r>
              <a:rPr dirty="0" baseline="-15873" sz="1050">
                <a:latin typeface="Cambria"/>
                <a:cs typeface="Cambria"/>
              </a:rPr>
              <a:t>𝑡ℎ</a:t>
            </a:r>
            <a:r>
              <a:rPr dirty="0" baseline="-15873" sz="1050" spc="375">
                <a:latin typeface="Cambria"/>
                <a:cs typeface="Cambria"/>
              </a:rPr>
              <a:t> </a:t>
            </a:r>
            <a:r>
              <a:rPr dirty="0" sz="1000">
                <a:latin typeface="Times New Roman"/>
                <a:cs typeface="Times New Roman"/>
              </a:rPr>
              <a:t>class</a:t>
            </a:r>
            <a:r>
              <a:rPr dirty="0" sz="1000" spc="95">
                <a:latin typeface="Times New Roman"/>
                <a:cs typeface="Times New Roman"/>
              </a:rPr>
              <a:t> </a:t>
            </a:r>
            <a:r>
              <a:rPr dirty="0" sz="1000">
                <a:latin typeface="Times New Roman"/>
                <a:cs typeface="Times New Roman"/>
              </a:rPr>
              <a:t>[34,35],</a:t>
            </a:r>
            <a:r>
              <a:rPr dirty="0" sz="1000" spc="110">
                <a:latin typeface="Times New Roman"/>
                <a:cs typeface="Times New Roman"/>
              </a:rPr>
              <a:t> </a:t>
            </a:r>
            <a:r>
              <a:rPr dirty="0" sz="1000">
                <a:latin typeface="Times New Roman"/>
                <a:cs typeface="Times New Roman"/>
              </a:rPr>
              <a:t>the</a:t>
            </a:r>
            <a:r>
              <a:rPr dirty="0" sz="1000" spc="100">
                <a:latin typeface="Times New Roman"/>
                <a:cs typeface="Times New Roman"/>
              </a:rPr>
              <a:t> </a:t>
            </a:r>
            <a:r>
              <a:rPr dirty="0" sz="1000">
                <a:latin typeface="Cambria"/>
                <a:cs typeface="Cambria"/>
              </a:rPr>
              <a:t>𝑧</a:t>
            </a:r>
            <a:r>
              <a:rPr dirty="0" baseline="27777" sz="1050">
                <a:latin typeface="Cambria"/>
                <a:cs typeface="Cambria"/>
              </a:rPr>
              <a:t>𝑚</a:t>
            </a:r>
            <a:r>
              <a:rPr dirty="0" baseline="20202" sz="825">
                <a:latin typeface="Cambria"/>
                <a:cs typeface="Cambria"/>
              </a:rPr>
              <a:t>2</a:t>
            </a:r>
            <a:r>
              <a:rPr dirty="0" baseline="20202" sz="825" spc="540">
                <a:latin typeface="Cambria"/>
                <a:cs typeface="Cambria"/>
              </a:rPr>
              <a:t> </a:t>
            </a:r>
            <a:r>
              <a:rPr dirty="0" sz="1000">
                <a:latin typeface="Times New Roman"/>
                <a:cs typeface="Times New Roman"/>
              </a:rPr>
              <a:t>will</a:t>
            </a:r>
            <a:r>
              <a:rPr dirty="0" sz="1000" spc="95">
                <a:latin typeface="Times New Roman"/>
                <a:cs typeface="Times New Roman"/>
              </a:rPr>
              <a:t> </a:t>
            </a:r>
            <a:r>
              <a:rPr dirty="0" sz="1000">
                <a:latin typeface="Times New Roman"/>
                <a:cs typeface="Times New Roman"/>
              </a:rPr>
              <a:t>gradually</a:t>
            </a:r>
            <a:r>
              <a:rPr dirty="0" sz="1000" spc="95">
                <a:latin typeface="Times New Roman"/>
                <a:cs typeface="Times New Roman"/>
              </a:rPr>
              <a:t> </a:t>
            </a:r>
            <a:r>
              <a:rPr dirty="0" sz="1000">
                <a:latin typeface="Times New Roman"/>
                <a:cs typeface="Times New Roman"/>
              </a:rPr>
              <a:t>approach</a:t>
            </a:r>
            <a:r>
              <a:rPr dirty="0" sz="1000" spc="95">
                <a:latin typeface="Times New Roman"/>
                <a:cs typeface="Times New Roman"/>
              </a:rPr>
              <a:t> </a:t>
            </a:r>
            <a:r>
              <a:rPr dirty="0" sz="1000" spc="-25">
                <a:latin typeface="Cambria"/>
                <a:cs typeface="Cambria"/>
              </a:rPr>
              <a:t>𝑊</a:t>
            </a:r>
            <a:r>
              <a:rPr dirty="0" baseline="-15873" sz="1050" spc="-37">
                <a:latin typeface="Cambria"/>
                <a:cs typeface="Cambria"/>
              </a:rPr>
              <a:t>𝑦</a:t>
            </a:r>
            <a:r>
              <a:rPr dirty="0" baseline="-35353" sz="825" spc="-37">
                <a:latin typeface="Cambria"/>
                <a:cs typeface="Cambria"/>
              </a:rPr>
              <a:t>𝑖</a:t>
            </a:r>
            <a:endParaRPr baseline="-35353" sz="825">
              <a:latin typeface="Cambria"/>
              <a:cs typeface="Cambria"/>
            </a:endParaRPr>
          </a:p>
          <a:p>
            <a:pPr marL="88900">
              <a:lnSpc>
                <a:spcPct val="100000"/>
              </a:lnSpc>
              <a:spcBef>
                <a:spcPts val="350"/>
              </a:spcBef>
            </a:pPr>
            <a:r>
              <a:rPr dirty="0" baseline="-86111" sz="1500" spc="-705">
                <a:latin typeface="Cambria"/>
                <a:cs typeface="Cambria"/>
              </a:rPr>
              <a:t>𝑒</a:t>
            </a:r>
            <a:r>
              <a:rPr dirty="0" sz="1000" spc="40">
                <a:latin typeface="Times New Roman"/>
                <a:cs typeface="Times New Roman"/>
              </a:rPr>
              <a:t>an</a:t>
            </a:r>
            <a:r>
              <a:rPr dirty="0" sz="1000" spc="-35">
                <a:latin typeface="Times New Roman"/>
                <a:cs typeface="Times New Roman"/>
              </a:rPr>
              <a:t>d</a:t>
            </a:r>
            <a:r>
              <a:rPr dirty="0" baseline="-60606" sz="825" spc="-112">
                <a:latin typeface="Cambria"/>
                <a:cs typeface="Cambria"/>
              </a:rPr>
              <a:t>𝑚</a:t>
            </a:r>
            <a:r>
              <a:rPr dirty="0" sz="1000" spc="40">
                <a:latin typeface="Times New Roman"/>
                <a:cs typeface="Times New Roman"/>
              </a:rPr>
              <a:t>mo</a:t>
            </a:r>
            <a:r>
              <a:rPr dirty="0" sz="1000" spc="30">
                <a:latin typeface="Times New Roman"/>
                <a:cs typeface="Times New Roman"/>
              </a:rPr>
              <a:t>v</a:t>
            </a:r>
            <a:r>
              <a:rPr dirty="0" sz="1000" spc="-385">
                <a:latin typeface="Times New Roman"/>
                <a:cs typeface="Times New Roman"/>
              </a:rPr>
              <a:t>e</a:t>
            </a:r>
            <a:r>
              <a:rPr dirty="0" baseline="-60606" sz="825" spc="60">
                <a:latin typeface="Cambria"/>
                <a:cs typeface="Cambria"/>
              </a:rPr>
              <a:t>𝑚</a:t>
            </a:r>
            <a:r>
              <a:rPr dirty="0" baseline="-60606" sz="825" spc="202">
                <a:latin typeface="Cambria"/>
                <a:cs typeface="Cambria"/>
              </a:rPr>
              <a:t> </a:t>
            </a:r>
            <a:r>
              <a:rPr dirty="0" sz="1000" spc="-80">
                <a:latin typeface="Times New Roman"/>
                <a:cs typeface="Times New Roman"/>
              </a:rPr>
              <a:t>aw</a:t>
            </a:r>
            <a:r>
              <a:rPr dirty="0" baseline="-60606" sz="825" spc="-120">
                <a:latin typeface="Cambria"/>
                <a:cs typeface="Cambria"/>
              </a:rPr>
              <a:t>𝑚</a:t>
            </a:r>
            <a:r>
              <a:rPr dirty="0" sz="1000" spc="-80">
                <a:latin typeface="Times New Roman"/>
                <a:cs typeface="Times New Roman"/>
              </a:rPr>
              <a:t>ay</a:t>
            </a:r>
            <a:r>
              <a:rPr dirty="0" sz="1000" spc="185">
                <a:latin typeface="Times New Roman"/>
                <a:cs typeface="Times New Roman"/>
              </a:rPr>
              <a:t> </a:t>
            </a:r>
            <a:r>
              <a:rPr dirty="0" sz="1000">
                <a:latin typeface="Times New Roman"/>
                <a:cs typeface="Times New Roman"/>
              </a:rPr>
              <a:t>from</a:t>
            </a:r>
            <a:r>
              <a:rPr dirty="0" sz="1000" spc="180">
                <a:latin typeface="Times New Roman"/>
                <a:cs typeface="Times New Roman"/>
              </a:rPr>
              <a:t> </a:t>
            </a:r>
            <a:r>
              <a:rPr dirty="0" sz="1000">
                <a:latin typeface="Cambria"/>
                <a:cs typeface="Cambria"/>
              </a:rPr>
              <a:t>𝑊</a:t>
            </a:r>
            <a:r>
              <a:rPr dirty="0" sz="1000" spc="75">
                <a:latin typeface="Cambria"/>
                <a:cs typeface="Cambria"/>
              </a:rPr>
              <a:t> </a:t>
            </a:r>
            <a:r>
              <a:rPr dirty="0" baseline="-15873" sz="1050">
                <a:latin typeface="Cambria"/>
                <a:cs typeface="Cambria"/>
              </a:rPr>
              <a:t>𝑘</a:t>
            </a:r>
            <a:r>
              <a:rPr dirty="0" baseline="-15873" sz="1050" spc="502">
                <a:latin typeface="Cambria"/>
                <a:cs typeface="Cambria"/>
              </a:rPr>
              <a:t> </a:t>
            </a:r>
            <a:r>
              <a:rPr dirty="0" sz="1000">
                <a:latin typeface="Times New Roman"/>
                <a:cs typeface="Times New Roman"/>
              </a:rPr>
              <a:t>when</a:t>
            </a:r>
            <a:r>
              <a:rPr dirty="0" sz="1000" spc="185">
                <a:latin typeface="Times New Roman"/>
                <a:cs typeface="Times New Roman"/>
              </a:rPr>
              <a:t> </a:t>
            </a:r>
            <a:r>
              <a:rPr dirty="0" sz="1000">
                <a:latin typeface="Times New Roman"/>
                <a:cs typeface="Times New Roman"/>
              </a:rPr>
              <a:t>optimizing</a:t>
            </a:r>
            <a:r>
              <a:rPr dirty="0" sz="1000" spc="180">
                <a:latin typeface="Times New Roman"/>
                <a:cs typeface="Times New Roman"/>
              </a:rPr>
              <a:t> </a:t>
            </a:r>
            <a:r>
              <a:rPr dirty="0" sz="1000">
                <a:latin typeface="Times New Roman"/>
                <a:cs typeface="Times New Roman"/>
              </a:rPr>
              <a:t>the</a:t>
            </a:r>
            <a:r>
              <a:rPr dirty="0" sz="1000" spc="185">
                <a:latin typeface="Times New Roman"/>
                <a:cs typeface="Times New Roman"/>
              </a:rPr>
              <a:t> </a:t>
            </a:r>
            <a:r>
              <a:rPr dirty="0" sz="1000">
                <a:latin typeface="Times New Roman"/>
                <a:cs typeface="Times New Roman"/>
              </a:rPr>
              <a:t>multimodal</a:t>
            </a:r>
            <a:r>
              <a:rPr dirty="0" sz="1000" spc="190">
                <a:latin typeface="Times New Roman"/>
                <a:cs typeface="Times New Roman"/>
              </a:rPr>
              <a:t> </a:t>
            </a:r>
            <a:r>
              <a:rPr dirty="0" sz="1000">
                <a:latin typeface="Times New Roman"/>
                <a:cs typeface="Times New Roman"/>
              </a:rPr>
              <a:t>model.</a:t>
            </a:r>
            <a:r>
              <a:rPr dirty="0" sz="1000" spc="165">
                <a:latin typeface="Times New Roman"/>
                <a:cs typeface="Times New Roman"/>
              </a:rPr>
              <a:t>  </a:t>
            </a:r>
            <a:r>
              <a:rPr dirty="0" sz="1000">
                <a:latin typeface="Times New Roman"/>
                <a:cs typeface="Times New Roman"/>
              </a:rPr>
              <a:t>As</a:t>
            </a:r>
            <a:r>
              <a:rPr dirty="0" sz="1000" spc="190">
                <a:latin typeface="Times New Roman"/>
                <a:cs typeface="Times New Roman"/>
              </a:rPr>
              <a:t> </a:t>
            </a:r>
            <a:r>
              <a:rPr dirty="0" sz="1000">
                <a:latin typeface="Times New Roman"/>
                <a:cs typeface="Times New Roman"/>
              </a:rPr>
              <a:t>a</a:t>
            </a:r>
            <a:r>
              <a:rPr dirty="0" sz="1000" spc="190">
                <a:latin typeface="Times New Roman"/>
                <a:cs typeface="Times New Roman"/>
              </a:rPr>
              <a:t> </a:t>
            </a:r>
            <a:r>
              <a:rPr dirty="0" sz="1000">
                <a:latin typeface="Times New Roman"/>
                <a:cs typeface="Times New Roman"/>
              </a:rPr>
              <a:t>result,</a:t>
            </a:r>
            <a:r>
              <a:rPr dirty="0" sz="1000" spc="220">
                <a:latin typeface="Times New Roman"/>
                <a:cs typeface="Times New Roman"/>
              </a:rPr>
              <a:t> </a:t>
            </a:r>
            <a:r>
              <a:rPr dirty="0" sz="1000">
                <a:latin typeface="Times New Roman"/>
                <a:cs typeface="Times New Roman"/>
              </a:rPr>
              <a:t>we</a:t>
            </a:r>
            <a:r>
              <a:rPr dirty="0" sz="1000" spc="185">
                <a:latin typeface="Times New Roman"/>
                <a:cs typeface="Times New Roman"/>
              </a:rPr>
              <a:t> </a:t>
            </a:r>
            <a:r>
              <a:rPr dirty="0" sz="1000">
                <a:latin typeface="Times New Roman"/>
                <a:cs typeface="Times New Roman"/>
              </a:rPr>
              <a:t>can</a:t>
            </a:r>
            <a:r>
              <a:rPr dirty="0" sz="1000" spc="180">
                <a:latin typeface="Times New Roman"/>
                <a:cs typeface="Times New Roman"/>
              </a:rPr>
              <a:t> </a:t>
            </a:r>
            <a:r>
              <a:rPr dirty="0" sz="1000">
                <a:latin typeface="Times New Roman"/>
                <a:cs typeface="Times New Roman"/>
              </a:rPr>
              <a:t>get</a:t>
            </a:r>
            <a:r>
              <a:rPr dirty="0" sz="1000" spc="185">
                <a:latin typeface="Times New Roman"/>
                <a:cs typeface="Times New Roman"/>
              </a:rPr>
              <a:t> </a:t>
            </a:r>
            <a:r>
              <a:rPr dirty="0" sz="1000">
                <a:latin typeface="Times New Roman"/>
                <a:cs typeface="Times New Roman"/>
              </a:rPr>
              <a:t>the</a:t>
            </a:r>
            <a:r>
              <a:rPr dirty="0" sz="1000" spc="190">
                <a:latin typeface="Times New Roman"/>
                <a:cs typeface="Times New Roman"/>
              </a:rPr>
              <a:t> </a:t>
            </a:r>
            <a:r>
              <a:rPr dirty="0" sz="1000">
                <a:latin typeface="Times New Roman"/>
                <a:cs typeface="Times New Roman"/>
              </a:rPr>
              <a:t>range</a:t>
            </a:r>
            <a:r>
              <a:rPr dirty="0" sz="1000" spc="185">
                <a:latin typeface="Times New Roman"/>
                <a:cs typeface="Times New Roman"/>
              </a:rPr>
              <a:t> </a:t>
            </a:r>
            <a:r>
              <a:rPr dirty="0" sz="1000" spc="-25">
                <a:latin typeface="Times New Roman"/>
                <a:cs typeface="Times New Roman"/>
              </a:rPr>
              <a:t>of</a:t>
            </a:r>
            <a:endParaRPr sz="1000">
              <a:latin typeface="Times New Roman"/>
              <a:cs typeface="Times New Roman"/>
            </a:endParaRPr>
          </a:p>
          <a:p>
            <a:pPr marL="142240">
              <a:lnSpc>
                <a:spcPct val="100000"/>
              </a:lnSpc>
              <a:spcBef>
                <a:spcPts val="355"/>
              </a:spcBef>
            </a:pPr>
            <a:r>
              <a:rPr dirty="0" baseline="39682" sz="1050" spc="82">
                <a:latin typeface="Cambria"/>
                <a:cs typeface="Cambria"/>
              </a:rPr>
              <a:t>(𝑊</a:t>
            </a:r>
            <a:r>
              <a:rPr dirty="0" baseline="25252" sz="825" spc="82">
                <a:latin typeface="Cambria"/>
                <a:cs typeface="Cambria"/>
              </a:rPr>
              <a:t>𝑘</a:t>
            </a:r>
            <a:r>
              <a:rPr dirty="0" baseline="25252" sz="825" spc="262">
                <a:latin typeface="Cambria"/>
                <a:cs typeface="Cambria"/>
              </a:rPr>
              <a:t> </a:t>
            </a:r>
            <a:r>
              <a:rPr dirty="0" baseline="80808" sz="825">
                <a:latin typeface="Cambria"/>
                <a:cs typeface="Cambria"/>
              </a:rPr>
              <a:t>2</a:t>
            </a:r>
            <a:r>
              <a:rPr dirty="0" baseline="80808" sz="825" spc="-22">
                <a:latin typeface="Cambria"/>
                <a:cs typeface="Cambria"/>
              </a:rPr>
              <a:t> </a:t>
            </a:r>
            <a:r>
              <a:rPr dirty="0" baseline="39682" sz="1050" spc="97">
                <a:latin typeface="Cambria"/>
                <a:cs typeface="Cambria"/>
              </a:rPr>
              <a:t>−𝑊</a:t>
            </a:r>
            <a:r>
              <a:rPr dirty="0" baseline="40404" sz="825" spc="97">
                <a:latin typeface="Cambria"/>
                <a:cs typeface="Cambria"/>
              </a:rPr>
              <a:t>𝑦</a:t>
            </a:r>
            <a:r>
              <a:rPr dirty="0" baseline="15151" sz="825" spc="97">
                <a:latin typeface="Cambria"/>
                <a:cs typeface="Cambria"/>
              </a:rPr>
              <a:t>𝑖</a:t>
            </a:r>
            <a:r>
              <a:rPr dirty="0" baseline="15151" sz="825" spc="-37">
                <a:latin typeface="Cambria"/>
                <a:cs typeface="Cambria"/>
              </a:rPr>
              <a:t> </a:t>
            </a:r>
            <a:r>
              <a:rPr dirty="0" baseline="80808" sz="825">
                <a:latin typeface="Cambria"/>
                <a:cs typeface="Cambria"/>
              </a:rPr>
              <a:t>2</a:t>
            </a:r>
            <a:r>
              <a:rPr dirty="0" baseline="80808" sz="825" spc="-22">
                <a:latin typeface="Cambria"/>
                <a:cs typeface="Cambria"/>
              </a:rPr>
              <a:t> </a:t>
            </a:r>
            <a:r>
              <a:rPr dirty="0" baseline="39682" sz="1050">
                <a:latin typeface="Cambria"/>
                <a:cs typeface="Cambria"/>
              </a:rPr>
              <a:t>)𝑧</a:t>
            </a:r>
            <a:r>
              <a:rPr dirty="0" baseline="25252" sz="825">
                <a:latin typeface="Cambria"/>
                <a:cs typeface="Cambria"/>
              </a:rPr>
              <a:t>𝑖</a:t>
            </a:r>
            <a:r>
              <a:rPr dirty="0" baseline="25252" sz="825" spc="480">
                <a:latin typeface="Cambria"/>
                <a:cs typeface="Cambria"/>
              </a:rPr>
              <a:t> </a:t>
            </a:r>
            <a:r>
              <a:rPr dirty="0" baseline="80808" sz="825">
                <a:latin typeface="Cambria"/>
                <a:cs typeface="Cambria"/>
              </a:rPr>
              <a:t>2</a:t>
            </a:r>
            <a:r>
              <a:rPr dirty="0" baseline="80808" sz="825" spc="472">
                <a:latin typeface="Cambria"/>
                <a:cs typeface="Cambria"/>
              </a:rPr>
              <a:t> </a:t>
            </a:r>
            <a:r>
              <a:rPr dirty="0" sz="1000">
                <a:latin typeface="Times New Roman"/>
                <a:cs typeface="Times New Roman"/>
              </a:rPr>
              <a:t>as</a:t>
            </a:r>
            <a:r>
              <a:rPr dirty="0" sz="1000" spc="5">
                <a:latin typeface="Times New Roman"/>
                <a:cs typeface="Times New Roman"/>
              </a:rPr>
              <a:t> </a:t>
            </a:r>
            <a:r>
              <a:rPr dirty="0" sz="1000" spc="-10">
                <a:latin typeface="Times New Roman"/>
                <a:cs typeface="Times New Roman"/>
              </a:rPr>
              <a:t>follow,</a:t>
            </a:r>
            <a:endParaRPr sz="1000">
              <a:latin typeface="Times New Roman"/>
              <a:cs typeface="Times New Roman"/>
            </a:endParaRPr>
          </a:p>
          <a:p>
            <a:pPr>
              <a:lnSpc>
                <a:spcPct val="100000"/>
              </a:lnSpc>
            </a:pPr>
            <a:endParaRPr sz="550">
              <a:latin typeface="Times New Roman"/>
              <a:cs typeface="Times New Roman"/>
            </a:endParaRPr>
          </a:p>
          <a:p>
            <a:pPr>
              <a:lnSpc>
                <a:spcPct val="100000"/>
              </a:lnSpc>
              <a:spcBef>
                <a:spcPts val="470"/>
              </a:spcBef>
            </a:pPr>
            <a:endParaRPr sz="550">
              <a:latin typeface="Times New Roman"/>
              <a:cs typeface="Times New Roman"/>
            </a:endParaRPr>
          </a:p>
          <a:p>
            <a:pPr marL="268605">
              <a:lnSpc>
                <a:spcPct val="100000"/>
              </a:lnSpc>
            </a:pPr>
            <a:r>
              <a:rPr dirty="0" sz="1000" spc="100">
                <a:latin typeface="SimSun"/>
                <a:cs typeface="SimSun"/>
              </a:rPr>
              <a:t>由于</a:t>
            </a:r>
            <a:r>
              <a:rPr dirty="0" sz="1000">
                <a:latin typeface="Cambria"/>
                <a:cs typeface="Cambria"/>
              </a:rPr>
              <a:t>𝑊</a:t>
            </a:r>
            <a:r>
              <a:rPr dirty="0" sz="1000" spc="100">
                <a:latin typeface="Cambria"/>
                <a:cs typeface="Cambria"/>
              </a:rPr>
              <a:t> </a:t>
            </a:r>
            <a:r>
              <a:rPr dirty="0" sz="1000" spc="215">
                <a:latin typeface="SimSun"/>
                <a:cs typeface="SimSun"/>
              </a:rPr>
              <a:t>的</a:t>
            </a:r>
            <a:r>
              <a:rPr dirty="0" sz="1000">
                <a:latin typeface="Cambria"/>
                <a:cs typeface="Cambria"/>
              </a:rPr>
              <a:t>𝑦</a:t>
            </a:r>
            <a:r>
              <a:rPr dirty="0" baseline="-15873" sz="1050">
                <a:latin typeface="Cambria"/>
                <a:cs typeface="Cambria"/>
              </a:rPr>
              <a:t>𝑡</a:t>
            </a:r>
            <a:r>
              <a:rPr dirty="0" baseline="-15873" sz="1050" spc="82">
                <a:latin typeface="Cambria"/>
                <a:cs typeface="Cambria"/>
              </a:rPr>
              <a:t>ℎ </a:t>
            </a:r>
            <a:r>
              <a:rPr dirty="0" sz="1000" spc="100">
                <a:latin typeface="SimSun"/>
                <a:cs typeface="SimSun"/>
              </a:rPr>
              <a:t>行是</a:t>
            </a:r>
            <a:r>
              <a:rPr dirty="0" sz="1000">
                <a:latin typeface="Cambria"/>
                <a:cs typeface="Cambria"/>
              </a:rPr>
              <a:t>𝑦</a:t>
            </a:r>
            <a:r>
              <a:rPr dirty="0" baseline="-15873" sz="1050">
                <a:latin typeface="Cambria"/>
                <a:cs typeface="Cambria"/>
              </a:rPr>
              <a:t>𝑡</a:t>
            </a:r>
            <a:r>
              <a:rPr dirty="0" baseline="-15873" sz="1050" spc="82">
                <a:latin typeface="Cambria"/>
                <a:cs typeface="Cambria"/>
              </a:rPr>
              <a:t>ℎ </a:t>
            </a:r>
            <a:r>
              <a:rPr dirty="0" sz="1000" spc="35">
                <a:latin typeface="SimSun"/>
                <a:cs typeface="SimSun"/>
              </a:rPr>
              <a:t>类的类中心</a:t>
            </a:r>
            <a:r>
              <a:rPr dirty="0" sz="1000" spc="-20">
                <a:latin typeface="Times New Roman"/>
                <a:cs typeface="Times New Roman"/>
              </a:rPr>
              <a:t>[34,35]</a:t>
            </a:r>
            <a:r>
              <a:rPr dirty="0" sz="1000" spc="-15">
                <a:latin typeface="SimSun"/>
                <a:cs typeface="SimSun"/>
              </a:rPr>
              <a:t>，在优化多模态模型时，</a:t>
            </a:r>
            <a:r>
              <a:rPr dirty="0" sz="1000">
                <a:latin typeface="Cambria"/>
                <a:cs typeface="Cambria"/>
              </a:rPr>
              <a:t>𝑧</a:t>
            </a:r>
            <a:r>
              <a:rPr dirty="0" baseline="27777" sz="1050">
                <a:latin typeface="Cambria"/>
                <a:cs typeface="Cambria"/>
              </a:rPr>
              <a:t>𝑚</a:t>
            </a:r>
            <a:r>
              <a:rPr dirty="0" baseline="20202" sz="825">
                <a:latin typeface="Cambria"/>
                <a:cs typeface="Cambria"/>
              </a:rPr>
              <a:t>2</a:t>
            </a:r>
            <a:r>
              <a:rPr dirty="0" baseline="20202" sz="825" spc="307">
                <a:latin typeface="Cambria"/>
                <a:cs typeface="Cambria"/>
              </a:rPr>
              <a:t> </a:t>
            </a:r>
            <a:r>
              <a:rPr dirty="0" sz="1000" spc="-55">
                <a:latin typeface="SimSun"/>
                <a:cs typeface="SimSun"/>
              </a:rPr>
              <a:t>将逐渐接近 </a:t>
            </a:r>
            <a:r>
              <a:rPr dirty="0" sz="1000" spc="-35">
                <a:latin typeface="Cambria"/>
                <a:cs typeface="Cambria"/>
              </a:rPr>
              <a:t>𝑊</a:t>
            </a:r>
            <a:r>
              <a:rPr dirty="0" baseline="-15873" sz="1050" spc="-52">
                <a:latin typeface="Cambria"/>
                <a:cs typeface="Cambria"/>
              </a:rPr>
              <a:t>𝑦</a:t>
            </a:r>
            <a:r>
              <a:rPr dirty="0" baseline="-35353" sz="825" spc="-52">
                <a:latin typeface="Cambria"/>
                <a:cs typeface="Cambria"/>
              </a:rPr>
              <a:t>𝑖</a:t>
            </a:r>
            <a:r>
              <a:rPr dirty="0" baseline="-35353" sz="825" spc="345">
                <a:latin typeface="Cambria"/>
                <a:cs typeface="Cambria"/>
              </a:rPr>
              <a:t> </a:t>
            </a:r>
            <a:r>
              <a:rPr dirty="0" sz="1000" spc="65">
                <a:latin typeface="SimSun"/>
                <a:cs typeface="SimSun"/>
              </a:rPr>
              <a:t>并远离</a:t>
            </a:r>
            <a:r>
              <a:rPr dirty="0" sz="1000">
                <a:latin typeface="Cambria"/>
                <a:cs typeface="Cambria"/>
              </a:rPr>
              <a:t>𝑊</a:t>
            </a:r>
            <a:r>
              <a:rPr dirty="0" sz="1000" spc="20">
                <a:latin typeface="Cambria"/>
                <a:cs typeface="Cambria"/>
              </a:rPr>
              <a:t> </a:t>
            </a:r>
            <a:r>
              <a:rPr dirty="0" baseline="-15873" sz="1050" spc="-75">
                <a:latin typeface="Cambria"/>
                <a:cs typeface="Cambria"/>
              </a:rPr>
              <a:t>𝑘</a:t>
            </a:r>
            <a:endParaRPr baseline="-15873" sz="1050">
              <a:latin typeface="Cambria"/>
              <a:cs typeface="Cambria"/>
            </a:endParaRPr>
          </a:p>
          <a:p>
            <a:pPr marL="268605">
              <a:lnSpc>
                <a:spcPct val="100000"/>
              </a:lnSpc>
              <a:spcBef>
                <a:spcPts val="560"/>
              </a:spcBef>
            </a:pPr>
            <a:r>
              <a:rPr dirty="0" sz="1000" spc="10">
                <a:latin typeface="SimSun"/>
                <a:cs typeface="SimSun"/>
              </a:rPr>
              <a:t>。因此，我们可以得到</a:t>
            </a:r>
            <a:r>
              <a:rPr dirty="0" sz="1000" spc="-25">
                <a:latin typeface="Cambria"/>
                <a:cs typeface="Cambria"/>
              </a:rPr>
              <a:t>𝑒</a:t>
            </a:r>
            <a:r>
              <a:rPr dirty="0" baseline="39682" sz="1050" spc="-37">
                <a:latin typeface="Cambria"/>
                <a:cs typeface="Cambria"/>
              </a:rPr>
              <a:t>(𝑊</a:t>
            </a:r>
            <a:r>
              <a:rPr dirty="0" baseline="25252" sz="825" spc="-37">
                <a:latin typeface="Cambria"/>
                <a:cs typeface="Cambria"/>
              </a:rPr>
              <a:t>𝑘</a:t>
            </a:r>
            <a:r>
              <a:rPr dirty="0" baseline="95959" sz="825" spc="-37">
                <a:latin typeface="Cambria"/>
                <a:cs typeface="Cambria"/>
              </a:rPr>
              <a:t>𝑚</a:t>
            </a:r>
            <a:r>
              <a:rPr dirty="0" baseline="80808" sz="825" spc="-37">
                <a:latin typeface="Cambria"/>
                <a:cs typeface="Cambria"/>
              </a:rPr>
              <a:t>2</a:t>
            </a:r>
            <a:r>
              <a:rPr dirty="0" baseline="80808" sz="825" spc="-15">
                <a:latin typeface="Cambria"/>
                <a:cs typeface="Cambria"/>
              </a:rPr>
              <a:t> </a:t>
            </a:r>
            <a:r>
              <a:rPr dirty="0" baseline="39682" sz="1050" spc="-75">
                <a:latin typeface="Cambria"/>
                <a:cs typeface="Cambria"/>
              </a:rPr>
              <a:t>−𝑊</a:t>
            </a:r>
            <a:r>
              <a:rPr dirty="0" baseline="40404" sz="825" spc="-75">
                <a:latin typeface="Cambria"/>
                <a:cs typeface="Cambria"/>
              </a:rPr>
              <a:t>𝑦</a:t>
            </a:r>
            <a:r>
              <a:rPr dirty="0" baseline="95959" sz="825" spc="-75">
                <a:latin typeface="Cambria"/>
                <a:cs typeface="Cambria"/>
              </a:rPr>
              <a:t>𝑚</a:t>
            </a:r>
            <a:r>
              <a:rPr dirty="0" baseline="15151" sz="825" spc="-75">
                <a:latin typeface="Cambria"/>
                <a:cs typeface="Cambria"/>
              </a:rPr>
              <a:t>𝑖</a:t>
            </a:r>
            <a:r>
              <a:rPr dirty="0" baseline="15151" sz="825" spc="-22">
                <a:latin typeface="Cambria"/>
                <a:cs typeface="Cambria"/>
              </a:rPr>
              <a:t> </a:t>
            </a:r>
            <a:r>
              <a:rPr dirty="0" baseline="80808" sz="825">
                <a:latin typeface="Cambria"/>
                <a:cs typeface="Cambria"/>
              </a:rPr>
              <a:t>2</a:t>
            </a:r>
            <a:r>
              <a:rPr dirty="0" baseline="80808" sz="825" spc="-7">
                <a:latin typeface="Cambria"/>
                <a:cs typeface="Cambria"/>
              </a:rPr>
              <a:t> </a:t>
            </a:r>
            <a:r>
              <a:rPr dirty="0" baseline="39682" sz="1050">
                <a:latin typeface="Cambria"/>
                <a:cs typeface="Cambria"/>
              </a:rPr>
              <a:t>)𝑧</a:t>
            </a:r>
            <a:r>
              <a:rPr dirty="0" baseline="25252" sz="825">
                <a:latin typeface="Cambria"/>
                <a:cs typeface="Cambria"/>
              </a:rPr>
              <a:t>𝑖</a:t>
            </a:r>
            <a:r>
              <a:rPr dirty="0" baseline="95959" sz="825">
                <a:latin typeface="Cambria"/>
                <a:cs typeface="Cambria"/>
              </a:rPr>
              <a:t>𝑚</a:t>
            </a:r>
            <a:r>
              <a:rPr dirty="0" baseline="80808" sz="825">
                <a:latin typeface="Cambria"/>
                <a:cs typeface="Cambria"/>
              </a:rPr>
              <a:t>2</a:t>
            </a:r>
            <a:r>
              <a:rPr dirty="0" baseline="80808" sz="825" spc="525">
                <a:latin typeface="Cambria"/>
                <a:cs typeface="Cambria"/>
              </a:rPr>
              <a:t> </a:t>
            </a:r>
            <a:r>
              <a:rPr dirty="0" sz="1000" spc="-20">
                <a:latin typeface="SimSun"/>
                <a:cs typeface="SimSun"/>
              </a:rPr>
              <a:t>的范围如下，</a:t>
            </a:r>
            <a:endParaRPr sz="1000">
              <a:latin typeface="SimSun"/>
              <a:cs typeface="SimSun"/>
            </a:endParaRPr>
          </a:p>
        </p:txBody>
      </p:sp>
      <p:sp>
        <p:nvSpPr>
          <p:cNvPr id="58" name="object 58" descr=""/>
          <p:cNvSpPr txBox="1"/>
          <p:nvPr/>
        </p:nvSpPr>
        <p:spPr>
          <a:xfrm>
            <a:off x="2913722" y="6131502"/>
            <a:ext cx="1646555" cy="177800"/>
          </a:xfrm>
          <a:prstGeom prst="rect">
            <a:avLst/>
          </a:prstGeom>
        </p:spPr>
        <p:txBody>
          <a:bodyPr wrap="square" lIns="0" tIns="12065" rIns="0" bIns="0" rtlCol="0" vert="horz">
            <a:spAutoFit/>
          </a:bodyPr>
          <a:lstStyle/>
          <a:p>
            <a:pPr marL="38100">
              <a:lnSpc>
                <a:spcPct val="100000"/>
              </a:lnSpc>
              <a:spcBef>
                <a:spcPts val="95"/>
              </a:spcBef>
            </a:pPr>
            <a:r>
              <a:rPr dirty="0" baseline="-41666" sz="1500" spc="232">
                <a:latin typeface="Cambria"/>
                <a:cs typeface="Cambria"/>
              </a:rPr>
              <a:t>{</a:t>
            </a:r>
            <a:r>
              <a:rPr dirty="0" baseline="-41666" sz="1500" spc="457">
                <a:latin typeface="Cambria"/>
                <a:cs typeface="Cambria"/>
              </a:rPr>
              <a:t> </a:t>
            </a:r>
            <a:r>
              <a:rPr dirty="0" sz="1000" spc="-25">
                <a:latin typeface="Cambria"/>
                <a:cs typeface="Cambria"/>
              </a:rPr>
              <a:t>𝑒</a:t>
            </a:r>
            <a:r>
              <a:rPr dirty="0" baseline="39682" sz="1050" spc="-37">
                <a:latin typeface="Cambria"/>
                <a:cs typeface="Cambria"/>
              </a:rPr>
              <a:t>(𝑊</a:t>
            </a:r>
            <a:r>
              <a:rPr dirty="0" baseline="25252" sz="825" spc="-37">
                <a:latin typeface="Cambria"/>
                <a:cs typeface="Cambria"/>
              </a:rPr>
              <a:t>𝑘</a:t>
            </a:r>
            <a:r>
              <a:rPr dirty="0" baseline="95959" sz="825" spc="-37">
                <a:latin typeface="Cambria"/>
                <a:cs typeface="Cambria"/>
              </a:rPr>
              <a:t>𝑚</a:t>
            </a:r>
            <a:r>
              <a:rPr dirty="0" baseline="80808" sz="825" spc="-37">
                <a:latin typeface="Cambria"/>
                <a:cs typeface="Cambria"/>
              </a:rPr>
              <a:t>2</a:t>
            </a:r>
            <a:r>
              <a:rPr dirty="0" baseline="80808" sz="825" spc="-30">
                <a:latin typeface="Cambria"/>
                <a:cs typeface="Cambria"/>
              </a:rPr>
              <a:t> </a:t>
            </a:r>
            <a:r>
              <a:rPr dirty="0" baseline="39682" sz="1050" spc="-75">
                <a:latin typeface="Cambria"/>
                <a:cs typeface="Cambria"/>
              </a:rPr>
              <a:t>−𝑊</a:t>
            </a:r>
            <a:r>
              <a:rPr dirty="0" baseline="40404" sz="825" spc="-75">
                <a:latin typeface="Cambria"/>
                <a:cs typeface="Cambria"/>
              </a:rPr>
              <a:t>𝑦</a:t>
            </a:r>
            <a:r>
              <a:rPr dirty="0" baseline="95959" sz="825" spc="-75">
                <a:latin typeface="Cambria"/>
                <a:cs typeface="Cambria"/>
              </a:rPr>
              <a:t>𝑚</a:t>
            </a:r>
            <a:r>
              <a:rPr dirty="0" baseline="15151" sz="825" spc="-75">
                <a:latin typeface="Cambria"/>
                <a:cs typeface="Cambria"/>
              </a:rPr>
              <a:t>𝑖</a:t>
            </a:r>
            <a:r>
              <a:rPr dirty="0" baseline="15151" sz="825" spc="-44">
                <a:latin typeface="Cambria"/>
                <a:cs typeface="Cambria"/>
              </a:rPr>
              <a:t> </a:t>
            </a:r>
            <a:r>
              <a:rPr dirty="0" baseline="80808" sz="825">
                <a:latin typeface="Cambria"/>
                <a:cs typeface="Cambria"/>
              </a:rPr>
              <a:t>2</a:t>
            </a:r>
            <a:r>
              <a:rPr dirty="0" baseline="80808" sz="825" spc="-30">
                <a:latin typeface="Cambria"/>
                <a:cs typeface="Cambria"/>
              </a:rPr>
              <a:t> </a:t>
            </a:r>
            <a:r>
              <a:rPr dirty="0" baseline="39682" sz="1050">
                <a:latin typeface="Cambria"/>
                <a:cs typeface="Cambria"/>
              </a:rPr>
              <a:t>)𝑧</a:t>
            </a:r>
            <a:r>
              <a:rPr dirty="0" baseline="25252" sz="825">
                <a:latin typeface="Cambria"/>
                <a:cs typeface="Cambria"/>
              </a:rPr>
              <a:t>𝑖</a:t>
            </a:r>
            <a:r>
              <a:rPr dirty="0" baseline="95959" sz="825">
                <a:latin typeface="Cambria"/>
                <a:cs typeface="Cambria"/>
              </a:rPr>
              <a:t>𝑚</a:t>
            </a:r>
            <a:r>
              <a:rPr dirty="0" baseline="80808" sz="825">
                <a:latin typeface="Cambria"/>
                <a:cs typeface="Cambria"/>
              </a:rPr>
              <a:t>2</a:t>
            </a:r>
            <a:r>
              <a:rPr dirty="0" baseline="80808" sz="825" spc="509">
                <a:latin typeface="Cambria"/>
                <a:cs typeface="Cambria"/>
              </a:rPr>
              <a:t> </a:t>
            </a:r>
            <a:r>
              <a:rPr dirty="0" sz="1000" spc="165">
                <a:latin typeface="Cambria"/>
                <a:cs typeface="Cambria"/>
              </a:rPr>
              <a:t>&lt;</a:t>
            </a:r>
            <a:r>
              <a:rPr dirty="0" sz="1000" spc="70">
                <a:latin typeface="Cambria"/>
                <a:cs typeface="Cambria"/>
              </a:rPr>
              <a:t> </a:t>
            </a:r>
            <a:r>
              <a:rPr dirty="0" sz="1000" spc="-10">
                <a:latin typeface="Cambria"/>
                <a:cs typeface="Cambria"/>
              </a:rPr>
              <a:t>1,</a:t>
            </a:r>
            <a:r>
              <a:rPr dirty="0" sz="1000" spc="-50">
                <a:latin typeface="Cambria"/>
                <a:cs typeface="Cambria"/>
              </a:rPr>
              <a:t> </a:t>
            </a:r>
            <a:r>
              <a:rPr dirty="0" sz="1000">
                <a:latin typeface="Cambria"/>
                <a:cs typeface="Cambria"/>
              </a:rPr>
              <a:t>𝑘</a:t>
            </a:r>
            <a:r>
              <a:rPr dirty="0" sz="1000" spc="75">
                <a:latin typeface="Cambria"/>
                <a:cs typeface="Cambria"/>
              </a:rPr>
              <a:t> </a:t>
            </a:r>
            <a:r>
              <a:rPr dirty="0" sz="1000" spc="165">
                <a:latin typeface="Cambria"/>
                <a:cs typeface="Cambria"/>
              </a:rPr>
              <a:t>≠</a:t>
            </a:r>
            <a:r>
              <a:rPr dirty="0" sz="1000" spc="70">
                <a:latin typeface="Cambria"/>
                <a:cs typeface="Cambria"/>
              </a:rPr>
              <a:t> </a:t>
            </a:r>
            <a:r>
              <a:rPr dirty="0" sz="1000" spc="-25">
                <a:latin typeface="Cambria"/>
                <a:cs typeface="Cambria"/>
              </a:rPr>
              <a:t>𝑦</a:t>
            </a:r>
            <a:r>
              <a:rPr dirty="0" baseline="-15873" sz="1050" spc="-37">
                <a:latin typeface="Cambria"/>
                <a:cs typeface="Cambria"/>
              </a:rPr>
              <a:t>𝑖</a:t>
            </a:r>
            <a:endParaRPr baseline="-15873" sz="1050">
              <a:latin typeface="Cambria"/>
              <a:cs typeface="Cambria"/>
            </a:endParaRPr>
          </a:p>
        </p:txBody>
      </p:sp>
      <p:sp>
        <p:nvSpPr>
          <p:cNvPr id="59" name="object 59" descr=""/>
          <p:cNvSpPr txBox="1"/>
          <p:nvPr/>
        </p:nvSpPr>
        <p:spPr>
          <a:xfrm>
            <a:off x="3045942" y="6353459"/>
            <a:ext cx="1513840" cy="177800"/>
          </a:xfrm>
          <a:prstGeom prst="rect">
            <a:avLst/>
          </a:prstGeom>
        </p:spPr>
        <p:txBody>
          <a:bodyPr wrap="square" lIns="0" tIns="12065" rIns="0" bIns="0" rtlCol="0" vert="horz">
            <a:spAutoFit/>
          </a:bodyPr>
          <a:lstStyle/>
          <a:p>
            <a:pPr marL="38100">
              <a:lnSpc>
                <a:spcPct val="100000"/>
              </a:lnSpc>
              <a:spcBef>
                <a:spcPts val="95"/>
              </a:spcBef>
            </a:pPr>
            <a:r>
              <a:rPr dirty="0" sz="1000" spc="-25">
                <a:latin typeface="Cambria"/>
                <a:cs typeface="Cambria"/>
              </a:rPr>
              <a:t>𝑒</a:t>
            </a:r>
            <a:r>
              <a:rPr dirty="0" baseline="39682" sz="1050" spc="-37">
                <a:latin typeface="Cambria"/>
                <a:cs typeface="Cambria"/>
              </a:rPr>
              <a:t>(𝑊</a:t>
            </a:r>
            <a:r>
              <a:rPr dirty="0" baseline="25252" sz="825" spc="-37">
                <a:latin typeface="Cambria"/>
                <a:cs typeface="Cambria"/>
              </a:rPr>
              <a:t>𝑘</a:t>
            </a:r>
            <a:r>
              <a:rPr dirty="0" baseline="95959" sz="825" spc="-37">
                <a:latin typeface="Cambria"/>
                <a:cs typeface="Cambria"/>
              </a:rPr>
              <a:t>𝑚</a:t>
            </a:r>
            <a:r>
              <a:rPr dirty="0" baseline="80808" sz="825" spc="-37">
                <a:latin typeface="Cambria"/>
                <a:cs typeface="Cambria"/>
              </a:rPr>
              <a:t>2</a:t>
            </a:r>
            <a:r>
              <a:rPr dirty="0" baseline="80808" sz="825" spc="-30">
                <a:latin typeface="Cambria"/>
                <a:cs typeface="Cambria"/>
              </a:rPr>
              <a:t> </a:t>
            </a:r>
            <a:r>
              <a:rPr dirty="0" baseline="39682" sz="1050" spc="-75">
                <a:latin typeface="Cambria"/>
                <a:cs typeface="Cambria"/>
              </a:rPr>
              <a:t>−𝑊</a:t>
            </a:r>
            <a:r>
              <a:rPr dirty="0" baseline="40404" sz="825" spc="-75">
                <a:latin typeface="Cambria"/>
                <a:cs typeface="Cambria"/>
              </a:rPr>
              <a:t>𝑦</a:t>
            </a:r>
            <a:r>
              <a:rPr dirty="0" baseline="95959" sz="825" spc="-75">
                <a:latin typeface="Cambria"/>
                <a:cs typeface="Cambria"/>
              </a:rPr>
              <a:t>𝑚</a:t>
            </a:r>
            <a:r>
              <a:rPr dirty="0" baseline="15151" sz="825" spc="-75">
                <a:latin typeface="Cambria"/>
                <a:cs typeface="Cambria"/>
              </a:rPr>
              <a:t>𝑖</a:t>
            </a:r>
            <a:r>
              <a:rPr dirty="0" baseline="15151" sz="825" spc="-44">
                <a:latin typeface="Cambria"/>
                <a:cs typeface="Cambria"/>
              </a:rPr>
              <a:t> </a:t>
            </a:r>
            <a:r>
              <a:rPr dirty="0" baseline="80808" sz="825">
                <a:latin typeface="Cambria"/>
                <a:cs typeface="Cambria"/>
              </a:rPr>
              <a:t>2</a:t>
            </a:r>
            <a:r>
              <a:rPr dirty="0" baseline="80808" sz="825" spc="-30">
                <a:latin typeface="Cambria"/>
                <a:cs typeface="Cambria"/>
              </a:rPr>
              <a:t> </a:t>
            </a:r>
            <a:r>
              <a:rPr dirty="0" baseline="39682" sz="1050">
                <a:latin typeface="Cambria"/>
                <a:cs typeface="Cambria"/>
              </a:rPr>
              <a:t>)𝑧</a:t>
            </a:r>
            <a:r>
              <a:rPr dirty="0" baseline="25252" sz="825">
                <a:latin typeface="Cambria"/>
                <a:cs typeface="Cambria"/>
              </a:rPr>
              <a:t>𝑖</a:t>
            </a:r>
            <a:r>
              <a:rPr dirty="0" baseline="95959" sz="825">
                <a:latin typeface="Cambria"/>
                <a:cs typeface="Cambria"/>
              </a:rPr>
              <a:t>𝑚</a:t>
            </a:r>
            <a:r>
              <a:rPr dirty="0" baseline="80808" sz="825">
                <a:latin typeface="Cambria"/>
                <a:cs typeface="Cambria"/>
              </a:rPr>
              <a:t>2</a:t>
            </a:r>
            <a:r>
              <a:rPr dirty="0" baseline="80808" sz="825" spc="525">
                <a:latin typeface="Cambria"/>
                <a:cs typeface="Cambria"/>
              </a:rPr>
              <a:t> </a:t>
            </a:r>
            <a:r>
              <a:rPr dirty="0" sz="1000" spc="165">
                <a:latin typeface="Cambria"/>
                <a:cs typeface="Cambria"/>
              </a:rPr>
              <a:t>=</a:t>
            </a:r>
            <a:r>
              <a:rPr dirty="0" sz="1000" spc="70">
                <a:latin typeface="Cambria"/>
                <a:cs typeface="Cambria"/>
              </a:rPr>
              <a:t> </a:t>
            </a:r>
            <a:r>
              <a:rPr dirty="0" sz="1000" spc="-10">
                <a:latin typeface="Cambria"/>
                <a:cs typeface="Cambria"/>
              </a:rPr>
              <a:t>1,</a:t>
            </a:r>
            <a:r>
              <a:rPr dirty="0" sz="1000" spc="-40">
                <a:latin typeface="Cambria"/>
                <a:cs typeface="Cambria"/>
              </a:rPr>
              <a:t> </a:t>
            </a:r>
            <a:r>
              <a:rPr dirty="0" sz="1000">
                <a:latin typeface="Cambria"/>
                <a:cs typeface="Cambria"/>
              </a:rPr>
              <a:t>𝑘</a:t>
            </a:r>
            <a:r>
              <a:rPr dirty="0" sz="1000" spc="80">
                <a:latin typeface="Cambria"/>
                <a:cs typeface="Cambria"/>
              </a:rPr>
              <a:t> </a:t>
            </a:r>
            <a:r>
              <a:rPr dirty="0" sz="1000" spc="165">
                <a:latin typeface="Cambria"/>
                <a:cs typeface="Cambria"/>
              </a:rPr>
              <a:t>=</a:t>
            </a:r>
            <a:r>
              <a:rPr dirty="0" sz="1000" spc="70">
                <a:latin typeface="Cambria"/>
                <a:cs typeface="Cambria"/>
              </a:rPr>
              <a:t> </a:t>
            </a:r>
            <a:r>
              <a:rPr dirty="0" sz="1000" spc="-25">
                <a:latin typeface="Cambria"/>
                <a:cs typeface="Cambria"/>
              </a:rPr>
              <a:t>𝑦</a:t>
            </a:r>
            <a:r>
              <a:rPr dirty="0" baseline="-15873" sz="1050" spc="-37">
                <a:latin typeface="Cambria"/>
                <a:cs typeface="Cambria"/>
              </a:rPr>
              <a:t>𝑖</a:t>
            </a:r>
            <a:endParaRPr baseline="-15873" sz="1050">
              <a:latin typeface="Cambria"/>
              <a:cs typeface="Cambria"/>
            </a:endParaRPr>
          </a:p>
        </p:txBody>
      </p:sp>
      <p:sp>
        <p:nvSpPr>
          <p:cNvPr id="60" name="object 60" descr=""/>
          <p:cNvSpPr txBox="1"/>
          <p:nvPr/>
        </p:nvSpPr>
        <p:spPr>
          <a:xfrm>
            <a:off x="6497878" y="6223373"/>
            <a:ext cx="175260" cy="177800"/>
          </a:xfrm>
          <a:prstGeom prst="rect">
            <a:avLst/>
          </a:prstGeom>
        </p:spPr>
        <p:txBody>
          <a:bodyPr wrap="square" lIns="0" tIns="12065" rIns="0" bIns="0" rtlCol="0" vert="horz">
            <a:spAutoFit/>
          </a:bodyPr>
          <a:lstStyle/>
          <a:p>
            <a:pPr marL="12700">
              <a:lnSpc>
                <a:spcPct val="100000"/>
              </a:lnSpc>
              <a:spcBef>
                <a:spcPts val="95"/>
              </a:spcBef>
            </a:pPr>
            <a:r>
              <a:rPr dirty="0" sz="1000" spc="-25">
                <a:latin typeface="Times New Roman"/>
                <a:cs typeface="Times New Roman"/>
              </a:rPr>
              <a:t>(5)</a:t>
            </a:r>
            <a:endParaRPr sz="1000">
              <a:latin typeface="Times New Roman"/>
              <a:cs typeface="Times New Roman"/>
            </a:endParaRPr>
          </a:p>
        </p:txBody>
      </p:sp>
      <p:grpSp>
        <p:nvGrpSpPr>
          <p:cNvPr id="61" name="object 61" descr=""/>
          <p:cNvGrpSpPr/>
          <p:nvPr/>
        </p:nvGrpSpPr>
        <p:grpSpPr>
          <a:xfrm>
            <a:off x="899998" y="7482868"/>
            <a:ext cx="5760085" cy="577850"/>
            <a:chOff x="899998" y="7482868"/>
            <a:chExt cx="5760085" cy="577850"/>
          </a:xfrm>
        </p:grpSpPr>
        <p:sp>
          <p:nvSpPr>
            <p:cNvPr id="62" name="object 62" descr=""/>
            <p:cNvSpPr/>
            <p:nvPr/>
          </p:nvSpPr>
          <p:spPr>
            <a:xfrm>
              <a:off x="899998" y="7482868"/>
              <a:ext cx="5760085" cy="577850"/>
            </a:xfrm>
            <a:custGeom>
              <a:avLst/>
              <a:gdLst/>
              <a:ahLst/>
              <a:cxnLst/>
              <a:rect l="l" t="t" r="r" b="b"/>
              <a:pathLst>
                <a:path w="5760084" h="577850">
                  <a:moveTo>
                    <a:pt x="5724074" y="0"/>
                  </a:moveTo>
                  <a:lnTo>
                    <a:pt x="36000" y="0"/>
                  </a:lnTo>
                  <a:lnTo>
                    <a:pt x="21987" y="2829"/>
                  </a:lnTo>
                  <a:lnTo>
                    <a:pt x="10544" y="10544"/>
                  </a:lnTo>
                  <a:lnTo>
                    <a:pt x="2829" y="21987"/>
                  </a:lnTo>
                  <a:lnTo>
                    <a:pt x="0" y="36000"/>
                  </a:lnTo>
                  <a:lnTo>
                    <a:pt x="0" y="541542"/>
                  </a:lnTo>
                  <a:lnTo>
                    <a:pt x="2829" y="555555"/>
                  </a:lnTo>
                  <a:lnTo>
                    <a:pt x="10544" y="566998"/>
                  </a:lnTo>
                  <a:lnTo>
                    <a:pt x="21987" y="574714"/>
                  </a:lnTo>
                  <a:lnTo>
                    <a:pt x="36000" y="577543"/>
                  </a:lnTo>
                  <a:lnTo>
                    <a:pt x="5724074" y="577543"/>
                  </a:lnTo>
                  <a:lnTo>
                    <a:pt x="5738087" y="574714"/>
                  </a:lnTo>
                  <a:lnTo>
                    <a:pt x="5749530" y="566998"/>
                  </a:lnTo>
                  <a:lnTo>
                    <a:pt x="5757245" y="555555"/>
                  </a:lnTo>
                  <a:lnTo>
                    <a:pt x="5760074" y="54154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63" name="object 63" descr=""/>
            <p:cNvSpPr/>
            <p:nvPr/>
          </p:nvSpPr>
          <p:spPr>
            <a:xfrm>
              <a:off x="899998" y="7482868"/>
              <a:ext cx="5760085" cy="577850"/>
            </a:xfrm>
            <a:custGeom>
              <a:avLst/>
              <a:gdLst/>
              <a:ahLst/>
              <a:cxnLst/>
              <a:rect l="l" t="t" r="r" b="b"/>
              <a:pathLst>
                <a:path w="5760084" h="577850">
                  <a:moveTo>
                    <a:pt x="5724074" y="0"/>
                  </a:moveTo>
                  <a:lnTo>
                    <a:pt x="36000" y="0"/>
                  </a:lnTo>
                  <a:lnTo>
                    <a:pt x="21987" y="2829"/>
                  </a:lnTo>
                  <a:lnTo>
                    <a:pt x="10544" y="10544"/>
                  </a:lnTo>
                  <a:lnTo>
                    <a:pt x="2829" y="21987"/>
                  </a:lnTo>
                  <a:lnTo>
                    <a:pt x="0" y="36000"/>
                  </a:lnTo>
                  <a:lnTo>
                    <a:pt x="0" y="541542"/>
                  </a:lnTo>
                  <a:lnTo>
                    <a:pt x="2829" y="555555"/>
                  </a:lnTo>
                  <a:lnTo>
                    <a:pt x="10544" y="566998"/>
                  </a:lnTo>
                  <a:lnTo>
                    <a:pt x="21987" y="574714"/>
                  </a:lnTo>
                  <a:lnTo>
                    <a:pt x="36000" y="577543"/>
                  </a:lnTo>
                  <a:lnTo>
                    <a:pt x="5724074" y="577543"/>
                  </a:lnTo>
                  <a:lnTo>
                    <a:pt x="5738087" y="574714"/>
                  </a:lnTo>
                  <a:lnTo>
                    <a:pt x="5749530" y="566998"/>
                  </a:lnTo>
                  <a:lnTo>
                    <a:pt x="5757245" y="555555"/>
                  </a:lnTo>
                  <a:lnTo>
                    <a:pt x="5760074" y="54154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64" name="object 64" descr=""/>
          <p:cNvSpPr txBox="1"/>
          <p:nvPr/>
        </p:nvSpPr>
        <p:spPr>
          <a:xfrm>
            <a:off x="811098" y="6548050"/>
            <a:ext cx="5950585" cy="1387475"/>
          </a:xfrm>
          <a:prstGeom prst="rect">
            <a:avLst/>
          </a:prstGeom>
        </p:spPr>
        <p:txBody>
          <a:bodyPr wrap="square" lIns="0" tIns="57785" rIns="0" bIns="0" rtlCol="0" vert="horz">
            <a:spAutoFit/>
          </a:bodyPr>
          <a:lstStyle/>
          <a:p>
            <a:pPr marL="341630">
              <a:lnSpc>
                <a:spcPct val="100000"/>
              </a:lnSpc>
              <a:spcBef>
                <a:spcPts val="455"/>
              </a:spcBef>
            </a:pPr>
            <a:r>
              <a:rPr dirty="0" sz="1000" spc="-25">
                <a:latin typeface="Times New Roman"/>
                <a:cs typeface="Times New Roman"/>
              </a:rPr>
              <a:t>(6)</a:t>
            </a:r>
            <a:endParaRPr sz="1000">
              <a:latin typeface="Times New Roman"/>
              <a:cs typeface="Times New Roman"/>
            </a:endParaRPr>
          </a:p>
          <a:p>
            <a:pPr algn="just" marL="88900" marR="93980" indent="252729">
              <a:lnSpc>
                <a:spcPct val="129500"/>
              </a:lnSpc>
            </a:pPr>
            <a:r>
              <a:rPr dirty="0" sz="1000">
                <a:latin typeface="Times New Roman"/>
                <a:cs typeface="Times New Roman"/>
              </a:rPr>
              <a:t>Besides,</a:t>
            </a:r>
            <a:r>
              <a:rPr dirty="0" sz="1000" spc="-20">
                <a:latin typeface="Times New Roman"/>
                <a:cs typeface="Times New Roman"/>
              </a:rPr>
              <a:t> </a:t>
            </a:r>
            <a:r>
              <a:rPr dirty="0" sz="1000" spc="15">
                <a:latin typeface="Times New Roman"/>
                <a:cs typeface="Times New Roman"/>
              </a:rPr>
              <a:t>let</a:t>
            </a:r>
            <a:r>
              <a:rPr dirty="0" sz="1000" spc="-20">
                <a:latin typeface="Times New Roman"/>
                <a:cs typeface="Times New Roman"/>
              </a:rPr>
              <a:t> </a:t>
            </a:r>
            <a:r>
              <a:rPr dirty="0" sz="1000" spc="-50">
                <a:latin typeface="Cambria"/>
                <a:cs typeface="Cambria"/>
              </a:rPr>
              <a:t>𝑊</a:t>
            </a:r>
            <a:r>
              <a:rPr dirty="0" sz="1000" spc="160">
                <a:latin typeface="Cambria"/>
                <a:cs typeface="Cambria"/>
              </a:rPr>
              <a:t> </a:t>
            </a:r>
            <a:r>
              <a:rPr dirty="0" sz="1000" spc="165">
                <a:latin typeface="Cambria"/>
                <a:cs typeface="Cambria"/>
              </a:rPr>
              <a:t>=</a:t>
            </a:r>
            <a:r>
              <a:rPr dirty="0" sz="1000" spc="55">
                <a:latin typeface="Cambria"/>
                <a:cs typeface="Cambria"/>
              </a:rPr>
              <a:t> </a:t>
            </a:r>
            <a:r>
              <a:rPr dirty="0" sz="1000" spc="-50">
                <a:latin typeface="Cambria"/>
                <a:cs typeface="Cambria"/>
              </a:rPr>
              <a:t>𝑊</a:t>
            </a:r>
            <a:r>
              <a:rPr dirty="0" sz="1000" spc="-55">
                <a:latin typeface="Cambria"/>
                <a:cs typeface="Cambria"/>
              </a:rPr>
              <a:t> </a:t>
            </a:r>
            <a:r>
              <a:rPr dirty="0" baseline="27777" sz="1050" spc="60">
                <a:latin typeface="Cambria"/>
                <a:cs typeface="Cambria"/>
              </a:rPr>
              <a:t>𝑚</a:t>
            </a:r>
            <a:r>
              <a:rPr dirty="0" baseline="20202" sz="825" spc="60">
                <a:latin typeface="Cambria"/>
                <a:cs typeface="Cambria"/>
              </a:rPr>
              <a:t>1</a:t>
            </a:r>
            <a:r>
              <a:rPr dirty="0" baseline="20202" sz="825" spc="322">
                <a:latin typeface="Cambria"/>
                <a:cs typeface="Cambria"/>
              </a:rPr>
              <a:t> </a:t>
            </a:r>
            <a:r>
              <a:rPr dirty="0" sz="1000" spc="40">
                <a:latin typeface="Times New Roman"/>
                <a:cs typeface="Times New Roman"/>
              </a:rPr>
              <a:t>and</a:t>
            </a:r>
            <a:r>
              <a:rPr dirty="0" sz="1000" spc="-20">
                <a:latin typeface="Times New Roman"/>
                <a:cs typeface="Times New Roman"/>
              </a:rPr>
              <a:t> </a:t>
            </a:r>
            <a:r>
              <a:rPr dirty="0" sz="1000" spc="35">
                <a:latin typeface="Cambria"/>
                <a:cs typeface="Cambria"/>
              </a:rPr>
              <a:t>𝑧</a:t>
            </a:r>
            <a:r>
              <a:rPr dirty="0" baseline="27777" sz="1050" spc="52">
                <a:latin typeface="Cambria"/>
                <a:cs typeface="Cambria"/>
              </a:rPr>
              <a:t>𝜏</a:t>
            </a:r>
            <a:r>
              <a:rPr dirty="0" baseline="27777" sz="1050" spc="247">
                <a:latin typeface="Cambria"/>
                <a:cs typeface="Cambria"/>
              </a:rPr>
              <a:t> </a:t>
            </a:r>
            <a:r>
              <a:rPr dirty="0" sz="1000" spc="165">
                <a:latin typeface="Cambria"/>
                <a:cs typeface="Cambria"/>
              </a:rPr>
              <a:t>=</a:t>
            </a:r>
            <a:r>
              <a:rPr dirty="0" sz="1000" spc="55">
                <a:latin typeface="Cambria"/>
                <a:cs typeface="Cambria"/>
              </a:rPr>
              <a:t> </a:t>
            </a:r>
            <a:r>
              <a:rPr dirty="0" sz="1000" spc="35">
                <a:latin typeface="Cambria"/>
                <a:cs typeface="Cambria"/>
              </a:rPr>
              <a:t>𝑧</a:t>
            </a:r>
            <a:r>
              <a:rPr dirty="0" baseline="27777" sz="1050" spc="52">
                <a:latin typeface="Cambria"/>
                <a:cs typeface="Cambria"/>
              </a:rPr>
              <a:t>𝑚</a:t>
            </a:r>
            <a:r>
              <a:rPr dirty="0" baseline="20202" sz="825" spc="52">
                <a:latin typeface="Cambria"/>
                <a:cs typeface="Cambria"/>
              </a:rPr>
              <a:t>1</a:t>
            </a:r>
            <a:r>
              <a:rPr dirty="0" baseline="20202" sz="825" spc="322">
                <a:latin typeface="Cambria"/>
                <a:cs typeface="Cambria"/>
              </a:rPr>
              <a:t> </a:t>
            </a:r>
            <a:r>
              <a:rPr dirty="0" sz="1000" spc="-10">
                <a:latin typeface="Times New Roman"/>
                <a:cs typeface="Times New Roman"/>
              </a:rPr>
              <a:t>,</a:t>
            </a:r>
            <a:r>
              <a:rPr dirty="0" sz="1000" spc="-20">
                <a:latin typeface="Times New Roman"/>
                <a:cs typeface="Times New Roman"/>
              </a:rPr>
              <a:t> </a:t>
            </a:r>
            <a:r>
              <a:rPr dirty="0" sz="1000" spc="5">
                <a:latin typeface="Times New Roman"/>
                <a:cs typeface="Times New Roman"/>
              </a:rPr>
              <a:t>we</a:t>
            </a:r>
            <a:r>
              <a:rPr dirty="0" sz="1000" spc="-25">
                <a:latin typeface="Times New Roman"/>
                <a:cs typeface="Times New Roman"/>
              </a:rPr>
              <a:t> </a:t>
            </a:r>
            <a:r>
              <a:rPr dirty="0" sz="1000" spc="25">
                <a:latin typeface="Times New Roman"/>
                <a:cs typeface="Times New Roman"/>
              </a:rPr>
              <a:t>can</a:t>
            </a:r>
            <a:r>
              <a:rPr dirty="0" sz="1000" spc="-20">
                <a:latin typeface="Times New Roman"/>
                <a:cs typeface="Times New Roman"/>
              </a:rPr>
              <a:t> </a:t>
            </a:r>
            <a:r>
              <a:rPr dirty="0" sz="1000" spc="10">
                <a:latin typeface="Times New Roman"/>
                <a:cs typeface="Times New Roman"/>
              </a:rPr>
              <a:t>get</a:t>
            </a:r>
            <a:r>
              <a:rPr dirty="0" sz="1000" spc="-20">
                <a:latin typeface="Times New Roman"/>
                <a:cs typeface="Times New Roman"/>
              </a:rPr>
              <a:t> </a:t>
            </a:r>
            <a:r>
              <a:rPr dirty="0" sz="1000" spc="40">
                <a:latin typeface="Times New Roman"/>
                <a:cs typeface="Times New Roman"/>
              </a:rPr>
              <a:t>the</a:t>
            </a:r>
            <a:r>
              <a:rPr dirty="0" sz="1000" spc="-25">
                <a:latin typeface="Times New Roman"/>
                <a:cs typeface="Times New Roman"/>
              </a:rPr>
              <a:t> </a:t>
            </a:r>
            <a:r>
              <a:rPr dirty="0" sz="1000" spc="10">
                <a:latin typeface="Times New Roman"/>
                <a:cs typeface="Times New Roman"/>
              </a:rPr>
              <a:t>classification</a:t>
            </a:r>
            <a:r>
              <a:rPr dirty="0" sz="1000" spc="-20">
                <a:latin typeface="Times New Roman"/>
                <a:cs typeface="Times New Roman"/>
              </a:rPr>
              <a:t> </a:t>
            </a:r>
            <a:r>
              <a:rPr dirty="0" sz="1000" spc="20">
                <a:latin typeface="Times New Roman"/>
                <a:cs typeface="Times New Roman"/>
              </a:rPr>
              <a:t>result</a:t>
            </a:r>
            <a:r>
              <a:rPr dirty="0" sz="1000" spc="-25">
                <a:latin typeface="Times New Roman"/>
                <a:cs typeface="Times New Roman"/>
              </a:rPr>
              <a:t> </a:t>
            </a:r>
            <a:r>
              <a:rPr dirty="0" sz="1000" spc="-15">
                <a:latin typeface="Times New Roman"/>
                <a:cs typeface="Times New Roman"/>
              </a:rPr>
              <a:t>of</a:t>
            </a:r>
            <a:r>
              <a:rPr dirty="0" sz="1000" spc="-20">
                <a:latin typeface="Times New Roman"/>
                <a:cs typeface="Times New Roman"/>
              </a:rPr>
              <a:t> </a:t>
            </a:r>
            <a:r>
              <a:rPr dirty="0" sz="1000" spc="40">
                <a:latin typeface="Times New Roman"/>
                <a:cs typeface="Times New Roman"/>
              </a:rPr>
              <a:t>the</a:t>
            </a:r>
            <a:r>
              <a:rPr dirty="0" sz="1000" spc="-20">
                <a:latin typeface="Times New Roman"/>
                <a:cs typeface="Times New Roman"/>
              </a:rPr>
              <a:t> </a:t>
            </a:r>
            <a:r>
              <a:rPr dirty="0" sz="1000" spc="10">
                <a:latin typeface="Times New Roman"/>
                <a:cs typeface="Times New Roman"/>
              </a:rPr>
              <a:t>vanilla</a:t>
            </a:r>
            <a:r>
              <a:rPr dirty="0" sz="1000" spc="-25">
                <a:latin typeface="Times New Roman"/>
                <a:cs typeface="Times New Roman"/>
              </a:rPr>
              <a:t> </a:t>
            </a:r>
            <a:r>
              <a:rPr dirty="0" sz="1000" spc="35">
                <a:latin typeface="Times New Roman"/>
                <a:cs typeface="Times New Roman"/>
              </a:rPr>
              <a:t>unimodal</a:t>
            </a:r>
            <a:r>
              <a:rPr dirty="0" sz="1000" spc="-20">
                <a:latin typeface="Times New Roman"/>
                <a:cs typeface="Times New Roman"/>
              </a:rPr>
              <a:t> </a:t>
            </a:r>
            <a:r>
              <a:rPr dirty="0" sz="1000" spc="15">
                <a:latin typeface="Times New Roman"/>
                <a:cs typeface="Times New Roman"/>
              </a:rPr>
              <a:t>model.</a:t>
            </a:r>
            <a:r>
              <a:rPr dirty="0" sz="1000" spc="10">
                <a:latin typeface="Times New Roman"/>
                <a:cs typeface="Times New Roman"/>
              </a:rPr>
              <a:t> </a:t>
            </a:r>
            <a:r>
              <a:rPr dirty="0" sz="1000" spc="20">
                <a:latin typeface="Times New Roman"/>
                <a:cs typeface="Times New Roman"/>
              </a:rPr>
              <a:t>The</a:t>
            </a:r>
            <a:r>
              <a:rPr dirty="0" sz="1000" spc="55">
                <a:latin typeface="Times New Roman"/>
                <a:cs typeface="Times New Roman"/>
              </a:rPr>
              <a:t> </a:t>
            </a:r>
            <a:r>
              <a:rPr dirty="0" sz="1000" spc="20">
                <a:latin typeface="Times New Roman"/>
                <a:cs typeface="Times New Roman"/>
              </a:rPr>
              <a:t>gradient</a:t>
            </a:r>
            <a:r>
              <a:rPr dirty="0" sz="1000" spc="55">
                <a:latin typeface="Times New Roman"/>
                <a:cs typeface="Times New Roman"/>
              </a:rPr>
              <a:t> </a:t>
            </a:r>
            <a:r>
              <a:rPr dirty="0" sz="1000" spc="-105">
                <a:latin typeface="Cambria"/>
                <a:cs typeface="Cambria"/>
              </a:rPr>
              <a:t>𝑔</a:t>
            </a:r>
            <a:r>
              <a:rPr dirty="0" baseline="-23809" sz="1050" spc="-157">
                <a:latin typeface="Cambria"/>
                <a:cs typeface="Cambria"/>
              </a:rPr>
              <a:t>𝜃</a:t>
            </a:r>
            <a:r>
              <a:rPr dirty="0" baseline="31746" sz="1050" spc="-157">
                <a:latin typeface="Cambria"/>
                <a:cs typeface="Cambria"/>
              </a:rPr>
              <a:t>𝑈</a:t>
            </a:r>
            <a:r>
              <a:rPr dirty="0" baseline="-45454" sz="825" spc="-157">
                <a:latin typeface="Cambria"/>
                <a:cs typeface="Cambria"/>
              </a:rPr>
              <a:t>1</a:t>
            </a:r>
            <a:r>
              <a:rPr dirty="0" baseline="31746" sz="1050" spc="-157">
                <a:latin typeface="Cambria"/>
                <a:cs typeface="Cambria"/>
              </a:rPr>
              <a:t>𝑛𝑖</a:t>
            </a:r>
            <a:r>
              <a:rPr dirty="0" baseline="31746" sz="1050" spc="315">
                <a:latin typeface="Cambria"/>
                <a:cs typeface="Cambria"/>
              </a:rPr>
              <a:t> </a:t>
            </a:r>
            <a:r>
              <a:rPr dirty="0" sz="1000" spc="15">
                <a:latin typeface="Times New Roman"/>
                <a:cs typeface="Times New Roman"/>
              </a:rPr>
              <a:t>passed</a:t>
            </a:r>
            <a:r>
              <a:rPr dirty="0" sz="1000" spc="55">
                <a:latin typeface="Times New Roman"/>
                <a:cs typeface="Times New Roman"/>
              </a:rPr>
              <a:t> </a:t>
            </a:r>
            <a:r>
              <a:rPr dirty="0" sz="1000" spc="15">
                <a:latin typeface="Times New Roman"/>
                <a:cs typeface="Times New Roman"/>
              </a:rPr>
              <a:t>back</a:t>
            </a:r>
            <a:r>
              <a:rPr dirty="0" sz="1000" spc="55">
                <a:latin typeface="Times New Roman"/>
                <a:cs typeface="Times New Roman"/>
              </a:rPr>
              <a:t> </a:t>
            </a:r>
            <a:r>
              <a:rPr dirty="0" sz="1000" spc="20">
                <a:latin typeface="Times New Roman"/>
                <a:cs typeface="Times New Roman"/>
              </a:rPr>
              <a:t>to</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20">
                <a:latin typeface="Times New Roman"/>
                <a:cs typeface="Times New Roman"/>
              </a:rPr>
              <a:t>encoder</a:t>
            </a:r>
            <a:r>
              <a:rPr dirty="0" sz="1000" spc="55">
                <a:latin typeface="Times New Roman"/>
                <a:cs typeface="Times New Roman"/>
              </a:rPr>
              <a:t> </a:t>
            </a:r>
            <a:r>
              <a:rPr dirty="0" sz="1000" spc="-45">
                <a:latin typeface="Cambria"/>
                <a:cs typeface="Cambria"/>
              </a:rPr>
              <a:t>𝜑</a:t>
            </a:r>
            <a:r>
              <a:rPr dirty="0" baseline="-15873" sz="1050" spc="-67">
                <a:latin typeface="Cambria"/>
                <a:cs typeface="Cambria"/>
              </a:rPr>
              <a:t>1</a:t>
            </a:r>
            <a:r>
              <a:rPr dirty="0" baseline="-15873" sz="1050" spc="89">
                <a:latin typeface="Cambria"/>
                <a:cs typeface="Cambria"/>
              </a:rPr>
              <a:t> </a:t>
            </a:r>
            <a:r>
              <a:rPr dirty="0" sz="1000" spc="-10">
                <a:latin typeface="Cambria"/>
                <a:cs typeface="Cambria"/>
              </a:rPr>
              <a:t>(𝜃</a:t>
            </a:r>
            <a:r>
              <a:rPr dirty="0" baseline="-15873" sz="1050" spc="-15">
                <a:latin typeface="Cambria"/>
                <a:cs typeface="Cambria"/>
              </a:rPr>
              <a:t>1</a:t>
            </a:r>
            <a:r>
              <a:rPr dirty="0" sz="1000" spc="-10">
                <a:latin typeface="Cambria"/>
                <a:cs typeface="Cambria"/>
              </a:rPr>
              <a:t>,</a:t>
            </a:r>
            <a:r>
              <a:rPr dirty="0" sz="1000" spc="-55">
                <a:latin typeface="Cambria"/>
                <a:cs typeface="Cambria"/>
              </a:rPr>
              <a:t> </a:t>
            </a:r>
            <a:r>
              <a:rPr dirty="0" sz="1000" spc="-20">
                <a:latin typeface="Cambria"/>
                <a:cs typeface="Cambria"/>
              </a:rPr>
              <a:t>⋅)</a:t>
            </a:r>
            <a:r>
              <a:rPr dirty="0" sz="1000" spc="85">
                <a:latin typeface="Cambria"/>
                <a:cs typeface="Cambria"/>
              </a:rPr>
              <a:t> </a:t>
            </a:r>
            <a:r>
              <a:rPr dirty="0" sz="1000" spc="35">
                <a:latin typeface="Times New Roman"/>
                <a:cs typeface="Times New Roman"/>
              </a:rPr>
              <a:t>in</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10">
                <a:latin typeface="Times New Roman"/>
                <a:cs typeface="Times New Roman"/>
              </a:rPr>
              <a:t>vanilla</a:t>
            </a:r>
            <a:r>
              <a:rPr dirty="0" sz="1000" spc="55">
                <a:latin typeface="Times New Roman"/>
                <a:cs typeface="Times New Roman"/>
              </a:rPr>
              <a:t> </a:t>
            </a:r>
            <a:r>
              <a:rPr dirty="0" sz="1000" spc="35">
                <a:latin typeface="Times New Roman"/>
                <a:cs typeface="Times New Roman"/>
              </a:rPr>
              <a:t>unimodal</a:t>
            </a:r>
            <a:r>
              <a:rPr dirty="0" sz="1000" spc="55">
                <a:latin typeface="Times New Roman"/>
                <a:cs typeface="Times New Roman"/>
              </a:rPr>
              <a:t> </a:t>
            </a:r>
            <a:r>
              <a:rPr dirty="0" sz="1000" spc="25">
                <a:latin typeface="Times New Roman"/>
                <a:cs typeface="Times New Roman"/>
              </a:rPr>
              <a:t>model</a:t>
            </a:r>
            <a:r>
              <a:rPr dirty="0" sz="1000" spc="55">
                <a:latin typeface="Times New Roman"/>
                <a:cs typeface="Times New Roman"/>
              </a:rPr>
              <a:t> </a:t>
            </a:r>
            <a:r>
              <a:rPr dirty="0" sz="1000" spc="25">
                <a:latin typeface="Times New Roman"/>
                <a:cs typeface="Times New Roman"/>
              </a:rPr>
              <a:t>can</a:t>
            </a:r>
            <a:r>
              <a:rPr dirty="0" sz="1000" spc="55">
                <a:latin typeface="Times New Roman"/>
                <a:cs typeface="Times New Roman"/>
              </a:rPr>
              <a:t> </a:t>
            </a:r>
            <a:r>
              <a:rPr dirty="0" sz="1000" spc="10">
                <a:latin typeface="Times New Roman"/>
                <a:cs typeface="Times New Roman"/>
              </a:rPr>
              <a:t>be</a:t>
            </a:r>
            <a:r>
              <a:rPr dirty="0" sz="1000" spc="55">
                <a:latin typeface="Times New Roman"/>
                <a:cs typeface="Times New Roman"/>
              </a:rPr>
              <a:t> </a:t>
            </a:r>
            <a:r>
              <a:rPr dirty="0" sz="1000" spc="10">
                <a:latin typeface="Times New Roman"/>
                <a:cs typeface="Times New Roman"/>
              </a:rPr>
              <a:t>expressed</a:t>
            </a:r>
            <a:r>
              <a:rPr dirty="0" sz="1000" spc="55">
                <a:latin typeface="Times New Roman"/>
                <a:cs typeface="Times New Roman"/>
              </a:rPr>
              <a:t> </a:t>
            </a:r>
            <a:r>
              <a:rPr dirty="0" sz="1000" spc="15">
                <a:latin typeface="Times New Roman"/>
                <a:cs typeface="Times New Roman"/>
              </a:rPr>
              <a:t>as</a:t>
            </a:r>
            <a:r>
              <a:rPr dirty="0" sz="1000" spc="10">
                <a:latin typeface="Times New Roman"/>
                <a:cs typeface="Times New Roman"/>
              </a:rPr>
              <a:t> </a:t>
            </a:r>
            <a:r>
              <a:rPr dirty="0" sz="1000">
                <a:latin typeface="Times New Roman"/>
                <a:cs typeface="Times New Roman"/>
              </a:rPr>
              <a:t>follows,</a:t>
            </a:r>
            <a:endParaRPr sz="1000">
              <a:latin typeface="Times New Roman"/>
              <a:cs typeface="Times New Roman"/>
            </a:endParaRPr>
          </a:p>
          <a:p>
            <a:pPr>
              <a:lnSpc>
                <a:spcPct val="100000"/>
              </a:lnSpc>
              <a:spcBef>
                <a:spcPts val="220"/>
              </a:spcBef>
            </a:pPr>
            <a:endParaRPr sz="1000">
              <a:latin typeface="Times New Roman"/>
              <a:cs typeface="Times New Roman"/>
            </a:endParaRPr>
          </a:p>
          <a:p>
            <a:pPr marL="268605" marR="273685">
              <a:lnSpc>
                <a:spcPct val="130500"/>
              </a:lnSpc>
            </a:pPr>
            <a:r>
              <a:rPr dirty="0" sz="1000" spc="-100">
                <a:latin typeface="SimSun"/>
                <a:cs typeface="SimSun"/>
              </a:rPr>
              <a:t>此外，令 </a:t>
            </a:r>
            <a:r>
              <a:rPr dirty="0" sz="1000">
                <a:latin typeface="Cambria"/>
                <a:cs typeface="Cambria"/>
              </a:rPr>
              <a:t>𝑊</a:t>
            </a:r>
            <a:r>
              <a:rPr dirty="0" sz="1000" spc="135">
                <a:latin typeface="Cambria"/>
                <a:cs typeface="Cambria"/>
              </a:rPr>
              <a:t> = </a:t>
            </a:r>
            <a:r>
              <a:rPr dirty="0" sz="1000" spc="-55">
                <a:latin typeface="Cambria"/>
                <a:cs typeface="Cambria"/>
              </a:rPr>
              <a:t>𝑊 </a:t>
            </a:r>
            <a:r>
              <a:rPr dirty="0" baseline="27777" sz="1050">
                <a:latin typeface="Cambria"/>
                <a:cs typeface="Cambria"/>
              </a:rPr>
              <a:t>𝑚</a:t>
            </a:r>
            <a:r>
              <a:rPr dirty="0" baseline="20202" sz="825">
                <a:latin typeface="Cambria"/>
                <a:cs typeface="Cambria"/>
              </a:rPr>
              <a:t>1</a:t>
            </a:r>
            <a:r>
              <a:rPr dirty="0" baseline="20202" sz="825" spc="307">
                <a:latin typeface="Cambria"/>
                <a:cs typeface="Cambria"/>
              </a:rPr>
              <a:t> </a:t>
            </a:r>
            <a:r>
              <a:rPr dirty="0" sz="1000" spc="204">
                <a:latin typeface="SimSun"/>
                <a:cs typeface="SimSun"/>
              </a:rPr>
              <a:t>和</a:t>
            </a:r>
            <a:r>
              <a:rPr dirty="0" sz="1000">
                <a:latin typeface="Cambria"/>
                <a:cs typeface="Cambria"/>
              </a:rPr>
              <a:t>𝑧</a:t>
            </a:r>
            <a:r>
              <a:rPr dirty="0" baseline="27777" sz="1050">
                <a:latin typeface="Cambria"/>
                <a:cs typeface="Cambria"/>
              </a:rPr>
              <a:t>𝜏</a:t>
            </a:r>
            <a:r>
              <a:rPr dirty="0" baseline="27777" sz="1050" spc="247">
                <a:latin typeface="Cambria"/>
                <a:cs typeface="Cambria"/>
              </a:rPr>
              <a:t> </a:t>
            </a:r>
            <a:r>
              <a:rPr dirty="0" sz="1000" spc="120">
                <a:latin typeface="Cambria"/>
                <a:cs typeface="Cambria"/>
              </a:rPr>
              <a:t>= </a:t>
            </a:r>
            <a:r>
              <a:rPr dirty="0" sz="1000">
                <a:latin typeface="Cambria"/>
                <a:cs typeface="Cambria"/>
              </a:rPr>
              <a:t>𝑧</a:t>
            </a:r>
            <a:r>
              <a:rPr dirty="0" baseline="27777" sz="1050">
                <a:latin typeface="Cambria"/>
                <a:cs typeface="Cambria"/>
              </a:rPr>
              <a:t>𝑚</a:t>
            </a:r>
            <a:r>
              <a:rPr dirty="0" baseline="20202" sz="825">
                <a:latin typeface="Cambria"/>
                <a:cs typeface="Cambria"/>
              </a:rPr>
              <a:t>1</a:t>
            </a:r>
            <a:r>
              <a:rPr dirty="0" baseline="20202" sz="825" spc="345">
                <a:latin typeface="Cambria"/>
                <a:cs typeface="Cambria"/>
              </a:rPr>
              <a:t> </a:t>
            </a:r>
            <a:r>
              <a:rPr dirty="0" sz="1000" spc="-50">
                <a:latin typeface="SimSun"/>
                <a:cs typeface="SimSun"/>
              </a:rPr>
              <a:t>，我们可以得到普通单模态模型的分类结果。在普通单模态模型中</a:t>
            </a:r>
            <a:r>
              <a:rPr dirty="0" sz="1000" spc="25">
                <a:latin typeface="SimSun"/>
                <a:cs typeface="SimSun"/>
              </a:rPr>
              <a:t>传递回编码器</a:t>
            </a:r>
            <a:r>
              <a:rPr dirty="0" sz="1000" spc="-10">
                <a:latin typeface="Cambria"/>
                <a:cs typeface="Cambria"/>
              </a:rPr>
              <a:t>𝜑</a:t>
            </a:r>
            <a:r>
              <a:rPr dirty="0" baseline="-15873" sz="1050" spc="-15">
                <a:latin typeface="Cambria"/>
                <a:cs typeface="Cambria"/>
              </a:rPr>
              <a:t>1</a:t>
            </a:r>
            <a:r>
              <a:rPr dirty="0" baseline="-15873" sz="1050" spc="-7">
                <a:latin typeface="Cambria"/>
                <a:cs typeface="Cambria"/>
              </a:rPr>
              <a:t> </a:t>
            </a:r>
            <a:r>
              <a:rPr dirty="0" sz="1000" spc="-10">
                <a:latin typeface="Cambria"/>
                <a:cs typeface="Cambria"/>
              </a:rPr>
              <a:t>(𝜃</a:t>
            </a:r>
            <a:r>
              <a:rPr dirty="0" baseline="-15873" sz="1050" spc="-15">
                <a:latin typeface="Cambria"/>
                <a:cs typeface="Cambria"/>
              </a:rPr>
              <a:t>1</a:t>
            </a:r>
            <a:r>
              <a:rPr dirty="0" sz="1000" spc="-25">
                <a:latin typeface="Cambria"/>
                <a:cs typeface="Cambria"/>
              </a:rPr>
              <a:t>, ⋅) </a:t>
            </a:r>
            <a:r>
              <a:rPr dirty="0" sz="1000" spc="65">
                <a:latin typeface="SimSun"/>
                <a:cs typeface="SimSun"/>
              </a:rPr>
              <a:t>的梯度</a:t>
            </a:r>
            <a:r>
              <a:rPr dirty="0" sz="1000" spc="-90">
                <a:latin typeface="Cambria"/>
                <a:cs typeface="Cambria"/>
              </a:rPr>
              <a:t>𝑔</a:t>
            </a:r>
            <a:r>
              <a:rPr dirty="0" baseline="-23809" sz="1050" spc="-135">
                <a:latin typeface="Cambria"/>
                <a:cs typeface="Cambria"/>
              </a:rPr>
              <a:t>𝜃</a:t>
            </a:r>
            <a:r>
              <a:rPr dirty="0" baseline="31746" sz="1050" spc="-135">
                <a:latin typeface="Cambria"/>
                <a:cs typeface="Cambria"/>
              </a:rPr>
              <a:t>𝑈</a:t>
            </a:r>
            <a:r>
              <a:rPr dirty="0" baseline="-45454" sz="825" spc="-135">
                <a:latin typeface="Cambria"/>
                <a:cs typeface="Cambria"/>
              </a:rPr>
              <a:t>1</a:t>
            </a:r>
            <a:r>
              <a:rPr dirty="0" baseline="31746" sz="1050" spc="-135">
                <a:latin typeface="Cambria"/>
                <a:cs typeface="Cambria"/>
              </a:rPr>
              <a:t>𝑛𝑖</a:t>
            </a:r>
            <a:r>
              <a:rPr dirty="0" baseline="31746" sz="1050" spc="142">
                <a:latin typeface="Cambria"/>
                <a:cs typeface="Cambria"/>
              </a:rPr>
              <a:t> </a:t>
            </a:r>
            <a:r>
              <a:rPr dirty="0" sz="1000" spc="-20">
                <a:latin typeface="SimSun"/>
                <a:cs typeface="SimSun"/>
              </a:rPr>
              <a:t>可以表示如下，</a:t>
            </a:r>
            <a:endParaRPr sz="1000">
              <a:latin typeface="SimSun"/>
              <a:cs typeface="SimSun"/>
            </a:endParaRPr>
          </a:p>
        </p:txBody>
      </p:sp>
      <p:sp>
        <p:nvSpPr>
          <p:cNvPr id="65" name="object 65" descr=""/>
          <p:cNvSpPr txBox="1"/>
          <p:nvPr/>
        </p:nvSpPr>
        <p:spPr>
          <a:xfrm>
            <a:off x="2794825" y="8549480"/>
            <a:ext cx="89535" cy="177800"/>
          </a:xfrm>
          <a:prstGeom prst="rect">
            <a:avLst/>
          </a:prstGeom>
        </p:spPr>
        <p:txBody>
          <a:bodyPr wrap="square" lIns="0" tIns="12065" rIns="0" bIns="0" rtlCol="0" vert="horz">
            <a:spAutoFit/>
          </a:bodyPr>
          <a:lstStyle/>
          <a:p>
            <a:pPr marL="12700">
              <a:lnSpc>
                <a:spcPct val="100000"/>
              </a:lnSpc>
              <a:spcBef>
                <a:spcPts val="95"/>
              </a:spcBef>
            </a:pPr>
            <a:r>
              <a:rPr dirty="0" sz="1000" spc="-65">
                <a:latin typeface="Cambria"/>
                <a:cs typeface="Cambria"/>
              </a:rPr>
              <a:t>𝑔</a:t>
            </a:r>
            <a:endParaRPr sz="1000">
              <a:latin typeface="Cambria"/>
              <a:cs typeface="Cambria"/>
            </a:endParaRPr>
          </a:p>
        </p:txBody>
      </p:sp>
      <p:sp>
        <p:nvSpPr>
          <p:cNvPr id="66" name="object 66" descr=""/>
          <p:cNvSpPr txBox="1"/>
          <p:nvPr/>
        </p:nvSpPr>
        <p:spPr>
          <a:xfrm>
            <a:off x="2858465" y="8538123"/>
            <a:ext cx="196215" cy="132080"/>
          </a:xfrm>
          <a:prstGeom prst="rect">
            <a:avLst/>
          </a:prstGeom>
        </p:spPr>
        <p:txBody>
          <a:bodyPr wrap="square" lIns="0" tIns="12065" rIns="0" bIns="0" rtlCol="0" vert="horz">
            <a:spAutoFit/>
          </a:bodyPr>
          <a:lstStyle/>
          <a:p>
            <a:pPr marL="12700">
              <a:lnSpc>
                <a:spcPct val="100000"/>
              </a:lnSpc>
              <a:spcBef>
                <a:spcPts val="95"/>
              </a:spcBef>
            </a:pPr>
            <a:r>
              <a:rPr dirty="0" sz="700" spc="45">
                <a:latin typeface="Cambria"/>
                <a:cs typeface="Cambria"/>
              </a:rPr>
              <a:t>𝑈𝑛𝑖</a:t>
            </a:r>
            <a:endParaRPr sz="700">
              <a:latin typeface="Cambria"/>
              <a:cs typeface="Cambria"/>
            </a:endParaRPr>
          </a:p>
        </p:txBody>
      </p:sp>
      <p:sp>
        <p:nvSpPr>
          <p:cNvPr id="67" name="object 67" descr=""/>
          <p:cNvSpPr txBox="1"/>
          <p:nvPr/>
        </p:nvSpPr>
        <p:spPr>
          <a:xfrm>
            <a:off x="2833065" y="8625830"/>
            <a:ext cx="167640" cy="132080"/>
          </a:xfrm>
          <a:prstGeom prst="rect">
            <a:avLst/>
          </a:prstGeom>
        </p:spPr>
        <p:txBody>
          <a:bodyPr wrap="square" lIns="0" tIns="12065" rIns="0" bIns="0" rtlCol="0" vert="horz">
            <a:spAutoFit/>
          </a:bodyPr>
          <a:lstStyle/>
          <a:p>
            <a:pPr marL="38100">
              <a:lnSpc>
                <a:spcPct val="100000"/>
              </a:lnSpc>
              <a:spcBef>
                <a:spcPts val="95"/>
              </a:spcBef>
            </a:pPr>
            <a:r>
              <a:rPr dirty="0" sz="700" spc="-25">
                <a:latin typeface="Cambria"/>
                <a:cs typeface="Cambria"/>
              </a:rPr>
              <a:t>𝜃</a:t>
            </a:r>
            <a:r>
              <a:rPr dirty="0" baseline="-15151" sz="825" spc="-37">
                <a:latin typeface="Cambria"/>
                <a:cs typeface="Cambria"/>
              </a:rPr>
              <a:t>1</a:t>
            </a:r>
            <a:endParaRPr baseline="-15151" sz="825">
              <a:latin typeface="Cambria"/>
              <a:cs typeface="Cambria"/>
            </a:endParaRPr>
          </a:p>
        </p:txBody>
      </p:sp>
      <p:sp>
        <p:nvSpPr>
          <p:cNvPr id="68" name="object 68" descr=""/>
          <p:cNvSpPr txBox="1"/>
          <p:nvPr/>
        </p:nvSpPr>
        <p:spPr>
          <a:xfrm>
            <a:off x="3072117" y="8549480"/>
            <a:ext cx="116839" cy="177800"/>
          </a:xfrm>
          <a:prstGeom prst="rect">
            <a:avLst/>
          </a:prstGeom>
        </p:spPr>
        <p:txBody>
          <a:bodyPr wrap="square" lIns="0" tIns="12065" rIns="0" bIns="0" rtlCol="0" vert="horz">
            <a:spAutoFit/>
          </a:bodyPr>
          <a:lstStyle/>
          <a:p>
            <a:pPr marL="12700">
              <a:lnSpc>
                <a:spcPct val="100000"/>
              </a:lnSpc>
              <a:spcBef>
                <a:spcPts val="95"/>
              </a:spcBef>
            </a:pPr>
            <a:r>
              <a:rPr dirty="0" sz="1000" spc="114">
                <a:latin typeface="Cambria"/>
                <a:cs typeface="Cambria"/>
              </a:rPr>
              <a:t>=</a:t>
            </a:r>
            <a:endParaRPr sz="1000">
              <a:latin typeface="Cambria"/>
              <a:cs typeface="Cambria"/>
            </a:endParaRPr>
          </a:p>
        </p:txBody>
      </p:sp>
      <p:sp>
        <p:nvSpPr>
          <p:cNvPr id="69" name="object 69" descr=""/>
          <p:cNvSpPr txBox="1"/>
          <p:nvPr/>
        </p:nvSpPr>
        <p:spPr>
          <a:xfrm>
            <a:off x="3198367" y="8331637"/>
            <a:ext cx="74295" cy="177800"/>
          </a:xfrm>
          <a:prstGeom prst="rect">
            <a:avLst/>
          </a:prstGeom>
        </p:spPr>
        <p:txBody>
          <a:bodyPr wrap="square" lIns="0" tIns="12065" rIns="0" bIns="0" rtlCol="0" vert="horz">
            <a:spAutoFit/>
          </a:bodyPr>
          <a:lstStyle/>
          <a:p>
            <a:pPr marL="12700">
              <a:lnSpc>
                <a:spcPct val="100000"/>
              </a:lnSpc>
              <a:spcBef>
                <a:spcPts val="95"/>
              </a:spcBef>
            </a:pPr>
            <a:r>
              <a:rPr dirty="0" sz="1000" spc="-765">
                <a:latin typeface="Cambria"/>
                <a:cs typeface="Cambria"/>
              </a:rPr>
              <a:t>⎛</a:t>
            </a:r>
            <a:endParaRPr sz="1000">
              <a:latin typeface="Cambria"/>
              <a:cs typeface="Cambria"/>
            </a:endParaRPr>
          </a:p>
        </p:txBody>
      </p:sp>
      <p:sp>
        <p:nvSpPr>
          <p:cNvPr id="70" name="object 70" descr=""/>
          <p:cNvSpPr txBox="1"/>
          <p:nvPr/>
        </p:nvSpPr>
        <p:spPr>
          <a:xfrm>
            <a:off x="3198367" y="8473292"/>
            <a:ext cx="250190" cy="177800"/>
          </a:xfrm>
          <a:prstGeom prst="rect">
            <a:avLst/>
          </a:prstGeom>
        </p:spPr>
        <p:txBody>
          <a:bodyPr wrap="square" lIns="0" tIns="12065" rIns="0" bIns="0" rtlCol="0" vert="horz">
            <a:spAutoFit/>
          </a:bodyPr>
          <a:lstStyle/>
          <a:p>
            <a:pPr marL="12700">
              <a:lnSpc>
                <a:spcPct val="100000"/>
              </a:lnSpc>
              <a:spcBef>
                <a:spcPts val="95"/>
              </a:spcBef>
            </a:pPr>
            <a:r>
              <a:rPr dirty="0" sz="1000" spc="-285">
                <a:latin typeface="Cambria"/>
                <a:cs typeface="Cambria"/>
              </a:rPr>
              <a:t>⎜</a:t>
            </a:r>
            <a:r>
              <a:rPr dirty="0" sz="1000" spc="215">
                <a:latin typeface="Cambria"/>
                <a:cs typeface="Cambria"/>
              </a:rPr>
              <a:t>  </a:t>
            </a:r>
            <a:r>
              <a:rPr dirty="0" baseline="2777" sz="1500" spc="-75">
                <a:latin typeface="Cambria"/>
                <a:cs typeface="Cambria"/>
              </a:rPr>
              <a:t>𝑒</a:t>
            </a:r>
            <a:endParaRPr baseline="2777" sz="1500">
              <a:latin typeface="Cambria"/>
              <a:cs typeface="Cambria"/>
            </a:endParaRPr>
          </a:p>
        </p:txBody>
      </p:sp>
      <p:sp>
        <p:nvSpPr>
          <p:cNvPr id="71" name="object 71" descr=""/>
          <p:cNvSpPr txBox="1"/>
          <p:nvPr/>
        </p:nvSpPr>
        <p:spPr>
          <a:xfrm>
            <a:off x="3198367" y="8718415"/>
            <a:ext cx="86995" cy="177800"/>
          </a:xfrm>
          <a:prstGeom prst="rect">
            <a:avLst/>
          </a:prstGeom>
        </p:spPr>
        <p:txBody>
          <a:bodyPr wrap="square" lIns="0" tIns="12065" rIns="0" bIns="0" rtlCol="0" vert="horz">
            <a:spAutoFit/>
          </a:bodyPr>
          <a:lstStyle/>
          <a:p>
            <a:pPr marL="12700">
              <a:lnSpc>
                <a:spcPct val="100000"/>
              </a:lnSpc>
              <a:spcBef>
                <a:spcPts val="95"/>
              </a:spcBef>
            </a:pPr>
            <a:r>
              <a:rPr dirty="0" sz="1000" spc="-335">
                <a:latin typeface="Cambria"/>
                <a:cs typeface="Cambria"/>
              </a:rPr>
              <a:t>⎜</a:t>
            </a:r>
            <a:endParaRPr sz="1000">
              <a:latin typeface="Cambria"/>
              <a:cs typeface="Cambria"/>
            </a:endParaRPr>
          </a:p>
        </p:txBody>
      </p:sp>
      <p:sp>
        <p:nvSpPr>
          <p:cNvPr id="72" name="object 72" descr=""/>
          <p:cNvSpPr txBox="1"/>
          <p:nvPr/>
        </p:nvSpPr>
        <p:spPr>
          <a:xfrm>
            <a:off x="3552075" y="8477231"/>
            <a:ext cx="5841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𝑦</a:t>
            </a:r>
            <a:endParaRPr sz="550">
              <a:latin typeface="Cambria"/>
              <a:cs typeface="Cambria"/>
            </a:endParaRPr>
          </a:p>
        </p:txBody>
      </p:sp>
      <p:sp>
        <p:nvSpPr>
          <p:cNvPr id="73" name="object 73" descr=""/>
          <p:cNvSpPr txBox="1"/>
          <p:nvPr/>
        </p:nvSpPr>
        <p:spPr>
          <a:xfrm>
            <a:off x="3597516" y="8505069"/>
            <a:ext cx="5080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𝑖</a:t>
            </a:r>
            <a:endParaRPr sz="550">
              <a:latin typeface="Cambria"/>
              <a:cs typeface="Cambria"/>
            </a:endParaRPr>
          </a:p>
        </p:txBody>
      </p:sp>
      <p:sp>
        <p:nvSpPr>
          <p:cNvPr id="74" name="object 74" descr=""/>
          <p:cNvSpPr txBox="1"/>
          <p:nvPr/>
        </p:nvSpPr>
        <p:spPr>
          <a:xfrm>
            <a:off x="3560927" y="8403329"/>
            <a:ext cx="276225" cy="109220"/>
          </a:xfrm>
          <a:prstGeom prst="rect">
            <a:avLst/>
          </a:prstGeom>
        </p:spPr>
        <p:txBody>
          <a:bodyPr wrap="square" lIns="0" tIns="12065" rIns="0" bIns="0" rtlCol="0" vert="horz">
            <a:spAutoFit/>
          </a:bodyPr>
          <a:lstStyle/>
          <a:p>
            <a:pPr marL="12700">
              <a:lnSpc>
                <a:spcPct val="100000"/>
              </a:lnSpc>
              <a:spcBef>
                <a:spcPts val="95"/>
              </a:spcBef>
            </a:pPr>
            <a:r>
              <a:rPr dirty="0" sz="550" spc="110">
                <a:latin typeface="Cambria"/>
                <a:cs typeface="Cambria"/>
              </a:rPr>
              <a:t>𝑚</a:t>
            </a:r>
            <a:r>
              <a:rPr dirty="0" sz="550" spc="295">
                <a:latin typeface="Cambria"/>
                <a:cs typeface="Cambria"/>
              </a:rPr>
              <a:t>  </a:t>
            </a:r>
            <a:r>
              <a:rPr dirty="0" sz="550" spc="60">
                <a:latin typeface="Cambria"/>
                <a:cs typeface="Cambria"/>
              </a:rPr>
              <a:t>𝑚</a:t>
            </a:r>
            <a:endParaRPr sz="550">
              <a:latin typeface="Cambria"/>
              <a:cs typeface="Cambria"/>
            </a:endParaRPr>
          </a:p>
        </p:txBody>
      </p:sp>
      <p:sp>
        <p:nvSpPr>
          <p:cNvPr id="75" name="object 75" descr=""/>
          <p:cNvSpPr txBox="1"/>
          <p:nvPr/>
        </p:nvSpPr>
        <p:spPr>
          <a:xfrm>
            <a:off x="3634066" y="8425669"/>
            <a:ext cx="241935" cy="109220"/>
          </a:xfrm>
          <a:prstGeom prst="rect">
            <a:avLst/>
          </a:prstGeom>
        </p:spPr>
        <p:txBody>
          <a:bodyPr wrap="square" lIns="0" tIns="12065" rIns="0" bIns="0" rtlCol="0" vert="horz">
            <a:spAutoFit/>
          </a:bodyPr>
          <a:lstStyle/>
          <a:p>
            <a:pPr marL="12700">
              <a:lnSpc>
                <a:spcPct val="100000"/>
              </a:lnSpc>
              <a:spcBef>
                <a:spcPts val="95"/>
              </a:spcBef>
              <a:tabLst>
                <a:tab pos="189865" algn="l"/>
              </a:tabLst>
            </a:pPr>
            <a:r>
              <a:rPr dirty="0" sz="550" spc="-50">
                <a:latin typeface="Cambria"/>
                <a:cs typeface="Cambria"/>
              </a:rPr>
              <a:t>1</a:t>
            </a:r>
            <a:r>
              <a:rPr dirty="0" sz="550">
                <a:latin typeface="Cambria"/>
                <a:cs typeface="Cambria"/>
              </a:rPr>
              <a:t>	</a:t>
            </a:r>
            <a:r>
              <a:rPr dirty="0" sz="550" spc="-50">
                <a:latin typeface="Cambria"/>
                <a:cs typeface="Cambria"/>
              </a:rPr>
              <a:t>1</a:t>
            </a:r>
            <a:endParaRPr sz="550">
              <a:latin typeface="Cambria"/>
              <a:cs typeface="Cambria"/>
            </a:endParaRPr>
          </a:p>
        </p:txBody>
      </p:sp>
      <p:sp>
        <p:nvSpPr>
          <p:cNvPr id="76" name="object 76" descr=""/>
          <p:cNvSpPr txBox="1"/>
          <p:nvPr/>
        </p:nvSpPr>
        <p:spPr>
          <a:xfrm>
            <a:off x="3737483" y="8492407"/>
            <a:ext cx="38100" cy="109220"/>
          </a:xfrm>
          <a:prstGeom prst="rect">
            <a:avLst/>
          </a:prstGeom>
        </p:spPr>
        <p:txBody>
          <a:bodyPr wrap="square" lIns="0" tIns="12065" rIns="0" bIns="0" rtlCol="0" vert="horz">
            <a:spAutoFit/>
          </a:bodyPr>
          <a:lstStyle/>
          <a:p>
            <a:pPr algn="ctr" marR="3810">
              <a:lnSpc>
                <a:spcPct val="100000"/>
              </a:lnSpc>
              <a:spcBef>
                <a:spcPts val="95"/>
              </a:spcBef>
            </a:pPr>
            <a:r>
              <a:rPr dirty="0" sz="550" spc="-50">
                <a:latin typeface="Cambria"/>
                <a:cs typeface="Cambria"/>
              </a:rPr>
              <a:t>𝑖</a:t>
            </a:r>
            <a:endParaRPr sz="550">
              <a:latin typeface="Cambria"/>
              <a:cs typeface="Cambria"/>
            </a:endParaRPr>
          </a:p>
        </p:txBody>
      </p:sp>
      <p:sp>
        <p:nvSpPr>
          <p:cNvPr id="77" name="object 77" descr=""/>
          <p:cNvSpPr txBox="1"/>
          <p:nvPr/>
        </p:nvSpPr>
        <p:spPr>
          <a:xfrm>
            <a:off x="3984015" y="8477929"/>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78" name="object 78" descr=""/>
          <p:cNvSpPr txBox="1"/>
          <p:nvPr/>
        </p:nvSpPr>
        <p:spPr>
          <a:xfrm>
            <a:off x="3422942" y="8441413"/>
            <a:ext cx="669925" cy="132080"/>
          </a:xfrm>
          <a:prstGeom prst="rect">
            <a:avLst/>
          </a:prstGeom>
        </p:spPr>
        <p:txBody>
          <a:bodyPr wrap="square" lIns="0" tIns="12065" rIns="0" bIns="0" rtlCol="0" vert="horz">
            <a:spAutoFit/>
          </a:bodyPr>
          <a:lstStyle/>
          <a:p>
            <a:pPr marL="12700">
              <a:lnSpc>
                <a:spcPct val="100000"/>
              </a:lnSpc>
              <a:spcBef>
                <a:spcPts val="95"/>
              </a:spcBef>
              <a:tabLst>
                <a:tab pos="274955" algn="l"/>
              </a:tabLst>
            </a:pPr>
            <a:r>
              <a:rPr dirty="0" sz="700" spc="-25">
                <a:latin typeface="Cambria"/>
                <a:cs typeface="Cambria"/>
              </a:rPr>
              <a:t>(𝑊</a:t>
            </a:r>
            <a:r>
              <a:rPr dirty="0" sz="700">
                <a:latin typeface="Cambria"/>
                <a:cs typeface="Cambria"/>
              </a:rPr>
              <a:t>	</a:t>
            </a:r>
            <a:r>
              <a:rPr dirty="0" sz="700" spc="65">
                <a:latin typeface="Cambria"/>
                <a:cs typeface="Cambria"/>
              </a:rPr>
              <a:t>𝑧</a:t>
            </a:r>
            <a:r>
              <a:rPr dirty="0" sz="700" spc="330">
                <a:latin typeface="Cambria"/>
                <a:cs typeface="Cambria"/>
              </a:rPr>
              <a:t>  </a:t>
            </a:r>
            <a:r>
              <a:rPr dirty="0" sz="700" spc="90">
                <a:latin typeface="Cambria"/>
                <a:cs typeface="Cambria"/>
              </a:rPr>
              <a:t>+𝑏</a:t>
            </a:r>
            <a:r>
              <a:rPr dirty="0" sz="700" spc="200">
                <a:latin typeface="Cambria"/>
                <a:cs typeface="Cambria"/>
              </a:rPr>
              <a:t> </a:t>
            </a:r>
            <a:r>
              <a:rPr dirty="0" sz="700" spc="-50">
                <a:latin typeface="Cambria"/>
                <a:cs typeface="Cambria"/>
              </a:rPr>
              <a:t>)</a:t>
            </a:r>
            <a:endParaRPr sz="700">
              <a:latin typeface="Cambria"/>
              <a:cs typeface="Cambria"/>
            </a:endParaRPr>
          </a:p>
        </p:txBody>
      </p:sp>
      <p:sp>
        <p:nvSpPr>
          <p:cNvPr id="79" name="object 79" descr=""/>
          <p:cNvSpPr/>
          <p:nvPr/>
        </p:nvSpPr>
        <p:spPr>
          <a:xfrm>
            <a:off x="3287496" y="8656066"/>
            <a:ext cx="893444" cy="0"/>
          </a:xfrm>
          <a:custGeom>
            <a:avLst/>
            <a:gdLst/>
            <a:ahLst/>
            <a:cxnLst/>
            <a:rect l="l" t="t" r="r" b="b"/>
            <a:pathLst>
              <a:path w="893445" h="0">
                <a:moveTo>
                  <a:pt x="0" y="0"/>
                </a:moveTo>
                <a:lnTo>
                  <a:pt x="893229" y="0"/>
                </a:lnTo>
              </a:path>
            </a:pathLst>
          </a:custGeom>
          <a:ln w="8602">
            <a:solidFill>
              <a:srgbClr val="000000"/>
            </a:solidFill>
          </a:ln>
        </p:spPr>
        <p:txBody>
          <a:bodyPr wrap="square" lIns="0" tIns="0" rIns="0" bIns="0" rtlCol="0"/>
          <a:lstStyle/>
          <a:p/>
        </p:txBody>
      </p:sp>
      <p:sp>
        <p:nvSpPr>
          <p:cNvPr id="80" name="object 80" descr=""/>
          <p:cNvSpPr txBox="1"/>
          <p:nvPr/>
        </p:nvSpPr>
        <p:spPr>
          <a:xfrm>
            <a:off x="3320618" y="8659320"/>
            <a:ext cx="96520"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Cambria"/>
                <a:cs typeface="Cambria"/>
              </a:rPr>
              <a:t>𝐾</a:t>
            </a:r>
            <a:endParaRPr sz="700">
              <a:latin typeface="Cambria"/>
              <a:cs typeface="Cambria"/>
            </a:endParaRPr>
          </a:p>
        </p:txBody>
      </p:sp>
      <p:sp>
        <p:nvSpPr>
          <p:cNvPr id="81" name="object 81" descr=""/>
          <p:cNvSpPr txBox="1"/>
          <p:nvPr/>
        </p:nvSpPr>
        <p:spPr>
          <a:xfrm>
            <a:off x="3299536" y="8758255"/>
            <a:ext cx="243840" cy="177800"/>
          </a:xfrm>
          <a:prstGeom prst="rect">
            <a:avLst/>
          </a:prstGeom>
        </p:spPr>
        <p:txBody>
          <a:bodyPr wrap="square" lIns="0" tIns="12065" rIns="0" bIns="0" rtlCol="0" vert="horz">
            <a:spAutoFit/>
          </a:bodyPr>
          <a:lstStyle/>
          <a:p>
            <a:pPr marL="12700">
              <a:lnSpc>
                <a:spcPct val="100000"/>
              </a:lnSpc>
              <a:spcBef>
                <a:spcPts val="95"/>
              </a:spcBef>
            </a:pPr>
            <a:r>
              <a:rPr dirty="0" sz="1000" spc="210">
                <a:latin typeface="Cambria"/>
                <a:cs typeface="Cambria"/>
              </a:rPr>
              <a:t>∑</a:t>
            </a:r>
            <a:r>
              <a:rPr dirty="0" sz="1000" spc="145">
                <a:latin typeface="Cambria"/>
                <a:cs typeface="Cambria"/>
              </a:rPr>
              <a:t> </a:t>
            </a:r>
            <a:r>
              <a:rPr dirty="0" sz="1000" spc="-50">
                <a:latin typeface="Cambria"/>
                <a:cs typeface="Cambria"/>
              </a:rPr>
              <a:t>𝑒</a:t>
            </a:r>
            <a:endParaRPr sz="1000">
              <a:latin typeface="Cambria"/>
              <a:cs typeface="Cambria"/>
            </a:endParaRPr>
          </a:p>
        </p:txBody>
      </p:sp>
      <p:sp>
        <p:nvSpPr>
          <p:cNvPr id="82" name="object 82" descr=""/>
          <p:cNvSpPr txBox="1"/>
          <p:nvPr/>
        </p:nvSpPr>
        <p:spPr>
          <a:xfrm>
            <a:off x="3646589" y="8781789"/>
            <a:ext cx="6096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𝑘</a:t>
            </a:r>
            <a:endParaRPr sz="550">
              <a:latin typeface="Cambria"/>
              <a:cs typeface="Cambria"/>
            </a:endParaRPr>
          </a:p>
        </p:txBody>
      </p:sp>
      <p:sp>
        <p:nvSpPr>
          <p:cNvPr id="83" name="object 83" descr=""/>
          <p:cNvSpPr txBox="1"/>
          <p:nvPr/>
        </p:nvSpPr>
        <p:spPr>
          <a:xfrm>
            <a:off x="3655440" y="8691950"/>
            <a:ext cx="276225" cy="109220"/>
          </a:xfrm>
          <a:prstGeom prst="rect">
            <a:avLst/>
          </a:prstGeom>
        </p:spPr>
        <p:txBody>
          <a:bodyPr wrap="square" lIns="0" tIns="12065" rIns="0" bIns="0" rtlCol="0" vert="horz">
            <a:spAutoFit/>
          </a:bodyPr>
          <a:lstStyle/>
          <a:p>
            <a:pPr marL="12700">
              <a:lnSpc>
                <a:spcPct val="100000"/>
              </a:lnSpc>
              <a:spcBef>
                <a:spcPts val="95"/>
              </a:spcBef>
            </a:pPr>
            <a:r>
              <a:rPr dirty="0" sz="550" spc="110">
                <a:latin typeface="Cambria"/>
                <a:cs typeface="Cambria"/>
              </a:rPr>
              <a:t>𝑚</a:t>
            </a:r>
            <a:r>
              <a:rPr dirty="0" sz="550" spc="295">
                <a:latin typeface="Cambria"/>
                <a:cs typeface="Cambria"/>
              </a:rPr>
              <a:t>  </a:t>
            </a:r>
            <a:r>
              <a:rPr dirty="0" sz="550" spc="60">
                <a:latin typeface="Cambria"/>
                <a:cs typeface="Cambria"/>
              </a:rPr>
              <a:t>𝑚</a:t>
            </a:r>
            <a:endParaRPr sz="550">
              <a:latin typeface="Cambria"/>
              <a:cs typeface="Cambria"/>
            </a:endParaRPr>
          </a:p>
        </p:txBody>
      </p:sp>
      <p:sp>
        <p:nvSpPr>
          <p:cNvPr id="84" name="object 84" descr=""/>
          <p:cNvSpPr txBox="1"/>
          <p:nvPr/>
        </p:nvSpPr>
        <p:spPr>
          <a:xfrm>
            <a:off x="3728580" y="8714289"/>
            <a:ext cx="241935" cy="109220"/>
          </a:xfrm>
          <a:prstGeom prst="rect">
            <a:avLst/>
          </a:prstGeom>
        </p:spPr>
        <p:txBody>
          <a:bodyPr wrap="square" lIns="0" tIns="12065" rIns="0" bIns="0" rtlCol="0" vert="horz">
            <a:spAutoFit/>
          </a:bodyPr>
          <a:lstStyle/>
          <a:p>
            <a:pPr marL="12700">
              <a:lnSpc>
                <a:spcPct val="100000"/>
              </a:lnSpc>
              <a:spcBef>
                <a:spcPts val="95"/>
              </a:spcBef>
              <a:tabLst>
                <a:tab pos="189865" algn="l"/>
              </a:tabLst>
            </a:pPr>
            <a:r>
              <a:rPr dirty="0" sz="550" spc="-50">
                <a:latin typeface="Cambria"/>
                <a:cs typeface="Cambria"/>
              </a:rPr>
              <a:t>1</a:t>
            </a:r>
            <a:r>
              <a:rPr dirty="0" sz="550">
                <a:latin typeface="Cambria"/>
                <a:cs typeface="Cambria"/>
              </a:rPr>
              <a:t>	</a:t>
            </a:r>
            <a:r>
              <a:rPr dirty="0" sz="550" spc="-50">
                <a:latin typeface="Cambria"/>
                <a:cs typeface="Cambria"/>
              </a:rPr>
              <a:t>1</a:t>
            </a:r>
            <a:endParaRPr sz="550">
              <a:latin typeface="Cambria"/>
              <a:cs typeface="Cambria"/>
            </a:endParaRPr>
          </a:p>
        </p:txBody>
      </p:sp>
      <p:sp>
        <p:nvSpPr>
          <p:cNvPr id="85" name="object 85" descr=""/>
          <p:cNvSpPr txBox="1"/>
          <p:nvPr/>
        </p:nvSpPr>
        <p:spPr>
          <a:xfrm>
            <a:off x="3806596" y="8775528"/>
            <a:ext cx="361950" cy="109220"/>
          </a:xfrm>
          <a:prstGeom prst="rect">
            <a:avLst/>
          </a:prstGeom>
        </p:spPr>
        <p:txBody>
          <a:bodyPr wrap="square" lIns="0" tIns="12065" rIns="0" bIns="0" rtlCol="0" vert="horz">
            <a:spAutoFit/>
          </a:bodyPr>
          <a:lstStyle/>
          <a:p>
            <a:pPr marL="38100">
              <a:lnSpc>
                <a:spcPct val="100000"/>
              </a:lnSpc>
              <a:spcBef>
                <a:spcPts val="95"/>
              </a:spcBef>
              <a:tabLst>
                <a:tab pos="284480" algn="l"/>
              </a:tabLst>
            </a:pPr>
            <a:r>
              <a:rPr dirty="0" sz="550" spc="-50">
                <a:latin typeface="Cambria"/>
                <a:cs typeface="Cambria"/>
              </a:rPr>
              <a:t>1</a:t>
            </a:r>
            <a:r>
              <a:rPr dirty="0" sz="550">
                <a:latin typeface="Cambria"/>
                <a:cs typeface="Cambria"/>
              </a:rPr>
              <a:t>	</a:t>
            </a:r>
            <a:r>
              <a:rPr dirty="0" baseline="5050" sz="825" spc="-75">
                <a:latin typeface="Cambria"/>
                <a:cs typeface="Cambria"/>
              </a:rPr>
              <a:t>1</a:t>
            </a:r>
            <a:endParaRPr baseline="5050" sz="825">
              <a:latin typeface="Cambria"/>
              <a:cs typeface="Cambria"/>
            </a:endParaRPr>
          </a:p>
        </p:txBody>
      </p:sp>
      <p:sp>
        <p:nvSpPr>
          <p:cNvPr id="86" name="object 86" descr=""/>
          <p:cNvSpPr txBox="1"/>
          <p:nvPr/>
        </p:nvSpPr>
        <p:spPr>
          <a:xfrm>
            <a:off x="3517455" y="8730033"/>
            <a:ext cx="669925" cy="132080"/>
          </a:xfrm>
          <a:prstGeom prst="rect">
            <a:avLst/>
          </a:prstGeom>
        </p:spPr>
        <p:txBody>
          <a:bodyPr wrap="square" lIns="0" tIns="12065" rIns="0" bIns="0" rtlCol="0" vert="horz">
            <a:spAutoFit/>
          </a:bodyPr>
          <a:lstStyle/>
          <a:p>
            <a:pPr marL="12700">
              <a:lnSpc>
                <a:spcPct val="100000"/>
              </a:lnSpc>
              <a:spcBef>
                <a:spcPts val="95"/>
              </a:spcBef>
              <a:tabLst>
                <a:tab pos="274955" algn="l"/>
              </a:tabLst>
            </a:pPr>
            <a:r>
              <a:rPr dirty="0" sz="700" spc="-25">
                <a:latin typeface="Cambria"/>
                <a:cs typeface="Cambria"/>
              </a:rPr>
              <a:t>(𝑊</a:t>
            </a:r>
            <a:r>
              <a:rPr dirty="0" sz="700">
                <a:latin typeface="Cambria"/>
                <a:cs typeface="Cambria"/>
              </a:rPr>
              <a:t>	</a:t>
            </a:r>
            <a:r>
              <a:rPr dirty="0" sz="700" spc="65">
                <a:latin typeface="Cambria"/>
                <a:cs typeface="Cambria"/>
              </a:rPr>
              <a:t>𝑧</a:t>
            </a:r>
            <a:r>
              <a:rPr dirty="0" sz="700" spc="330">
                <a:latin typeface="Cambria"/>
                <a:cs typeface="Cambria"/>
              </a:rPr>
              <a:t>  </a:t>
            </a:r>
            <a:r>
              <a:rPr dirty="0" sz="700" spc="90">
                <a:latin typeface="Cambria"/>
                <a:cs typeface="Cambria"/>
              </a:rPr>
              <a:t>+𝑏</a:t>
            </a:r>
            <a:r>
              <a:rPr dirty="0" sz="700" spc="204">
                <a:latin typeface="Cambria"/>
                <a:cs typeface="Cambria"/>
              </a:rPr>
              <a:t> </a:t>
            </a:r>
            <a:r>
              <a:rPr dirty="0" sz="700" spc="-50">
                <a:latin typeface="Cambria"/>
                <a:cs typeface="Cambria"/>
              </a:rPr>
              <a:t>)</a:t>
            </a:r>
            <a:endParaRPr sz="700">
              <a:latin typeface="Cambria"/>
              <a:cs typeface="Cambria"/>
            </a:endParaRPr>
          </a:p>
        </p:txBody>
      </p:sp>
      <p:sp>
        <p:nvSpPr>
          <p:cNvPr id="87" name="object 87" descr=""/>
          <p:cNvSpPr txBox="1"/>
          <p:nvPr/>
        </p:nvSpPr>
        <p:spPr>
          <a:xfrm>
            <a:off x="4393171" y="8718415"/>
            <a:ext cx="86995" cy="177800"/>
          </a:xfrm>
          <a:prstGeom prst="rect">
            <a:avLst/>
          </a:prstGeom>
        </p:spPr>
        <p:txBody>
          <a:bodyPr wrap="square" lIns="0" tIns="12065" rIns="0" bIns="0" rtlCol="0" vert="horz">
            <a:spAutoFit/>
          </a:bodyPr>
          <a:lstStyle/>
          <a:p>
            <a:pPr marL="12700">
              <a:lnSpc>
                <a:spcPct val="100000"/>
              </a:lnSpc>
              <a:spcBef>
                <a:spcPts val="95"/>
              </a:spcBef>
            </a:pPr>
            <a:r>
              <a:rPr dirty="0" sz="1000" spc="-335">
                <a:latin typeface="Cambria"/>
                <a:cs typeface="Cambria"/>
              </a:rPr>
              <a:t>⎟</a:t>
            </a:r>
            <a:endParaRPr sz="1000">
              <a:latin typeface="Cambria"/>
              <a:cs typeface="Cambria"/>
            </a:endParaRPr>
          </a:p>
        </p:txBody>
      </p:sp>
      <p:sp>
        <p:nvSpPr>
          <p:cNvPr id="88" name="object 88" descr=""/>
          <p:cNvSpPr txBox="1"/>
          <p:nvPr/>
        </p:nvSpPr>
        <p:spPr>
          <a:xfrm>
            <a:off x="4211332" y="8549480"/>
            <a:ext cx="405130" cy="177800"/>
          </a:xfrm>
          <a:prstGeom prst="rect">
            <a:avLst/>
          </a:prstGeom>
        </p:spPr>
        <p:txBody>
          <a:bodyPr wrap="square" lIns="0" tIns="12065" rIns="0" bIns="0" rtlCol="0" vert="horz">
            <a:spAutoFit/>
          </a:bodyPr>
          <a:lstStyle/>
          <a:p>
            <a:pPr marL="12700">
              <a:lnSpc>
                <a:spcPct val="100000"/>
              </a:lnSpc>
              <a:spcBef>
                <a:spcPts val="95"/>
              </a:spcBef>
            </a:pPr>
            <a:r>
              <a:rPr dirty="0" sz="1000" spc="165">
                <a:latin typeface="Cambria"/>
                <a:cs typeface="Cambria"/>
              </a:rPr>
              <a:t>−</a:t>
            </a:r>
            <a:r>
              <a:rPr dirty="0" sz="1000" spc="-20">
                <a:latin typeface="Cambria"/>
                <a:cs typeface="Cambria"/>
              </a:rPr>
              <a:t> </a:t>
            </a:r>
            <a:r>
              <a:rPr dirty="0" sz="1000">
                <a:latin typeface="Cambria"/>
                <a:cs typeface="Cambria"/>
              </a:rPr>
              <a:t>1</a:t>
            </a:r>
            <a:r>
              <a:rPr dirty="0" sz="1000" spc="390">
                <a:latin typeface="Cambria"/>
                <a:cs typeface="Cambria"/>
              </a:rPr>
              <a:t> </a:t>
            </a:r>
            <a:r>
              <a:rPr dirty="0" sz="1000" spc="-60">
                <a:latin typeface="Cambria"/>
                <a:cs typeface="Cambria"/>
              </a:rPr>
              <a:t>𝑊</a:t>
            </a:r>
            <a:endParaRPr sz="1000">
              <a:latin typeface="Cambria"/>
              <a:cs typeface="Cambria"/>
            </a:endParaRPr>
          </a:p>
        </p:txBody>
      </p:sp>
      <p:sp>
        <p:nvSpPr>
          <p:cNvPr id="89" name="object 89" descr=""/>
          <p:cNvSpPr txBox="1"/>
          <p:nvPr/>
        </p:nvSpPr>
        <p:spPr>
          <a:xfrm>
            <a:off x="4367771" y="8482805"/>
            <a:ext cx="410209" cy="177800"/>
          </a:xfrm>
          <a:prstGeom prst="rect">
            <a:avLst/>
          </a:prstGeom>
        </p:spPr>
        <p:txBody>
          <a:bodyPr wrap="square" lIns="0" tIns="12065" rIns="0" bIns="0" rtlCol="0" vert="horz">
            <a:spAutoFit/>
          </a:bodyPr>
          <a:lstStyle/>
          <a:p>
            <a:pPr marL="38100">
              <a:lnSpc>
                <a:spcPct val="100000"/>
              </a:lnSpc>
              <a:spcBef>
                <a:spcPts val="95"/>
              </a:spcBef>
              <a:tabLst>
                <a:tab pos="248285" algn="l"/>
              </a:tabLst>
            </a:pPr>
            <a:r>
              <a:rPr dirty="0" baseline="66666" sz="1500" spc="-1447">
                <a:latin typeface="Cambria"/>
                <a:cs typeface="Cambria"/>
              </a:rPr>
              <a:t>⎞</a:t>
            </a:r>
            <a:r>
              <a:rPr dirty="0" baseline="2777" sz="1500" spc="-292">
                <a:latin typeface="Cambria"/>
                <a:cs typeface="Cambria"/>
              </a:rPr>
              <a:t>⎟</a:t>
            </a:r>
            <a:r>
              <a:rPr dirty="0" baseline="2777" sz="1500">
                <a:latin typeface="Cambria"/>
                <a:cs typeface="Cambria"/>
              </a:rPr>
              <a:t>	</a:t>
            </a:r>
            <a:r>
              <a:rPr dirty="0" sz="700" spc="-25">
                <a:latin typeface="Cambria"/>
                <a:cs typeface="Cambria"/>
              </a:rPr>
              <a:t>𝑚</a:t>
            </a:r>
            <a:r>
              <a:rPr dirty="0" baseline="-15151" sz="825" spc="-37">
                <a:latin typeface="Cambria"/>
                <a:cs typeface="Cambria"/>
              </a:rPr>
              <a:t>1</a:t>
            </a:r>
            <a:endParaRPr baseline="-15151" sz="825">
              <a:latin typeface="Cambria"/>
              <a:cs typeface="Cambria"/>
            </a:endParaRPr>
          </a:p>
        </p:txBody>
      </p:sp>
      <p:sp>
        <p:nvSpPr>
          <p:cNvPr id="90" name="object 90" descr=""/>
          <p:cNvSpPr txBox="1"/>
          <p:nvPr/>
        </p:nvSpPr>
        <p:spPr>
          <a:xfrm>
            <a:off x="4580648" y="8604303"/>
            <a:ext cx="781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𝑦</a:t>
            </a:r>
            <a:endParaRPr sz="700">
              <a:latin typeface="Cambria"/>
              <a:cs typeface="Cambria"/>
            </a:endParaRPr>
          </a:p>
        </p:txBody>
      </p:sp>
      <p:sp>
        <p:nvSpPr>
          <p:cNvPr id="91" name="object 91" descr=""/>
          <p:cNvSpPr txBox="1"/>
          <p:nvPr/>
        </p:nvSpPr>
        <p:spPr>
          <a:xfrm>
            <a:off x="4632807" y="8644134"/>
            <a:ext cx="5080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𝑖</a:t>
            </a:r>
            <a:endParaRPr sz="550">
              <a:latin typeface="Cambria"/>
              <a:cs typeface="Cambria"/>
            </a:endParaRPr>
          </a:p>
        </p:txBody>
      </p:sp>
      <p:sp>
        <p:nvSpPr>
          <p:cNvPr id="92" name="object 92" descr=""/>
          <p:cNvSpPr txBox="1"/>
          <p:nvPr/>
        </p:nvSpPr>
        <p:spPr>
          <a:xfrm>
            <a:off x="1140345" y="8827230"/>
            <a:ext cx="3601085" cy="423545"/>
          </a:xfrm>
          <a:prstGeom prst="rect">
            <a:avLst/>
          </a:prstGeom>
        </p:spPr>
        <p:txBody>
          <a:bodyPr wrap="square" lIns="0" tIns="59055" rIns="0" bIns="0" rtlCol="0" vert="horz">
            <a:spAutoFit/>
          </a:bodyPr>
          <a:lstStyle/>
          <a:p>
            <a:pPr marL="2070100">
              <a:lnSpc>
                <a:spcPct val="100000"/>
              </a:lnSpc>
              <a:spcBef>
                <a:spcPts val="465"/>
              </a:spcBef>
              <a:tabLst>
                <a:tab pos="3265170" algn="l"/>
              </a:tabLst>
            </a:pPr>
            <a:r>
              <a:rPr dirty="0" baseline="5555" sz="1500" spc="-30">
                <a:latin typeface="Cambria"/>
                <a:cs typeface="Cambria"/>
              </a:rPr>
              <a:t>⎝</a:t>
            </a:r>
            <a:r>
              <a:rPr dirty="0" sz="700" spc="-20">
                <a:latin typeface="Cambria"/>
                <a:cs typeface="Cambria"/>
              </a:rPr>
              <a:t>𝑘=1</a:t>
            </a:r>
            <a:r>
              <a:rPr dirty="0" sz="700">
                <a:latin typeface="Cambria"/>
                <a:cs typeface="Cambria"/>
              </a:rPr>
              <a:t>	</a:t>
            </a:r>
            <a:r>
              <a:rPr dirty="0" baseline="5555" sz="1500" spc="-502">
                <a:latin typeface="Cambria"/>
                <a:cs typeface="Cambria"/>
              </a:rPr>
              <a:t>⎠</a:t>
            </a:r>
            <a:endParaRPr baseline="5555" sz="1500">
              <a:latin typeface="Cambria"/>
              <a:cs typeface="Cambria"/>
            </a:endParaRPr>
          </a:p>
          <a:p>
            <a:pPr marL="12700">
              <a:lnSpc>
                <a:spcPct val="100000"/>
              </a:lnSpc>
              <a:spcBef>
                <a:spcPts val="370"/>
              </a:spcBef>
            </a:pPr>
            <a:r>
              <a:rPr dirty="0" sz="1000" spc="10">
                <a:latin typeface="Times New Roman"/>
                <a:cs typeface="Times New Roman"/>
              </a:rPr>
              <a:t>According to</a:t>
            </a:r>
            <a:r>
              <a:rPr dirty="0" sz="1000" spc="15">
                <a:latin typeface="Times New Roman"/>
                <a:cs typeface="Times New Roman"/>
              </a:rPr>
              <a:t> </a:t>
            </a:r>
            <a:r>
              <a:rPr dirty="0" sz="1000" spc="10">
                <a:latin typeface="Times New Roman"/>
                <a:cs typeface="Times New Roman"/>
              </a:rPr>
              <a:t>Equation</a:t>
            </a:r>
            <a:r>
              <a:rPr dirty="0" sz="1000" spc="15">
                <a:latin typeface="Times New Roman"/>
                <a:cs typeface="Times New Roman"/>
              </a:rPr>
              <a:t> </a:t>
            </a:r>
            <a:r>
              <a:rPr dirty="0" sz="1000" spc="10">
                <a:latin typeface="Times New Roman"/>
                <a:cs typeface="Times New Roman"/>
              </a:rPr>
              <a:t>5</a:t>
            </a:r>
            <a:r>
              <a:rPr dirty="0" sz="1000" spc="15">
                <a:latin typeface="Times New Roman"/>
                <a:cs typeface="Times New Roman"/>
              </a:rPr>
              <a:t> </a:t>
            </a:r>
            <a:r>
              <a:rPr dirty="0" sz="1000" spc="10">
                <a:latin typeface="Times New Roman"/>
                <a:cs typeface="Times New Roman"/>
              </a:rPr>
              <a:t>and</a:t>
            </a:r>
            <a:r>
              <a:rPr dirty="0" sz="1000" spc="15">
                <a:latin typeface="Times New Roman"/>
                <a:cs typeface="Times New Roman"/>
              </a:rPr>
              <a:t> </a:t>
            </a:r>
            <a:r>
              <a:rPr dirty="0" sz="1000" spc="10">
                <a:latin typeface="Times New Roman"/>
                <a:cs typeface="Times New Roman"/>
              </a:rPr>
              <a:t>6,</a:t>
            </a:r>
            <a:r>
              <a:rPr dirty="0" sz="1000" spc="15">
                <a:latin typeface="Times New Roman"/>
                <a:cs typeface="Times New Roman"/>
              </a:rPr>
              <a:t> </a:t>
            </a:r>
            <a:r>
              <a:rPr dirty="0" sz="1000" spc="10">
                <a:latin typeface="Times New Roman"/>
                <a:cs typeface="Times New Roman"/>
              </a:rPr>
              <a:t>we</a:t>
            </a:r>
            <a:r>
              <a:rPr dirty="0" sz="1000" spc="15">
                <a:latin typeface="Times New Roman"/>
                <a:cs typeface="Times New Roman"/>
              </a:rPr>
              <a:t> </a:t>
            </a:r>
            <a:r>
              <a:rPr dirty="0" sz="1000" spc="10">
                <a:latin typeface="Times New Roman"/>
                <a:cs typeface="Times New Roman"/>
              </a:rPr>
              <a:t>can</a:t>
            </a:r>
            <a:r>
              <a:rPr dirty="0" sz="1000" spc="15">
                <a:latin typeface="Times New Roman"/>
                <a:cs typeface="Times New Roman"/>
              </a:rPr>
              <a:t> </a:t>
            </a:r>
            <a:r>
              <a:rPr dirty="0" sz="1000" spc="10">
                <a:latin typeface="Times New Roman"/>
                <a:cs typeface="Times New Roman"/>
              </a:rPr>
              <a:t>get</a:t>
            </a:r>
            <a:r>
              <a:rPr dirty="0" sz="1000" spc="15">
                <a:latin typeface="Times New Roman"/>
                <a:cs typeface="Times New Roman"/>
              </a:rPr>
              <a:t> </a:t>
            </a:r>
            <a:r>
              <a:rPr dirty="0" sz="1000" spc="10">
                <a:latin typeface="Times New Roman"/>
                <a:cs typeface="Times New Roman"/>
              </a:rPr>
              <a:t>the following</a:t>
            </a:r>
            <a:r>
              <a:rPr dirty="0" sz="1000" spc="15">
                <a:latin typeface="Times New Roman"/>
                <a:cs typeface="Times New Roman"/>
              </a:rPr>
              <a:t> </a:t>
            </a:r>
            <a:r>
              <a:rPr dirty="0" sz="1000" spc="-10">
                <a:latin typeface="Times New Roman"/>
                <a:cs typeface="Times New Roman"/>
              </a:rPr>
              <a:t>inequality,</a:t>
            </a:r>
            <a:endParaRPr sz="1000">
              <a:latin typeface="Times New Roman"/>
              <a:cs typeface="Times New Roman"/>
            </a:endParaRPr>
          </a:p>
        </p:txBody>
      </p:sp>
      <p:sp>
        <p:nvSpPr>
          <p:cNvPr id="93" name="object 93" descr=""/>
          <p:cNvSpPr txBox="1"/>
          <p:nvPr/>
        </p:nvSpPr>
        <p:spPr>
          <a:xfrm>
            <a:off x="6497878" y="8549480"/>
            <a:ext cx="175260" cy="177800"/>
          </a:xfrm>
          <a:prstGeom prst="rect">
            <a:avLst/>
          </a:prstGeom>
        </p:spPr>
        <p:txBody>
          <a:bodyPr wrap="square" lIns="0" tIns="12065" rIns="0" bIns="0" rtlCol="0" vert="horz">
            <a:spAutoFit/>
          </a:bodyPr>
          <a:lstStyle/>
          <a:p>
            <a:pPr marL="12700">
              <a:lnSpc>
                <a:spcPct val="100000"/>
              </a:lnSpc>
              <a:spcBef>
                <a:spcPts val="95"/>
              </a:spcBef>
            </a:pPr>
            <a:r>
              <a:rPr dirty="0" sz="1000" spc="-25">
                <a:latin typeface="Times New Roman"/>
                <a:cs typeface="Times New Roman"/>
              </a:rPr>
              <a:t>(7)</a:t>
            </a:r>
            <a:endParaRPr sz="1000">
              <a:latin typeface="Times New Roman"/>
              <a:cs typeface="Times New Roman"/>
            </a:endParaRPr>
          </a:p>
        </p:txBody>
      </p:sp>
      <p:grpSp>
        <p:nvGrpSpPr>
          <p:cNvPr id="94" name="object 94" descr=""/>
          <p:cNvGrpSpPr/>
          <p:nvPr/>
        </p:nvGrpSpPr>
        <p:grpSpPr>
          <a:xfrm>
            <a:off x="899998" y="9370513"/>
            <a:ext cx="5760085" cy="347980"/>
            <a:chOff x="899998" y="9370513"/>
            <a:chExt cx="5760085" cy="347980"/>
          </a:xfrm>
        </p:grpSpPr>
        <p:sp>
          <p:nvSpPr>
            <p:cNvPr id="95" name="object 95" descr=""/>
            <p:cNvSpPr/>
            <p:nvPr/>
          </p:nvSpPr>
          <p:spPr>
            <a:xfrm>
              <a:off x="899998" y="9370513"/>
              <a:ext cx="5760085" cy="347980"/>
            </a:xfrm>
            <a:custGeom>
              <a:avLst/>
              <a:gdLst/>
              <a:ahLst/>
              <a:cxnLst/>
              <a:rect l="l" t="t" r="r" b="b"/>
              <a:pathLst>
                <a:path w="5760084" h="347979">
                  <a:moveTo>
                    <a:pt x="5724074" y="0"/>
                  </a:moveTo>
                  <a:lnTo>
                    <a:pt x="36000" y="0"/>
                  </a:lnTo>
                  <a:lnTo>
                    <a:pt x="21987" y="2829"/>
                  </a:lnTo>
                  <a:lnTo>
                    <a:pt x="10544" y="10544"/>
                  </a:lnTo>
                  <a:lnTo>
                    <a:pt x="2829" y="21987"/>
                  </a:lnTo>
                  <a:lnTo>
                    <a:pt x="0" y="36000"/>
                  </a:lnTo>
                  <a:lnTo>
                    <a:pt x="0" y="311463"/>
                  </a:lnTo>
                  <a:lnTo>
                    <a:pt x="2829" y="325476"/>
                  </a:lnTo>
                  <a:lnTo>
                    <a:pt x="10544" y="336919"/>
                  </a:lnTo>
                  <a:lnTo>
                    <a:pt x="21987" y="344634"/>
                  </a:lnTo>
                  <a:lnTo>
                    <a:pt x="36000" y="347463"/>
                  </a:lnTo>
                  <a:lnTo>
                    <a:pt x="5724074" y="347463"/>
                  </a:lnTo>
                  <a:lnTo>
                    <a:pt x="5738087" y="344634"/>
                  </a:lnTo>
                  <a:lnTo>
                    <a:pt x="5749530" y="336919"/>
                  </a:lnTo>
                  <a:lnTo>
                    <a:pt x="5757245" y="325476"/>
                  </a:lnTo>
                  <a:lnTo>
                    <a:pt x="5760074" y="31146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96" name="object 96" descr=""/>
            <p:cNvSpPr/>
            <p:nvPr/>
          </p:nvSpPr>
          <p:spPr>
            <a:xfrm>
              <a:off x="899998" y="9370513"/>
              <a:ext cx="5760085" cy="347980"/>
            </a:xfrm>
            <a:custGeom>
              <a:avLst/>
              <a:gdLst/>
              <a:ahLst/>
              <a:cxnLst/>
              <a:rect l="l" t="t" r="r" b="b"/>
              <a:pathLst>
                <a:path w="5760084" h="347979">
                  <a:moveTo>
                    <a:pt x="5724074" y="0"/>
                  </a:moveTo>
                  <a:lnTo>
                    <a:pt x="36000" y="0"/>
                  </a:lnTo>
                  <a:lnTo>
                    <a:pt x="21987" y="2829"/>
                  </a:lnTo>
                  <a:lnTo>
                    <a:pt x="10544" y="10544"/>
                  </a:lnTo>
                  <a:lnTo>
                    <a:pt x="2829" y="21987"/>
                  </a:lnTo>
                  <a:lnTo>
                    <a:pt x="0" y="36000"/>
                  </a:lnTo>
                  <a:lnTo>
                    <a:pt x="0" y="311463"/>
                  </a:lnTo>
                  <a:lnTo>
                    <a:pt x="2829" y="325476"/>
                  </a:lnTo>
                  <a:lnTo>
                    <a:pt x="10544" y="336919"/>
                  </a:lnTo>
                  <a:lnTo>
                    <a:pt x="21987" y="344634"/>
                  </a:lnTo>
                  <a:lnTo>
                    <a:pt x="36000" y="347463"/>
                  </a:lnTo>
                  <a:lnTo>
                    <a:pt x="5724074" y="347463"/>
                  </a:lnTo>
                  <a:lnTo>
                    <a:pt x="5738087" y="344634"/>
                  </a:lnTo>
                  <a:lnTo>
                    <a:pt x="5749530" y="336919"/>
                  </a:lnTo>
                  <a:lnTo>
                    <a:pt x="5757245" y="325476"/>
                  </a:lnTo>
                  <a:lnTo>
                    <a:pt x="5760074" y="31146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97" name="object 97" descr=""/>
          <p:cNvSpPr txBox="1"/>
          <p:nvPr/>
        </p:nvSpPr>
        <p:spPr>
          <a:xfrm>
            <a:off x="1067295" y="9445947"/>
            <a:ext cx="2517775" cy="177800"/>
          </a:xfrm>
          <a:prstGeom prst="rect">
            <a:avLst/>
          </a:prstGeom>
        </p:spPr>
        <p:txBody>
          <a:bodyPr wrap="square" lIns="0" tIns="12065" rIns="0" bIns="0" rtlCol="0" vert="horz">
            <a:spAutoFit/>
          </a:bodyPr>
          <a:lstStyle/>
          <a:p>
            <a:pPr marL="12700">
              <a:lnSpc>
                <a:spcPct val="100000"/>
              </a:lnSpc>
              <a:spcBef>
                <a:spcPts val="95"/>
              </a:spcBef>
            </a:pPr>
            <a:r>
              <a:rPr dirty="0" sz="1000" spc="-65">
                <a:latin typeface="SimSun"/>
                <a:cs typeface="SimSun"/>
              </a:rPr>
              <a:t>根据公式 </a:t>
            </a:r>
            <a:r>
              <a:rPr dirty="0" sz="1000">
                <a:latin typeface="Times New Roman"/>
                <a:cs typeface="Times New Roman"/>
              </a:rPr>
              <a:t>5</a:t>
            </a:r>
            <a:r>
              <a:rPr dirty="0" sz="1000" spc="-30">
                <a:latin typeface="Times New Roman"/>
                <a:cs typeface="Times New Roman"/>
              </a:rPr>
              <a:t> </a:t>
            </a:r>
            <a:r>
              <a:rPr dirty="0" sz="1000" spc="-140">
                <a:latin typeface="SimSun"/>
                <a:cs typeface="SimSun"/>
              </a:rPr>
              <a:t>和 </a:t>
            </a:r>
            <a:r>
              <a:rPr dirty="0" sz="1000" spc="-10">
                <a:latin typeface="Times New Roman"/>
                <a:cs typeface="Times New Roman"/>
              </a:rPr>
              <a:t>6</a:t>
            </a:r>
            <a:r>
              <a:rPr dirty="0" sz="1000" spc="-15">
                <a:latin typeface="SimSun"/>
                <a:cs typeface="SimSun"/>
              </a:rPr>
              <a:t>，我们可以得到以下不等式，</a:t>
            </a:r>
            <a:endParaRPr sz="1000">
              <a:latin typeface="SimSun"/>
              <a:cs typeface="SimSun"/>
            </a:endParaRPr>
          </a:p>
        </p:txBody>
      </p:sp>
      <p:sp>
        <p:nvSpPr>
          <p:cNvPr id="98" name="object 98"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3250553"/>
            <a:ext cx="5760085" cy="1351915"/>
            <a:chOff x="899998" y="3250553"/>
            <a:chExt cx="5760085" cy="1351915"/>
          </a:xfrm>
        </p:grpSpPr>
        <p:sp>
          <p:nvSpPr>
            <p:cNvPr id="3" name="object 3" descr=""/>
            <p:cNvSpPr/>
            <p:nvPr/>
          </p:nvSpPr>
          <p:spPr>
            <a:xfrm>
              <a:off x="899998" y="3250553"/>
              <a:ext cx="5760085" cy="1351915"/>
            </a:xfrm>
            <a:custGeom>
              <a:avLst/>
              <a:gdLst/>
              <a:ahLst/>
              <a:cxnLst/>
              <a:rect l="l" t="t" r="r" b="b"/>
              <a:pathLst>
                <a:path w="5760084" h="1351914">
                  <a:moveTo>
                    <a:pt x="5724074" y="0"/>
                  </a:moveTo>
                  <a:lnTo>
                    <a:pt x="36000" y="0"/>
                  </a:lnTo>
                  <a:lnTo>
                    <a:pt x="21987" y="2829"/>
                  </a:lnTo>
                  <a:lnTo>
                    <a:pt x="10544" y="10544"/>
                  </a:lnTo>
                  <a:lnTo>
                    <a:pt x="2829" y="21987"/>
                  </a:lnTo>
                  <a:lnTo>
                    <a:pt x="0" y="36000"/>
                  </a:lnTo>
                  <a:lnTo>
                    <a:pt x="0" y="1315812"/>
                  </a:lnTo>
                  <a:lnTo>
                    <a:pt x="2829" y="1329825"/>
                  </a:lnTo>
                  <a:lnTo>
                    <a:pt x="10544" y="1341268"/>
                  </a:lnTo>
                  <a:lnTo>
                    <a:pt x="21987" y="1348983"/>
                  </a:lnTo>
                  <a:lnTo>
                    <a:pt x="36000" y="1351812"/>
                  </a:lnTo>
                  <a:lnTo>
                    <a:pt x="5724074" y="1351812"/>
                  </a:lnTo>
                  <a:lnTo>
                    <a:pt x="5738087" y="1348983"/>
                  </a:lnTo>
                  <a:lnTo>
                    <a:pt x="5749530" y="1341268"/>
                  </a:lnTo>
                  <a:lnTo>
                    <a:pt x="5757245" y="1329825"/>
                  </a:lnTo>
                  <a:lnTo>
                    <a:pt x="5760074" y="131581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3250553"/>
              <a:ext cx="5760085" cy="1351915"/>
            </a:xfrm>
            <a:custGeom>
              <a:avLst/>
              <a:gdLst/>
              <a:ahLst/>
              <a:cxnLst/>
              <a:rect l="l" t="t" r="r" b="b"/>
              <a:pathLst>
                <a:path w="5760084" h="1351914">
                  <a:moveTo>
                    <a:pt x="5724074" y="0"/>
                  </a:moveTo>
                  <a:lnTo>
                    <a:pt x="36000" y="0"/>
                  </a:lnTo>
                  <a:lnTo>
                    <a:pt x="21987" y="2829"/>
                  </a:lnTo>
                  <a:lnTo>
                    <a:pt x="10544" y="10544"/>
                  </a:lnTo>
                  <a:lnTo>
                    <a:pt x="2829" y="21987"/>
                  </a:lnTo>
                  <a:lnTo>
                    <a:pt x="0" y="36000"/>
                  </a:lnTo>
                  <a:lnTo>
                    <a:pt x="0" y="1315812"/>
                  </a:lnTo>
                  <a:lnTo>
                    <a:pt x="2829" y="1329825"/>
                  </a:lnTo>
                  <a:lnTo>
                    <a:pt x="10544" y="1341268"/>
                  </a:lnTo>
                  <a:lnTo>
                    <a:pt x="21987" y="1348983"/>
                  </a:lnTo>
                  <a:lnTo>
                    <a:pt x="36000" y="1351812"/>
                  </a:lnTo>
                  <a:lnTo>
                    <a:pt x="5724074" y="1351812"/>
                  </a:lnTo>
                  <a:lnTo>
                    <a:pt x="5738087" y="1348983"/>
                  </a:lnTo>
                  <a:lnTo>
                    <a:pt x="5749530" y="1341268"/>
                  </a:lnTo>
                  <a:lnTo>
                    <a:pt x="5757245" y="1329825"/>
                  </a:lnTo>
                  <a:lnTo>
                    <a:pt x="5760074" y="131581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 name="object 5" descr=""/>
          <p:cNvSpPr txBox="1"/>
          <p:nvPr/>
        </p:nvSpPr>
        <p:spPr>
          <a:xfrm>
            <a:off x="722198" y="1086197"/>
            <a:ext cx="6153785" cy="3421379"/>
          </a:xfrm>
          <a:prstGeom prst="rect">
            <a:avLst/>
          </a:prstGeom>
        </p:spPr>
        <p:txBody>
          <a:bodyPr wrap="square" lIns="0" tIns="12065" rIns="0" bIns="0" rtlCol="0" vert="horz">
            <a:spAutoFit/>
          </a:bodyPr>
          <a:lstStyle/>
          <a:p>
            <a:pPr marL="2275840">
              <a:lnSpc>
                <a:spcPct val="100000"/>
              </a:lnSpc>
              <a:spcBef>
                <a:spcPts val="95"/>
              </a:spcBef>
              <a:tabLst>
                <a:tab pos="5788025" algn="l"/>
              </a:tabLst>
            </a:pPr>
            <a:r>
              <a:rPr dirty="0" sz="1000" spc="-45">
                <a:latin typeface="Cambria"/>
                <a:cs typeface="Cambria"/>
              </a:rPr>
              <a:t>𝑎𝑏𝑠 </a:t>
            </a:r>
            <a:r>
              <a:rPr dirty="0" sz="1000" spc="-60">
                <a:latin typeface="Cambria"/>
                <a:cs typeface="Cambria"/>
              </a:rPr>
              <a:t>(𝑔</a:t>
            </a:r>
            <a:r>
              <a:rPr dirty="0" baseline="-23809" sz="1050" spc="-89">
                <a:latin typeface="Cambria"/>
                <a:cs typeface="Cambria"/>
              </a:rPr>
              <a:t>𝜃</a:t>
            </a:r>
            <a:r>
              <a:rPr dirty="0" baseline="31746" sz="1050" spc="-89">
                <a:latin typeface="Cambria"/>
                <a:cs typeface="Cambria"/>
              </a:rPr>
              <a:t>𝑈</a:t>
            </a:r>
            <a:r>
              <a:rPr dirty="0" baseline="-45454" sz="825" spc="-89">
                <a:latin typeface="Cambria"/>
                <a:cs typeface="Cambria"/>
              </a:rPr>
              <a:t>1</a:t>
            </a:r>
            <a:r>
              <a:rPr dirty="0" baseline="31746" sz="1050" spc="-89">
                <a:latin typeface="Cambria"/>
                <a:cs typeface="Cambria"/>
              </a:rPr>
              <a:t>𝑛𝑖</a:t>
            </a:r>
            <a:r>
              <a:rPr dirty="0" sz="1000" spc="-60">
                <a:latin typeface="Cambria"/>
                <a:cs typeface="Cambria"/>
              </a:rPr>
              <a:t>)</a:t>
            </a:r>
            <a:r>
              <a:rPr dirty="0" sz="1000" spc="75">
                <a:latin typeface="Cambria"/>
                <a:cs typeface="Cambria"/>
              </a:rPr>
              <a:t> </a:t>
            </a:r>
            <a:r>
              <a:rPr dirty="0" sz="1000" spc="165">
                <a:latin typeface="Cambria"/>
                <a:cs typeface="Cambria"/>
              </a:rPr>
              <a:t>&gt;</a:t>
            </a:r>
            <a:r>
              <a:rPr dirty="0" sz="1000" spc="75">
                <a:latin typeface="Cambria"/>
                <a:cs typeface="Cambria"/>
              </a:rPr>
              <a:t> </a:t>
            </a:r>
            <a:r>
              <a:rPr dirty="0" sz="1000" spc="-45">
                <a:latin typeface="Cambria"/>
                <a:cs typeface="Cambria"/>
              </a:rPr>
              <a:t>𝑎𝑏𝑠</a:t>
            </a:r>
            <a:r>
              <a:rPr dirty="0" sz="1000" spc="-40">
                <a:latin typeface="Cambria"/>
                <a:cs typeface="Cambria"/>
              </a:rPr>
              <a:t> </a:t>
            </a:r>
            <a:r>
              <a:rPr dirty="0" sz="1000" spc="-75">
                <a:latin typeface="Cambria"/>
                <a:cs typeface="Cambria"/>
              </a:rPr>
              <a:t>(𝑔</a:t>
            </a:r>
            <a:r>
              <a:rPr dirty="0" baseline="-23809" sz="1050" spc="-112">
                <a:latin typeface="Cambria"/>
                <a:cs typeface="Cambria"/>
              </a:rPr>
              <a:t>𝜃</a:t>
            </a:r>
            <a:r>
              <a:rPr dirty="0" baseline="31746" sz="1050" spc="-112">
                <a:latin typeface="Cambria"/>
                <a:cs typeface="Cambria"/>
              </a:rPr>
              <a:t>𝑀</a:t>
            </a:r>
            <a:r>
              <a:rPr dirty="0" baseline="-45454" sz="825" spc="-112">
                <a:latin typeface="Cambria"/>
                <a:cs typeface="Cambria"/>
              </a:rPr>
              <a:t>1</a:t>
            </a:r>
            <a:r>
              <a:rPr dirty="0" baseline="31746" sz="1050" spc="-112">
                <a:latin typeface="Cambria"/>
                <a:cs typeface="Cambria"/>
              </a:rPr>
              <a:t>𝑢𝑙𝑡𝑖</a:t>
            </a:r>
            <a:r>
              <a:rPr dirty="0" baseline="31746" sz="1050" spc="-127">
                <a:latin typeface="Cambria"/>
                <a:cs typeface="Cambria"/>
              </a:rPr>
              <a:t> </a:t>
            </a:r>
            <a:r>
              <a:rPr dirty="0" sz="1000">
                <a:latin typeface="Cambria"/>
                <a:cs typeface="Cambria"/>
              </a:rPr>
              <a:t>)</a:t>
            </a:r>
            <a:r>
              <a:rPr dirty="0" sz="1000" spc="75">
                <a:latin typeface="Cambria"/>
                <a:cs typeface="Cambria"/>
              </a:rPr>
              <a:t> </a:t>
            </a:r>
            <a:r>
              <a:rPr dirty="0" sz="1000" spc="165">
                <a:latin typeface="Cambria"/>
                <a:cs typeface="Cambria"/>
              </a:rPr>
              <a:t>&gt;</a:t>
            </a:r>
            <a:r>
              <a:rPr dirty="0" sz="1000" spc="75">
                <a:latin typeface="Cambria"/>
                <a:cs typeface="Cambria"/>
              </a:rPr>
              <a:t> </a:t>
            </a:r>
            <a:r>
              <a:rPr dirty="0" sz="1000" spc="-50">
                <a:latin typeface="Cambria"/>
                <a:cs typeface="Cambria"/>
              </a:rPr>
              <a:t>0</a:t>
            </a:r>
            <a:r>
              <a:rPr dirty="0" sz="1000">
                <a:latin typeface="Cambria"/>
                <a:cs typeface="Cambria"/>
              </a:rPr>
              <a:t>	</a:t>
            </a:r>
            <a:r>
              <a:rPr dirty="0" sz="1000" spc="-25">
                <a:latin typeface="Times New Roman"/>
                <a:cs typeface="Times New Roman"/>
              </a:rPr>
              <a:t>(8)</a:t>
            </a:r>
            <a:endParaRPr sz="1000">
              <a:latin typeface="Times New Roman"/>
              <a:cs typeface="Times New Roman"/>
            </a:endParaRPr>
          </a:p>
          <a:p>
            <a:pPr algn="just" marL="177800" marR="208279" indent="252729">
              <a:lnSpc>
                <a:spcPct val="129299"/>
              </a:lnSpc>
              <a:spcBef>
                <a:spcPts val="600"/>
              </a:spcBef>
            </a:pPr>
            <a:r>
              <a:rPr dirty="0" sz="1000">
                <a:latin typeface="Times New Roman"/>
                <a:cs typeface="Times New Roman"/>
              </a:rPr>
              <a:t>Because</a:t>
            </a:r>
            <a:r>
              <a:rPr dirty="0" sz="1000" spc="140">
                <a:latin typeface="Times New Roman"/>
                <a:cs typeface="Times New Roman"/>
              </a:rPr>
              <a:t> </a:t>
            </a:r>
            <a:r>
              <a:rPr dirty="0" sz="1000">
                <a:latin typeface="Times New Roman"/>
                <a:cs typeface="Times New Roman"/>
              </a:rPr>
              <a:t>the</a:t>
            </a:r>
            <a:r>
              <a:rPr dirty="0" sz="1000" spc="140">
                <a:latin typeface="Times New Roman"/>
                <a:cs typeface="Times New Roman"/>
              </a:rPr>
              <a:t> </a:t>
            </a:r>
            <a:r>
              <a:rPr dirty="0" sz="1000">
                <a:latin typeface="Times New Roman"/>
                <a:cs typeface="Times New Roman"/>
              </a:rPr>
              <a:t>parameters</a:t>
            </a:r>
            <a:r>
              <a:rPr dirty="0" sz="1000" spc="140">
                <a:latin typeface="Times New Roman"/>
                <a:cs typeface="Times New Roman"/>
              </a:rPr>
              <a:t> </a:t>
            </a:r>
            <a:r>
              <a:rPr dirty="0" sz="1000">
                <a:latin typeface="Times New Roman"/>
                <a:cs typeface="Times New Roman"/>
              </a:rPr>
              <a:t>are</a:t>
            </a:r>
            <a:r>
              <a:rPr dirty="0" sz="1000" spc="140">
                <a:latin typeface="Times New Roman"/>
                <a:cs typeface="Times New Roman"/>
              </a:rPr>
              <a:t> </a:t>
            </a:r>
            <a:r>
              <a:rPr dirty="0" sz="1000">
                <a:latin typeface="Times New Roman"/>
                <a:cs typeface="Times New Roman"/>
              </a:rPr>
              <a:t>updated</a:t>
            </a:r>
            <a:r>
              <a:rPr dirty="0" sz="1000" spc="140">
                <a:latin typeface="Times New Roman"/>
                <a:cs typeface="Times New Roman"/>
              </a:rPr>
              <a:t> </a:t>
            </a:r>
            <a:r>
              <a:rPr dirty="0" sz="1000">
                <a:latin typeface="Times New Roman"/>
                <a:cs typeface="Times New Roman"/>
              </a:rPr>
              <a:t>along</a:t>
            </a:r>
            <a:r>
              <a:rPr dirty="0" sz="1000" spc="140">
                <a:latin typeface="Times New Roman"/>
                <a:cs typeface="Times New Roman"/>
              </a:rPr>
              <a:t> </a:t>
            </a:r>
            <a:r>
              <a:rPr dirty="0" sz="1000">
                <a:latin typeface="Times New Roman"/>
                <a:cs typeface="Times New Roman"/>
              </a:rPr>
              <a:t>the</a:t>
            </a:r>
            <a:r>
              <a:rPr dirty="0" sz="1000" spc="145">
                <a:latin typeface="Times New Roman"/>
                <a:cs typeface="Times New Roman"/>
              </a:rPr>
              <a:t> </a:t>
            </a:r>
            <a:r>
              <a:rPr dirty="0" sz="1000">
                <a:latin typeface="Times New Roman"/>
                <a:cs typeface="Times New Roman"/>
              </a:rPr>
              <a:t>negative</a:t>
            </a:r>
            <a:r>
              <a:rPr dirty="0" sz="1000" spc="140">
                <a:latin typeface="Times New Roman"/>
                <a:cs typeface="Times New Roman"/>
              </a:rPr>
              <a:t> </a:t>
            </a:r>
            <a:r>
              <a:rPr dirty="0" sz="1000">
                <a:latin typeface="Times New Roman"/>
                <a:cs typeface="Times New Roman"/>
              </a:rPr>
              <a:t>gradient</a:t>
            </a:r>
            <a:r>
              <a:rPr dirty="0" sz="1000" spc="140">
                <a:latin typeface="Times New Roman"/>
                <a:cs typeface="Times New Roman"/>
              </a:rPr>
              <a:t> </a:t>
            </a:r>
            <a:r>
              <a:rPr dirty="0" sz="1000">
                <a:latin typeface="Times New Roman"/>
                <a:cs typeface="Times New Roman"/>
              </a:rPr>
              <a:t>direction,</a:t>
            </a:r>
            <a:r>
              <a:rPr dirty="0" sz="1000" spc="155">
                <a:latin typeface="Times New Roman"/>
                <a:cs typeface="Times New Roman"/>
              </a:rPr>
              <a:t> </a:t>
            </a:r>
            <a:r>
              <a:rPr dirty="0" sz="1000">
                <a:latin typeface="Times New Roman"/>
                <a:cs typeface="Times New Roman"/>
              </a:rPr>
              <a:t>the</a:t>
            </a:r>
            <a:r>
              <a:rPr dirty="0" sz="1000" spc="140">
                <a:latin typeface="Times New Roman"/>
                <a:cs typeface="Times New Roman"/>
              </a:rPr>
              <a:t> </a:t>
            </a:r>
            <a:r>
              <a:rPr dirty="0" sz="1000">
                <a:latin typeface="Times New Roman"/>
                <a:cs typeface="Times New Roman"/>
              </a:rPr>
              <a:t>encoder</a:t>
            </a:r>
            <a:r>
              <a:rPr dirty="0" sz="1000" spc="140">
                <a:latin typeface="Times New Roman"/>
                <a:cs typeface="Times New Roman"/>
              </a:rPr>
              <a:t> </a:t>
            </a:r>
            <a:r>
              <a:rPr dirty="0" sz="1000">
                <a:latin typeface="Cambria"/>
                <a:cs typeface="Cambria"/>
              </a:rPr>
              <a:t>𝜑</a:t>
            </a:r>
            <a:r>
              <a:rPr dirty="0" baseline="-15873" sz="1050">
                <a:latin typeface="Cambria"/>
                <a:cs typeface="Cambria"/>
              </a:rPr>
              <a:t>1</a:t>
            </a:r>
            <a:r>
              <a:rPr dirty="0" baseline="-15873" sz="1050" spc="217">
                <a:latin typeface="Cambria"/>
                <a:cs typeface="Cambria"/>
              </a:rPr>
              <a:t> </a:t>
            </a:r>
            <a:r>
              <a:rPr dirty="0" sz="1000" spc="-10">
                <a:latin typeface="Cambria"/>
                <a:cs typeface="Cambria"/>
              </a:rPr>
              <a:t>(𝜃</a:t>
            </a:r>
            <a:r>
              <a:rPr dirty="0" baseline="-15873" sz="1050" spc="-15">
                <a:latin typeface="Cambria"/>
                <a:cs typeface="Cambria"/>
              </a:rPr>
              <a:t>1</a:t>
            </a:r>
            <a:r>
              <a:rPr dirty="0" sz="1000" spc="-10">
                <a:latin typeface="Cambria"/>
                <a:cs typeface="Cambria"/>
              </a:rPr>
              <a:t>,</a:t>
            </a:r>
            <a:r>
              <a:rPr dirty="0" sz="1000" spc="10">
                <a:latin typeface="Cambria"/>
                <a:cs typeface="Cambria"/>
              </a:rPr>
              <a:t> </a:t>
            </a:r>
            <a:r>
              <a:rPr dirty="0" sz="1000">
                <a:latin typeface="Cambria"/>
                <a:cs typeface="Cambria"/>
              </a:rPr>
              <a:t>⋅)</a:t>
            </a:r>
            <a:r>
              <a:rPr dirty="0" sz="1000" spc="175">
                <a:latin typeface="Cambria"/>
                <a:cs typeface="Cambria"/>
              </a:rPr>
              <a:t> </a:t>
            </a:r>
            <a:r>
              <a:rPr dirty="0" sz="1000">
                <a:latin typeface="Times New Roman"/>
                <a:cs typeface="Times New Roman"/>
              </a:rPr>
              <a:t>in</a:t>
            </a:r>
            <a:r>
              <a:rPr dirty="0" sz="1000" spc="140">
                <a:latin typeface="Times New Roman"/>
                <a:cs typeface="Times New Roman"/>
              </a:rPr>
              <a:t> </a:t>
            </a:r>
            <a:r>
              <a:rPr dirty="0" sz="1000" spc="-25">
                <a:latin typeface="Times New Roman"/>
                <a:cs typeface="Times New Roman"/>
              </a:rPr>
              <a:t>the </a:t>
            </a:r>
            <a:r>
              <a:rPr dirty="0" sz="1000">
                <a:latin typeface="Times New Roman"/>
                <a:cs typeface="Times New Roman"/>
              </a:rPr>
              <a:t>unimodal</a:t>
            </a:r>
            <a:r>
              <a:rPr dirty="0" sz="1000" spc="195">
                <a:latin typeface="Times New Roman"/>
                <a:cs typeface="Times New Roman"/>
              </a:rPr>
              <a:t> </a:t>
            </a:r>
            <a:r>
              <a:rPr dirty="0" sz="1000">
                <a:latin typeface="Times New Roman"/>
                <a:cs typeface="Times New Roman"/>
              </a:rPr>
              <a:t>model</a:t>
            </a:r>
            <a:r>
              <a:rPr dirty="0" sz="1000" spc="200">
                <a:latin typeface="Times New Roman"/>
                <a:cs typeface="Times New Roman"/>
              </a:rPr>
              <a:t> </a:t>
            </a:r>
            <a:r>
              <a:rPr dirty="0" sz="1000">
                <a:latin typeface="Times New Roman"/>
                <a:cs typeface="Times New Roman"/>
              </a:rPr>
              <a:t>will</a:t>
            </a:r>
            <a:r>
              <a:rPr dirty="0" sz="1000" spc="195">
                <a:latin typeface="Times New Roman"/>
                <a:cs typeface="Times New Roman"/>
              </a:rPr>
              <a:t> </a:t>
            </a:r>
            <a:r>
              <a:rPr dirty="0" sz="1000">
                <a:latin typeface="Times New Roman"/>
                <a:cs typeface="Times New Roman"/>
              </a:rPr>
              <a:t>converge</a:t>
            </a:r>
            <a:r>
              <a:rPr dirty="0" sz="1000" spc="200">
                <a:latin typeface="Times New Roman"/>
                <a:cs typeface="Times New Roman"/>
              </a:rPr>
              <a:t> </a:t>
            </a:r>
            <a:r>
              <a:rPr dirty="0" sz="1000">
                <a:latin typeface="Times New Roman"/>
                <a:cs typeface="Times New Roman"/>
              </a:rPr>
              <a:t>faster</a:t>
            </a:r>
            <a:r>
              <a:rPr dirty="0" sz="1000" spc="195">
                <a:latin typeface="Times New Roman"/>
                <a:cs typeface="Times New Roman"/>
              </a:rPr>
              <a:t> </a:t>
            </a:r>
            <a:r>
              <a:rPr dirty="0" sz="1000" spc="50">
                <a:latin typeface="Times New Roman"/>
                <a:cs typeface="Times New Roman"/>
              </a:rPr>
              <a:t>than</a:t>
            </a:r>
            <a:r>
              <a:rPr dirty="0" sz="1000" spc="200">
                <a:latin typeface="Times New Roman"/>
                <a:cs typeface="Times New Roman"/>
              </a:rPr>
              <a:t> </a:t>
            </a:r>
            <a:r>
              <a:rPr dirty="0" sz="1000">
                <a:latin typeface="Times New Roman"/>
                <a:cs typeface="Times New Roman"/>
              </a:rPr>
              <a:t>that</a:t>
            </a:r>
            <a:r>
              <a:rPr dirty="0" sz="1000" spc="200">
                <a:latin typeface="Times New Roman"/>
                <a:cs typeface="Times New Roman"/>
              </a:rPr>
              <a:t> </a:t>
            </a:r>
            <a:r>
              <a:rPr dirty="0" sz="1000">
                <a:latin typeface="Times New Roman"/>
                <a:cs typeface="Times New Roman"/>
              </a:rPr>
              <a:t>in</a:t>
            </a:r>
            <a:r>
              <a:rPr dirty="0" sz="1000" spc="195">
                <a:latin typeface="Times New Roman"/>
                <a:cs typeface="Times New Roman"/>
              </a:rPr>
              <a:t> </a:t>
            </a:r>
            <a:r>
              <a:rPr dirty="0" sz="1000">
                <a:latin typeface="Times New Roman"/>
                <a:cs typeface="Times New Roman"/>
              </a:rPr>
              <a:t>the</a:t>
            </a:r>
            <a:r>
              <a:rPr dirty="0" sz="1000" spc="200">
                <a:latin typeface="Times New Roman"/>
                <a:cs typeface="Times New Roman"/>
              </a:rPr>
              <a:t> </a:t>
            </a:r>
            <a:r>
              <a:rPr dirty="0" sz="1000">
                <a:latin typeface="Times New Roman"/>
                <a:cs typeface="Times New Roman"/>
              </a:rPr>
              <a:t>multimodal</a:t>
            </a:r>
            <a:r>
              <a:rPr dirty="0" sz="1000" spc="195">
                <a:latin typeface="Times New Roman"/>
                <a:cs typeface="Times New Roman"/>
              </a:rPr>
              <a:t> </a:t>
            </a:r>
            <a:r>
              <a:rPr dirty="0" sz="1000">
                <a:latin typeface="Times New Roman"/>
                <a:cs typeface="Times New Roman"/>
              </a:rPr>
              <a:t>model.</a:t>
            </a:r>
            <a:r>
              <a:rPr dirty="0" sz="1000" spc="155">
                <a:latin typeface="Times New Roman"/>
                <a:cs typeface="Times New Roman"/>
              </a:rPr>
              <a:t>  </a:t>
            </a:r>
            <a:r>
              <a:rPr dirty="0" sz="1000">
                <a:latin typeface="Times New Roman"/>
                <a:cs typeface="Times New Roman"/>
              </a:rPr>
              <a:t>In</a:t>
            </a:r>
            <a:r>
              <a:rPr dirty="0" sz="1000" spc="204">
                <a:latin typeface="Times New Roman"/>
                <a:cs typeface="Times New Roman"/>
              </a:rPr>
              <a:t> </a:t>
            </a:r>
            <a:r>
              <a:rPr dirty="0" sz="1000">
                <a:latin typeface="Times New Roman"/>
                <a:cs typeface="Times New Roman"/>
              </a:rPr>
              <a:t>other</a:t>
            </a:r>
            <a:r>
              <a:rPr dirty="0" sz="1000" spc="195">
                <a:latin typeface="Times New Roman"/>
                <a:cs typeface="Times New Roman"/>
              </a:rPr>
              <a:t> </a:t>
            </a:r>
            <a:r>
              <a:rPr dirty="0" sz="1000">
                <a:latin typeface="Times New Roman"/>
                <a:cs typeface="Times New Roman"/>
              </a:rPr>
              <a:t>words,</a:t>
            </a:r>
            <a:r>
              <a:rPr dirty="0" sz="1000" spc="225">
                <a:latin typeface="Times New Roman"/>
                <a:cs typeface="Times New Roman"/>
              </a:rPr>
              <a:t> </a:t>
            </a:r>
            <a:r>
              <a:rPr dirty="0" sz="1000">
                <a:latin typeface="Times New Roman"/>
                <a:cs typeface="Times New Roman"/>
              </a:rPr>
              <a:t>compared</a:t>
            </a:r>
            <a:r>
              <a:rPr dirty="0" sz="1000" spc="200">
                <a:latin typeface="Times New Roman"/>
                <a:cs typeface="Times New Roman"/>
              </a:rPr>
              <a:t> </a:t>
            </a:r>
            <a:r>
              <a:rPr dirty="0" sz="1000" spc="-20">
                <a:latin typeface="Times New Roman"/>
                <a:cs typeface="Times New Roman"/>
              </a:rPr>
              <a:t>with </a:t>
            </a:r>
            <a:r>
              <a:rPr dirty="0" sz="1000" spc="10">
                <a:latin typeface="Times New Roman"/>
                <a:cs typeface="Times New Roman"/>
              </a:rPr>
              <a:t>unimodal</a:t>
            </a:r>
            <a:r>
              <a:rPr dirty="0" sz="1000" spc="75">
                <a:latin typeface="Times New Roman"/>
                <a:cs typeface="Times New Roman"/>
              </a:rPr>
              <a:t> </a:t>
            </a:r>
            <a:r>
              <a:rPr dirty="0" sz="1000" spc="10">
                <a:latin typeface="Times New Roman"/>
                <a:cs typeface="Times New Roman"/>
              </a:rPr>
              <a:t>models,</a:t>
            </a:r>
            <a:r>
              <a:rPr dirty="0" sz="1000" spc="85">
                <a:latin typeface="Times New Roman"/>
                <a:cs typeface="Times New Roman"/>
              </a:rPr>
              <a:t> </a:t>
            </a:r>
            <a:r>
              <a:rPr dirty="0" sz="1000" spc="10">
                <a:latin typeface="Times New Roman"/>
                <a:cs typeface="Times New Roman"/>
              </a:rPr>
              <a:t>multimodal</a:t>
            </a:r>
            <a:r>
              <a:rPr dirty="0" sz="1000" spc="75">
                <a:latin typeface="Times New Roman"/>
                <a:cs typeface="Times New Roman"/>
              </a:rPr>
              <a:t> </a:t>
            </a:r>
            <a:r>
              <a:rPr dirty="0" sz="1000" spc="10">
                <a:latin typeface="Times New Roman"/>
                <a:cs typeface="Times New Roman"/>
              </a:rPr>
              <a:t>models</a:t>
            </a:r>
            <a:r>
              <a:rPr dirty="0" sz="1000" spc="80">
                <a:latin typeface="Times New Roman"/>
                <a:cs typeface="Times New Roman"/>
              </a:rPr>
              <a:t> </a:t>
            </a:r>
            <a:r>
              <a:rPr dirty="0" sz="1000" spc="10">
                <a:latin typeface="Times New Roman"/>
                <a:cs typeface="Times New Roman"/>
              </a:rPr>
              <a:t>limit</a:t>
            </a:r>
            <a:r>
              <a:rPr dirty="0" sz="1000" spc="75">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optimization</a:t>
            </a:r>
            <a:r>
              <a:rPr dirty="0" sz="1000" spc="75">
                <a:latin typeface="Times New Roman"/>
                <a:cs typeface="Times New Roman"/>
              </a:rPr>
              <a:t> </a:t>
            </a:r>
            <a:r>
              <a:rPr dirty="0" sz="1000" spc="10">
                <a:latin typeface="Times New Roman"/>
                <a:cs typeface="Times New Roman"/>
              </a:rPr>
              <a:t>of</a:t>
            </a:r>
            <a:r>
              <a:rPr dirty="0" sz="1000" spc="80">
                <a:latin typeface="Times New Roman"/>
                <a:cs typeface="Times New Roman"/>
              </a:rPr>
              <a:t> </a:t>
            </a:r>
            <a:r>
              <a:rPr dirty="0" sz="1000" spc="10">
                <a:latin typeface="Times New Roman"/>
                <a:cs typeface="Times New Roman"/>
              </a:rPr>
              <a:t>modality</a:t>
            </a:r>
            <a:r>
              <a:rPr dirty="0" sz="1000" spc="75">
                <a:latin typeface="Times New Roman"/>
                <a:cs typeface="Times New Roman"/>
              </a:rPr>
              <a:t> </a:t>
            </a:r>
            <a:r>
              <a:rPr dirty="0" sz="1000" spc="10">
                <a:latin typeface="Times New Roman"/>
                <a:cs typeface="Times New Roman"/>
              </a:rPr>
              <a:t>encoders.</a:t>
            </a:r>
            <a:r>
              <a:rPr dirty="0" sz="1000" spc="210">
                <a:latin typeface="Times New Roman"/>
                <a:cs typeface="Times New Roman"/>
              </a:rPr>
              <a:t> </a:t>
            </a:r>
            <a:r>
              <a:rPr dirty="0" sz="1000" spc="10">
                <a:latin typeface="Times New Roman"/>
                <a:cs typeface="Times New Roman"/>
              </a:rPr>
              <a:t>Thus,</a:t>
            </a:r>
            <a:r>
              <a:rPr dirty="0" sz="1000" spc="85">
                <a:latin typeface="Times New Roman"/>
                <a:cs typeface="Times New Roman"/>
              </a:rPr>
              <a:t> </a:t>
            </a:r>
            <a:r>
              <a:rPr dirty="0" sz="1000" spc="10">
                <a:latin typeface="Times New Roman"/>
                <a:cs typeface="Times New Roman"/>
              </a:rPr>
              <a:t>each</a:t>
            </a:r>
            <a:r>
              <a:rPr dirty="0" sz="1000" spc="75">
                <a:latin typeface="Times New Roman"/>
                <a:cs typeface="Times New Roman"/>
              </a:rPr>
              <a:t> </a:t>
            </a:r>
            <a:r>
              <a:rPr dirty="0" sz="1000" spc="10">
                <a:latin typeface="Times New Roman"/>
                <a:cs typeface="Times New Roman"/>
              </a:rPr>
              <a:t>modality,</a:t>
            </a:r>
            <a:r>
              <a:rPr dirty="0" sz="1000" spc="80">
                <a:latin typeface="Times New Roman"/>
                <a:cs typeface="Times New Roman"/>
              </a:rPr>
              <a:t> </a:t>
            </a:r>
            <a:r>
              <a:rPr dirty="0" sz="1000" spc="-25">
                <a:latin typeface="Times New Roman"/>
                <a:cs typeface="Times New Roman"/>
              </a:rPr>
              <a:t>in- </a:t>
            </a:r>
            <a:r>
              <a:rPr dirty="0" sz="1000">
                <a:latin typeface="Times New Roman"/>
                <a:cs typeface="Times New Roman"/>
              </a:rPr>
              <a:t>cluding</a:t>
            </a:r>
            <a:r>
              <a:rPr dirty="0" sz="1000" spc="105">
                <a:latin typeface="Times New Roman"/>
                <a:cs typeface="Times New Roman"/>
              </a:rPr>
              <a:t> </a:t>
            </a:r>
            <a:r>
              <a:rPr dirty="0" sz="1000">
                <a:latin typeface="Times New Roman"/>
                <a:cs typeface="Times New Roman"/>
              </a:rPr>
              <a:t>the</a:t>
            </a:r>
            <a:r>
              <a:rPr dirty="0" sz="1000" spc="110">
                <a:latin typeface="Times New Roman"/>
                <a:cs typeface="Times New Roman"/>
              </a:rPr>
              <a:t> </a:t>
            </a:r>
            <a:r>
              <a:rPr dirty="0" sz="1000">
                <a:latin typeface="Times New Roman"/>
                <a:cs typeface="Times New Roman"/>
              </a:rPr>
              <a:t>dominant</a:t>
            </a:r>
            <a:r>
              <a:rPr dirty="0" sz="1000" spc="110">
                <a:latin typeface="Times New Roman"/>
                <a:cs typeface="Times New Roman"/>
              </a:rPr>
              <a:t> </a:t>
            </a:r>
            <a:r>
              <a:rPr dirty="0" sz="1000">
                <a:latin typeface="Times New Roman"/>
                <a:cs typeface="Times New Roman"/>
              </a:rPr>
              <a:t>modality</a:t>
            </a:r>
            <a:r>
              <a:rPr dirty="0" sz="1000" spc="114">
                <a:latin typeface="Times New Roman"/>
                <a:cs typeface="Times New Roman"/>
              </a:rPr>
              <a:t> </a:t>
            </a:r>
            <a:r>
              <a:rPr dirty="0" sz="1000">
                <a:latin typeface="Times New Roman"/>
                <a:cs typeface="Times New Roman"/>
              </a:rPr>
              <a:t>that</a:t>
            </a:r>
            <a:r>
              <a:rPr dirty="0" sz="1000" spc="110">
                <a:latin typeface="Times New Roman"/>
                <a:cs typeface="Times New Roman"/>
              </a:rPr>
              <a:t> </a:t>
            </a:r>
            <a:r>
              <a:rPr dirty="0" sz="1000">
                <a:latin typeface="Times New Roman"/>
                <a:cs typeface="Times New Roman"/>
              </a:rPr>
              <a:t>has</a:t>
            </a:r>
            <a:r>
              <a:rPr dirty="0" sz="1000" spc="110">
                <a:latin typeface="Times New Roman"/>
                <a:cs typeface="Times New Roman"/>
              </a:rPr>
              <a:t> </a:t>
            </a:r>
            <a:r>
              <a:rPr dirty="0" sz="1000">
                <a:latin typeface="Times New Roman"/>
                <a:cs typeface="Times New Roman"/>
              </a:rPr>
              <a:t>higher</a:t>
            </a:r>
            <a:r>
              <a:rPr dirty="0" sz="1000" spc="120">
                <a:latin typeface="Times New Roman"/>
                <a:cs typeface="Times New Roman"/>
              </a:rPr>
              <a:t> </a:t>
            </a:r>
            <a:r>
              <a:rPr dirty="0" sz="1000">
                <a:latin typeface="Times New Roman"/>
                <a:cs typeface="Times New Roman"/>
              </a:rPr>
              <a:t>performance,</a:t>
            </a:r>
            <a:r>
              <a:rPr dirty="0" sz="1000" spc="125">
                <a:latin typeface="Times New Roman"/>
                <a:cs typeface="Times New Roman"/>
              </a:rPr>
              <a:t> </a:t>
            </a:r>
            <a:r>
              <a:rPr dirty="0" sz="1000">
                <a:latin typeface="Times New Roman"/>
                <a:cs typeface="Times New Roman"/>
              </a:rPr>
              <a:t>in</a:t>
            </a:r>
            <a:r>
              <a:rPr dirty="0" sz="1000" spc="110">
                <a:latin typeface="Times New Roman"/>
                <a:cs typeface="Times New Roman"/>
              </a:rPr>
              <a:t> </a:t>
            </a:r>
            <a:r>
              <a:rPr dirty="0" sz="1000">
                <a:latin typeface="Times New Roman"/>
                <a:cs typeface="Times New Roman"/>
              </a:rPr>
              <a:t>the</a:t>
            </a:r>
            <a:r>
              <a:rPr dirty="0" sz="1000" spc="114">
                <a:latin typeface="Times New Roman"/>
                <a:cs typeface="Times New Roman"/>
              </a:rPr>
              <a:t> </a:t>
            </a:r>
            <a:r>
              <a:rPr dirty="0" sz="1000">
                <a:latin typeface="Times New Roman"/>
                <a:cs typeface="Times New Roman"/>
              </a:rPr>
              <a:t>multimodal</a:t>
            </a:r>
            <a:r>
              <a:rPr dirty="0" sz="1000" spc="110">
                <a:latin typeface="Times New Roman"/>
                <a:cs typeface="Times New Roman"/>
              </a:rPr>
              <a:t> </a:t>
            </a:r>
            <a:r>
              <a:rPr dirty="0" sz="1000">
                <a:latin typeface="Times New Roman"/>
                <a:cs typeface="Times New Roman"/>
              </a:rPr>
              <a:t>model</a:t>
            </a:r>
            <a:r>
              <a:rPr dirty="0" sz="1000" spc="110">
                <a:latin typeface="Times New Roman"/>
                <a:cs typeface="Times New Roman"/>
              </a:rPr>
              <a:t> </a:t>
            </a:r>
            <a:r>
              <a:rPr dirty="0" sz="1000">
                <a:latin typeface="Times New Roman"/>
                <a:cs typeface="Times New Roman"/>
              </a:rPr>
              <a:t>will</a:t>
            </a:r>
            <a:r>
              <a:rPr dirty="0" sz="1000" spc="114">
                <a:latin typeface="Times New Roman"/>
                <a:cs typeface="Times New Roman"/>
              </a:rPr>
              <a:t> </a:t>
            </a:r>
            <a:r>
              <a:rPr dirty="0" sz="1000">
                <a:latin typeface="Times New Roman"/>
                <a:cs typeface="Times New Roman"/>
              </a:rPr>
              <a:t>suffer</a:t>
            </a:r>
            <a:r>
              <a:rPr dirty="0" sz="1000" spc="110">
                <a:latin typeface="Times New Roman"/>
                <a:cs typeface="Times New Roman"/>
              </a:rPr>
              <a:t> </a:t>
            </a:r>
            <a:r>
              <a:rPr dirty="0" sz="1000" spc="-10">
                <a:latin typeface="Times New Roman"/>
                <a:cs typeface="Times New Roman"/>
              </a:rPr>
              <a:t>insufficient </a:t>
            </a:r>
            <a:r>
              <a:rPr dirty="0" sz="1000">
                <a:latin typeface="Times New Roman"/>
                <a:cs typeface="Times New Roman"/>
              </a:rPr>
              <a:t>learning</a:t>
            </a:r>
            <a:r>
              <a:rPr dirty="0" sz="1000" spc="125">
                <a:latin typeface="Times New Roman"/>
                <a:cs typeface="Times New Roman"/>
              </a:rPr>
              <a:t> </a:t>
            </a:r>
            <a:r>
              <a:rPr dirty="0" sz="1000">
                <a:latin typeface="Times New Roman"/>
                <a:cs typeface="Times New Roman"/>
              </a:rPr>
              <a:t>and</a:t>
            </a:r>
            <a:r>
              <a:rPr dirty="0" sz="1000" spc="125">
                <a:latin typeface="Times New Roman"/>
                <a:cs typeface="Times New Roman"/>
              </a:rPr>
              <a:t> </a:t>
            </a:r>
            <a:r>
              <a:rPr dirty="0" sz="1000">
                <a:latin typeface="Times New Roman"/>
                <a:cs typeface="Times New Roman"/>
              </a:rPr>
              <a:t>has</a:t>
            </a:r>
            <a:r>
              <a:rPr dirty="0" sz="1000" spc="125">
                <a:latin typeface="Times New Roman"/>
                <a:cs typeface="Times New Roman"/>
              </a:rPr>
              <a:t> </a:t>
            </a:r>
            <a:r>
              <a:rPr dirty="0" sz="1000">
                <a:latin typeface="Times New Roman"/>
                <a:cs typeface="Times New Roman"/>
              </a:rPr>
              <a:t>worse</a:t>
            </a:r>
            <a:r>
              <a:rPr dirty="0" sz="1000" spc="130">
                <a:latin typeface="Times New Roman"/>
                <a:cs typeface="Times New Roman"/>
              </a:rPr>
              <a:t> </a:t>
            </a:r>
            <a:r>
              <a:rPr dirty="0" sz="1000">
                <a:latin typeface="Times New Roman"/>
                <a:cs typeface="Times New Roman"/>
              </a:rPr>
              <a:t>performance</a:t>
            </a:r>
            <a:r>
              <a:rPr dirty="0" sz="1000" spc="125">
                <a:latin typeface="Times New Roman"/>
                <a:cs typeface="Times New Roman"/>
              </a:rPr>
              <a:t> </a:t>
            </a:r>
            <a:r>
              <a:rPr dirty="0" sz="1000" spc="50">
                <a:latin typeface="Times New Roman"/>
                <a:cs typeface="Times New Roman"/>
              </a:rPr>
              <a:t>than</a:t>
            </a:r>
            <a:r>
              <a:rPr dirty="0" sz="1000" spc="125">
                <a:latin typeface="Times New Roman"/>
                <a:cs typeface="Times New Roman"/>
              </a:rPr>
              <a:t> </a:t>
            </a:r>
            <a:r>
              <a:rPr dirty="0" sz="1000">
                <a:latin typeface="Times New Roman"/>
                <a:cs typeface="Times New Roman"/>
              </a:rPr>
              <a:t>that</a:t>
            </a:r>
            <a:r>
              <a:rPr dirty="0" sz="1000" spc="130">
                <a:latin typeface="Times New Roman"/>
                <a:cs typeface="Times New Roman"/>
              </a:rPr>
              <a:t> </a:t>
            </a:r>
            <a:r>
              <a:rPr dirty="0" sz="1000">
                <a:latin typeface="Times New Roman"/>
                <a:cs typeface="Times New Roman"/>
              </a:rPr>
              <a:t>in</a:t>
            </a:r>
            <a:r>
              <a:rPr dirty="0" sz="1000" spc="125">
                <a:latin typeface="Times New Roman"/>
                <a:cs typeface="Times New Roman"/>
              </a:rPr>
              <a:t> </a:t>
            </a:r>
            <a:r>
              <a:rPr dirty="0" sz="1000">
                <a:latin typeface="Times New Roman"/>
                <a:cs typeface="Times New Roman"/>
              </a:rPr>
              <a:t>the</a:t>
            </a:r>
            <a:r>
              <a:rPr dirty="0" sz="1000" spc="125">
                <a:latin typeface="Times New Roman"/>
                <a:cs typeface="Times New Roman"/>
              </a:rPr>
              <a:t> </a:t>
            </a:r>
            <a:r>
              <a:rPr dirty="0" sz="1000">
                <a:latin typeface="Times New Roman"/>
                <a:cs typeface="Times New Roman"/>
              </a:rPr>
              <a:t>unimodal</a:t>
            </a:r>
            <a:r>
              <a:rPr dirty="0" sz="1000" spc="130">
                <a:latin typeface="Times New Roman"/>
                <a:cs typeface="Times New Roman"/>
              </a:rPr>
              <a:t> </a:t>
            </a:r>
            <a:r>
              <a:rPr dirty="0" sz="1000">
                <a:latin typeface="Times New Roman"/>
                <a:cs typeface="Times New Roman"/>
              </a:rPr>
              <a:t>model</a:t>
            </a:r>
            <a:r>
              <a:rPr dirty="0" sz="1000" spc="125">
                <a:latin typeface="Times New Roman"/>
                <a:cs typeface="Times New Roman"/>
              </a:rPr>
              <a:t> </a:t>
            </a:r>
            <a:r>
              <a:rPr dirty="0" sz="1000" spc="-80">
                <a:latin typeface="Times New Roman"/>
                <a:cs typeface="Times New Roman"/>
              </a:rPr>
              <a:t>(se</a:t>
            </a:r>
            <a:r>
              <a:rPr dirty="0" baseline="-60606" sz="825" spc="-120">
                <a:latin typeface="Cambria"/>
                <a:cs typeface="Cambria"/>
              </a:rPr>
              <a:t>𝑚</a:t>
            </a:r>
            <a:r>
              <a:rPr dirty="0" sz="1000" spc="-80">
                <a:latin typeface="Times New Roman"/>
                <a:cs typeface="Times New Roman"/>
              </a:rPr>
              <a:t>e</a:t>
            </a:r>
            <a:r>
              <a:rPr dirty="0" sz="1000" spc="125">
                <a:latin typeface="Times New Roman"/>
                <a:cs typeface="Times New Roman"/>
              </a:rPr>
              <a:t> </a:t>
            </a:r>
            <a:r>
              <a:rPr dirty="0" sz="1000" spc="-20">
                <a:latin typeface="Times New Roman"/>
                <a:cs typeface="Times New Roman"/>
              </a:rPr>
              <a:t>Fig</a:t>
            </a:r>
            <a:r>
              <a:rPr dirty="0" baseline="-60606" sz="825" spc="-30">
                <a:latin typeface="Cambria"/>
                <a:cs typeface="Cambria"/>
              </a:rPr>
              <a:t>𝑚</a:t>
            </a:r>
            <a:r>
              <a:rPr dirty="0" sz="1000" spc="-20">
                <a:latin typeface="Times New Roman"/>
                <a:cs typeface="Times New Roman"/>
              </a:rPr>
              <a:t>.</a:t>
            </a:r>
            <a:r>
              <a:rPr dirty="0" sz="1000" spc="440">
                <a:latin typeface="Times New Roman"/>
                <a:cs typeface="Times New Roman"/>
              </a:rPr>
              <a:t> </a:t>
            </a:r>
            <a:r>
              <a:rPr dirty="0" sz="1000">
                <a:latin typeface="Times New Roman"/>
                <a:cs typeface="Times New Roman"/>
              </a:rPr>
              <a:t>1</a:t>
            </a:r>
            <a:r>
              <a:rPr dirty="0" sz="1000" spc="125">
                <a:latin typeface="Times New Roman"/>
                <a:cs typeface="Times New Roman"/>
              </a:rPr>
              <a:t> </a:t>
            </a:r>
            <a:r>
              <a:rPr dirty="0" sz="1000" spc="-20">
                <a:latin typeface="Times New Roman"/>
                <a:cs typeface="Times New Roman"/>
              </a:rPr>
              <a:t>(</a:t>
            </a:r>
            <a:r>
              <a:rPr dirty="0" baseline="-60606" sz="825" spc="-30">
                <a:latin typeface="Cambria"/>
                <a:cs typeface="Cambria"/>
              </a:rPr>
              <a:t>𝑚</a:t>
            </a:r>
            <a:r>
              <a:rPr dirty="0" sz="1000" spc="-20">
                <a:latin typeface="Times New Roman"/>
                <a:cs typeface="Times New Roman"/>
              </a:rPr>
              <a:t>b)).</a:t>
            </a:r>
            <a:r>
              <a:rPr dirty="0" sz="1000" spc="425">
                <a:latin typeface="Times New Roman"/>
                <a:cs typeface="Times New Roman"/>
              </a:rPr>
              <a:t> </a:t>
            </a:r>
            <a:r>
              <a:rPr dirty="0" sz="1000">
                <a:latin typeface="Times New Roman"/>
                <a:cs typeface="Times New Roman"/>
              </a:rPr>
              <a:t>In</a:t>
            </a:r>
            <a:r>
              <a:rPr dirty="0" sz="1000" spc="130">
                <a:latin typeface="Times New Roman"/>
                <a:cs typeface="Times New Roman"/>
              </a:rPr>
              <a:t> </a:t>
            </a:r>
            <a:r>
              <a:rPr dirty="0" sz="1000">
                <a:latin typeface="Times New Roman"/>
                <a:cs typeface="Times New Roman"/>
              </a:rPr>
              <a:t>addition,</a:t>
            </a:r>
            <a:r>
              <a:rPr dirty="0" sz="1000" spc="150">
                <a:latin typeface="Times New Roman"/>
                <a:cs typeface="Times New Roman"/>
              </a:rPr>
              <a:t> </a:t>
            </a:r>
            <a:r>
              <a:rPr dirty="0" sz="1000">
                <a:latin typeface="Times New Roman"/>
                <a:cs typeface="Times New Roman"/>
              </a:rPr>
              <a:t>if</a:t>
            </a:r>
            <a:r>
              <a:rPr dirty="0" sz="1000" spc="125">
                <a:latin typeface="Times New Roman"/>
                <a:cs typeface="Times New Roman"/>
              </a:rPr>
              <a:t> </a:t>
            </a:r>
            <a:r>
              <a:rPr dirty="0" sz="1000" spc="-25">
                <a:latin typeface="Cambria"/>
                <a:cs typeface="Cambria"/>
              </a:rPr>
              <a:t>𝑚</a:t>
            </a:r>
            <a:r>
              <a:rPr dirty="0" baseline="-15873" sz="1050" spc="-37">
                <a:latin typeface="Cambria"/>
                <a:cs typeface="Cambria"/>
              </a:rPr>
              <a:t>2</a:t>
            </a:r>
            <a:r>
              <a:rPr dirty="0" baseline="-15873" sz="1050" spc="750">
                <a:latin typeface="Cambria"/>
                <a:cs typeface="Cambria"/>
              </a:rPr>
              <a:t> </a:t>
            </a:r>
            <a:r>
              <a:rPr dirty="0" sz="1000">
                <a:latin typeface="Times New Roman"/>
                <a:cs typeface="Times New Roman"/>
              </a:rPr>
              <a:t>is</a:t>
            </a:r>
            <a:r>
              <a:rPr dirty="0" sz="1000" spc="55">
                <a:latin typeface="Times New Roman"/>
                <a:cs typeface="Times New Roman"/>
              </a:rPr>
              <a:t> </a:t>
            </a:r>
            <a:r>
              <a:rPr dirty="0" sz="1000" spc="-90">
                <a:latin typeface="Times New Roman"/>
                <a:cs typeface="Times New Roman"/>
              </a:rPr>
              <a:t>an</a:t>
            </a:r>
            <a:r>
              <a:rPr dirty="0" baseline="-70707" sz="825" spc="-135">
                <a:latin typeface="Cambria"/>
                <a:cs typeface="Cambria"/>
              </a:rPr>
              <a:t>𝑚</a:t>
            </a:r>
            <a:r>
              <a:rPr dirty="0" baseline="-70707" sz="825" spc="179">
                <a:latin typeface="Cambria"/>
                <a:cs typeface="Cambria"/>
              </a:rPr>
              <a:t> </a:t>
            </a:r>
            <a:r>
              <a:rPr dirty="0" sz="1000" spc="-90">
                <a:latin typeface="Times New Roman"/>
                <a:cs typeface="Times New Roman"/>
              </a:rPr>
              <a:t>easy</a:t>
            </a:r>
            <a:r>
              <a:rPr dirty="0" baseline="-70707" sz="825" spc="-135">
                <a:latin typeface="Cambria"/>
                <a:cs typeface="Cambria"/>
              </a:rPr>
              <a:t>𝑚</a:t>
            </a:r>
            <a:r>
              <a:rPr dirty="0" sz="1000" spc="-90">
                <a:latin typeface="Times New Roman"/>
                <a:cs typeface="Times New Roman"/>
              </a:rPr>
              <a:t>-</a:t>
            </a:r>
            <a:r>
              <a:rPr dirty="0" sz="1000" spc="-10">
                <a:latin typeface="Times New Roman"/>
                <a:cs typeface="Times New Roman"/>
              </a:rPr>
              <a:t>to-</a:t>
            </a:r>
            <a:r>
              <a:rPr dirty="0" baseline="-70707" sz="825" spc="-52">
                <a:latin typeface="Cambria"/>
                <a:cs typeface="Cambria"/>
              </a:rPr>
              <a:t>𝑚</a:t>
            </a:r>
            <a:r>
              <a:rPr dirty="0" sz="1000" spc="-35">
                <a:latin typeface="Times New Roman"/>
                <a:cs typeface="Times New Roman"/>
              </a:rPr>
              <a:t>learn</a:t>
            </a:r>
            <a:r>
              <a:rPr dirty="0" sz="1000" spc="60">
                <a:latin typeface="Times New Roman"/>
                <a:cs typeface="Times New Roman"/>
              </a:rPr>
              <a:t> </a:t>
            </a:r>
            <a:r>
              <a:rPr dirty="0" sz="1000">
                <a:latin typeface="Times New Roman"/>
                <a:cs typeface="Times New Roman"/>
              </a:rPr>
              <a:t>modality,</a:t>
            </a:r>
            <a:r>
              <a:rPr dirty="0" sz="1000" spc="70">
                <a:latin typeface="Times New Roman"/>
                <a:cs typeface="Times New Roman"/>
              </a:rPr>
              <a:t> </a:t>
            </a:r>
            <a:r>
              <a:rPr dirty="0" sz="1000" spc="-175">
                <a:latin typeface="Cambria"/>
                <a:cs typeface="Cambria"/>
              </a:rPr>
              <a:t>𝑊</a:t>
            </a:r>
            <a:r>
              <a:rPr dirty="0" baseline="-11904" sz="1050" spc="-262">
                <a:latin typeface="Cambria"/>
                <a:cs typeface="Cambria"/>
              </a:rPr>
              <a:t>𝑦</a:t>
            </a:r>
            <a:r>
              <a:rPr dirty="0" baseline="43650" sz="1050" spc="-262">
                <a:latin typeface="Cambria"/>
                <a:cs typeface="Cambria"/>
              </a:rPr>
              <a:t>𝑚</a:t>
            </a:r>
            <a:r>
              <a:rPr dirty="0" baseline="-30303" sz="825" spc="-262">
                <a:latin typeface="Cambria"/>
                <a:cs typeface="Cambria"/>
              </a:rPr>
              <a:t>𝑖</a:t>
            </a:r>
            <a:r>
              <a:rPr dirty="0" baseline="-30303" sz="825" spc="202">
                <a:latin typeface="Cambria"/>
                <a:cs typeface="Cambria"/>
              </a:rPr>
              <a:t> </a:t>
            </a:r>
            <a:r>
              <a:rPr dirty="0" baseline="40404" sz="825">
                <a:latin typeface="Cambria"/>
                <a:cs typeface="Cambria"/>
              </a:rPr>
              <a:t>2</a:t>
            </a:r>
            <a:r>
              <a:rPr dirty="0" baseline="40404" sz="825" spc="-30">
                <a:latin typeface="Cambria"/>
                <a:cs typeface="Cambria"/>
              </a:rPr>
              <a:t> </a:t>
            </a:r>
            <a:r>
              <a:rPr dirty="0" sz="1000">
                <a:latin typeface="Cambria"/>
                <a:cs typeface="Cambria"/>
              </a:rPr>
              <a:t>𝑧</a:t>
            </a:r>
            <a:r>
              <a:rPr dirty="0" baseline="-19841" sz="1050">
                <a:latin typeface="Cambria"/>
                <a:cs typeface="Cambria"/>
              </a:rPr>
              <a:t>𝑖</a:t>
            </a:r>
            <a:r>
              <a:rPr dirty="0" baseline="43650" sz="1050">
                <a:latin typeface="Cambria"/>
                <a:cs typeface="Cambria"/>
              </a:rPr>
              <a:t>𝑚</a:t>
            </a:r>
            <a:r>
              <a:rPr dirty="0" baseline="40404" sz="825">
                <a:latin typeface="Cambria"/>
                <a:cs typeface="Cambria"/>
              </a:rPr>
              <a:t>2</a:t>
            </a:r>
            <a:r>
              <a:rPr dirty="0" baseline="40404" sz="825" spc="457">
                <a:latin typeface="Cambria"/>
                <a:cs typeface="Cambria"/>
              </a:rPr>
              <a:t> </a:t>
            </a:r>
            <a:r>
              <a:rPr dirty="0" sz="1000">
                <a:latin typeface="Times New Roman"/>
                <a:cs typeface="Times New Roman"/>
              </a:rPr>
              <a:t>will</a:t>
            </a:r>
            <a:r>
              <a:rPr dirty="0" sz="1000" spc="60">
                <a:latin typeface="Times New Roman"/>
                <a:cs typeface="Times New Roman"/>
              </a:rPr>
              <a:t> </a:t>
            </a:r>
            <a:r>
              <a:rPr dirty="0" sz="1000">
                <a:latin typeface="Times New Roman"/>
                <a:cs typeface="Times New Roman"/>
              </a:rPr>
              <a:t>be</a:t>
            </a:r>
            <a:r>
              <a:rPr dirty="0" sz="1000" spc="55">
                <a:latin typeface="Times New Roman"/>
                <a:cs typeface="Times New Roman"/>
              </a:rPr>
              <a:t> </a:t>
            </a:r>
            <a:r>
              <a:rPr dirty="0" sz="1000">
                <a:latin typeface="Times New Roman"/>
                <a:cs typeface="Times New Roman"/>
              </a:rPr>
              <a:t>larger</a:t>
            </a:r>
            <a:r>
              <a:rPr dirty="0" sz="1000" spc="55">
                <a:latin typeface="Times New Roman"/>
                <a:cs typeface="Times New Roman"/>
              </a:rPr>
              <a:t> </a:t>
            </a:r>
            <a:r>
              <a:rPr dirty="0" sz="1000" spc="50">
                <a:latin typeface="Times New Roman"/>
                <a:cs typeface="Times New Roman"/>
              </a:rPr>
              <a:t>than</a:t>
            </a:r>
            <a:r>
              <a:rPr dirty="0" sz="1000" spc="65">
                <a:latin typeface="Times New Roman"/>
                <a:cs typeface="Times New Roman"/>
              </a:rPr>
              <a:t> </a:t>
            </a:r>
            <a:r>
              <a:rPr dirty="0" sz="1000" spc="-175">
                <a:latin typeface="Cambria"/>
                <a:cs typeface="Cambria"/>
              </a:rPr>
              <a:t>𝑊</a:t>
            </a:r>
            <a:r>
              <a:rPr dirty="0" baseline="-11904" sz="1050" spc="-262">
                <a:latin typeface="Cambria"/>
                <a:cs typeface="Cambria"/>
              </a:rPr>
              <a:t>𝑦</a:t>
            </a:r>
            <a:r>
              <a:rPr dirty="0" baseline="43650" sz="1050" spc="-262">
                <a:latin typeface="Cambria"/>
                <a:cs typeface="Cambria"/>
              </a:rPr>
              <a:t>𝑚</a:t>
            </a:r>
            <a:r>
              <a:rPr dirty="0" baseline="-30303" sz="825" spc="-262">
                <a:latin typeface="Cambria"/>
                <a:cs typeface="Cambria"/>
              </a:rPr>
              <a:t>𝑖</a:t>
            </a:r>
            <a:r>
              <a:rPr dirty="0" baseline="-30303" sz="825" spc="202">
                <a:latin typeface="Cambria"/>
                <a:cs typeface="Cambria"/>
              </a:rPr>
              <a:t> </a:t>
            </a:r>
            <a:r>
              <a:rPr dirty="0" baseline="40404" sz="825">
                <a:latin typeface="Cambria"/>
                <a:cs typeface="Cambria"/>
              </a:rPr>
              <a:t>1</a:t>
            </a:r>
            <a:r>
              <a:rPr dirty="0" baseline="40404" sz="825" spc="-30">
                <a:latin typeface="Cambria"/>
                <a:cs typeface="Cambria"/>
              </a:rPr>
              <a:t> </a:t>
            </a:r>
            <a:r>
              <a:rPr dirty="0" sz="1000" spc="-10">
                <a:latin typeface="Cambria"/>
                <a:cs typeface="Cambria"/>
              </a:rPr>
              <a:t>𝑧</a:t>
            </a:r>
            <a:r>
              <a:rPr dirty="0" baseline="-19841" sz="1050" spc="-15">
                <a:latin typeface="Cambria"/>
                <a:cs typeface="Cambria"/>
              </a:rPr>
              <a:t>𝑖</a:t>
            </a:r>
            <a:r>
              <a:rPr dirty="0" baseline="43650" sz="1050" spc="-15">
                <a:latin typeface="Cambria"/>
                <a:cs typeface="Cambria"/>
              </a:rPr>
              <a:t>𝑚</a:t>
            </a:r>
            <a:r>
              <a:rPr dirty="0" baseline="40404" sz="825" spc="-15">
                <a:latin typeface="Cambria"/>
                <a:cs typeface="Cambria"/>
              </a:rPr>
              <a:t>1</a:t>
            </a:r>
            <a:r>
              <a:rPr dirty="0" baseline="40404" sz="825" spc="457">
                <a:latin typeface="Cambria"/>
                <a:cs typeface="Cambria"/>
              </a:rPr>
              <a:t> </a:t>
            </a:r>
            <a:r>
              <a:rPr dirty="0" sz="1000">
                <a:latin typeface="Times New Roman"/>
                <a:cs typeface="Times New Roman"/>
              </a:rPr>
              <a:t>,</a:t>
            </a:r>
            <a:r>
              <a:rPr dirty="0" sz="1000" spc="75">
                <a:latin typeface="Times New Roman"/>
                <a:cs typeface="Times New Roman"/>
              </a:rPr>
              <a:t> </a:t>
            </a:r>
            <a:r>
              <a:rPr dirty="0" sz="1000">
                <a:latin typeface="Times New Roman"/>
                <a:cs typeface="Times New Roman"/>
              </a:rPr>
              <a:t>so</a:t>
            </a:r>
            <a:r>
              <a:rPr dirty="0" sz="1000" spc="60">
                <a:latin typeface="Times New Roman"/>
                <a:cs typeface="Times New Roman"/>
              </a:rPr>
              <a:t> </a:t>
            </a:r>
            <a:r>
              <a:rPr dirty="0" sz="1000">
                <a:latin typeface="Cambria"/>
                <a:cs typeface="Cambria"/>
              </a:rPr>
              <a:t>𝑒</a:t>
            </a:r>
            <a:r>
              <a:rPr dirty="0" baseline="39682" sz="1050">
                <a:latin typeface="Cambria"/>
                <a:cs typeface="Cambria"/>
              </a:rPr>
              <a:t>(𝑊</a:t>
            </a:r>
            <a:r>
              <a:rPr dirty="0" baseline="25252" sz="825">
                <a:latin typeface="Cambria"/>
                <a:cs typeface="Cambria"/>
              </a:rPr>
              <a:t>𝑘</a:t>
            </a:r>
            <a:r>
              <a:rPr dirty="0" baseline="25252" sz="825" spc="247">
                <a:latin typeface="Cambria"/>
                <a:cs typeface="Cambria"/>
              </a:rPr>
              <a:t> </a:t>
            </a:r>
            <a:r>
              <a:rPr dirty="0" baseline="80808" sz="825">
                <a:latin typeface="Cambria"/>
                <a:cs typeface="Cambria"/>
              </a:rPr>
              <a:t>2</a:t>
            </a:r>
            <a:r>
              <a:rPr dirty="0" baseline="80808" sz="825" spc="-22">
                <a:latin typeface="Cambria"/>
                <a:cs typeface="Cambria"/>
              </a:rPr>
              <a:t> </a:t>
            </a:r>
            <a:r>
              <a:rPr dirty="0" baseline="39682" sz="1050" spc="97">
                <a:latin typeface="Cambria"/>
                <a:cs typeface="Cambria"/>
              </a:rPr>
              <a:t>−𝑊</a:t>
            </a:r>
            <a:r>
              <a:rPr dirty="0" baseline="40404" sz="825" spc="97">
                <a:latin typeface="Cambria"/>
                <a:cs typeface="Cambria"/>
              </a:rPr>
              <a:t>𝑦</a:t>
            </a:r>
            <a:r>
              <a:rPr dirty="0" baseline="15151" sz="825" spc="97">
                <a:latin typeface="Cambria"/>
                <a:cs typeface="Cambria"/>
              </a:rPr>
              <a:t>𝑖</a:t>
            </a:r>
            <a:r>
              <a:rPr dirty="0" baseline="15151" sz="825" spc="-44">
                <a:latin typeface="Cambria"/>
                <a:cs typeface="Cambria"/>
              </a:rPr>
              <a:t> </a:t>
            </a:r>
            <a:r>
              <a:rPr dirty="0" baseline="80808" sz="825">
                <a:latin typeface="Cambria"/>
                <a:cs typeface="Cambria"/>
              </a:rPr>
              <a:t>2</a:t>
            </a:r>
            <a:r>
              <a:rPr dirty="0" baseline="80808" sz="825" spc="-22">
                <a:latin typeface="Cambria"/>
                <a:cs typeface="Cambria"/>
              </a:rPr>
              <a:t> </a:t>
            </a:r>
            <a:r>
              <a:rPr dirty="0" baseline="39682" sz="1050">
                <a:latin typeface="Cambria"/>
                <a:cs typeface="Cambria"/>
              </a:rPr>
              <a:t>)𝑧</a:t>
            </a:r>
            <a:r>
              <a:rPr dirty="0" baseline="25252" sz="825">
                <a:latin typeface="Cambria"/>
                <a:cs typeface="Cambria"/>
              </a:rPr>
              <a:t>𝑖</a:t>
            </a:r>
            <a:r>
              <a:rPr dirty="0" baseline="25252" sz="825" spc="450">
                <a:latin typeface="Cambria"/>
                <a:cs typeface="Cambria"/>
              </a:rPr>
              <a:t> </a:t>
            </a:r>
            <a:r>
              <a:rPr dirty="0" baseline="80808" sz="825">
                <a:latin typeface="Cambria"/>
                <a:cs typeface="Cambria"/>
              </a:rPr>
              <a:t>2</a:t>
            </a:r>
            <a:r>
              <a:rPr dirty="0" baseline="80808" sz="825" spc="532">
                <a:latin typeface="Cambria"/>
                <a:cs typeface="Cambria"/>
              </a:rPr>
              <a:t> </a:t>
            </a:r>
            <a:r>
              <a:rPr dirty="0" sz="1000">
                <a:latin typeface="Times New Roman"/>
                <a:cs typeface="Times New Roman"/>
              </a:rPr>
              <a:t>will</a:t>
            </a:r>
            <a:r>
              <a:rPr dirty="0" sz="1000" spc="60">
                <a:latin typeface="Times New Roman"/>
                <a:cs typeface="Times New Roman"/>
              </a:rPr>
              <a:t> </a:t>
            </a:r>
            <a:r>
              <a:rPr dirty="0" sz="1000">
                <a:latin typeface="Times New Roman"/>
                <a:cs typeface="Times New Roman"/>
              </a:rPr>
              <a:t>be</a:t>
            </a:r>
            <a:r>
              <a:rPr dirty="0" sz="1000" spc="55">
                <a:latin typeface="Times New Roman"/>
                <a:cs typeface="Times New Roman"/>
              </a:rPr>
              <a:t> </a:t>
            </a:r>
            <a:r>
              <a:rPr dirty="0" sz="1000">
                <a:latin typeface="Times New Roman"/>
                <a:cs typeface="Times New Roman"/>
              </a:rPr>
              <a:t>smaller</a:t>
            </a:r>
            <a:r>
              <a:rPr dirty="0" sz="1000" spc="55">
                <a:latin typeface="Times New Roman"/>
                <a:cs typeface="Times New Roman"/>
              </a:rPr>
              <a:t> </a:t>
            </a:r>
            <a:r>
              <a:rPr dirty="0" sz="1000" spc="30">
                <a:latin typeface="Times New Roman"/>
                <a:cs typeface="Times New Roman"/>
              </a:rPr>
              <a:t>than</a:t>
            </a:r>
            <a:endParaRPr sz="1000">
              <a:latin typeface="Times New Roman"/>
              <a:cs typeface="Times New Roman"/>
            </a:endParaRPr>
          </a:p>
          <a:p>
            <a:pPr algn="just" marL="177800" marR="208279">
              <a:lnSpc>
                <a:spcPct val="129500"/>
              </a:lnSpc>
              <a:spcBef>
                <a:spcPts val="130"/>
              </a:spcBef>
            </a:pPr>
            <a:r>
              <a:rPr dirty="0" sz="1000">
                <a:latin typeface="Cambria"/>
                <a:cs typeface="Cambria"/>
              </a:rPr>
              <a:t>𝑒</a:t>
            </a:r>
            <a:r>
              <a:rPr dirty="0" baseline="39682" sz="1050">
                <a:latin typeface="Cambria"/>
                <a:cs typeface="Cambria"/>
              </a:rPr>
              <a:t>(𝑊</a:t>
            </a:r>
            <a:r>
              <a:rPr dirty="0" baseline="25252" sz="825">
                <a:latin typeface="Cambria"/>
                <a:cs typeface="Cambria"/>
              </a:rPr>
              <a:t>𝑘</a:t>
            </a:r>
            <a:r>
              <a:rPr dirty="0" baseline="25252" sz="825" spc="352">
                <a:latin typeface="Cambria"/>
                <a:cs typeface="Cambria"/>
              </a:rPr>
              <a:t> </a:t>
            </a:r>
            <a:r>
              <a:rPr dirty="0" baseline="80808" sz="825">
                <a:latin typeface="Cambria"/>
                <a:cs typeface="Cambria"/>
              </a:rPr>
              <a:t>1</a:t>
            </a:r>
            <a:r>
              <a:rPr dirty="0" baseline="80808" sz="825" spc="15">
                <a:latin typeface="Cambria"/>
                <a:cs typeface="Cambria"/>
              </a:rPr>
              <a:t> </a:t>
            </a:r>
            <a:r>
              <a:rPr dirty="0" baseline="39682" sz="1050" spc="97">
                <a:latin typeface="Cambria"/>
                <a:cs typeface="Cambria"/>
              </a:rPr>
              <a:t>−𝑊</a:t>
            </a:r>
            <a:r>
              <a:rPr dirty="0" baseline="40404" sz="825" spc="97">
                <a:latin typeface="Cambria"/>
                <a:cs typeface="Cambria"/>
              </a:rPr>
              <a:t>𝑦</a:t>
            </a:r>
            <a:r>
              <a:rPr dirty="0" baseline="15151" sz="825" spc="97">
                <a:latin typeface="Cambria"/>
                <a:cs typeface="Cambria"/>
              </a:rPr>
              <a:t>𝑖</a:t>
            </a:r>
            <a:r>
              <a:rPr dirty="0" baseline="15151" sz="825" spc="-7">
                <a:latin typeface="Cambria"/>
                <a:cs typeface="Cambria"/>
              </a:rPr>
              <a:t> </a:t>
            </a:r>
            <a:r>
              <a:rPr dirty="0" baseline="80808" sz="825">
                <a:latin typeface="Cambria"/>
                <a:cs typeface="Cambria"/>
              </a:rPr>
              <a:t>1</a:t>
            </a:r>
            <a:r>
              <a:rPr dirty="0" baseline="80808" sz="825" spc="15">
                <a:latin typeface="Cambria"/>
                <a:cs typeface="Cambria"/>
              </a:rPr>
              <a:t> </a:t>
            </a:r>
            <a:r>
              <a:rPr dirty="0" baseline="39682" sz="1050">
                <a:latin typeface="Cambria"/>
                <a:cs typeface="Cambria"/>
              </a:rPr>
              <a:t>)𝑧</a:t>
            </a:r>
            <a:r>
              <a:rPr dirty="0" baseline="25252" sz="825">
                <a:latin typeface="Cambria"/>
                <a:cs typeface="Cambria"/>
              </a:rPr>
              <a:t>𝑖</a:t>
            </a:r>
            <a:r>
              <a:rPr dirty="0" baseline="25252" sz="825" spc="600">
                <a:latin typeface="Cambria"/>
                <a:cs typeface="Cambria"/>
              </a:rPr>
              <a:t> </a:t>
            </a:r>
            <a:r>
              <a:rPr dirty="0" baseline="80808" sz="825">
                <a:latin typeface="Cambria"/>
                <a:cs typeface="Cambria"/>
              </a:rPr>
              <a:t>1</a:t>
            </a:r>
            <a:r>
              <a:rPr dirty="0" baseline="80808" sz="825" spc="307">
                <a:latin typeface="Cambria"/>
                <a:cs typeface="Cambria"/>
              </a:rPr>
              <a:t>  </a:t>
            </a:r>
            <a:r>
              <a:rPr dirty="0" sz="1000">
                <a:latin typeface="Times New Roman"/>
                <a:cs typeface="Times New Roman"/>
              </a:rPr>
              <a:t>,</a:t>
            </a:r>
            <a:r>
              <a:rPr dirty="0" sz="1000" spc="225">
                <a:latin typeface="Times New Roman"/>
                <a:cs typeface="Times New Roman"/>
              </a:rPr>
              <a:t> </a:t>
            </a:r>
            <a:r>
              <a:rPr dirty="0" sz="1000">
                <a:latin typeface="Times New Roman"/>
                <a:cs typeface="Times New Roman"/>
              </a:rPr>
              <a:t>which</a:t>
            </a:r>
            <a:r>
              <a:rPr dirty="0" sz="1000" spc="190">
                <a:latin typeface="Times New Roman"/>
                <a:cs typeface="Times New Roman"/>
              </a:rPr>
              <a:t> </a:t>
            </a:r>
            <a:r>
              <a:rPr dirty="0" sz="1000">
                <a:latin typeface="Times New Roman"/>
                <a:cs typeface="Times New Roman"/>
              </a:rPr>
              <a:t>means</a:t>
            </a:r>
            <a:r>
              <a:rPr dirty="0" sz="1000" spc="190">
                <a:latin typeface="Times New Roman"/>
                <a:cs typeface="Times New Roman"/>
              </a:rPr>
              <a:t> </a:t>
            </a:r>
            <a:r>
              <a:rPr dirty="0" sz="1000">
                <a:latin typeface="Times New Roman"/>
                <a:cs typeface="Times New Roman"/>
              </a:rPr>
              <a:t>that</a:t>
            </a:r>
            <a:r>
              <a:rPr dirty="0" sz="1000" spc="195">
                <a:latin typeface="Times New Roman"/>
                <a:cs typeface="Times New Roman"/>
              </a:rPr>
              <a:t> </a:t>
            </a:r>
            <a:r>
              <a:rPr dirty="0" sz="1000">
                <a:latin typeface="Times New Roman"/>
                <a:cs typeface="Times New Roman"/>
              </a:rPr>
              <a:t>the</a:t>
            </a:r>
            <a:r>
              <a:rPr dirty="0" sz="1000" spc="190">
                <a:latin typeface="Times New Roman"/>
                <a:cs typeface="Times New Roman"/>
              </a:rPr>
              <a:t> </a:t>
            </a:r>
            <a:r>
              <a:rPr dirty="0" sz="1000">
                <a:latin typeface="Times New Roman"/>
                <a:cs typeface="Times New Roman"/>
              </a:rPr>
              <a:t>gradient</a:t>
            </a:r>
            <a:r>
              <a:rPr dirty="0" sz="1000" spc="185">
                <a:latin typeface="Times New Roman"/>
                <a:cs typeface="Times New Roman"/>
              </a:rPr>
              <a:t> </a:t>
            </a:r>
            <a:r>
              <a:rPr dirty="0" sz="1000">
                <a:latin typeface="Times New Roman"/>
                <a:cs typeface="Times New Roman"/>
              </a:rPr>
              <a:t>suppression</a:t>
            </a:r>
            <a:r>
              <a:rPr dirty="0" sz="1000" spc="185">
                <a:latin typeface="Times New Roman"/>
                <a:cs typeface="Times New Roman"/>
              </a:rPr>
              <a:t> </a:t>
            </a:r>
            <a:r>
              <a:rPr dirty="0" sz="1000">
                <a:latin typeface="Times New Roman"/>
                <a:cs typeface="Times New Roman"/>
              </a:rPr>
              <a:t>caused</a:t>
            </a:r>
            <a:r>
              <a:rPr dirty="0" sz="1000" spc="195">
                <a:latin typeface="Times New Roman"/>
                <a:cs typeface="Times New Roman"/>
              </a:rPr>
              <a:t> </a:t>
            </a:r>
            <a:r>
              <a:rPr dirty="0" sz="1000">
                <a:latin typeface="Times New Roman"/>
                <a:cs typeface="Times New Roman"/>
              </a:rPr>
              <a:t>by</a:t>
            </a:r>
            <a:r>
              <a:rPr dirty="0" sz="1000" spc="190">
                <a:latin typeface="Times New Roman"/>
                <a:cs typeface="Times New Roman"/>
              </a:rPr>
              <a:t> </a:t>
            </a:r>
            <a:r>
              <a:rPr dirty="0" sz="1000">
                <a:latin typeface="Times New Roman"/>
                <a:cs typeface="Times New Roman"/>
              </a:rPr>
              <a:t>the</a:t>
            </a:r>
            <a:r>
              <a:rPr dirty="0" sz="1000" spc="190">
                <a:latin typeface="Times New Roman"/>
                <a:cs typeface="Times New Roman"/>
              </a:rPr>
              <a:t> </a:t>
            </a:r>
            <a:r>
              <a:rPr dirty="0" sz="1000">
                <a:latin typeface="Times New Roman"/>
                <a:cs typeface="Times New Roman"/>
              </a:rPr>
              <a:t>easy-to-learn</a:t>
            </a:r>
            <a:r>
              <a:rPr dirty="0" sz="1000" spc="195">
                <a:latin typeface="Times New Roman"/>
                <a:cs typeface="Times New Roman"/>
              </a:rPr>
              <a:t> </a:t>
            </a:r>
            <a:r>
              <a:rPr dirty="0" sz="1000">
                <a:latin typeface="Times New Roman"/>
                <a:cs typeface="Times New Roman"/>
              </a:rPr>
              <a:t>modality</a:t>
            </a:r>
            <a:r>
              <a:rPr dirty="0" sz="1000" spc="190">
                <a:latin typeface="Times New Roman"/>
                <a:cs typeface="Times New Roman"/>
              </a:rPr>
              <a:t> </a:t>
            </a:r>
            <a:r>
              <a:rPr dirty="0" sz="1000">
                <a:latin typeface="Times New Roman"/>
                <a:cs typeface="Times New Roman"/>
              </a:rPr>
              <a:t>will</a:t>
            </a:r>
            <a:r>
              <a:rPr dirty="0" sz="1000" spc="195">
                <a:latin typeface="Times New Roman"/>
                <a:cs typeface="Times New Roman"/>
              </a:rPr>
              <a:t> </a:t>
            </a:r>
            <a:r>
              <a:rPr dirty="0" sz="1000" spc="-25">
                <a:latin typeface="Times New Roman"/>
                <a:cs typeface="Times New Roman"/>
              </a:rPr>
              <a:t>be </a:t>
            </a:r>
            <a:r>
              <a:rPr dirty="0" sz="1000">
                <a:latin typeface="Times New Roman"/>
                <a:cs typeface="Times New Roman"/>
              </a:rPr>
              <a:t>greater</a:t>
            </a:r>
            <a:r>
              <a:rPr dirty="0" sz="1000" spc="75">
                <a:latin typeface="Times New Roman"/>
                <a:cs typeface="Times New Roman"/>
              </a:rPr>
              <a:t> </a:t>
            </a:r>
            <a:r>
              <a:rPr dirty="0" sz="1000" spc="50">
                <a:latin typeface="Times New Roman"/>
                <a:cs typeface="Times New Roman"/>
              </a:rPr>
              <a:t>than</a:t>
            </a:r>
            <a:r>
              <a:rPr dirty="0" sz="1000" spc="80">
                <a:latin typeface="Times New Roman"/>
                <a:cs typeface="Times New Roman"/>
              </a:rPr>
              <a:t> </a:t>
            </a:r>
            <a:r>
              <a:rPr dirty="0" sz="1000">
                <a:latin typeface="Times New Roman"/>
                <a:cs typeface="Times New Roman"/>
              </a:rPr>
              <a:t>that</a:t>
            </a:r>
            <a:r>
              <a:rPr dirty="0" sz="1000" spc="75">
                <a:latin typeface="Times New Roman"/>
                <a:cs typeface="Times New Roman"/>
              </a:rPr>
              <a:t> </a:t>
            </a:r>
            <a:r>
              <a:rPr dirty="0" sz="1000">
                <a:latin typeface="Times New Roman"/>
                <a:cs typeface="Times New Roman"/>
              </a:rPr>
              <a:t>of</a:t>
            </a:r>
            <a:r>
              <a:rPr dirty="0" sz="1000" spc="80">
                <a:latin typeface="Times New Roman"/>
                <a:cs typeface="Times New Roman"/>
              </a:rPr>
              <a:t> </a:t>
            </a:r>
            <a:r>
              <a:rPr dirty="0" sz="1000">
                <a:latin typeface="Times New Roman"/>
                <a:cs typeface="Times New Roman"/>
              </a:rPr>
              <a:t>hard-to-learn</a:t>
            </a:r>
            <a:r>
              <a:rPr dirty="0" sz="1000" spc="75">
                <a:latin typeface="Times New Roman"/>
                <a:cs typeface="Times New Roman"/>
              </a:rPr>
              <a:t> </a:t>
            </a:r>
            <a:r>
              <a:rPr dirty="0" sz="1000">
                <a:latin typeface="Times New Roman"/>
                <a:cs typeface="Times New Roman"/>
              </a:rPr>
              <a:t>one.</a:t>
            </a:r>
            <a:r>
              <a:rPr dirty="0" sz="1000" spc="204">
                <a:latin typeface="Times New Roman"/>
                <a:cs typeface="Times New Roman"/>
              </a:rPr>
              <a:t> </a:t>
            </a:r>
            <a:r>
              <a:rPr dirty="0" sz="1000">
                <a:latin typeface="Times New Roman"/>
                <a:cs typeface="Times New Roman"/>
              </a:rPr>
              <a:t>This</a:t>
            </a:r>
            <a:r>
              <a:rPr dirty="0" sz="1000" spc="75">
                <a:latin typeface="Times New Roman"/>
                <a:cs typeface="Times New Roman"/>
              </a:rPr>
              <a:t> </a:t>
            </a:r>
            <a:r>
              <a:rPr dirty="0" sz="1000">
                <a:latin typeface="Times New Roman"/>
                <a:cs typeface="Times New Roman"/>
              </a:rPr>
              <a:t>explains</a:t>
            </a:r>
            <a:r>
              <a:rPr dirty="0" sz="1000" spc="80">
                <a:latin typeface="Times New Roman"/>
                <a:cs typeface="Times New Roman"/>
              </a:rPr>
              <a:t> </a:t>
            </a:r>
            <a:r>
              <a:rPr dirty="0" sz="1000">
                <a:latin typeface="Times New Roman"/>
                <a:cs typeface="Times New Roman"/>
              </a:rPr>
              <a:t>why</a:t>
            </a:r>
            <a:r>
              <a:rPr dirty="0" sz="1000" spc="7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easy-to-learn</a:t>
            </a:r>
            <a:r>
              <a:rPr dirty="0" sz="1000" spc="75">
                <a:latin typeface="Times New Roman"/>
                <a:cs typeface="Times New Roman"/>
              </a:rPr>
              <a:t> </a:t>
            </a:r>
            <a:r>
              <a:rPr dirty="0" sz="1000">
                <a:latin typeface="Times New Roman"/>
                <a:cs typeface="Times New Roman"/>
              </a:rPr>
              <a:t>modality</a:t>
            </a:r>
            <a:r>
              <a:rPr dirty="0" sz="1000" spc="80">
                <a:latin typeface="Times New Roman"/>
                <a:cs typeface="Times New Roman"/>
              </a:rPr>
              <a:t> </a:t>
            </a:r>
            <a:r>
              <a:rPr dirty="0" sz="1000">
                <a:latin typeface="Times New Roman"/>
                <a:cs typeface="Times New Roman"/>
              </a:rPr>
              <a:t>performs</a:t>
            </a:r>
            <a:r>
              <a:rPr dirty="0" sz="1000" spc="75">
                <a:latin typeface="Times New Roman"/>
                <a:cs typeface="Times New Roman"/>
              </a:rPr>
              <a:t> </a:t>
            </a:r>
            <a:r>
              <a:rPr dirty="0" sz="1000">
                <a:latin typeface="Times New Roman"/>
                <a:cs typeface="Times New Roman"/>
              </a:rPr>
              <a:t>better</a:t>
            </a:r>
            <a:r>
              <a:rPr dirty="0" sz="1000" spc="80">
                <a:latin typeface="Times New Roman"/>
                <a:cs typeface="Times New Roman"/>
              </a:rPr>
              <a:t> </a:t>
            </a:r>
            <a:r>
              <a:rPr dirty="0" sz="1000" spc="50">
                <a:latin typeface="Times New Roman"/>
                <a:cs typeface="Times New Roman"/>
              </a:rPr>
              <a:t>than</a:t>
            </a:r>
            <a:r>
              <a:rPr dirty="0" sz="1000" spc="75">
                <a:latin typeface="Times New Roman"/>
                <a:cs typeface="Times New Roman"/>
              </a:rPr>
              <a:t> </a:t>
            </a:r>
            <a:r>
              <a:rPr dirty="0" sz="1000" spc="-25">
                <a:latin typeface="Times New Roman"/>
                <a:cs typeface="Times New Roman"/>
              </a:rPr>
              <a:t>the </a:t>
            </a:r>
            <a:r>
              <a:rPr dirty="0" sz="1000">
                <a:latin typeface="Times New Roman"/>
                <a:cs typeface="Times New Roman"/>
              </a:rPr>
              <a:t>hard-to-learn</a:t>
            </a:r>
            <a:r>
              <a:rPr dirty="0" sz="1000" spc="140">
                <a:latin typeface="Times New Roman"/>
                <a:cs typeface="Times New Roman"/>
              </a:rPr>
              <a:t> </a:t>
            </a:r>
            <a:r>
              <a:rPr dirty="0" sz="1000">
                <a:latin typeface="Times New Roman"/>
                <a:cs typeface="Times New Roman"/>
              </a:rPr>
              <a:t>one</a:t>
            </a:r>
            <a:r>
              <a:rPr dirty="0" sz="1000" spc="145">
                <a:latin typeface="Times New Roman"/>
                <a:cs typeface="Times New Roman"/>
              </a:rPr>
              <a:t> </a:t>
            </a:r>
            <a:r>
              <a:rPr dirty="0" sz="1000">
                <a:latin typeface="Times New Roman"/>
                <a:cs typeface="Times New Roman"/>
              </a:rPr>
              <a:t>when</a:t>
            </a:r>
            <a:r>
              <a:rPr dirty="0" sz="1000" spc="140">
                <a:latin typeface="Times New Roman"/>
                <a:cs typeface="Times New Roman"/>
              </a:rPr>
              <a:t> </a:t>
            </a:r>
            <a:r>
              <a:rPr dirty="0" sz="1000">
                <a:latin typeface="Times New Roman"/>
                <a:cs typeface="Times New Roman"/>
              </a:rPr>
              <a:t>the</a:t>
            </a:r>
            <a:r>
              <a:rPr dirty="0" sz="1000" spc="145">
                <a:latin typeface="Times New Roman"/>
                <a:cs typeface="Times New Roman"/>
              </a:rPr>
              <a:t> </a:t>
            </a:r>
            <a:r>
              <a:rPr dirty="0" sz="1000">
                <a:latin typeface="Times New Roman"/>
                <a:cs typeface="Times New Roman"/>
              </a:rPr>
              <a:t>modality</a:t>
            </a:r>
            <a:r>
              <a:rPr dirty="0" sz="1000" spc="140">
                <a:latin typeface="Times New Roman"/>
                <a:cs typeface="Times New Roman"/>
              </a:rPr>
              <a:t> </a:t>
            </a:r>
            <a:r>
              <a:rPr dirty="0" sz="1000">
                <a:latin typeface="Times New Roman"/>
                <a:cs typeface="Times New Roman"/>
              </a:rPr>
              <a:t>gradients</a:t>
            </a:r>
            <a:r>
              <a:rPr dirty="0" sz="1000" spc="145">
                <a:latin typeface="Times New Roman"/>
                <a:cs typeface="Times New Roman"/>
              </a:rPr>
              <a:t> </a:t>
            </a:r>
            <a:r>
              <a:rPr dirty="0" sz="1000">
                <a:latin typeface="Times New Roman"/>
                <a:cs typeface="Times New Roman"/>
              </a:rPr>
              <a:t>interfere</a:t>
            </a:r>
            <a:r>
              <a:rPr dirty="0" sz="1000" spc="145">
                <a:latin typeface="Times New Roman"/>
                <a:cs typeface="Times New Roman"/>
              </a:rPr>
              <a:t> </a:t>
            </a:r>
            <a:r>
              <a:rPr dirty="0" sz="1000">
                <a:latin typeface="Times New Roman"/>
                <a:cs typeface="Times New Roman"/>
              </a:rPr>
              <a:t>with</a:t>
            </a:r>
            <a:r>
              <a:rPr dirty="0" sz="1000" spc="140">
                <a:latin typeface="Times New Roman"/>
                <a:cs typeface="Times New Roman"/>
              </a:rPr>
              <a:t> </a:t>
            </a:r>
            <a:r>
              <a:rPr dirty="0" sz="1000">
                <a:latin typeface="Times New Roman"/>
                <a:cs typeface="Times New Roman"/>
              </a:rPr>
              <a:t>each</a:t>
            </a:r>
            <a:r>
              <a:rPr dirty="0" sz="1000" spc="145">
                <a:latin typeface="Times New Roman"/>
                <a:cs typeface="Times New Roman"/>
              </a:rPr>
              <a:t> </a:t>
            </a:r>
            <a:r>
              <a:rPr dirty="0" sz="1000" spc="-10">
                <a:latin typeface="Times New Roman"/>
                <a:cs typeface="Times New Roman"/>
              </a:rPr>
              <a:t>other.</a:t>
            </a:r>
            <a:endParaRPr sz="1000">
              <a:latin typeface="Times New Roman"/>
              <a:cs typeface="Times New Roman"/>
            </a:endParaRPr>
          </a:p>
          <a:p>
            <a:pPr>
              <a:lnSpc>
                <a:spcPct val="100000"/>
              </a:lnSpc>
              <a:spcBef>
                <a:spcPts val="225"/>
              </a:spcBef>
            </a:pPr>
            <a:endParaRPr sz="1000">
              <a:latin typeface="Times New Roman"/>
              <a:cs typeface="Times New Roman"/>
            </a:endParaRPr>
          </a:p>
          <a:p>
            <a:pPr algn="just" marL="357505" marR="387985">
              <a:lnSpc>
                <a:spcPct val="131500"/>
              </a:lnSpc>
            </a:pPr>
            <a:r>
              <a:rPr dirty="0" sz="1000" spc="-40">
                <a:latin typeface="SimSun"/>
                <a:cs typeface="SimSun"/>
              </a:rPr>
              <a:t>因为参数是沿着负梯度方向更新的，单模态模型中的编码器 </a:t>
            </a:r>
            <a:r>
              <a:rPr dirty="0" sz="1000" spc="-45">
                <a:latin typeface="Cambria"/>
                <a:cs typeface="Cambria"/>
              </a:rPr>
              <a:t>𝜑</a:t>
            </a:r>
            <a:r>
              <a:rPr dirty="0" baseline="-15873" sz="1050" spc="-67">
                <a:latin typeface="Cambria"/>
                <a:cs typeface="Cambria"/>
              </a:rPr>
              <a:t>1</a:t>
            </a:r>
            <a:r>
              <a:rPr dirty="0" baseline="-15873" sz="1050" spc="89">
                <a:latin typeface="Cambria"/>
                <a:cs typeface="Cambria"/>
              </a:rPr>
              <a:t> </a:t>
            </a:r>
            <a:r>
              <a:rPr dirty="0" sz="1000" spc="-10">
                <a:latin typeface="Cambria"/>
                <a:cs typeface="Cambria"/>
              </a:rPr>
              <a:t>(𝜃</a:t>
            </a:r>
            <a:r>
              <a:rPr dirty="0" baseline="-15873" sz="1050" spc="-15">
                <a:latin typeface="Cambria"/>
                <a:cs typeface="Cambria"/>
              </a:rPr>
              <a:t>1</a:t>
            </a:r>
            <a:r>
              <a:rPr dirty="0" sz="1000" spc="-30">
                <a:latin typeface="Cambria"/>
                <a:cs typeface="Cambria"/>
              </a:rPr>
              <a:t>, ⋅) </a:t>
            </a:r>
            <a:r>
              <a:rPr dirty="0" sz="1000" spc="-10">
                <a:latin typeface="SimSun"/>
                <a:cs typeface="SimSun"/>
              </a:rPr>
              <a:t>将比多模态模型中的收敛得更</a:t>
            </a:r>
            <a:r>
              <a:rPr dirty="0" sz="1000" spc="-100">
                <a:latin typeface="SimSun"/>
                <a:cs typeface="SimSun"/>
              </a:rPr>
              <a:t>快。换句话说，与单模态模型相比，多模态模型限制了模态编码器的优化。因此，多模态模型中的每</a:t>
            </a:r>
            <a:r>
              <a:rPr dirty="0" sz="1000" spc="-25">
                <a:latin typeface="SimSun"/>
                <a:cs typeface="SimSun"/>
              </a:rPr>
              <a:t>个模态，包括性能较高的主导模态，将遭受学习不足的问题，并且比单模态模型中的性</a:t>
            </a:r>
            <a:r>
              <a:rPr dirty="0" baseline="-60606" sz="825" spc="-15">
                <a:latin typeface="Cambria"/>
                <a:cs typeface="Cambria"/>
              </a:rPr>
              <a:t>𝑚</a:t>
            </a:r>
            <a:r>
              <a:rPr dirty="0" sz="1000" spc="-85">
                <a:latin typeface="SimSun"/>
                <a:cs typeface="SimSun"/>
              </a:rPr>
              <a:t>能更</a:t>
            </a:r>
            <a:r>
              <a:rPr dirty="0" baseline="-60606" sz="825" spc="-480">
                <a:latin typeface="Cambria"/>
                <a:cs typeface="Cambria"/>
              </a:rPr>
              <a:t>𝑚</a:t>
            </a:r>
            <a:r>
              <a:rPr dirty="0" sz="1000" spc="-135">
                <a:latin typeface="SimSun"/>
                <a:cs typeface="SimSun"/>
              </a:rPr>
              <a:t>差 </a:t>
            </a:r>
            <a:r>
              <a:rPr dirty="0" sz="1000" spc="-240">
                <a:latin typeface="Times New Roman"/>
                <a:cs typeface="Times New Roman"/>
              </a:rPr>
              <a:t>(</a:t>
            </a:r>
            <a:r>
              <a:rPr dirty="0" baseline="-60606" sz="825" spc="-359">
                <a:latin typeface="Cambria"/>
                <a:cs typeface="Cambria"/>
              </a:rPr>
              <a:t>𝑚</a:t>
            </a:r>
            <a:r>
              <a:rPr dirty="0" sz="1000" spc="-10">
                <a:latin typeface="SimSun"/>
                <a:cs typeface="SimSun"/>
              </a:rPr>
              <a:t>见</a:t>
            </a:r>
            <a:r>
              <a:rPr dirty="0" sz="1000" spc="-145">
                <a:latin typeface="SimSun"/>
                <a:cs typeface="SimSun"/>
              </a:rPr>
              <a:t>图 </a:t>
            </a:r>
            <a:r>
              <a:rPr dirty="0" sz="1000">
                <a:latin typeface="Times New Roman"/>
                <a:cs typeface="Times New Roman"/>
              </a:rPr>
              <a:t>1(b))</a:t>
            </a:r>
            <a:r>
              <a:rPr dirty="0" sz="1000" spc="-285">
                <a:latin typeface="SimSun"/>
                <a:cs typeface="SimSun"/>
              </a:rPr>
              <a:t>。此</a:t>
            </a:r>
            <a:r>
              <a:rPr dirty="0" baseline="-70707" sz="825" spc="67">
                <a:latin typeface="Cambria"/>
                <a:cs typeface="Cambria"/>
              </a:rPr>
              <a:t>𝑚</a:t>
            </a:r>
            <a:r>
              <a:rPr dirty="0" sz="1000" spc="-135">
                <a:latin typeface="SimSun"/>
                <a:cs typeface="SimSun"/>
              </a:rPr>
              <a:t>外，</a:t>
            </a:r>
            <a:r>
              <a:rPr dirty="0" baseline="-70707" sz="825" spc="-390">
                <a:latin typeface="Cambria"/>
                <a:cs typeface="Cambria"/>
              </a:rPr>
              <a:t>𝑚</a:t>
            </a:r>
            <a:r>
              <a:rPr dirty="0" sz="1000" spc="-245">
                <a:latin typeface="SimSun"/>
                <a:cs typeface="SimSun"/>
              </a:rPr>
              <a:t>如果</a:t>
            </a:r>
            <a:r>
              <a:rPr dirty="0" baseline="-70707" sz="825" spc="165">
                <a:latin typeface="Cambria"/>
                <a:cs typeface="Cambria"/>
              </a:rPr>
              <a:t>𝑚</a:t>
            </a:r>
            <a:r>
              <a:rPr dirty="0" baseline="-70707" sz="825" spc="-15">
                <a:latin typeface="Cambria"/>
                <a:cs typeface="Cambria"/>
              </a:rPr>
              <a:t> </a:t>
            </a:r>
            <a:r>
              <a:rPr dirty="0" sz="1000" spc="-20">
                <a:latin typeface="Cambria"/>
                <a:cs typeface="Cambria"/>
              </a:rPr>
              <a:t>𝑚</a:t>
            </a:r>
            <a:r>
              <a:rPr dirty="0" baseline="-15873" sz="1050" spc="-30">
                <a:latin typeface="Cambria"/>
                <a:cs typeface="Cambria"/>
              </a:rPr>
              <a:t>2</a:t>
            </a:r>
            <a:r>
              <a:rPr dirty="0" baseline="-15873" sz="1050" spc="179">
                <a:latin typeface="Cambria"/>
                <a:cs typeface="Cambria"/>
              </a:rPr>
              <a:t> </a:t>
            </a:r>
            <a:r>
              <a:rPr dirty="0" sz="1000" spc="-25">
                <a:latin typeface="SimSun"/>
                <a:cs typeface="SimSun"/>
              </a:rPr>
              <a:t>是一个易于学习的模态，</a:t>
            </a:r>
            <a:r>
              <a:rPr dirty="0" sz="1000" spc="-145">
                <a:latin typeface="Cambria"/>
                <a:cs typeface="Cambria"/>
              </a:rPr>
              <a:t>𝑊</a:t>
            </a:r>
            <a:r>
              <a:rPr dirty="0" baseline="-11904" sz="1050" spc="-217">
                <a:latin typeface="Cambria"/>
                <a:cs typeface="Cambria"/>
              </a:rPr>
              <a:t>𝑦</a:t>
            </a:r>
            <a:r>
              <a:rPr dirty="0" baseline="39682" sz="1050" spc="-217">
                <a:latin typeface="Cambria"/>
                <a:cs typeface="Cambria"/>
              </a:rPr>
              <a:t>𝑚</a:t>
            </a:r>
            <a:r>
              <a:rPr dirty="0" baseline="-30303" sz="825" spc="-217">
                <a:latin typeface="Cambria"/>
                <a:cs typeface="Cambria"/>
              </a:rPr>
              <a:t>𝑖</a:t>
            </a:r>
            <a:r>
              <a:rPr dirty="0" baseline="-30303" sz="825" spc="172">
                <a:latin typeface="Cambria"/>
                <a:cs typeface="Cambria"/>
              </a:rPr>
              <a:t> </a:t>
            </a:r>
            <a:r>
              <a:rPr dirty="0" baseline="40404" sz="825" spc="7">
                <a:latin typeface="Cambria"/>
                <a:cs typeface="Cambria"/>
              </a:rPr>
              <a:t>2</a:t>
            </a:r>
            <a:r>
              <a:rPr dirty="0" baseline="40404" sz="825" spc="-37">
                <a:latin typeface="Cambria"/>
                <a:cs typeface="Cambria"/>
              </a:rPr>
              <a:t> </a:t>
            </a:r>
            <a:r>
              <a:rPr dirty="0" sz="1000" spc="-40">
                <a:latin typeface="Cambria"/>
                <a:cs typeface="Cambria"/>
              </a:rPr>
              <a:t>𝑧</a:t>
            </a:r>
            <a:r>
              <a:rPr dirty="0" baseline="-19841" sz="1050" spc="-60">
                <a:latin typeface="Cambria"/>
                <a:cs typeface="Cambria"/>
              </a:rPr>
              <a:t>𝑖</a:t>
            </a:r>
            <a:r>
              <a:rPr dirty="0" baseline="39682" sz="1050" spc="-60">
                <a:latin typeface="Cambria"/>
                <a:cs typeface="Cambria"/>
              </a:rPr>
              <a:t>𝑚</a:t>
            </a:r>
            <a:r>
              <a:rPr dirty="0" baseline="40404" sz="825" spc="-60">
                <a:latin typeface="Cambria"/>
                <a:cs typeface="Cambria"/>
              </a:rPr>
              <a:t>2</a:t>
            </a:r>
            <a:r>
              <a:rPr dirty="0" baseline="40404" sz="825" spc="322">
                <a:latin typeface="Cambria"/>
                <a:cs typeface="Cambria"/>
              </a:rPr>
              <a:t> </a:t>
            </a:r>
            <a:r>
              <a:rPr dirty="0" sz="1000" spc="65">
                <a:latin typeface="SimSun"/>
                <a:cs typeface="SimSun"/>
              </a:rPr>
              <a:t>将大于</a:t>
            </a:r>
            <a:r>
              <a:rPr dirty="0" sz="1000" spc="-170">
                <a:latin typeface="Cambria"/>
                <a:cs typeface="Cambria"/>
              </a:rPr>
              <a:t>𝑊</a:t>
            </a:r>
            <a:r>
              <a:rPr dirty="0" baseline="-11904" sz="1050" spc="-254">
                <a:latin typeface="Cambria"/>
                <a:cs typeface="Cambria"/>
              </a:rPr>
              <a:t>𝑦</a:t>
            </a:r>
            <a:r>
              <a:rPr dirty="0" baseline="39682" sz="1050" spc="-254">
                <a:latin typeface="Cambria"/>
                <a:cs typeface="Cambria"/>
              </a:rPr>
              <a:t>𝑚</a:t>
            </a:r>
            <a:r>
              <a:rPr dirty="0" baseline="-30303" sz="825" spc="-254">
                <a:latin typeface="Cambria"/>
                <a:cs typeface="Cambria"/>
              </a:rPr>
              <a:t>𝑖</a:t>
            </a:r>
            <a:r>
              <a:rPr dirty="0" baseline="-30303" sz="825" spc="172">
                <a:latin typeface="Cambria"/>
                <a:cs typeface="Cambria"/>
              </a:rPr>
              <a:t> </a:t>
            </a:r>
            <a:r>
              <a:rPr dirty="0" baseline="40404" sz="825" spc="7">
                <a:latin typeface="Cambria"/>
                <a:cs typeface="Cambria"/>
              </a:rPr>
              <a:t>1</a:t>
            </a:r>
            <a:r>
              <a:rPr dirty="0" baseline="40404" sz="825" spc="-37">
                <a:latin typeface="Cambria"/>
                <a:cs typeface="Cambria"/>
              </a:rPr>
              <a:t> </a:t>
            </a:r>
            <a:r>
              <a:rPr dirty="0" sz="1000" spc="-35">
                <a:latin typeface="Cambria"/>
                <a:cs typeface="Cambria"/>
              </a:rPr>
              <a:t>𝑧</a:t>
            </a:r>
            <a:r>
              <a:rPr dirty="0" baseline="-19841" sz="1050" spc="-52">
                <a:latin typeface="Cambria"/>
                <a:cs typeface="Cambria"/>
              </a:rPr>
              <a:t>𝑖</a:t>
            </a:r>
            <a:r>
              <a:rPr dirty="0" baseline="39682" sz="1050" spc="-52">
                <a:latin typeface="Cambria"/>
                <a:cs typeface="Cambria"/>
              </a:rPr>
              <a:t>𝑚</a:t>
            </a:r>
            <a:r>
              <a:rPr dirty="0" baseline="40404" sz="825" spc="-52">
                <a:latin typeface="Cambria"/>
                <a:cs typeface="Cambria"/>
              </a:rPr>
              <a:t>1</a:t>
            </a:r>
            <a:r>
              <a:rPr dirty="0" baseline="40404" sz="825" spc="322">
                <a:latin typeface="Cambria"/>
                <a:cs typeface="Cambria"/>
              </a:rPr>
              <a:t> </a:t>
            </a:r>
            <a:r>
              <a:rPr dirty="0" sz="1000" spc="50">
                <a:latin typeface="SimSun"/>
                <a:cs typeface="SimSun"/>
              </a:rPr>
              <a:t>，所以</a:t>
            </a:r>
            <a:r>
              <a:rPr dirty="0" sz="1000" spc="20">
                <a:latin typeface="Cambria"/>
                <a:cs typeface="Cambria"/>
              </a:rPr>
              <a:t>𝑒</a:t>
            </a:r>
            <a:r>
              <a:rPr dirty="0" baseline="39682" sz="1050" spc="30">
                <a:latin typeface="Cambria"/>
                <a:cs typeface="Cambria"/>
              </a:rPr>
              <a:t>(𝑊</a:t>
            </a:r>
            <a:r>
              <a:rPr dirty="0" baseline="25252" sz="825" spc="30">
                <a:latin typeface="Cambria"/>
                <a:cs typeface="Cambria"/>
              </a:rPr>
              <a:t>𝑘</a:t>
            </a:r>
            <a:r>
              <a:rPr dirty="0" baseline="25252" sz="825" spc="217">
                <a:latin typeface="Cambria"/>
                <a:cs typeface="Cambria"/>
              </a:rPr>
              <a:t> </a:t>
            </a:r>
            <a:r>
              <a:rPr dirty="0" baseline="80808" sz="825" spc="7">
                <a:latin typeface="Cambria"/>
                <a:cs typeface="Cambria"/>
              </a:rPr>
              <a:t>2</a:t>
            </a:r>
            <a:r>
              <a:rPr dirty="0" baseline="80808" sz="825" spc="-37">
                <a:latin typeface="Cambria"/>
                <a:cs typeface="Cambria"/>
              </a:rPr>
              <a:t> </a:t>
            </a:r>
            <a:r>
              <a:rPr dirty="0" baseline="39682" sz="1050" spc="97">
                <a:latin typeface="Cambria"/>
                <a:cs typeface="Cambria"/>
              </a:rPr>
              <a:t>−𝑊</a:t>
            </a:r>
            <a:r>
              <a:rPr dirty="0" baseline="40404" sz="825" spc="97">
                <a:latin typeface="Cambria"/>
                <a:cs typeface="Cambria"/>
              </a:rPr>
              <a:t>𝑦</a:t>
            </a:r>
            <a:r>
              <a:rPr dirty="0" baseline="15151" sz="825" spc="97">
                <a:latin typeface="Cambria"/>
                <a:cs typeface="Cambria"/>
              </a:rPr>
              <a:t>𝑖</a:t>
            </a:r>
            <a:r>
              <a:rPr dirty="0" baseline="15151" sz="825" spc="-52">
                <a:latin typeface="Cambria"/>
                <a:cs typeface="Cambria"/>
              </a:rPr>
              <a:t> </a:t>
            </a:r>
            <a:r>
              <a:rPr dirty="0" baseline="80808" sz="825" spc="7">
                <a:latin typeface="Cambria"/>
                <a:cs typeface="Cambria"/>
              </a:rPr>
              <a:t>2</a:t>
            </a:r>
            <a:r>
              <a:rPr dirty="0" baseline="80808" sz="825" spc="-37">
                <a:latin typeface="Cambria"/>
                <a:cs typeface="Cambria"/>
              </a:rPr>
              <a:t> </a:t>
            </a:r>
            <a:r>
              <a:rPr dirty="0" baseline="39682" sz="1050" spc="60">
                <a:latin typeface="Cambria"/>
                <a:cs typeface="Cambria"/>
              </a:rPr>
              <a:t>)𝑧</a:t>
            </a:r>
            <a:r>
              <a:rPr dirty="0" baseline="25252" sz="825" spc="60">
                <a:latin typeface="Cambria"/>
                <a:cs typeface="Cambria"/>
              </a:rPr>
              <a:t>𝑖</a:t>
            </a:r>
            <a:r>
              <a:rPr dirty="0" baseline="25252" sz="825" spc="405">
                <a:latin typeface="Cambria"/>
                <a:cs typeface="Cambria"/>
              </a:rPr>
              <a:t> </a:t>
            </a:r>
            <a:r>
              <a:rPr dirty="0" baseline="80808" sz="825" spc="7">
                <a:latin typeface="Cambria"/>
                <a:cs typeface="Cambria"/>
              </a:rPr>
              <a:t>2</a:t>
            </a:r>
            <a:r>
              <a:rPr dirty="0" sz="1000" spc="60">
                <a:latin typeface="SimSun"/>
                <a:cs typeface="SimSun"/>
              </a:rPr>
              <a:t>将小于</a:t>
            </a:r>
            <a:r>
              <a:rPr dirty="0" sz="1000" spc="20">
                <a:latin typeface="Cambria"/>
                <a:cs typeface="Cambria"/>
              </a:rPr>
              <a:t>𝑒</a:t>
            </a:r>
            <a:r>
              <a:rPr dirty="0" baseline="39682" sz="1050" spc="30">
                <a:latin typeface="Cambria"/>
                <a:cs typeface="Cambria"/>
              </a:rPr>
              <a:t>(𝑊</a:t>
            </a:r>
            <a:r>
              <a:rPr dirty="0" baseline="25252" sz="825" spc="30">
                <a:latin typeface="Cambria"/>
                <a:cs typeface="Cambria"/>
              </a:rPr>
              <a:t>𝑘</a:t>
            </a:r>
            <a:r>
              <a:rPr dirty="0" baseline="25252" sz="825" spc="217">
                <a:latin typeface="Cambria"/>
                <a:cs typeface="Cambria"/>
              </a:rPr>
              <a:t> </a:t>
            </a:r>
            <a:r>
              <a:rPr dirty="0" baseline="80808" sz="825" spc="7">
                <a:latin typeface="Cambria"/>
                <a:cs typeface="Cambria"/>
              </a:rPr>
              <a:t>1</a:t>
            </a:r>
            <a:r>
              <a:rPr dirty="0" baseline="80808" sz="825" spc="-37">
                <a:latin typeface="Cambria"/>
                <a:cs typeface="Cambria"/>
              </a:rPr>
              <a:t> </a:t>
            </a:r>
            <a:r>
              <a:rPr dirty="0" baseline="39682" sz="1050" spc="97">
                <a:latin typeface="Cambria"/>
                <a:cs typeface="Cambria"/>
              </a:rPr>
              <a:t>−𝑊</a:t>
            </a:r>
            <a:r>
              <a:rPr dirty="0" baseline="40404" sz="825" spc="97">
                <a:latin typeface="Cambria"/>
                <a:cs typeface="Cambria"/>
              </a:rPr>
              <a:t>𝑦</a:t>
            </a:r>
            <a:r>
              <a:rPr dirty="0" baseline="15151" sz="825" spc="97">
                <a:latin typeface="Cambria"/>
                <a:cs typeface="Cambria"/>
              </a:rPr>
              <a:t>𝑖</a:t>
            </a:r>
            <a:r>
              <a:rPr dirty="0" baseline="15151" sz="825" spc="-52">
                <a:latin typeface="Cambria"/>
                <a:cs typeface="Cambria"/>
              </a:rPr>
              <a:t> </a:t>
            </a:r>
            <a:r>
              <a:rPr dirty="0" baseline="80808" sz="825" spc="7">
                <a:latin typeface="Cambria"/>
                <a:cs typeface="Cambria"/>
              </a:rPr>
              <a:t>1</a:t>
            </a:r>
            <a:r>
              <a:rPr dirty="0" baseline="80808" sz="825" spc="-37">
                <a:latin typeface="Cambria"/>
                <a:cs typeface="Cambria"/>
              </a:rPr>
              <a:t> </a:t>
            </a:r>
            <a:r>
              <a:rPr dirty="0" baseline="39682" sz="1050" spc="60">
                <a:latin typeface="Cambria"/>
                <a:cs typeface="Cambria"/>
              </a:rPr>
              <a:t>)𝑧</a:t>
            </a:r>
            <a:r>
              <a:rPr dirty="0" baseline="25252" sz="825" spc="60">
                <a:latin typeface="Cambria"/>
                <a:cs typeface="Cambria"/>
              </a:rPr>
              <a:t>𝑖</a:t>
            </a:r>
            <a:r>
              <a:rPr dirty="0" baseline="25252" sz="825" spc="405">
                <a:latin typeface="Cambria"/>
                <a:cs typeface="Cambria"/>
              </a:rPr>
              <a:t> </a:t>
            </a:r>
            <a:r>
              <a:rPr dirty="0" baseline="80808" sz="825" spc="7">
                <a:latin typeface="Cambria"/>
                <a:cs typeface="Cambria"/>
              </a:rPr>
              <a:t>1</a:t>
            </a:r>
            <a:r>
              <a:rPr dirty="0" baseline="80808" sz="825">
                <a:latin typeface="Cambria"/>
                <a:cs typeface="Cambria"/>
              </a:rPr>
              <a:t>   </a:t>
            </a:r>
            <a:r>
              <a:rPr dirty="0" sz="1000" spc="-50">
                <a:latin typeface="SimSun"/>
                <a:cs typeface="SimSun"/>
              </a:rPr>
              <a:t>，这意味着易于学习的模态引起的梯度抑制将大于难以学习的模态。这解释</a:t>
            </a:r>
            <a:r>
              <a:rPr dirty="0" sz="1000" spc="-10">
                <a:latin typeface="SimSun"/>
                <a:cs typeface="SimSun"/>
              </a:rPr>
              <a:t>了为什么当模态梯度相互干扰时，易于学习的模态比难以学习的模态表现更好。</a:t>
            </a:r>
            <a:endParaRPr sz="1000">
              <a:latin typeface="SimSun"/>
              <a:cs typeface="SimSun"/>
            </a:endParaRPr>
          </a:p>
        </p:txBody>
      </p:sp>
      <p:pic>
        <p:nvPicPr>
          <p:cNvPr id="6" name="object 6" descr=""/>
          <p:cNvPicPr/>
          <p:nvPr/>
        </p:nvPicPr>
        <p:blipFill>
          <a:blip r:embed="rId2" cstate="print"/>
          <a:stretch>
            <a:fillRect/>
          </a:stretch>
        </p:blipFill>
        <p:spPr>
          <a:xfrm>
            <a:off x="900037" y="4761193"/>
            <a:ext cx="5759912" cy="2337754"/>
          </a:xfrm>
          <a:prstGeom prst="rect">
            <a:avLst/>
          </a:prstGeom>
        </p:spPr>
      </p:pic>
      <p:grpSp>
        <p:nvGrpSpPr>
          <p:cNvPr id="7" name="object 7" descr=""/>
          <p:cNvGrpSpPr/>
          <p:nvPr/>
        </p:nvGrpSpPr>
        <p:grpSpPr>
          <a:xfrm>
            <a:off x="899998" y="8772894"/>
            <a:ext cx="5760085" cy="930910"/>
            <a:chOff x="899998" y="8772894"/>
            <a:chExt cx="5760085" cy="930910"/>
          </a:xfrm>
        </p:grpSpPr>
        <p:sp>
          <p:nvSpPr>
            <p:cNvPr id="8" name="object 8" descr=""/>
            <p:cNvSpPr/>
            <p:nvPr/>
          </p:nvSpPr>
          <p:spPr>
            <a:xfrm>
              <a:off x="899998" y="8772894"/>
              <a:ext cx="5760085" cy="930910"/>
            </a:xfrm>
            <a:custGeom>
              <a:avLst/>
              <a:gdLst/>
              <a:ahLst/>
              <a:cxnLst/>
              <a:rect l="l" t="t" r="r" b="b"/>
              <a:pathLst>
                <a:path w="5760084" h="930909">
                  <a:moveTo>
                    <a:pt x="5724074" y="0"/>
                  </a:moveTo>
                  <a:lnTo>
                    <a:pt x="36000" y="0"/>
                  </a:lnTo>
                  <a:lnTo>
                    <a:pt x="21987" y="2829"/>
                  </a:lnTo>
                  <a:lnTo>
                    <a:pt x="10544" y="10544"/>
                  </a:lnTo>
                  <a:lnTo>
                    <a:pt x="2829" y="21987"/>
                  </a:lnTo>
                  <a:lnTo>
                    <a:pt x="0" y="36000"/>
                  </a:lnTo>
                  <a:lnTo>
                    <a:pt x="0" y="894501"/>
                  </a:lnTo>
                  <a:lnTo>
                    <a:pt x="2829" y="908514"/>
                  </a:lnTo>
                  <a:lnTo>
                    <a:pt x="10544" y="919957"/>
                  </a:lnTo>
                  <a:lnTo>
                    <a:pt x="21987" y="927673"/>
                  </a:lnTo>
                  <a:lnTo>
                    <a:pt x="36000" y="930502"/>
                  </a:lnTo>
                  <a:lnTo>
                    <a:pt x="5724074" y="930502"/>
                  </a:lnTo>
                  <a:lnTo>
                    <a:pt x="5738087" y="927673"/>
                  </a:lnTo>
                  <a:lnTo>
                    <a:pt x="5749530" y="919957"/>
                  </a:lnTo>
                  <a:lnTo>
                    <a:pt x="5757245" y="908514"/>
                  </a:lnTo>
                  <a:lnTo>
                    <a:pt x="5760074" y="89450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9" name="object 9" descr=""/>
            <p:cNvSpPr/>
            <p:nvPr/>
          </p:nvSpPr>
          <p:spPr>
            <a:xfrm>
              <a:off x="899998" y="8772894"/>
              <a:ext cx="5760085" cy="930910"/>
            </a:xfrm>
            <a:custGeom>
              <a:avLst/>
              <a:gdLst/>
              <a:ahLst/>
              <a:cxnLst/>
              <a:rect l="l" t="t" r="r" b="b"/>
              <a:pathLst>
                <a:path w="5760084" h="930909">
                  <a:moveTo>
                    <a:pt x="5724074" y="0"/>
                  </a:moveTo>
                  <a:lnTo>
                    <a:pt x="36000" y="0"/>
                  </a:lnTo>
                  <a:lnTo>
                    <a:pt x="21987" y="2829"/>
                  </a:lnTo>
                  <a:lnTo>
                    <a:pt x="10544" y="10544"/>
                  </a:lnTo>
                  <a:lnTo>
                    <a:pt x="2829" y="21987"/>
                  </a:lnTo>
                  <a:lnTo>
                    <a:pt x="0" y="36000"/>
                  </a:lnTo>
                  <a:lnTo>
                    <a:pt x="0" y="894501"/>
                  </a:lnTo>
                  <a:lnTo>
                    <a:pt x="2829" y="908514"/>
                  </a:lnTo>
                  <a:lnTo>
                    <a:pt x="10544" y="919957"/>
                  </a:lnTo>
                  <a:lnTo>
                    <a:pt x="21987" y="927673"/>
                  </a:lnTo>
                  <a:lnTo>
                    <a:pt x="36000" y="930502"/>
                  </a:lnTo>
                  <a:lnTo>
                    <a:pt x="5724074" y="930502"/>
                  </a:lnTo>
                  <a:lnTo>
                    <a:pt x="5738087" y="927673"/>
                  </a:lnTo>
                  <a:lnTo>
                    <a:pt x="5749530" y="919957"/>
                  </a:lnTo>
                  <a:lnTo>
                    <a:pt x="5757245" y="908514"/>
                  </a:lnTo>
                  <a:lnTo>
                    <a:pt x="5760074" y="89450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0" name="object 10" descr=""/>
          <p:cNvSpPr txBox="1"/>
          <p:nvPr/>
        </p:nvSpPr>
        <p:spPr>
          <a:xfrm>
            <a:off x="887298" y="7443311"/>
            <a:ext cx="5785485" cy="2174875"/>
          </a:xfrm>
          <a:prstGeom prst="rect">
            <a:avLst/>
          </a:prstGeom>
        </p:spPr>
        <p:txBody>
          <a:bodyPr wrap="square" lIns="0" tIns="12700" rIns="0" bIns="0" rtlCol="0" vert="horz">
            <a:spAutoFit/>
          </a:bodyPr>
          <a:lstStyle/>
          <a:p>
            <a:pPr algn="just" marL="12700" marR="5080" indent="252729">
              <a:lnSpc>
                <a:spcPct val="129500"/>
              </a:lnSpc>
              <a:spcBef>
                <a:spcPts val="100"/>
              </a:spcBef>
            </a:pPr>
            <a:r>
              <a:rPr dirty="0" sz="1000" spc="20">
                <a:latin typeface="Times New Roman"/>
                <a:cs typeface="Times New Roman"/>
              </a:rPr>
              <a:t>Figure</a:t>
            </a:r>
            <a:r>
              <a:rPr dirty="0" sz="1000" spc="-40">
                <a:latin typeface="Times New Roman"/>
                <a:cs typeface="Times New Roman"/>
              </a:rPr>
              <a:t> </a:t>
            </a:r>
            <a:r>
              <a:rPr dirty="0" sz="1000" spc="-10">
                <a:latin typeface="Times New Roman"/>
                <a:cs typeface="Times New Roman"/>
              </a:rPr>
              <a:t>2.</a:t>
            </a:r>
            <a:r>
              <a:rPr dirty="0" sz="1000" spc="50">
                <a:latin typeface="Times New Roman"/>
                <a:cs typeface="Times New Roman"/>
              </a:rPr>
              <a:t> </a:t>
            </a:r>
            <a:r>
              <a:rPr dirty="0" sz="1000" spc="20">
                <a:latin typeface="Times New Roman"/>
                <a:cs typeface="Times New Roman"/>
              </a:rPr>
              <a:t>Architecture</a:t>
            </a:r>
            <a:r>
              <a:rPr dirty="0" sz="1000" spc="-40">
                <a:latin typeface="Times New Roman"/>
                <a:cs typeface="Times New Roman"/>
              </a:rPr>
              <a:t> </a:t>
            </a:r>
            <a:r>
              <a:rPr dirty="0" sz="1000" spc="-15">
                <a:latin typeface="Times New Roman"/>
                <a:cs typeface="Times New Roman"/>
              </a:rPr>
              <a:t>of</a:t>
            </a:r>
            <a:r>
              <a:rPr dirty="0" sz="1000" spc="-40">
                <a:latin typeface="Times New Roman"/>
                <a:cs typeface="Times New Roman"/>
              </a:rPr>
              <a:t> </a:t>
            </a:r>
            <a:r>
              <a:rPr dirty="0" sz="1000" spc="10">
                <a:latin typeface="Times New Roman"/>
                <a:cs typeface="Times New Roman"/>
              </a:rPr>
              <a:t>vanilla</a:t>
            </a:r>
            <a:r>
              <a:rPr dirty="0" sz="1000" spc="-40">
                <a:latin typeface="Times New Roman"/>
                <a:cs typeface="Times New Roman"/>
              </a:rPr>
              <a:t> </a:t>
            </a:r>
            <a:r>
              <a:rPr dirty="0" sz="1000" spc="30">
                <a:latin typeface="Times New Roman"/>
                <a:cs typeface="Times New Roman"/>
              </a:rPr>
              <a:t>multimodal</a:t>
            </a:r>
            <a:r>
              <a:rPr dirty="0" sz="1000" spc="-40">
                <a:latin typeface="Times New Roman"/>
                <a:cs typeface="Times New Roman"/>
              </a:rPr>
              <a:t> </a:t>
            </a:r>
            <a:r>
              <a:rPr dirty="0" sz="1000" spc="25">
                <a:latin typeface="Times New Roman"/>
                <a:cs typeface="Times New Roman"/>
              </a:rPr>
              <a:t>model</a:t>
            </a:r>
            <a:r>
              <a:rPr dirty="0" sz="1000" spc="-40">
                <a:latin typeface="Times New Roman"/>
                <a:cs typeface="Times New Roman"/>
              </a:rPr>
              <a:t> </a:t>
            </a:r>
            <a:r>
              <a:rPr dirty="0" sz="1000" spc="10">
                <a:latin typeface="Times New Roman"/>
                <a:cs typeface="Times New Roman"/>
              </a:rPr>
              <a:t>(a)</a:t>
            </a:r>
            <a:r>
              <a:rPr dirty="0" sz="1000" spc="-40">
                <a:latin typeface="Times New Roman"/>
                <a:cs typeface="Times New Roman"/>
              </a:rPr>
              <a:t> </a:t>
            </a:r>
            <a:r>
              <a:rPr dirty="0" sz="1000" spc="40">
                <a:latin typeface="Times New Roman"/>
                <a:cs typeface="Times New Roman"/>
              </a:rPr>
              <a:t>and</a:t>
            </a:r>
            <a:r>
              <a:rPr dirty="0" sz="1000" spc="-40">
                <a:latin typeface="Times New Roman"/>
                <a:cs typeface="Times New Roman"/>
              </a:rPr>
              <a:t> </a:t>
            </a:r>
            <a:r>
              <a:rPr dirty="0" sz="1000" spc="30">
                <a:latin typeface="Times New Roman"/>
                <a:cs typeface="Times New Roman"/>
              </a:rPr>
              <a:t>multimodal</a:t>
            </a:r>
            <a:r>
              <a:rPr dirty="0" sz="1000" spc="-40">
                <a:latin typeface="Times New Roman"/>
                <a:cs typeface="Times New Roman"/>
              </a:rPr>
              <a:t> </a:t>
            </a:r>
            <a:r>
              <a:rPr dirty="0" sz="1000" spc="25">
                <a:latin typeface="Times New Roman"/>
                <a:cs typeface="Times New Roman"/>
              </a:rPr>
              <a:t>model</a:t>
            </a:r>
            <a:r>
              <a:rPr dirty="0" sz="1000" spc="-40">
                <a:latin typeface="Times New Roman"/>
                <a:cs typeface="Times New Roman"/>
              </a:rPr>
              <a:t> </a:t>
            </a:r>
            <a:r>
              <a:rPr dirty="0" sz="1000" spc="35">
                <a:latin typeface="Times New Roman"/>
                <a:cs typeface="Times New Roman"/>
              </a:rPr>
              <a:t>with</a:t>
            </a:r>
            <a:r>
              <a:rPr dirty="0" sz="1000" spc="-40">
                <a:latin typeface="Times New Roman"/>
                <a:cs typeface="Times New Roman"/>
              </a:rPr>
              <a:t> </a:t>
            </a:r>
            <a:r>
              <a:rPr dirty="0" sz="1000" spc="-15">
                <a:latin typeface="Times New Roman"/>
                <a:cs typeface="Times New Roman"/>
              </a:rPr>
              <a:t>DGL</a:t>
            </a:r>
            <a:r>
              <a:rPr dirty="0" sz="1000" spc="-40">
                <a:latin typeface="Times New Roman"/>
                <a:cs typeface="Times New Roman"/>
              </a:rPr>
              <a:t> </a:t>
            </a:r>
            <a:r>
              <a:rPr dirty="0" sz="1000">
                <a:latin typeface="Times New Roman"/>
                <a:cs typeface="Times New Roman"/>
              </a:rPr>
              <a:t>(b).</a:t>
            </a:r>
            <a:r>
              <a:rPr dirty="0" sz="1000" spc="50">
                <a:latin typeface="Times New Roman"/>
                <a:cs typeface="Times New Roman"/>
              </a:rPr>
              <a:t> </a:t>
            </a:r>
            <a:r>
              <a:rPr dirty="0" sz="1000" spc="25">
                <a:latin typeface="Times New Roman"/>
                <a:cs typeface="Times New Roman"/>
              </a:rPr>
              <a:t>Compared</a:t>
            </a:r>
            <a:r>
              <a:rPr dirty="0" sz="1000" spc="10">
                <a:latin typeface="Times New Roman"/>
                <a:cs typeface="Times New Roman"/>
              </a:rPr>
              <a:t> </a:t>
            </a:r>
            <a:r>
              <a:rPr dirty="0" sz="1000" spc="35">
                <a:latin typeface="Times New Roman"/>
                <a:cs typeface="Times New Roman"/>
              </a:rPr>
              <a:t>with</a:t>
            </a:r>
            <a:r>
              <a:rPr dirty="0" sz="1000" spc="-70">
                <a:latin typeface="Times New Roman"/>
                <a:cs typeface="Times New Roman"/>
              </a:rPr>
              <a:t> </a:t>
            </a:r>
            <a:r>
              <a:rPr dirty="0" sz="1000" spc="40">
                <a:latin typeface="Times New Roman"/>
                <a:cs typeface="Times New Roman"/>
              </a:rPr>
              <a:t>the</a:t>
            </a:r>
            <a:r>
              <a:rPr dirty="0" sz="1000" spc="-70">
                <a:latin typeface="Times New Roman"/>
                <a:cs typeface="Times New Roman"/>
              </a:rPr>
              <a:t> </a:t>
            </a:r>
            <a:r>
              <a:rPr dirty="0" sz="1000" spc="10">
                <a:latin typeface="Times New Roman"/>
                <a:cs typeface="Times New Roman"/>
              </a:rPr>
              <a:t>vanilla</a:t>
            </a:r>
            <a:r>
              <a:rPr dirty="0" sz="1000" spc="-70">
                <a:latin typeface="Times New Roman"/>
                <a:cs typeface="Times New Roman"/>
              </a:rPr>
              <a:t> </a:t>
            </a:r>
            <a:r>
              <a:rPr dirty="0" sz="1000" spc="15">
                <a:latin typeface="Times New Roman"/>
                <a:cs typeface="Times New Roman"/>
              </a:rPr>
              <a:t>model,</a:t>
            </a:r>
            <a:r>
              <a:rPr dirty="0" sz="1000" spc="-60">
                <a:latin typeface="Times New Roman"/>
                <a:cs typeface="Times New Roman"/>
              </a:rPr>
              <a:t> </a:t>
            </a:r>
            <a:r>
              <a:rPr dirty="0" sz="1000" spc="-15">
                <a:latin typeface="Times New Roman"/>
                <a:cs typeface="Times New Roman"/>
              </a:rPr>
              <a:t>DGL</a:t>
            </a:r>
            <a:r>
              <a:rPr dirty="0" sz="1000" spc="-70">
                <a:latin typeface="Times New Roman"/>
                <a:cs typeface="Times New Roman"/>
              </a:rPr>
              <a:t> </a:t>
            </a:r>
            <a:r>
              <a:rPr dirty="0" sz="1000" spc="30">
                <a:latin typeface="Times New Roman"/>
                <a:cs typeface="Times New Roman"/>
              </a:rPr>
              <a:t>truncates</a:t>
            </a:r>
            <a:r>
              <a:rPr dirty="0" sz="1000" spc="-70">
                <a:latin typeface="Times New Roman"/>
                <a:cs typeface="Times New Roman"/>
              </a:rPr>
              <a:t> </a:t>
            </a:r>
            <a:r>
              <a:rPr dirty="0" sz="1000" spc="40">
                <a:latin typeface="Times New Roman"/>
                <a:cs typeface="Times New Roman"/>
              </a:rPr>
              <a:t>the</a:t>
            </a:r>
            <a:r>
              <a:rPr dirty="0" sz="1000" spc="-65">
                <a:latin typeface="Times New Roman"/>
                <a:cs typeface="Times New Roman"/>
              </a:rPr>
              <a:t> </a:t>
            </a:r>
            <a:r>
              <a:rPr dirty="0" sz="1000" spc="20">
                <a:latin typeface="Times New Roman"/>
                <a:cs typeface="Times New Roman"/>
              </a:rPr>
              <a:t>gradient</a:t>
            </a:r>
            <a:r>
              <a:rPr dirty="0" sz="1000" spc="-70">
                <a:latin typeface="Times New Roman"/>
                <a:cs typeface="Times New Roman"/>
              </a:rPr>
              <a:t> </a:t>
            </a:r>
            <a:r>
              <a:rPr dirty="0" sz="1000" spc="10">
                <a:latin typeface="Times New Roman"/>
                <a:cs typeface="Times New Roman"/>
              </a:rPr>
              <a:t>back-</a:t>
            </a:r>
            <a:r>
              <a:rPr dirty="0" sz="1000" spc="15">
                <a:latin typeface="Times New Roman"/>
                <a:cs typeface="Times New Roman"/>
              </a:rPr>
              <a:t>propagated</a:t>
            </a:r>
            <a:r>
              <a:rPr dirty="0" sz="1000" spc="-70">
                <a:latin typeface="Times New Roman"/>
                <a:cs typeface="Times New Roman"/>
              </a:rPr>
              <a:t> </a:t>
            </a:r>
            <a:r>
              <a:rPr dirty="0" sz="1000" spc="15">
                <a:latin typeface="Times New Roman"/>
                <a:cs typeface="Times New Roman"/>
              </a:rPr>
              <a:t>from</a:t>
            </a:r>
            <a:r>
              <a:rPr dirty="0" sz="1000" spc="-70">
                <a:latin typeface="Times New Roman"/>
                <a:cs typeface="Times New Roman"/>
              </a:rPr>
              <a:t> </a:t>
            </a:r>
            <a:r>
              <a:rPr dirty="0" sz="1000" spc="40">
                <a:latin typeface="Times New Roman"/>
                <a:cs typeface="Times New Roman"/>
              </a:rPr>
              <a:t>the</a:t>
            </a:r>
            <a:r>
              <a:rPr dirty="0" sz="1000" spc="-70">
                <a:latin typeface="Times New Roman"/>
                <a:cs typeface="Times New Roman"/>
              </a:rPr>
              <a:t> </a:t>
            </a:r>
            <a:r>
              <a:rPr dirty="0" sz="1000" spc="30">
                <a:latin typeface="Times New Roman"/>
                <a:cs typeface="Times New Roman"/>
              </a:rPr>
              <a:t>multimodal</a:t>
            </a:r>
            <a:r>
              <a:rPr dirty="0" sz="1000" spc="-70">
                <a:latin typeface="Times New Roman"/>
                <a:cs typeface="Times New Roman"/>
              </a:rPr>
              <a:t> </a:t>
            </a:r>
            <a:r>
              <a:rPr dirty="0" sz="1000" spc="5">
                <a:latin typeface="Times New Roman"/>
                <a:cs typeface="Times New Roman"/>
              </a:rPr>
              <a:t>loss</a:t>
            </a:r>
            <a:r>
              <a:rPr dirty="0" sz="1000" spc="-65">
                <a:latin typeface="Times New Roman"/>
                <a:cs typeface="Times New Roman"/>
              </a:rPr>
              <a:t> </a:t>
            </a:r>
            <a:r>
              <a:rPr dirty="0" sz="1000" spc="20">
                <a:latin typeface="Times New Roman"/>
                <a:cs typeface="Times New Roman"/>
              </a:rPr>
              <a:t>to</a:t>
            </a:r>
            <a:r>
              <a:rPr dirty="0" sz="1000" spc="-70">
                <a:latin typeface="Times New Roman"/>
                <a:cs typeface="Times New Roman"/>
              </a:rPr>
              <a:t> </a:t>
            </a:r>
            <a:r>
              <a:rPr dirty="0" sz="1000" spc="40">
                <a:latin typeface="Times New Roman"/>
                <a:cs typeface="Times New Roman"/>
              </a:rPr>
              <a:t>the</a:t>
            </a:r>
            <a:r>
              <a:rPr dirty="0" sz="1000" spc="-70">
                <a:latin typeface="Times New Roman"/>
                <a:cs typeface="Times New Roman"/>
              </a:rPr>
              <a:t> </a:t>
            </a:r>
            <a:r>
              <a:rPr dirty="0" sz="1000" spc="20">
                <a:latin typeface="Times New Roman"/>
                <a:cs typeface="Times New Roman"/>
              </a:rPr>
              <a:t>modality</a:t>
            </a:r>
            <a:r>
              <a:rPr dirty="0" sz="1000" spc="10">
                <a:latin typeface="Times New Roman"/>
                <a:cs typeface="Times New Roman"/>
              </a:rPr>
              <a:t> </a:t>
            </a:r>
            <a:r>
              <a:rPr dirty="0" sz="1000" spc="20">
                <a:latin typeface="Times New Roman"/>
                <a:cs typeface="Times New Roman"/>
              </a:rPr>
              <a:t>encoder</a:t>
            </a:r>
            <a:r>
              <a:rPr dirty="0" sz="1000" spc="-55">
                <a:latin typeface="Times New Roman"/>
                <a:cs typeface="Times New Roman"/>
              </a:rPr>
              <a:t> </a:t>
            </a:r>
            <a:r>
              <a:rPr dirty="0" sz="1000" spc="40">
                <a:latin typeface="Times New Roman"/>
                <a:cs typeface="Times New Roman"/>
              </a:rPr>
              <a:t>and</a:t>
            </a:r>
            <a:r>
              <a:rPr dirty="0" sz="1000" spc="-55">
                <a:latin typeface="Times New Roman"/>
                <a:cs typeface="Times New Roman"/>
              </a:rPr>
              <a:t> </a:t>
            </a:r>
            <a:r>
              <a:rPr dirty="0" sz="1000" spc="10">
                <a:latin typeface="Times New Roman"/>
                <a:cs typeface="Times New Roman"/>
              </a:rPr>
              <a:t>replaces</a:t>
            </a:r>
            <a:r>
              <a:rPr dirty="0" sz="1000" spc="-55">
                <a:latin typeface="Times New Roman"/>
                <a:cs typeface="Times New Roman"/>
              </a:rPr>
              <a:t> </a:t>
            </a:r>
            <a:r>
              <a:rPr dirty="0" sz="1000" spc="20">
                <a:latin typeface="Times New Roman"/>
                <a:cs typeface="Times New Roman"/>
              </a:rPr>
              <a:t>it</a:t>
            </a:r>
            <a:r>
              <a:rPr dirty="0" sz="1000" spc="-55">
                <a:latin typeface="Times New Roman"/>
                <a:cs typeface="Times New Roman"/>
              </a:rPr>
              <a:t> </a:t>
            </a:r>
            <a:r>
              <a:rPr dirty="0" sz="1000" spc="35">
                <a:latin typeface="Times New Roman"/>
                <a:cs typeface="Times New Roman"/>
              </a:rPr>
              <a:t>with</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20">
                <a:latin typeface="Times New Roman"/>
                <a:cs typeface="Times New Roman"/>
              </a:rPr>
              <a:t>gradient</a:t>
            </a:r>
            <a:r>
              <a:rPr dirty="0" sz="1000" spc="-60">
                <a:latin typeface="Times New Roman"/>
                <a:cs typeface="Times New Roman"/>
              </a:rPr>
              <a:t> </a:t>
            </a:r>
            <a:r>
              <a:rPr dirty="0" sz="1000" spc="15">
                <a:latin typeface="Times New Roman"/>
                <a:cs typeface="Times New Roman"/>
              </a:rPr>
              <a:t>from</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35">
                <a:latin typeface="Times New Roman"/>
                <a:cs typeface="Times New Roman"/>
              </a:rPr>
              <a:t>unimodal</a:t>
            </a:r>
            <a:r>
              <a:rPr dirty="0" sz="1000" spc="-55">
                <a:latin typeface="Times New Roman"/>
                <a:cs typeface="Times New Roman"/>
              </a:rPr>
              <a:t> </a:t>
            </a:r>
            <a:r>
              <a:rPr dirty="0" sz="1000">
                <a:latin typeface="Times New Roman"/>
                <a:cs typeface="Times New Roman"/>
              </a:rPr>
              <a:t>loss,</a:t>
            </a:r>
            <a:r>
              <a:rPr dirty="0" sz="1000" spc="-50">
                <a:latin typeface="Times New Roman"/>
                <a:cs typeface="Times New Roman"/>
              </a:rPr>
              <a:t> </a:t>
            </a:r>
            <a:r>
              <a:rPr dirty="0" sz="1000" spc="20">
                <a:latin typeface="Times New Roman"/>
                <a:cs typeface="Times New Roman"/>
              </a:rPr>
              <a:t>eliminating</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20">
                <a:latin typeface="Times New Roman"/>
                <a:cs typeface="Times New Roman"/>
              </a:rPr>
              <a:t>gradient</a:t>
            </a:r>
            <a:r>
              <a:rPr dirty="0" sz="1000" spc="-55">
                <a:latin typeface="Times New Roman"/>
                <a:cs typeface="Times New Roman"/>
              </a:rPr>
              <a:t> </a:t>
            </a:r>
            <a:r>
              <a:rPr dirty="0" sz="1000" spc="20">
                <a:latin typeface="Times New Roman"/>
                <a:cs typeface="Times New Roman"/>
              </a:rPr>
              <a:t>suppression</a:t>
            </a:r>
            <a:r>
              <a:rPr dirty="0" sz="1000" spc="-60">
                <a:latin typeface="Times New Roman"/>
                <a:cs typeface="Times New Roman"/>
              </a:rPr>
              <a:t> </a:t>
            </a:r>
            <a:r>
              <a:rPr dirty="0" sz="1000" spc="40">
                <a:latin typeface="Times New Roman"/>
                <a:cs typeface="Times New Roman"/>
              </a:rPr>
              <a:t>on</a:t>
            </a:r>
            <a:r>
              <a:rPr dirty="0" sz="1000" spc="-55">
                <a:latin typeface="Times New Roman"/>
                <a:cs typeface="Times New Roman"/>
              </a:rPr>
              <a:t> </a:t>
            </a:r>
            <a:r>
              <a:rPr dirty="0" sz="1000" spc="40">
                <a:latin typeface="Times New Roman"/>
                <a:cs typeface="Times New Roman"/>
              </a:rPr>
              <a:t>the</a:t>
            </a:r>
            <a:r>
              <a:rPr dirty="0" sz="1000" spc="25">
                <a:latin typeface="Times New Roman"/>
                <a:cs typeface="Times New Roman"/>
              </a:rPr>
              <a:t> </a:t>
            </a:r>
            <a:r>
              <a:rPr dirty="0" sz="1000" spc="20">
                <a:latin typeface="Times New Roman"/>
                <a:cs typeface="Times New Roman"/>
              </a:rPr>
              <a:t>modality</a:t>
            </a:r>
            <a:r>
              <a:rPr dirty="0" sz="1000" spc="-95">
                <a:latin typeface="Times New Roman"/>
                <a:cs typeface="Times New Roman"/>
              </a:rPr>
              <a:t> </a:t>
            </a:r>
            <a:r>
              <a:rPr dirty="0" sz="1000" spc="10">
                <a:latin typeface="Times New Roman"/>
                <a:cs typeface="Times New Roman"/>
              </a:rPr>
              <a:t>encoder.</a:t>
            </a:r>
            <a:r>
              <a:rPr dirty="0" sz="1000" spc="35">
                <a:latin typeface="Times New Roman"/>
                <a:cs typeface="Times New Roman"/>
              </a:rPr>
              <a:t> </a:t>
            </a:r>
            <a:r>
              <a:rPr dirty="0" sz="1000">
                <a:latin typeface="Times New Roman"/>
                <a:cs typeface="Times New Roman"/>
              </a:rPr>
              <a:t>Besides,</a:t>
            </a:r>
            <a:r>
              <a:rPr dirty="0" sz="1000" spc="-80">
                <a:latin typeface="Times New Roman"/>
                <a:cs typeface="Times New Roman"/>
              </a:rPr>
              <a:t> </a:t>
            </a:r>
            <a:r>
              <a:rPr dirty="0" sz="1000" spc="-15">
                <a:latin typeface="Times New Roman"/>
                <a:cs typeface="Times New Roman"/>
              </a:rPr>
              <a:t>DGL</a:t>
            </a:r>
            <a:r>
              <a:rPr dirty="0" sz="1000" spc="-95">
                <a:latin typeface="Times New Roman"/>
                <a:cs typeface="Times New Roman"/>
              </a:rPr>
              <a:t> </a:t>
            </a:r>
            <a:r>
              <a:rPr dirty="0" sz="1000" spc="15">
                <a:latin typeface="Times New Roman"/>
                <a:cs typeface="Times New Roman"/>
              </a:rPr>
              <a:t>removes</a:t>
            </a:r>
            <a:r>
              <a:rPr dirty="0" sz="1000" spc="-95">
                <a:latin typeface="Times New Roman"/>
                <a:cs typeface="Times New Roman"/>
              </a:rPr>
              <a:t> </a:t>
            </a:r>
            <a:r>
              <a:rPr dirty="0" sz="1000" spc="40">
                <a:latin typeface="Times New Roman"/>
                <a:cs typeface="Times New Roman"/>
              </a:rPr>
              <a:t>the</a:t>
            </a:r>
            <a:r>
              <a:rPr dirty="0" sz="1000" spc="-95">
                <a:latin typeface="Times New Roman"/>
                <a:cs typeface="Times New Roman"/>
              </a:rPr>
              <a:t> </a:t>
            </a:r>
            <a:r>
              <a:rPr dirty="0" sz="1000" spc="20">
                <a:latin typeface="Times New Roman"/>
                <a:cs typeface="Times New Roman"/>
              </a:rPr>
              <a:t>gradient</a:t>
            </a:r>
            <a:r>
              <a:rPr dirty="0" sz="1000" spc="-95">
                <a:latin typeface="Times New Roman"/>
                <a:cs typeface="Times New Roman"/>
              </a:rPr>
              <a:t> </a:t>
            </a:r>
            <a:r>
              <a:rPr dirty="0" sz="1000" spc="10">
                <a:latin typeface="Times New Roman"/>
                <a:cs typeface="Times New Roman"/>
              </a:rPr>
              <a:t>back-</a:t>
            </a:r>
            <a:r>
              <a:rPr dirty="0" sz="1000" spc="15">
                <a:latin typeface="Times New Roman"/>
                <a:cs typeface="Times New Roman"/>
              </a:rPr>
              <a:t>propagated</a:t>
            </a:r>
            <a:r>
              <a:rPr dirty="0" sz="1000" spc="-95">
                <a:latin typeface="Times New Roman"/>
                <a:cs typeface="Times New Roman"/>
              </a:rPr>
              <a:t> </a:t>
            </a:r>
            <a:r>
              <a:rPr dirty="0" sz="1000" spc="15">
                <a:latin typeface="Times New Roman"/>
                <a:cs typeface="Times New Roman"/>
              </a:rPr>
              <a:t>from</a:t>
            </a:r>
            <a:r>
              <a:rPr dirty="0" sz="1000" spc="-95">
                <a:latin typeface="Times New Roman"/>
                <a:cs typeface="Times New Roman"/>
              </a:rPr>
              <a:t> </a:t>
            </a:r>
            <a:r>
              <a:rPr dirty="0" sz="1000" spc="40">
                <a:latin typeface="Times New Roman"/>
                <a:cs typeface="Times New Roman"/>
              </a:rPr>
              <a:t>the</a:t>
            </a:r>
            <a:r>
              <a:rPr dirty="0" sz="1000" spc="-95">
                <a:latin typeface="Times New Roman"/>
                <a:cs typeface="Times New Roman"/>
              </a:rPr>
              <a:t> </a:t>
            </a:r>
            <a:r>
              <a:rPr dirty="0" sz="1000" spc="35">
                <a:latin typeface="Times New Roman"/>
                <a:cs typeface="Times New Roman"/>
              </a:rPr>
              <a:t>unimodal</a:t>
            </a:r>
            <a:r>
              <a:rPr dirty="0" sz="1000" spc="-95">
                <a:latin typeface="Times New Roman"/>
                <a:cs typeface="Times New Roman"/>
              </a:rPr>
              <a:t> </a:t>
            </a:r>
            <a:r>
              <a:rPr dirty="0" sz="1000" spc="5">
                <a:latin typeface="Times New Roman"/>
                <a:cs typeface="Times New Roman"/>
              </a:rPr>
              <a:t>loss</a:t>
            </a:r>
            <a:r>
              <a:rPr dirty="0" sz="1000" spc="-95">
                <a:latin typeface="Times New Roman"/>
                <a:cs typeface="Times New Roman"/>
              </a:rPr>
              <a:t> </a:t>
            </a:r>
            <a:r>
              <a:rPr dirty="0" sz="1000" spc="20">
                <a:latin typeface="Times New Roman"/>
                <a:cs typeface="Times New Roman"/>
              </a:rPr>
              <a:t>to</a:t>
            </a:r>
            <a:r>
              <a:rPr dirty="0" sz="1000" spc="-95">
                <a:latin typeface="Times New Roman"/>
                <a:cs typeface="Times New Roman"/>
              </a:rPr>
              <a:t> </a:t>
            </a:r>
            <a:r>
              <a:rPr dirty="0" sz="1000" spc="40">
                <a:latin typeface="Times New Roman"/>
                <a:cs typeface="Times New Roman"/>
              </a:rPr>
              <a:t>the</a:t>
            </a:r>
            <a:r>
              <a:rPr dirty="0" sz="1000" spc="-95">
                <a:latin typeface="Times New Roman"/>
                <a:cs typeface="Times New Roman"/>
              </a:rPr>
              <a:t> </a:t>
            </a:r>
            <a:r>
              <a:rPr dirty="0" sz="1000" spc="20">
                <a:latin typeface="Times New Roman"/>
                <a:cs typeface="Times New Roman"/>
              </a:rPr>
              <a:t>modality</a:t>
            </a:r>
            <a:r>
              <a:rPr dirty="0" sz="1000" spc="10">
                <a:latin typeface="Times New Roman"/>
                <a:cs typeface="Times New Roman"/>
              </a:rPr>
              <a:t> </a:t>
            </a:r>
            <a:r>
              <a:rPr dirty="0" sz="1000" spc="20">
                <a:latin typeface="Times New Roman"/>
                <a:cs typeface="Times New Roman"/>
              </a:rPr>
              <a:t>fusion</a:t>
            </a:r>
            <a:r>
              <a:rPr dirty="0" sz="1000" spc="-60">
                <a:latin typeface="Times New Roman"/>
                <a:cs typeface="Times New Roman"/>
              </a:rPr>
              <a:t> </a:t>
            </a:r>
            <a:r>
              <a:rPr dirty="0" sz="1000" spc="25">
                <a:latin typeface="Times New Roman"/>
                <a:cs typeface="Times New Roman"/>
              </a:rPr>
              <a:t>module,</a:t>
            </a:r>
            <a:r>
              <a:rPr dirty="0" sz="1000" spc="-50">
                <a:latin typeface="Times New Roman"/>
                <a:cs typeface="Times New Roman"/>
              </a:rPr>
              <a:t> </a:t>
            </a:r>
            <a:r>
              <a:rPr dirty="0" sz="1000" spc="5">
                <a:latin typeface="Times New Roman"/>
                <a:cs typeface="Times New Roman"/>
              </a:rPr>
              <a:t>avoiding</a:t>
            </a:r>
            <a:r>
              <a:rPr dirty="0" sz="1000" spc="-60">
                <a:latin typeface="Times New Roman"/>
                <a:cs typeface="Times New Roman"/>
              </a:rPr>
              <a:t> </a:t>
            </a:r>
            <a:r>
              <a:rPr dirty="0" sz="1000" spc="40">
                <a:latin typeface="Times New Roman"/>
                <a:cs typeface="Times New Roman"/>
              </a:rPr>
              <a:t>the</a:t>
            </a:r>
            <a:r>
              <a:rPr dirty="0" sz="1000" spc="-60">
                <a:latin typeface="Times New Roman"/>
                <a:cs typeface="Times New Roman"/>
              </a:rPr>
              <a:t> </a:t>
            </a:r>
            <a:r>
              <a:rPr dirty="0" sz="1000" spc="20">
                <a:latin typeface="Times New Roman"/>
                <a:cs typeface="Times New Roman"/>
              </a:rPr>
              <a:t>gradient</a:t>
            </a:r>
            <a:r>
              <a:rPr dirty="0" sz="1000" spc="-60">
                <a:latin typeface="Times New Roman"/>
                <a:cs typeface="Times New Roman"/>
              </a:rPr>
              <a:t> </a:t>
            </a:r>
            <a:r>
              <a:rPr dirty="0" sz="1000" spc="10">
                <a:latin typeface="Times New Roman"/>
                <a:cs typeface="Times New Roman"/>
              </a:rPr>
              <a:t>conflict</a:t>
            </a:r>
            <a:r>
              <a:rPr dirty="0" sz="1000" spc="-60">
                <a:latin typeface="Times New Roman"/>
                <a:cs typeface="Times New Roman"/>
              </a:rPr>
              <a:t> </a:t>
            </a:r>
            <a:r>
              <a:rPr dirty="0" sz="1000" spc="20">
                <a:latin typeface="Times New Roman"/>
                <a:cs typeface="Times New Roman"/>
              </a:rPr>
              <a:t>between</a:t>
            </a:r>
            <a:r>
              <a:rPr dirty="0" sz="1000" spc="-60">
                <a:latin typeface="Times New Roman"/>
                <a:cs typeface="Times New Roman"/>
              </a:rPr>
              <a:t> </a:t>
            </a:r>
            <a:r>
              <a:rPr dirty="0" sz="1000" spc="35">
                <a:latin typeface="Times New Roman"/>
                <a:cs typeface="Times New Roman"/>
              </a:rPr>
              <a:t>unimodal</a:t>
            </a:r>
            <a:r>
              <a:rPr dirty="0" sz="1000" spc="-60">
                <a:latin typeface="Times New Roman"/>
                <a:cs typeface="Times New Roman"/>
              </a:rPr>
              <a:t> </a:t>
            </a:r>
            <a:r>
              <a:rPr dirty="0" sz="1000" spc="40">
                <a:latin typeface="Times New Roman"/>
                <a:cs typeface="Times New Roman"/>
              </a:rPr>
              <a:t>and</a:t>
            </a:r>
            <a:r>
              <a:rPr dirty="0" sz="1000" spc="-60">
                <a:latin typeface="Times New Roman"/>
                <a:cs typeface="Times New Roman"/>
              </a:rPr>
              <a:t> </a:t>
            </a:r>
            <a:r>
              <a:rPr dirty="0" sz="1000" spc="30">
                <a:latin typeface="Times New Roman"/>
                <a:cs typeface="Times New Roman"/>
              </a:rPr>
              <a:t>multimodal</a:t>
            </a:r>
            <a:r>
              <a:rPr dirty="0" sz="1000" spc="-60">
                <a:latin typeface="Times New Roman"/>
                <a:cs typeface="Times New Roman"/>
              </a:rPr>
              <a:t> </a:t>
            </a:r>
            <a:r>
              <a:rPr dirty="0" sz="1000">
                <a:latin typeface="Times New Roman"/>
                <a:cs typeface="Times New Roman"/>
              </a:rPr>
              <a:t>losses.</a:t>
            </a:r>
            <a:r>
              <a:rPr dirty="0" sz="1000" spc="45">
                <a:latin typeface="Times New Roman"/>
                <a:cs typeface="Times New Roman"/>
              </a:rPr>
              <a:t> </a:t>
            </a:r>
            <a:r>
              <a:rPr dirty="0" sz="1000" spc="20">
                <a:latin typeface="Times New Roman"/>
                <a:cs typeface="Times New Roman"/>
              </a:rPr>
              <a:t>The</a:t>
            </a:r>
            <a:r>
              <a:rPr dirty="0" sz="1000" spc="-60">
                <a:latin typeface="Times New Roman"/>
                <a:cs typeface="Times New Roman"/>
              </a:rPr>
              <a:t> </a:t>
            </a:r>
            <a:r>
              <a:rPr dirty="0" sz="1000" spc="25">
                <a:latin typeface="Times New Roman"/>
                <a:cs typeface="Times New Roman"/>
              </a:rPr>
              <a:t>red</a:t>
            </a:r>
            <a:r>
              <a:rPr dirty="0" sz="1000" spc="-60">
                <a:latin typeface="Times New Roman"/>
                <a:cs typeface="Times New Roman"/>
              </a:rPr>
              <a:t> </a:t>
            </a:r>
            <a:r>
              <a:rPr dirty="0" sz="1000" spc="-70">
                <a:latin typeface="Times New Roman"/>
                <a:cs typeface="Times New Roman"/>
              </a:rPr>
              <a:t>X</a:t>
            </a:r>
            <a:r>
              <a:rPr dirty="0" sz="1000" spc="-60">
                <a:latin typeface="Times New Roman"/>
                <a:cs typeface="Times New Roman"/>
              </a:rPr>
              <a:t> </a:t>
            </a:r>
            <a:r>
              <a:rPr dirty="0" sz="1000" spc="35">
                <a:latin typeface="Times New Roman"/>
                <a:cs typeface="Times New Roman"/>
              </a:rPr>
              <a:t>means</a:t>
            </a:r>
            <a:r>
              <a:rPr dirty="0" sz="1000" spc="-60">
                <a:latin typeface="Times New Roman"/>
                <a:cs typeface="Times New Roman"/>
              </a:rPr>
              <a:t> </a:t>
            </a:r>
            <a:r>
              <a:rPr dirty="0" sz="1000" spc="40">
                <a:latin typeface="Times New Roman"/>
                <a:cs typeface="Times New Roman"/>
              </a:rPr>
              <a:t>the</a:t>
            </a:r>
            <a:r>
              <a:rPr dirty="0" sz="1000" spc="25">
                <a:latin typeface="Times New Roman"/>
                <a:cs typeface="Times New Roman"/>
              </a:rPr>
              <a:t> operation</a:t>
            </a:r>
            <a:r>
              <a:rPr dirty="0" sz="1000" spc="-20">
                <a:latin typeface="Times New Roman"/>
                <a:cs typeface="Times New Roman"/>
              </a:rPr>
              <a:t> </a:t>
            </a:r>
            <a:r>
              <a:rPr dirty="0" sz="1000" spc="-15">
                <a:latin typeface="Times New Roman"/>
                <a:cs typeface="Times New Roman"/>
              </a:rPr>
              <a:t>of</a:t>
            </a:r>
            <a:r>
              <a:rPr dirty="0" sz="1000" spc="-20">
                <a:latin typeface="Times New Roman"/>
                <a:cs typeface="Times New Roman"/>
              </a:rPr>
              <a:t> </a:t>
            </a:r>
            <a:r>
              <a:rPr dirty="0" sz="1000" spc="20">
                <a:latin typeface="Times New Roman"/>
                <a:cs typeface="Times New Roman"/>
              </a:rPr>
              <a:t>gradient</a:t>
            </a:r>
            <a:r>
              <a:rPr dirty="0" sz="1000" spc="-20">
                <a:latin typeface="Times New Roman"/>
                <a:cs typeface="Times New Roman"/>
              </a:rPr>
              <a:t> </a:t>
            </a:r>
            <a:r>
              <a:rPr dirty="0" sz="1000" spc="25">
                <a:latin typeface="Times New Roman"/>
                <a:cs typeface="Times New Roman"/>
              </a:rPr>
              <a:t>truncation;</a:t>
            </a:r>
            <a:r>
              <a:rPr dirty="0" sz="1000" spc="-20">
                <a:latin typeface="Times New Roman"/>
                <a:cs typeface="Times New Roman"/>
              </a:rPr>
              <a:t> </a:t>
            </a:r>
            <a:r>
              <a:rPr dirty="0" sz="1000" spc="40">
                <a:latin typeface="Times New Roman"/>
                <a:cs typeface="Times New Roman"/>
              </a:rPr>
              <a:t>the</a:t>
            </a:r>
            <a:r>
              <a:rPr dirty="0" sz="1000" spc="-20">
                <a:latin typeface="Times New Roman"/>
                <a:cs typeface="Times New Roman"/>
              </a:rPr>
              <a:t> </a:t>
            </a:r>
            <a:r>
              <a:rPr dirty="0" sz="1000" spc="10">
                <a:latin typeface="Times New Roman"/>
                <a:cs typeface="Times New Roman"/>
              </a:rPr>
              <a:t>block</a:t>
            </a:r>
            <a:r>
              <a:rPr dirty="0" sz="1000" spc="-20">
                <a:latin typeface="Times New Roman"/>
                <a:cs typeface="Times New Roman"/>
              </a:rPr>
              <a:t> </a:t>
            </a:r>
            <a:r>
              <a:rPr dirty="0" sz="1000" spc="15">
                <a:latin typeface="Times New Roman"/>
                <a:cs typeface="Times New Roman"/>
              </a:rPr>
              <a:t>rectangle</a:t>
            </a:r>
            <a:r>
              <a:rPr dirty="0" sz="1000" spc="-20">
                <a:latin typeface="Times New Roman"/>
                <a:cs typeface="Times New Roman"/>
              </a:rPr>
              <a:t> </a:t>
            </a:r>
            <a:r>
              <a:rPr dirty="0" sz="1000" spc="20">
                <a:latin typeface="Times New Roman"/>
                <a:cs typeface="Times New Roman"/>
              </a:rPr>
              <a:t>denotes</a:t>
            </a:r>
            <a:r>
              <a:rPr dirty="0" sz="1000" spc="-20">
                <a:latin typeface="Times New Roman"/>
                <a:cs typeface="Times New Roman"/>
              </a:rPr>
              <a:t> </a:t>
            </a:r>
            <a:r>
              <a:rPr dirty="0" sz="1000" spc="40">
                <a:latin typeface="Times New Roman"/>
                <a:cs typeface="Times New Roman"/>
              </a:rPr>
              <a:t>the</a:t>
            </a:r>
            <a:r>
              <a:rPr dirty="0" sz="1000" spc="-20">
                <a:latin typeface="Times New Roman"/>
                <a:cs typeface="Times New Roman"/>
              </a:rPr>
              <a:t> </a:t>
            </a:r>
            <a:r>
              <a:rPr dirty="0" sz="1000" spc="35">
                <a:latin typeface="Times New Roman"/>
                <a:cs typeface="Times New Roman"/>
              </a:rPr>
              <a:t>truncation</a:t>
            </a:r>
            <a:r>
              <a:rPr dirty="0" sz="1000" spc="-20">
                <a:latin typeface="Times New Roman"/>
                <a:cs typeface="Times New Roman"/>
              </a:rPr>
              <a:t> </a:t>
            </a:r>
            <a:r>
              <a:rPr dirty="0" sz="1000" spc="15">
                <a:latin typeface="Times New Roman"/>
                <a:cs typeface="Times New Roman"/>
              </a:rPr>
              <a:t>region.</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a:lnSpc>
                <a:spcPct val="129500"/>
              </a:lnSpc>
            </a:pPr>
            <a:r>
              <a:rPr dirty="0" sz="1000" spc="-130">
                <a:latin typeface="SimSun"/>
                <a:cs typeface="SimSun"/>
              </a:rPr>
              <a:t>图 </a:t>
            </a:r>
            <a:r>
              <a:rPr dirty="0" sz="1000" spc="-10">
                <a:latin typeface="Times New Roman"/>
                <a:cs typeface="Times New Roman"/>
              </a:rPr>
              <a:t>2.</a:t>
            </a:r>
            <a:r>
              <a:rPr dirty="0" sz="1000" spc="110">
                <a:latin typeface="Times New Roman"/>
                <a:cs typeface="Times New Roman"/>
              </a:rPr>
              <a:t> </a:t>
            </a:r>
            <a:r>
              <a:rPr dirty="0" sz="1000" spc="-40">
                <a:latin typeface="SimSun"/>
                <a:cs typeface="SimSun"/>
              </a:rPr>
              <a:t>普通多模态模型 </a:t>
            </a:r>
            <a:r>
              <a:rPr dirty="0" sz="1000" spc="10">
                <a:latin typeface="Times New Roman"/>
                <a:cs typeface="Times New Roman"/>
              </a:rPr>
              <a:t>(a)</a:t>
            </a:r>
            <a:r>
              <a:rPr dirty="0" sz="1000">
                <a:latin typeface="Times New Roman"/>
                <a:cs typeface="Times New Roman"/>
              </a:rPr>
              <a:t> </a:t>
            </a:r>
            <a:r>
              <a:rPr dirty="0" sz="1000" spc="-70">
                <a:latin typeface="SimSun"/>
                <a:cs typeface="SimSun"/>
              </a:rPr>
              <a:t>和具有 </a:t>
            </a:r>
            <a:r>
              <a:rPr dirty="0" sz="1000" spc="-15">
                <a:latin typeface="Times New Roman"/>
                <a:cs typeface="Times New Roman"/>
              </a:rPr>
              <a:t>DGL</a:t>
            </a:r>
            <a:r>
              <a:rPr dirty="0" sz="1000">
                <a:latin typeface="Times New Roman"/>
                <a:cs typeface="Times New Roman"/>
              </a:rPr>
              <a:t> </a:t>
            </a:r>
            <a:r>
              <a:rPr dirty="0" sz="1000" spc="-45">
                <a:latin typeface="SimSun"/>
                <a:cs typeface="SimSun"/>
              </a:rPr>
              <a:t>的多模态模型 </a:t>
            </a:r>
            <a:r>
              <a:rPr dirty="0" sz="1000" spc="5">
                <a:latin typeface="Times New Roman"/>
                <a:cs typeface="Times New Roman"/>
              </a:rPr>
              <a:t>(b)</a:t>
            </a:r>
            <a:r>
              <a:rPr dirty="0" sz="1000">
                <a:latin typeface="Times New Roman"/>
                <a:cs typeface="Times New Roman"/>
              </a:rPr>
              <a:t> </a:t>
            </a:r>
            <a:r>
              <a:rPr dirty="0" sz="1000" spc="-15">
                <a:latin typeface="SimSun"/>
                <a:cs typeface="SimSun"/>
              </a:rPr>
              <a:t>的架构。与普通模型相比，</a:t>
            </a:r>
            <a:r>
              <a:rPr dirty="0" sz="1000" spc="-15">
                <a:latin typeface="Times New Roman"/>
                <a:cs typeface="Times New Roman"/>
              </a:rPr>
              <a:t>DGL</a:t>
            </a:r>
            <a:r>
              <a:rPr dirty="0" sz="1000">
                <a:latin typeface="Times New Roman"/>
                <a:cs typeface="Times New Roman"/>
              </a:rPr>
              <a:t> </a:t>
            </a:r>
            <a:r>
              <a:rPr dirty="0" sz="1000" spc="-10">
                <a:latin typeface="SimSun"/>
                <a:cs typeface="SimSun"/>
              </a:rPr>
              <a:t>截断了从</a:t>
            </a:r>
            <a:r>
              <a:rPr dirty="0" sz="1000" spc="-25">
                <a:latin typeface="SimSun"/>
                <a:cs typeface="SimSun"/>
              </a:rPr>
              <a:t>多模态损失反向传播到模态编码器的梯度，并用单模态损失的梯度替换它，消除了对模态编码器的</a:t>
            </a:r>
            <a:r>
              <a:rPr dirty="0" sz="1000" spc="-45">
                <a:latin typeface="SimSun"/>
                <a:cs typeface="SimSun"/>
              </a:rPr>
              <a:t>梯度抑制。此外，</a:t>
            </a:r>
            <a:r>
              <a:rPr dirty="0" sz="1000" spc="-65">
                <a:latin typeface="Times New Roman"/>
                <a:cs typeface="Times New Roman"/>
              </a:rPr>
              <a:t>DGL</a:t>
            </a:r>
            <a:r>
              <a:rPr dirty="0" sz="1000" spc="-40">
                <a:latin typeface="Times New Roman"/>
                <a:cs typeface="Times New Roman"/>
              </a:rPr>
              <a:t> </a:t>
            </a:r>
            <a:r>
              <a:rPr dirty="0" sz="1000" spc="-20">
                <a:latin typeface="SimSun"/>
                <a:cs typeface="SimSun"/>
              </a:rPr>
              <a:t>去除了从单模态损失反向传播到模态融合模块的梯度，避免了单模态和多模</a:t>
            </a:r>
            <a:r>
              <a:rPr dirty="0" sz="1000" spc="5">
                <a:latin typeface="SimSun"/>
                <a:cs typeface="SimSun"/>
              </a:rPr>
              <a:t>态损失之间的梯度冲突。红色</a:t>
            </a:r>
            <a:r>
              <a:rPr dirty="0" sz="1000" spc="-70">
                <a:latin typeface="Times New Roman"/>
                <a:cs typeface="Times New Roman"/>
              </a:rPr>
              <a:t>X</a:t>
            </a:r>
            <a:r>
              <a:rPr dirty="0" sz="1000" spc="-20">
                <a:latin typeface="Times New Roman"/>
                <a:cs typeface="Times New Roman"/>
              </a:rPr>
              <a:t> </a:t>
            </a:r>
            <a:r>
              <a:rPr dirty="0" sz="1000" spc="-10">
                <a:latin typeface="SimSun"/>
                <a:cs typeface="SimSun"/>
              </a:rPr>
              <a:t>表示梯度截断操作；方块矩形表示截断区域。</a:t>
            </a:r>
            <a:endParaRPr sz="1000">
              <a:latin typeface="SimSun"/>
              <a:cs typeface="SimSun"/>
            </a:endParaRPr>
          </a:p>
        </p:txBody>
      </p:sp>
      <p:sp>
        <p:nvSpPr>
          <p:cNvPr id="11" name="object 11"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74598" y="841750"/>
            <a:ext cx="5836285" cy="420370"/>
          </a:xfrm>
          <a:prstGeom prst="rect">
            <a:avLst/>
          </a:prstGeom>
        </p:spPr>
        <p:txBody>
          <a:bodyPr wrap="square" lIns="0" tIns="12700" rIns="0" bIns="0" rtlCol="0" vert="horz">
            <a:spAutoFit/>
          </a:bodyPr>
          <a:lstStyle/>
          <a:p>
            <a:pPr marL="25400" marR="43180" indent="252729">
              <a:lnSpc>
                <a:spcPct val="129500"/>
              </a:lnSpc>
              <a:spcBef>
                <a:spcPts val="100"/>
              </a:spcBef>
            </a:pPr>
            <a:r>
              <a:rPr dirty="0" sz="1000" spc="10">
                <a:latin typeface="Times New Roman"/>
                <a:cs typeface="Times New Roman"/>
              </a:rPr>
              <a:t>More</a:t>
            </a:r>
            <a:r>
              <a:rPr dirty="0" sz="1000" spc="30">
                <a:latin typeface="Times New Roman"/>
                <a:cs typeface="Times New Roman"/>
              </a:rPr>
              <a:t> </a:t>
            </a:r>
            <a:r>
              <a:rPr dirty="0" sz="1000" spc="10">
                <a:latin typeface="Times New Roman"/>
                <a:cs typeface="Times New Roman"/>
              </a:rPr>
              <a:t>importantly,</a:t>
            </a:r>
            <a:r>
              <a:rPr dirty="0" sz="1000" spc="40">
                <a:latin typeface="Times New Roman"/>
                <a:cs typeface="Times New Roman"/>
              </a:rPr>
              <a:t> </a:t>
            </a:r>
            <a:r>
              <a:rPr dirty="0" sz="1000" spc="10">
                <a:latin typeface="Times New Roman"/>
                <a:cs typeface="Times New Roman"/>
              </a:rPr>
              <a:t>even</a:t>
            </a:r>
            <a:r>
              <a:rPr dirty="0" sz="1000" spc="35">
                <a:latin typeface="Times New Roman"/>
                <a:cs typeface="Times New Roman"/>
              </a:rPr>
              <a:t> </a:t>
            </a:r>
            <a:r>
              <a:rPr dirty="0" sz="1000" spc="10">
                <a:latin typeface="Times New Roman"/>
                <a:cs typeface="Times New Roman"/>
              </a:rPr>
              <a:t>if</a:t>
            </a:r>
            <a:r>
              <a:rPr dirty="0" sz="1000" spc="30">
                <a:latin typeface="Times New Roman"/>
                <a:cs typeface="Times New Roman"/>
              </a:rPr>
              <a:t> </a:t>
            </a:r>
            <a:r>
              <a:rPr dirty="0" sz="1000" spc="10">
                <a:latin typeface="Times New Roman"/>
                <a:cs typeface="Times New Roman"/>
              </a:rPr>
              <a:t>the</a:t>
            </a:r>
            <a:r>
              <a:rPr dirty="0" sz="1000" spc="40">
                <a:latin typeface="Times New Roman"/>
                <a:cs typeface="Times New Roman"/>
              </a:rPr>
              <a:t> </a:t>
            </a:r>
            <a:r>
              <a:rPr dirty="0" sz="1000" spc="10">
                <a:latin typeface="Times New Roman"/>
                <a:cs typeface="Times New Roman"/>
              </a:rPr>
              <a:t>learning</a:t>
            </a:r>
            <a:r>
              <a:rPr dirty="0" sz="1000" spc="35">
                <a:latin typeface="Times New Roman"/>
                <a:cs typeface="Times New Roman"/>
              </a:rPr>
              <a:t> </a:t>
            </a:r>
            <a:r>
              <a:rPr dirty="0" sz="1000" spc="10">
                <a:latin typeface="Times New Roman"/>
                <a:cs typeface="Times New Roman"/>
              </a:rPr>
              <a:t>difficulty</a:t>
            </a:r>
            <a:r>
              <a:rPr dirty="0" sz="1000" spc="40">
                <a:latin typeface="Times New Roman"/>
                <a:cs typeface="Times New Roman"/>
              </a:rPr>
              <a:t> </a:t>
            </a:r>
            <a:r>
              <a:rPr dirty="0" sz="1000" spc="10">
                <a:latin typeface="Times New Roman"/>
                <a:cs typeface="Times New Roman"/>
              </a:rPr>
              <a:t>of</a:t>
            </a:r>
            <a:r>
              <a:rPr dirty="0" sz="1000" spc="30">
                <a:latin typeface="Times New Roman"/>
                <a:cs typeface="Times New Roman"/>
              </a:rPr>
              <a:t> </a:t>
            </a:r>
            <a:r>
              <a:rPr dirty="0" sz="1000" spc="10">
                <a:latin typeface="Cambria"/>
                <a:cs typeface="Cambria"/>
              </a:rPr>
              <a:t>𝑚</a:t>
            </a:r>
            <a:r>
              <a:rPr dirty="0" baseline="-15873" sz="1050" spc="15">
                <a:latin typeface="Cambria"/>
                <a:cs typeface="Cambria"/>
              </a:rPr>
              <a:t>1</a:t>
            </a:r>
            <a:r>
              <a:rPr dirty="0" baseline="-15873" sz="1050" spc="284">
                <a:latin typeface="Cambria"/>
                <a:cs typeface="Cambria"/>
              </a:rPr>
              <a:t> </a:t>
            </a:r>
            <a:r>
              <a:rPr dirty="0" sz="1000" spc="10">
                <a:latin typeface="Times New Roman"/>
                <a:cs typeface="Times New Roman"/>
              </a:rPr>
              <a:t>and</a:t>
            </a:r>
            <a:r>
              <a:rPr dirty="0" sz="1000" spc="30">
                <a:latin typeface="Times New Roman"/>
                <a:cs typeface="Times New Roman"/>
              </a:rPr>
              <a:t> </a:t>
            </a:r>
            <a:r>
              <a:rPr dirty="0" sz="1000" spc="10">
                <a:latin typeface="Cambria"/>
                <a:cs typeface="Cambria"/>
              </a:rPr>
              <a:t>𝑚</a:t>
            </a:r>
            <a:r>
              <a:rPr dirty="0" baseline="-15873" sz="1050" spc="15">
                <a:latin typeface="Cambria"/>
                <a:cs typeface="Cambria"/>
              </a:rPr>
              <a:t>2</a:t>
            </a:r>
            <a:r>
              <a:rPr dirty="0" baseline="-15873" sz="1050" spc="277">
                <a:latin typeface="Cambria"/>
                <a:cs typeface="Cambria"/>
              </a:rPr>
              <a:t> </a:t>
            </a:r>
            <a:r>
              <a:rPr dirty="0" sz="1000" spc="10">
                <a:latin typeface="Times New Roman"/>
                <a:cs typeface="Times New Roman"/>
              </a:rPr>
              <a:t>is</a:t>
            </a:r>
            <a:r>
              <a:rPr dirty="0" sz="1000" spc="35">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same,</a:t>
            </a:r>
            <a:r>
              <a:rPr dirty="0" sz="1000" spc="40">
                <a:latin typeface="Times New Roman"/>
                <a:cs typeface="Times New Roman"/>
              </a:rPr>
              <a:t> </a:t>
            </a:r>
            <a:r>
              <a:rPr dirty="0" sz="1000" spc="10">
                <a:latin typeface="Times New Roman"/>
                <a:cs typeface="Times New Roman"/>
              </a:rPr>
              <a:t>the</a:t>
            </a:r>
            <a:r>
              <a:rPr dirty="0" sz="1000" spc="30">
                <a:latin typeface="Times New Roman"/>
                <a:cs typeface="Times New Roman"/>
              </a:rPr>
              <a:t> </a:t>
            </a:r>
            <a:r>
              <a:rPr dirty="0" sz="1000" spc="10">
                <a:latin typeface="Times New Roman"/>
                <a:cs typeface="Times New Roman"/>
              </a:rPr>
              <a:t>optimization</a:t>
            </a:r>
            <a:r>
              <a:rPr dirty="0" sz="1000" spc="40">
                <a:latin typeface="Times New Roman"/>
                <a:cs typeface="Times New Roman"/>
              </a:rPr>
              <a:t> </a:t>
            </a:r>
            <a:r>
              <a:rPr dirty="0" sz="1000" spc="-10">
                <a:latin typeface="Times New Roman"/>
                <a:cs typeface="Times New Roman"/>
              </a:rPr>
              <a:t>constraints </a:t>
            </a:r>
            <a:r>
              <a:rPr dirty="0" sz="1000">
                <a:latin typeface="Times New Roman"/>
                <a:cs typeface="Times New Roman"/>
              </a:rPr>
              <a:t>on</a:t>
            </a:r>
            <a:r>
              <a:rPr dirty="0" sz="1000" spc="75">
                <a:latin typeface="Times New Roman"/>
                <a:cs typeface="Times New Roman"/>
              </a:rPr>
              <a:t> </a:t>
            </a:r>
            <a:r>
              <a:rPr dirty="0" sz="1000">
                <a:latin typeface="Times New Roman"/>
                <a:cs typeface="Times New Roman"/>
              </a:rPr>
              <a:t>each</a:t>
            </a:r>
            <a:r>
              <a:rPr dirty="0" sz="1000" spc="75">
                <a:latin typeface="Times New Roman"/>
                <a:cs typeface="Times New Roman"/>
              </a:rPr>
              <a:t> </a:t>
            </a:r>
            <a:r>
              <a:rPr dirty="0" sz="1000">
                <a:latin typeface="Times New Roman"/>
                <a:cs typeface="Times New Roman"/>
              </a:rPr>
              <a:t>modality</a:t>
            </a:r>
            <a:r>
              <a:rPr dirty="0" sz="1000" spc="80">
                <a:latin typeface="Times New Roman"/>
                <a:cs typeface="Times New Roman"/>
              </a:rPr>
              <a:t> </a:t>
            </a:r>
            <a:r>
              <a:rPr dirty="0" sz="1000">
                <a:latin typeface="Times New Roman"/>
                <a:cs typeface="Times New Roman"/>
              </a:rPr>
              <a:t>encoder</a:t>
            </a:r>
            <a:r>
              <a:rPr dirty="0" sz="1000" spc="75">
                <a:latin typeface="Times New Roman"/>
                <a:cs typeface="Times New Roman"/>
              </a:rPr>
              <a:t> </a:t>
            </a:r>
            <a:r>
              <a:rPr dirty="0" sz="1000">
                <a:latin typeface="Times New Roman"/>
                <a:cs typeface="Times New Roman"/>
              </a:rPr>
              <a:t>will</a:t>
            </a:r>
            <a:r>
              <a:rPr dirty="0" sz="1000" spc="80">
                <a:latin typeface="Times New Roman"/>
                <a:cs typeface="Times New Roman"/>
              </a:rPr>
              <a:t> </a:t>
            </a:r>
            <a:r>
              <a:rPr dirty="0" sz="1000">
                <a:latin typeface="Times New Roman"/>
                <a:cs typeface="Times New Roman"/>
              </a:rPr>
              <a:t>also</a:t>
            </a:r>
            <a:r>
              <a:rPr dirty="0" sz="1000" spc="75">
                <a:latin typeface="Times New Roman"/>
                <a:cs typeface="Times New Roman"/>
              </a:rPr>
              <a:t> </a:t>
            </a:r>
            <a:r>
              <a:rPr dirty="0" sz="1000">
                <a:latin typeface="Times New Roman"/>
                <a:cs typeface="Times New Roman"/>
              </a:rPr>
              <a:t>become</a:t>
            </a:r>
            <a:r>
              <a:rPr dirty="0" sz="1000" spc="80">
                <a:latin typeface="Times New Roman"/>
                <a:cs typeface="Times New Roman"/>
              </a:rPr>
              <a:t> </a:t>
            </a:r>
            <a:r>
              <a:rPr dirty="0" sz="1000">
                <a:latin typeface="Times New Roman"/>
                <a:cs typeface="Times New Roman"/>
              </a:rPr>
              <a:t>increasingly</a:t>
            </a:r>
            <a:r>
              <a:rPr dirty="0" sz="1000" spc="75">
                <a:latin typeface="Times New Roman"/>
                <a:cs typeface="Times New Roman"/>
              </a:rPr>
              <a:t> </a:t>
            </a:r>
            <a:r>
              <a:rPr dirty="0" sz="1000">
                <a:latin typeface="Times New Roman"/>
                <a:cs typeface="Times New Roman"/>
              </a:rPr>
              <a:t>severe</a:t>
            </a:r>
            <a:r>
              <a:rPr dirty="0" sz="1000" spc="70">
                <a:latin typeface="Times New Roman"/>
                <a:cs typeface="Times New Roman"/>
              </a:rPr>
              <a:t> </a:t>
            </a:r>
            <a:r>
              <a:rPr dirty="0" sz="1000">
                <a:latin typeface="Times New Roman"/>
                <a:cs typeface="Times New Roman"/>
              </a:rPr>
              <a:t>when</a:t>
            </a:r>
            <a:r>
              <a:rPr dirty="0" sz="1000" spc="80">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multimodal</a:t>
            </a:r>
            <a:r>
              <a:rPr dirty="0" sz="1000" spc="80">
                <a:latin typeface="Times New Roman"/>
                <a:cs typeface="Times New Roman"/>
              </a:rPr>
              <a:t> </a:t>
            </a:r>
            <a:r>
              <a:rPr dirty="0" sz="1000">
                <a:latin typeface="Times New Roman"/>
                <a:cs typeface="Times New Roman"/>
              </a:rPr>
              <a:t>model</a:t>
            </a:r>
            <a:r>
              <a:rPr dirty="0" sz="1000" spc="75">
                <a:latin typeface="Times New Roman"/>
                <a:cs typeface="Times New Roman"/>
              </a:rPr>
              <a:t> </a:t>
            </a:r>
            <a:r>
              <a:rPr dirty="0" sz="1000">
                <a:latin typeface="Times New Roman"/>
                <a:cs typeface="Times New Roman"/>
              </a:rPr>
              <a:t>is</a:t>
            </a:r>
            <a:r>
              <a:rPr dirty="0" sz="1000" spc="80">
                <a:latin typeface="Times New Roman"/>
                <a:cs typeface="Times New Roman"/>
              </a:rPr>
              <a:t> </a:t>
            </a:r>
            <a:r>
              <a:rPr dirty="0" sz="1000">
                <a:latin typeface="Times New Roman"/>
                <a:cs typeface="Times New Roman"/>
              </a:rPr>
              <a:t>optimized</a:t>
            </a:r>
            <a:r>
              <a:rPr dirty="0" sz="1000" spc="75">
                <a:latin typeface="Times New Roman"/>
                <a:cs typeface="Times New Roman"/>
              </a:rPr>
              <a:t> </a:t>
            </a:r>
            <a:r>
              <a:rPr dirty="0" sz="1000" spc="-20">
                <a:latin typeface="Times New Roman"/>
                <a:cs typeface="Times New Roman"/>
              </a:rPr>
              <a:t>(see</a:t>
            </a:r>
            <a:endParaRPr sz="1000">
              <a:latin typeface="Times New Roman"/>
              <a:cs typeface="Times New Roman"/>
            </a:endParaRPr>
          </a:p>
        </p:txBody>
      </p:sp>
      <p:sp>
        <p:nvSpPr>
          <p:cNvPr id="3" name="object 3" descr=""/>
          <p:cNvSpPr txBox="1"/>
          <p:nvPr/>
        </p:nvSpPr>
        <p:spPr>
          <a:xfrm>
            <a:off x="2459253" y="1336880"/>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𝑦</a:t>
            </a:r>
            <a:endParaRPr sz="700">
              <a:latin typeface="Cambria"/>
              <a:cs typeface="Cambria"/>
            </a:endParaRPr>
          </a:p>
        </p:txBody>
      </p:sp>
      <p:sp>
        <p:nvSpPr>
          <p:cNvPr id="4" name="object 4" descr=""/>
          <p:cNvSpPr txBox="1"/>
          <p:nvPr/>
        </p:nvSpPr>
        <p:spPr>
          <a:xfrm>
            <a:off x="3192818" y="1336880"/>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𝑦</a:t>
            </a:r>
            <a:endParaRPr sz="700">
              <a:latin typeface="Cambria"/>
              <a:cs typeface="Cambria"/>
            </a:endParaRPr>
          </a:p>
        </p:txBody>
      </p:sp>
      <p:sp>
        <p:nvSpPr>
          <p:cNvPr id="5" name="object 5" descr=""/>
          <p:cNvSpPr txBox="1"/>
          <p:nvPr/>
        </p:nvSpPr>
        <p:spPr>
          <a:xfrm>
            <a:off x="2482278" y="1253339"/>
            <a:ext cx="1043305" cy="132080"/>
          </a:xfrm>
          <a:prstGeom prst="rect">
            <a:avLst/>
          </a:prstGeom>
        </p:spPr>
        <p:txBody>
          <a:bodyPr wrap="square" lIns="0" tIns="12065" rIns="0" bIns="0" rtlCol="0" vert="horz">
            <a:spAutoFit/>
          </a:bodyPr>
          <a:lstStyle/>
          <a:p>
            <a:pPr marL="12700">
              <a:lnSpc>
                <a:spcPct val="100000"/>
              </a:lnSpc>
              <a:spcBef>
                <a:spcPts val="95"/>
              </a:spcBef>
              <a:tabLst>
                <a:tab pos="746125" algn="l"/>
              </a:tabLst>
            </a:pPr>
            <a:r>
              <a:rPr dirty="0" sz="700" spc="75">
                <a:latin typeface="Cambria"/>
                <a:cs typeface="Cambria"/>
              </a:rPr>
              <a:t>𝑚</a:t>
            </a:r>
            <a:r>
              <a:rPr dirty="0" sz="700" spc="290">
                <a:latin typeface="Cambria"/>
                <a:cs typeface="Cambria"/>
              </a:rPr>
              <a:t>  </a:t>
            </a:r>
            <a:r>
              <a:rPr dirty="0" sz="700" spc="25">
                <a:latin typeface="Cambria"/>
                <a:cs typeface="Cambria"/>
              </a:rPr>
              <a:t>𝑚</a:t>
            </a:r>
            <a:r>
              <a:rPr dirty="0" sz="700">
                <a:latin typeface="Cambria"/>
                <a:cs typeface="Cambria"/>
              </a:rPr>
              <a:t>	</a:t>
            </a:r>
            <a:r>
              <a:rPr dirty="0" sz="700" spc="75">
                <a:latin typeface="Cambria"/>
                <a:cs typeface="Cambria"/>
              </a:rPr>
              <a:t>𝑚</a:t>
            </a:r>
            <a:r>
              <a:rPr dirty="0" sz="700" spc="290">
                <a:latin typeface="Cambria"/>
                <a:cs typeface="Cambria"/>
              </a:rPr>
              <a:t>  </a:t>
            </a:r>
            <a:r>
              <a:rPr dirty="0" sz="700" spc="25">
                <a:latin typeface="Cambria"/>
                <a:cs typeface="Cambria"/>
              </a:rPr>
              <a:t>𝑚</a:t>
            </a:r>
            <a:endParaRPr sz="700">
              <a:latin typeface="Cambria"/>
              <a:cs typeface="Cambria"/>
            </a:endParaRPr>
          </a:p>
        </p:txBody>
      </p:sp>
      <p:sp>
        <p:nvSpPr>
          <p:cNvPr id="6" name="object 6" descr=""/>
          <p:cNvSpPr txBox="1"/>
          <p:nvPr/>
        </p:nvSpPr>
        <p:spPr>
          <a:xfrm>
            <a:off x="2566682" y="1290911"/>
            <a:ext cx="998219" cy="109220"/>
          </a:xfrm>
          <a:prstGeom prst="rect">
            <a:avLst/>
          </a:prstGeom>
        </p:spPr>
        <p:txBody>
          <a:bodyPr wrap="square" lIns="0" tIns="12065" rIns="0" bIns="0" rtlCol="0" vert="horz">
            <a:spAutoFit/>
          </a:bodyPr>
          <a:lstStyle/>
          <a:p>
            <a:pPr marL="12700">
              <a:lnSpc>
                <a:spcPct val="100000"/>
              </a:lnSpc>
              <a:spcBef>
                <a:spcPts val="95"/>
              </a:spcBef>
              <a:tabLst>
                <a:tab pos="212090" algn="l"/>
                <a:tab pos="746125" algn="l"/>
                <a:tab pos="945515" algn="l"/>
              </a:tabLst>
            </a:pPr>
            <a:r>
              <a:rPr dirty="0" sz="550" spc="-50">
                <a:latin typeface="Cambria"/>
                <a:cs typeface="Cambria"/>
              </a:rPr>
              <a:t>2</a:t>
            </a:r>
            <a:r>
              <a:rPr dirty="0" sz="550">
                <a:latin typeface="Cambria"/>
                <a:cs typeface="Cambria"/>
              </a:rPr>
              <a:t>	</a:t>
            </a:r>
            <a:r>
              <a:rPr dirty="0" sz="550" spc="-50">
                <a:latin typeface="Cambria"/>
                <a:cs typeface="Cambria"/>
              </a:rPr>
              <a:t>2</a:t>
            </a:r>
            <a:r>
              <a:rPr dirty="0" sz="550">
                <a:latin typeface="Cambria"/>
                <a:cs typeface="Cambria"/>
              </a:rPr>
              <a:t>	</a:t>
            </a:r>
            <a:r>
              <a:rPr dirty="0" sz="550" spc="-50">
                <a:latin typeface="Cambria"/>
                <a:cs typeface="Cambria"/>
              </a:rPr>
              <a:t>1</a:t>
            </a:r>
            <a:r>
              <a:rPr dirty="0" sz="550">
                <a:latin typeface="Cambria"/>
                <a:cs typeface="Cambria"/>
              </a:rPr>
              <a:t>	</a:t>
            </a:r>
            <a:r>
              <a:rPr dirty="0" sz="550" spc="-50">
                <a:latin typeface="Cambria"/>
                <a:cs typeface="Cambria"/>
              </a:rPr>
              <a:t>1</a:t>
            </a:r>
            <a:endParaRPr sz="550">
              <a:latin typeface="Cambria"/>
              <a:cs typeface="Cambria"/>
            </a:endParaRPr>
          </a:p>
        </p:txBody>
      </p:sp>
      <p:sp>
        <p:nvSpPr>
          <p:cNvPr id="7" name="object 7" descr=""/>
          <p:cNvSpPr txBox="1"/>
          <p:nvPr/>
        </p:nvSpPr>
        <p:spPr>
          <a:xfrm>
            <a:off x="2511425" y="1357734"/>
            <a:ext cx="944880" cy="132080"/>
          </a:xfrm>
          <a:prstGeom prst="rect">
            <a:avLst/>
          </a:prstGeom>
        </p:spPr>
        <p:txBody>
          <a:bodyPr wrap="square" lIns="0" tIns="12065" rIns="0" bIns="0" rtlCol="0" vert="horz">
            <a:spAutoFit/>
          </a:bodyPr>
          <a:lstStyle/>
          <a:p>
            <a:pPr marL="12700">
              <a:lnSpc>
                <a:spcPct val="100000"/>
              </a:lnSpc>
              <a:spcBef>
                <a:spcPts val="95"/>
              </a:spcBef>
              <a:tabLst>
                <a:tab pos="181610" algn="l"/>
                <a:tab pos="746125" algn="l"/>
                <a:tab pos="915035" algn="l"/>
              </a:tabLst>
            </a:pPr>
            <a:r>
              <a:rPr dirty="0" sz="550" spc="-50">
                <a:latin typeface="Cambria"/>
                <a:cs typeface="Cambria"/>
              </a:rPr>
              <a:t>𝑖</a:t>
            </a:r>
            <a:r>
              <a:rPr dirty="0" sz="550">
                <a:latin typeface="Cambria"/>
                <a:cs typeface="Cambria"/>
              </a:rPr>
              <a:t>	</a:t>
            </a:r>
            <a:r>
              <a:rPr dirty="0" sz="700" spc="-50">
                <a:latin typeface="Cambria"/>
                <a:cs typeface="Cambria"/>
              </a:rPr>
              <a:t>𝑖</a:t>
            </a:r>
            <a:r>
              <a:rPr dirty="0" sz="700">
                <a:latin typeface="Cambria"/>
                <a:cs typeface="Cambria"/>
              </a:rPr>
              <a:t>	</a:t>
            </a:r>
            <a:r>
              <a:rPr dirty="0" sz="550" spc="-50">
                <a:latin typeface="Cambria"/>
                <a:cs typeface="Cambria"/>
              </a:rPr>
              <a:t>𝑖</a:t>
            </a:r>
            <a:r>
              <a:rPr dirty="0" sz="550">
                <a:latin typeface="Cambria"/>
                <a:cs typeface="Cambria"/>
              </a:rPr>
              <a:t>	</a:t>
            </a:r>
            <a:r>
              <a:rPr dirty="0" sz="700" spc="-50">
                <a:latin typeface="Cambria"/>
                <a:cs typeface="Cambria"/>
              </a:rPr>
              <a:t>𝑖</a:t>
            </a:r>
            <a:endParaRPr sz="700">
              <a:latin typeface="Cambria"/>
              <a:cs typeface="Cambria"/>
            </a:endParaRPr>
          </a:p>
        </p:txBody>
      </p:sp>
      <p:sp>
        <p:nvSpPr>
          <p:cNvPr id="8" name="object 8" descr=""/>
          <p:cNvSpPr txBox="1"/>
          <p:nvPr/>
        </p:nvSpPr>
        <p:spPr>
          <a:xfrm>
            <a:off x="887298" y="1282057"/>
            <a:ext cx="5785485" cy="177800"/>
          </a:xfrm>
          <a:prstGeom prst="rect">
            <a:avLst/>
          </a:prstGeom>
        </p:spPr>
        <p:txBody>
          <a:bodyPr wrap="square" lIns="0" tIns="12065" rIns="0" bIns="0" rtlCol="0" vert="horz">
            <a:spAutoFit/>
          </a:bodyPr>
          <a:lstStyle/>
          <a:p>
            <a:pPr marL="12700">
              <a:lnSpc>
                <a:spcPct val="100000"/>
              </a:lnSpc>
              <a:spcBef>
                <a:spcPts val="95"/>
              </a:spcBef>
              <a:tabLst>
                <a:tab pos="1743075" algn="l"/>
                <a:tab pos="1976755" algn="l"/>
                <a:tab pos="2477135" algn="l"/>
                <a:tab pos="2710815" algn="l"/>
              </a:tabLst>
            </a:pPr>
            <a:r>
              <a:rPr dirty="0" sz="1000">
                <a:latin typeface="Times New Roman"/>
                <a:cs typeface="Times New Roman"/>
              </a:rPr>
              <a:t>Fig.</a:t>
            </a:r>
            <a:r>
              <a:rPr dirty="0" sz="1000" spc="200">
                <a:latin typeface="Times New Roman"/>
                <a:cs typeface="Times New Roman"/>
              </a:rPr>
              <a:t> </a:t>
            </a:r>
            <a:r>
              <a:rPr dirty="0" sz="1000">
                <a:latin typeface="Times New Roman"/>
                <a:cs typeface="Times New Roman"/>
              </a:rPr>
              <a:t>1</a:t>
            </a:r>
            <a:r>
              <a:rPr dirty="0" sz="1000" spc="45">
                <a:latin typeface="Times New Roman"/>
                <a:cs typeface="Times New Roman"/>
              </a:rPr>
              <a:t> </a:t>
            </a:r>
            <a:r>
              <a:rPr dirty="0" sz="1000">
                <a:latin typeface="Times New Roman"/>
                <a:cs typeface="Times New Roman"/>
              </a:rPr>
              <a:t>(c)).</a:t>
            </a:r>
            <a:r>
              <a:rPr dirty="0" sz="1000" spc="204">
                <a:latin typeface="Times New Roman"/>
                <a:cs typeface="Times New Roman"/>
              </a:rPr>
              <a:t> </a:t>
            </a:r>
            <a:r>
              <a:rPr dirty="0" sz="1000">
                <a:latin typeface="Times New Roman"/>
                <a:cs typeface="Times New Roman"/>
              </a:rPr>
              <a:t>This</a:t>
            </a:r>
            <a:r>
              <a:rPr dirty="0" sz="1000" spc="40">
                <a:latin typeface="Times New Roman"/>
                <a:cs typeface="Times New Roman"/>
              </a:rPr>
              <a:t> </a:t>
            </a:r>
            <a:r>
              <a:rPr dirty="0" sz="1000">
                <a:latin typeface="Times New Roman"/>
                <a:cs typeface="Times New Roman"/>
              </a:rPr>
              <a:t>is</a:t>
            </a:r>
            <a:r>
              <a:rPr dirty="0" sz="1000" spc="45">
                <a:latin typeface="Times New Roman"/>
                <a:cs typeface="Times New Roman"/>
              </a:rPr>
              <a:t> </a:t>
            </a:r>
            <a:r>
              <a:rPr dirty="0" sz="1000">
                <a:latin typeface="Times New Roman"/>
                <a:cs typeface="Times New Roman"/>
              </a:rPr>
              <a:t>because</a:t>
            </a:r>
            <a:r>
              <a:rPr dirty="0" sz="1000" spc="45">
                <a:latin typeface="Times New Roman"/>
                <a:cs typeface="Times New Roman"/>
              </a:rPr>
              <a:t> </a:t>
            </a:r>
            <a:r>
              <a:rPr dirty="0" sz="1000" spc="-50">
                <a:latin typeface="Cambria"/>
                <a:cs typeface="Cambria"/>
              </a:rPr>
              <a:t>𝑊</a:t>
            </a:r>
            <a:r>
              <a:rPr dirty="0" sz="1000">
                <a:latin typeface="Cambria"/>
                <a:cs typeface="Cambria"/>
              </a:rPr>
              <a:t>	</a:t>
            </a:r>
            <a:r>
              <a:rPr dirty="0" sz="1000" spc="-50">
                <a:latin typeface="Cambria"/>
                <a:cs typeface="Cambria"/>
              </a:rPr>
              <a:t>𝑧</a:t>
            </a:r>
            <a:r>
              <a:rPr dirty="0" sz="1000">
                <a:latin typeface="Cambria"/>
                <a:cs typeface="Cambria"/>
              </a:rPr>
              <a:t>	</a:t>
            </a:r>
            <a:r>
              <a:rPr dirty="0" sz="1000">
                <a:latin typeface="Times New Roman"/>
                <a:cs typeface="Times New Roman"/>
              </a:rPr>
              <a:t>and</a:t>
            </a:r>
            <a:r>
              <a:rPr dirty="0" sz="1000" spc="145">
                <a:latin typeface="Times New Roman"/>
                <a:cs typeface="Times New Roman"/>
              </a:rPr>
              <a:t> </a:t>
            </a:r>
            <a:r>
              <a:rPr dirty="0" sz="1000" spc="-50">
                <a:latin typeface="Cambria"/>
                <a:cs typeface="Cambria"/>
              </a:rPr>
              <a:t>𝑊</a:t>
            </a:r>
            <a:r>
              <a:rPr dirty="0" sz="1000">
                <a:latin typeface="Cambria"/>
                <a:cs typeface="Cambria"/>
              </a:rPr>
              <a:t>	</a:t>
            </a:r>
            <a:r>
              <a:rPr dirty="0" sz="1000" spc="-50">
                <a:latin typeface="Cambria"/>
                <a:cs typeface="Cambria"/>
              </a:rPr>
              <a:t>𝑧</a:t>
            </a:r>
            <a:r>
              <a:rPr dirty="0" sz="1000">
                <a:latin typeface="Cambria"/>
                <a:cs typeface="Cambria"/>
              </a:rPr>
              <a:t>	</a:t>
            </a:r>
            <a:r>
              <a:rPr dirty="0" sz="1000">
                <a:latin typeface="Times New Roman"/>
                <a:cs typeface="Times New Roman"/>
              </a:rPr>
              <a:t>becomes</a:t>
            </a:r>
            <a:r>
              <a:rPr dirty="0" sz="1000" spc="105">
                <a:latin typeface="Times New Roman"/>
                <a:cs typeface="Times New Roman"/>
              </a:rPr>
              <a:t> </a:t>
            </a:r>
            <a:r>
              <a:rPr dirty="0" sz="1000">
                <a:latin typeface="Times New Roman"/>
                <a:cs typeface="Times New Roman"/>
              </a:rPr>
              <a:t>increasingly</a:t>
            </a:r>
            <a:r>
              <a:rPr dirty="0" sz="1000" spc="105">
                <a:latin typeface="Times New Roman"/>
                <a:cs typeface="Times New Roman"/>
              </a:rPr>
              <a:t> </a:t>
            </a:r>
            <a:r>
              <a:rPr dirty="0" sz="1000">
                <a:latin typeface="Times New Roman"/>
                <a:cs typeface="Times New Roman"/>
              </a:rPr>
              <a:t>close</a:t>
            </a:r>
            <a:r>
              <a:rPr dirty="0" sz="1000" spc="105">
                <a:latin typeface="Times New Roman"/>
                <a:cs typeface="Times New Roman"/>
              </a:rPr>
              <a:t> </a:t>
            </a:r>
            <a:r>
              <a:rPr dirty="0" sz="1000">
                <a:latin typeface="Times New Roman"/>
                <a:cs typeface="Times New Roman"/>
              </a:rPr>
              <a:t>to</a:t>
            </a:r>
            <a:r>
              <a:rPr dirty="0" sz="1000" spc="105">
                <a:latin typeface="Times New Roman"/>
                <a:cs typeface="Times New Roman"/>
              </a:rPr>
              <a:t> </a:t>
            </a:r>
            <a:r>
              <a:rPr dirty="0" sz="1000">
                <a:latin typeface="Times New Roman"/>
                <a:cs typeface="Times New Roman"/>
              </a:rPr>
              <a:t>1</a:t>
            </a:r>
            <a:r>
              <a:rPr dirty="0" sz="1000" spc="105">
                <a:latin typeface="Times New Roman"/>
                <a:cs typeface="Times New Roman"/>
              </a:rPr>
              <a:t> </a:t>
            </a:r>
            <a:r>
              <a:rPr dirty="0" sz="1000">
                <a:latin typeface="Times New Roman"/>
                <a:cs typeface="Times New Roman"/>
              </a:rPr>
              <a:t>and</a:t>
            </a:r>
            <a:r>
              <a:rPr dirty="0" sz="1000" spc="105">
                <a:latin typeface="Times New Roman"/>
                <a:cs typeface="Times New Roman"/>
              </a:rPr>
              <a:t> </a:t>
            </a:r>
            <a:r>
              <a:rPr dirty="0" sz="1000">
                <a:latin typeface="Times New Roman"/>
                <a:cs typeface="Times New Roman"/>
              </a:rPr>
              <a:t>the</a:t>
            </a:r>
            <a:r>
              <a:rPr dirty="0" sz="1000" spc="110">
                <a:latin typeface="Times New Roman"/>
                <a:cs typeface="Times New Roman"/>
              </a:rPr>
              <a:t> </a:t>
            </a:r>
            <a:r>
              <a:rPr dirty="0" sz="1000">
                <a:latin typeface="Times New Roman"/>
                <a:cs typeface="Times New Roman"/>
              </a:rPr>
              <a:t>absolute</a:t>
            </a:r>
            <a:r>
              <a:rPr dirty="0" sz="1000" spc="105">
                <a:latin typeface="Times New Roman"/>
                <a:cs typeface="Times New Roman"/>
              </a:rPr>
              <a:t> </a:t>
            </a:r>
            <a:r>
              <a:rPr dirty="0" sz="1000">
                <a:latin typeface="Times New Roman"/>
                <a:cs typeface="Times New Roman"/>
              </a:rPr>
              <a:t>value</a:t>
            </a:r>
            <a:r>
              <a:rPr dirty="0" sz="1000" spc="105">
                <a:latin typeface="Times New Roman"/>
                <a:cs typeface="Times New Roman"/>
              </a:rPr>
              <a:t> </a:t>
            </a:r>
            <a:r>
              <a:rPr dirty="0" sz="1000" spc="-25">
                <a:latin typeface="Times New Roman"/>
                <a:cs typeface="Times New Roman"/>
              </a:rPr>
              <a:t>of</a:t>
            </a:r>
            <a:endParaRPr sz="1000">
              <a:latin typeface="Times New Roman"/>
              <a:cs typeface="Times New Roman"/>
            </a:endParaRPr>
          </a:p>
        </p:txBody>
      </p:sp>
      <p:sp>
        <p:nvSpPr>
          <p:cNvPr id="9" name="object 9" descr=""/>
          <p:cNvSpPr txBox="1"/>
          <p:nvPr/>
        </p:nvSpPr>
        <p:spPr>
          <a:xfrm>
            <a:off x="887298" y="1479441"/>
            <a:ext cx="76835" cy="177800"/>
          </a:xfrm>
          <a:prstGeom prst="rect">
            <a:avLst/>
          </a:prstGeom>
        </p:spPr>
        <p:txBody>
          <a:bodyPr wrap="square" lIns="0" tIns="12065" rIns="0" bIns="0" rtlCol="0" vert="horz">
            <a:spAutoFit/>
          </a:bodyPr>
          <a:lstStyle/>
          <a:p>
            <a:pPr marL="12700">
              <a:lnSpc>
                <a:spcPct val="100000"/>
              </a:lnSpc>
              <a:spcBef>
                <a:spcPts val="95"/>
              </a:spcBef>
            </a:pPr>
            <a:r>
              <a:rPr dirty="0" sz="1000" spc="-615">
                <a:latin typeface="Cambria"/>
                <a:cs typeface="Cambria"/>
              </a:rPr>
              <a:t>𝑔</a:t>
            </a:r>
            <a:endParaRPr sz="1000">
              <a:latin typeface="Cambria"/>
              <a:cs typeface="Cambria"/>
            </a:endParaRPr>
          </a:p>
        </p:txBody>
      </p:sp>
      <p:sp>
        <p:nvSpPr>
          <p:cNvPr id="10" name="object 10" descr=""/>
          <p:cNvSpPr txBox="1"/>
          <p:nvPr/>
        </p:nvSpPr>
        <p:spPr>
          <a:xfrm>
            <a:off x="950937" y="1555790"/>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11" name="object 11" descr=""/>
          <p:cNvSpPr txBox="1"/>
          <p:nvPr/>
        </p:nvSpPr>
        <p:spPr>
          <a:xfrm>
            <a:off x="971753" y="1468440"/>
            <a:ext cx="2768600" cy="132080"/>
          </a:xfrm>
          <a:prstGeom prst="rect">
            <a:avLst/>
          </a:prstGeom>
        </p:spPr>
        <p:txBody>
          <a:bodyPr wrap="square" lIns="0" tIns="12065" rIns="0" bIns="0" rtlCol="0" vert="horz">
            <a:spAutoFit/>
          </a:bodyPr>
          <a:lstStyle/>
          <a:p>
            <a:pPr marL="12700">
              <a:lnSpc>
                <a:spcPct val="100000"/>
              </a:lnSpc>
              <a:spcBef>
                <a:spcPts val="95"/>
              </a:spcBef>
              <a:tabLst>
                <a:tab pos="2612390" algn="l"/>
              </a:tabLst>
            </a:pPr>
            <a:r>
              <a:rPr dirty="0" sz="700" spc="-10">
                <a:latin typeface="Times New Roman"/>
                <a:cs typeface="Times New Roman"/>
              </a:rPr>
              <a:t>Multi</a:t>
            </a:r>
            <a:r>
              <a:rPr dirty="0" sz="700">
                <a:latin typeface="Times New Roman"/>
                <a:cs typeface="Times New Roman"/>
              </a:rPr>
              <a:t>	</a:t>
            </a:r>
            <a:r>
              <a:rPr dirty="0" sz="700" spc="-25">
                <a:latin typeface="Times New Roman"/>
                <a:cs typeface="Times New Roman"/>
              </a:rPr>
              <a:t>Uni</a:t>
            </a:r>
            <a:endParaRPr sz="700">
              <a:latin typeface="Times New Roman"/>
              <a:cs typeface="Times New Roman"/>
            </a:endParaRPr>
          </a:p>
        </p:txBody>
      </p:sp>
      <p:sp>
        <p:nvSpPr>
          <p:cNvPr id="12" name="object 12" descr=""/>
          <p:cNvSpPr txBox="1"/>
          <p:nvPr/>
        </p:nvSpPr>
        <p:spPr>
          <a:xfrm>
            <a:off x="3550742" y="1555790"/>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13" name="object 13" descr=""/>
          <p:cNvSpPr txBox="1"/>
          <p:nvPr/>
        </p:nvSpPr>
        <p:spPr>
          <a:xfrm>
            <a:off x="1003109" y="1593361"/>
            <a:ext cx="2664460" cy="109220"/>
          </a:xfrm>
          <a:prstGeom prst="rect">
            <a:avLst/>
          </a:prstGeom>
        </p:spPr>
        <p:txBody>
          <a:bodyPr wrap="square" lIns="0" tIns="12065" rIns="0" bIns="0" rtlCol="0" vert="horz">
            <a:spAutoFit/>
          </a:bodyPr>
          <a:lstStyle/>
          <a:p>
            <a:pPr marL="12700">
              <a:lnSpc>
                <a:spcPct val="100000"/>
              </a:lnSpc>
              <a:spcBef>
                <a:spcPts val="95"/>
              </a:spcBef>
              <a:tabLst>
                <a:tab pos="2612390" algn="l"/>
              </a:tabLst>
            </a:pPr>
            <a:r>
              <a:rPr dirty="0" sz="550" spc="-50">
                <a:latin typeface="Cambria"/>
                <a:cs typeface="Cambria"/>
              </a:rPr>
              <a:t>1</a:t>
            </a:r>
            <a:r>
              <a:rPr dirty="0" sz="550">
                <a:latin typeface="Cambria"/>
                <a:cs typeface="Cambria"/>
              </a:rPr>
              <a:t>	</a:t>
            </a:r>
            <a:r>
              <a:rPr dirty="0" sz="550" spc="-50">
                <a:latin typeface="Cambria"/>
                <a:cs typeface="Cambria"/>
              </a:rPr>
              <a:t>1</a:t>
            </a:r>
            <a:endParaRPr sz="550">
              <a:latin typeface="Cambria"/>
              <a:cs typeface="Cambria"/>
            </a:endParaRPr>
          </a:p>
        </p:txBody>
      </p:sp>
      <p:sp>
        <p:nvSpPr>
          <p:cNvPr id="14" name="object 14" descr=""/>
          <p:cNvSpPr txBox="1"/>
          <p:nvPr/>
        </p:nvSpPr>
        <p:spPr>
          <a:xfrm>
            <a:off x="1236586" y="1479441"/>
            <a:ext cx="2591435" cy="177800"/>
          </a:xfrm>
          <a:prstGeom prst="rect">
            <a:avLst/>
          </a:prstGeom>
        </p:spPr>
        <p:txBody>
          <a:bodyPr wrap="square" lIns="0" tIns="12065" rIns="0" bIns="0" rtlCol="0" vert="horz">
            <a:spAutoFit/>
          </a:bodyPr>
          <a:lstStyle/>
          <a:p>
            <a:pPr marL="12700">
              <a:lnSpc>
                <a:spcPct val="100000"/>
              </a:lnSpc>
              <a:spcBef>
                <a:spcPts val="95"/>
              </a:spcBef>
              <a:tabLst>
                <a:tab pos="2546985" algn="l"/>
              </a:tabLst>
            </a:pPr>
            <a:r>
              <a:rPr dirty="0" sz="1000">
                <a:latin typeface="Times New Roman"/>
                <a:cs typeface="Times New Roman"/>
              </a:rPr>
              <a:t>becomes</a:t>
            </a:r>
            <a:r>
              <a:rPr dirty="0" sz="1000" spc="75">
                <a:latin typeface="Times New Roman"/>
                <a:cs typeface="Times New Roman"/>
              </a:rPr>
              <a:t> </a:t>
            </a:r>
            <a:r>
              <a:rPr dirty="0" sz="1000">
                <a:latin typeface="Times New Roman"/>
                <a:cs typeface="Times New Roman"/>
              </a:rPr>
              <a:t>increasingly</a:t>
            </a:r>
            <a:r>
              <a:rPr dirty="0" sz="1000" spc="75">
                <a:latin typeface="Times New Roman"/>
                <a:cs typeface="Times New Roman"/>
              </a:rPr>
              <a:t> </a:t>
            </a:r>
            <a:r>
              <a:rPr dirty="0" sz="1000">
                <a:latin typeface="Times New Roman"/>
                <a:cs typeface="Times New Roman"/>
              </a:rPr>
              <a:t>smaller</a:t>
            </a:r>
            <a:r>
              <a:rPr dirty="0" sz="1000" spc="80">
                <a:latin typeface="Times New Roman"/>
                <a:cs typeface="Times New Roman"/>
              </a:rPr>
              <a:t> </a:t>
            </a:r>
            <a:r>
              <a:rPr dirty="0" sz="1000" spc="50">
                <a:latin typeface="Times New Roman"/>
                <a:cs typeface="Times New Roman"/>
              </a:rPr>
              <a:t>than</a:t>
            </a:r>
            <a:r>
              <a:rPr dirty="0" sz="1000" spc="75">
                <a:latin typeface="Times New Roman"/>
                <a:cs typeface="Times New Roman"/>
              </a:rPr>
              <a:t> </a:t>
            </a:r>
            <a:r>
              <a:rPr dirty="0" sz="1000">
                <a:latin typeface="Times New Roman"/>
                <a:cs typeface="Times New Roman"/>
              </a:rPr>
              <a:t>that</a:t>
            </a:r>
            <a:r>
              <a:rPr dirty="0" sz="1000" spc="75">
                <a:latin typeface="Times New Roman"/>
                <a:cs typeface="Times New Roman"/>
              </a:rPr>
              <a:t> </a:t>
            </a:r>
            <a:r>
              <a:rPr dirty="0" sz="1000">
                <a:latin typeface="Times New Roman"/>
                <a:cs typeface="Times New Roman"/>
              </a:rPr>
              <a:t>of</a:t>
            </a:r>
            <a:r>
              <a:rPr dirty="0" sz="1000" spc="80">
                <a:latin typeface="Times New Roman"/>
                <a:cs typeface="Times New Roman"/>
              </a:rPr>
              <a:t> </a:t>
            </a:r>
            <a:r>
              <a:rPr dirty="0" sz="1000" spc="-50">
                <a:latin typeface="Cambria"/>
                <a:cs typeface="Cambria"/>
              </a:rPr>
              <a:t>𝑔</a:t>
            </a:r>
            <a:r>
              <a:rPr dirty="0" sz="1000">
                <a:latin typeface="Cambria"/>
                <a:cs typeface="Cambria"/>
              </a:rPr>
              <a:t>	</a:t>
            </a:r>
            <a:r>
              <a:rPr dirty="0" sz="1000" spc="-50">
                <a:latin typeface="Times New Roman"/>
                <a:cs typeface="Times New Roman"/>
              </a:rPr>
              <a:t>.</a:t>
            </a:r>
            <a:endParaRPr sz="1000">
              <a:latin typeface="Times New Roman"/>
              <a:cs typeface="Times New Roman"/>
            </a:endParaRPr>
          </a:p>
        </p:txBody>
      </p:sp>
      <p:grpSp>
        <p:nvGrpSpPr>
          <p:cNvPr id="15" name="object 15" descr=""/>
          <p:cNvGrpSpPr/>
          <p:nvPr/>
        </p:nvGrpSpPr>
        <p:grpSpPr>
          <a:xfrm>
            <a:off x="899998" y="1776557"/>
            <a:ext cx="5760085" cy="775970"/>
            <a:chOff x="899998" y="1776557"/>
            <a:chExt cx="5760085" cy="775970"/>
          </a:xfrm>
        </p:grpSpPr>
        <p:sp>
          <p:nvSpPr>
            <p:cNvPr id="16" name="object 16" descr=""/>
            <p:cNvSpPr/>
            <p:nvPr/>
          </p:nvSpPr>
          <p:spPr>
            <a:xfrm>
              <a:off x="899998" y="1776557"/>
              <a:ext cx="5760085" cy="775970"/>
            </a:xfrm>
            <a:custGeom>
              <a:avLst/>
              <a:gdLst/>
              <a:ahLst/>
              <a:cxnLst/>
              <a:rect l="l" t="t" r="r" b="b"/>
              <a:pathLst>
                <a:path w="5760084" h="775969">
                  <a:moveTo>
                    <a:pt x="5724074" y="0"/>
                  </a:moveTo>
                  <a:lnTo>
                    <a:pt x="36000" y="0"/>
                  </a:lnTo>
                  <a:lnTo>
                    <a:pt x="21987" y="2829"/>
                  </a:lnTo>
                  <a:lnTo>
                    <a:pt x="10544" y="10544"/>
                  </a:lnTo>
                  <a:lnTo>
                    <a:pt x="2829" y="21987"/>
                  </a:lnTo>
                  <a:lnTo>
                    <a:pt x="0" y="36000"/>
                  </a:lnTo>
                  <a:lnTo>
                    <a:pt x="0" y="739431"/>
                  </a:lnTo>
                  <a:lnTo>
                    <a:pt x="2829" y="753444"/>
                  </a:lnTo>
                  <a:lnTo>
                    <a:pt x="10544" y="764887"/>
                  </a:lnTo>
                  <a:lnTo>
                    <a:pt x="21987" y="772602"/>
                  </a:lnTo>
                  <a:lnTo>
                    <a:pt x="36000" y="775431"/>
                  </a:lnTo>
                  <a:lnTo>
                    <a:pt x="5724074" y="775431"/>
                  </a:lnTo>
                  <a:lnTo>
                    <a:pt x="5738087" y="772602"/>
                  </a:lnTo>
                  <a:lnTo>
                    <a:pt x="5749530" y="764887"/>
                  </a:lnTo>
                  <a:lnTo>
                    <a:pt x="5757245" y="753444"/>
                  </a:lnTo>
                  <a:lnTo>
                    <a:pt x="5760074" y="73943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7" name="object 17" descr=""/>
            <p:cNvSpPr/>
            <p:nvPr/>
          </p:nvSpPr>
          <p:spPr>
            <a:xfrm>
              <a:off x="899998" y="1776557"/>
              <a:ext cx="5760085" cy="775970"/>
            </a:xfrm>
            <a:custGeom>
              <a:avLst/>
              <a:gdLst/>
              <a:ahLst/>
              <a:cxnLst/>
              <a:rect l="l" t="t" r="r" b="b"/>
              <a:pathLst>
                <a:path w="5760084" h="775969">
                  <a:moveTo>
                    <a:pt x="5724074" y="0"/>
                  </a:moveTo>
                  <a:lnTo>
                    <a:pt x="36000" y="0"/>
                  </a:lnTo>
                  <a:lnTo>
                    <a:pt x="21987" y="2829"/>
                  </a:lnTo>
                  <a:lnTo>
                    <a:pt x="10544" y="10544"/>
                  </a:lnTo>
                  <a:lnTo>
                    <a:pt x="2829" y="21987"/>
                  </a:lnTo>
                  <a:lnTo>
                    <a:pt x="0" y="36000"/>
                  </a:lnTo>
                  <a:lnTo>
                    <a:pt x="0" y="739431"/>
                  </a:lnTo>
                  <a:lnTo>
                    <a:pt x="2829" y="753444"/>
                  </a:lnTo>
                  <a:lnTo>
                    <a:pt x="10544" y="764887"/>
                  </a:lnTo>
                  <a:lnTo>
                    <a:pt x="21987" y="772602"/>
                  </a:lnTo>
                  <a:lnTo>
                    <a:pt x="36000" y="775431"/>
                  </a:lnTo>
                  <a:lnTo>
                    <a:pt x="5724074" y="775431"/>
                  </a:lnTo>
                  <a:lnTo>
                    <a:pt x="5738087" y="772602"/>
                  </a:lnTo>
                  <a:lnTo>
                    <a:pt x="5749530" y="764887"/>
                  </a:lnTo>
                  <a:lnTo>
                    <a:pt x="5757245" y="753444"/>
                  </a:lnTo>
                  <a:lnTo>
                    <a:pt x="5760074" y="73943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8" name="object 18" descr=""/>
          <p:cNvSpPr txBox="1"/>
          <p:nvPr/>
        </p:nvSpPr>
        <p:spPr>
          <a:xfrm>
            <a:off x="1041895" y="1853023"/>
            <a:ext cx="5476240" cy="177800"/>
          </a:xfrm>
          <a:prstGeom prst="rect">
            <a:avLst/>
          </a:prstGeom>
        </p:spPr>
        <p:txBody>
          <a:bodyPr wrap="square" lIns="0" tIns="12065" rIns="0" bIns="0" rtlCol="0" vert="horz">
            <a:spAutoFit/>
          </a:bodyPr>
          <a:lstStyle/>
          <a:p>
            <a:pPr marL="38100">
              <a:lnSpc>
                <a:spcPct val="100000"/>
              </a:lnSpc>
              <a:spcBef>
                <a:spcPts val="95"/>
              </a:spcBef>
            </a:pPr>
            <a:r>
              <a:rPr dirty="0" sz="1000" spc="-75">
                <a:latin typeface="SimSun"/>
                <a:cs typeface="SimSun"/>
              </a:rPr>
              <a:t>更重要的是，即使 </a:t>
            </a:r>
            <a:r>
              <a:rPr dirty="0" sz="1000">
                <a:latin typeface="Cambria"/>
                <a:cs typeface="Cambria"/>
              </a:rPr>
              <a:t>𝑚</a:t>
            </a:r>
            <a:r>
              <a:rPr dirty="0" baseline="-15873" sz="1050">
                <a:latin typeface="Cambria"/>
                <a:cs typeface="Cambria"/>
              </a:rPr>
              <a:t>1</a:t>
            </a:r>
            <a:r>
              <a:rPr dirty="0" baseline="-15873" sz="1050" spc="60">
                <a:latin typeface="Cambria"/>
                <a:cs typeface="Cambria"/>
              </a:rPr>
              <a:t> </a:t>
            </a:r>
            <a:r>
              <a:rPr dirty="0" sz="1000" spc="195">
                <a:latin typeface="SimSun"/>
                <a:cs typeface="SimSun"/>
              </a:rPr>
              <a:t>和</a:t>
            </a:r>
            <a:r>
              <a:rPr dirty="0" sz="1000">
                <a:latin typeface="Cambria"/>
                <a:cs typeface="Cambria"/>
              </a:rPr>
              <a:t>𝑚</a:t>
            </a:r>
            <a:r>
              <a:rPr dirty="0" baseline="-15873" sz="1050">
                <a:latin typeface="Cambria"/>
                <a:cs typeface="Cambria"/>
              </a:rPr>
              <a:t>2</a:t>
            </a:r>
            <a:r>
              <a:rPr dirty="0" baseline="-15873" sz="1050" spc="97">
                <a:latin typeface="Cambria"/>
                <a:cs typeface="Cambria"/>
              </a:rPr>
              <a:t> </a:t>
            </a:r>
            <a:r>
              <a:rPr dirty="0" sz="1000" spc="-50">
                <a:latin typeface="SimSun"/>
                <a:cs typeface="SimSun"/>
              </a:rPr>
              <a:t>的学习难度相同，在对多模态模型进行优化时，每个模态编码器上的优</a:t>
            </a:r>
            <a:endParaRPr sz="1000">
              <a:latin typeface="SimSun"/>
              <a:cs typeface="SimSun"/>
            </a:endParaRPr>
          </a:p>
        </p:txBody>
      </p:sp>
      <p:sp>
        <p:nvSpPr>
          <p:cNvPr id="19" name="object 19" descr=""/>
          <p:cNvSpPr txBox="1"/>
          <p:nvPr/>
        </p:nvSpPr>
        <p:spPr>
          <a:xfrm>
            <a:off x="3982008" y="2105230"/>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𝑦</a:t>
            </a:r>
            <a:endParaRPr sz="700">
              <a:latin typeface="Cambria"/>
              <a:cs typeface="Cambria"/>
            </a:endParaRPr>
          </a:p>
        </p:txBody>
      </p:sp>
      <p:sp>
        <p:nvSpPr>
          <p:cNvPr id="20" name="object 20" descr=""/>
          <p:cNvSpPr txBox="1"/>
          <p:nvPr/>
        </p:nvSpPr>
        <p:spPr>
          <a:xfrm>
            <a:off x="4089437" y="2059260"/>
            <a:ext cx="264160" cy="109220"/>
          </a:xfrm>
          <a:prstGeom prst="rect">
            <a:avLst/>
          </a:prstGeom>
        </p:spPr>
        <p:txBody>
          <a:bodyPr wrap="square" lIns="0" tIns="12065" rIns="0" bIns="0" rtlCol="0" vert="horz">
            <a:spAutoFit/>
          </a:bodyPr>
          <a:lstStyle/>
          <a:p>
            <a:pPr marL="12700">
              <a:lnSpc>
                <a:spcPct val="100000"/>
              </a:lnSpc>
              <a:spcBef>
                <a:spcPts val="95"/>
              </a:spcBef>
              <a:tabLst>
                <a:tab pos="212090" algn="l"/>
              </a:tabLst>
            </a:pPr>
            <a:r>
              <a:rPr dirty="0" sz="550" spc="-50">
                <a:latin typeface="Cambria"/>
                <a:cs typeface="Cambria"/>
              </a:rPr>
              <a:t>2</a:t>
            </a:r>
            <a:r>
              <a:rPr dirty="0" sz="550">
                <a:latin typeface="Cambria"/>
                <a:cs typeface="Cambria"/>
              </a:rPr>
              <a:t>	</a:t>
            </a:r>
            <a:r>
              <a:rPr dirty="0" sz="550" spc="-50">
                <a:latin typeface="Cambria"/>
                <a:cs typeface="Cambria"/>
              </a:rPr>
              <a:t>2</a:t>
            </a:r>
            <a:endParaRPr sz="550">
              <a:latin typeface="Cambria"/>
              <a:cs typeface="Cambria"/>
            </a:endParaRPr>
          </a:p>
        </p:txBody>
      </p:sp>
      <p:sp>
        <p:nvSpPr>
          <p:cNvPr id="21" name="object 21" descr=""/>
          <p:cNvSpPr txBox="1"/>
          <p:nvPr/>
        </p:nvSpPr>
        <p:spPr>
          <a:xfrm>
            <a:off x="4034167" y="2126071"/>
            <a:ext cx="210820" cy="132080"/>
          </a:xfrm>
          <a:prstGeom prst="rect">
            <a:avLst/>
          </a:prstGeom>
        </p:spPr>
        <p:txBody>
          <a:bodyPr wrap="square" lIns="0" tIns="12065" rIns="0" bIns="0" rtlCol="0" vert="horz">
            <a:spAutoFit/>
          </a:bodyPr>
          <a:lstStyle/>
          <a:p>
            <a:pPr marL="12700">
              <a:lnSpc>
                <a:spcPct val="100000"/>
              </a:lnSpc>
              <a:spcBef>
                <a:spcPts val="95"/>
              </a:spcBef>
              <a:tabLst>
                <a:tab pos="181610" algn="l"/>
              </a:tabLst>
            </a:pPr>
            <a:r>
              <a:rPr dirty="0" sz="550" spc="-50">
                <a:latin typeface="Cambria"/>
                <a:cs typeface="Cambria"/>
              </a:rPr>
              <a:t>𝑖</a:t>
            </a:r>
            <a:r>
              <a:rPr dirty="0" sz="550">
                <a:latin typeface="Cambria"/>
                <a:cs typeface="Cambria"/>
              </a:rPr>
              <a:t>	</a:t>
            </a:r>
            <a:r>
              <a:rPr dirty="0" sz="700" spc="-50">
                <a:latin typeface="Cambria"/>
                <a:cs typeface="Cambria"/>
              </a:rPr>
              <a:t>𝑖</a:t>
            </a:r>
            <a:endParaRPr sz="700">
              <a:latin typeface="Cambria"/>
              <a:cs typeface="Cambria"/>
            </a:endParaRPr>
          </a:p>
        </p:txBody>
      </p:sp>
      <p:sp>
        <p:nvSpPr>
          <p:cNvPr id="22" name="object 22" descr=""/>
          <p:cNvSpPr txBox="1"/>
          <p:nvPr/>
        </p:nvSpPr>
        <p:spPr>
          <a:xfrm>
            <a:off x="4630737" y="2105230"/>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𝑦</a:t>
            </a:r>
            <a:endParaRPr sz="700">
              <a:latin typeface="Cambria"/>
              <a:cs typeface="Cambria"/>
            </a:endParaRPr>
          </a:p>
        </p:txBody>
      </p:sp>
      <p:sp>
        <p:nvSpPr>
          <p:cNvPr id="23" name="object 23" descr=""/>
          <p:cNvSpPr txBox="1"/>
          <p:nvPr/>
        </p:nvSpPr>
        <p:spPr>
          <a:xfrm>
            <a:off x="4005033" y="2021677"/>
            <a:ext cx="958850" cy="132080"/>
          </a:xfrm>
          <a:prstGeom prst="rect">
            <a:avLst/>
          </a:prstGeom>
        </p:spPr>
        <p:txBody>
          <a:bodyPr wrap="square" lIns="0" tIns="12065" rIns="0" bIns="0" rtlCol="0" vert="horz">
            <a:spAutoFit/>
          </a:bodyPr>
          <a:lstStyle/>
          <a:p>
            <a:pPr marL="12700">
              <a:lnSpc>
                <a:spcPct val="100000"/>
              </a:lnSpc>
              <a:spcBef>
                <a:spcPts val="95"/>
              </a:spcBef>
              <a:tabLst>
                <a:tab pos="661035" algn="l"/>
              </a:tabLst>
            </a:pPr>
            <a:r>
              <a:rPr dirty="0" sz="700" spc="75">
                <a:latin typeface="Cambria"/>
                <a:cs typeface="Cambria"/>
              </a:rPr>
              <a:t>𝑚</a:t>
            </a:r>
            <a:r>
              <a:rPr dirty="0" sz="700" spc="290">
                <a:latin typeface="Cambria"/>
                <a:cs typeface="Cambria"/>
              </a:rPr>
              <a:t>  </a:t>
            </a:r>
            <a:r>
              <a:rPr dirty="0" sz="700" spc="25">
                <a:latin typeface="Cambria"/>
                <a:cs typeface="Cambria"/>
              </a:rPr>
              <a:t>𝑚</a:t>
            </a:r>
            <a:r>
              <a:rPr dirty="0" sz="700">
                <a:latin typeface="Cambria"/>
                <a:cs typeface="Cambria"/>
              </a:rPr>
              <a:t>	</a:t>
            </a:r>
            <a:r>
              <a:rPr dirty="0" sz="700" spc="75">
                <a:latin typeface="Cambria"/>
                <a:cs typeface="Cambria"/>
              </a:rPr>
              <a:t>𝑚</a:t>
            </a:r>
            <a:r>
              <a:rPr dirty="0" sz="700" spc="290">
                <a:latin typeface="Cambria"/>
                <a:cs typeface="Cambria"/>
              </a:rPr>
              <a:t>  </a:t>
            </a:r>
            <a:r>
              <a:rPr dirty="0" sz="700" spc="25">
                <a:latin typeface="Cambria"/>
                <a:cs typeface="Cambria"/>
              </a:rPr>
              <a:t>𝑚</a:t>
            </a:r>
            <a:endParaRPr sz="700">
              <a:latin typeface="Cambria"/>
              <a:cs typeface="Cambria"/>
            </a:endParaRPr>
          </a:p>
        </p:txBody>
      </p:sp>
      <p:sp>
        <p:nvSpPr>
          <p:cNvPr id="24" name="object 24" descr=""/>
          <p:cNvSpPr txBox="1"/>
          <p:nvPr/>
        </p:nvSpPr>
        <p:spPr>
          <a:xfrm>
            <a:off x="4738166" y="2059260"/>
            <a:ext cx="264795" cy="109220"/>
          </a:xfrm>
          <a:prstGeom prst="rect">
            <a:avLst/>
          </a:prstGeom>
        </p:spPr>
        <p:txBody>
          <a:bodyPr wrap="square" lIns="0" tIns="12065" rIns="0" bIns="0" rtlCol="0" vert="horz">
            <a:spAutoFit/>
          </a:bodyPr>
          <a:lstStyle/>
          <a:p>
            <a:pPr marL="12700">
              <a:lnSpc>
                <a:spcPct val="100000"/>
              </a:lnSpc>
              <a:spcBef>
                <a:spcPts val="95"/>
              </a:spcBef>
              <a:tabLst>
                <a:tab pos="212090" algn="l"/>
              </a:tabLst>
            </a:pPr>
            <a:r>
              <a:rPr dirty="0" sz="550" spc="-50">
                <a:latin typeface="Cambria"/>
                <a:cs typeface="Cambria"/>
              </a:rPr>
              <a:t>1</a:t>
            </a:r>
            <a:r>
              <a:rPr dirty="0" sz="550">
                <a:latin typeface="Cambria"/>
                <a:cs typeface="Cambria"/>
              </a:rPr>
              <a:t>	</a:t>
            </a:r>
            <a:r>
              <a:rPr dirty="0" sz="550" spc="-50">
                <a:latin typeface="Cambria"/>
                <a:cs typeface="Cambria"/>
              </a:rPr>
              <a:t>1</a:t>
            </a:r>
            <a:endParaRPr sz="550">
              <a:latin typeface="Cambria"/>
              <a:cs typeface="Cambria"/>
            </a:endParaRPr>
          </a:p>
        </p:txBody>
      </p:sp>
      <p:sp>
        <p:nvSpPr>
          <p:cNvPr id="25" name="object 25" descr=""/>
          <p:cNvSpPr txBox="1"/>
          <p:nvPr/>
        </p:nvSpPr>
        <p:spPr>
          <a:xfrm>
            <a:off x="4682896" y="2126071"/>
            <a:ext cx="211454" cy="132080"/>
          </a:xfrm>
          <a:prstGeom prst="rect">
            <a:avLst/>
          </a:prstGeom>
        </p:spPr>
        <p:txBody>
          <a:bodyPr wrap="square" lIns="0" tIns="12065" rIns="0" bIns="0" rtlCol="0" vert="horz">
            <a:spAutoFit/>
          </a:bodyPr>
          <a:lstStyle/>
          <a:p>
            <a:pPr marL="12700">
              <a:lnSpc>
                <a:spcPct val="100000"/>
              </a:lnSpc>
              <a:spcBef>
                <a:spcPts val="95"/>
              </a:spcBef>
              <a:tabLst>
                <a:tab pos="181610" algn="l"/>
              </a:tabLst>
            </a:pPr>
            <a:r>
              <a:rPr dirty="0" sz="550" spc="-50">
                <a:latin typeface="Cambria"/>
                <a:cs typeface="Cambria"/>
              </a:rPr>
              <a:t>𝑖</a:t>
            </a:r>
            <a:r>
              <a:rPr dirty="0" sz="550">
                <a:latin typeface="Cambria"/>
                <a:cs typeface="Cambria"/>
              </a:rPr>
              <a:t>	</a:t>
            </a:r>
            <a:r>
              <a:rPr dirty="0" sz="700" spc="-50">
                <a:latin typeface="Cambria"/>
                <a:cs typeface="Cambria"/>
              </a:rPr>
              <a:t>𝑖</a:t>
            </a:r>
            <a:endParaRPr sz="700">
              <a:latin typeface="Cambria"/>
              <a:cs typeface="Cambria"/>
            </a:endParaRPr>
          </a:p>
        </p:txBody>
      </p:sp>
      <p:sp>
        <p:nvSpPr>
          <p:cNvPr id="26" name="object 26" descr=""/>
          <p:cNvSpPr txBox="1"/>
          <p:nvPr/>
        </p:nvSpPr>
        <p:spPr>
          <a:xfrm>
            <a:off x="1067295" y="2050407"/>
            <a:ext cx="5169535" cy="177800"/>
          </a:xfrm>
          <a:prstGeom prst="rect">
            <a:avLst/>
          </a:prstGeom>
        </p:spPr>
        <p:txBody>
          <a:bodyPr wrap="square" lIns="0" tIns="12065" rIns="0" bIns="0" rtlCol="0" vert="horz">
            <a:spAutoFit/>
          </a:bodyPr>
          <a:lstStyle/>
          <a:p>
            <a:pPr marL="12700">
              <a:lnSpc>
                <a:spcPct val="100000"/>
              </a:lnSpc>
              <a:spcBef>
                <a:spcPts val="95"/>
              </a:spcBef>
              <a:tabLst>
                <a:tab pos="3086100" algn="l"/>
                <a:tab pos="3314700" algn="l"/>
                <a:tab pos="3735070" algn="l"/>
                <a:tab pos="3963670" algn="l"/>
              </a:tabLst>
            </a:pPr>
            <a:r>
              <a:rPr dirty="0" sz="1000" spc="-10">
                <a:latin typeface="SimSun"/>
                <a:cs typeface="SimSun"/>
              </a:rPr>
              <a:t>化约束也会变得越来越严</a:t>
            </a:r>
            <a:r>
              <a:rPr dirty="0" sz="1000" spc="220">
                <a:latin typeface="SimSun"/>
                <a:cs typeface="SimSun"/>
              </a:rPr>
              <a:t>格</a:t>
            </a:r>
            <a:r>
              <a:rPr dirty="0" sz="1000">
                <a:latin typeface="Times New Roman"/>
                <a:cs typeface="Times New Roman"/>
              </a:rPr>
              <a:t>(</a:t>
            </a:r>
            <a:r>
              <a:rPr dirty="0" sz="1000" spc="-10">
                <a:latin typeface="SimSun"/>
                <a:cs typeface="SimSun"/>
              </a:rPr>
              <a:t>见图</a:t>
            </a:r>
            <a:r>
              <a:rPr dirty="0" sz="1000" spc="-270">
                <a:latin typeface="SimSun"/>
                <a:cs typeface="SimSun"/>
              </a:rPr>
              <a:t> </a:t>
            </a:r>
            <a:r>
              <a:rPr dirty="0" sz="1000">
                <a:latin typeface="Times New Roman"/>
                <a:cs typeface="Times New Roman"/>
              </a:rPr>
              <a:t>1</a:t>
            </a:r>
            <a:r>
              <a:rPr dirty="0" sz="1000" spc="-30">
                <a:latin typeface="Times New Roman"/>
                <a:cs typeface="Times New Roman"/>
              </a:rPr>
              <a:t> </a:t>
            </a:r>
            <a:r>
              <a:rPr dirty="0" sz="1000">
                <a:latin typeface="Times New Roman"/>
                <a:cs typeface="Times New Roman"/>
              </a:rPr>
              <a:t>(c))</a:t>
            </a:r>
            <a:r>
              <a:rPr dirty="0" sz="1000" spc="-45">
                <a:latin typeface="SimSun"/>
                <a:cs typeface="SimSun"/>
              </a:rPr>
              <a:t>。</a:t>
            </a:r>
            <a:r>
              <a:rPr dirty="0" sz="1000" spc="-10">
                <a:latin typeface="SimSun"/>
                <a:cs typeface="SimSun"/>
              </a:rPr>
              <a:t>这是因</a:t>
            </a:r>
            <a:r>
              <a:rPr dirty="0" sz="1000" spc="215">
                <a:latin typeface="SimSun"/>
                <a:cs typeface="SimSun"/>
              </a:rPr>
              <a:t>为</a:t>
            </a:r>
            <a:r>
              <a:rPr dirty="0" sz="1000" spc="-50">
                <a:latin typeface="Cambria"/>
                <a:cs typeface="Cambria"/>
              </a:rPr>
              <a:t>𝑊</a:t>
            </a:r>
            <a:r>
              <a:rPr dirty="0" sz="1000">
                <a:latin typeface="Cambria"/>
                <a:cs typeface="Cambria"/>
              </a:rPr>
              <a:t>	</a:t>
            </a:r>
            <a:r>
              <a:rPr dirty="0" sz="1000" spc="-50">
                <a:latin typeface="Cambria"/>
                <a:cs typeface="Cambria"/>
              </a:rPr>
              <a:t>𝑧</a:t>
            </a:r>
            <a:r>
              <a:rPr dirty="0" sz="1000">
                <a:latin typeface="Cambria"/>
                <a:cs typeface="Cambria"/>
              </a:rPr>
              <a:t>	</a:t>
            </a:r>
            <a:r>
              <a:rPr dirty="0" sz="1000" spc="220">
                <a:latin typeface="SimSun"/>
                <a:cs typeface="SimSun"/>
              </a:rPr>
              <a:t>和</a:t>
            </a:r>
            <a:r>
              <a:rPr dirty="0" sz="1000" spc="-50">
                <a:latin typeface="Cambria"/>
                <a:cs typeface="Cambria"/>
              </a:rPr>
              <a:t>𝑊</a:t>
            </a:r>
            <a:r>
              <a:rPr dirty="0" sz="1000">
                <a:latin typeface="Cambria"/>
                <a:cs typeface="Cambria"/>
              </a:rPr>
              <a:t>	</a:t>
            </a:r>
            <a:r>
              <a:rPr dirty="0" sz="1000" spc="-50">
                <a:latin typeface="Cambria"/>
                <a:cs typeface="Cambria"/>
              </a:rPr>
              <a:t>𝑧</a:t>
            </a:r>
            <a:r>
              <a:rPr dirty="0" sz="1000">
                <a:latin typeface="Cambria"/>
                <a:cs typeface="Cambria"/>
              </a:rPr>
              <a:t>	</a:t>
            </a:r>
            <a:r>
              <a:rPr dirty="0" sz="1000" spc="-10">
                <a:latin typeface="SimSun"/>
                <a:cs typeface="SimSun"/>
              </a:rPr>
              <a:t>越来越接近</a:t>
            </a:r>
            <a:r>
              <a:rPr dirty="0" sz="1000" spc="-265">
                <a:latin typeface="SimSun"/>
                <a:cs typeface="SimSun"/>
              </a:rPr>
              <a:t> </a:t>
            </a:r>
            <a:r>
              <a:rPr dirty="0" sz="1000" spc="-35">
                <a:latin typeface="Times New Roman"/>
                <a:cs typeface="Times New Roman"/>
              </a:rPr>
              <a:t>1</a:t>
            </a:r>
            <a:r>
              <a:rPr dirty="0" sz="1000" spc="-35">
                <a:latin typeface="SimSun"/>
                <a:cs typeface="SimSun"/>
              </a:rPr>
              <a:t>，</a:t>
            </a:r>
            <a:r>
              <a:rPr dirty="0" sz="1000" spc="-10">
                <a:latin typeface="SimSun"/>
                <a:cs typeface="SimSun"/>
              </a:rPr>
              <a:t>并</a:t>
            </a:r>
            <a:r>
              <a:rPr dirty="0" sz="1000" spc="215">
                <a:latin typeface="SimSun"/>
                <a:cs typeface="SimSun"/>
              </a:rPr>
              <a:t>且</a:t>
            </a:r>
            <a:r>
              <a:rPr dirty="0" sz="1000" spc="-50">
                <a:latin typeface="Cambria"/>
                <a:cs typeface="Cambria"/>
              </a:rPr>
              <a:t>𝑔</a:t>
            </a:r>
            <a:endParaRPr sz="1000">
              <a:latin typeface="Cambria"/>
              <a:cs typeface="Cambria"/>
            </a:endParaRPr>
          </a:p>
        </p:txBody>
      </p:sp>
      <p:sp>
        <p:nvSpPr>
          <p:cNvPr id="27" name="object 27" descr=""/>
          <p:cNvSpPr txBox="1"/>
          <p:nvPr/>
        </p:nvSpPr>
        <p:spPr>
          <a:xfrm>
            <a:off x="6232194" y="2039394"/>
            <a:ext cx="233679"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Times New Roman"/>
                <a:cs typeface="Times New Roman"/>
              </a:rPr>
              <a:t>Multi</a:t>
            </a:r>
            <a:endParaRPr sz="700">
              <a:latin typeface="Times New Roman"/>
              <a:cs typeface="Times New Roman"/>
            </a:endParaRPr>
          </a:p>
        </p:txBody>
      </p:sp>
      <p:sp>
        <p:nvSpPr>
          <p:cNvPr id="28" name="object 28" descr=""/>
          <p:cNvSpPr txBox="1"/>
          <p:nvPr/>
        </p:nvSpPr>
        <p:spPr>
          <a:xfrm>
            <a:off x="6211392" y="2126744"/>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29" name="object 29" descr=""/>
          <p:cNvSpPr txBox="1"/>
          <p:nvPr/>
        </p:nvSpPr>
        <p:spPr>
          <a:xfrm>
            <a:off x="6263551" y="2164327"/>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30" name="object 30" descr=""/>
          <p:cNvSpPr txBox="1"/>
          <p:nvPr/>
        </p:nvSpPr>
        <p:spPr>
          <a:xfrm>
            <a:off x="1814118" y="2236599"/>
            <a:ext cx="168275" cy="132080"/>
          </a:xfrm>
          <a:prstGeom prst="rect">
            <a:avLst/>
          </a:prstGeom>
        </p:spPr>
        <p:txBody>
          <a:bodyPr wrap="square" lIns="0" tIns="12065" rIns="0" bIns="0" rtlCol="0" vert="horz">
            <a:spAutoFit/>
          </a:bodyPr>
          <a:lstStyle/>
          <a:p>
            <a:pPr marL="12700">
              <a:lnSpc>
                <a:spcPct val="100000"/>
              </a:lnSpc>
              <a:spcBef>
                <a:spcPts val="95"/>
              </a:spcBef>
            </a:pPr>
            <a:r>
              <a:rPr dirty="0" sz="700" spc="-25">
                <a:latin typeface="Times New Roman"/>
                <a:cs typeface="Times New Roman"/>
              </a:rPr>
              <a:t>Uni</a:t>
            </a:r>
            <a:endParaRPr sz="700">
              <a:latin typeface="Times New Roman"/>
              <a:cs typeface="Times New Roman"/>
            </a:endParaRPr>
          </a:p>
        </p:txBody>
      </p:sp>
      <p:sp>
        <p:nvSpPr>
          <p:cNvPr id="31" name="object 31" descr=""/>
          <p:cNvSpPr txBox="1"/>
          <p:nvPr/>
        </p:nvSpPr>
        <p:spPr>
          <a:xfrm>
            <a:off x="1793303" y="2324128"/>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32" name="object 32" descr=""/>
          <p:cNvSpPr txBox="1"/>
          <p:nvPr/>
        </p:nvSpPr>
        <p:spPr>
          <a:xfrm>
            <a:off x="1845462" y="2361711"/>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33" name="object 33" descr=""/>
          <p:cNvSpPr txBox="1"/>
          <p:nvPr/>
        </p:nvSpPr>
        <p:spPr>
          <a:xfrm>
            <a:off x="1067295" y="2247778"/>
            <a:ext cx="2110740" cy="177800"/>
          </a:xfrm>
          <a:prstGeom prst="rect">
            <a:avLst/>
          </a:prstGeom>
        </p:spPr>
        <p:txBody>
          <a:bodyPr wrap="square" lIns="0" tIns="12065" rIns="0" bIns="0" rtlCol="0" vert="horz">
            <a:spAutoFit/>
          </a:bodyPr>
          <a:lstStyle/>
          <a:p>
            <a:pPr marL="12700">
              <a:lnSpc>
                <a:spcPct val="100000"/>
              </a:lnSpc>
              <a:spcBef>
                <a:spcPts val="95"/>
              </a:spcBef>
              <a:tabLst>
                <a:tab pos="958850" algn="l"/>
              </a:tabLst>
            </a:pPr>
            <a:r>
              <a:rPr dirty="0" sz="1000" spc="-10">
                <a:latin typeface="SimSun"/>
                <a:cs typeface="SimSun"/>
              </a:rPr>
              <a:t>的绝对值</a:t>
            </a:r>
            <a:r>
              <a:rPr dirty="0" sz="1000" spc="220">
                <a:latin typeface="SimSun"/>
                <a:cs typeface="SimSun"/>
              </a:rPr>
              <a:t>比</a:t>
            </a:r>
            <a:r>
              <a:rPr dirty="0" sz="1000" spc="-50">
                <a:latin typeface="Cambria"/>
                <a:cs typeface="Cambria"/>
              </a:rPr>
              <a:t>𝑔</a:t>
            </a:r>
            <a:r>
              <a:rPr dirty="0" sz="1000">
                <a:latin typeface="Cambria"/>
                <a:cs typeface="Cambria"/>
              </a:rPr>
              <a:t>	</a:t>
            </a:r>
            <a:r>
              <a:rPr dirty="0" sz="1000" spc="-10">
                <a:latin typeface="SimSun"/>
                <a:cs typeface="SimSun"/>
              </a:rPr>
              <a:t>的绝对值越来越小</a:t>
            </a:r>
            <a:r>
              <a:rPr dirty="0" sz="1000" spc="-50">
                <a:latin typeface="SimSun"/>
                <a:cs typeface="SimSun"/>
              </a:rPr>
              <a:t>。</a:t>
            </a:r>
            <a:endParaRPr sz="1000">
              <a:latin typeface="SimSun"/>
              <a:cs typeface="SimSun"/>
            </a:endParaRPr>
          </a:p>
        </p:txBody>
      </p:sp>
      <p:sp>
        <p:nvSpPr>
          <p:cNvPr id="34" name="object 34" descr=""/>
          <p:cNvSpPr txBox="1"/>
          <p:nvPr/>
        </p:nvSpPr>
        <p:spPr>
          <a:xfrm>
            <a:off x="1140345" y="2686842"/>
            <a:ext cx="596900" cy="177800"/>
          </a:xfrm>
          <a:prstGeom prst="rect">
            <a:avLst/>
          </a:prstGeom>
        </p:spPr>
        <p:txBody>
          <a:bodyPr wrap="square" lIns="0" tIns="12065" rIns="0" bIns="0" rtlCol="0" vert="horz">
            <a:spAutoFit/>
          </a:bodyPr>
          <a:lstStyle/>
          <a:p>
            <a:pPr marL="12700">
              <a:lnSpc>
                <a:spcPct val="100000"/>
              </a:lnSpc>
              <a:spcBef>
                <a:spcPts val="95"/>
              </a:spcBef>
            </a:pPr>
            <a:r>
              <a:rPr dirty="0" sz="1000" spc="-45">
                <a:latin typeface="Times New Roman"/>
                <a:cs typeface="Times New Roman"/>
              </a:rPr>
              <a:t>To</a:t>
            </a:r>
            <a:r>
              <a:rPr dirty="0" sz="1000">
                <a:latin typeface="Times New Roman"/>
                <a:cs typeface="Times New Roman"/>
              </a:rPr>
              <a:t> ensure</a:t>
            </a:r>
            <a:r>
              <a:rPr dirty="0" sz="1000" spc="10">
                <a:latin typeface="Times New Roman"/>
                <a:cs typeface="Times New Roman"/>
              </a:rPr>
              <a:t> </a:t>
            </a:r>
            <a:r>
              <a:rPr dirty="0" sz="1000" spc="-50">
                <a:latin typeface="Times New Roman"/>
                <a:cs typeface="Times New Roman"/>
              </a:rPr>
              <a:t>t</a:t>
            </a:r>
            <a:endParaRPr sz="1000">
              <a:latin typeface="Times New Roman"/>
              <a:cs typeface="Times New Roman"/>
            </a:endParaRPr>
          </a:p>
        </p:txBody>
      </p:sp>
      <p:sp>
        <p:nvSpPr>
          <p:cNvPr id="35" name="object 35" descr=""/>
          <p:cNvSpPr txBox="1"/>
          <p:nvPr/>
        </p:nvSpPr>
        <p:spPr>
          <a:xfrm>
            <a:off x="1711479" y="2686842"/>
            <a:ext cx="4525645" cy="177800"/>
          </a:xfrm>
          <a:prstGeom prst="rect">
            <a:avLst/>
          </a:prstGeom>
        </p:spPr>
        <p:txBody>
          <a:bodyPr wrap="square" lIns="0" tIns="12065" rIns="0" bIns="0" rtlCol="0" vert="horz">
            <a:spAutoFit/>
          </a:bodyPr>
          <a:lstStyle/>
          <a:p>
            <a:pPr marL="12700">
              <a:lnSpc>
                <a:spcPct val="100000"/>
              </a:lnSpc>
              <a:spcBef>
                <a:spcPts val="95"/>
              </a:spcBef>
            </a:pPr>
            <a:r>
              <a:rPr dirty="0" sz="1000">
                <a:latin typeface="Times New Roman"/>
                <a:cs typeface="Times New Roman"/>
              </a:rPr>
              <a:t>he</a:t>
            </a:r>
            <a:r>
              <a:rPr dirty="0" sz="1000" spc="55">
                <a:latin typeface="Times New Roman"/>
                <a:cs typeface="Times New Roman"/>
              </a:rPr>
              <a:t> </a:t>
            </a:r>
            <a:r>
              <a:rPr dirty="0" sz="1000">
                <a:latin typeface="Times New Roman"/>
                <a:cs typeface="Times New Roman"/>
              </a:rPr>
              <a:t>optimization</a:t>
            </a:r>
            <a:r>
              <a:rPr dirty="0" sz="1000" spc="60">
                <a:latin typeface="Times New Roman"/>
                <a:cs typeface="Times New Roman"/>
              </a:rPr>
              <a:t> </a:t>
            </a:r>
            <a:r>
              <a:rPr dirty="0" sz="1000" spc="-20">
                <a:latin typeface="Times New Roman"/>
                <a:cs typeface="Times New Roman"/>
              </a:rPr>
              <a:t>of</a:t>
            </a:r>
            <a:r>
              <a:rPr dirty="0" sz="1000" spc="55">
                <a:latin typeface="Times New Roman"/>
                <a:cs typeface="Times New Roman"/>
              </a:rPr>
              <a:t> </a:t>
            </a:r>
            <a:r>
              <a:rPr dirty="0" sz="1000">
                <a:latin typeface="Times New Roman"/>
                <a:cs typeface="Times New Roman"/>
              </a:rPr>
              <a:t>modality</a:t>
            </a:r>
            <a:r>
              <a:rPr dirty="0" sz="1000" spc="60">
                <a:latin typeface="Times New Roman"/>
                <a:cs typeface="Times New Roman"/>
              </a:rPr>
              <a:t> </a:t>
            </a:r>
            <a:r>
              <a:rPr dirty="0" sz="1000">
                <a:latin typeface="Times New Roman"/>
                <a:cs typeface="Times New Roman"/>
              </a:rPr>
              <a:t>encoders</a:t>
            </a:r>
            <a:r>
              <a:rPr dirty="0" sz="1000" spc="60">
                <a:latin typeface="Times New Roman"/>
                <a:cs typeface="Times New Roman"/>
              </a:rPr>
              <a:t> </a:t>
            </a:r>
            <a:r>
              <a:rPr dirty="0" sz="1000">
                <a:latin typeface="Times New Roman"/>
                <a:cs typeface="Times New Roman"/>
              </a:rPr>
              <a:t>in</a:t>
            </a:r>
            <a:r>
              <a:rPr dirty="0" sz="1000" spc="55">
                <a:latin typeface="Times New Roman"/>
                <a:cs typeface="Times New Roman"/>
              </a:rPr>
              <a:t> </a:t>
            </a:r>
            <a:r>
              <a:rPr dirty="0" sz="1000">
                <a:latin typeface="Times New Roman"/>
                <a:cs typeface="Times New Roman"/>
              </a:rPr>
              <a:t>the</a:t>
            </a:r>
            <a:r>
              <a:rPr dirty="0" sz="1000" spc="60">
                <a:latin typeface="Times New Roman"/>
                <a:cs typeface="Times New Roman"/>
              </a:rPr>
              <a:t> </a:t>
            </a:r>
            <a:r>
              <a:rPr dirty="0" sz="1000">
                <a:latin typeface="Times New Roman"/>
                <a:cs typeface="Times New Roman"/>
              </a:rPr>
              <a:t>multimodal</a:t>
            </a:r>
            <a:r>
              <a:rPr dirty="0" sz="1000" spc="55">
                <a:latin typeface="Times New Roman"/>
                <a:cs typeface="Times New Roman"/>
              </a:rPr>
              <a:t> </a:t>
            </a:r>
            <a:r>
              <a:rPr dirty="0" sz="1000">
                <a:latin typeface="Times New Roman"/>
                <a:cs typeface="Times New Roman"/>
              </a:rPr>
              <a:t>model,</a:t>
            </a:r>
            <a:r>
              <a:rPr dirty="0" sz="1000" spc="90">
                <a:latin typeface="Times New Roman"/>
                <a:cs typeface="Times New Roman"/>
              </a:rPr>
              <a:t> </a:t>
            </a:r>
            <a:r>
              <a:rPr dirty="0" sz="1000">
                <a:latin typeface="Times New Roman"/>
                <a:cs typeface="Times New Roman"/>
              </a:rPr>
              <a:t>we</a:t>
            </a:r>
            <a:r>
              <a:rPr dirty="0" sz="1000" spc="50">
                <a:latin typeface="Times New Roman"/>
                <a:cs typeface="Times New Roman"/>
              </a:rPr>
              <a:t> </a:t>
            </a:r>
            <a:r>
              <a:rPr dirty="0" sz="1000">
                <a:latin typeface="Times New Roman"/>
                <a:cs typeface="Times New Roman"/>
              </a:rPr>
              <a:t>should</a:t>
            </a:r>
            <a:r>
              <a:rPr dirty="0" sz="1000" spc="55">
                <a:latin typeface="Times New Roman"/>
                <a:cs typeface="Times New Roman"/>
              </a:rPr>
              <a:t> </a:t>
            </a:r>
            <a:r>
              <a:rPr dirty="0" sz="1000">
                <a:latin typeface="Times New Roman"/>
                <a:cs typeface="Times New Roman"/>
              </a:rPr>
              <a:t>constraint</a:t>
            </a:r>
            <a:r>
              <a:rPr dirty="0" sz="1000" spc="60">
                <a:latin typeface="Times New Roman"/>
                <a:cs typeface="Times New Roman"/>
              </a:rPr>
              <a:t> </a:t>
            </a:r>
            <a:r>
              <a:rPr dirty="0" sz="1000" spc="-50">
                <a:latin typeface="Cambria"/>
                <a:cs typeface="Cambria"/>
              </a:rPr>
              <a:t>𝑒</a:t>
            </a:r>
            <a:endParaRPr sz="1000">
              <a:latin typeface="Cambria"/>
              <a:cs typeface="Cambria"/>
            </a:endParaRPr>
          </a:p>
        </p:txBody>
      </p:sp>
      <p:sp>
        <p:nvSpPr>
          <p:cNvPr id="36" name="object 36" descr=""/>
          <p:cNvSpPr txBox="1"/>
          <p:nvPr/>
        </p:nvSpPr>
        <p:spPr>
          <a:xfrm>
            <a:off x="6211620" y="2659763"/>
            <a:ext cx="154940" cy="132080"/>
          </a:xfrm>
          <a:prstGeom prst="rect">
            <a:avLst/>
          </a:prstGeom>
        </p:spPr>
        <p:txBody>
          <a:bodyPr wrap="square" lIns="0" tIns="12065" rIns="0" bIns="0" rtlCol="0" vert="horz">
            <a:spAutoFit/>
          </a:bodyPr>
          <a:lstStyle/>
          <a:p>
            <a:pPr marL="12700">
              <a:lnSpc>
                <a:spcPct val="100000"/>
              </a:lnSpc>
              <a:spcBef>
                <a:spcPts val="95"/>
              </a:spcBef>
            </a:pPr>
            <a:r>
              <a:rPr dirty="0" sz="700" spc="-25">
                <a:latin typeface="Cambria"/>
                <a:cs typeface="Cambria"/>
              </a:rPr>
              <a:t>(𝑊</a:t>
            </a:r>
            <a:endParaRPr sz="700">
              <a:latin typeface="Cambria"/>
              <a:cs typeface="Cambria"/>
            </a:endParaRPr>
          </a:p>
        </p:txBody>
      </p:sp>
      <p:sp>
        <p:nvSpPr>
          <p:cNvPr id="37" name="object 37" descr=""/>
          <p:cNvSpPr txBox="1"/>
          <p:nvPr/>
        </p:nvSpPr>
        <p:spPr>
          <a:xfrm>
            <a:off x="6349606" y="2621401"/>
            <a:ext cx="99060" cy="109220"/>
          </a:xfrm>
          <a:prstGeom prst="rect">
            <a:avLst/>
          </a:prstGeom>
        </p:spPr>
        <p:txBody>
          <a:bodyPr wrap="square" lIns="0" tIns="12065" rIns="0" bIns="0" rtlCol="0" vert="horz">
            <a:spAutoFit/>
          </a:bodyPr>
          <a:lstStyle/>
          <a:p>
            <a:pPr marL="12700">
              <a:lnSpc>
                <a:spcPct val="100000"/>
              </a:lnSpc>
              <a:spcBef>
                <a:spcPts val="95"/>
              </a:spcBef>
            </a:pPr>
            <a:r>
              <a:rPr dirty="0" sz="550" spc="60">
                <a:latin typeface="Cambria"/>
                <a:cs typeface="Cambria"/>
              </a:rPr>
              <a:t>𝑚</a:t>
            </a:r>
            <a:endParaRPr sz="550">
              <a:latin typeface="Cambria"/>
              <a:cs typeface="Cambria"/>
            </a:endParaRPr>
          </a:p>
        </p:txBody>
      </p:sp>
      <p:sp>
        <p:nvSpPr>
          <p:cNvPr id="38" name="object 38" descr=""/>
          <p:cNvSpPr txBox="1"/>
          <p:nvPr/>
        </p:nvSpPr>
        <p:spPr>
          <a:xfrm>
            <a:off x="6422745" y="2644019"/>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2</a:t>
            </a:r>
            <a:endParaRPr sz="550">
              <a:latin typeface="Cambria"/>
              <a:cs typeface="Cambria"/>
            </a:endParaRPr>
          </a:p>
        </p:txBody>
      </p:sp>
      <p:sp>
        <p:nvSpPr>
          <p:cNvPr id="39" name="object 39" descr=""/>
          <p:cNvSpPr txBox="1"/>
          <p:nvPr/>
        </p:nvSpPr>
        <p:spPr>
          <a:xfrm>
            <a:off x="6340754" y="2711519"/>
            <a:ext cx="6096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𝑘</a:t>
            </a:r>
            <a:endParaRPr sz="550">
              <a:latin typeface="Cambria"/>
              <a:cs typeface="Cambria"/>
            </a:endParaRPr>
          </a:p>
        </p:txBody>
      </p:sp>
      <p:sp>
        <p:nvSpPr>
          <p:cNvPr id="40" name="object 40" descr=""/>
          <p:cNvSpPr txBox="1"/>
          <p:nvPr/>
        </p:nvSpPr>
        <p:spPr>
          <a:xfrm>
            <a:off x="6474307" y="2658696"/>
            <a:ext cx="185420" cy="132080"/>
          </a:xfrm>
          <a:prstGeom prst="rect">
            <a:avLst/>
          </a:prstGeom>
        </p:spPr>
        <p:txBody>
          <a:bodyPr wrap="square" lIns="0" tIns="12065" rIns="0" bIns="0" rtlCol="0" vert="horz">
            <a:spAutoFit/>
          </a:bodyPr>
          <a:lstStyle/>
          <a:p>
            <a:pPr marL="12700">
              <a:lnSpc>
                <a:spcPct val="100000"/>
              </a:lnSpc>
              <a:spcBef>
                <a:spcPts val="95"/>
              </a:spcBef>
            </a:pPr>
            <a:r>
              <a:rPr dirty="0" sz="700" spc="70">
                <a:latin typeface="Cambria"/>
                <a:cs typeface="Cambria"/>
              </a:rPr>
              <a:t>−𝑊</a:t>
            </a:r>
            <a:endParaRPr sz="700">
              <a:latin typeface="Cambria"/>
              <a:cs typeface="Cambria"/>
            </a:endParaRPr>
          </a:p>
        </p:txBody>
      </p:sp>
      <p:sp>
        <p:nvSpPr>
          <p:cNvPr id="41" name="object 41" descr=""/>
          <p:cNvSpPr txBox="1"/>
          <p:nvPr/>
        </p:nvSpPr>
        <p:spPr>
          <a:xfrm>
            <a:off x="6715988" y="2644019"/>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2</a:t>
            </a:r>
            <a:endParaRPr sz="550">
              <a:latin typeface="Cambria"/>
              <a:cs typeface="Cambria"/>
            </a:endParaRPr>
          </a:p>
        </p:txBody>
      </p:sp>
      <p:sp>
        <p:nvSpPr>
          <p:cNvPr id="42" name="object 42" descr=""/>
          <p:cNvSpPr txBox="1"/>
          <p:nvPr/>
        </p:nvSpPr>
        <p:spPr>
          <a:xfrm>
            <a:off x="6633984" y="2695581"/>
            <a:ext cx="5841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𝑦</a:t>
            </a:r>
            <a:endParaRPr sz="550">
              <a:latin typeface="Cambria"/>
              <a:cs typeface="Cambria"/>
            </a:endParaRPr>
          </a:p>
        </p:txBody>
      </p:sp>
      <p:sp>
        <p:nvSpPr>
          <p:cNvPr id="43" name="object 43" descr=""/>
          <p:cNvSpPr txBox="1"/>
          <p:nvPr/>
        </p:nvSpPr>
        <p:spPr>
          <a:xfrm>
            <a:off x="6679438" y="2723419"/>
            <a:ext cx="5080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𝑖</a:t>
            </a:r>
            <a:endParaRPr sz="550">
              <a:latin typeface="Cambria"/>
              <a:cs typeface="Cambria"/>
            </a:endParaRPr>
          </a:p>
        </p:txBody>
      </p:sp>
      <p:sp>
        <p:nvSpPr>
          <p:cNvPr id="44" name="object 44" descr=""/>
          <p:cNvSpPr txBox="1"/>
          <p:nvPr/>
        </p:nvSpPr>
        <p:spPr>
          <a:xfrm>
            <a:off x="6767538" y="2659763"/>
            <a:ext cx="115570" cy="132080"/>
          </a:xfrm>
          <a:prstGeom prst="rect">
            <a:avLst/>
          </a:prstGeom>
        </p:spPr>
        <p:txBody>
          <a:bodyPr wrap="square" lIns="0" tIns="12065" rIns="0" bIns="0" rtlCol="0" vert="horz">
            <a:spAutoFit/>
          </a:bodyPr>
          <a:lstStyle/>
          <a:p>
            <a:pPr marL="12700">
              <a:lnSpc>
                <a:spcPct val="100000"/>
              </a:lnSpc>
              <a:spcBef>
                <a:spcPts val="95"/>
              </a:spcBef>
            </a:pPr>
            <a:r>
              <a:rPr dirty="0" sz="700" spc="25">
                <a:latin typeface="Cambria"/>
                <a:cs typeface="Cambria"/>
              </a:rPr>
              <a:t>)𝑧</a:t>
            </a:r>
            <a:endParaRPr sz="700">
              <a:latin typeface="Cambria"/>
              <a:cs typeface="Cambria"/>
            </a:endParaRPr>
          </a:p>
        </p:txBody>
      </p:sp>
      <p:sp>
        <p:nvSpPr>
          <p:cNvPr id="45" name="object 45" descr=""/>
          <p:cNvSpPr txBox="1"/>
          <p:nvPr/>
        </p:nvSpPr>
        <p:spPr>
          <a:xfrm>
            <a:off x="6642849" y="2621401"/>
            <a:ext cx="313690" cy="109220"/>
          </a:xfrm>
          <a:prstGeom prst="rect">
            <a:avLst/>
          </a:prstGeom>
        </p:spPr>
        <p:txBody>
          <a:bodyPr wrap="square" lIns="0" tIns="12065" rIns="0" bIns="0" rtlCol="0" vert="horz">
            <a:spAutoFit/>
          </a:bodyPr>
          <a:lstStyle/>
          <a:p>
            <a:pPr marL="12700">
              <a:lnSpc>
                <a:spcPct val="100000"/>
              </a:lnSpc>
              <a:spcBef>
                <a:spcPts val="95"/>
              </a:spcBef>
              <a:tabLst>
                <a:tab pos="227329" algn="l"/>
              </a:tabLst>
            </a:pPr>
            <a:r>
              <a:rPr dirty="0" sz="550" spc="60">
                <a:latin typeface="Cambria"/>
                <a:cs typeface="Cambria"/>
              </a:rPr>
              <a:t>𝑚</a:t>
            </a:r>
            <a:r>
              <a:rPr dirty="0" sz="550">
                <a:latin typeface="Cambria"/>
                <a:cs typeface="Cambria"/>
              </a:rPr>
              <a:t>	</a:t>
            </a:r>
            <a:r>
              <a:rPr dirty="0" sz="550" spc="60">
                <a:latin typeface="Cambria"/>
                <a:cs typeface="Cambria"/>
              </a:rPr>
              <a:t>𝑚</a:t>
            </a:r>
            <a:endParaRPr sz="550">
              <a:latin typeface="Cambria"/>
              <a:cs typeface="Cambria"/>
            </a:endParaRPr>
          </a:p>
        </p:txBody>
      </p:sp>
      <p:sp>
        <p:nvSpPr>
          <p:cNvPr id="46" name="object 46" descr=""/>
          <p:cNvSpPr txBox="1"/>
          <p:nvPr/>
        </p:nvSpPr>
        <p:spPr>
          <a:xfrm>
            <a:off x="6931100" y="2644019"/>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2</a:t>
            </a:r>
            <a:endParaRPr sz="550">
              <a:latin typeface="Cambria"/>
              <a:cs typeface="Cambria"/>
            </a:endParaRPr>
          </a:p>
        </p:txBody>
      </p:sp>
      <p:sp>
        <p:nvSpPr>
          <p:cNvPr id="47" name="object 47" descr=""/>
          <p:cNvSpPr txBox="1"/>
          <p:nvPr/>
        </p:nvSpPr>
        <p:spPr>
          <a:xfrm>
            <a:off x="6857085" y="2710745"/>
            <a:ext cx="38100" cy="109220"/>
          </a:xfrm>
          <a:prstGeom prst="rect">
            <a:avLst/>
          </a:prstGeom>
        </p:spPr>
        <p:txBody>
          <a:bodyPr wrap="square" lIns="0" tIns="12065" rIns="0" bIns="0" rtlCol="0" vert="horz">
            <a:spAutoFit/>
          </a:bodyPr>
          <a:lstStyle/>
          <a:p>
            <a:pPr algn="ctr" marR="3810">
              <a:lnSpc>
                <a:spcPct val="100000"/>
              </a:lnSpc>
              <a:spcBef>
                <a:spcPts val="95"/>
              </a:spcBef>
            </a:pPr>
            <a:r>
              <a:rPr dirty="0" sz="550" spc="-50">
                <a:latin typeface="Cambria"/>
                <a:cs typeface="Cambria"/>
              </a:rPr>
              <a:t>𝑖</a:t>
            </a:r>
            <a:endParaRPr sz="550">
              <a:latin typeface="Cambria"/>
              <a:cs typeface="Cambria"/>
            </a:endParaRPr>
          </a:p>
        </p:txBody>
      </p:sp>
      <p:sp>
        <p:nvSpPr>
          <p:cNvPr id="48" name="object 48" descr=""/>
          <p:cNvSpPr txBox="1"/>
          <p:nvPr/>
        </p:nvSpPr>
        <p:spPr>
          <a:xfrm>
            <a:off x="7024128" y="2686842"/>
            <a:ext cx="116839" cy="177800"/>
          </a:xfrm>
          <a:prstGeom prst="rect">
            <a:avLst/>
          </a:prstGeom>
        </p:spPr>
        <p:txBody>
          <a:bodyPr wrap="square" lIns="0" tIns="12065" rIns="0" bIns="0" rtlCol="0" vert="horz">
            <a:spAutoFit/>
          </a:bodyPr>
          <a:lstStyle/>
          <a:p>
            <a:pPr marL="12700">
              <a:lnSpc>
                <a:spcPct val="100000"/>
              </a:lnSpc>
              <a:spcBef>
                <a:spcPts val="95"/>
              </a:spcBef>
            </a:pPr>
            <a:r>
              <a:rPr dirty="0" sz="1000" spc="114">
                <a:latin typeface="Cambria"/>
                <a:cs typeface="Cambria"/>
              </a:rPr>
              <a:t>=</a:t>
            </a:r>
            <a:endParaRPr sz="1000">
              <a:latin typeface="Cambria"/>
              <a:cs typeface="Cambria"/>
            </a:endParaRPr>
          </a:p>
        </p:txBody>
      </p:sp>
      <p:sp>
        <p:nvSpPr>
          <p:cNvPr id="49" name="object 49" descr=""/>
          <p:cNvSpPr txBox="1"/>
          <p:nvPr/>
        </p:nvSpPr>
        <p:spPr>
          <a:xfrm>
            <a:off x="887298" y="2884226"/>
            <a:ext cx="537210" cy="177800"/>
          </a:xfrm>
          <a:prstGeom prst="rect">
            <a:avLst/>
          </a:prstGeom>
        </p:spPr>
        <p:txBody>
          <a:bodyPr wrap="square" lIns="0" tIns="12065" rIns="0" bIns="0" rtlCol="0" vert="horz">
            <a:spAutoFit/>
          </a:bodyPr>
          <a:lstStyle/>
          <a:p>
            <a:pPr marL="12700">
              <a:lnSpc>
                <a:spcPct val="100000"/>
              </a:lnSpc>
              <a:spcBef>
                <a:spcPts val="95"/>
              </a:spcBef>
            </a:pPr>
            <a:r>
              <a:rPr dirty="0" sz="1000" spc="-65">
                <a:latin typeface="Cambria"/>
                <a:cs typeface="Cambria"/>
              </a:rPr>
              <a:t>1</a:t>
            </a:r>
            <a:r>
              <a:rPr dirty="0" sz="1000" spc="-40">
                <a:latin typeface="Cambria"/>
                <a:cs typeface="Cambria"/>
              </a:rPr>
              <a:t> </a:t>
            </a:r>
            <a:r>
              <a:rPr dirty="0" sz="1000" spc="5">
                <a:latin typeface="Times New Roman"/>
                <a:cs typeface="Times New Roman"/>
              </a:rPr>
              <a:t>so</a:t>
            </a:r>
            <a:r>
              <a:rPr dirty="0" sz="1000" spc="-70">
                <a:latin typeface="Times New Roman"/>
                <a:cs typeface="Times New Roman"/>
              </a:rPr>
              <a:t> </a:t>
            </a:r>
            <a:r>
              <a:rPr dirty="0" sz="1000" spc="45">
                <a:latin typeface="Times New Roman"/>
                <a:cs typeface="Times New Roman"/>
              </a:rPr>
              <a:t>that</a:t>
            </a:r>
            <a:r>
              <a:rPr dirty="0" sz="1000" spc="-70">
                <a:latin typeface="Times New Roman"/>
                <a:cs typeface="Times New Roman"/>
              </a:rPr>
              <a:t> </a:t>
            </a:r>
            <a:r>
              <a:rPr dirty="0" sz="1000" spc="-600">
                <a:latin typeface="Cambria"/>
                <a:cs typeface="Cambria"/>
              </a:rPr>
              <a:t>𝑔</a:t>
            </a:r>
            <a:endParaRPr sz="1000">
              <a:latin typeface="Cambria"/>
              <a:cs typeface="Cambria"/>
            </a:endParaRPr>
          </a:p>
        </p:txBody>
      </p:sp>
      <p:sp>
        <p:nvSpPr>
          <p:cNvPr id="50" name="object 50" descr=""/>
          <p:cNvSpPr txBox="1"/>
          <p:nvPr/>
        </p:nvSpPr>
        <p:spPr>
          <a:xfrm>
            <a:off x="1411706" y="2960576"/>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51" name="object 51" descr=""/>
          <p:cNvSpPr txBox="1"/>
          <p:nvPr/>
        </p:nvSpPr>
        <p:spPr>
          <a:xfrm>
            <a:off x="1432521" y="2873225"/>
            <a:ext cx="677545" cy="132080"/>
          </a:xfrm>
          <a:prstGeom prst="rect">
            <a:avLst/>
          </a:prstGeom>
        </p:spPr>
        <p:txBody>
          <a:bodyPr wrap="square" lIns="0" tIns="12065" rIns="0" bIns="0" rtlCol="0" vert="horz">
            <a:spAutoFit/>
          </a:bodyPr>
          <a:lstStyle/>
          <a:p>
            <a:pPr marL="12700">
              <a:lnSpc>
                <a:spcPct val="100000"/>
              </a:lnSpc>
              <a:spcBef>
                <a:spcPts val="95"/>
              </a:spcBef>
              <a:tabLst>
                <a:tab pos="493395" algn="l"/>
              </a:tabLst>
            </a:pPr>
            <a:r>
              <a:rPr dirty="0" sz="700" spc="-10">
                <a:latin typeface="Times New Roman"/>
                <a:cs typeface="Times New Roman"/>
              </a:rPr>
              <a:t>Multi</a:t>
            </a:r>
            <a:r>
              <a:rPr dirty="0" sz="700">
                <a:latin typeface="Times New Roman"/>
                <a:cs typeface="Times New Roman"/>
              </a:rPr>
              <a:t>	</a:t>
            </a:r>
            <a:r>
              <a:rPr dirty="0" sz="700" spc="-20">
                <a:latin typeface="Times New Roman"/>
                <a:cs typeface="Times New Roman"/>
              </a:rPr>
              <a:t>Unit</a:t>
            </a:r>
            <a:endParaRPr sz="700">
              <a:latin typeface="Times New Roman"/>
              <a:cs typeface="Times New Roman"/>
            </a:endParaRPr>
          </a:p>
        </p:txBody>
      </p:sp>
      <p:sp>
        <p:nvSpPr>
          <p:cNvPr id="52" name="object 52" descr=""/>
          <p:cNvSpPr txBox="1"/>
          <p:nvPr/>
        </p:nvSpPr>
        <p:spPr>
          <a:xfrm>
            <a:off x="1892655" y="2960576"/>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53" name="object 53" descr=""/>
          <p:cNvSpPr txBox="1"/>
          <p:nvPr/>
        </p:nvSpPr>
        <p:spPr>
          <a:xfrm>
            <a:off x="1463878" y="2998158"/>
            <a:ext cx="545465" cy="109220"/>
          </a:xfrm>
          <a:prstGeom prst="rect">
            <a:avLst/>
          </a:prstGeom>
        </p:spPr>
        <p:txBody>
          <a:bodyPr wrap="square" lIns="0" tIns="12065" rIns="0" bIns="0" rtlCol="0" vert="horz">
            <a:spAutoFit/>
          </a:bodyPr>
          <a:lstStyle/>
          <a:p>
            <a:pPr marL="12700">
              <a:lnSpc>
                <a:spcPct val="100000"/>
              </a:lnSpc>
              <a:spcBef>
                <a:spcPts val="95"/>
              </a:spcBef>
              <a:tabLst>
                <a:tab pos="493395" algn="l"/>
              </a:tabLst>
            </a:pPr>
            <a:r>
              <a:rPr dirty="0" sz="550" spc="-50">
                <a:latin typeface="Cambria"/>
                <a:cs typeface="Cambria"/>
              </a:rPr>
              <a:t>1</a:t>
            </a:r>
            <a:r>
              <a:rPr dirty="0" sz="550">
                <a:latin typeface="Cambria"/>
                <a:cs typeface="Cambria"/>
              </a:rPr>
              <a:t>	</a:t>
            </a:r>
            <a:r>
              <a:rPr dirty="0" sz="550" spc="-50">
                <a:latin typeface="Cambria"/>
                <a:cs typeface="Cambria"/>
              </a:rPr>
              <a:t>1</a:t>
            </a:r>
            <a:endParaRPr sz="550">
              <a:latin typeface="Cambria"/>
              <a:cs typeface="Cambria"/>
            </a:endParaRPr>
          </a:p>
        </p:txBody>
      </p:sp>
      <p:sp>
        <p:nvSpPr>
          <p:cNvPr id="54" name="object 54" descr=""/>
          <p:cNvSpPr txBox="1"/>
          <p:nvPr/>
        </p:nvSpPr>
        <p:spPr>
          <a:xfrm>
            <a:off x="1702765" y="2884226"/>
            <a:ext cx="4970145" cy="177800"/>
          </a:xfrm>
          <a:prstGeom prst="rect">
            <a:avLst/>
          </a:prstGeom>
        </p:spPr>
        <p:txBody>
          <a:bodyPr wrap="square" lIns="0" tIns="12065" rIns="0" bIns="0" rtlCol="0" vert="horz">
            <a:spAutoFit/>
          </a:bodyPr>
          <a:lstStyle/>
          <a:p>
            <a:pPr marL="12700">
              <a:lnSpc>
                <a:spcPct val="100000"/>
              </a:lnSpc>
              <a:spcBef>
                <a:spcPts val="95"/>
              </a:spcBef>
              <a:tabLst>
                <a:tab pos="443865" algn="l"/>
              </a:tabLst>
            </a:pPr>
            <a:r>
              <a:rPr dirty="0" sz="1000" spc="165">
                <a:latin typeface="Cambria"/>
                <a:cs typeface="Cambria"/>
              </a:rPr>
              <a:t>=</a:t>
            </a:r>
            <a:r>
              <a:rPr dirty="0" sz="1000" spc="55">
                <a:latin typeface="Cambria"/>
                <a:cs typeface="Cambria"/>
              </a:rPr>
              <a:t> </a:t>
            </a:r>
            <a:r>
              <a:rPr dirty="0" sz="1000" spc="-50">
                <a:latin typeface="Cambria"/>
                <a:cs typeface="Cambria"/>
              </a:rPr>
              <a:t>𝑔</a:t>
            </a:r>
            <a:r>
              <a:rPr dirty="0" sz="1000">
                <a:latin typeface="Cambria"/>
                <a:cs typeface="Cambria"/>
              </a:rPr>
              <a:t>	</a:t>
            </a:r>
            <a:r>
              <a:rPr dirty="0" sz="1000">
                <a:latin typeface="Times New Roman"/>
                <a:cs typeface="Times New Roman"/>
              </a:rPr>
              <a:t>.</a:t>
            </a:r>
            <a:r>
              <a:rPr dirty="0" sz="1000" spc="130">
                <a:latin typeface="Times New Roman"/>
                <a:cs typeface="Times New Roman"/>
              </a:rPr>
              <a:t> </a:t>
            </a:r>
            <a:r>
              <a:rPr dirty="0" sz="1000">
                <a:latin typeface="Times New Roman"/>
                <a:cs typeface="Times New Roman"/>
              </a:rPr>
              <a:t>Since</a:t>
            </a:r>
            <a:r>
              <a:rPr dirty="0" sz="1000" spc="-15">
                <a:latin typeface="Times New Roman"/>
                <a:cs typeface="Times New Roman"/>
              </a:rPr>
              <a:t> </a:t>
            </a:r>
            <a:r>
              <a:rPr dirty="0" sz="1000">
                <a:latin typeface="Times New Roman"/>
                <a:cs typeface="Times New Roman"/>
              </a:rPr>
              <a:t>each</a:t>
            </a:r>
            <a:r>
              <a:rPr dirty="0" sz="1000" spc="-15">
                <a:latin typeface="Times New Roman"/>
                <a:cs typeface="Times New Roman"/>
              </a:rPr>
              <a:t> </a:t>
            </a:r>
            <a:r>
              <a:rPr dirty="0" sz="1000">
                <a:latin typeface="Times New Roman"/>
                <a:cs typeface="Times New Roman"/>
              </a:rPr>
              <a:t>row</a:t>
            </a:r>
            <a:r>
              <a:rPr dirty="0" sz="1000" spc="-10">
                <a:latin typeface="Times New Roman"/>
                <a:cs typeface="Times New Roman"/>
              </a:rPr>
              <a:t> </a:t>
            </a:r>
            <a:r>
              <a:rPr dirty="0" sz="1000" spc="-20">
                <a:latin typeface="Times New Roman"/>
                <a:cs typeface="Times New Roman"/>
              </a:rPr>
              <a:t>of</a:t>
            </a:r>
            <a:r>
              <a:rPr dirty="0" sz="1000" spc="-15">
                <a:latin typeface="Times New Roman"/>
                <a:cs typeface="Times New Roman"/>
              </a:rPr>
              <a:t> </a:t>
            </a:r>
            <a:r>
              <a:rPr dirty="0" sz="1000">
                <a:latin typeface="Cambria"/>
                <a:cs typeface="Cambria"/>
              </a:rPr>
              <a:t>𝑊</a:t>
            </a:r>
            <a:r>
              <a:rPr dirty="0" sz="1000" spc="150">
                <a:latin typeface="Cambria"/>
                <a:cs typeface="Cambria"/>
              </a:rPr>
              <a:t> </a:t>
            </a:r>
            <a:r>
              <a:rPr dirty="0" sz="1000">
                <a:latin typeface="Times New Roman"/>
                <a:cs typeface="Times New Roman"/>
              </a:rPr>
              <a:t>is</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class</a:t>
            </a:r>
            <a:r>
              <a:rPr dirty="0" sz="1000" spc="-10">
                <a:latin typeface="Times New Roman"/>
                <a:cs typeface="Times New Roman"/>
              </a:rPr>
              <a:t> </a:t>
            </a:r>
            <a:r>
              <a:rPr dirty="0" sz="1000">
                <a:latin typeface="Times New Roman"/>
                <a:cs typeface="Times New Roman"/>
              </a:rPr>
              <a:t>center</a:t>
            </a:r>
            <a:r>
              <a:rPr dirty="0" sz="1000" spc="-15">
                <a:latin typeface="Times New Roman"/>
                <a:cs typeface="Times New Roman"/>
              </a:rPr>
              <a:t> </a:t>
            </a:r>
            <a:r>
              <a:rPr dirty="0" sz="1000">
                <a:latin typeface="Times New Roman"/>
                <a:cs typeface="Times New Roman"/>
              </a:rPr>
              <a:t>vector</a:t>
            </a:r>
            <a:r>
              <a:rPr dirty="0" sz="1000" spc="-15">
                <a:latin typeface="Times New Roman"/>
                <a:cs typeface="Times New Roman"/>
              </a:rPr>
              <a:t> </a:t>
            </a:r>
            <a:r>
              <a:rPr dirty="0" sz="1000" spc="-20">
                <a:latin typeface="Times New Roman"/>
                <a:cs typeface="Times New Roman"/>
              </a:rPr>
              <a:t>of</a:t>
            </a:r>
            <a:r>
              <a:rPr dirty="0" sz="1000" spc="-15">
                <a:latin typeface="Times New Roman"/>
                <a:cs typeface="Times New Roman"/>
              </a:rPr>
              <a:t> </a:t>
            </a:r>
            <a:r>
              <a:rPr dirty="0" sz="1000">
                <a:latin typeface="Times New Roman"/>
                <a:cs typeface="Times New Roman"/>
              </a:rPr>
              <a:t>different</a:t>
            </a:r>
            <a:r>
              <a:rPr dirty="0" sz="1000" spc="-10">
                <a:latin typeface="Times New Roman"/>
                <a:cs typeface="Times New Roman"/>
              </a:rPr>
              <a:t> </a:t>
            </a:r>
            <a:r>
              <a:rPr dirty="0" sz="1000">
                <a:latin typeface="Times New Roman"/>
                <a:cs typeface="Times New Roman"/>
              </a:rPr>
              <a:t>types, the</a:t>
            </a:r>
            <a:r>
              <a:rPr dirty="0" sz="1000" spc="-15">
                <a:latin typeface="Times New Roman"/>
                <a:cs typeface="Times New Roman"/>
              </a:rPr>
              <a:t> </a:t>
            </a:r>
            <a:r>
              <a:rPr dirty="0" sz="1000">
                <a:latin typeface="Times New Roman"/>
                <a:cs typeface="Times New Roman"/>
              </a:rPr>
              <a:t>cross</a:t>
            </a:r>
            <a:r>
              <a:rPr dirty="0" sz="1000" spc="-15">
                <a:latin typeface="Times New Roman"/>
                <a:cs typeface="Times New Roman"/>
              </a:rPr>
              <a:t> </a:t>
            </a:r>
            <a:r>
              <a:rPr dirty="0" sz="1000">
                <a:latin typeface="Times New Roman"/>
                <a:cs typeface="Times New Roman"/>
              </a:rPr>
              <a:t>entropy</a:t>
            </a:r>
            <a:r>
              <a:rPr dirty="0" sz="1000" spc="-15">
                <a:latin typeface="Times New Roman"/>
                <a:cs typeface="Times New Roman"/>
              </a:rPr>
              <a:t> </a:t>
            </a:r>
            <a:r>
              <a:rPr dirty="0" sz="1000" spc="-20">
                <a:latin typeface="Times New Roman"/>
                <a:cs typeface="Times New Roman"/>
              </a:rPr>
              <a:t>loss</a:t>
            </a:r>
            <a:endParaRPr sz="1000">
              <a:latin typeface="Times New Roman"/>
              <a:cs typeface="Times New Roman"/>
            </a:endParaRPr>
          </a:p>
        </p:txBody>
      </p:sp>
      <p:sp>
        <p:nvSpPr>
          <p:cNvPr id="55" name="object 55" descr=""/>
          <p:cNvSpPr txBox="1"/>
          <p:nvPr/>
        </p:nvSpPr>
        <p:spPr>
          <a:xfrm>
            <a:off x="811098" y="3081609"/>
            <a:ext cx="5937885" cy="1164590"/>
          </a:xfrm>
          <a:prstGeom prst="rect">
            <a:avLst/>
          </a:prstGeom>
        </p:spPr>
        <p:txBody>
          <a:bodyPr wrap="square" lIns="0" tIns="12065" rIns="0" bIns="0" rtlCol="0" vert="horz">
            <a:spAutoFit/>
          </a:bodyPr>
          <a:lstStyle/>
          <a:p>
            <a:pPr marL="88900">
              <a:lnSpc>
                <a:spcPct val="100000"/>
              </a:lnSpc>
              <a:spcBef>
                <a:spcPts val="95"/>
              </a:spcBef>
              <a:tabLst>
                <a:tab pos="648970" algn="l"/>
                <a:tab pos="1152525" algn="l"/>
                <a:tab pos="2693035" algn="l"/>
                <a:tab pos="4399915" algn="l"/>
              </a:tabLst>
            </a:pPr>
            <a:r>
              <a:rPr dirty="0" baseline="-86111" sz="1500" spc="-509">
                <a:latin typeface="Cambria"/>
                <a:cs typeface="Cambria"/>
              </a:rPr>
              <a:t>(</a:t>
            </a:r>
            <a:r>
              <a:rPr dirty="0" sz="1000" spc="55">
                <a:latin typeface="Times New Roman"/>
                <a:cs typeface="Times New Roman"/>
              </a:rPr>
              <a:t>wil</a:t>
            </a:r>
            <a:r>
              <a:rPr dirty="0" sz="1000" spc="-155">
                <a:latin typeface="Times New Roman"/>
                <a:cs typeface="Times New Roman"/>
              </a:rPr>
              <a:t>l</a:t>
            </a:r>
            <a:r>
              <a:rPr dirty="0" baseline="-83333" sz="1050" spc="-1019">
                <a:latin typeface="Cambria"/>
                <a:cs typeface="Cambria"/>
              </a:rPr>
              <a:t>𝑚</a:t>
            </a:r>
            <a:r>
              <a:rPr dirty="0" baseline="-146825" sz="1050" spc="-1657">
                <a:latin typeface="Cambria"/>
                <a:cs typeface="Cambria"/>
              </a:rPr>
              <a:t>𝑘</a:t>
            </a:r>
            <a:r>
              <a:rPr dirty="0" baseline="-86111" sz="1500" spc="82">
                <a:latin typeface="Cambria"/>
                <a:cs typeface="Cambria"/>
              </a:rPr>
              <a:t>𝑊</a:t>
            </a:r>
            <a:r>
              <a:rPr dirty="0" baseline="-86111" sz="1500" spc="457">
                <a:latin typeface="Cambria"/>
                <a:cs typeface="Cambria"/>
              </a:rPr>
              <a:t> </a:t>
            </a:r>
            <a:r>
              <a:rPr dirty="0" sz="1000" spc="95">
                <a:latin typeface="Times New Roman"/>
                <a:cs typeface="Times New Roman"/>
              </a:rPr>
              <a:t>const</a:t>
            </a:r>
            <a:r>
              <a:rPr dirty="0" sz="1000" spc="-1385">
                <a:latin typeface="Times New Roman"/>
                <a:cs typeface="Times New Roman"/>
              </a:rPr>
              <a:t>r</a:t>
            </a:r>
            <a:r>
              <a:rPr dirty="0" baseline="-86111" sz="1500" spc="142">
                <a:latin typeface="Times New Roman"/>
                <a:cs typeface="Times New Roman"/>
              </a:rPr>
              <a:t>an</a:t>
            </a:r>
            <a:r>
              <a:rPr dirty="0" baseline="-86111" sz="1500" spc="-3165">
                <a:latin typeface="Times New Roman"/>
                <a:cs typeface="Times New Roman"/>
              </a:rPr>
              <a:t>d</a:t>
            </a:r>
            <a:r>
              <a:rPr dirty="0" baseline="-121212" sz="825" spc="142">
                <a:latin typeface="Cambria"/>
                <a:cs typeface="Cambria"/>
              </a:rPr>
              <a:t>2</a:t>
            </a:r>
            <a:r>
              <a:rPr dirty="0" baseline="-121212" sz="825">
                <a:latin typeface="Cambria"/>
                <a:cs typeface="Cambria"/>
              </a:rPr>
              <a:t>	</a:t>
            </a:r>
            <a:r>
              <a:rPr dirty="0" sz="1000" spc="90">
                <a:latin typeface="Times New Roman"/>
                <a:cs typeface="Times New Roman"/>
              </a:rPr>
              <a:t>ai</a:t>
            </a:r>
            <a:r>
              <a:rPr dirty="0" sz="1000" spc="85">
                <a:latin typeface="Times New Roman"/>
                <a:cs typeface="Times New Roman"/>
              </a:rPr>
              <a:t>n</a:t>
            </a:r>
            <a:r>
              <a:rPr dirty="0" baseline="-83333" sz="1050" spc="-997">
                <a:latin typeface="Cambria"/>
                <a:cs typeface="Cambria"/>
              </a:rPr>
              <a:t>𝑚</a:t>
            </a:r>
            <a:r>
              <a:rPr dirty="0" baseline="-134920" sz="1050" spc="-1620">
                <a:latin typeface="Cambria"/>
                <a:cs typeface="Cambria"/>
              </a:rPr>
              <a:t>𝑦</a:t>
            </a:r>
            <a:r>
              <a:rPr dirty="0" baseline="-86111" sz="1500" spc="135">
                <a:latin typeface="Cambria"/>
                <a:cs typeface="Cambria"/>
              </a:rPr>
              <a:t>𝑊</a:t>
            </a:r>
            <a:r>
              <a:rPr dirty="0" baseline="-86111" sz="1500" spc="142">
                <a:latin typeface="Cambria"/>
                <a:cs typeface="Cambria"/>
              </a:rPr>
              <a:t> </a:t>
            </a:r>
            <a:r>
              <a:rPr dirty="0" sz="1000" spc="114">
                <a:latin typeface="Times New Roman"/>
                <a:cs typeface="Times New Roman"/>
              </a:rPr>
              <a:t>the</a:t>
            </a:r>
            <a:r>
              <a:rPr dirty="0" sz="1000" spc="-865">
                <a:latin typeface="Times New Roman"/>
                <a:cs typeface="Times New Roman"/>
              </a:rPr>
              <a:t>m</a:t>
            </a:r>
            <a:r>
              <a:rPr dirty="0" baseline="-86111" sz="1500" spc="172">
                <a:latin typeface="Times New Roman"/>
                <a:cs typeface="Times New Roman"/>
              </a:rPr>
              <a:t>wil</a:t>
            </a:r>
            <a:r>
              <a:rPr dirty="0" baseline="-86111" sz="1500" spc="-3195">
                <a:latin typeface="Times New Roman"/>
                <a:cs typeface="Times New Roman"/>
              </a:rPr>
              <a:t>l</a:t>
            </a:r>
            <a:r>
              <a:rPr dirty="0" baseline="-121212" sz="825" spc="-930">
                <a:latin typeface="Cambria"/>
                <a:cs typeface="Cambria"/>
              </a:rPr>
              <a:t>2</a:t>
            </a:r>
            <a:r>
              <a:rPr dirty="0" baseline="-186868" sz="825" spc="172">
                <a:latin typeface="Cambria"/>
                <a:cs typeface="Cambria"/>
              </a:rPr>
              <a:t>𝑖</a:t>
            </a:r>
            <a:r>
              <a:rPr dirty="0" baseline="-186868" sz="825">
                <a:latin typeface="Cambria"/>
                <a:cs typeface="Cambria"/>
              </a:rPr>
              <a:t>	</a:t>
            </a:r>
            <a:r>
              <a:rPr dirty="0" sz="1000" spc="25">
                <a:latin typeface="Times New Roman"/>
                <a:cs typeface="Times New Roman"/>
              </a:rPr>
              <a:t>t</a:t>
            </a:r>
            <a:r>
              <a:rPr dirty="0" sz="1000" spc="-195">
                <a:latin typeface="Times New Roman"/>
                <a:cs typeface="Times New Roman"/>
              </a:rPr>
              <a:t>o</a:t>
            </a:r>
            <a:r>
              <a:rPr dirty="0" baseline="-86111" sz="1500" spc="44">
                <a:latin typeface="Times New Roman"/>
                <a:cs typeface="Times New Roman"/>
              </a:rPr>
              <a:t>al</a:t>
            </a:r>
            <a:r>
              <a:rPr dirty="0" baseline="-86111" sz="1500" spc="22">
                <a:latin typeface="Times New Roman"/>
                <a:cs typeface="Times New Roman"/>
              </a:rPr>
              <a:t>w</a:t>
            </a:r>
            <a:r>
              <a:rPr dirty="0" baseline="-86111" sz="1500" spc="15">
                <a:latin typeface="Times New Roman"/>
                <a:cs typeface="Times New Roman"/>
              </a:rPr>
              <a:t>a</a:t>
            </a:r>
            <a:r>
              <a:rPr dirty="0" baseline="-86111" sz="1500" spc="44">
                <a:latin typeface="Times New Roman"/>
                <a:cs typeface="Times New Roman"/>
              </a:rPr>
              <a:t>y</a:t>
            </a:r>
            <a:r>
              <a:rPr dirty="0" baseline="-86111" sz="1500" spc="-3615">
                <a:latin typeface="Times New Roman"/>
                <a:cs typeface="Times New Roman"/>
              </a:rPr>
              <a:t>s</a:t>
            </a:r>
            <a:r>
              <a:rPr dirty="0" sz="1000" spc="30">
                <a:latin typeface="Times New Roman"/>
                <a:cs typeface="Times New Roman"/>
              </a:rPr>
              <a:t>st</a:t>
            </a:r>
            <a:r>
              <a:rPr dirty="0" sz="1000" spc="10">
                <a:latin typeface="Times New Roman"/>
                <a:cs typeface="Times New Roman"/>
              </a:rPr>
              <a:t>a</a:t>
            </a:r>
            <a:r>
              <a:rPr dirty="0" sz="1000" spc="30">
                <a:latin typeface="Times New Roman"/>
                <a:cs typeface="Times New Roman"/>
              </a:rPr>
              <a:t>y</a:t>
            </a:r>
            <a:r>
              <a:rPr dirty="0" sz="1000" spc="-35">
                <a:latin typeface="Times New Roman"/>
                <a:cs typeface="Times New Roman"/>
              </a:rPr>
              <a:t> </a:t>
            </a:r>
            <a:r>
              <a:rPr dirty="0" sz="1000" spc="30">
                <a:latin typeface="Times New Roman"/>
                <a:cs typeface="Times New Roman"/>
              </a:rPr>
              <a:t>a</a:t>
            </a:r>
            <a:r>
              <a:rPr dirty="0" sz="1000" spc="-335">
                <a:latin typeface="Times New Roman"/>
                <a:cs typeface="Times New Roman"/>
              </a:rPr>
              <a:t>w</a:t>
            </a:r>
            <a:r>
              <a:rPr dirty="0" baseline="-86111" sz="1500" spc="82">
                <a:latin typeface="Times New Roman"/>
                <a:cs typeface="Times New Roman"/>
              </a:rPr>
              <a:t>b</a:t>
            </a:r>
            <a:r>
              <a:rPr dirty="0" baseline="-86111" sz="1500" spc="-802">
                <a:latin typeface="Times New Roman"/>
                <a:cs typeface="Times New Roman"/>
              </a:rPr>
              <a:t>e</a:t>
            </a:r>
            <a:r>
              <a:rPr dirty="0" sz="1000" spc="35">
                <a:latin typeface="Times New Roman"/>
                <a:cs typeface="Times New Roman"/>
              </a:rPr>
              <a:t>a</a:t>
            </a:r>
            <a:r>
              <a:rPr dirty="0" sz="1000" spc="-5">
                <a:latin typeface="Times New Roman"/>
                <a:cs typeface="Times New Roman"/>
              </a:rPr>
              <a:t>y</a:t>
            </a:r>
            <a:r>
              <a:rPr dirty="0" baseline="-86111" sz="1500" spc="82">
                <a:latin typeface="Times New Roman"/>
                <a:cs typeface="Times New Roman"/>
              </a:rPr>
              <a:t>lar</a:t>
            </a:r>
            <a:r>
              <a:rPr dirty="0" baseline="-86111" sz="1500" spc="-1897">
                <a:latin typeface="Times New Roman"/>
                <a:cs typeface="Times New Roman"/>
              </a:rPr>
              <a:t>g</a:t>
            </a:r>
            <a:r>
              <a:rPr dirty="0" sz="1000" spc="55">
                <a:latin typeface="Times New Roman"/>
                <a:cs typeface="Times New Roman"/>
              </a:rPr>
              <a:t>f</a:t>
            </a:r>
            <a:r>
              <a:rPr dirty="0" sz="1000" spc="45">
                <a:latin typeface="Times New Roman"/>
                <a:cs typeface="Times New Roman"/>
              </a:rPr>
              <a:t>r</a:t>
            </a:r>
            <a:r>
              <a:rPr dirty="0" sz="1000" spc="55">
                <a:latin typeface="Times New Roman"/>
                <a:cs typeface="Times New Roman"/>
              </a:rPr>
              <a:t>o</a:t>
            </a:r>
            <a:r>
              <a:rPr dirty="0" sz="1000" spc="-590">
                <a:latin typeface="Times New Roman"/>
                <a:cs typeface="Times New Roman"/>
              </a:rPr>
              <a:t>m</a:t>
            </a:r>
            <a:r>
              <a:rPr dirty="0" baseline="-86111" sz="1500" spc="82">
                <a:latin typeface="Times New Roman"/>
                <a:cs typeface="Times New Roman"/>
              </a:rPr>
              <a:t>e</a:t>
            </a:r>
            <a:r>
              <a:rPr dirty="0" baseline="-86111" sz="1500" spc="157">
                <a:latin typeface="Times New Roman"/>
                <a:cs typeface="Times New Roman"/>
              </a:rPr>
              <a:t>r</a:t>
            </a:r>
            <a:r>
              <a:rPr dirty="0" sz="1000" spc="55">
                <a:latin typeface="Times New Roman"/>
                <a:cs typeface="Times New Roman"/>
              </a:rPr>
              <a:t>eac</a:t>
            </a:r>
            <a:r>
              <a:rPr dirty="0" sz="1000" spc="-1595">
                <a:latin typeface="Times New Roman"/>
                <a:cs typeface="Times New Roman"/>
              </a:rPr>
              <a:t>h</a:t>
            </a:r>
            <a:r>
              <a:rPr dirty="0" baseline="-86111" sz="1500" spc="82">
                <a:latin typeface="Times New Roman"/>
                <a:cs typeface="Times New Roman"/>
              </a:rPr>
              <a:t>tha</a:t>
            </a:r>
            <a:r>
              <a:rPr dirty="0" baseline="-86111" sz="1500" spc="89">
                <a:latin typeface="Times New Roman"/>
                <a:cs typeface="Times New Roman"/>
              </a:rPr>
              <a:t>n</a:t>
            </a:r>
            <a:r>
              <a:rPr dirty="0" sz="1000" spc="55">
                <a:latin typeface="Times New Roman"/>
                <a:cs typeface="Times New Roman"/>
              </a:rPr>
              <a:t>othe</a:t>
            </a:r>
            <a:r>
              <a:rPr dirty="0" sz="1000" spc="-390">
                <a:latin typeface="Times New Roman"/>
                <a:cs typeface="Times New Roman"/>
              </a:rPr>
              <a:t>r</a:t>
            </a:r>
            <a:r>
              <a:rPr dirty="0" baseline="-86111" sz="1500" spc="82">
                <a:latin typeface="Times New Roman"/>
                <a:cs typeface="Times New Roman"/>
              </a:rPr>
              <a:t>Consequentl</a:t>
            </a:r>
            <a:r>
              <a:rPr dirty="0" baseline="-86111" sz="1500" spc="-30">
                <a:latin typeface="Times New Roman"/>
                <a:cs typeface="Times New Roman"/>
              </a:rPr>
              <a:t>y</a:t>
            </a:r>
            <a:r>
              <a:rPr dirty="0" baseline="-86111" sz="1500" spc="-10267">
                <a:latin typeface="Times New Roman"/>
                <a:cs typeface="Times New Roman"/>
              </a:rPr>
              <a:t>,</a:t>
            </a:r>
            <a:r>
              <a:rPr dirty="0" baseline="-86111" sz="1500" spc="-1507">
                <a:latin typeface="Times New Roman"/>
                <a:cs typeface="Times New Roman"/>
              </a:rPr>
              <a:t>.</a:t>
            </a:r>
            <a:r>
              <a:rPr dirty="0" baseline="-86111" sz="1500" spc="82">
                <a:latin typeface="Times New Roman"/>
                <a:cs typeface="Times New Roman"/>
              </a:rPr>
              <a:t>0</a:t>
            </a:r>
            <a:r>
              <a:rPr dirty="0" baseline="-86111" sz="1500">
                <a:latin typeface="Times New Roman"/>
                <a:cs typeface="Times New Roman"/>
              </a:rPr>
              <a:t>	</a:t>
            </a:r>
            <a:r>
              <a:rPr dirty="0" sz="1000" spc="20">
                <a:latin typeface="Times New Roman"/>
                <a:cs typeface="Times New Roman"/>
              </a:rPr>
              <a:t>to</a:t>
            </a:r>
            <a:r>
              <a:rPr dirty="0" sz="1000" spc="-35">
                <a:latin typeface="Times New Roman"/>
                <a:cs typeface="Times New Roman"/>
              </a:rPr>
              <a:t> </a:t>
            </a:r>
            <a:r>
              <a:rPr dirty="0" sz="1000" spc="10">
                <a:latin typeface="Times New Roman"/>
                <a:cs typeface="Times New Roman"/>
              </a:rPr>
              <a:t>achieve</a:t>
            </a:r>
            <a:r>
              <a:rPr dirty="0" sz="1000" spc="-35">
                <a:latin typeface="Times New Roman"/>
                <a:cs typeface="Times New Roman"/>
              </a:rPr>
              <a:t> </a:t>
            </a:r>
            <a:r>
              <a:rPr dirty="0" sz="1000" spc="95">
                <a:latin typeface="Times New Roman"/>
                <a:cs typeface="Times New Roman"/>
              </a:rPr>
              <a:t>g</a:t>
            </a:r>
            <a:r>
              <a:rPr dirty="0" sz="1000" spc="90">
                <a:latin typeface="Times New Roman"/>
                <a:cs typeface="Times New Roman"/>
              </a:rPr>
              <a:t>oo</a:t>
            </a:r>
            <a:r>
              <a:rPr dirty="0" sz="1000" spc="-785">
                <a:latin typeface="Times New Roman"/>
                <a:cs typeface="Times New Roman"/>
              </a:rPr>
              <a:t>d</a:t>
            </a:r>
            <a:r>
              <a:rPr dirty="0" baseline="-86111" sz="1500" spc="135">
                <a:latin typeface="Times New Roman"/>
                <a:cs typeface="Times New Roman"/>
              </a:rPr>
              <a:t>th</a:t>
            </a:r>
            <a:r>
              <a:rPr dirty="0" baseline="-86111" sz="1500" spc="-187">
                <a:latin typeface="Times New Roman"/>
                <a:cs typeface="Times New Roman"/>
              </a:rPr>
              <a:t>e</a:t>
            </a:r>
            <a:r>
              <a:rPr dirty="0" sz="1000" spc="90">
                <a:latin typeface="Times New Roman"/>
                <a:cs typeface="Times New Roman"/>
              </a:rPr>
              <a:t>discrimination</a:t>
            </a:r>
            <a:r>
              <a:rPr dirty="0" sz="1000" spc="-600">
                <a:latin typeface="Times New Roman"/>
                <a:cs typeface="Times New Roman"/>
              </a:rPr>
              <a:t>.</a:t>
            </a:r>
            <a:r>
              <a:rPr dirty="0" baseline="-86111" sz="1500" spc="135">
                <a:latin typeface="Times New Roman"/>
                <a:cs typeface="Times New Roman"/>
              </a:rPr>
              <a:t>ensu</a:t>
            </a:r>
            <a:r>
              <a:rPr dirty="0" baseline="-86111" sz="1500" spc="120">
                <a:latin typeface="Times New Roman"/>
                <a:cs typeface="Times New Roman"/>
              </a:rPr>
              <a:t>r</a:t>
            </a:r>
            <a:r>
              <a:rPr dirty="0" baseline="-86111" sz="1500" spc="-5197">
                <a:latin typeface="Times New Roman"/>
                <a:cs typeface="Times New Roman"/>
              </a:rPr>
              <a:t>e</a:t>
            </a:r>
            <a:r>
              <a:rPr dirty="0" baseline="-86111" sz="1500" spc="-1080">
                <a:latin typeface="Times New Roman"/>
                <a:cs typeface="Times New Roman"/>
              </a:rPr>
              <a:t>o</a:t>
            </a:r>
            <a:r>
              <a:rPr dirty="0" baseline="-86111" sz="1500" spc="-1289">
                <a:latin typeface="Times New Roman"/>
                <a:cs typeface="Times New Roman"/>
              </a:rPr>
              <a:t>t</a:t>
            </a:r>
            <a:r>
              <a:rPr dirty="0" baseline="-86111" sz="1500" spc="-1335">
                <a:latin typeface="Times New Roman"/>
                <a:cs typeface="Times New Roman"/>
              </a:rPr>
              <a:t>y</a:t>
            </a:r>
            <a:r>
              <a:rPr dirty="0" baseline="-86111" sz="1500" spc="-1589">
                <a:latin typeface="Times New Roman"/>
                <a:cs typeface="Times New Roman"/>
              </a:rPr>
              <a:t>a</a:t>
            </a:r>
            <a:r>
              <a:rPr dirty="0" baseline="-86111" sz="1500" spc="-4102">
                <a:latin typeface="Times New Roman"/>
                <a:cs typeface="Times New Roman"/>
              </a:rPr>
              <a:t>w</a:t>
            </a:r>
            <a:r>
              <a:rPr dirty="0" baseline="-86111" sz="1500" spc="135">
                <a:latin typeface="Times New Roman"/>
                <a:cs typeface="Times New Roman"/>
              </a:rPr>
              <a:t>only</a:t>
            </a:r>
            <a:r>
              <a:rPr dirty="0" baseline="-86111" sz="1500">
                <a:latin typeface="Times New Roman"/>
                <a:cs typeface="Times New Roman"/>
              </a:rPr>
              <a:t>	</a:t>
            </a:r>
            <a:r>
              <a:rPr dirty="0" sz="1000" spc="30">
                <a:latin typeface="Times New Roman"/>
                <a:cs typeface="Times New Roman"/>
              </a:rPr>
              <a:t>Thus</a:t>
            </a:r>
            <a:r>
              <a:rPr dirty="0" sz="1000" spc="-265">
                <a:latin typeface="Times New Roman"/>
                <a:cs typeface="Times New Roman"/>
              </a:rPr>
              <a:t>,</a:t>
            </a:r>
            <a:r>
              <a:rPr dirty="0" baseline="-86111" sz="1500" spc="187">
                <a:latin typeface="Cambria"/>
                <a:cs typeface="Cambria"/>
              </a:rPr>
              <a:t>𝑒</a:t>
            </a:r>
            <a:r>
              <a:rPr dirty="0" sz="1000" spc="30">
                <a:latin typeface="Times New Roman"/>
                <a:cs typeface="Times New Roman"/>
              </a:rPr>
              <a:t>t</a:t>
            </a:r>
            <a:r>
              <a:rPr dirty="0" sz="1000" spc="-105">
                <a:latin typeface="Times New Roman"/>
                <a:cs typeface="Times New Roman"/>
              </a:rPr>
              <a:t>h</a:t>
            </a:r>
            <a:r>
              <a:rPr dirty="0" baseline="-131313" sz="825" spc="-1267">
                <a:latin typeface="Cambria"/>
                <a:cs typeface="Cambria"/>
              </a:rPr>
              <a:t>𝑘</a:t>
            </a:r>
            <a:r>
              <a:rPr dirty="0" baseline="-83333" sz="1050" spc="44">
                <a:latin typeface="Cambria"/>
                <a:cs typeface="Cambria"/>
              </a:rPr>
              <a:t>𝑊</a:t>
            </a:r>
            <a:r>
              <a:rPr dirty="0" baseline="-83333" sz="1050" spc="-127">
                <a:latin typeface="Cambria"/>
                <a:cs typeface="Cambria"/>
              </a:rPr>
              <a:t> </a:t>
            </a:r>
            <a:r>
              <a:rPr dirty="0" baseline="-60606" sz="825" spc="-525">
                <a:latin typeface="Cambria"/>
                <a:cs typeface="Cambria"/>
              </a:rPr>
              <a:t>𝑚</a:t>
            </a:r>
            <a:r>
              <a:rPr dirty="0" sz="1000" spc="90">
                <a:latin typeface="Times New Roman"/>
                <a:cs typeface="Times New Roman"/>
              </a:rPr>
              <a:t>e</a:t>
            </a:r>
            <a:r>
              <a:rPr dirty="0" baseline="-75757" sz="825" spc="-112">
                <a:latin typeface="Cambria"/>
                <a:cs typeface="Cambria"/>
              </a:rPr>
              <a:t>2</a:t>
            </a:r>
            <a:r>
              <a:rPr dirty="0" sz="1000" spc="55">
                <a:latin typeface="Times New Roman"/>
                <a:cs typeface="Times New Roman"/>
              </a:rPr>
              <a:t>dis</a:t>
            </a:r>
            <a:r>
              <a:rPr dirty="0" sz="1000" spc="5">
                <a:latin typeface="Times New Roman"/>
                <a:cs typeface="Times New Roman"/>
              </a:rPr>
              <a:t>t</a:t>
            </a:r>
            <a:r>
              <a:rPr dirty="0" baseline="-116161" sz="825" spc="-2054">
                <a:latin typeface="Cambria"/>
                <a:cs typeface="Cambria"/>
              </a:rPr>
              <a:t>𝑦</a:t>
            </a:r>
            <a:r>
              <a:rPr dirty="0" baseline="-83333" sz="1050" spc="82">
                <a:latin typeface="Cambria"/>
                <a:cs typeface="Cambria"/>
              </a:rPr>
              <a:t>−</a:t>
            </a:r>
            <a:r>
              <a:rPr dirty="0" baseline="-83333" sz="1050" spc="150">
                <a:latin typeface="Cambria"/>
                <a:cs typeface="Cambria"/>
              </a:rPr>
              <a:t>𝑊</a:t>
            </a:r>
            <a:r>
              <a:rPr dirty="0" sz="1000" spc="-375">
                <a:latin typeface="Times New Roman"/>
                <a:cs typeface="Times New Roman"/>
              </a:rPr>
              <a:t>a</a:t>
            </a:r>
            <a:r>
              <a:rPr dirty="0" baseline="-60606" sz="825" spc="-270">
                <a:latin typeface="Cambria"/>
                <a:cs typeface="Cambria"/>
              </a:rPr>
              <a:t>𝑚</a:t>
            </a:r>
            <a:r>
              <a:rPr dirty="0" baseline="-141414" sz="825" spc="30">
                <a:latin typeface="Cambria"/>
                <a:cs typeface="Cambria"/>
              </a:rPr>
              <a:t>𝑖</a:t>
            </a:r>
            <a:r>
              <a:rPr dirty="0" sz="1000" spc="10">
                <a:latin typeface="Times New Roman"/>
                <a:cs typeface="Times New Roman"/>
              </a:rPr>
              <a:t>n</a:t>
            </a:r>
            <a:r>
              <a:rPr dirty="0" baseline="-83333" sz="1050" spc="-855">
                <a:latin typeface="Cambria"/>
                <a:cs typeface="Cambria"/>
              </a:rPr>
              <a:t>)</a:t>
            </a:r>
            <a:r>
              <a:rPr dirty="0" baseline="-75757" sz="825" spc="82">
                <a:latin typeface="Cambria"/>
                <a:cs typeface="Cambria"/>
              </a:rPr>
              <a:t>2</a:t>
            </a:r>
            <a:r>
              <a:rPr dirty="0" baseline="-75757" sz="825" spc="30">
                <a:latin typeface="Cambria"/>
                <a:cs typeface="Cambria"/>
              </a:rPr>
              <a:t> </a:t>
            </a:r>
            <a:r>
              <a:rPr dirty="0" sz="1000" spc="-165">
                <a:latin typeface="Times New Roman"/>
                <a:cs typeface="Times New Roman"/>
              </a:rPr>
              <a:t>c</a:t>
            </a:r>
            <a:r>
              <a:rPr dirty="0" baseline="-83333" sz="1050" spc="-247">
                <a:latin typeface="Cambria"/>
                <a:cs typeface="Cambria"/>
              </a:rPr>
              <a:t>𝑧</a:t>
            </a:r>
            <a:r>
              <a:rPr dirty="0" sz="1000" spc="-165">
                <a:latin typeface="Times New Roman"/>
                <a:cs typeface="Times New Roman"/>
              </a:rPr>
              <a:t>e</a:t>
            </a:r>
            <a:r>
              <a:rPr dirty="0" baseline="-131313" sz="825" spc="-247">
                <a:latin typeface="Cambria"/>
                <a:cs typeface="Cambria"/>
              </a:rPr>
              <a:t>𝑖</a:t>
            </a:r>
            <a:r>
              <a:rPr dirty="0" baseline="-60606" sz="825" spc="-247">
                <a:latin typeface="Cambria"/>
                <a:cs typeface="Cambria"/>
              </a:rPr>
              <a:t>𝑚</a:t>
            </a:r>
            <a:r>
              <a:rPr dirty="0" sz="1000" spc="-165">
                <a:latin typeface="Times New Roman"/>
                <a:cs typeface="Times New Roman"/>
              </a:rPr>
              <a:t>b</a:t>
            </a:r>
            <a:r>
              <a:rPr dirty="0" baseline="-75757" sz="825" spc="-247">
                <a:latin typeface="Cambria"/>
                <a:cs typeface="Cambria"/>
              </a:rPr>
              <a:t>2</a:t>
            </a:r>
            <a:r>
              <a:rPr dirty="0" baseline="-75757" sz="825" spc="-44">
                <a:latin typeface="Cambria"/>
                <a:cs typeface="Cambria"/>
              </a:rPr>
              <a:t> </a:t>
            </a:r>
            <a:r>
              <a:rPr dirty="0" sz="1000" spc="114">
                <a:latin typeface="Times New Roman"/>
                <a:cs typeface="Times New Roman"/>
              </a:rPr>
              <a:t>et</a:t>
            </a:r>
            <a:r>
              <a:rPr dirty="0" sz="1000" spc="-919">
                <a:latin typeface="Times New Roman"/>
                <a:cs typeface="Times New Roman"/>
              </a:rPr>
              <a:t>w</a:t>
            </a:r>
            <a:r>
              <a:rPr dirty="0" baseline="-86111" sz="1500" spc="172">
                <a:latin typeface="Cambria"/>
                <a:cs typeface="Cambria"/>
              </a:rPr>
              <a:t>=</a:t>
            </a:r>
            <a:r>
              <a:rPr dirty="0" baseline="-86111" sz="1500" spc="202">
                <a:latin typeface="Cambria"/>
                <a:cs typeface="Cambria"/>
              </a:rPr>
              <a:t> </a:t>
            </a:r>
            <a:r>
              <a:rPr dirty="0" sz="1000" spc="80">
                <a:latin typeface="Times New Roman"/>
                <a:cs typeface="Times New Roman"/>
              </a:rPr>
              <a:t>ee</a:t>
            </a:r>
            <a:r>
              <a:rPr dirty="0" sz="1000" spc="-560">
                <a:latin typeface="Times New Roman"/>
                <a:cs typeface="Times New Roman"/>
              </a:rPr>
              <a:t>n</a:t>
            </a:r>
            <a:r>
              <a:rPr dirty="0" baseline="-86111" sz="1500" spc="120">
                <a:latin typeface="Times New Roman"/>
                <a:cs typeface="Times New Roman"/>
              </a:rPr>
              <a:t>i</a:t>
            </a:r>
            <a:r>
              <a:rPr dirty="0" baseline="-86111" sz="1500" spc="-2025">
                <a:latin typeface="Times New Roman"/>
                <a:cs typeface="Times New Roman"/>
              </a:rPr>
              <a:t>s</a:t>
            </a:r>
            <a:r>
              <a:rPr dirty="0" baseline="-86111" sz="1500" spc="120">
                <a:latin typeface="Cambria"/>
                <a:cs typeface="Cambria"/>
              </a:rPr>
              <a:t>1</a:t>
            </a:r>
            <a:endParaRPr baseline="-86111" sz="1500">
              <a:latin typeface="Cambria"/>
              <a:cs typeface="Cambria"/>
            </a:endParaRPr>
          </a:p>
          <a:p>
            <a:pPr>
              <a:lnSpc>
                <a:spcPct val="100000"/>
              </a:lnSpc>
              <a:spcBef>
                <a:spcPts val="380"/>
              </a:spcBef>
            </a:pPr>
            <a:endParaRPr sz="1000">
              <a:latin typeface="Cambria"/>
              <a:cs typeface="Cambria"/>
            </a:endParaRPr>
          </a:p>
          <a:p>
            <a:pPr algn="just" marL="88265" marR="81280">
              <a:lnSpc>
                <a:spcPct val="129500"/>
              </a:lnSpc>
            </a:pPr>
            <a:r>
              <a:rPr dirty="0" sz="1000">
                <a:latin typeface="Times New Roman"/>
                <a:cs typeface="Times New Roman"/>
              </a:rPr>
              <a:t>to</a:t>
            </a:r>
            <a:r>
              <a:rPr dirty="0" sz="1000" spc="140">
                <a:latin typeface="Times New Roman"/>
                <a:cs typeface="Times New Roman"/>
              </a:rPr>
              <a:t> </a:t>
            </a:r>
            <a:r>
              <a:rPr dirty="0" sz="1000">
                <a:latin typeface="Times New Roman"/>
                <a:cs typeface="Times New Roman"/>
              </a:rPr>
              <a:t>constrain</a:t>
            </a:r>
            <a:r>
              <a:rPr dirty="0" sz="1000" spc="155">
                <a:latin typeface="Times New Roman"/>
                <a:cs typeface="Times New Roman"/>
              </a:rPr>
              <a:t> </a:t>
            </a:r>
            <a:r>
              <a:rPr dirty="0" sz="1000">
                <a:latin typeface="Cambria"/>
                <a:cs typeface="Cambria"/>
              </a:rPr>
              <a:t>𝑧</a:t>
            </a:r>
            <a:r>
              <a:rPr dirty="0" baseline="-15873" sz="1050">
                <a:latin typeface="Cambria"/>
                <a:cs typeface="Cambria"/>
              </a:rPr>
              <a:t>𝑖</a:t>
            </a:r>
            <a:r>
              <a:rPr dirty="0" baseline="27777" sz="1050">
                <a:latin typeface="Cambria"/>
                <a:cs typeface="Cambria"/>
              </a:rPr>
              <a:t>𝑚</a:t>
            </a:r>
            <a:r>
              <a:rPr dirty="0" baseline="20202" sz="825">
                <a:latin typeface="Cambria"/>
                <a:cs typeface="Cambria"/>
              </a:rPr>
              <a:t>2</a:t>
            </a:r>
            <a:r>
              <a:rPr dirty="0" baseline="20202" sz="825" spc="359">
                <a:latin typeface="Cambria"/>
                <a:cs typeface="Cambria"/>
              </a:rPr>
              <a:t>  </a:t>
            </a:r>
            <a:r>
              <a:rPr dirty="0" sz="1000" spc="165">
                <a:latin typeface="Cambria"/>
                <a:cs typeface="Cambria"/>
              </a:rPr>
              <a:t>=</a:t>
            </a:r>
            <a:r>
              <a:rPr dirty="0" sz="1000" spc="360">
                <a:latin typeface="Cambria"/>
                <a:cs typeface="Cambria"/>
              </a:rPr>
              <a:t> </a:t>
            </a:r>
            <a:r>
              <a:rPr dirty="0" sz="1000">
                <a:latin typeface="Cambria"/>
                <a:cs typeface="Cambria"/>
              </a:rPr>
              <a:t>0</a:t>
            </a:r>
            <a:r>
              <a:rPr dirty="0" sz="1000" spc="185">
                <a:latin typeface="Cambria"/>
                <a:cs typeface="Cambria"/>
              </a:rPr>
              <a:t> </a:t>
            </a:r>
            <a:r>
              <a:rPr dirty="0" sz="1000">
                <a:latin typeface="Times New Roman"/>
                <a:cs typeface="Times New Roman"/>
              </a:rPr>
              <a:t>.</a:t>
            </a:r>
            <a:r>
              <a:rPr dirty="0" sz="1000" spc="430">
                <a:latin typeface="Times New Roman"/>
                <a:cs typeface="Times New Roman"/>
              </a:rPr>
              <a:t> </a:t>
            </a:r>
            <a:r>
              <a:rPr dirty="0" sz="1000">
                <a:latin typeface="Times New Roman"/>
                <a:cs typeface="Times New Roman"/>
              </a:rPr>
              <a:t>Nevertheless,</a:t>
            </a:r>
            <a:r>
              <a:rPr dirty="0" sz="1000" spc="175">
                <a:latin typeface="Times New Roman"/>
                <a:cs typeface="Times New Roman"/>
              </a:rPr>
              <a:t> </a:t>
            </a:r>
            <a:r>
              <a:rPr dirty="0" sz="1000">
                <a:latin typeface="Times New Roman"/>
                <a:cs typeface="Times New Roman"/>
              </a:rPr>
              <a:t>this</a:t>
            </a:r>
            <a:r>
              <a:rPr dirty="0" sz="1000" spc="150">
                <a:latin typeface="Times New Roman"/>
                <a:cs typeface="Times New Roman"/>
              </a:rPr>
              <a:t> </a:t>
            </a:r>
            <a:r>
              <a:rPr dirty="0" sz="1000">
                <a:latin typeface="Times New Roman"/>
                <a:cs typeface="Times New Roman"/>
              </a:rPr>
              <a:t>indicates</a:t>
            </a:r>
            <a:r>
              <a:rPr dirty="0" sz="1000" spc="145">
                <a:latin typeface="Times New Roman"/>
                <a:cs typeface="Times New Roman"/>
              </a:rPr>
              <a:t> </a:t>
            </a:r>
            <a:r>
              <a:rPr dirty="0" sz="1000">
                <a:latin typeface="Times New Roman"/>
                <a:cs typeface="Times New Roman"/>
              </a:rPr>
              <a:t>that</a:t>
            </a:r>
            <a:r>
              <a:rPr dirty="0" sz="1000" spc="150">
                <a:latin typeface="Times New Roman"/>
                <a:cs typeface="Times New Roman"/>
              </a:rPr>
              <a:t> </a:t>
            </a:r>
            <a:r>
              <a:rPr dirty="0" sz="1000">
                <a:latin typeface="Times New Roman"/>
                <a:cs typeface="Times New Roman"/>
              </a:rPr>
              <a:t>the</a:t>
            </a:r>
            <a:r>
              <a:rPr dirty="0" sz="1000" spc="150">
                <a:latin typeface="Times New Roman"/>
                <a:cs typeface="Times New Roman"/>
              </a:rPr>
              <a:t> </a:t>
            </a:r>
            <a:r>
              <a:rPr dirty="0" sz="1000">
                <a:latin typeface="Times New Roman"/>
                <a:cs typeface="Times New Roman"/>
              </a:rPr>
              <a:t>fusion</a:t>
            </a:r>
            <a:r>
              <a:rPr dirty="0" sz="1000" spc="150">
                <a:latin typeface="Times New Roman"/>
                <a:cs typeface="Times New Roman"/>
              </a:rPr>
              <a:t> </a:t>
            </a:r>
            <a:r>
              <a:rPr dirty="0" sz="1000">
                <a:latin typeface="Times New Roman"/>
                <a:cs typeface="Times New Roman"/>
              </a:rPr>
              <a:t>module</a:t>
            </a:r>
            <a:r>
              <a:rPr dirty="0" sz="1000" spc="155">
                <a:latin typeface="Times New Roman"/>
                <a:cs typeface="Times New Roman"/>
              </a:rPr>
              <a:t> </a:t>
            </a:r>
            <a:r>
              <a:rPr dirty="0" sz="1000">
                <a:latin typeface="Times New Roman"/>
                <a:cs typeface="Times New Roman"/>
              </a:rPr>
              <a:t>entirely</a:t>
            </a:r>
            <a:r>
              <a:rPr dirty="0" sz="1000" spc="145">
                <a:latin typeface="Times New Roman"/>
                <a:cs typeface="Times New Roman"/>
              </a:rPr>
              <a:t> </a:t>
            </a:r>
            <a:r>
              <a:rPr dirty="0" sz="1000">
                <a:latin typeface="Times New Roman"/>
                <a:cs typeface="Times New Roman"/>
              </a:rPr>
              <a:t>neglects</a:t>
            </a:r>
            <a:r>
              <a:rPr dirty="0" sz="1000" spc="150">
                <a:latin typeface="Times New Roman"/>
                <a:cs typeface="Times New Roman"/>
              </a:rPr>
              <a:t> </a:t>
            </a:r>
            <a:r>
              <a:rPr dirty="0" sz="1000">
                <a:latin typeface="Times New Roman"/>
                <a:cs typeface="Times New Roman"/>
              </a:rPr>
              <a:t>the</a:t>
            </a:r>
            <a:r>
              <a:rPr dirty="0" sz="1000" spc="150">
                <a:latin typeface="Times New Roman"/>
                <a:cs typeface="Times New Roman"/>
              </a:rPr>
              <a:t> </a:t>
            </a:r>
            <a:r>
              <a:rPr dirty="0" sz="1000">
                <a:latin typeface="Times New Roman"/>
                <a:cs typeface="Times New Roman"/>
              </a:rPr>
              <a:t>data</a:t>
            </a:r>
            <a:r>
              <a:rPr dirty="0" sz="1000" spc="150">
                <a:latin typeface="Times New Roman"/>
                <a:cs typeface="Times New Roman"/>
              </a:rPr>
              <a:t> </a:t>
            </a:r>
            <a:r>
              <a:rPr dirty="0" sz="1000" spc="-20">
                <a:latin typeface="Times New Roman"/>
                <a:cs typeface="Times New Roman"/>
              </a:rPr>
              <a:t>from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modality</a:t>
            </a:r>
            <a:r>
              <a:rPr dirty="0" sz="1000" spc="60">
                <a:latin typeface="Times New Roman"/>
                <a:cs typeface="Times New Roman"/>
              </a:rPr>
              <a:t> </a:t>
            </a:r>
            <a:r>
              <a:rPr dirty="0" sz="1000" spc="10">
                <a:latin typeface="Cambria"/>
                <a:cs typeface="Cambria"/>
              </a:rPr>
              <a:t>𝑚</a:t>
            </a:r>
            <a:r>
              <a:rPr dirty="0" baseline="-15873" sz="1050" spc="15">
                <a:latin typeface="Cambria"/>
                <a:cs typeface="Cambria"/>
              </a:rPr>
              <a:t>2</a:t>
            </a:r>
            <a:r>
              <a:rPr dirty="0" baseline="-15873" sz="1050" spc="330">
                <a:latin typeface="Cambria"/>
                <a:cs typeface="Cambria"/>
              </a:rPr>
              <a:t> </a:t>
            </a:r>
            <a:r>
              <a:rPr dirty="0" sz="1000" spc="10">
                <a:latin typeface="Times New Roman"/>
                <a:cs typeface="Times New Roman"/>
              </a:rPr>
              <a:t>,</a:t>
            </a:r>
            <a:r>
              <a:rPr dirty="0" sz="1000" spc="65">
                <a:latin typeface="Times New Roman"/>
                <a:cs typeface="Times New Roman"/>
              </a:rPr>
              <a:t> </a:t>
            </a:r>
            <a:r>
              <a:rPr dirty="0" sz="1000" spc="10">
                <a:latin typeface="Times New Roman"/>
                <a:cs typeface="Times New Roman"/>
              </a:rPr>
              <a:t>which</a:t>
            </a:r>
            <a:r>
              <a:rPr dirty="0" sz="1000" spc="65">
                <a:latin typeface="Times New Roman"/>
                <a:cs typeface="Times New Roman"/>
              </a:rPr>
              <a:t> </a:t>
            </a:r>
            <a:r>
              <a:rPr dirty="0" sz="1000" spc="10">
                <a:latin typeface="Times New Roman"/>
                <a:cs typeface="Times New Roman"/>
              </a:rPr>
              <a:t>deviates</a:t>
            </a:r>
            <a:r>
              <a:rPr dirty="0" sz="1000" spc="60">
                <a:latin typeface="Times New Roman"/>
                <a:cs typeface="Times New Roman"/>
              </a:rPr>
              <a:t> </a:t>
            </a:r>
            <a:r>
              <a:rPr dirty="0" sz="1000" spc="10">
                <a:latin typeface="Times New Roman"/>
                <a:cs typeface="Times New Roman"/>
              </a:rPr>
              <a:t>from</a:t>
            </a:r>
            <a:r>
              <a:rPr dirty="0" sz="1000" spc="60">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purpose</a:t>
            </a:r>
            <a:r>
              <a:rPr dirty="0" sz="1000" spc="60">
                <a:latin typeface="Times New Roman"/>
                <a:cs typeface="Times New Roman"/>
              </a:rPr>
              <a:t> </a:t>
            </a:r>
            <a:r>
              <a:rPr dirty="0" sz="1000" spc="10">
                <a:latin typeface="Times New Roman"/>
                <a:cs typeface="Times New Roman"/>
              </a:rPr>
              <a:t>of</a:t>
            </a:r>
            <a:r>
              <a:rPr dirty="0" sz="1000" spc="60">
                <a:latin typeface="Times New Roman"/>
                <a:cs typeface="Times New Roman"/>
              </a:rPr>
              <a:t> </a:t>
            </a:r>
            <a:r>
              <a:rPr dirty="0" sz="1000" spc="10">
                <a:latin typeface="Times New Roman"/>
                <a:cs typeface="Times New Roman"/>
              </a:rPr>
              <a:t>multimodal</a:t>
            </a:r>
            <a:r>
              <a:rPr dirty="0" sz="1000" spc="65">
                <a:latin typeface="Times New Roman"/>
                <a:cs typeface="Times New Roman"/>
              </a:rPr>
              <a:t> </a:t>
            </a:r>
            <a:r>
              <a:rPr dirty="0" sz="1000" spc="10">
                <a:latin typeface="Times New Roman"/>
                <a:cs typeface="Times New Roman"/>
              </a:rPr>
              <a:t>fusion</a:t>
            </a:r>
            <a:r>
              <a:rPr dirty="0" sz="1000" spc="60">
                <a:latin typeface="Times New Roman"/>
                <a:cs typeface="Times New Roman"/>
              </a:rPr>
              <a:t> </a:t>
            </a:r>
            <a:r>
              <a:rPr dirty="0" sz="1000" spc="10">
                <a:latin typeface="Times New Roman"/>
                <a:cs typeface="Times New Roman"/>
              </a:rPr>
              <a:t>to</a:t>
            </a:r>
            <a:r>
              <a:rPr dirty="0" sz="1000" spc="60">
                <a:latin typeface="Times New Roman"/>
                <a:cs typeface="Times New Roman"/>
              </a:rPr>
              <a:t> </a:t>
            </a:r>
            <a:r>
              <a:rPr dirty="0" sz="1000" spc="10">
                <a:latin typeface="Times New Roman"/>
                <a:cs typeface="Times New Roman"/>
              </a:rPr>
              <a:t>integrate</a:t>
            </a:r>
            <a:r>
              <a:rPr dirty="0" sz="1000" spc="60">
                <a:latin typeface="Times New Roman"/>
                <a:cs typeface="Times New Roman"/>
              </a:rPr>
              <a:t> </a:t>
            </a:r>
            <a:r>
              <a:rPr dirty="0" sz="1000" spc="10">
                <a:latin typeface="Times New Roman"/>
                <a:cs typeface="Times New Roman"/>
              </a:rPr>
              <a:t>information</a:t>
            </a:r>
            <a:r>
              <a:rPr dirty="0" sz="1000" spc="60">
                <a:latin typeface="Times New Roman"/>
                <a:cs typeface="Times New Roman"/>
              </a:rPr>
              <a:t> </a:t>
            </a:r>
            <a:r>
              <a:rPr dirty="0" sz="1000" spc="10">
                <a:latin typeface="Times New Roman"/>
                <a:cs typeface="Times New Roman"/>
              </a:rPr>
              <a:t>from</a:t>
            </a:r>
            <a:r>
              <a:rPr dirty="0" sz="1000" spc="55">
                <a:latin typeface="Times New Roman"/>
                <a:cs typeface="Times New Roman"/>
              </a:rPr>
              <a:t> </a:t>
            </a:r>
            <a:r>
              <a:rPr dirty="0" sz="1000" spc="-20">
                <a:latin typeface="Times New Roman"/>
                <a:cs typeface="Times New Roman"/>
              </a:rPr>
              <a:t>mul- </a:t>
            </a:r>
            <a:r>
              <a:rPr dirty="0" sz="1000" spc="10">
                <a:latin typeface="Times New Roman"/>
                <a:cs typeface="Times New Roman"/>
              </a:rPr>
              <a:t>tiple</a:t>
            </a:r>
            <a:r>
              <a:rPr dirty="0" sz="1000" spc="45">
                <a:latin typeface="Times New Roman"/>
                <a:cs typeface="Times New Roman"/>
              </a:rPr>
              <a:t> </a:t>
            </a:r>
            <a:r>
              <a:rPr dirty="0" sz="1000" spc="10">
                <a:latin typeface="Times New Roman"/>
                <a:cs typeface="Times New Roman"/>
              </a:rPr>
              <a:t>sources.</a:t>
            </a:r>
            <a:r>
              <a:rPr dirty="0" sz="1000" spc="155">
                <a:latin typeface="Times New Roman"/>
                <a:cs typeface="Times New Roman"/>
              </a:rPr>
              <a:t> </a:t>
            </a:r>
            <a:r>
              <a:rPr dirty="0" sz="1000" spc="10">
                <a:latin typeface="Times New Roman"/>
                <a:cs typeface="Times New Roman"/>
              </a:rPr>
              <a:t>Therefore,</a:t>
            </a:r>
            <a:r>
              <a:rPr dirty="0" sz="1000" spc="50">
                <a:latin typeface="Times New Roman"/>
                <a:cs typeface="Times New Roman"/>
              </a:rPr>
              <a:t> </a:t>
            </a:r>
            <a:r>
              <a:rPr dirty="0" sz="1000" spc="10">
                <a:latin typeface="Times New Roman"/>
                <a:cs typeface="Times New Roman"/>
              </a:rPr>
              <a:t>there</a:t>
            </a:r>
            <a:r>
              <a:rPr dirty="0" sz="1000" spc="50">
                <a:latin typeface="Times New Roman"/>
                <a:cs typeface="Times New Roman"/>
              </a:rPr>
              <a:t> </a:t>
            </a:r>
            <a:r>
              <a:rPr dirty="0" sz="1000" spc="10">
                <a:latin typeface="Times New Roman"/>
                <a:cs typeface="Times New Roman"/>
              </a:rPr>
              <a:t>is</a:t>
            </a:r>
            <a:r>
              <a:rPr dirty="0" sz="1000" spc="45">
                <a:latin typeface="Times New Roman"/>
                <a:cs typeface="Times New Roman"/>
              </a:rPr>
              <a:t> </a:t>
            </a:r>
            <a:r>
              <a:rPr dirty="0" sz="1000" spc="10">
                <a:latin typeface="Times New Roman"/>
                <a:cs typeface="Times New Roman"/>
              </a:rPr>
              <a:t>an</a:t>
            </a:r>
            <a:r>
              <a:rPr dirty="0" sz="1000" spc="50">
                <a:latin typeface="Times New Roman"/>
                <a:cs typeface="Times New Roman"/>
              </a:rPr>
              <a:t> </a:t>
            </a:r>
            <a:r>
              <a:rPr dirty="0" sz="1000" spc="10">
                <a:latin typeface="Times New Roman"/>
                <a:cs typeface="Times New Roman"/>
              </a:rPr>
              <a:t>optimization</a:t>
            </a:r>
            <a:r>
              <a:rPr dirty="0" sz="1000" spc="45">
                <a:latin typeface="Times New Roman"/>
                <a:cs typeface="Times New Roman"/>
              </a:rPr>
              <a:t> </a:t>
            </a:r>
            <a:r>
              <a:rPr dirty="0" sz="1000" spc="10">
                <a:latin typeface="Times New Roman"/>
                <a:cs typeface="Times New Roman"/>
              </a:rPr>
              <a:t>conflict</a:t>
            </a:r>
            <a:r>
              <a:rPr dirty="0" sz="1000" spc="55">
                <a:latin typeface="Times New Roman"/>
                <a:cs typeface="Times New Roman"/>
              </a:rPr>
              <a:t> </a:t>
            </a:r>
            <a:r>
              <a:rPr dirty="0" sz="1000" spc="10">
                <a:latin typeface="Times New Roman"/>
                <a:cs typeface="Times New Roman"/>
              </a:rPr>
              <a:t>between</a:t>
            </a:r>
            <a:r>
              <a:rPr dirty="0" sz="1000" spc="45">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spc="10">
                <a:latin typeface="Times New Roman"/>
                <a:cs typeface="Times New Roman"/>
              </a:rPr>
              <a:t>modality</a:t>
            </a:r>
            <a:r>
              <a:rPr dirty="0" sz="1000" spc="45">
                <a:latin typeface="Times New Roman"/>
                <a:cs typeface="Times New Roman"/>
              </a:rPr>
              <a:t> </a:t>
            </a:r>
            <a:r>
              <a:rPr dirty="0" sz="1000" spc="10">
                <a:latin typeface="Times New Roman"/>
                <a:cs typeface="Times New Roman"/>
              </a:rPr>
              <a:t>encoder</a:t>
            </a:r>
            <a:r>
              <a:rPr dirty="0" sz="1000" spc="55">
                <a:latin typeface="Times New Roman"/>
                <a:cs typeface="Times New Roman"/>
              </a:rPr>
              <a:t> </a:t>
            </a:r>
            <a:r>
              <a:rPr dirty="0" sz="1000" spc="10">
                <a:latin typeface="Times New Roman"/>
                <a:cs typeface="Times New Roman"/>
              </a:rPr>
              <a:t>and</a:t>
            </a:r>
            <a:r>
              <a:rPr dirty="0" sz="1000" spc="50">
                <a:latin typeface="Times New Roman"/>
                <a:cs typeface="Times New Roman"/>
              </a:rPr>
              <a:t> </a:t>
            </a:r>
            <a:r>
              <a:rPr dirty="0" sz="1000" spc="10">
                <a:latin typeface="Times New Roman"/>
                <a:cs typeface="Times New Roman"/>
              </a:rPr>
              <a:t>modality</a:t>
            </a:r>
            <a:r>
              <a:rPr dirty="0" sz="1000" spc="45">
                <a:latin typeface="Times New Roman"/>
                <a:cs typeface="Times New Roman"/>
              </a:rPr>
              <a:t> </a:t>
            </a:r>
            <a:r>
              <a:rPr dirty="0" sz="1000" spc="-10">
                <a:latin typeface="Times New Roman"/>
                <a:cs typeface="Times New Roman"/>
              </a:rPr>
              <a:t>fusion </a:t>
            </a:r>
            <a:r>
              <a:rPr dirty="0" sz="1000">
                <a:latin typeface="Times New Roman"/>
                <a:cs typeface="Times New Roman"/>
              </a:rPr>
              <a:t>module,</a:t>
            </a:r>
            <a:r>
              <a:rPr dirty="0" sz="1000" spc="114">
                <a:latin typeface="Times New Roman"/>
                <a:cs typeface="Times New Roman"/>
              </a:rPr>
              <a:t> </a:t>
            </a:r>
            <a:r>
              <a:rPr dirty="0" sz="1000">
                <a:latin typeface="Times New Roman"/>
                <a:cs typeface="Times New Roman"/>
              </a:rPr>
              <a:t>which</a:t>
            </a:r>
            <a:r>
              <a:rPr dirty="0" sz="1000" spc="120">
                <a:latin typeface="Times New Roman"/>
                <a:cs typeface="Times New Roman"/>
              </a:rPr>
              <a:t> </a:t>
            </a:r>
            <a:r>
              <a:rPr dirty="0" sz="1000">
                <a:latin typeface="Times New Roman"/>
                <a:cs typeface="Times New Roman"/>
              </a:rPr>
              <a:t>limits</a:t>
            </a:r>
            <a:r>
              <a:rPr dirty="0" sz="1000" spc="120">
                <a:latin typeface="Times New Roman"/>
                <a:cs typeface="Times New Roman"/>
              </a:rPr>
              <a:t> </a:t>
            </a:r>
            <a:r>
              <a:rPr dirty="0" sz="1000">
                <a:latin typeface="Times New Roman"/>
                <a:cs typeface="Times New Roman"/>
              </a:rPr>
              <a:t>the</a:t>
            </a:r>
            <a:r>
              <a:rPr dirty="0" sz="1000" spc="120">
                <a:latin typeface="Times New Roman"/>
                <a:cs typeface="Times New Roman"/>
              </a:rPr>
              <a:t> </a:t>
            </a:r>
            <a:r>
              <a:rPr dirty="0" sz="1000">
                <a:latin typeface="Times New Roman"/>
                <a:cs typeface="Times New Roman"/>
              </a:rPr>
              <a:t>learning</a:t>
            </a:r>
            <a:r>
              <a:rPr dirty="0" sz="1000" spc="120">
                <a:latin typeface="Times New Roman"/>
                <a:cs typeface="Times New Roman"/>
              </a:rPr>
              <a:t> </a:t>
            </a:r>
            <a:r>
              <a:rPr dirty="0" sz="1000">
                <a:latin typeface="Times New Roman"/>
                <a:cs typeface="Times New Roman"/>
              </a:rPr>
              <a:t>of</a:t>
            </a:r>
            <a:r>
              <a:rPr dirty="0" sz="1000" spc="120">
                <a:latin typeface="Times New Roman"/>
                <a:cs typeface="Times New Roman"/>
              </a:rPr>
              <a:t> </a:t>
            </a:r>
            <a:r>
              <a:rPr dirty="0" sz="1000">
                <a:latin typeface="Times New Roman"/>
                <a:cs typeface="Times New Roman"/>
              </a:rPr>
              <a:t>modality</a:t>
            </a:r>
            <a:r>
              <a:rPr dirty="0" sz="1000" spc="114">
                <a:latin typeface="Times New Roman"/>
                <a:cs typeface="Times New Roman"/>
              </a:rPr>
              <a:t> </a:t>
            </a:r>
            <a:r>
              <a:rPr dirty="0" sz="1000" spc="-10">
                <a:latin typeface="Times New Roman"/>
                <a:cs typeface="Times New Roman"/>
              </a:rPr>
              <a:t>encoders.</a:t>
            </a:r>
            <a:endParaRPr sz="1000">
              <a:latin typeface="Times New Roman"/>
              <a:cs typeface="Times New Roman"/>
            </a:endParaRPr>
          </a:p>
        </p:txBody>
      </p:sp>
      <p:grpSp>
        <p:nvGrpSpPr>
          <p:cNvPr id="56" name="object 56" descr=""/>
          <p:cNvGrpSpPr/>
          <p:nvPr/>
        </p:nvGrpSpPr>
        <p:grpSpPr>
          <a:xfrm>
            <a:off x="899998" y="4365626"/>
            <a:ext cx="5760085" cy="1376045"/>
            <a:chOff x="899998" y="4365626"/>
            <a:chExt cx="5760085" cy="1376045"/>
          </a:xfrm>
        </p:grpSpPr>
        <p:sp>
          <p:nvSpPr>
            <p:cNvPr id="57" name="object 57" descr=""/>
            <p:cNvSpPr/>
            <p:nvPr/>
          </p:nvSpPr>
          <p:spPr>
            <a:xfrm>
              <a:off x="899998" y="4365626"/>
              <a:ext cx="5760085" cy="1376045"/>
            </a:xfrm>
            <a:custGeom>
              <a:avLst/>
              <a:gdLst/>
              <a:ahLst/>
              <a:cxnLst/>
              <a:rect l="l" t="t" r="r" b="b"/>
              <a:pathLst>
                <a:path w="5760084" h="1376045">
                  <a:moveTo>
                    <a:pt x="5724074" y="0"/>
                  </a:moveTo>
                  <a:lnTo>
                    <a:pt x="36000" y="0"/>
                  </a:lnTo>
                  <a:lnTo>
                    <a:pt x="21987" y="2829"/>
                  </a:lnTo>
                  <a:lnTo>
                    <a:pt x="10544" y="10544"/>
                  </a:lnTo>
                  <a:lnTo>
                    <a:pt x="2829" y="21987"/>
                  </a:lnTo>
                  <a:lnTo>
                    <a:pt x="0" y="36000"/>
                  </a:lnTo>
                  <a:lnTo>
                    <a:pt x="0" y="1340030"/>
                  </a:lnTo>
                  <a:lnTo>
                    <a:pt x="2829" y="1354043"/>
                  </a:lnTo>
                  <a:lnTo>
                    <a:pt x="10544" y="1365486"/>
                  </a:lnTo>
                  <a:lnTo>
                    <a:pt x="21987" y="1373201"/>
                  </a:lnTo>
                  <a:lnTo>
                    <a:pt x="36000" y="1376030"/>
                  </a:lnTo>
                  <a:lnTo>
                    <a:pt x="5724074" y="1376030"/>
                  </a:lnTo>
                  <a:lnTo>
                    <a:pt x="5738087" y="1373201"/>
                  </a:lnTo>
                  <a:lnTo>
                    <a:pt x="5749530" y="1365486"/>
                  </a:lnTo>
                  <a:lnTo>
                    <a:pt x="5757245" y="1354043"/>
                  </a:lnTo>
                  <a:lnTo>
                    <a:pt x="5760074" y="134003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58" name="object 58" descr=""/>
            <p:cNvSpPr/>
            <p:nvPr/>
          </p:nvSpPr>
          <p:spPr>
            <a:xfrm>
              <a:off x="899998" y="4365626"/>
              <a:ext cx="5760085" cy="1376045"/>
            </a:xfrm>
            <a:custGeom>
              <a:avLst/>
              <a:gdLst/>
              <a:ahLst/>
              <a:cxnLst/>
              <a:rect l="l" t="t" r="r" b="b"/>
              <a:pathLst>
                <a:path w="5760084" h="1376045">
                  <a:moveTo>
                    <a:pt x="5724074" y="0"/>
                  </a:moveTo>
                  <a:lnTo>
                    <a:pt x="36000" y="0"/>
                  </a:lnTo>
                  <a:lnTo>
                    <a:pt x="21987" y="2829"/>
                  </a:lnTo>
                  <a:lnTo>
                    <a:pt x="10544" y="10544"/>
                  </a:lnTo>
                  <a:lnTo>
                    <a:pt x="2829" y="21987"/>
                  </a:lnTo>
                  <a:lnTo>
                    <a:pt x="0" y="36000"/>
                  </a:lnTo>
                  <a:lnTo>
                    <a:pt x="0" y="1340030"/>
                  </a:lnTo>
                  <a:lnTo>
                    <a:pt x="2829" y="1354043"/>
                  </a:lnTo>
                  <a:lnTo>
                    <a:pt x="10544" y="1365486"/>
                  </a:lnTo>
                  <a:lnTo>
                    <a:pt x="21987" y="1373201"/>
                  </a:lnTo>
                  <a:lnTo>
                    <a:pt x="36000" y="1376030"/>
                  </a:lnTo>
                  <a:lnTo>
                    <a:pt x="5724074" y="1376030"/>
                  </a:lnTo>
                  <a:lnTo>
                    <a:pt x="5738087" y="1373201"/>
                  </a:lnTo>
                  <a:lnTo>
                    <a:pt x="5749530" y="1365486"/>
                  </a:lnTo>
                  <a:lnTo>
                    <a:pt x="5757245" y="1354043"/>
                  </a:lnTo>
                  <a:lnTo>
                    <a:pt x="5760074" y="134003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9" name="object 59" descr=""/>
          <p:cNvSpPr txBox="1"/>
          <p:nvPr/>
        </p:nvSpPr>
        <p:spPr>
          <a:xfrm>
            <a:off x="1067295" y="4497151"/>
            <a:ext cx="3066415" cy="177800"/>
          </a:xfrm>
          <a:prstGeom prst="rect">
            <a:avLst/>
          </a:prstGeom>
        </p:spPr>
        <p:txBody>
          <a:bodyPr wrap="square" lIns="0" tIns="12065" rIns="0" bIns="0" rtlCol="0" vert="horz">
            <a:spAutoFit/>
          </a:bodyPr>
          <a:lstStyle/>
          <a:p>
            <a:pPr marL="12700">
              <a:lnSpc>
                <a:spcPct val="100000"/>
              </a:lnSpc>
              <a:spcBef>
                <a:spcPts val="95"/>
              </a:spcBef>
            </a:pPr>
            <a:r>
              <a:rPr dirty="0" sz="1000" spc="-20">
                <a:latin typeface="SimSun"/>
                <a:cs typeface="SimSun"/>
              </a:rPr>
              <a:t>为确保多模态模型中模态编码器的优化，我们应约束 </a:t>
            </a:r>
            <a:r>
              <a:rPr dirty="0" sz="1000" spc="-50">
                <a:latin typeface="Cambria"/>
                <a:cs typeface="Cambria"/>
              </a:rPr>
              <a:t>𝑒</a:t>
            </a:r>
            <a:endParaRPr sz="1000">
              <a:latin typeface="Cambria"/>
              <a:cs typeface="Cambria"/>
            </a:endParaRPr>
          </a:p>
        </p:txBody>
      </p:sp>
      <p:sp>
        <p:nvSpPr>
          <p:cNvPr id="60" name="object 60" descr=""/>
          <p:cNvSpPr txBox="1"/>
          <p:nvPr/>
        </p:nvSpPr>
        <p:spPr>
          <a:xfrm>
            <a:off x="4246295" y="4431709"/>
            <a:ext cx="99060" cy="109220"/>
          </a:xfrm>
          <a:prstGeom prst="rect">
            <a:avLst/>
          </a:prstGeom>
        </p:spPr>
        <p:txBody>
          <a:bodyPr wrap="square" lIns="0" tIns="12065" rIns="0" bIns="0" rtlCol="0" vert="horz">
            <a:spAutoFit/>
          </a:bodyPr>
          <a:lstStyle/>
          <a:p>
            <a:pPr marL="12700">
              <a:lnSpc>
                <a:spcPct val="100000"/>
              </a:lnSpc>
              <a:spcBef>
                <a:spcPts val="95"/>
              </a:spcBef>
            </a:pPr>
            <a:r>
              <a:rPr dirty="0" sz="550" spc="60">
                <a:latin typeface="Cambria"/>
                <a:cs typeface="Cambria"/>
              </a:rPr>
              <a:t>𝑚</a:t>
            </a:r>
            <a:endParaRPr sz="550">
              <a:latin typeface="Cambria"/>
              <a:cs typeface="Cambria"/>
            </a:endParaRPr>
          </a:p>
        </p:txBody>
      </p:sp>
      <p:sp>
        <p:nvSpPr>
          <p:cNvPr id="61" name="object 61" descr=""/>
          <p:cNvSpPr txBox="1"/>
          <p:nvPr/>
        </p:nvSpPr>
        <p:spPr>
          <a:xfrm>
            <a:off x="4319435" y="4454315"/>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2</a:t>
            </a:r>
            <a:endParaRPr sz="550">
              <a:latin typeface="Cambria"/>
              <a:cs typeface="Cambria"/>
            </a:endParaRPr>
          </a:p>
        </p:txBody>
      </p:sp>
      <p:sp>
        <p:nvSpPr>
          <p:cNvPr id="62" name="object 62" descr=""/>
          <p:cNvSpPr txBox="1"/>
          <p:nvPr/>
        </p:nvSpPr>
        <p:spPr>
          <a:xfrm>
            <a:off x="4530674" y="4505877"/>
            <a:ext cx="5841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𝑦</a:t>
            </a:r>
            <a:endParaRPr sz="550">
              <a:latin typeface="Cambria"/>
              <a:cs typeface="Cambria"/>
            </a:endParaRPr>
          </a:p>
        </p:txBody>
      </p:sp>
      <p:sp>
        <p:nvSpPr>
          <p:cNvPr id="63" name="object 63" descr=""/>
          <p:cNvSpPr txBox="1"/>
          <p:nvPr/>
        </p:nvSpPr>
        <p:spPr>
          <a:xfrm>
            <a:off x="4108310" y="4470060"/>
            <a:ext cx="671195" cy="132080"/>
          </a:xfrm>
          <a:prstGeom prst="rect">
            <a:avLst/>
          </a:prstGeom>
        </p:spPr>
        <p:txBody>
          <a:bodyPr wrap="square" lIns="0" tIns="12065" rIns="0" bIns="0" rtlCol="0" vert="horz">
            <a:spAutoFit/>
          </a:bodyPr>
          <a:lstStyle/>
          <a:p>
            <a:pPr marL="12700">
              <a:lnSpc>
                <a:spcPct val="100000"/>
              </a:lnSpc>
              <a:spcBef>
                <a:spcPts val="95"/>
              </a:spcBef>
              <a:tabLst>
                <a:tab pos="274955" algn="l"/>
                <a:tab pos="568325" algn="l"/>
              </a:tabLst>
            </a:pPr>
            <a:r>
              <a:rPr dirty="0" sz="700" spc="-25">
                <a:latin typeface="Cambria"/>
                <a:cs typeface="Cambria"/>
              </a:rPr>
              <a:t>(𝑊</a:t>
            </a:r>
            <a:r>
              <a:rPr dirty="0" sz="700">
                <a:latin typeface="Cambria"/>
                <a:cs typeface="Cambria"/>
              </a:rPr>
              <a:t>	</a:t>
            </a:r>
            <a:r>
              <a:rPr dirty="0" sz="700" spc="70">
                <a:latin typeface="Cambria"/>
                <a:cs typeface="Cambria"/>
              </a:rPr>
              <a:t>−𝑊</a:t>
            </a:r>
            <a:r>
              <a:rPr dirty="0" sz="700">
                <a:latin typeface="Cambria"/>
                <a:cs typeface="Cambria"/>
              </a:rPr>
              <a:t>	</a:t>
            </a:r>
            <a:r>
              <a:rPr dirty="0" sz="700" spc="25">
                <a:latin typeface="Cambria"/>
                <a:cs typeface="Cambria"/>
              </a:rPr>
              <a:t>)𝑧</a:t>
            </a:r>
            <a:endParaRPr sz="700">
              <a:latin typeface="Cambria"/>
              <a:cs typeface="Cambria"/>
            </a:endParaRPr>
          </a:p>
        </p:txBody>
      </p:sp>
      <p:sp>
        <p:nvSpPr>
          <p:cNvPr id="64" name="object 64" descr=""/>
          <p:cNvSpPr txBox="1"/>
          <p:nvPr/>
        </p:nvSpPr>
        <p:spPr>
          <a:xfrm>
            <a:off x="4539538" y="4431709"/>
            <a:ext cx="313690" cy="109220"/>
          </a:xfrm>
          <a:prstGeom prst="rect">
            <a:avLst/>
          </a:prstGeom>
        </p:spPr>
        <p:txBody>
          <a:bodyPr wrap="square" lIns="0" tIns="12065" rIns="0" bIns="0" rtlCol="0" vert="horz">
            <a:spAutoFit/>
          </a:bodyPr>
          <a:lstStyle/>
          <a:p>
            <a:pPr marL="12700">
              <a:lnSpc>
                <a:spcPct val="100000"/>
              </a:lnSpc>
              <a:spcBef>
                <a:spcPts val="95"/>
              </a:spcBef>
              <a:tabLst>
                <a:tab pos="227329" algn="l"/>
              </a:tabLst>
            </a:pPr>
            <a:r>
              <a:rPr dirty="0" sz="550" spc="60">
                <a:latin typeface="Cambria"/>
                <a:cs typeface="Cambria"/>
              </a:rPr>
              <a:t>𝑚</a:t>
            </a:r>
            <a:r>
              <a:rPr dirty="0" sz="550">
                <a:latin typeface="Cambria"/>
                <a:cs typeface="Cambria"/>
              </a:rPr>
              <a:t>	</a:t>
            </a:r>
            <a:r>
              <a:rPr dirty="0" sz="550" spc="60">
                <a:latin typeface="Cambria"/>
                <a:cs typeface="Cambria"/>
              </a:rPr>
              <a:t>𝑚</a:t>
            </a:r>
            <a:endParaRPr sz="550">
              <a:latin typeface="Cambria"/>
              <a:cs typeface="Cambria"/>
            </a:endParaRPr>
          </a:p>
        </p:txBody>
      </p:sp>
      <p:sp>
        <p:nvSpPr>
          <p:cNvPr id="65" name="object 65" descr=""/>
          <p:cNvSpPr txBox="1"/>
          <p:nvPr/>
        </p:nvSpPr>
        <p:spPr>
          <a:xfrm>
            <a:off x="4612678" y="4454315"/>
            <a:ext cx="280035" cy="109220"/>
          </a:xfrm>
          <a:prstGeom prst="rect">
            <a:avLst/>
          </a:prstGeom>
        </p:spPr>
        <p:txBody>
          <a:bodyPr wrap="square" lIns="0" tIns="12065" rIns="0" bIns="0" rtlCol="0" vert="horz">
            <a:spAutoFit/>
          </a:bodyPr>
          <a:lstStyle/>
          <a:p>
            <a:pPr marL="12700">
              <a:lnSpc>
                <a:spcPct val="100000"/>
              </a:lnSpc>
              <a:spcBef>
                <a:spcPts val="95"/>
              </a:spcBef>
              <a:tabLst>
                <a:tab pos="227329" algn="l"/>
              </a:tabLst>
            </a:pPr>
            <a:r>
              <a:rPr dirty="0" sz="550" spc="-50">
                <a:latin typeface="Cambria"/>
                <a:cs typeface="Cambria"/>
              </a:rPr>
              <a:t>2</a:t>
            </a:r>
            <a:r>
              <a:rPr dirty="0" sz="550">
                <a:latin typeface="Cambria"/>
                <a:cs typeface="Cambria"/>
              </a:rPr>
              <a:t>	</a:t>
            </a:r>
            <a:r>
              <a:rPr dirty="0" sz="550" spc="-50">
                <a:latin typeface="Cambria"/>
                <a:cs typeface="Cambria"/>
              </a:rPr>
              <a:t>2</a:t>
            </a:r>
            <a:endParaRPr sz="550">
              <a:latin typeface="Cambria"/>
              <a:cs typeface="Cambria"/>
            </a:endParaRPr>
          </a:p>
        </p:txBody>
      </p:sp>
      <p:sp>
        <p:nvSpPr>
          <p:cNvPr id="66" name="object 66" descr=""/>
          <p:cNvSpPr txBox="1"/>
          <p:nvPr/>
        </p:nvSpPr>
        <p:spPr>
          <a:xfrm>
            <a:off x="4212044" y="4533716"/>
            <a:ext cx="618490" cy="109220"/>
          </a:xfrm>
          <a:prstGeom prst="rect">
            <a:avLst/>
          </a:prstGeom>
        </p:spPr>
        <p:txBody>
          <a:bodyPr wrap="square" lIns="0" tIns="12065" rIns="0" bIns="0" rtlCol="0" vert="horz">
            <a:spAutoFit/>
          </a:bodyPr>
          <a:lstStyle/>
          <a:p>
            <a:pPr marL="38100">
              <a:lnSpc>
                <a:spcPct val="100000"/>
              </a:lnSpc>
              <a:spcBef>
                <a:spcPts val="95"/>
              </a:spcBef>
              <a:tabLst>
                <a:tab pos="376555" algn="l"/>
                <a:tab pos="554355" algn="l"/>
              </a:tabLst>
            </a:pPr>
            <a:r>
              <a:rPr dirty="0" baseline="10101" sz="825" spc="37">
                <a:latin typeface="Cambria"/>
                <a:cs typeface="Cambria"/>
              </a:rPr>
              <a:t>𝑘</a:t>
            </a:r>
            <a:r>
              <a:rPr dirty="0" baseline="10101" sz="825">
                <a:latin typeface="Cambria"/>
                <a:cs typeface="Cambria"/>
              </a:rPr>
              <a:t>	</a:t>
            </a:r>
            <a:r>
              <a:rPr dirty="0" sz="550" spc="-50">
                <a:latin typeface="Cambria"/>
                <a:cs typeface="Cambria"/>
              </a:rPr>
              <a:t>𝑖</a:t>
            </a:r>
            <a:r>
              <a:rPr dirty="0" sz="550">
                <a:latin typeface="Cambria"/>
                <a:cs typeface="Cambria"/>
              </a:rPr>
              <a:t>	</a:t>
            </a:r>
            <a:r>
              <a:rPr dirty="0" baseline="10101" sz="825" spc="-75">
                <a:latin typeface="Cambria"/>
                <a:cs typeface="Cambria"/>
              </a:rPr>
              <a:t>𝑖</a:t>
            </a:r>
            <a:endParaRPr baseline="10101" sz="825">
              <a:latin typeface="Cambria"/>
              <a:cs typeface="Cambria"/>
            </a:endParaRPr>
          </a:p>
        </p:txBody>
      </p:sp>
      <p:sp>
        <p:nvSpPr>
          <p:cNvPr id="67" name="object 67" descr=""/>
          <p:cNvSpPr txBox="1"/>
          <p:nvPr/>
        </p:nvSpPr>
        <p:spPr>
          <a:xfrm>
            <a:off x="4936147" y="4497151"/>
            <a:ext cx="749300" cy="177800"/>
          </a:xfrm>
          <a:prstGeom prst="rect">
            <a:avLst/>
          </a:prstGeom>
        </p:spPr>
        <p:txBody>
          <a:bodyPr wrap="square" lIns="0" tIns="12065" rIns="0" bIns="0" rtlCol="0" vert="horz">
            <a:spAutoFit/>
          </a:bodyPr>
          <a:lstStyle/>
          <a:p>
            <a:pPr marL="12700">
              <a:lnSpc>
                <a:spcPct val="100000"/>
              </a:lnSpc>
              <a:spcBef>
                <a:spcPts val="95"/>
              </a:spcBef>
            </a:pPr>
            <a:r>
              <a:rPr dirty="0" sz="1000" spc="150">
                <a:latin typeface="Cambria"/>
                <a:cs typeface="Cambria"/>
              </a:rPr>
              <a:t>= </a:t>
            </a:r>
            <a:r>
              <a:rPr dirty="0" sz="1000">
                <a:latin typeface="Cambria"/>
                <a:cs typeface="Cambria"/>
              </a:rPr>
              <a:t>1</a:t>
            </a:r>
            <a:r>
              <a:rPr dirty="0" sz="1000" spc="45">
                <a:latin typeface="Cambria"/>
                <a:cs typeface="Cambria"/>
              </a:rPr>
              <a:t> </a:t>
            </a:r>
            <a:r>
              <a:rPr dirty="0" sz="1000" spc="-60">
                <a:latin typeface="SimSun"/>
                <a:cs typeface="SimSun"/>
              </a:rPr>
              <a:t>，以便 </a:t>
            </a:r>
            <a:r>
              <a:rPr dirty="0" sz="1000" spc="-50">
                <a:latin typeface="Cambria"/>
                <a:cs typeface="Cambria"/>
              </a:rPr>
              <a:t>𝑔</a:t>
            </a:r>
            <a:endParaRPr sz="1000">
              <a:latin typeface="Cambria"/>
              <a:cs typeface="Cambria"/>
            </a:endParaRPr>
          </a:p>
        </p:txBody>
      </p:sp>
      <p:sp>
        <p:nvSpPr>
          <p:cNvPr id="68" name="object 68" descr=""/>
          <p:cNvSpPr txBox="1"/>
          <p:nvPr/>
        </p:nvSpPr>
        <p:spPr>
          <a:xfrm>
            <a:off x="5659907" y="4573488"/>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69" name="object 69" descr=""/>
          <p:cNvSpPr txBox="1"/>
          <p:nvPr/>
        </p:nvSpPr>
        <p:spPr>
          <a:xfrm>
            <a:off x="5680722" y="4486138"/>
            <a:ext cx="708025" cy="132080"/>
          </a:xfrm>
          <a:prstGeom prst="rect">
            <a:avLst/>
          </a:prstGeom>
        </p:spPr>
        <p:txBody>
          <a:bodyPr wrap="square" lIns="0" tIns="12065" rIns="0" bIns="0" rtlCol="0" vert="horz">
            <a:spAutoFit/>
          </a:bodyPr>
          <a:lstStyle/>
          <a:p>
            <a:pPr marL="12700">
              <a:lnSpc>
                <a:spcPct val="100000"/>
              </a:lnSpc>
              <a:spcBef>
                <a:spcPts val="95"/>
              </a:spcBef>
              <a:tabLst>
                <a:tab pos="523875" algn="l"/>
              </a:tabLst>
            </a:pPr>
            <a:r>
              <a:rPr dirty="0" sz="700" spc="-10">
                <a:latin typeface="Times New Roman"/>
                <a:cs typeface="Times New Roman"/>
              </a:rPr>
              <a:t>Multi</a:t>
            </a:r>
            <a:r>
              <a:rPr dirty="0" sz="700">
                <a:latin typeface="Times New Roman"/>
                <a:cs typeface="Times New Roman"/>
              </a:rPr>
              <a:t>	</a:t>
            </a:r>
            <a:r>
              <a:rPr dirty="0" sz="700" spc="-20">
                <a:latin typeface="Times New Roman"/>
                <a:cs typeface="Times New Roman"/>
              </a:rPr>
              <a:t>Unit</a:t>
            </a:r>
            <a:endParaRPr sz="700">
              <a:latin typeface="Times New Roman"/>
              <a:cs typeface="Times New Roman"/>
            </a:endParaRPr>
          </a:p>
        </p:txBody>
      </p:sp>
      <p:sp>
        <p:nvSpPr>
          <p:cNvPr id="70" name="object 70" descr=""/>
          <p:cNvSpPr txBox="1"/>
          <p:nvPr/>
        </p:nvSpPr>
        <p:spPr>
          <a:xfrm>
            <a:off x="6171501" y="4573488"/>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71" name="object 71" descr=""/>
          <p:cNvSpPr txBox="1"/>
          <p:nvPr/>
        </p:nvSpPr>
        <p:spPr>
          <a:xfrm>
            <a:off x="5712066" y="4611071"/>
            <a:ext cx="576580" cy="109220"/>
          </a:xfrm>
          <a:prstGeom prst="rect">
            <a:avLst/>
          </a:prstGeom>
        </p:spPr>
        <p:txBody>
          <a:bodyPr wrap="square" lIns="0" tIns="12065" rIns="0" bIns="0" rtlCol="0" vert="horz">
            <a:spAutoFit/>
          </a:bodyPr>
          <a:lstStyle/>
          <a:p>
            <a:pPr marL="12700">
              <a:lnSpc>
                <a:spcPct val="100000"/>
              </a:lnSpc>
              <a:spcBef>
                <a:spcPts val="95"/>
              </a:spcBef>
              <a:tabLst>
                <a:tab pos="523875" algn="l"/>
              </a:tabLst>
            </a:pPr>
            <a:r>
              <a:rPr dirty="0" sz="550" spc="-50">
                <a:latin typeface="Cambria"/>
                <a:cs typeface="Cambria"/>
              </a:rPr>
              <a:t>1</a:t>
            </a:r>
            <a:r>
              <a:rPr dirty="0" sz="550">
                <a:latin typeface="Cambria"/>
                <a:cs typeface="Cambria"/>
              </a:rPr>
              <a:t>	</a:t>
            </a:r>
            <a:r>
              <a:rPr dirty="0" sz="550" spc="-50">
                <a:latin typeface="Cambria"/>
                <a:cs typeface="Cambria"/>
              </a:rPr>
              <a:t>1</a:t>
            </a:r>
            <a:endParaRPr sz="550">
              <a:latin typeface="Cambria"/>
              <a:cs typeface="Cambria"/>
            </a:endParaRPr>
          </a:p>
        </p:txBody>
      </p:sp>
      <p:sp>
        <p:nvSpPr>
          <p:cNvPr id="72" name="object 72" descr=""/>
          <p:cNvSpPr txBox="1"/>
          <p:nvPr/>
        </p:nvSpPr>
        <p:spPr>
          <a:xfrm>
            <a:off x="5966294" y="4497151"/>
            <a:ext cx="612140" cy="177800"/>
          </a:xfrm>
          <a:prstGeom prst="rect">
            <a:avLst/>
          </a:prstGeom>
        </p:spPr>
        <p:txBody>
          <a:bodyPr wrap="square" lIns="0" tIns="12065" rIns="0" bIns="0" rtlCol="0" vert="horz">
            <a:spAutoFit/>
          </a:bodyPr>
          <a:lstStyle/>
          <a:p>
            <a:pPr marL="12700">
              <a:lnSpc>
                <a:spcPct val="100000"/>
              </a:lnSpc>
              <a:spcBef>
                <a:spcPts val="95"/>
              </a:spcBef>
              <a:tabLst>
                <a:tab pos="472440" algn="l"/>
              </a:tabLst>
            </a:pPr>
            <a:r>
              <a:rPr dirty="0" sz="1000" spc="170">
                <a:latin typeface="Cambria"/>
                <a:cs typeface="Cambria"/>
              </a:rPr>
              <a:t>= </a:t>
            </a:r>
            <a:r>
              <a:rPr dirty="0" sz="1000" spc="-50">
                <a:latin typeface="Cambria"/>
                <a:cs typeface="Cambria"/>
              </a:rPr>
              <a:t>𝑔</a:t>
            </a:r>
            <a:r>
              <a:rPr dirty="0" sz="1000">
                <a:latin typeface="Cambria"/>
                <a:cs typeface="Cambria"/>
              </a:rPr>
              <a:t>	</a:t>
            </a:r>
            <a:r>
              <a:rPr dirty="0" sz="1000" spc="-50">
                <a:latin typeface="SimSun"/>
                <a:cs typeface="SimSun"/>
              </a:rPr>
              <a:t>。</a:t>
            </a:r>
            <a:endParaRPr sz="1000">
              <a:latin typeface="SimSun"/>
              <a:cs typeface="SimSun"/>
            </a:endParaRPr>
          </a:p>
        </p:txBody>
      </p:sp>
      <p:sp>
        <p:nvSpPr>
          <p:cNvPr id="73" name="object 73" descr=""/>
          <p:cNvSpPr txBox="1"/>
          <p:nvPr/>
        </p:nvSpPr>
        <p:spPr>
          <a:xfrm>
            <a:off x="1067295" y="4694535"/>
            <a:ext cx="5511165" cy="177800"/>
          </a:xfrm>
          <a:prstGeom prst="rect">
            <a:avLst/>
          </a:prstGeom>
        </p:spPr>
        <p:txBody>
          <a:bodyPr wrap="square" lIns="0" tIns="12065" rIns="0" bIns="0" rtlCol="0" vert="horz">
            <a:spAutoFit/>
          </a:bodyPr>
          <a:lstStyle/>
          <a:p>
            <a:pPr marL="12700">
              <a:lnSpc>
                <a:spcPct val="100000"/>
              </a:lnSpc>
              <a:spcBef>
                <a:spcPts val="95"/>
              </a:spcBef>
            </a:pPr>
            <a:r>
              <a:rPr dirty="0" sz="1000" spc="100">
                <a:latin typeface="SimSun"/>
                <a:cs typeface="SimSun"/>
              </a:rPr>
              <a:t>由于</a:t>
            </a:r>
            <a:r>
              <a:rPr dirty="0" sz="1000">
                <a:latin typeface="Cambria"/>
                <a:cs typeface="Cambria"/>
              </a:rPr>
              <a:t>𝑊</a:t>
            </a:r>
            <a:r>
              <a:rPr dirty="0" sz="1000" spc="50">
                <a:latin typeface="Cambria"/>
                <a:cs typeface="Cambria"/>
              </a:rPr>
              <a:t> </a:t>
            </a:r>
            <a:r>
              <a:rPr dirty="0" sz="1000" spc="-25">
                <a:latin typeface="SimSun"/>
                <a:cs typeface="SimSun"/>
              </a:rPr>
              <a:t>的每一行都是不同类型的类中心向量，交叉熵损失将约束它们彼此远离以实现良好的区分。</a:t>
            </a:r>
            <a:endParaRPr sz="1000">
              <a:latin typeface="SimSun"/>
              <a:cs typeface="SimSun"/>
            </a:endParaRPr>
          </a:p>
        </p:txBody>
      </p:sp>
      <p:sp>
        <p:nvSpPr>
          <p:cNvPr id="74" name="object 74" descr=""/>
          <p:cNvSpPr txBox="1"/>
          <p:nvPr/>
        </p:nvSpPr>
        <p:spPr>
          <a:xfrm>
            <a:off x="1600072" y="4966833"/>
            <a:ext cx="67310"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𝑘</a:t>
            </a:r>
            <a:endParaRPr sz="700">
              <a:latin typeface="Cambria"/>
              <a:cs typeface="Cambria"/>
            </a:endParaRPr>
          </a:p>
        </p:txBody>
      </p:sp>
      <p:sp>
        <p:nvSpPr>
          <p:cNvPr id="75" name="object 75" descr=""/>
          <p:cNvSpPr txBox="1"/>
          <p:nvPr/>
        </p:nvSpPr>
        <p:spPr>
          <a:xfrm>
            <a:off x="1621078" y="4863188"/>
            <a:ext cx="561975" cy="132080"/>
          </a:xfrm>
          <a:prstGeom prst="rect">
            <a:avLst/>
          </a:prstGeom>
        </p:spPr>
        <p:txBody>
          <a:bodyPr wrap="square" lIns="0" tIns="12065" rIns="0" bIns="0" rtlCol="0" vert="horz">
            <a:spAutoFit/>
          </a:bodyPr>
          <a:lstStyle/>
          <a:p>
            <a:pPr marL="12700">
              <a:lnSpc>
                <a:spcPct val="100000"/>
              </a:lnSpc>
              <a:spcBef>
                <a:spcPts val="95"/>
              </a:spcBef>
              <a:tabLst>
                <a:tab pos="476884" algn="l"/>
              </a:tabLst>
            </a:pPr>
            <a:r>
              <a:rPr dirty="0" sz="700" spc="25">
                <a:latin typeface="Cambria"/>
                <a:cs typeface="Cambria"/>
              </a:rPr>
              <a:t>𝑚</a:t>
            </a:r>
            <a:r>
              <a:rPr dirty="0" sz="700">
                <a:latin typeface="Cambria"/>
                <a:cs typeface="Cambria"/>
              </a:rPr>
              <a:t>	</a:t>
            </a:r>
            <a:r>
              <a:rPr dirty="0" sz="700" spc="-415">
                <a:latin typeface="Cambria"/>
                <a:cs typeface="Cambria"/>
              </a:rPr>
              <a:t>𝑚</a:t>
            </a:r>
            <a:endParaRPr sz="700">
              <a:latin typeface="Cambria"/>
              <a:cs typeface="Cambria"/>
            </a:endParaRPr>
          </a:p>
        </p:txBody>
      </p:sp>
      <p:sp>
        <p:nvSpPr>
          <p:cNvPr id="76" name="object 76" descr=""/>
          <p:cNvSpPr txBox="1"/>
          <p:nvPr/>
        </p:nvSpPr>
        <p:spPr>
          <a:xfrm>
            <a:off x="1705482" y="4900771"/>
            <a:ext cx="529590" cy="109220"/>
          </a:xfrm>
          <a:prstGeom prst="rect">
            <a:avLst/>
          </a:prstGeom>
        </p:spPr>
        <p:txBody>
          <a:bodyPr wrap="square" lIns="0" tIns="12065" rIns="0" bIns="0" rtlCol="0" vert="horz">
            <a:spAutoFit/>
          </a:bodyPr>
          <a:lstStyle/>
          <a:p>
            <a:pPr marL="12700">
              <a:lnSpc>
                <a:spcPct val="100000"/>
              </a:lnSpc>
              <a:spcBef>
                <a:spcPts val="95"/>
              </a:spcBef>
              <a:tabLst>
                <a:tab pos="476884" algn="l"/>
              </a:tabLst>
            </a:pPr>
            <a:r>
              <a:rPr dirty="0" sz="550" spc="-50">
                <a:latin typeface="Cambria"/>
                <a:cs typeface="Cambria"/>
              </a:rPr>
              <a:t>2</a:t>
            </a:r>
            <a:r>
              <a:rPr dirty="0" sz="550">
                <a:latin typeface="Cambria"/>
                <a:cs typeface="Cambria"/>
              </a:rPr>
              <a:t>	</a:t>
            </a:r>
            <a:r>
              <a:rPr dirty="0" sz="550" spc="-50">
                <a:latin typeface="Cambria"/>
                <a:cs typeface="Cambria"/>
              </a:rPr>
              <a:t>2</a:t>
            </a:r>
            <a:endParaRPr sz="550">
              <a:latin typeface="Cambria"/>
              <a:cs typeface="Cambria"/>
            </a:endParaRPr>
          </a:p>
        </p:txBody>
      </p:sp>
      <p:sp>
        <p:nvSpPr>
          <p:cNvPr id="77" name="object 77" descr=""/>
          <p:cNvSpPr txBox="1"/>
          <p:nvPr/>
        </p:nvSpPr>
        <p:spPr>
          <a:xfrm>
            <a:off x="2062873" y="4946729"/>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𝑦</a:t>
            </a:r>
            <a:endParaRPr sz="700">
              <a:latin typeface="Cambria"/>
              <a:cs typeface="Cambria"/>
            </a:endParaRPr>
          </a:p>
        </p:txBody>
      </p:sp>
      <p:sp>
        <p:nvSpPr>
          <p:cNvPr id="78" name="object 78" descr=""/>
          <p:cNvSpPr txBox="1"/>
          <p:nvPr/>
        </p:nvSpPr>
        <p:spPr>
          <a:xfrm>
            <a:off x="2115032" y="4986559"/>
            <a:ext cx="5080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𝑖</a:t>
            </a:r>
            <a:endParaRPr sz="550">
              <a:latin typeface="Cambria"/>
              <a:cs typeface="Cambria"/>
            </a:endParaRPr>
          </a:p>
        </p:txBody>
      </p:sp>
      <p:sp>
        <p:nvSpPr>
          <p:cNvPr id="79" name="object 79" descr=""/>
          <p:cNvSpPr txBox="1"/>
          <p:nvPr/>
        </p:nvSpPr>
        <p:spPr>
          <a:xfrm>
            <a:off x="1067295" y="4893429"/>
            <a:ext cx="3405504" cy="177800"/>
          </a:xfrm>
          <a:prstGeom prst="rect">
            <a:avLst/>
          </a:prstGeom>
        </p:spPr>
        <p:txBody>
          <a:bodyPr wrap="square" lIns="0" tIns="12065" rIns="0" bIns="0" rtlCol="0" vert="horz">
            <a:spAutoFit/>
          </a:bodyPr>
          <a:lstStyle/>
          <a:p>
            <a:pPr marL="12700">
              <a:lnSpc>
                <a:spcPct val="100000"/>
              </a:lnSpc>
              <a:spcBef>
                <a:spcPts val="95"/>
              </a:spcBef>
              <a:tabLst>
                <a:tab pos="746760" algn="l"/>
                <a:tab pos="1196340" algn="l"/>
              </a:tabLst>
            </a:pPr>
            <a:r>
              <a:rPr dirty="0" sz="1000" spc="-10">
                <a:latin typeface="SimSun"/>
                <a:cs typeface="SimSun"/>
              </a:rPr>
              <a:t>因此</a:t>
            </a:r>
            <a:r>
              <a:rPr dirty="0" sz="1000" spc="-25">
                <a:latin typeface="SimSun"/>
                <a:cs typeface="SimSun"/>
              </a:rPr>
              <a:t>，</a:t>
            </a:r>
            <a:r>
              <a:rPr dirty="0" sz="1000" spc="-25">
                <a:latin typeface="Cambria"/>
                <a:cs typeface="Cambria"/>
              </a:rPr>
              <a:t>(𝑊</a:t>
            </a:r>
            <a:r>
              <a:rPr dirty="0" sz="1000">
                <a:latin typeface="Cambria"/>
                <a:cs typeface="Cambria"/>
              </a:rPr>
              <a:t>	</a:t>
            </a:r>
            <a:r>
              <a:rPr dirty="0" sz="1000" spc="220">
                <a:latin typeface="SimSun"/>
                <a:cs typeface="SimSun"/>
              </a:rPr>
              <a:t>和</a:t>
            </a:r>
            <a:r>
              <a:rPr dirty="0" sz="1000" spc="-50">
                <a:latin typeface="Cambria"/>
                <a:cs typeface="Cambria"/>
              </a:rPr>
              <a:t>𝑊</a:t>
            </a:r>
            <a:r>
              <a:rPr dirty="0" sz="1000">
                <a:latin typeface="Cambria"/>
                <a:cs typeface="Cambria"/>
              </a:rPr>
              <a:t>	</a:t>
            </a:r>
            <a:r>
              <a:rPr dirty="0" sz="1000" spc="-10">
                <a:latin typeface="SimSun"/>
                <a:cs typeface="SimSun"/>
              </a:rPr>
              <a:t>之间的距离将始终大于</a:t>
            </a:r>
            <a:r>
              <a:rPr dirty="0" sz="1000" spc="-270">
                <a:latin typeface="SimSun"/>
                <a:cs typeface="SimSun"/>
              </a:rPr>
              <a:t> </a:t>
            </a:r>
            <a:r>
              <a:rPr dirty="0" sz="1000" spc="-10">
                <a:latin typeface="Times New Roman"/>
                <a:cs typeface="Times New Roman"/>
              </a:rPr>
              <a:t>0</a:t>
            </a:r>
            <a:r>
              <a:rPr dirty="0" sz="1000" spc="-25">
                <a:latin typeface="SimSun"/>
                <a:cs typeface="SimSun"/>
              </a:rPr>
              <a:t>。</a:t>
            </a:r>
            <a:r>
              <a:rPr dirty="0" sz="1000" spc="-10">
                <a:latin typeface="SimSun"/>
                <a:cs typeface="SimSun"/>
              </a:rPr>
              <a:t>因此</a:t>
            </a:r>
            <a:r>
              <a:rPr dirty="0" sz="1000" spc="-30">
                <a:latin typeface="SimSun"/>
                <a:cs typeface="SimSun"/>
              </a:rPr>
              <a:t>，</a:t>
            </a:r>
            <a:r>
              <a:rPr dirty="0" sz="1000" spc="-10">
                <a:latin typeface="SimSun"/>
                <a:cs typeface="SimSun"/>
              </a:rPr>
              <a:t>确</a:t>
            </a:r>
            <a:r>
              <a:rPr dirty="0" sz="1000" spc="220">
                <a:latin typeface="SimSun"/>
                <a:cs typeface="SimSun"/>
              </a:rPr>
              <a:t>保</a:t>
            </a:r>
            <a:r>
              <a:rPr dirty="0" sz="1000" spc="-50">
                <a:latin typeface="Cambria"/>
                <a:cs typeface="Cambria"/>
              </a:rPr>
              <a:t>𝑒</a:t>
            </a:r>
            <a:endParaRPr sz="1000">
              <a:latin typeface="Cambria"/>
              <a:cs typeface="Cambria"/>
            </a:endParaRPr>
          </a:p>
        </p:txBody>
      </p:sp>
      <p:sp>
        <p:nvSpPr>
          <p:cNvPr id="80" name="object 80" descr=""/>
          <p:cNvSpPr txBox="1"/>
          <p:nvPr/>
        </p:nvSpPr>
        <p:spPr>
          <a:xfrm>
            <a:off x="4846586" y="4900644"/>
            <a:ext cx="71120"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𝑦</a:t>
            </a:r>
            <a:endParaRPr sz="550">
              <a:latin typeface="Cambria"/>
              <a:cs typeface="Cambria"/>
            </a:endParaRPr>
          </a:p>
        </p:txBody>
      </p:sp>
      <p:sp>
        <p:nvSpPr>
          <p:cNvPr id="81" name="object 81" descr=""/>
          <p:cNvSpPr txBox="1"/>
          <p:nvPr/>
        </p:nvSpPr>
        <p:spPr>
          <a:xfrm>
            <a:off x="4462043" y="4864826"/>
            <a:ext cx="633095" cy="132080"/>
          </a:xfrm>
          <a:prstGeom prst="rect">
            <a:avLst/>
          </a:prstGeom>
        </p:spPr>
        <p:txBody>
          <a:bodyPr wrap="square" lIns="0" tIns="12065" rIns="0" bIns="0" rtlCol="0" vert="horz">
            <a:spAutoFit/>
          </a:bodyPr>
          <a:lstStyle/>
          <a:p>
            <a:pPr marL="12700">
              <a:lnSpc>
                <a:spcPct val="100000"/>
              </a:lnSpc>
              <a:spcBef>
                <a:spcPts val="95"/>
              </a:spcBef>
              <a:tabLst>
                <a:tab pos="237490" algn="l"/>
                <a:tab pos="530225" algn="l"/>
              </a:tabLst>
            </a:pPr>
            <a:r>
              <a:rPr dirty="0" sz="700">
                <a:latin typeface="Cambria"/>
                <a:cs typeface="Cambria"/>
              </a:rPr>
              <a:t>𝑊	</a:t>
            </a:r>
            <a:r>
              <a:rPr dirty="0" sz="700" spc="60">
                <a:latin typeface="Cambria"/>
                <a:cs typeface="Cambria"/>
              </a:rPr>
              <a:t>−𝑊</a:t>
            </a:r>
            <a:r>
              <a:rPr dirty="0" sz="700">
                <a:latin typeface="Cambria"/>
                <a:cs typeface="Cambria"/>
              </a:rPr>
              <a:t>	</a:t>
            </a:r>
            <a:r>
              <a:rPr dirty="0" sz="700" spc="-25">
                <a:latin typeface="Cambria"/>
                <a:cs typeface="Cambria"/>
              </a:rPr>
              <a:t>)𝑧</a:t>
            </a:r>
            <a:endParaRPr sz="700">
              <a:latin typeface="Cambria"/>
              <a:cs typeface="Cambria"/>
            </a:endParaRPr>
          </a:p>
        </p:txBody>
      </p:sp>
      <p:sp>
        <p:nvSpPr>
          <p:cNvPr id="82" name="object 82" descr=""/>
          <p:cNvSpPr txBox="1"/>
          <p:nvPr/>
        </p:nvSpPr>
        <p:spPr>
          <a:xfrm>
            <a:off x="4562208" y="4826463"/>
            <a:ext cx="607060" cy="109220"/>
          </a:xfrm>
          <a:prstGeom prst="rect">
            <a:avLst/>
          </a:prstGeom>
        </p:spPr>
        <p:txBody>
          <a:bodyPr wrap="square" lIns="0" tIns="12065" rIns="0" bIns="0" rtlCol="0" vert="horz">
            <a:spAutoFit/>
          </a:bodyPr>
          <a:lstStyle/>
          <a:p>
            <a:pPr marL="12700">
              <a:lnSpc>
                <a:spcPct val="100000"/>
              </a:lnSpc>
              <a:spcBef>
                <a:spcPts val="95"/>
              </a:spcBef>
              <a:tabLst>
                <a:tab pos="305435" algn="l"/>
                <a:tab pos="520700" algn="l"/>
              </a:tabLst>
            </a:pPr>
            <a:r>
              <a:rPr dirty="0" sz="550" spc="60">
                <a:latin typeface="Cambria"/>
                <a:cs typeface="Cambria"/>
              </a:rPr>
              <a:t>𝑚</a:t>
            </a:r>
            <a:r>
              <a:rPr dirty="0" sz="550">
                <a:latin typeface="Cambria"/>
                <a:cs typeface="Cambria"/>
              </a:rPr>
              <a:t>	</a:t>
            </a:r>
            <a:r>
              <a:rPr dirty="0" sz="550" spc="60">
                <a:latin typeface="Cambria"/>
                <a:cs typeface="Cambria"/>
              </a:rPr>
              <a:t>𝑚</a:t>
            </a:r>
            <a:r>
              <a:rPr dirty="0" sz="550">
                <a:latin typeface="Cambria"/>
                <a:cs typeface="Cambria"/>
              </a:rPr>
              <a:t>	</a:t>
            </a:r>
            <a:r>
              <a:rPr dirty="0" sz="550" spc="50">
                <a:latin typeface="Cambria"/>
                <a:cs typeface="Cambria"/>
              </a:rPr>
              <a:t>𝑚</a:t>
            </a:r>
            <a:endParaRPr sz="550">
              <a:latin typeface="Cambria"/>
              <a:cs typeface="Cambria"/>
            </a:endParaRPr>
          </a:p>
        </p:txBody>
      </p:sp>
      <p:sp>
        <p:nvSpPr>
          <p:cNvPr id="83" name="object 83" descr=""/>
          <p:cNvSpPr txBox="1"/>
          <p:nvPr/>
        </p:nvSpPr>
        <p:spPr>
          <a:xfrm>
            <a:off x="4635347" y="4849082"/>
            <a:ext cx="572770" cy="109220"/>
          </a:xfrm>
          <a:prstGeom prst="rect">
            <a:avLst/>
          </a:prstGeom>
        </p:spPr>
        <p:txBody>
          <a:bodyPr wrap="square" lIns="0" tIns="12065" rIns="0" bIns="0" rtlCol="0" vert="horz">
            <a:spAutoFit/>
          </a:bodyPr>
          <a:lstStyle/>
          <a:p>
            <a:pPr marL="12700">
              <a:lnSpc>
                <a:spcPct val="100000"/>
              </a:lnSpc>
              <a:spcBef>
                <a:spcPts val="95"/>
              </a:spcBef>
              <a:tabLst>
                <a:tab pos="305435" algn="l"/>
                <a:tab pos="520700" algn="l"/>
              </a:tabLst>
            </a:pPr>
            <a:r>
              <a:rPr dirty="0" sz="550" spc="-50">
                <a:latin typeface="Cambria"/>
                <a:cs typeface="Cambria"/>
              </a:rPr>
              <a:t>2</a:t>
            </a:r>
            <a:r>
              <a:rPr dirty="0" sz="550">
                <a:latin typeface="Cambria"/>
                <a:cs typeface="Cambria"/>
              </a:rPr>
              <a:t>	</a:t>
            </a:r>
            <a:r>
              <a:rPr dirty="0" sz="550" spc="-50">
                <a:latin typeface="Cambria"/>
                <a:cs typeface="Cambria"/>
              </a:rPr>
              <a:t>2</a:t>
            </a:r>
            <a:r>
              <a:rPr dirty="0" sz="550">
                <a:latin typeface="Cambria"/>
                <a:cs typeface="Cambria"/>
              </a:rPr>
              <a:t>	</a:t>
            </a:r>
            <a:r>
              <a:rPr dirty="0" sz="550" spc="-50">
                <a:latin typeface="Cambria"/>
                <a:cs typeface="Cambria"/>
              </a:rPr>
              <a:t>2</a:t>
            </a:r>
            <a:endParaRPr sz="550">
              <a:latin typeface="Cambria"/>
              <a:cs typeface="Cambria"/>
            </a:endParaRPr>
          </a:p>
        </p:txBody>
      </p:sp>
      <p:sp>
        <p:nvSpPr>
          <p:cNvPr id="84" name="object 84" descr=""/>
          <p:cNvSpPr txBox="1"/>
          <p:nvPr/>
        </p:nvSpPr>
        <p:spPr>
          <a:xfrm>
            <a:off x="4527956" y="4928482"/>
            <a:ext cx="630555" cy="109220"/>
          </a:xfrm>
          <a:prstGeom prst="rect">
            <a:avLst/>
          </a:prstGeom>
        </p:spPr>
        <p:txBody>
          <a:bodyPr wrap="square" lIns="0" tIns="12065" rIns="0" bIns="0" rtlCol="0" vert="horz">
            <a:spAutoFit/>
          </a:bodyPr>
          <a:lstStyle/>
          <a:p>
            <a:pPr marL="38100">
              <a:lnSpc>
                <a:spcPct val="100000"/>
              </a:lnSpc>
              <a:spcBef>
                <a:spcPts val="95"/>
              </a:spcBef>
              <a:tabLst>
                <a:tab pos="376555" algn="l"/>
                <a:tab pos="554355" algn="l"/>
              </a:tabLst>
            </a:pPr>
            <a:r>
              <a:rPr dirty="0" baseline="10101" sz="825" spc="37">
                <a:latin typeface="Cambria"/>
                <a:cs typeface="Cambria"/>
              </a:rPr>
              <a:t>𝑘</a:t>
            </a:r>
            <a:r>
              <a:rPr dirty="0" baseline="10101" sz="825">
                <a:latin typeface="Cambria"/>
                <a:cs typeface="Cambria"/>
              </a:rPr>
              <a:t>	</a:t>
            </a:r>
            <a:r>
              <a:rPr dirty="0" sz="550" spc="-50">
                <a:latin typeface="Cambria"/>
                <a:cs typeface="Cambria"/>
              </a:rPr>
              <a:t>𝑖</a:t>
            </a:r>
            <a:r>
              <a:rPr dirty="0" sz="550">
                <a:latin typeface="Cambria"/>
                <a:cs typeface="Cambria"/>
              </a:rPr>
              <a:t>	</a:t>
            </a:r>
            <a:r>
              <a:rPr dirty="0" baseline="10101" sz="825" spc="-75">
                <a:latin typeface="Cambria"/>
                <a:cs typeface="Cambria"/>
              </a:rPr>
              <a:t>𝑖</a:t>
            </a:r>
            <a:endParaRPr baseline="10101" sz="825">
              <a:latin typeface="Cambria"/>
              <a:cs typeface="Cambria"/>
            </a:endParaRPr>
          </a:p>
        </p:txBody>
      </p:sp>
      <p:sp>
        <p:nvSpPr>
          <p:cNvPr id="85" name="object 85" descr=""/>
          <p:cNvSpPr txBox="1"/>
          <p:nvPr/>
        </p:nvSpPr>
        <p:spPr>
          <a:xfrm>
            <a:off x="5236730" y="4891905"/>
            <a:ext cx="1256030" cy="177800"/>
          </a:xfrm>
          <a:prstGeom prst="rect">
            <a:avLst/>
          </a:prstGeom>
        </p:spPr>
        <p:txBody>
          <a:bodyPr wrap="square" lIns="0" tIns="12065" rIns="0" bIns="0" rtlCol="0" vert="horz">
            <a:spAutoFit/>
          </a:bodyPr>
          <a:lstStyle/>
          <a:p>
            <a:pPr marL="12700">
              <a:lnSpc>
                <a:spcPct val="100000"/>
              </a:lnSpc>
              <a:spcBef>
                <a:spcPts val="95"/>
              </a:spcBef>
            </a:pPr>
            <a:r>
              <a:rPr dirty="0" sz="1000" spc="90">
                <a:latin typeface="Cambria"/>
                <a:cs typeface="Cambria"/>
              </a:rPr>
              <a:t>= </a:t>
            </a:r>
            <a:r>
              <a:rPr dirty="0" sz="1000">
                <a:latin typeface="Cambria"/>
                <a:cs typeface="Cambria"/>
              </a:rPr>
              <a:t>1</a:t>
            </a:r>
            <a:r>
              <a:rPr dirty="0" sz="1000" spc="-20">
                <a:latin typeface="Cambria"/>
                <a:cs typeface="Cambria"/>
              </a:rPr>
              <a:t> </a:t>
            </a:r>
            <a:r>
              <a:rPr dirty="0" sz="1000" spc="-15">
                <a:latin typeface="SimSun"/>
                <a:cs typeface="SimSun"/>
              </a:rPr>
              <a:t>的唯一方法是约束</a:t>
            </a:r>
            <a:endParaRPr sz="1000">
              <a:latin typeface="SimSun"/>
              <a:cs typeface="SimSun"/>
            </a:endParaRPr>
          </a:p>
        </p:txBody>
      </p:sp>
      <p:sp>
        <p:nvSpPr>
          <p:cNvPr id="86" name="object 86" descr=""/>
          <p:cNvSpPr txBox="1"/>
          <p:nvPr/>
        </p:nvSpPr>
        <p:spPr>
          <a:xfrm>
            <a:off x="1166647" y="5081692"/>
            <a:ext cx="109855" cy="132080"/>
          </a:xfrm>
          <a:prstGeom prst="rect">
            <a:avLst/>
          </a:prstGeom>
        </p:spPr>
        <p:txBody>
          <a:bodyPr wrap="square" lIns="0" tIns="12065" rIns="0" bIns="0" rtlCol="0" vert="horz">
            <a:spAutoFit/>
          </a:bodyPr>
          <a:lstStyle/>
          <a:p>
            <a:pPr marL="12700">
              <a:lnSpc>
                <a:spcPct val="100000"/>
              </a:lnSpc>
              <a:spcBef>
                <a:spcPts val="95"/>
              </a:spcBef>
            </a:pPr>
            <a:r>
              <a:rPr dirty="0" sz="700" spc="25">
                <a:latin typeface="Cambria"/>
                <a:cs typeface="Cambria"/>
              </a:rPr>
              <a:t>𝑚</a:t>
            </a:r>
            <a:endParaRPr sz="700">
              <a:latin typeface="Cambria"/>
              <a:cs typeface="Cambria"/>
            </a:endParaRPr>
          </a:p>
        </p:txBody>
      </p:sp>
      <p:sp>
        <p:nvSpPr>
          <p:cNvPr id="87" name="object 87" descr=""/>
          <p:cNvSpPr txBox="1"/>
          <p:nvPr/>
        </p:nvSpPr>
        <p:spPr>
          <a:xfrm>
            <a:off x="1251051" y="5119275"/>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2</a:t>
            </a:r>
            <a:endParaRPr sz="550">
              <a:latin typeface="Cambria"/>
              <a:cs typeface="Cambria"/>
            </a:endParaRPr>
          </a:p>
        </p:txBody>
      </p:sp>
      <p:sp>
        <p:nvSpPr>
          <p:cNvPr id="88" name="object 88" descr=""/>
          <p:cNvSpPr txBox="1"/>
          <p:nvPr/>
        </p:nvSpPr>
        <p:spPr>
          <a:xfrm>
            <a:off x="1129677" y="5153815"/>
            <a:ext cx="3172460" cy="132080"/>
          </a:xfrm>
          <a:prstGeom prst="rect">
            <a:avLst/>
          </a:prstGeom>
        </p:spPr>
        <p:txBody>
          <a:bodyPr wrap="square" lIns="0" tIns="12065" rIns="0" bIns="0" rtlCol="0" vert="horz">
            <a:spAutoFit/>
          </a:bodyPr>
          <a:lstStyle/>
          <a:p>
            <a:pPr marL="12700">
              <a:lnSpc>
                <a:spcPct val="100000"/>
              </a:lnSpc>
              <a:spcBef>
                <a:spcPts val="95"/>
              </a:spcBef>
              <a:tabLst>
                <a:tab pos="3112770" algn="l"/>
              </a:tabLst>
            </a:pPr>
            <a:r>
              <a:rPr dirty="0" sz="700" spc="-50">
                <a:latin typeface="Cambria"/>
                <a:cs typeface="Cambria"/>
              </a:rPr>
              <a:t>𝑖</a:t>
            </a:r>
            <a:r>
              <a:rPr dirty="0" sz="700">
                <a:latin typeface="Cambria"/>
                <a:cs typeface="Cambria"/>
              </a:rPr>
              <a:t>	</a:t>
            </a:r>
            <a:r>
              <a:rPr dirty="0" sz="700" spc="-50">
                <a:latin typeface="Cambria"/>
                <a:cs typeface="Cambria"/>
              </a:rPr>
              <a:t>2</a:t>
            </a:r>
            <a:endParaRPr sz="700">
              <a:latin typeface="Cambria"/>
              <a:cs typeface="Cambria"/>
            </a:endParaRPr>
          </a:p>
        </p:txBody>
      </p:sp>
      <p:sp>
        <p:nvSpPr>
          <p:cNvPr id="89" name="object 89" descr=""/>
          <p:cNvSpPr txBox="1"/>
          <p:nvPr/>
        </p:nvSpPr>
        <p:spPr>
          <a:xfrm>
            <a:off x="1067295" y="5089288"/>
            <a:ext cx="5425440" cy="177800"/>
          </a:xfrm>
          <a:prstGeom prst="rect">
            <a:avLst/>
          </a:prstGeom>
        </p:spPr>
        <p:txBody>
          <a:bodyPr wrap="square" lIns="0" tIns="12065" rIns="0" bIns="0" rtlCol="0" vert="horz">
            <a:spAutoFit/>
          </a:bodyPr>
          <a:lstStyle/>
          <a:p>
            <a:pPr marL="12700">
              <a:lnSpc>
                <a:spcPct val="100000"/>
              </a:lnSpc>
              <a:spcBef>
                <a:spcPts val="95"/>
              </a:spcBef>
              <a:tabLst>
                <a:tab pos="284480" algn="l"/>
              </a:tabLst>
            </a:pPr>
            <a:r>
              <a:rPr dirty="0" sz="1000" spc="-50">
                <a:latin typeface="Cambria"/>
                <a:cs typeface="Cambria"/>
              </a:rPr>
              <a:t>𝑧</a:t>
            </a:r>
            <a:r>
              <a:rPr dirty="0" sz="1000">
                <a:latin typeface="Cambria"/>
                <a:cs typeface="Cambria"/>
              </a:rPr>
              <a:t>	</a:t>
            </a:r>
            <a:r>
              <a:rPr dirty="0" sz="1000" spc="105">
                <a:latin typeface="Cambria"/>
                <a:cs typeface="Cambria"/>
              </a:rPr>
              <a:t>= </a:t>
            </a:r>
            <a:r>
              <a:rPr dirty="0" sz="1000">
                <a:latin typeface="Cambria"/>
                <a:cs typeface="Cambria"/>
              </a:rPr>
              <a:t>0</a:t>
            </a:r>
            <a:r>
              <a:rPr dirty="0" sz="1000" spc="5">
                <a:latin typeface="Cambria"/>
                <a:cs typeface="Cambria"/>
              </a:rPr>
              <a:t> </a:t>
            </a:r>
            <a:r>
              <a:rPr dirty="0" sz="1000">
                <a:latin typeface="SimSun"/>
                <a:cs typeface="SimSun"/>
              </a:rPr>
              <a:t>。然而，这表明融合模块完全忽略了来自模态</a:t>
            </a:r>
            <a:r>
              <a:rPr dirty="0" sz="1000">
                <a:latin typeface="Cambria"/>
                <a:cs typeface="Cambria"/>
              </a:rPr>
              <a:t>𝑚</a:t>
            </a:r>
            <a:r>
              <a:rPr dirty="0" sz="1000" spc="395">
                <a:latin typeface="Cambria"/>
                <a:cs typeface="Cambria"/>
              </a:rPr>
              <a:t> </a:t>
            </a:r>
            <a:r>
              <a:rPr dirty="0" sz="1000" spc="-15">
                <a:latin typeface="SimSun"/>
                <a:cs typeface="SimSun"/>
              </a:rPr>
              <a:t>的数据，这偏离了多模态融合从多个源</a:t>
            </a:r>
            <a:endParaRPr sz="1000">
              <a:latin typeface="SimSun"/>
              <a:cs typeface="SimSun"/>
            </a:endParaRPr>
          </a:p>
        </p:txBody>
      </p:sp>
      <p:grpSp>
        <p:nvGrpSpPr>
          <p:cNvPr id="90" name="object 90" descr=""/>
          <p:cNvGrpSpPr/>
          <p:nvPr/>
        </p:nvGrpSpPr>
        <p:grpSpPr>
          <a:xfrm>
            <a:off x="899998" y="6136409"/>
            <a:ext cx="5760085" cy="338455"/>
            <a:chOff x="899998" y="6136409"/>
            <a:chExt cx="5760085" cy="338455"/>
          </a:xfrm>
        </p:grpSpPr>
        <p:sp>
          <p:nvSpPr>
            <p:cNvPr id="91" name="object 91" descr=""/>
            <p:cNvSpPr/>
            <p:nvPr/>
          </p:nvSpPr>
          <p:spPr>
            <a:xfrm>
              <a:off x="899998" y="6136409"/>
              <a:ext cx="5760085" cy="338455"/>
            </a:xfrm>
            <a:custGeom>
              <a:avLst/>
              <a:gdLst/>
              <a:ahLst/>
              <a:cxnLst/>
              <a:rect l="l" t="t" r="r" b="b"/>
              <a:pathLst>
                <a:path w="5760084" h="338454">
                  <a:moveTo>
                    <a:pt x="5724074" y="0"/>
                  </a:moveTo>
                  <a:lnTo>
                    <a:pt x="36000" y="0"/>
                  </a:lnTo>
                  <a:lnTo>
                    <a:pt x="21987" y="2829"/>
                  </a:lnTo>
                  <a:lnTo>
                    <a:pt x="10544" y="10544"/>
                  </a:lnTo>
                  <a:lnTo>
                    <a:pt x="2829" y="21987"/>
                  </a:lnTo>
                  <a:lnTo>
                    <a:pt x="0" y="36000"/>
                  </a:lnTo>
                  <a:lnTo>
                    <a:pt x="0" y="301973"/>
                  </a:lnTo>
                  <a:lnTo>
                    <a:pt x="2829" y="315986"/>
                  </a:lnTo>
                  <a:lnTo>
                    <a:pt x="10544" y="327429"/>
                  </a:lnTo>
                  <a:lnTo>
                    <a:pt x="21987" y="335144"/>
                  </a:lnTo>
                  <a:lnTo>
                    <a:pt x="36000" y="337973"/>
                  </a:lnTo>
                  <a:lnTo>
                    <a:pt x="5724074" y="337973"/>
                  </a:lnTo>
                  <a:lnTo>
                    <a:pt x="5738087" y="335144"/>
                  </a:lnTo>
                  <a:lnTo>
                    <a:pt x="5749530" y="327429"/>
                  </a:lnTo>
                  <a:lnTo>
                    <a:pt x="5757245" y="315986"/>
                  </a:lnTo>
                  <a:lnTo>
                    <a:pt x="5760074" y="30197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92" name="object 92" descr=""/>
            <p:cNvSpPr/>
            <p:nvPr/>
          </p:nvSpPr>
          <p:spPr>
            <a:xfrm>
              <a:off x="899998" y="6136409"/>
              <a:ext cx="5760085" cy="338455"/>
            </a:xfrm>
            <a:custGeom>
              <a:avLst/>
              <a:gdLst/>
              <a:ahLst/>
              <a:cxnLst/>
              <a:rect l="l" t="t" r="r" b="b"/>
              <a:pathLst>
                <a:path w="5760084" h="338454">
                  <a:moveTo>
                    <a:pt x="5724074" y="0"/>
                  </a:moveTo>
                  <a:lnTo>
                    <a:pt x="36000" y="0"/>
                  </a:lnTo>
                  <a:lnTo>
                    <a:pt x="21987" y="2829"/>
                  </a:lnTo>
                  <a:lnTo>
                    <a:pt x="10544" y="10544"/>
                  </a:lnTo>
                  <a:lnTo>
                    <a:pt x="2829" y="21987"/>
                  </a:lnTo>
                  <a:lnTo>
                    <a:pt x="0" y="36000"/>
                  </a:lnTo>
                  <a:lnTo>
                    <a:pt x="0" y="301973"/>
                  </a:lnTo>
                  <a:lnTo>
                    <a:pt x="2829" y="315986"/>
                  </a:lnTo>
                  <a:lnTo>
                    <a:pt x="10544" y="327429"/>
                  </a:lnTo>
                  <a:lnTo>
                    <a:pt x="21987" y="335144"/>
                  </a:lnTo>
                  <a:lnTo>
                    <a:pt x="36000" y="337973"/>
                  </a:lnTo>
                  <a:lnTo>
                    <a:pt x="5724074" y="337973"/>
                  </a:lnTo>
                  <a:lnTo>
                    <a:pt x="5738087" y="335144"/>
                  </a:lnTo>
                  <a:lnTo>
                    <a:pt x="5749530" y="327429"/>
                  </a:lnTo>
                  <a:lnTo>
                    <a:pt x="5757245" y="315986"/>
                  </a:lnTo>
                  <a:lnTo>
                    <a:pt x="5760074" y="30197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93" name="object 93" descr=""/>
          <p:cNvSpPr txBox="1"/>
          <p:nvPr/>
        </p:nvSpPr>
        <p:spPr>
          <a:xfrm>
            <a:off x="1067295" y="5241119"/>
            <a:ext cx="5426075" cy="1148080"/>
          </a:xfrm>
          <a:prstGeom prst="rect">
            <a:avLst/>
          </a:prstGeom>
        </p:spPr>
        <p:txBody>
          <a:bodyPr wrap="square" lIns="0" tIns="12700" rIns="0" bIns="0" rtlCol="0" vert="horz">
            <a:spAutoFit/>
          </a:bodyPr>
          <a:lstStyle/>
          <a:p>
            <a:pPr marL="12700" marR="5080">
              <a:lnSpc>
                <a:spcPct val="129500"/>
              </a:lnSpc>
              <a:spcBef>
                <a:spcPts val="100"/>
              </a:spcBef>
            </a:pPr>
            <a:r>
              <a:rPr dirty="0" sz="1000" spc="-45">
                <a:latin typeface="SimSun"/>
                <a:cs typeface="SimSun"/>
              </a:rPr>
              <a:t>集成信息的目的。因此，模态编码器和模态融合模块之间存在优化冲突，这限制了模态编码器的学</a:t>
            </a:r>
            <a:r>
              <a:rPr dirty="0" sz="1000" spc="-30">
                <a:latin typeface="SimSun"/>
                <a:cs typeface="SimSun"/>
              </a:rPr>
              <a:t>习。</a:t>
            </a:r>
            <a:endParaRPr sz="1000">
              <a:latin typeface="SimSun"/>
              <a:cs typeface="SimSun"/>
            </a:endParaRPr>
          </a:p>
          <a:p>
            <a:pPr>
              <a:lnSpc>
                <a:spcPct val="100000"/>
              </a:lnSpc>
              <a:spcBef>
                <a:spcPts val="315"/>
              </a:spcBef>
            </a:pPr>
            <a:endParaRPr sz="1000">
              <a:latin typeface="SimSun"/>
              <a:cs typeface="SimSun"/>
            </a:endParaRPr>
          </a:p>
          <a:p>
            <a:pPr marL="85725">
              <a:lnSpc>
                <a:spcPct val="100000"/>
              </a:lnSpc>
            </a:pPr>
            <a:r>
              <a:rPr dirty="0" sz="1000" spc="10">
                <a:latin typeface="Times New Roman"/>
                <a:cs typeface="Times New Roman"/>
              </a:rPr>
              <a:t>Algorithm</a:t>
            </a:r>
            <a:r>
              <a:rPr dirty="0" sz="1000" spc="55">
                <a:latin typeface="Times New Roman"/>
                <a:cs typeface="Times New Roman"/>
              </a:rPr>
              <a:t> </a:t>
            </a:r>
            <a:r>
              <a:rPr dirty="0" sz="1000" spc="10">
                <a:latin typeface="Times New Roman"/>
                <a:cs typeface="Times New Roman"/>
              </a:rPr>
              <a:t>1</a:t>
            </a:r>
            <a:r>
              <a:rPr dirty="0" sz="1000" spc="60">
                <a:latin typeface="Times New Roman"/>
                <a:cs typeface="Times New Roman"/>
              </a:rPr>
              <a:t> </a:t>
            </a:r>
            <a:r>
              <a:rPr dirty="0" sz="1000" spc="10">
                <a:latin typeface="Times New Roman"/>
                <a:cs typeface="Times New Roman"/>
              </a:rPr>
              <a:t>Multimodal</a:t>
            </a:r>
            <a:r>
              <a:rPr dirty="0" sz="1000" spc="55">
                <a:latin typeface="Times New Roman"/>
                <a:cs typeface="Times New Roman"/>
              </a:rPr>
              <a:t> </a:t>
            </a:r>
            <a:r>
              <a:rPr dirty="0" sz="1000" spc="10">
                <a:latin typeface="Times New Roman"/>
                <a:cs typeface="Times New Roman"/>
              </a:rPr>
              <a:t>learning</a:t>
            </a:r>
            <a:r>
              <a:rPr dirty="0" sz="1000" spc="60">
                <a:latin typeface="Times New Roman"/>
                <a:cs typeface="Times New Roman"/>
              </a:rPr>
              <a:t> </a:t>
            </a:r>
            <a:r>
              <a:rPr dirty="0" sz="1000" spc="10">
                <a:latin typeface="Times New Roman"/>
                <a:cs typeface="Times New Roman"/>
              </a:rPr>
              <a:t>with</a:t>
            </a:r>
            <a:r>
              <a:rPr dirty="0" sz="1000" spc="55">
                <a:latin typeface="Times New Roman"/>
                <a:cs typeface="Times New Roman"/>
              </a:rPr>
              <a:t> </a:t>
            </a:r>
            <a:r>
              <a:rPr dirty="0" sz="1000">
                <a:latin typeface="Times New Roman"/>
                <a:cs typeface="Times New Roman"/>
              </a:rPr>
              <a:t>DGL</a:t>
            </a:r>
            <a:r>
              <a:rPr dirty="0" sz="1000" spc="60">
                <a:latin typeface="Times New Roman"/>
                <a:cs typeface="Times New Roman"/>
              </a:rPr>
              <a:t> </a:t>
            </a:r>
            <a:r>
              <a:rPr dirty="0" sz="1000" spc="-10">
                <a:latin typeface="Times New Roman"/>
                <a:cs typeface="Times New Roman"/>
              </a:rPr>
              <a:t>strategy</a:t>
            </a:r>
            <a:endParaRPr sz="1000">
              <a:latin typeface="Times New Roman"/>
              <a:cs typeface="Times New Roman"/>
            </a:endParaRPr>
          </a:p>
          <a:p>
            <a:pPr>
              <a:lnSpc>
                <a:spcPct val="100000"/>
              </a:lnSpc>
              <a:spcBef>
                <a:spcPts val="580"/>
              </a:spcBef>
            </a:pPr>
            <a:endParaRPr sz="1000">
              <a:latin typeface="Times New Roman"/>
              <a:cs typeface="Times New Roman"/>
            </a:endParaRPr>
          </a:p>
          <a:p>
            <a:pPr marL="12700">
              <a:lnSpc>
                <a:spcPct val="100000"/>
              </a:lnSpc>
            </a:pPr>
            <a:r>
              <a:rPr dirty="0" sz="1000" spc="-100">
                <a:latin typeface="SimSun"/>
                <a:cs typeface="SimSun"/>
              </a:rPr>
              <a:t>算法 </a:t>
            </a:r>
            <a:r>
              <a:rPr dirty="0" sz="1000">
                <a:latin typeface="Times New Roman"/>
                <a:cs typeface="Times New Roman"/>
              </a:rPr>
              <a:t>1:</a:t>
            </a:r>
            <a:r>
              <a:rPr dirty="0" sz="1000" spc="-65">
                <a:latin typeface="Times New Roman"/>
                <a:cs typeface="Times New Roman"/>
              </a:rPr>
              <a:t> </a:t>
            </a:r>
            <a:r>
              <a:rPr dirty="0" sz="1000" spc="105">
                <a:latin typeface="SimSun"/>
                <a:cs typeface="SimSun"/>
              </a:rPr>
              <a:t>使用</a:t>
            </a:r>
            <a:r>
              <a:rPr dirty="0" sz="1000">
                <a:latin typeface="Times New Roman"/>
                <a:cs typeface="Times New Roman"/>
              </a:rPr>
              <a:t>DGL</a:t>
            </a:r>
            <a:r>
              <a:rPr dirty="0" sz="1000" spc="-55">
                <a:latin typeface="Times New Roman"/>
                <a:cs typeface="Times New Roman"/>
              </a:rPr>
              <a:t> </a:t>
            </a:r>
            <a:r>
              <a:rPr dirty="0" sz="1000" spc="-15">
                <a:latin typeface="SimSun"/>
                <a:cs typeface="SimSun"/>
              </a:rPr>
              <a:t>策略的多模态学习</a:t>
            </a:r>
            <a:endParaRPr sz="1000">
              <a:latin typeface="SimSun"/>
              <a:cs typeface="SimSun"/>
            </a:endParaRPr>
          </a:p>
        </p:txBody>
      </p:sp>
      <p:sp>
        <p:nvSpPr>
          <p:cNvPr id="94" name="object 94" descr=""/>
          <p:cNvSpPr/>
          <p:nvPr/>
        </p:nvSpPr>
        <p:spPr>
          <a:xfrm>
            <a:off x="1188021" y="6735470"/>
            <a:ext cx="5184140" cy="0"/>
          </a:xfrm>
          <a:custGeom>
            <a:avLst/>
            <a:gdLst/>
            <a:ahLst/>
            <a:cxnLst/>
            <a:rect l="l" t="t" r="r" b="b"/>
            <a:pathLst>
              <a:path w="5184140" h="0">
                <a:moveTo>
                  <a:pt x="0" y="0"/>
                </a:moveTo>
                <a:lnTo>
                  <a:pt x="5183962" y="0"/>
                </a:lnTo>
              </a:path>
            </a:pathLst>
          </a:custGeom>
          <a:ln w="7199">
            <a:solidFill>
              <a:srgbClr val="000000"/>
            </a:solidFill>
          </a:ln>
        </p:spPr>
        <p:txBody>
          <a:bodyPr wrap="square" lIns="0" tIns="0" rIns="0" bIns="0" rtlCol="0"/>
          <a:lstStyle/>
          <a:p/>
        </p:txBody>
      </p:sp>
      <p:grpSp>
        <p:nvGrpSpPr>
          <p:cNvPr id="95" name="object 95" descr=""/>
          <p:cNvGrpSpPr/>
          <p:nvPr/>
        </p:nvGrpSpPr>
        <p:grpSpPr>
          <a:xfrm>
            <a:off x="899998" y="7220875"/>
            <a:ext cx="5760085" cy="348615"/>
            <a:chOff x="899998" y="7220875"/>
            <a:chExt cx="5760085" cy="348615"/>
          </a:xfrm>
        </p:grpSpPr>
        <p:sp>
          <p:nvSpPr>
            <p:cNvPr id="96" name="object 96" descr=""/>
            <p:cNvSpPr/>
            <p:nvPr/>
          </p:nvSpPr>
          <p:spPr>
            <a:xfrm>
              <a:off x="899998" y="7220875"/>
              <a:ext cx="5760085" cy="348615"/>
            </a:xfrm>
            <a:custGeom>
              <a:avLst/>
              <a:gdLst/>
              <a:ahLst/>
              <a:cxnLst/>
              <a:rect l="l" t="t" r="r" b="b"/>
              <a:pathLst>
                <a:path w="5760084" h="348615">
                  <a:moveTo>
                    <a:pt x="5724074" y="0"/>
                  </a:moveTo>
                  <a:lnTo>
                    <a:pt x="36000" y="0"/>
                  </a:lnTo>
                  <a:lnTo>
                    <a:pt x="21987" y="2829"/>
                  </a:lnTo>
                  <a:lnTo>
                    <a:pt x="10544" y="10544"/>
                  </a:lnTo>
                  <a:lnTo>
                    <a:pt x="2829" y="21987"/>
                  </a:lnTo>
                  <a:lnTo>
                    <a:pt x="0" y="36000"/>
                  </a:lnTo>
                  <a:lnTo>
                    <a:pt x="0" y="312096"/>
                  </a:lnTo>
                  <a:lnTo>
                    <a:pt x="2829" y="326109"/>
                  </a:lnTo>
                  <a:lnTo>
                    <a:pt x="10544" y="337552"/>
                  </a:lnTo>
                  <a:lnTo>
                    <a:pt x="21987" y="345267"/>
                  </a:lnTo>
                  <a:lnTo>
                    <a:pt x="36000" y="348096"/>
                  </a:lnTo>
                  <a:lnTo>
                    <a:pt x="5724074" y="348096"/>
                  </a:lnTo>
                  <a:lnTo>
                    <a:pt x="5738087" y="345267"/>
                  </a:lnTo>
                  <a:lnTo>
                    <a:pt x="5749530" y="337552"/>
                  </a:lnTo>
                  <a:lnTo>
                    <a:pt x="5757245" y="326109"/>
                  </a:lnTo>
                  <a:lnTo>
                    <a:pt x="5760074" y="31209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97" name="object 97" descr=""/>
            <p:cNvSpPr/>
            <p:nvPr/>
          </p:nvSpPr>
          <p:spPr>
            <a:xfrm>
              <a:off x="899998" y="7220875"/>
              <a:ext cx="5760085" cy="348615"/>
            </a:xfrm>
            <a:custGeom>
              <a:avLst/>
              <a:gdLst/>
              <a:ahLst/>
              <a:cxnLst/>
              <a:rect l="l" t="t" r="r" b="b"/>
              <a:pathLst>
                <a:path w="5760084" h="348615">
                  <a:moveTo>
                    <a:pt x="5724074" y="0"/>
                  </a:moveTo>
                  <a:lnTo>
                    <a:pt x="36000" y="0"/>
                  </a:lnTo>
                  <a:lnTo>
                    <a:pt x="21987" y="2829"/>
                  </a:lnTo>
                  <a:lnTo>
                    <a:pt x="10544" y="10544"/>
                  </a:lnTo>
                  <a:lnTo>
                    <a:pt x="2829" y="21987"/>
                  </a:lnTo>
                  <a:lnTo>
                    <a:pt x="0" y="36000"/>
                  </a:lnTo>
                  <a:lnTo>
                    <a:pt x="0" y="312096"/>
                  </a:lnTo>
                  <a:lnTo>
                    <a:pt x="2829" y="326109"/>
                  </a:lnTo>
                  <a:lnTo>
                    <a:pt x="10544" y="337552"/>
                  </a:lnTo>
                  <a:lnTo>
                    <a:pt x="21987" y="345267"/>
                  </a:lnTo>
                  <a:lnTo>
                    <a:pt x="36000" y="348096"/>
                  </a:lnTo>
                  <a:lnTo>
                    <a:pt x="5724074" y="348096"/>
                  </a:lnTo>
                  <a:lnTo>
                    <a:pt x="5738087" y="345267"/>
                  </a:lnTo>
                  <a:lnTo>
                    <a:pt x="5749530" y="337552"/>
                  </a:lnTo>
                  <a:lnTo>
                    <a:pt x="5757245" y="326109"/>
                  </a:lnTo>
                  <a:lnTo>
                    <a:pt x="5760074" y="31209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98" name="object 98" descr=""/>
          <p:cNvGrpSpPr/>
          <p:nvPr/>
        </p:nvGrpSpPr>
        <p:grpSpPr>
          <a:xfrm>
            <a:off x="899998" y="7963728"/>
            <a:ext cx="5760085" cy="332740"/>
            <a:chOff x="899998" y="7963728"/>
            <a:chExt cx="5760085" cy="332740"/>
          </a:xfrm>
        </p:grpSpPr>
        <p:sp>
          <p:nvSpPr>
            <p:cNvPr id="99" name="object 99" descr=""/>
            <p:cNvSpPr/>
            <p:nvPr/>
          </p:nvSpPr>
          <p:spPr>
            <a:xfrm>
              <a:off x="899998" y="7963728"/>
              <a:ext cx="5760085" cy="332740"/>
            </a:xfrm>
            <a:custGeom>
              <a:avLst/>
              <a:gdLst/>
              <a:ahLst/>
              <a:cxnLst/>
              <a:rect l="l" t="t" r="r" b="b"/>
              <a:pathLst>
                <a:path w="5760084" h="332740">
                  <a:moveTo>
                    <a:pt x="5724074" y="0"/>
                  </a:moveTo>
                  <a:lnTo>
                    <a:pt x="36000" y="0"/>
                  </a:lnTo>
                  <a:lnTo>
                    <a:pt x="21987" y="2829"/>
                  </a:lnTo>
                  <a:lnTo>
                    <a:pt x="10544" y="10544"/>
                  </a:lnTo>
                  <a:lnTo>
                    <a:pt x="2829" y="21987"/>
                  </a:lnTo>
                  <a:lnTo>
                    <a:pt x="0" y="36000"/>
                  </a:lnTo>
                  <a:lnTo>
                    <a:pt x="0" y="296406"/>
                  </a:lnTo>
                  <a:lnTo>
                    <a:pt x="2829" y="310419"/>
                  </a:lnTo>
                  <a:lnTo>
                    <a:pt x="10544" y="321862"/>
                  </a:lnTo>
                  <a:lnTo>
                    <a:pt x="21987" y="329577"/>
                  </a:lnTo>
                  <a:lnTo>
                    <a:pt x="36000" y="332406"/>
                  </a:lnTo>
                  <a:lnTo>
                    <a:pt x="5724074" y="332406"/>
                  </a:lnTo>
                  <a:lnTo>
                    <a:pt x="5738087" y="329577"/>
                  </a:lnTo>
                  <a:lnTo>
                    <a:pt x="5749530" y="321862"/>
                  </a:lnTo>
                  <a:lnTo>
                    <a:pt x="5757245" y="310419"/>
                  </a:lnTo>
                  <a:lnTo>
                    <a:pt x="5760074" y="29640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0" name="object 100" descr=""/>
            <p:cNvSpPr/>
            <p:nvPr/>
          </p:nvSpPr>
          <p:spPr>
            <a:xfrm>
              <a:off x="899998" y="7963728"/>
              <a:ext cx="5760085" cy="332740"/>
            </a:xfrm>
            <a:custGeom>
              <a:avLst/>
              <a:gdLst/>
              <a:ahLst/>
              <a:cxnLst/>
              <a:rect l="l" t="t" r="r" b="b"/>
              <a:pathLst>
                <a:path w="5760084" h="332740">
                  <a:moveTo>
                    <a:pt x="5724074" y="0"/>
                  </a:moveTo>
                  <a:lnTo>
                    <a:pt x="36000" y="0"/>
                  </a:lnTo>
                  <a:lnTo>
                    <a:pt x="21987" y="2829"/>
                  </a:lnTo>
                  <a:lnTo>
                    <a:pt x="10544" y="10544"/>
                  </a:lnTo>
                  <a:lnTo>
                    <a:pt x="2829" y="21987"/>
                  </a:lnTo>
                  <a:lnTo>
                    <a:pt x="0" y="36000"/>
                  </a:lnTo>
                  <a:lnTo>
                    <a:pt x="0" y="296406"/>
                  </a:lnTo>
                  <a:lnTo>
                    <a:pt x="2829" y="310419"/>
                  </a:lnTo>
                  <a:lnTo>
                    <a:pt x="10544" y="321862"/>
                  </a:lnTo>
                  <a:lnTo>
                    <a:pt x="21987" y="329577"/>
                  </a:lnTo>
                  <a:lnTo>
                    <a:pt x="36000" y="332406"/>
                  </a:lnTo>
                  <a:lnTo>
                    <a:pt x="5724074" y="332406"/>
                  </a:lnTo>
                  <a:lnTo>
                    <a:pt x="5738087" y="329577"/>
                  </a:lnTo>
                  <a:lnTo>
                    <a:pt x="5749530" y="321862"/>
                  </a:lnTo>
                  <a:lnTo>
                    <a:pt x="5757245" y="310419"/>
                  </a:lnTo>
                  <a:lnTo>
                    <a:pt x="5760074" y="29640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01" name="object 101" descr=""/>
          <p:cNvGrpSpPr/>
          <p:nvPr/>
        </p:nvGrpSpPr>
        <p:grpSpPr>
          <a:xfrm>
            <a:off x="899998" y="8690890"/>
            <a:ext cx="5760085" cy="339090"/>
            <a:chOff x="899998" y="8690890"/>
            <a:chExt cx="5760085" cy="339090"/>
          </a:xfrm>
        </p:grpSpPr>
        <p:sp>
          <p:nvSpPr>
            <p:cNvPr id="102" name="object 102" descr=""/>
            <p:cNvSpPr/>
            <p:nvPr/>
          </p:nvSpPr>
          <p:spPr>
            <a:xfrm>
              <a:off x="899998" y="8690890"/>
              <a:ext cx="5760085" cy="339090"/>
            </a:xfrm>
            <a:custGeom>
              <a:avLst/>
              <a:gdLst/>
              <a:ahLst/>
              <a:cxnLst/>
              <a:rect l="l" t="t" r="r" b="b"/>
              <a:pathLst>
                <a:path w="5760084" h="339090">
                  <a:moveTo>
                    <a:pt x="5724074" y="0"/>
                  </a:moveTo>
                  <a:lnTo>
                    <a:pt x="36000" y="0"/>
                  </a:lnTo>
                  <a:lnTo>
                    <a:pt x="21987" y="2829"/>
                  </a:lnTo>
                  <a:lnTo>
                    <a:pt x="10544" y="10544"/>
                  </a:lnTo>
                  <a:lnTo>
                    <a:pt x="2829" y="21987"/>
                  </a:lnTo>
                  <a:lnTo>
                    <a:pt x="0" y="36000"/>
                  </a:lnTo>
                  <a:lnTo>
                    <a:pt x="0" y="302733"/>
                  </a:lnTo>
                  <a:lnTo>
                    <a:pt x="2829" y="316746"/>
                  </a:lnTo>
                  <a:lnTo>
                    <a:pt x="10544" y="328189"/>
                  </a:lnTo>
                  <a:lnTo>
                    <a:pt x="21987" y="335904"/>
                  </a:lnTo>
                  <a:lnTo>
                    <a:pt x="36000" y="338733"/>
                  </a:lnTo>
                  <a:lnTo>
                    <a:pt x="5724074" y="338733"/>
                  </a:lnTo>
                  <a:lnTo>
                    <a:pt x="5738087" y="335904"/>
                  </a:lnTo>
                  <a:lnTo>
                    <a:pt x="5749530" y="328189"/>
                  </a:lnTo>
                  <a:lnTo>
                    <a:pt x="5757245" y="316746"/>
                  </a:lnTo>
                  <a:lnTo>
                    <a:pt x="5760074" y="30273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3" name="object 103" descr=""/>
            <p:cNvSpPr/>
            <p:nvPr/>
          </p:nvSpPr>
          <p:spPr>
            <a:xfrm>
              <a:off x="899998" y="8690890"/>
              <a:ext cx="5760085" cy="339090"/>
            </a:xfrm>
            <a:custGeom>
              <a:avLst/>
              <a:gdLst/>
              <a:ahLst/>
              <a:cxnLst/>
              <a:rect l="l" t="t" r="r" b="b"/>
              <a:pathLst>
                <a:path w="5760084" h="339090">
                  <a:moveTo>
                    <a:pt x="5724074" y="0"/>
                  </a:moveTo>
                  <a:lnTo>
                    <a:pt x="36000" y="0"/>
                  </a:lnTo>
                  <a:lnTo>
                    <a:pt x="21987" y="2829"/>
                  </a:lnTo>
                  <a:lnTo>
                    <a:pt x="10544" y="10544"/>
                  </a:lnTo>
                  <a:lnTo>
                    <a:pt x="2829" y="21987"/>
                  </a:lnTo>
                  <a:lnTo>
                    <a:pt x="0" y="36000"/>
                  </a:lnTo>
                  <a:lnTo>
                    <a:pt x="0" y="302733"/>
                  </a:lnTo>
                  <a:lnTo>
                    <a:pt x="2829" y="316746"/>
                  </a:lnTo>
                  <a:lnTo>
                    <a:pt x="10544" y="328189"/>
                  </a:lnTo>
                  <a:lnTo>
                    <a:pt x="21987" y="335904"/>
                  </a:lnTo>
                  <a:lnTo>
                    <a:pt x="36000" y="338733"/>
                  </a:lnTo>
                  <a:lnTo>
                    <a:pt x="5724074" y="338733"/>
                  </a:lnTo>
                  <a:lnTo>
                    <a:pt x="5738087" y="335904"/>
                  </a:lnTo>
                  <a:lnTo>
                    <a:pt x="5749530" y="328189"/>
                  </a:lnTo>
                  <a:lnTo>
                    <a:pt x="5757245" y="316746"/>
                  </a:lnTo>
                  <a:lnTo>
                    <a:pt x="5760074" y="30273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04" name="object 104" descr=""/>
          <p:cNvGrpSpPr/>
          <p:nvPr/>
        </p:nvGrpSpPr>
        <p:grpSpPr>
          <a:xfrm>
            <a:off x="899998" y="9424379"/>
            <a:ext cx="5760085" cy="335915"/>
            <a:chOff x="899998" y="9424379"/>
            <a:chExt cx="5760085" cy="335915"/>
          </a:xfrm>
        </p:grpSpPr>
        <p:sp>
          <p:nvSpPr>
            <p:cNvPr id="105" name="object 105" descr=""/>
            <p:cNvSpPr/>
            <p:nvPr/>
          </p:nvSpPr>
          <p:spPr>
            <a:xfrm>
              <a:off x="899998" y="9424379"/>
              <a:ext cx="5760085" cy="335915"/>
            </a:xfrm>
            <a:custGeom>
              <a:avLst/>
              <a:gdLst/>
              <a:ahLst/>
              <a:cxnLst/>
              <a:rect l="l" t="t" r="r" b="b"/>
              <a:pathLst>
                <a:path w="5760084" h="335915">
                  <a:moveTo>
                    <a:pt x="5724074" y="0"/>
                  </a:moveTo>
                  <a:lnTo>
                    <a:pt x="36000" y="0"/>
                  </a:lnTo>
                  <a:lnTo>
                    <a:pt x="21987" y="2829"/>
                  </a:lnTo>
                  <a:lnTo>
                    <a:pt x="10544" y="10544"/>
                  </a:lnTo>
                  <a:lnTo>
                    <a:pt x="2829" y="21987"/>
                  </a:lnTo>
                  <a:lnTo>
                    <a:pt x="0" y="36000"/>
                  </a:lnTo>
                  <a:lnTo>
                    <a:pt x="0" y="299316"/>
                  </a:lnTo>
                  <a:lnTo>
                    <a:pt x="2829" y="313329"/>
                  </a:lnTo>
                  <a:lnTo>
                    <a:pt x="10544" y="324772"/>
                  </a:lnTo>
                  <a:lnTo>
                    <a:pt x="21987" y="332487"/>
                  </a:lnTo>
                  <a:lnTo>
                    <a:pt x="36000" y="335316"/>
                  </a:lnTo>
                  <a:lnTo>
                    <a:pt x="5724074" y="335316"/>
                  </a:lnTo>
                  <a:lnTo>
                    <a:pt x="5738087" y="332487"/>
                  </a:lnTo>
                  <a:lnTo>
                    <a:pt x="5749530" y="324772"/>
                  </a:lnTo>
                  <a:lnTo>
                    <a:pt x="5757245" y="313329"/>
                  </a:lnTo>
                  <a:lnTo>
                    <a:pt x="5760074" y="29931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6" name="object 106" descr=""/>
            <p:cNvSpPr/>
            <p:nvPr/>
          </p:nvSpPr>
          <p:spPr>
            <a:xfrm>
              <a:off x="899998" y="9424379"/>
              <a:ext cx="5760085" cy="335915"/>
            </a:xfrm>
            <a:custGeom>
              <a:avLst/>
              <a:gdLst/>
              <a:ahLst/>
              <a:cxnLst/>
              <a:rect l="l" t="t" r="r" b="b"/>
              <a:pathLst>
                <a:path w="5760084" h="335915">
                  <a:moveTo>
                    <a:pt x="5724074" y="0"/>
                  </a:moveTo>
                  <a:lnTo>
                    <a:pt x="36000" y="0"/>
                  </a:lnTo>
                  <a:lnTo>
                    <a:pt x="21987" y="2829"/>
                  </a:lnTo>
                  <a:lnTo>
                    <a:pt x="10544" y="10544"/>
                  </a:lnTo>
                  <a:lnTo>
                    <a:pt x="2829" y="21987"/>
                  </a:lnTo>
                  <a:lnTo>
                    <a:pt x="0" y="36000"/>
                  </a:lnTo>
                  <a:lnTo>
                    <a:pt x="0" y="299316"/>
                  </a:lnTo>
                  <a:lnTo>
                    <a:pt x="2829" y="313329"/>
                  </a:lnTo>
                  <a:lnTo>
                    <a:pt x="10544" y="324772"/>
                  </a:lnTo>
                  <a:lnTo>
                    <a:pt x="21987" y="332487"/>
                  </a:lnTo>
                  <a:lnTo>
                    <a:pt x="36000" y="335316"/>
                  </a:lnTo>
                  <a:lnTo>
                    <a:pt x="5724074" y="335316"/>
                  </a:lnTo>
                  <a:lnTo>
                    <a:pt x="5738087" y="332487"/>
                  </a:lnTo>
                  <a:lnTo>
                    <a:pt x="5749530" y="324772"/>
                  </a:lnTo>
                  <a:lnTo>
                    <a:pt x="5757245" y="313329"/>
                  </a:lnTo>
                  <a:lnTo>
                    <a:pt x="5760074" y="29931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07" name="object 107" descr=""/>
          <p:cNvSpPr txBox="1"/>
          <p:nvPr/>
        </p:nvSpPr>
        <p:spPr>
          <a:xfrm>
            <a:off x="1067295" y="6923753"/>
            <a:ext cx="2994025" cy="2753360"/>
          </a:xfrm>
          <a:prstGeom prst="rect">
            <a:avLst/>
          </a:prstGeom>
        </p:spPr>
        <p:txBody>
          <a:bodyPr wrap="square" lIns="0" tIns="12065" rIns="0" bIns="0" rtlCol="0" vert="horz">
            <a:spAutoFit/>
          </a:bodyPr>
          <a:lstStyle/>
          <a:p>
            <a:pPr marL="85725">
              <a:lnSpc>
                <a:spcPct val="100000"/>
              </a:lnSpc>
              <a:spcBef>
                <a:spcPts val="95"/>
              </a:spcBef>
            </a:pPr>
            <a:r>
              <a:rPr dirty="0" sz="1000">
                <a:latin typeface="Times New Roman"/>
                <a:cs typeface="Times New Roman"/>
              </a:rPr>
              <a:t>Input:</a:t>
            </a:r>
            <a:r>
              <a:rPr dirty="0" sz="1000" spc="240">
                <a:latin typeface="Times New Roman"/>
                <a:cs typeface="Times New Roman"/>
              </a:rPr>
              <a:t> </a:t>
            </a:r>
            <a:r>
              <a:rPr dirty="0" sz="1000">
                <a:latin typeface="Times New Roman"/>
                <a:cs typeface="Times New Roman"/>
              </a:rPr>
              <a:t>Training</a:t>
            </a:r>
            <a:r>
              <a:rPr dirty="0" sz="1000" spc="120">
                <a:latin typeface="Times New Roman"/>
                <a:cs typeface="Times New Roman"/>
              </a:rPr>
              <a:t> </a:t>
            </a:r>
            <a:r>
              <a:rPr dirty="0" sz="1000">
                <a:latin typeface="Times New Roman"/>
                <a:cs typeface="Times New Roman"/>
              </a:rPr>
              <a:t>dataset</a:t>
            </a:r>
            <a:r>
              <a:rPr dirty="0" sz="1000" spc="114">
                <a:latin typeface="Times New Roman"/>
                <a:cs typeface="Times New Roman"/>
              </a:rPr>
              <a:t> </a:t>
            </a:r>
            <a:r>
              <a:rPr dirty="0" sz="1000" spc="-10">
                <a:latin typeface="Times New Roman"/>
                <a:cs typeface="Times New Roman"/>
              </a:rPr>
              <a:t>D,</a:t>
            </a:r>
            <a:r>
              <a:rPr dirty="0" sz="1000" spc="120">
                <a:latin typeface="Times New Roman"/>
                <a:cs typeface="Times New Roman"/>
              </a:rPr>
              <a:t> </a:t>
            </a:r>
            <a:r>
              <a:rPr dirty="0" sz="1000">
                <a:latin typeface="Times New Roman"/>
                <a:cs typeface="Times New Roman"/>
              </a:rPr>
              <a:t>iteration</a:t>
            </a:r>
            <a:r>
              <a:rPr dirty="0" sz="1000" spc="114">
                <a:latin typeface="Times New Roman"/>
                <a:cs typeface="Times New Roman"/>
              </a:rPr>
              <a:t> </a:t>
            </a:r>
            <a:r>
              <a:rPr dirty="0" sz="1000">
                <a:latin typeface="Times New Roman"/>
                <a:cs typeface="Times New Roman"/>
              </a:rPr>
              <a:t>number</a:t>
            </a:r>
            <a:r>
              <a:rPr dirty="0" sz="1000" spc="114">
                <a:latin typeface="Times New Roman"/>
                <a:cs typeface="Times New Roman"/>
              </a:rPr>
              <a:t> </a:t>
            </a:r>
            <a:r>
              <a:rPr dirty="0" sz="1000" spc="-50">
                <a:latin typeface="Times New Roman"/>
                <a:cs typeface="Times New Roman"/>
              </a:rPr>
              <a:t>T,</a:t>
            </a:r>
            <a:r>
              <a:rPr dirty="0" sz="1000" spc="120">
                <a:latin typeface="Times New Roman"/>
                <a:cs typeface="Times New Roman"/>
              </a:rPr>
              <a:t> </a:t>
            </a:r>
            <a:r>
              <a:rPr dirty="0" sz="1000" spc="-10">
                <a:latin typeface="Times New Roman"/>
                <a:cs typeface="Times New Roman"/>
              </a:rPr>
              <a:t>hyper-</a:t>
            </a:r>
            <a:endParaRPr sz="1000">
              <a:latin typeface="Times New Roman"/>
              <a:cs typeface="Times New Roman"/>
            </a:endParaRPr>
          </a:p>
          <a:p>
            <a:pPr marL="241935" marR="590550" indent="-229870">
              <a:lnSpc>
                <a:spcPct val="242600"/>
              </a:lnSpc>
              <a:spcBef>
                <a:spcPts val="25"/>
              </a:spcBef>
            </a:pPr>
            <a:r>
              <a:rPr dirty="0" sz="1000" spc="-10">
                <a:latin typeface="SimSun"/>
                <a:cs typeface="SimSun"/>
              </a:rPr>
              <a:t>输入</a:t>
            </a:r>
            <a:r>
              <a:rPr dirty="0" sz="1000" spc="-15">
                <a:latin typeface="Times New Roman"/>
                <a:cs typeface="Times New Roman"/>
              </a:rPr>
              <a:t>: </a:t>
            </a:r>
            <a:r>
              <a:rPr dirty="0" sz="1000" spc="35">
                <a:latin typeface="SimSun"/>
                <a:cs typeface="SimSun"/>
              </a:rPr>
              <a:t>训练数据集</a:t>
            </a:r>
            <a:r>
              <a:rPr dirty="0" sz="1000" spc="-10">
                <a:latin typeface="Times New Roman"/>
                <a:cs typeface="Times New Roman"/>
              </a:rPr>
              <a:t>D</a:t>
            </a:r>
            <a:r>
              <a:rPr dirty="0" sz="1000" spc="35">
                <a:latin typeface="SimSun"/>
                <a:cs typeface="SimSun"/>
              </a:rPr>
              <a:t>，迭代次数</a:t>
            </a:r>
            <a:r>
              <a:rPr dirty="0" sz="1000" spc="-20">
                <a:latin typeface="Times New Roman"/>
                <a:cs typeface="Times New Roman"/>
              </a:rPr>
              <a:t>T</a:t>
            </a:r>
            <a:r>
              <a:rPr dirty="0" sz="1000" spc="40">
                <a:latin typeface="SimSun"/>
                <a:cs typeface="SimSun"/>
              </a:rPr>
              <a:t>，超参数</a:t>
            </a:r>
            <a:r>
              <a:rPr dirty="0" sz="1000" spc="-50">
                <a:latin typeface="Times New Roman"/>
                <a:cs typeface="Times New Roman"/>
              </a:rPr>
              <a:t>-</a:t>
            </a:r>
            <a:r>
              <a:rPr dirty="0" sz="1000" spc="10">
                <a:latin typeface="Times New Roman"/>
                <a:cs typeface="Times New Roman"/>
              </a:rPr>
              <a:t> parameter</a:t>
            </a:r>
            <a:r>
              <a:rPr dirty="0" sz="1000" spc="50">
                <a:latin typeface="Times New Roman"/>
                <a:cs typeface="Times New Roman"/>
              </a:rPr>
              <a:t> </a:t>
            </a:r>
            <a:r>
              <a:rPr dirty="0" sz="1000" spc="10">
                <a:latin typeface="Cambria"/>
                <a:cs typeface="Cambria"/>
              </a:rPr>
              <a:t>𝛼</a:t>
            </a:r>
            <a:r>
              <a:rPr dirty="0" sz="1000" spc="85">
                <a:latin typeface="Cambria"/>
                <a:cs typeface="Cambria"/>
              </a:rPr>
              <a:t> </a:t>
            </a:r>
            <a:r>
              <a:rPr dirty="0" sz="1000" spc="-50">
                <a:latin typeface="Times New Roman"/>
                <a:cs typeface="Times New Roman"/>
              </a:rPr>
              <a:t>.</a:t>
            </a:r>
            <a:endParaRPr sz="1000">
              <a:latin typeface="Times New Roman"/>
              <a:cs typeface="Times New Roman"/>
            </a:endParaRPr>
          </a:p>
          <a:p>
            <a:pPr>
              <a:lnSpc>
                <a:spcPct val="100000"/>
              </a:lnSpc>
              <a:spcBef>
                <a:spcPts val="580"/>
              </a:spcBef>
            </a:pPr>
            <a:endParaRPr sz="1000">
              <a:latin typeface="Times New Roman"/>
              <a:cs typeface="Times New Roman"/>
            </a:endParaRPr>
          </a:p>
          <a:p>
            <a:pPr marL="168910">
              <a:lnSpc>
                <a:spcPct val="100000"/>
              </a:lnSpc>
            </a:pPr>
            <a:r>
              <a:rPr dirty="0" sz="1000" spc="105">
                <a:latin typeface="SimSun"/>
                <a:cs typeface="SimSun"/>
              </a:rPr>
              <a:t>参数</a:t>
            </a:r>
            <a:r>
              <a:rPr dirty="0" sz="1000">
                <a:latin typeface="Cambria"/>
                <a:cs typeface="Cambria"/>
              </a:rPr>
              <a:t>𝛼</a:t>
            </a:r>
            <a:r>
              <a:rPr dirty="0" sz="1000" spc="-10">
                <a:latin typeface="Cambria"/>
                <a:cs typeface="Cambria"/>
              </a:rPr>
              <a:t> </a:t>
            </a:r>
            <a:r>
              <a:rPr dirty="0" sz="1000" spc="-50">
                <a:latin typeface="SimSun"/>
                <a:cs typeface="SimSun"/>
              </a:rPr>
              <a:t>。</a:t>
            </a:r>
            <a:endParaRPr sz="1000">
              <a:latin typeface="SimSun"/>
              <a:cs typeface="SimSun"/>
            </a:endParaRPr>
          </a:p>
          <a:p>
            <a:pPr>
              <a:lnSpc>
                <a:spcPct val="100000"/>
              </a:lnSpc>
              <a:spcBef>
                <a:spcPts val="315"/>
              </a:spcBef>
            </a:pPr>
            <a:endParaRPr sz="1000">
              <a:latin typeface="SimSun"/>
              <a:cs typeface="SimSun"/>
            </a:endParaRPr>
          </a:p>
          <a:p>
            <a:pPr marL="368300">
              <a:lnSpc>
                <a:spcPct val="100000"/>
              </a:lnSpc>
            </a:pPr>
            <a:r>
              <a:rPr dirty="0" sz="1000">
                <a:latin typeface="Times New Roman"/>
                <a:cs typeface="Times New Roman"/>
              </a:rPr>
              <a:t>for</a:t>
            </a:r>
            <a:r>
              <a:rPr dirty="0" sz="1000" spc="-20">
                <a:latin typeface="Times New Roman"/>
                <a:cs typeface="Times New Roman"/>
              </a:rPr>
              <a:t> </a:t>
            </a:r>
            <a:r>
              <a:rPr dirty="0" sz="1000">
                <a:latin typeface="Times New Roman"/>
                <a:cs typeface="Times New Roman"/>
              </a:rPr>
              <a:t>t</a:t>
            </a:r>
            <a:r>
              <a:rPr dirty="0" sz="1000" spc="30">
                <a:latin typeface="Times New Roman"/>
                <a:cs typeface="Times New Roman"/>
              </a:rPr>
              <a:t> </a:t>
            </a:r>
            <a:r>
              <a:rPr dirty="0" sz="1000" spc="165">
                <a:latin typeface="Cambria"/>
                <a:cs typeface="Cambria"/>
              </a:rPr>
              <a:t>=</a:t>
            </a:r>
            <a:r>
              <a:rPr dirty="0" sz="1000" spc="60">
                <a:latin typeface="Cambria"/>
                <a:cs typeface="Cambria"/>
              </a:rPr>
              <a:t> </a:t>
            </a:r>
            <a:r>
              <a:rPr dirty="0" sz="1000" spc="-10">
                <a:latin typeface="Cambria"/>
                <a:cs typeface="Cambria"/>
              </a:rPr>
              <a:t>0,</a:t>
            </a:r>
            <a:r>
              <a:rPr dirty="0" sz="1000" spc="-55">
                <a:latin typeface="Cambria"/>
                <a:cs typeface="Cambria"/>
              </a:rPr>
              <a:t> </a:t>
            </a:r>
            <a:r>
              <a:rPr dirty="0" sz="1000" spc="125">
                <a:latin typeface="Cambria"/>
                <a:cs typeface="Cambria"/>
              </a:rPr>
              <a:t>…</a:t>
            </a:r>
            <a:r>
              <a:rPr dirty="0" sz="1000" spc="-50">
                <a:latin typeface="Cambria"/>
                <a:cs typeface="Cambria"/>
              </a:rPr>
              <a:t> </a:t>
            </a:r>
            <a:r>
              <a:rPr dirty="0" sz="1000">
                <a:latin typeface="Cambria"/>
                <a:cs typeface="Cambria"/>
              </a:rPr>
              <a:t>,</a:t>
            </a:r>
            <a:r>
              <a:rPr dirty="0" sz="1000" spc="-55">
                <a:latin typeface="Cambria"/>
                <a:cs typeface="Cambria"/>
              </a:rPr>
              <a:t> </a:t>
            </a:r>
            <a:r>
              <a:rPr dirty="0" sz="1000">
                <a:latin typeface="Times New Roman"/>
                <a:cs typeface="Times New Roman"/>
              </a:rPr>
              <a:t>T</a:t>
            </a:r>
            <a:r>
              <a:rPr dirty="0" sz="1000" spc="-25">
                <a:latin typeface="Times New Roman"/>
                <a:cs typeface="Times New Roman"/>
              </a:rPr>
              <a:t> </a:t>
            </a:r>
            <a:r>
              <a:rPr dirty="0" sz="1000" spc="165">
                <a:latin typeface="Cambria"/>
                <a:cs typeface="Cambria"/>
              </a:rPr>
              <a:t>−</a:t>
            </a:r>
            <a:r>
              <a:rPr dirty="0" sz="1000" spc="5">
                <a:latin typeface="Cambria"/>
                <a:cs typeface="Cambria"/>
              </a:rPr>
              <a:t> </a:t>
            </a:r>
            <a:r>
              <a:rPr dirty="0" sz="1000">
                <a:latin typeface="Cambria"/>
                <a:cs typeface="Cambria"/>
              </a:rPr>
              <a:t>1</a:t>
            </a:r>
            <a:r>
              <a:rPr dirty="0" sz="1000" spc="10">
                <a:latin typeface="Cambria"/>
                <a:cs typeface="Cambria"/>
              </a:rPr>
              <a:t> </a:t>
            </a:r>
            <a:r>
              <a:rPr dirty="0" sz="1000" spc="-25">
                <a:latin typeface="Times New Roman"/>
                <a:cs typeface="Times New Roman"/>
              </a:rPr>
              <a:t>do</a:t>
            </a:r>
            <a:endParaRPr sz="1000">
              <a:latin typeface="Times New Roman"/>
              <a:cs typeface="Times New Roman"/>
            </a:endParaRPr>
          </a:p>
          <a:p>
            <a:pPr>
              <a:lnSpc>
                <a:spcPct val="100000"/>
              </a:lnSpc>
              <a:spcBef>
                <a:spcPts val="580"/>
              </a:spcBef>
            </a:pPr>
            <a:endParaRPr sz="1000">
              <a:latin typeface="Times New Roman"/>
              <a:cs typeface="Times New Roman"/>
            </a:endParaRPr>
          </a:p>
          <a:p>
            <a:pPr marL="295275">
              <a:lnSpc>
                <a:spcPct val="100000"/>
              </a:lnSpc>
            </a:pPr>
            <a:r>
              <a:rPr dirty="0" sz="1000" spc="105">
                <a:latin typeface="SimSun"/>
                <a:cs typeface="SimSun"/>
              </a:rPr>
              <a:t>对于</a:t>
            </a:r>
            <a:r>
              <a:rPr dirty="0" sz="1000">
                <a:latin typeface="Times New Roman"/>
                <a:cs typeface="Times New Roman"/>
              </a:rPr>
              <a:t>t</a:t>
            </a:r>
            <a:r>
              <a:rPr dirty="0" sz="1000" spc="25">
                <a:latin typeface="Times New Roman"/>
                <a:cs typeface="Times New Roman"/>
              </a:rPr>
              <a:t> </a:t>
            </a:r>
            <a:r>
              <a:rPr dirty="0" sz="1000" spc="110">
                <a:latin typeface="Cambria"/>
                <a:cs typeface="Cambria"/>
              </a:rPr>
              <a:t>= </a:t>
            </a:r>
            <a:r>
              <a:rPr dirty="0" sz="1000" spc="-10">
                <a:latin typeface="Cambria"/>
                <a:cs typeface="Cambria"/>
              </a:rPr>
              <a:t>0, … , </a:t>
            </a:r>
            <a:r>
              <a:rPr dirty="0" sz="1000">
                <a:latin typeface="Times New Roman"/>
                <a:cs typeface="Times New Roman"/>
              </a:rPr>
              <a:t>T</a:t>
            </a:r>
            <a:r>
              <a:rPr dirty="0" sz="1000" spc="-30">
                <a:latin typeface="Times New Roman"/>
                <a:cs typeface="Times New Roman"/>
              </a:rPr>
              <a:t> </a:t>
            </a:r>
            <a:r>
              <a:rPr dirty="0" sz="1000" spc="80">
                <a:latin typeface="Cambria"/>
                <a:cs typeface="Cambria"/>
              </a:rPr>
              <a:t>− </a:t>
            </a:r>
            <a:r>
              <a:rPr dirty="0" sz="1000">
                <a:latin typeface="Cambria"/>
                <a:cs typeface="Cambria"/>
              </a:rPr>
              <a:t>1</a:t>
            </a:r>
            <a:r>
              <a:rPr dirty="0" sz="1000" spc="15">
                <a:latin typeface="Cambria"/>
                <a:cs typeface="Cambria"/>
              </a:rPr>
              <a:t> </a:t>
            </a:r>
            <a:r>
              <a:rPr dirty="0" sz="1000" spc="-30">
                <a:latin typeface="SimSun"/>
                <a:cs typeface="SimSun"/>
              </a:rPr>
              <a:t>执行</a:t>
            </a:r>
            <a:endParaRPr sz="1000">
              <a:latin typeface="SimSun"/>
              <a:cs typeface="SimSun"/>
            </a:endParaRPr>
          </a:p>
          <a:p>
            <a:pPr>
              <a:lnSpc>
                <a:spcPct val="100000"/>
              </a:lnSpc>
              <a:spcBef>
                <a:spcPts val="365"/>
              </a:spcBef>
            </a:pPr>
            <a:endParaRPr sz="1000">
              <a:latin typeface="SimSun"/>
              <a:cs typeface="SimSun"/>
            </a:endParaRPr>
          </a:p>
          <a:p>
            <a:pPr marL="621030">
              <a:lnSpc>
                <a:spcPct val="100000"/>
              </a:lnSpc>
            </a:pPr>
            <a:r>
              <a:rPr dirty="0" sz="1000">
                <a:latin typeface="Times New Roman"/>
                <a:cs typeface="Times New Roman"/>
              </a:rPr>
              <a:t>Feed-forward</a:t>
            </a:r>
            <a:r>
              <a:rPr dirty="0" sz="1000" spc="100">
                <a:latin typeface="Times New Roman"/>
                <a:cs typeface="Times New Roman"/>
              </a:rPr>
              <a:t> </a:t>
            </a:r>
            <a:r>
              <a:rPr dirty="0" sz="1000">
                <a:latin typeface="Times New Roman"/>
                <a:cs typeface="Times New Roman"/>
              </a:rPr>
              <a:t>the</a:t>
            </a:r>
            <a:r>
              <a:rPr dirty="0" sz="1000" spc="105">
                <a:latin typeface="Times New Roman"/>
                <a:cs typeface="Times New Roman"/>
              </a:rPr>
              <a:t> </a:t>
            </a:r>
            <a:r>
              <a:rPr dirty="0" sz="1000">
                <a:latin typeface="Times New Roman"/>
                <a:cs typeface="Times New Roman"/>
              </a:rPr>
              <a:t>batched</a:t>
            </a:r>
            <a:r>
              <a:rPr dirty="0" sz="1000" spc="100">
                <a:latin typeface="Times New Roman"/>
                <a:cs typeface="Times New Roman"/>
              </a:rPr>
              <a:t> </a:t>
            </a:r>
            <a:r>
              <a:rPr dirty="0" sz="1000">
                <a:latin typeface="Times New Roman"/>
                <a:cs typeface="Times New Roman"/>
              </a:rPr>
              <a:t>data</a:t>
            </a:r>
            <a:r>
              <a:rPr dirty="0" sz="1000" spc="105">
                <a:latin typeface="Times New Roman"/>
                <a:cs typeface="Times New Roman"/>
              </a:rPr>
              <a:t> </a:t>
            </a:r>
            <a:r>
              <a:rPr dirty="0" sz="1000">
                <a:latin typeface="Times New Roman"/>
                <a:cs typeface="Times New Roman"/>
              </a:rPr>
              <a:t>to</a:t>
            </a:r>
            <a:r>
              <a:rPr dirty="0" sz="1000" spc="105">
                <a:latin typeface="Times New Roman"/>
                <a:cs typeface="Times New Roman"/>
              </a:rPr>
              <a:t> </a:t>
            </a:r>
            <a:r>
              <a:rPr dirty="0" sz="1000">
                <a:latin typeface="Times New Roman"/>
                <a:cs typeface="Times New Roman"/>
              </a:rPr>
              <a:t>the</a:t>
            </a:r>
            <a:r>
              <a:rPr dirty="0" sz="1000" spc="100">
                <a:latin typeface="Times New Roman"/>
                <a:cs typeface="Times New Roman"/>
              </a:rPr>
              <a:t> </a:t>
            </a:r>
            <a:r>
              <a:rPr dirty="0" sz="1000" spc="-10">
                <a:latin typeface="Times New Roman"/>
                <a:cs typeface="Times New Roman"/>
              </a:rPr>
              <a:t>model.</a:t>
            </a:r>
            <a:endParaRPr sz="1000">
              <a:latin typeface="Times New Roman"/>
              <a:cs typeface="Times New Roman"/>
            </a:endParaRPr>
          </a:p>
          <a:p>
            <a:pPr>
              <a:lnSpc>
                <a:spcPct val="100000"/>
              </a:lnSpc>
              <a:spcBef>
                <a:spcPts val="585"/>
              </a:spcBef>
            </a:pPr>
            <a:endParaRPr sz="1000">
              <a:latin typeface="Times New Roman"/>
              <a:cs typeface="Times New Roman"/>
            </a:endParaRPr>
          </a:p>
          <a:p>
            <a:pPr marL="548005">
              <a:lnSpc>
                <a:spcPct val="100000"/>
              </a:lnSpc>
            </a:pPr>
            <a:r>
              <a:rPr dirty="0" sz="1000" spc="-15">
                <a:latin typeface="SimSun"/>
                <a:cs typeface="SimSun"/>
              </a:rPr>
              <a:t>将批处理数据前馈到模型中。</a:t>
            </a:r>
            <a:endParaRPr sz="1000">
              <a:latin typeface="SimSun"/>
              <a:cs typeface="SimSun"/>
            </a:endParaRPr>
          </a:p>
        </p:txBody>
      </p:sp>
      <p:sp>
        <p:nvSpPr>
          <p:cNvPr id="108" name="object 108"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184427"/>
            <a:ext cx="5760085" cy="335280"/>
            <a:chOff x="899998" y="1184427"/>
            <a:chExt cx="5760085" cy="335280"/>
          </a:xfrm>
        </p:grpSpPr>
        <p:sp>
          <p:nvSpPr>
            <p:cNvPr id="3" name="object 3" descr=""/>
            <p:cNvSpPr/>
            <p:nvPr/>
          </p:nvSpPr>
          <p:spPr>
            <a:xfrm>
              <a:off x="899998" y="1184427"/>
              <a:ext cx="5760085" cy="335280"/>
            </a:xfrm>
            <a:custGeom>
              <a:avLst/>
              <a:gdLst/>
              <a:ahLst/>
              <a:cxnLst/>
              <a:rect l="l" t="t" r="r" b="b"/>
              <a:pathLst>
                <a:path w="5760084" h="335280">
                  <a:moveTo>
                    <a:pt x="5724074" y="0"/>
                  </a:moveTo>
                  <a:lnTo>
                    <a:pt x="36000" y="0"/>
                  </a:lnTo>
                  <a:lnTo>
                    <a:pt x="21987" y="2829"/>
                  </a:lnTo>
                  <a:lnTo>
                    <a:pt x="10544" y="10544"/>
                  </a:lnTo>
                  <a:lnTo>
                    <a:pt x="2829" y="21987"/>
                  </a:lnTo>
                  <a:lnTo>
                    <a:pt x="0" y="36000"/>
                  </a:lnTo>
                  <a:lnTo>
                    <a:pt x="0" y="298936"/>
                  </a:lnTo>
                  <a:lnTo>
                    <a:pt x="2829" y="312949"/>
                  </a:lnTo>
                  <a:lnTo>
                    <a:pt x="10544" y="324392"/>
                  </a:lnTo>
                  <a:lnTo>
                    <a:pt x="21987" y="332108"/>
                  </a:lnTo>
                  <a:lnTo>
                    <a:pt x="36000" y="334937"/>
                  </a:lnTo>
                  <a:lnTo>
                    <a:pt x="5724074" y="334937"/>
                  </a:lnTo>
                  <a:lnTo>
                    <a:pt x="5738087" y="332108"/>
                  </a:lnTo>
                  <a:lnTo>
                    <a:pt x="5749530" y="324392"/>
                  </a:lnTo>
                  <a:lnTo>
                    <a:pt x="5757245" y="312949"/>
                  </a:lnTo>
                  <a:lnTo>
                    <a:pt x="5760074" y="29893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184427"/>
              <a:ext cx="5760085" cy="335280"/>
            </a:xfrm>
            <a:custGeom>
              <a:avLst/>
              <a:gdLst/>
              <a:ahLst/>
              <a:cxnLst/>
              <a:rect l="l" t="t" r="r" b="b"/>
              <a:pathLst>
                <a:path w="5760084" h="335280">
                  <a:moveTo>
                    <a:pt x="5724074" y="0"/>
                  </a:moveTo>
                  <a:lnTo>
                    <a:pt x="36000" y="0"/>
                  </a:lnTo>
                  <a:lnTo>
                    <a:pt x="21987" y="2829"/>
                  </a:lnTo>
                  <a:lnTo>
                    <a:pt x="10544" y="10544"/>
                  </a:lnTo>
                  <a:lnTo>
                    <a:pt x="2829" y="21987"/>
                  </a:lnTo>
                  <a:lnTo>
                    <a:pt x="0" y="36000"/>
                  </a:lnTo>
                  <a:lnTo>
                    <a:pt x="0" y="298936"/>
                  </a:lnTo>
                  <a:lnTo>
                    <a:pt x="2829" y="312949"/>
                  </a:lnTo>
                  <a:lnTo>
                    <a:pt x="10544" y="324392"/>
                  </a:lnTo>
                  <a:lnTo>
                    <a:pt x="21987" y="332108"/>
                  </a:lnTo>
                  <a:lnTo>
                    <a:pt x="36000" y="334937"/>
                  </a:lnTo>
                  <a:lnTo>
                    <a:pt x="5724074" y="334937"/>
                  </a:lnTo>
                  <a:lnTo>
                    <a:pt x="5738087" y="332108"/>
                  </a:lnTo>
                  <a:lnTo>
                    <a:pt x="5749530" y="324392"/>
                  </a:lnTo>
                  <a:lnTo>
                    <a:pt x="5757245" y="312949"/>
                  </a:lnTo>
                  <a:lnTo>
                    <a:pt x="5760074" y="29893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1914125"/>
            <a:ext cx="5760085" cy="334010"/>
            <a:chOff x="899998" y="1914125"/>
            <a:chExt cx="5760085" cy="334010"/>
          </a:xfrm>
        </p:grpSpPr>
        <p:sp>
          <p:nvSpPr>
            <p:cNvPr id="6" name="object 6" descr=""/>
            <p:cNvSpPr/>
            <p:nvPr/>
          </p:nvSpPr>
          <p:spPr>
            <a:xfrm>
              <a:off x="899998" y="1914125"/>
              <a:ext cx="5760085" cy="334010"/>
            </a:xfrm>
            <a:custGeom>
              <a:avLst/>
              <a:gdLst/>
              <a:ahLst/>
              <a:cxnLst/>
              <a:rect l="l" t="t" r="r" b="b"/>
              <a:pathLst>
                <a:path w="5760084" h="334010">
                  <a:moveTo>
                    <a:pt x="5724074" y="0"/>
                  </a:moveTo>
                  <a:lnTo>
                    <a:pt x="36000" y="0"/>
                  </a:lnTo>
                  <a:lnTo>
                    <a:pt x="21987" y="2829"/>
                  </a:lnTo>
                  <a:lnTo>
                    <a:pt x="10544" y="10544"/>
                  </a:lnTo>
                  <a:lnTo>
                    <a:pt x="2829" y="21987"/>
                  </a:lnTo>
                  <a:lnTo>
                    <a:pt x="0" y="36000"/>
                  </a:lnTo>
                  <a:lnTo>
                    <a:pt x="0" y="297419"/>
                  </a:lnTo>
                  <a:lnTo>
                    <a:pt x="2829" y="311432"/>
                  </a:lnTo>
                  <a:lnTo>
                    <a:pt x="10544" y="322875"/>
                  </a:lnTo>
                  <a:lnTo>
                    <a:pt x="21987" y="330590"/>
                  </a:lnTo>
                  <a:lnTo>
                    <a:pt x="36000" y="333419"/>
                  </a:lnTo>
                  <a:lnTo>
                    <a:pt x="5724074" y="333419"/>
                  </a:lnTo>
                  <a:lnTo>
                    <a:pt x="5738087" y="330590"/>
                  </a:lnTo>
                  <a:lnTo>
                    <a:pt x="5749530" y="322875"/>
                  </a:lnTo>
                  <a:lnTo>
                    <a:pt x="5757245" y="311432"/>
                  </a:lnTo>
                  <a:lnTo>
                    <a:pt x="5760074" y="29741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1914125"/>
              <a:ext cx="5760085" cy="334010"/>
            </a:xfrm>
            <a:custGeom>
              <a:avLst/>
              <a:gdLst/>
              <a:ahLst/>
              <a:cxnLst/>
              <a:rect l="l" t="t" r="r" b="b"/>
              <a:pathLst>
                <a:path w="5760084" h="334010">
                  <a:moveTo>
                    <a:pt x="5724074" y="0"/>
                  </a:moveTo>
                  <a:lnTo>
                    <a:pt x="36000" y="0"/>
                  </a:lnTo>
                  <a:lnTo>
                    <a:pt x="21987" y="2829"/>
                  </a:lnTo>
                  <a:lnTo>
                    <a:pt x="10544" y="10544"/>
                  </a:lnTo>
                  <a:lnTo>
                    <a:pt x="2829" y="21987"/>
                  </a:lnTo>
                  <a:lnTo>
                    <a:pt x="0" y="36000"/>
                  </a:lnTo>
                  <a:lnTo>
                    <a:pt x="0" y="297419"/>
                  </a:lnTo>
                  <a:lnTo>
                    <a:pt x="2829" y="311432"/>
                  </a:lnTo>
                  <a:lnTo>
                    <a:pt x="10544" y="322875"/>
                  </a:lnTo>
                  <a:lnTo>
                    <a:pt x="21987" y="330590"/>
                  </a:lnTo>
                  <a:lnTo>
                    <a:pt x="36000" y="333419"/>
                  </a:lnTo>
                  <a:lnTo>
                    <a:pt x="5724074" y="333419"/>
                  </a:lnTo>
                  <a:lnTo>
                    <a:pt x="5738087" y="330590"/>
                  </a:lnTo>
                  <a:lnTo>
                    <a:pt x="5749530" y="322875"/>
                  </a:lnTo>
                  <a:lnTo>
                    <a:pt x="5757245" y="311432"/>
                  </a:lnTo>
                  <a:lnTo>
                    <a:pt x="5760074" y="29741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2642295"/>
            <a:ext cx="5760085" cy="334645"/>
            <a:chOff x="899998" y="2642295"/>
            <a:chExt cx="5760085" cy="334645"/>
          </a:xfrm>
        </p:grpSpPr>
        <p:sp>
          <p:nvSpPr>
            <p:cNvPr id="9" name="object 9" descr=""/>
            <p:cNvSpPr/>
            <p:nvPr/>
          </p:nvSpPr>
          <p:spPr>
            <a:xfrm>
              <a:off x="899998" y="2642295"/>
              <a:ext cx="5760085" cy="334645"/>
            </a:xfrm>
            <a:custGeom>
              <a:avLst/>
              <a:gdLst/>
              <a:ahLst/>
              <a:cxnLst/>
              <a:rect l="l" t="t" r="r" b="b"/>
              <a:pathLst>
                <a:path w="5760084" h="334644">
                  <a:moveTo>
                    <a:pt x="5724074" y="0"/>
                  </a:moveTo>
                  <a:lnTo>
                    <a:pt x="36000" y="0"/>
                  </a:lnTo>
                  <a:lnTo>
                    <a:pt x="21987" y="2829"/>
                  </a:lnTo>
                  <a:lnTo>
                    <a:pt x="10544" y="10544"/>
                  </a:lnTo>
                  <a:lnTo>
                    <a:pt x="2829" y="21987"/>
                  </a:lnTo>
                  <a:lnTo>
                    <a:pt x="0" y="36000"/>
                  </a:lnTo>
                  <a:lnTo>
                    <a:pt x="0" y="298051"/>
                  </a:lnTo>
                  <a:lnTo>
                    <a:pt x="2829" y="312064"/>
                  </a:lnTo>
                  <a:lnTo>
                    <a:pt x="10544" y="323507"/>
                  </a:lnTo>
                  <a:lnTo>
                    <a:pt x="21987" y="331222"/>
                  </a:lnTo>
                  <a:lnTo>
                    <a:pt x="36000" y="334051"/>
                  </a:lnTo>
                  <a:lnTo>
                    <a:pt x="5724074" y="334051"/>
                  </a:lnTo>
                  <a:lnTo>
                    <a:pt x="5738087" y="331222"/>
                  </a:lnTo>
                  <a:lnTo>
                    <a:pt x="5749530" y="323507"/>
                  </a:lnTo>
                  <a:lnTo>
                    <a:pt x="5757245" y="312064"/>
                  </a:lnTo>
                  <a:lnTo>
                    <a:pt x="5760074" y="29805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2642295"/>
              <a:ext cx="5760085" cy="334645"/>
            </a:xfrm>
            <a:custGeom>
              <a:avLst/>
              <a:gdLst/>
              <a:ahLst/>
              <a:cxnLst/>
              <a:rect l="l" t="t" r="r" b="b"/>
              <a:pathLst>
                <a:path w="5760084" h="334644">
                  <a:moveTo>
                    <a:pt x="5724074" y="0"/>
                  </a:moveTo>
                  <a:lnTo>
                    <a:pt x="36000" y="0"/>
                  </a:lnTo>
                  <a:lnTo>
                    <a:pt x="21987" y="2829"/>
                  </a:lnTo>
                  <a:lnTo>
                    <a:pt x="10544" y="10544"/>
                  </a:lnTo>
                  <a:lnTo>
                    <a:pt x="2829" y="21987"/>
                  </a:lnTo>
                  <a:lnTo>
                    <a:pt x="0" y="36000"/>
                  </a:lnTo>
                  <a:lnTo>
                    <a:pt x="0" y="298051"/>
                  </a:lnTo>
                  <a:lnTo>
                    <a:pt x="2829" y="312064"/>
                  </a:lnTo>
                  <a:lnTo>
                    <a:pt x="10544" y="323507"/>
                  </a:lnTo>
                  <a:lnTo>
                    <a:pt x="21987" y="331222"/>
                  </a:lnTo>
                  <a:lnTo>
                    <a:pt x="36000" y="334051"/>
                  </a:lnTo>
                  <a:lnTo>
                    <a:pt x="5724074" y="334051"/>
                  </a:lnTo>
                  <a:lnTo>
                    <a:pt x="5738087" y="331222"/>
                  </a:lnTo>
                  <a:lnTo>
                    <a:pt x="5749530" y="323507"/>
                  </a:lnTo>
                  <a:lnTo>
                    <a:pt x="5757245" y="312064"/>
                  </a:lnTo>
                  <a:lnTo>
                    <a:pt x="5760074" y="29805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3371103"/>
            <a:ext cx="5760085" cy="335915"/>
            <a:chOff x="899998" y="3371103"/>
            <a:chExt cx="5760085" cy="335915"/>
          </a:xfrm>
        </p:grpSpPr>
        <p:sp>
          <p:nvSpPr>
            <p:cNvPr id="12" name="object 12" descr=""/>
            <p:cNvSpPr/>
            <p:nvPr/>
          </p:nvSpPr>
          <p:spPr>
            <a:xfrm>
              <a:off x="899998" y="3371103"/>
              <a:ext cx="5760085" cy="335915"/>
            </a:xfrm>
            <a:custGeom>
              <a:avLst/>
              <a:gdLst/>
              <a:ahLst/>
              <a:cxnLst/>
              <a:rect l="l" t="t" r="r" b="b"/>
              <a:pathLst>
                <a:path w="5760084" h="335914">
                  <a:moveTo>
                    <a:pt x="5724074" y="0"/>
                  </a:moveTo>
                  <a:lnTo>
                    <a:pt x="36000" y="0"/>
                  </a:lnTo>
                  <a:lnTo>
                    <a:pt x="21987" y="2829"/>
                  </a:lnTo>
                  <a:lnTo>
                    <a:pt x="10544" y="10544"/>
                  </a:lnTo>
                  <a:lnTo>
                    <a:pt x="2829" y="21987"/>
                  </a:lnTo>
                  <a:lnTo>
                    <a:pt x="0" y="36000"/>
                  </a:lnTo>
                  <a:lnTo>
                    <a:pt x="0" y="299696"/>
                  </a:lnTo>
                  <a:lnTo>
                    <a:pt x="2829" y="313709"/>
                  </a:lnTo>
                  <a:lnTo>
                    <a:pt x="10544" y="325152"/>
                  </a:lnTo>
                  <a:lnTo>
                    <a:pt x="21987" y="332867"/>
                  </a:lnTo>
                  <a:lnTo>
                    <a:pt x="36000" y="335696"/>
                  </a:lnTo>
                  <a:lnTo>
                    <a:pt x="5724074" y="335696"/>
                  </a:lnTo>
                  <a:lnTo>
                    <a:pt x="5738087" y="332867"/>
                  </a:lnTo>
                  <a:lnTo>
                    <a:pt x="5749530" y="325152"/>
                  </a:lnTo>
                  <a:lnTo>
                    <a:pt x="5757245" y="313709"/>
                  </a:lnTo>
                  <a:lnTo>
                    <a:pt x="5760074" y="29969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3371103"/>
              <a:ext cx="5760085" cy="335915"/>
            </a:xfrm>
            <a:custGeom>
              <a:avLst/>
              <a:gdLst/>
              <a:ahLst/>
              <a:cxnLst/>
              <a:rect l="l" t="t" r="r" b="b"/>
              <a:pathLst>
                <a:path w="5760084" h="335914">
                  <a:moveTo>
                    <a:pt x="5724074" y="0"/>
                  </a:moveTo>
                  <a:lnTo>
                    <a:pt x="36000" y="0"/>
                  </a:lnTo>
                  <a:lnTo>
                    <a:pt x="21987" y="2829"/>
                  </a:lnTo>
                  <a:lnTo>
                    <a:pt x="10544" y="10544"/>
                  </a:lnTo>
                  <a:lnTo>
                    <a:pt x="2829" y="21987"/>
                  </a:lnTo>
                  <a:lnTo>
                    <a:pt x="0" y="36000"/>
                  </a:lnTo>
                  <a:lnTo>
                    <a:pt x="0" y="299696"/>
                  </a:lnTo>
                  <a:lnTo>
                    <a:pt x="2829" y="313709"/>
                  </a:lnTo>
                  <a:lnTo>
                    <a:pt x="10544" y="325152"/>
                  </a:lnTo>
                  <a:lnTo>
                    <a:pt x="21987" y="332867"/>
                  </a:lnTo>
                  <a:lnTo>
                    <a:pt x="36000" y="335696"/>
                  </a:lnTo>
                  <a:lnTo>
                    <a:pt x="5724074" y="335696"/>
                  </a:lnTo>
                  <a:lnTo>
                    <a:pt x="5738087" y="332867"/>
                  </a:lnTo>
                  <a:lnTo>
                    <a:pt x="5749530" y="325152"/>
                  </a:lnTo>
                  <a:lnTo>
                    <a:pt x="5757245" y="313709"/>
                  </a:lnTo>
                  <a:lnTo>
                    <a:pt x="5760074" y="29969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4101551"/>
            <a:ext cx="5760085" cy="338455"/>
            <a:chOff x="899998" y="4101551"/>
            <a:chExt cx="5760085" cy="338455"/>
          </a:xfrm>
        </p:grpSpPr>
        <p:sp>
          <p:nvSpPr>
            <p:cNvPr id="15" name="object 15" descr=""/>
            <p:cNvSpPr/>
            <p:nvPr/>
          </p:nvSpPr>
          <p:spPr>
            <a:xfrm>
              <a:off x="899998" y="4101551"/>
              <a:ext cx="5760085" cy="338455"/>
            </a:xfrm>
            <a:custGeom>
              <a:avLst/>
              <a:gdLst/>
              <a:ahLst/>
              <a:cxnLst/>
              <a:rect l="l" t="t" r="r" b="b"/>
              <a:pathLst>
                <a:path w="5760084" h="338454">
                  <a:moveTo>
                    <a:pt x="5724074" y="0"/>
                  </a:moveTo>
                  <a:lnTo>
                    <a:pt x="36000" y="0"/>
                  </a:lnTo>
                  <a:lnTo>
                    <a:pt x="21987" y="2829"/>
                  </a:lnTo>
                  <a:lnTo>
                    <a:pt x="10544" y="10544"/>
                  </a:lnTo>
                  <a:lnTo>
                    <a:pt x="2829" y="21987"/>
                  </a:lnTo>
                  <a:lnTo>
                    <a:pt x="0" y="36000"/>
                  </a:lnTo>
                  <a:lnTo>
                    <a:pt x="0" y="301847"/>
                  </a:lnTo>
                  <a:lnTo>
                    <a:pt x="2829" y="315860"/>
                  </a:lnTo>
                  <a:lnTo>
                    <a:pt x="10544" y="327303"/>
                  </a:lnTo>
                  <a:lnTo>
                    <a:pt x="21987" y="335018"/>
                  </a:lnTo>
                  <a:lnTo>
                    <a:pt x="36000" y="337847"/>
                  </a:lnTo>
                  <a:lnTo>
                    <a:pt x="5724074" y="337847"/>
                  </a:lnTo>
                  <a:lnTo>
                    <a:pt x="5738087" y="335018"/>
                  </a:lnTo>
                  <a:lnTo>
                    <a:pt x="5749530" y="327303"/>
                  </a:lnTo>
                  <a:lnTo>
                    <a:pt x="5757245" y="315860"/>
                  </a:lnTo>
                  <a:lnTo>
                    <a:pt x="5760074" y="30184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4101551"/>
              <a:ext cx="5760085" cy="338455"/>
            </a:xfrm>
            <a:custGeom>
              <a:avLst/>
              <a:gdLst/>
              <a:ahLst/>
              <a:cxnLst/>
              <a:rect l="l" t="t" r="r" b="b"/>
              <a:pathLst>
                <a:path w="5760084" h="338454">
                  <a:moveTo>
                    <a:pt x="5724074" y="0"/>
                  </a:moveTo>
                  <a:lnTo>
                    <a:pt x="36000" y="0"/>
                  </a:lnTo>
                  <a:lnTo>
                    <a:pt x="21987" y="2829"/>
                  </a:lnTo>
                  <a:lnTo>
                    <a:pt x="10544" y="10544"/>
                  </a:lnTo>
                  <a:lnTo>
                    <a:pt x="2829" y="21987"/>
                  </a:lnTo>
                  <a:lnTo>
                    <a:pt x="0" y="36000"/>
                  </a:lnTo>
                  <a:lnTo>
                    <a:pt x="0" y="301847"/>
                  </a:lnTo>
                  <a:lnTo>
                    <a:pt x="2829" y="315860"/>
                  </a:lnTo>
                  <a:lnTo>
                    <a:pt x="10544" y="327303"/>
                  </a:lnTo>
                  <a:lnTo>
                    <a:pt x="21987" y="335018"/>
                  </a:lnTo>
                  <a:lnTo>
                    <a:pt x="36000" y="337847"/>
                  </a:lnTo>
                  <a:lnTo>
                    <a:pt x="5724074" y="337847"/>
                  </a:lnTo>
                  <a:lnTo>
                    <a:pt x="5738087" y="335018"/>
                  </a:lnTo>
                  <a:lnTo>
                    <a:pt x="5749530" y="327303"/>
                  </a:lnTo>
                  <a:lnTo>
                    <a:pt x="5757245" y="315860"/>
                  </a:lnTo>
                  <a:lnTo>
                    <a:pt x="5760074" y="30184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4834156"/>
            <a:ext cx="5760085" cy="340995"/>
            <a:chOff x="899998" y="4834156"/>
            <a:chExt cx="5760085" cy="340995"/>
          </a:xfrm>
        </p:grpSpPr>
        <p:sp>
          <p:nvSpPr>
            <p:cNvPr id="18" name="object 18" descr=""/>
            <p:cNvSpPr/>
            <p:nvPr/>
          </p:nvSpPr>
          <p:spPr>
            <a:xfrm>
              <a:off x="899998" y="4834156"/>
              <a:ext cx="5760085" cy="340995"/>
            </a:xfrm>
            <a:custGeom>
              <a:avLst/>
              <a:gdLst/>
              <a:ahLst/>
              <a:cxnLst/>
              <a:rect l="l" t="t" r="r" b="b"/>
              <a:pathLst>
                <a:path w="5760084" h="340995">
                  <a:moveTo>
                    <a:pt x="5724074" y="0"/>
                  </a:moveTo>
                  <a:lnTo>
                    <a:pt x="36000" y="0"/>
                  </a:lnTo>
                  <a:lnTo>
                    <a:pt x="21987" y="2829"/>
                  </a:lnTo>
                  <a:lnTo>
                    <a:pt x="10544" y="10544"/>
                  </a:lnTo>
                  <a:lnTo>
                    <a:pt x="2829" y="21987"/>
                  </a:lnTo>
                  <a:lnTo>
                    <a:pt x="0" y="36000"/>
                  </a:lnTo>
                  <a:lnTo>
                    <a:pt x="0" y="304407"/>
                  </a:lnTo>
                  <a:lnTo>
                    <a:pt x="2829" y="318420"/>
                  </a:lnTo>
                  <a:lnTo>
                    <a:pt x="10544" y="329864"/>
                  </a:lnTo>
                  <a:lnTo>
                    <a:pt x="21987" y="337579"/>
                  </a:lnTo>
                  <a:lnTo>
                    <a:pt x="36000" y="340408"/>
                  </a:lnTo>
                  <a:lnTo>
                    <a:pt x="5724074" y="340408"/>
                  </a:lnTo>
                  <a:lnTo>
                    <a:pt x="5738087" y="337579"/>
                  </a:lnTo>
                  <a:lnTo>
                    <a:pt x="5749530" y="329864"/>
                  </a:lnTo>
                  <a:lnTo>
                    <a:pt x="5757245" y="318420"/>
                  </a:lnTo>
                  <a:lnTo>
                    <a:pt x="5760074" y="30440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4834156"/>
              <a:ext cx="5760085" cy="340995"/>
            </a:xfrm>
            <a:custGeom>
              <a:avLst/>
              <a:gdLst/>
              <a:ahLst/>
              <a:cxnLst/>
              <a:rect l="l" t="t" r="r" b="b"/>
              <a:pathLst>
                <a:path w="5760084" h="340995">
                  <a:moveTo>
                    <a:pt x="5724074" y="0"/>
                  </a:moveTo>
                  <a:lnTo>
                    <a:pt x="36000" y="0"/>
                  </a:lnTo>
                  <a:lnTo>
                    <a:pt x="21987" y="2829"/>
                  </a:lnTo>
                  <a:lnTo>
                    <a:pt x="10544" y="10544"/>
                  </a:lnTo>
                  <a:lnTo>
                    <a:pt x="2829" y="21987"/>
                  </a:lnTo>
                  <a:lnTo>
                    <a:pt x="0" y="36000"/>
                  </a:lnTo>
                  <a:lnTo>
                    <a:pt x="0" y="304407"/>
                  </a:lnTo>
                  <a:lnTo>
                    <a:pt x="2829" y="318420"/>
                  </a:lnTo>
                  <a:lnTo>
                    <a:pt x="10544" y="329864"/>
                  </a:lnTo>
                  <a:lnTo>
                    <a:pt x="21987" y="337579"/>
                  </a:lnTo>
                  <a:lnTo>
                    <a:pt x="36000" y="340408"/>
                  </a:lnTo>
                  <a:lnTo>
                    <a:pt x="5724074" y="340408"/>
                  </a:lnTo>
                  <a:lnTo>
                    <a:pt x="5738087" y="337579"/>
                  </a:lnTo>
                  <a:lnTo>
                    <a:pt x="5749530" y="329864"/>
                  </a:lnTo>
                  <a:lnTo>
                    <a:pt x="5757245" y="318420"/>
                  </a:lnTo>
                  <a:lnTo>
                    <a:pt x="5760074" y="30440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20" name="object 20" descr=""/>
          <p:cNvGrpSpPr/>
          <p:nvPr/>
        </p:nvGrpSpPr>
        <p:grpSpPr>
          <a:xfrm>
            <a:off x="899998" y="5569329"/>
            <a:ext cx="5760085" cy="338455"/>
            <a:chOff x="899998" y="5569329"/>
            <a:chExt cx="5760085" cy="338455"/>
          </a:xfrm>
        </p:grpSpPr>
        <p:sp>
          <p:nvSpPr>
            <p:cNvPr id="21" name="object 21" descr=""/>
            <p:cNvSpPr/>
            <p:nvPr/>
          </p:nvSpPr>
          <p:spPr>
            <a:xfrm>
              <a:off x="899998" y="5569329"/>
              <a:ext cx="5760085" cy="338455"/>
            </a:xfrm>
            <a:custGeom>
              <a:avLst/>
              <a:gdLst/>
              <a:ahLst/>
              <a:cxnLst/>
              <a:rect l="l" t="t" r="r" b="b"/>
              <a:pathLst>
                <a:path w="5760084" h="338454">
                  <a:moveTo>
                    <a:pt x="5724074" y="0"/>
                  </a:moveTo>
                  <a:lnTo>
                    <a:pt x="36000" y="0"/>
                  </a:lnTo>
                  <a:lnTo>
                    <a:pt x="21987" y="2829"/>
                  </a:lnTo>
                  <a:lnTo>
                    <a:pt x="10544" y="10544"/>
                  </a:lnTo>
                  <a:lnTo>
                    <a:pt x="2829" y="21987"/>
                  </a:lnTo>
                  <a:lnTo>
                    <a:pt x="0" y="36000"/>
                  </a:lnTo>
                  <a:lnTo>
                    <a:pt x="0" y="301847"/>
                  </a:lnTo>
                  <a:lnTo>
                    <a:pt x="2829" y="315860"/>
                  </a:lnTo>
                  <a:lnTo>
                    <a:pt x="10544" y="327303"/>
                  </a:lnTo>
                  <a:lnTo>
                    <a:pt x="21987" y="335018"/>
                  </a:lnTo>
                  <a:lnTo>
                    <a:pt x="36000" y="337847"/>
                  </a:lnTo>
                  <a:lnTo>
                    <a:pt x="5724074" y="337847"/>
                  </a:lnTo>
                  <a:lnTo>
                    <a:pt x="5738087" y="335018"/>
                  </a:lnTo>
                  <a:lnTo>
                    <a:pt x="5749530" y="327303"/>
                  </a:lnTo>
                  <a:lnTo>
                    <a:pt x="5757245" y="315860"/>
                  </a:lnTo>
                  <a:lnTo>
                    <a:pt x="5760074" y="30184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2" name="object 22" descr=""/>
            <p:cNvSpPr/>
            <p:nvPr/>
          </p:nvSpPr>
          <p:spPr>
            <a:xfrm>
              <a:off x="899998" y="5569329"/>
              <a:ext cx="5760085" cy="338455"/>
            </a:xfrm>
            <a:custGeom>
              <a:avLst/>
              <a:gdLst/>
              <a:ahLst/>
              <a:cxnLst/>
              <a:rect l="l" t="t" r="r" b="b"/>
              <a:pathLst>
                <a:path w="5760084" h="338454">
                  <a:moveTo>
                    <a:pt x="5724074" y="0"/>
                  </a:moveTo>
                  <a:lnTo>
                    <a:pt x="36000" y="0"/>
                  </a:lnTo>
                  <a:lnTo>
                    <a:pt x="21987" y="2829"/>
                  </a:lnTo>
                  <a:lnTo>
                    <a:pt x="10544" y="10544"/>
                  </a:lnTo>
                  <a:lnTo>
                    <a:pt x="2829" y="21987"/>
                  </a:lnTo>
                  <a:lnTo>
                    <a:pt x="0" y="36000"/>
                  </a:lnTo>
                  <a:lnTo>
                    <a:pt x="0" y="301847"/>
                  </a:lnTo>
                  <a:lnTo>
                    <a:pt x="2829" y="315860"/>
                  </a:lnTo>
                  <a:lnTo>
                    <a:pt x="10544" y="327303"/>
                  </a:lnTo>
                  <a:lnTo>
                    <a:pt x="21987" y="335018"/>
                  </a:lnTo>
                  <a:lnTo>
                    <a:pt x="36000" y="337847"/>
                  </a:lnTo>
                  <a:lnTo>
                    <a:pt x="5724074" y="337847"/>
                  </a:lnTo>
                  <a:lnTo>
                    <a:pt x="5738087" y="335018"/>
                  </a:lnTo>
                  <a:lnTo>
                    <a:pt x="5749530" y="327303"/>
                  </a:lnTo>
                  <a:lnTo>
                    <a:pt x="5757245" y="315860"/>
                  </a:lnTo>
                  <a:lnTo>
                    <a:pt x="5760074" y="30184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23" name="object 23" descr=""/>
          <p:cNvGrpSpPr/>
          <p:nvPr/>
        </p:nvGrpSpPr>
        <p:grpSpPr>
          <a:xfrm>
            <a:off x="899998" y="6301926"/>
            <a:ext cx="5760085" cy="334645"/>
            <a:chOff x="899998" y="6301926"/>
            <a:chExt cx="5760085" cy="334645"/>
          </a:xfrm>
        </p:grpSpPr>
        <p:sp>
          <p:nvSpPr>
            <p:cNvPr id="24" name="object 24" descr=""/>
            <p:cNvSpPr/>
            <p:nvPr/>
          </p:nvSpPr>
          <p:spPr>
            <a:xfrm>
              <a:off x="899998" y="6301926"/>
              <a:ext cx="5760085" cy="334645"/>
            </a:xfrm>
            <a:custGeom>
              <a:avLst/>
              <a:gdLst/>
              <a:ahLst/>
              <a:cxnLst/>
              <a:rect l="l" t="t" r="r" b="b"/>
              <a:pathLst>
                <a:path w="5760084" h="334645">
                  <a:moveTo>
                    <a:pt x="5724074" y="0"/>
                  </a:moveTo>
                  <a:lnTo>
                    <a:pt x="36000" y="0"/>
                  </a:lnTo>
                  <a:lnTo>
                    <a:pt x="21987" y="2829"/>
                  </a:lnTo>
                  <a:lnTo>
                    <a:pt x="10544" y="10544"/>
                  </a:lnTo>
                  <a:lnTo>
                    <a:pt x="2829" y="21987"/>
                  </a:lnTo>
                  <a:lnTo>
                    <a:pt x="0" y="36000"/>
                  </a:lnTo>
                  <a:lnTo>
                    <a:pt x="0" y="298051"/>
                  </a:lnTo>
                  <a:lnTo>
                    <a:pt x="2829" y="312064"/>
                  </a:lnTo>
                  <a:lnTo>
                    <a:pt x="10544" y="323507"/>
                  </a:lnTo>
                  <a:lnTo>
                    <a:pt x="21987" y="331222"/>
                  </a:lnTo>
                  <a:lnTo>
                    <a:pt x="36000" y="334051"/>
                  </a:lnTo>
                  <a:lnTo>
                    <a:pt x="5724074" y="334051"/>
                  </a:lnTo>
                  <a:lnTo>
                    <a:pt x="5738087" y="331222"/>
                  </a:lnTo>
                  <a:lnTo>
                    <a:pt x="5749530" y="323507"/>
                  </a:lnTo>
                  <a:lnTo>
                    <a:pt x="5757245" y="312064"/>
                  </a:lnTo>
                  <a:lnTo>
                    <a:pt x="5760074" y="29805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5" name="object 25" descr=""/>
            <p:cNvSpPr/>
            <p:nvPr/>
          </p:nvSpPr>
          <p:spPr>
            <a:xfrm>
              <a:off x="899998" y="6301926"/>
              <a:ext cx="5760085" cy="334645"/>
            </a:xfrm>
            <a:custGeom>
              <a:avLst/>
              <a:gdLst/>
              <a:ahLst/>
              <a:cxnLst/>
              <a:rect l="l" t="t" r="r" b="b"/>
              <a:pathLst>
                <a:path w="5760084" h="334645">
                  <a:moveTo>
                    <a:pt x="5724074" y="0"/>
                  </a:moveTo>
                  <a:lnTo>
                    <a:pt x="36000" y="0"/>
                  </a:lnTo>
                  <a:lnTo>
                    <a:pt x="21987" y="2829"/>
                  </a:lnTo>
                  <a:lnTo>
                    <a:pt x="10544" y="10544"/>
                  </a:lnTo>
                  <a:lnTo>
                    <a:pt x="2829" y="21987"/>
                  </a:lnTo>
                  <a:lnTo>
                    <a:pt x="0" y="36000"/>
                  </a:lnTo>
                  <a:lnTo>
                    <a:pt x="0" y="298051"/>
                  </a:lnTo>
                  <a:lnTo>
                    <a:pt x="2829" y="312064"/>
                  </a:lnTo>
                  <a:lnTo>
                    <a:pt x="10544" y="323507"/>
                  </a:lnTo>
                  <a:lnTo>
                    <a:pt x="21987" y="331222"/>
                  </a:lnTo>
                  <a:lnTo>
                    <a:pt x="36000" y="334051"/>
                  </a:lnTo>
                  <a:lnTo>
                    <a:pt x="5724074" y="334051"/>
                  </a:lnTo>
                  <a:lnTo>
                    <a:pt x="5738087" y="331222"/>
                  </a:lnTo>
                  <a:lnTo>
                    <a:pt x="5749530" y="323507"/>
                  </a:lnTo>
                  <a:lnTo>
                    <a:pt x="5757245" y="312064"/>
                  </a:lnTo>
                  <a:lnTo>
                    <a:pt x="5760074" y="29805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26" name="object 26" descr=""/>
          <p:cNvGrpSpPr/>
          <p:nvPr/>
        </p:nvGrpSpPr>
        <p:grpSpPr>
          <a:xfrm>
            <a:off x="899998" y="7030738"/>
            <a:ext cx="5760085" cy="333375"/>
            <a:chOff x="899998" y="7030738"/>
            <a:chExt cx="5760085" cy="333375"/>
          </a:xfrm>
        </p:grpSpPr>
        <p:sp>
          <p:nvSpPr>
            <p:cNvPr id="27" name="object 27" descr=""/>
            <p:cNvSpPr/>
            <p:nvPr/>
          </p:nvSpPr>
          <p:spPr>
            <a:xfrm>
              <a:off x="899998" y="7030738"/>
              <a:ext cx="5760085" cy="333375"/>
            </a:xfrm>
            <a:custGeom>
              <a:avLst/>
              <a:gdLst/>
              <a:ahLst/>
              <a:cxnLst/>
              <a:rect l="l" t="t" r="r" b="b"/>
              <a:pathLst>
                <a:path w="5760084" h="333375">
                  <a:moveTo>
                    <a:pt x="5724074" y="0"/>
                  </a:moveTo>
                  <a:lnTo>
                    <a:pt x="36000" y="0"/>
                  </a:lnTo>
                  <a:lnTo>
                    <a:pt x="21987" y="2829"/>
                  </a:lnTo>
                  <a:lnTo>
                    <a:pt x="10544" y="10544"/>
                  </a:lnTo>
                  <a:lnTo>
                    <a:pt x="2829" y="21987"/>
                  </a:lnTo>
                  <a:lnTo>
                    <a:pt x="0" y="36000"/>
                  </a:lnTo>
                  <a:lnTo>
                    <a:pt x="0" y="297039"/>
                  </a:lnTo>
                  <a:lnTo>
                    <a:pt x="2829" y="311052"/>
                  </a:lnTo>
                  <a:lnTo>
                    <a:pt x="10544" y="322495"/>
                  </a:lnTo>
                  <a:lnTo>
                    <a:pt x="21987" y="330210"/>
                  </a:lnTo>
                  <a:lnTo>
                    <a:pt x="36000" y="333039"/>
                  </a:lnTo>
                  <a:lnTo>
                    <a:pt x="5724074" y="333039"/>
                  </a:lnTo>
                  <a:lnTo>
                    <a:pt x="5738087" y="330210"/>
                  </a:lnTo>
                  <a:lnTo>
                    <a:pt x="5749530" y="322495"/>
                  </a:lnTo>
                  <a:lnTo>
                    <a:pt x="5757245" y="311052"/>
                  </a:lnTo>
                  <a:lnTo>
                    <a:pt x="5760074" y="29703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8" name="object 28" descr=""/>
            <p:cNvSpPr/>
            <p:nvPr/>
          </p:nvSpPr>
          <p:spPr>
            <a:xfrm>
              <a:off x="899998" y="7030738"/>
              <a:ext cx="5760085" cy="333375"/>
            </a:xfrm>
            <a:custGeom>
              <a:avLst/>
              <a:gdLst/>
              <a:ahLst/>
              <a:cxnLst/>
              <a:rect l="l" t="t" r="r" b="b"/>
              <a:pathLst>
                <a:path w="5760084" h="333375">
                  <a:moveTo>
                    <a:pt x="5724074" y="0"/>
                  </a:moveTo>
                  <a:lnTo>
                    <a:pt x="36000" y="0"/>
                  </a:lnTo>
                  <a:lnTo>
                    <a:pt x="21987" y="2829"/>
                  </a:lnTo>
                  <a:lnTo>
                    <a:pt x="10544" y="10544"/>
                  </a:lnTo>
                  <a:lnTo>
                    <a:pt x="2829" y="21987"/>
                  </a:lnTo>
                  <a:lnTo>
                    <a:pt x="0" y="36000"/>
                  </a:lnTo>
                  <a:lnTo>
                    <a:pt x="0" y="297039"/>
                  </a:lnTo>
                  <a:lnTo>
                    <a:pt x="2829" y="311052"/>
                  </a:lnTo>
                  <a:lnTo>
                    <a:pt x="10544" y="322495"/>
                  </a:lnTo>
                  <a:lnTo>
                    <a:pt x="21987" y="330210"/>
                  </a:lnTo>
                  <a:lnTo>
                    <a:pt x="36000" y="333039"/>
                  </a:lnTo>
                  <a:lnTo>
                    <a:pt x="5724074" y="333039"/>
                  </a:lnTo>
                  <a:lnTo>
                    <a:pt x="5738087" y="330210"/>
                  </a:lnTo>
                  <a:lnTo>
                    <a:pt x="5749530" y="322495"/>
                  </a:lnTo>
                  <a:lnTo>
                    <a:pt x="5757245" y="311052"/>
                  </a:lnTo>
                  <a:lnTo>
                    <a:pt x="5760074" y="29703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9" name="object 29" descr=""/>
          <p:cNvSpPr txBox="1"/>
          <p:nvPr/>
        </p:nvSpPr>
        <p:spPr>
          <a:xfrm>
            <a:off x="1425333" y="887303"/>
            <a:ext cx="2748280" cy="6396355"/>
          </a:xfrm>
          <a:prstGeom prst="rect">
            <a:avLst/>
          </a:prstGeom>
        </p:spPr>
        <p:txBody>
          <a:bodyPr wrap="square" lIns="0" tIns="12065" rIns="0" bIns="0" rtlCol="0" vert="horz">
            <a:spAutoFit/>
          </a:bodyPr>
          <a:lstStyle/>
          <a:p>
            <a:pPr marL="263525">
              <a:lnSpc>
                <a:spcPct val="100000"/>
              </a:lnSpc>
              <a:spcBef>
                <a:spcPts val="95"/>
              </a:spcBef>
            </a:pPr>
            <a:r>
              <a:rPr dirty="0" sz="1000" spc="10">
                <a:latin typeface="Times New Roman"/>
                <a:cs typeface="Times New Roman"/>
              </a:rPr>
              <a:t>Calculate</a:t>
            </a:r>
            <a:r>
              <a:rPr dirty="0" sz="1000" spc="25">
                <a:latin typeface="Times New Roman"/>
                <a:cs typeface="Times New Roman"/>
              </a:rPr>
              <a:t> </a:t>
            </a:r>
            <a:r>
              <a:rPr dirty="0" sz="1000" spc="10">
                <a:latin typeface="Times New Roman"/>
                <a:cs typeface="Times New Roman"/>
              </a:rPr>
              <a:t>unimodal</a:t>
            </a:r>
            <a:r>
              <a:rPr dirty="0" sz="1000" spc="30">
                <a:latin typeface="Times New Roman"/>
                <a:cs typeface="Times New Roman"/>
              </a:rPr>
              <a:t> </a:t>
            </a:r>
            <a:r>
              <a:rPr dirty="0" sz="1000" spc="10">
                <a:latin typeface="Times New Roman"/>
                <a:cs typeface="Times New Roman"/>
              </a:rPr>
              <a:t>loss</a:t>
            </a:r>
            <a:r>
              <a:rPr dirty="0" sz="1000" spc="25">
                <a:latin typeface="Times New Roman"/>
                <a:cs typeface="Times New Roman"/>
              </a:rPr>
              <a:t> </a:t>
            </a:r>
            <a:r>
              <a:rPr dirty="0" sz="1000" spc="10">
                <a:latin typeface="Cambria"/>
                <a:cs typeface="Cambria"/>
              </a:rPr>
              <a:t>𝐿</a:t>
            </a:r>
            <a:r>
              <a:rPr dirty="0" baseline="27777" sz="1050" spc="15">
                <a:latin typeface="Cambria"/>
                <a:cs typeface="Cambria"/>
              </a:rPr>
              <a:t>𝑚</a:t>
            </a:r>
            <a:r>
              <a:rPr dirty="0" baseline="20202" sz="825" spc="15">
                <a:latin typeface="Cambria"/>
                <a:cs typeface="Cambria"/>
              </a:rPr>
              <a:t>1</a:t>
            </a:r>
            <a:r>
              <a:rPr dirty="0" baseline="20202" sz="825" spc="434">
                <a:latin typeface="Cambria"/>
                <a:cs typeface="Cambria"/>
              </a:rPr>
              <a:t> </a:t>
            </a:r>
            <a:r>
              <a:rPr dirty="0" sz="1000" spc="10">
                <a:latin typeface="Times New Roman"/>
                <a:cs typeface="Times New Roman"/>
              </a:rPr>
              <a:t>and</a:t>
            </a:r>
            <a:r>
              <a:rPr dirty="0" sz="1000" spc="30">
                <a:latin typeface="Times New Roman"/>
                <a:cs typeface="Times New Roman"/>
              </a:rPr>
              <a:t> </a:t>
            </a:r>
            <a:r>
              <a:rPr dirty="0" sz="1000" spc="10">
                <a:latin typeface="Cambria"/>
                <a:cs typeface="Cambria"/>
              </a:rPr>
              <a:t>𝐿</a:t>
            </a:r>
            <a:r>
              <a:rPr dirty="0" baseline="27777" sz="1050" spc="15">
                <a:latin typeface="Cambria"/>
                <a:cs typeface="Cambria"/>
              </a:rPr>
              <a:t>𝑚</a:t>
            </a:r>
            <a:r>
              <a:rPr dirty="0" baseline="20202" sz="825" spc="15">
                <a:latin typeface="Cambria"/>
                <a:cs typeface="Cambria"/>
              </a:rPr>
              <a:t>2</a:t>
            </a:r>
            <a:r>
              <a:rPr dirty="0" baseline="20202" sz="825" spc="434">
                <a:latin typeface="Cambria"/>
                <a:cs typeface="Cambria"/>
              </a:rPr>
              <a:t> </a:t>
            </a:r>
            <a:r>
              <a:rPr dirty="0" sz="1000" spc="-25">
                <a:latin typeface="Times New Roman"/>
                <a:cs typeface="Times New Roman"/>
              </a:rPr>
              <a:t>via</a:t>
            </a:r>
            <a:endParaRPr sz="1000">
              <a:latin typeface="Times New Roman"/>
              <a:cs typeface="Times New Roman"/>
            </a:endParaRPr>
          </a:p>
          <a:p>
            <a:pPr>
              <a:lnSpc>
                <a:spcPct val="100000"/>
              </a:lnSpc>
              <a:spcBef>
                <a:spcPts val="580"/>
              </a:spcBef>
            </a:pPr>
            <a:endParaRPr sz="1000">
              <a:latin typeface="Times New Roman"/>
              <a:cs typeface="Times New Roman"/>
            </a:endParaRPr>
          </a:p>
          <a:p>
            <a:pPr marL="190500">
              <a:lnSpc>
                <a:spcPct val="100000"/>
              </a:lnSpc>
            </a:pPr>
            <a:r>
              <a:rPr dirty="0" sz="1000" spc="-40">
                <a:latin typeface="SimSun"/>
                <a:cs typeface="SimSun"/>
              </a:rPr>
              <a:t>通过计算单峰损失 </a:t>
            </a:r>
            <a:r>
              <a:rPr dirty="0" sz="1000">
                <a:latin typeface="Cambria"/>
                <a:cs typeface="Cambria"/>
              </a:rPr>
              <a:t>𝐿</a:t>
            </a:r>
            <a:r>
              <a:rPr dirty="0" baseline="27777" sz="1050">
                <a:latin typeface="Cambria"/>
                <a:cs typeface="Cambria"/>
              </a:rPr>
              <a:t>𝑚</a:t>
            </a:r>
            <a:r>
              <a:rPr dirty="0" baseline="20202" sz="825">
                <a:latin typeface="Cambria"/>
                <a:cs typeface="Cambria"/>
              </a:rPr>
              <a:t>1</a:t>
            </a:r>
            <a:r>
              <a:rPr dirty="0" baseline="20202" sz="825" spc="322">
                <a:latin typeface="Cambria"/>
                <a:cs typeface="Cambria"/>
              </a:rPr>
              <a:t> </a:t>
            </a:r>
            <a:r>
              <a:rPr dirty="0" sz="1000" spc="-140">
                <a:latin typeface="SimSun"/>
                <a:cs typeface="SimSun"/>
              </a:rPr>
              <a:t>和 </a:t>
            </a:r>
            <a:r>
              <a:rPr dirty="0" sz="1000" spc="-25">
                <a:latin typeface="Cambria"/>
                <a:cs typeface="Cambria"/>
              </a:rPr>
              <a:t>𝐿</a:t>
            </a:r>
            <a:r>
              <a:rPr dirty="0" baseline="27777" sz="1050" spc="-37">
                <a:latin typeface="Cambria"/>
                <a:cs typeface="Cambria"/>
              </a:rPr>
              <a:t>𝑚</a:t>
            </a:r>
            <a:r>
              <a:rPr dirty="0" baseline="20202" sz="825" spc="-37">
                <a:latin typeface="Cambria"/>
                <a:cs typeface="Cambria"/>
              </a:rPr>
              <a:t>2</a:t>
            </a:r>
            <a:endParaRPr baseline="20202" sz="825">
              <a:latin typeface="Cambria"/>
              <a:cs typeface="Cambria"/>
            </a:endParaRPr>
          </a:p>
          <a:p>
            <a:pPr>
              <a:lnSpc>
                <a:spcPct val="100000"/>
              </a:lnSpc>
              <a:spcBef>
                <a:spcPts val="440"/>
              </a:spcBef>
            </a:pPr>
            <a:endParaRPr sz="1000">
              <a:latin typeface="Cambria"/>
              <a:cs typeface="Cambria"/>
            </a:endParaRPr>
          </a:p>
          <a:p>
            <a:pPr marL="263525">
              <a:lnSpc>
                <a:spcPct val="100000"/>
              </a:lnSpc>
              <a:spcBef>
                <a:spcPts val="5"/>
              </a:spcBef>
            </a:pPr>
            <a:r>
              <a:rPr dirty="0" sz="1000" spc="10">
                <a:latin typeface="Times New Roman"/>
                <a:cs typeface="Times New Roman"/>
              </a:rPr>
              <a:t>Equation</a:t>
            </a:r>
            <a:r>
              <a:rPr dirty="0" sz="1000" spc="55">
                <a:latin typeface="Times New Roman"/>
                <a:cs typeface="Times New Roman"/>
              </a:rPr>
              <a:t> </a:t>
            </a:r>
            <a:r>
              <a:rPr dirty="0" sz="1000" spc="10">
                <a:latin typeface="Times New Roman"/>
                <a:cs typeface="Times New Roman"/>
              </a:rPr>
              <a:t>11</a:t>
            </a:r>
            <a:r>
              <a:rPr dirty="0" sz="1000" spc="60">
                <a:latin typeface="Times New Roman"/>
                <a:cs typeface="Times New Roman"/>
              </a:rPr>
              <a:t> </a:t>
            </a:r>
            <a:r>
              <a:rPr dirty="0" sz="1000" spc="10">
                <a:latin typeface="Times New Roman"/>
                <a:cs typeface="Times New Roman"/>
              </a:rPr>
              <a:t>and</a:t>
            </a:r>
            <a:r>
              <a:rPr dirty="0" sz="1000" spc="55">
                <a:latin typeface="Times New Roman"/>
                <a:cs typeface="Times New Roman"/>
              </a:rPr>
              <a:t> </a:t>
            </a:r>
            <a:r>
              <a:rPr dirty="0" sz="1000" spc="-25">
                <a:latin typeface="Times New Roman"/>
                <a:cs typeface="Times New Roman"/>
              </a:rPr>
              <a:t>13.</a:t>
            </a:r>
            <a:endParaRPr sz="1000">
              <a:latin typeface="Times New Roman"/>
              <a:cs typeface="Times New Roman"/>
            </a:endParaRPr>
          </a:p>
          <a:p>
            <a:pPr>
              <a:lnSpc>
                <a:spcPct val="100000"/>
              </a:lnSpc>
              <a:spcBef>
                <a:spcPts val="585"/>
              </a:spcBef>
            </a:pPr>
            <a:endParaRPr sz="1000">
              <a:latin typeface="Times New Roman"/>
              <a:cs typeface="Times New Roman"/>
            </a:endParaRPr>
          </a:p>
          <a:p>
            <a:pPr marL="190500">
              <a:lnSpc>
                <a:spcPct val="100000"/>
              </a:lnSpc>
            </a:pPr>
            <a:r>
              <a:rPr dirty="0" sz="1000" spc="-100">
                <a:latin typeface="SimSun"/>
                <a:cs typeface="SimSun"/>
              </a:rPr>
              <a:t>方程 </a:t>
            </a:r>
            <a:r>
              <a:rPr dirty="0" sz="1000">
                <a:latin typeface="Times New Roman"/>
                <a:cs typeface="Times New Roman"/>
              </a:rPr>
              <a:t>11</a:t>
            </a:r>
            <a:r>
              <a:rPr dirty="0" sz="1000" spc="-40">
                <a:latin typeface="Times New Roman"/>
                <a:cs typeface="Times New Roman"/>
              </a:rPr>
              <a:t> </a:t>
            </a:r>
            <a:r>
              <a:rPr dirty="0" sz="1000" spc="-140">
                <a:latin typeface="SimSun"/>
                <a:cs typeface="SimSun"/>
              </a:rPr>
              <a:t>和 </a:t>
            </a:r>
            <a:r>
              <a:rPr dirty="0" sz="1000" spc="-10">
                <a:latin typeface="Times New Roman"/>
                <a:cs typeface="Times New Roman"/>
              </a:rPr>
              <a:t>13</a:t>
            </a:r>
            <a:r>
              <a:rPr dirty="0" sz="1000" spc="-50">
                <a:latin typeface="SimSun"/>
                <a:cs typeface="SimSun"/>
              </a:rPr>
              <a:t>。</a:t>
            </a:r>
            <a:endParaRPr sz="1000">
              <a:latin typeface="SimSun"/>
              <a:cs typeface="SimSun"/>
            </a:endParaRPr>
          </a:p>
          <a:p>
            <a:pPr>
              <a:lnSpc>
                <a:spcPct val="100000"/>
              </a:lnSpc>
              <a:spcBef>
                <a:spcPts val="315"/>
              </a:spcBef>
            </a:pPr>
            <a:endParaRPr sz="1000">
              <a:latin typeface="SimSun"/>
              <a:cs typeface="SimSun"/>
            </a:endParaRPr>
          </a:p>
          <a:p>
            <a:pPr marL="263525">
              <a:lnSpc>
                <a:spcPct val="100000"/>
              </a:lnSpc>
            </a:pPr>
            <a:r>
              <a:rPr dirty="0" sz="1000" spc="10">
                <a:latin typeface="Times New Roman"/>
                <a:cs typeface="Times New Roman"/>
              </a:rPr>
              <a:t>Calculate</a:t>
            </a:r>
            <a:r>
              <a:rPr dirty="0" sz="1000" spc="130">
                <a:latin typeface="Times New Roman"/>
                <a:cs typeface="Times New Roman"/>
              </a:rPr>
              <a:t> </a:t>
            </a:r>
            <a:r>
              <a:rPr dirty="0" sz="1000" spc="10">
                <a:latin typeface="Times New Roman"/>
                <a:cs typeface="Times New Roman"/>
              </a:rPr>
              <a:t>unimodal</a:t>
            </a:r>
            <a:r>
              <a:rPr dirty="0" sz="1000" spc="130">
                <a:latin typeface="Times New Roman"/>
                <a:cs typeface="Times New Roman"/>
              </a:rPr>
              <a:t> </a:t>
            </a:r>
            <a:r>
              <a:rPr dirty="0" sz="1000" spc="-10">
                <a:latin typeface="Times New Roman"/>
                <a:cs typeface="Times New Roman"/>
              </a:rPr>
              <a:t>gradient.</a:t>
            </a:r>
            <a:endParaRPr sz="1000">
              <a:latin typeface="Times New Roman"/>
              <a:cs typeface="Times New Roman"/>
            </a:endParaRPr>
          </a:p>
          <a:p>
            <a:pPr>
              <a:lnSpc>
                <a:spcPct val="100000"/>
              </a:lnSpc>
              <a:spcBef>
                <a:spcPts val="590"/>
              </a:spcBef>
            </a:pPr>
            <a:endParaRPr sz="1000">
              <a:latin typeface="Times New Roman"/>
              <a:cs typeface="Times New Roman"/>
            </a:endParaRPr>
          </a:p>
          <a:p>
            <a:pPr marL="190500">
              <a:lnSpc>
                <a:spcPct val="100000"/>
              </a:lnSpc>
            </a:pPr>
            <a:r>
              <a:rPr dirty="0" sz="1000" spc="-20">
                <a:latin typeface="SimSun"/>
                <a:cs typeface="SimSun"/>
              </a:rPr>
              <a:t>计算单峰梯度。</a:t>
            </a:r>
            <a:endParaRPr sz="1000">
              <a:latin typeface="SimSun"/>
              <a:cs typeface="SimSun"/>
            </a:endParaRPr>
          </a:p>
          <a:p>
            <a:pPr>
              <a:lnSpc>
                <a:spcPct val="100000"/>
              </a:lnSpc>
              <a:spcBef>
                <a:spcPts val="315"/>
              </a:spcBef>
            </a:pPr>
            <a:endParaRPr sz="1000">
              <a:latin typeface="SimSun"/>
              <a:cs typeface="SimSun"/>
            </a:endParaRPr>
          </a:p>
          <a:p>
            <a:pPr marL="263525">
              <a:lnSpc>
                <a:spcPct val="100000"/>
              </a:lnSpc>
              <a:spcBef>
                <a:spcPts val="5"/>
              </a:spcBef>
            </a:pPr>
            <a:r>
              <a:rPr dirty="0" sz="1000" spc="10">
                <a:latin typeface="Times New Roman"/>
                <a:cs typeface="Times New Roman"/>
              </a:rPr>
              <a:t>Eliminate</a:t>
            </a:r>
            <a:r>
              <a:rPr dirty="0" sz="1000" spc="60">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gradient</a:t>
            </a:r>
            <a:r>
              <a:rPr dirty="0" sz="1000" spc="60">
                <a:latin typeface="Times New Roman"/>
                <a:cs typeface="Times New Roman"/>
              </a:rPr>
              <a:t> </a:t>
            </a:r>
            <a:r>
              <a:rPr dirty="0" sz="1000" spc="10">
                <a:latin typeface="Times New Roman"/>
                <a:cs typeface="Times New Roman"/>
              </a:rPr>
              <a:t>passed</a:t>
            </a:r>
            <a:r>
              <a:rPr dirty="0" sz="1000" spc="60">
                <a:latin typeface="Times New Roman"/>
                <a:cs typeface="Times New Roman"/>
              </a:rPr>
              <a:t> </a:t>
            </a:r>
            <a:r>
              <a:rPr dirty="0" sz="1000" spc="10">
                <a:latin typeface="Times New Roman"/>
                <a:cs typeface="Times New Roman"/>
              </a:rPr>
              <a:t>back</a:t>
            </a:r>
            <a:r>
              <a:rPr dirty="0" sz="1000" spc="60">
                <a:latin typeface="Times New Roman"/>
                <a:cs typeface="Times New Roman"/>
              </a:rPr>
              <a:t> </a:t>
            </a:r>
            <a:r>
              <a:rPr dirty="0" sz="1000" spc="10">
                <a:latin typeface="Times New Roman"/>
                <a:cs typeface="Times New Roman"/>
              </a:rPr>
              <a:t>from</a:t>
            </a:r>
            <a:r>
              <a:rPr dirty="0" sz="1000" spc="60">
                <a:latin typeface="Times New Roman"/>
                <a:cs typeface="Times New Roman"/>
              </a:rPr>
              <a:t> </a:t>
            </a:r>
            <a:r>
              <a:rPr dirty="0" sz="1000" spc="-25">
                <a:latin typeface="Times New Roman"/>
                <a:cs typeface="Times New Roman"/>
              </a:rPr>
              <a:t>the</a:t>
            </a:r>
            <a:endParaRPr sz="1000">
              <a:latin typeface="Times New Roman"/>
              <a:cs typeface="Times New Roman"/>
            </a:endParaRPr>
          </a:p>
          <a:p>
            <a:pPr>
              <a:lnSpc>
                <a:spcPct val="100000"/>
              </a:lnSpc>
              <a:spcBef>
                <a:spcPts val="590"/>
              </a:spcBef>
            </a:pPr>
            <a:endParaRPr sz="1000">
              <a:latin typeface="Times New Roman"/>
              <a:cs typeface="Times New Roman"/>
            </a:endParaRPr>
          </a:p>
          <a:p>
            <a:pPr marL="190500">
              <a:lnSpc>
                <a:spcPct val="100000"/>
              </a:lnSpc>
            </a:pPr>
            <a:r>
              <a:rPr dirty="0" sz="1000" spc="-15">
                <a:latin typeface="SimSun"/>
                <a:cs typeface="SimSun"/>
              </a:rPr>
              <a:t>消除从⋯⋯传回的梯度</a:t>
            </a:r>
            <a:endParaRPr sz="1000">
              <a:latin typeface="SimSun"/>
              <a:cs typeface="SimSun"/>
            </a:endParaRPr>
          </a:p>
          <a:p>
            <a:pPr>
              <a:lnSpc>
                <a:spcPct val="100000"/>
              </a:lnSpc>
              <a:spcBef>
                <a:spcPts val="330"/>
              </a:spcBef>
            </a:pPr>
            <a:endParaRPr sz="1000">
              <a:latin typeface="SimSun"/>
              <a:cs typeface="SimSun"/>
            </a:endParaRPr>
          </a:p>
          <a:p>
            <a:pPr marL="263525">
              <a:lnSpc>
                <a:spcPct val="100000"/>
              </a:lnSpc>
            </a:pPr>
            <a:r>
              <a:rPr dirty="0" sz="1000" spc="10">
                <a:latin typeface="Times New Roman"/>
                <a:cs typeface="Times New Roman"/>
              </a:rPr>
              <a:t>unimodal</a:t>
            </a:r>
            <a:r>
              <a:rPr dirty="0" sz="1000" spc="55">
                <a:latin typeface="Times New Roman"/>
                <a:cs typeface="Times New Roman"/>
              </a:rPr>
              <a:t> </a:t>
            </a:r>
            <a:r>
              <a:rPr dirty="0" sz="1000" spc="10">
                <a:latin typeface="Times New Roman"/>
                <a:cs typeface="Times New Roman"/>
              </a:rPr>
              <a:t>loss</a:t>
            </a:r>
            <a:r>
              <a:rPr dirty="0" sz="1000" spc="60">
                <a:latin typeface="Times New Roman"/>
                <a:cs typeface="Times New Roman"/>
              </a:rPr>
              <a:t> </a:t>
            </a:r>
            <a:r>
              <a:rPr dirty="0" sz="1000" spc="10">
                <a:latin typeface="Times New Roman"/>
                <a:cs typeface="Times New Roman"/>
              </a:rPr>
              <a:t>to</a:t>
            </a:r>
            <a:r>
              <a:rPr dirty="0" sz="1000" spc="60">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fusion</a:t>
            </a:r>
            <a:r>
              <a:rPr dirty="0" sz="1000" spc="55">
                <a:latin typeface="Times New Roman"/>
                <a:cs typeface="Times New Roman"/>
              </a:rPr>
              <a:t> </a:t>
            </a:r>
            <a:r>
              <a:rPr dirty="0" sz="1000" spc="-10">
                <a:latin typeface="Times New Roman"/>
                <a:cs typeface="Times New Roman"/>
              </a:rPr>
              <a:t>module.</a:t>
            </a:r>
            <a:endParaRPr sz="1000">
              <a:latin typeface="Times New Roman"/>
              <a:cs typeface="Times New Roman"/>
            </a:endParaRPr>
          </a:p>
          <a:p>
            <a:pPr>
              <a:lnSpc>
                <a:spcPct val="100000"/>
              </a:lnSpc>
              <a:spcBef>
                <a:spcPts val="580"/>
              </a:spcBef>
            </a:pPr>
            <a:endParaRPr sz="1000">
              <a:latin typeface="Times New Roman"/>
              <a:cs typeface="Times New Roman"/>
            </a:endParaRPr>
          </a:p>
          <a:p>
            <a:pPr marL="190500">
              <a:lnSpc>
                <a:spcPct val="100000"/>
              </a:lnSpc>
              <a:spcBef>
                <a:spcPts val="5"/>
              </a:spcBef>
            </a:pPr>
            <a:r>
              <a:rPr dirty="0" sz="1000" spc="-15">
                <a:latin typeface="SimSun"/>
                <a:cs typeface="SimSun"/>
              </a:rPr>
              <a:t>融合模块的单峰损失。</a:t>
            </a:r>
            <a:endParaRPr sz="1000">
              <a:latin typeface="SimSun"/>
              <a:cs typeface="SimSun"/>
            </a:endParaRPr>
          </a:p>
          <a:p>
            <a:pPr>
              <a:lnSpc>
                <a:spcPct val="100000"/>
              </a:lnSpc>
              <a:spcBef>
                <a:spcPts val="350"/>
              </a:spcBef>
            </a:pPr>
            <a:endParaRPr sz="1000">
              <a:latin typeface="SimSun"/>
              <a:cs typeface="SimSun"/>
            </a:endParaRPr>
          </a:p>
          <a:p>
            <a:pPr marL="263525">
              <a:lnSpc>
                <a:spcPct val="100000"/>
              </a:lnSpc>
            </a:pPr>
            <a:r>
              <a:rPr dirty="0" sz="1000" spc="10">
                <a:latin typeface="Times New Roman"/>
                <a:cs typeface="Times New Roman"/>
              </a:rPr>
              <a:t>Calculate</a:t>
            </a:r>
            <a:r>
              <a:rPr dirty="0" sz="1000" spc="40">
                <a:latin typeface="Times New Roman"/>
                <a:cs typeface="Times New Roman"/>
              </a:rPr>
              <a:t> </a:t>
            </a:r>
            <a:r>
              <a:rPr dirty="0" sz="1000" spc="10">
                <a:latin typeface="Times New Roman"/>
                <a:cs typeface="Times New Roman"/>
              </a:rPr>
              <a:t>multimodal</a:t>
            </a:r>
            <a:r>
              <a:rPr dirty="0" sz="1000" spc="40">
                <a:latin typeface="Times New Roman"/>
                <a:cs typeface="Times New Roman"/>
              </a:rPr>
              <a:t> </a:t>
            </a:r>
            <a:r>
              <a:rPr dirty="0" sz="1000" spc="10">
                <a:latin typeface="Times New Roman"/>
                <a:cs typeface="Times New Roman"/>
              </a:rPr>
              <a:t>loss</a:t>
            </a:r>
            <a:r>
              <a:rPr dirty="0" sz="1000" spc="40">
                <a:latin typeface="Times New Roman"/>
                <a:cs typeface="Times New Roman"/>
              </a:rPr>
              <a:t> </a:t>
            </a:r>
            <a:r>
              <a:rPr dirty="0" sz="1000" spc="10">
                <a:latin typeface="Cambria"/>
                <a:cs typeface="Cambria"/>
              </a:rPr>
              <a:t>𝐿</a:t>
            </a:r>
            <a:r>
              <a:rPr dirty="0" baseline="27777" sz="1050" spc="15">
                <a:latin typeface="Cambria"/>
                <a:cs typeface="Cambria"/>
              </a:rPr>
              <a:t>𝑑</a:t>
            </a:r>
            <a:r>
              <a:rPr dirty="0" baseline="27777" sz="1050" spc="315">
                <a:latin typeface="Cambria"/>
                <a:cs typeface="Cambria"/>
              </a:rPr>
              <a:t> </a:t>
            </a:r>
            <a:r>
              <a:rPr dirty="0" sz="1000" spc="10">
                <a:latin typeface="Times New Roman"/>
                <a:cs typeface="Times New Roman"/>
              </a:rPr>
              <a:t>with</a:t>
            </a:r>
            <a:r>
              <a:rPr dirty="0" sz="1000" spc="40">
                <a:latin typeface="Times New Roman"/>
                <a:cs typeface="Times New Roman"/>
              </a:rPr>
              <a:t> </a:t>
            </a:r>
            <a:r>
              <a:rPr dirty="0" sz="1000" spc="-10">
                <a:latin typeface="Times New Roman"/>
                <a:cs typeface="Times New Roman"/>
              </a:rPr>
              <a:t>detach</a:t>
            </a:r>
            <a:endParaRPr sz="1000">
              <a:latin typeface="Times New Roman"/>
              <a:cs typeface="Times New Roman"/>
            </a:endParaRPr>
          </a:p>
          <a:p>
            <a:pPr marL="190500" marR="807085">
              <a:lnSpc>
                <a:spcPct val="239500"/>
              </a:lnSpc>
              <a:spcBef>
                <a:spcPts val="100"/>
              </a:spcBef>
            </a:pPr>
            <a:r>
              <a:rPr dirty="0" sz="1000" spc="105">
                <a:latin typeface="SimSun"/>
                <a:cs typeface="SimSun"/>
              </a:rPr>
              <a:t>使用</a:t>
            </a:r>
            <a:r>
              <a:rPr dirty="0" sz="1000">
                <a:latin typeface="Times New Roman"/>
                <a:cs typeface="Times New Roman"/>
              </a:rPr>
              <a:t>detach</a:t>
            </a:r>
            <a:r>
              <a:rPr dirty="0" sz="1000" spc="70">
                <a:latin typeface="Times New Roman"/>
                <a:cs typeface="Times New Roman"/>
              </a:rPr>
              <a:t> </a:t>
            </a:r>
            <a:r>
              <a:rPr dirty="0" sz="1000" spc="-35">
                <a:latin typeface="SimSun"/>
                <a:cs typeface="SimSun"/>
              </a:rPr>
              <a:t>计算多模态损失 </a:t>
            </a:r>
            <a:r>
              <a:rPr dirty="0" sz="1000" spc="-25">
                <a:latin typeface="Cambria"/>
                <a:cs typeface="Cambria"/>
              </a:rPr>
              <a:t>𝐿</a:t>
            </a:r>
            <a:r>
              <a:rPr dirty="0" baseline="27777" sz="1050" spc="-37">
                <a:latin typeface="Cambria"/>
                <a:cs typeface="Cambria"/>
              </a:rPr>
              <a:t>𝑑</a:t>
            </a:r>
            <a:r>
              <a:rPr dirty="0" baseline="27777" sz="1050" spc="750">
                <a:latin typeface="Cambria"/>
                <a:cs typeface="Cambria"/>
              </a:rPr>
              <a:t> </a:t>
            </a:r>
            <a:r>
              <a:rPr dirty="0" sz="1000" spc="20">
                <a:latin typeface="Times New Roman"/>
                <a:cs typeface="Times New Roman"/>
              </a:rPr>
              <a:t>representation </a:t>
            </a:r>
            <a:r>
              <a:rPr dirty="0" sz="1000" spc="10">
                <a:latin typeface="Times New Roman"/>
                <a:cs typeface="Times New Roman"/>
              </a:rPr>
              <a:t>via </a:t>
            </a:r>
            <a:r>
              <a:rPr dirty="0" sz="1000" spc="20">
                <a:latin typeface="Times New Roman"/>
                <a:cs typeface="Times New Roman"/>
              </a:rPr>
              <a:t>Equation </a:t>
            </a:r>
            <a:r>
              <a:rPr dirty="0" sz="1000" spc="-25">
                <a:latin typeface="Times New Roman"/>
                <a:cs typeface="Times New Roman"/>
              </a:rPr>
              <a:t>10.</a:t>
            </a:r>
            <a:r>
              <a:rPr dirty="0" sz="1000" spc="-65">
                <a:latin typeface="SimSun"/>
                <a:cs typeface="SimSun"/>
              </a:rPr>
              <a:t>通过公式 </a:t>
            </a:r>
            <a:r>
              <a:rPr dirty="0" sz="1000">
                <a:latin typeface="Times New Roman"/>
                <a:cs typeface="Times New Roman"/>
              </a:rPr>
              <a:t>10</a:t>
            </a:r>
            <a:r>
              <a:rPr dirty="0" sz="1000" spc="-40">
                <a:latin typeface="Times New Roman"/>
                <a:cs typeface="Times New Roman"/>
              </a:rPr>
              <a:t> </a:t>
            </a:r>
            <a:r>
              <a:rPr dirty="0" sz="1000" spc="-25">
                <a:latin typeface="SimSun"/>
                <a:cs typeface="SimSun"/>
              </a:rPr>
              <a:t>表示。</a:t>
            </a:r>
            <a:endParaRPr sz="1000">
              <a:latin typeface="SimSun"/>
              <a:cs typeface="SimSun"/>
            </a:endParaRPr>
          </a:p>
          <a:p>
            <a:pPr>
              <a:lnSpc>
                <a:spcPct val="100000"/>
              </a:lnSpc>
              <a:spcBef>
                <a:spcPts val="355"/>
              </a:spcBef>
            </a:pPr>
            <a:endParaRPr sz="1000">
              <a:latin typeface="SimSun"/>
              <a:cs typeface="SimSun"/>
            </a:endParaRPr>
          </a:p>
          <a:p>
            <a:pPr marL="263525">
              <a:lnSpc>
                <a:spcPct val="100000"/>
              </a:lnSpc>
            </a:pPr>
            <a:r>
              <a:rPr dirty="0" sz="1000" spc="10">
                <a:latin typeface="Times New Roman"/>
                <a:cs typeface="Times New Roman"/>
              </a:rPr>
              <a:t>Calculate</a:t>
            </a:r>
            <a:r>
              <a:rPr dirty="0" sz="1000" spc="130">
                <a:latin typeface="Times New Roman"/>
                <a:cs typeface="Times New Roman"/>
              </a:rPr>
              <a:t> </a:t>
            </a:r>
            <a:r>
              <a:rPr dirty="0" sz="1000" spc="10">
                <a:latin typeface="Times New Roman"/>
                <a:cs typeface="Times New Roman"/>
              </a:rPr>
              <a:t>multimodal</a:t>
            </a:r>
            <a:r>
              <a:rPr dirty="0" sz="1000" spc="130">
                <a:latin typeface="Times New Roman"/>
                <a:cs typeface="Times New Roman"/>
              </a:rPr>
              <a:t> </a:t>
            </a:r>
            <a:r>
              <a:rPr dirty="0" sz="1000" spc="-10">
                <a:latin typeface="Times New Roman"/>
                <a:cs typeface="Times New Roman"/>
              </a:rPr>
              <a:t>gradient.</a:t>
            </a:r>
            <a:endParaRPr sz="1000">
              <a:latin typeface="Times New Roman"/>
              <a:cs typeface="Times New Roman"/>
            </a:endParaRPr>
          </a:p>
          <a:p>
            <a:pPr>
              <a:lnSpc>
                <a:spcPct val="100000"/>
              </a:lnSpc>
              <a:spcBef>
                <a:spcPts val="590"/>
              </a:spcBef>
            </a:pPr>
            <a:endParaRPr sz="1000">
              <a:latin typeface="Times New Roman"/>
              <a:cs typeface="Times New Roman"/>
            </a:endParaRPr>
          </a:p>
          <a:p>
            <a:pPr marL="190500">
              <a:lnSpc>
                <a:spcPct val="100000"/>
              </a:lnSpc>
            </a:pPr>
            <a:r>
              <a:rPr dirty="0" sz="1000" spc="-20">
                <a:latin typeface="SimSun"/>
                <a:cs typeface="SimSun"/>
              </a:rPr>
              <a:t>计算多模态梯度。</a:t>
            </a:r>
            <a:endParaRPr sz="1000">
              <a:latin typeface="SimSun"/>
              <a:cs typeface="SimSun"/>
            </a:endParaRPr>
          </a:p>
          <a:p>
            <a:pPr>
              <a:lnSpc>
                <a:spcPct val="100000"/>
              </a:lnSpc>
              <a:spcBef>
                <a:spcPts val="315"/>
              </a:spcBef>
            </a:pPr>
            <a:endParaRPr sz="1000">
              <a:latin typeface="SimSun"/>
              <a:cs typeface="SimSun"/>
            </a:endParaRPr>
          </a:p>
          <a:p>
            <a:pPr marL="263525">
              <a:lnSpc>
                <a:spcPct val="100000"/>
              </a:lnSpc>
            </a:pPr>
            <a:r>
              <a:rPr dirty="0" sz="1000">
                <a:latin typeface="Times New Roman"/>
                <a:cs typeface="Times New Roman"/>
              </a:rPr>
              <a:t>Update</a:t>
            </a:r>
            <a:r>
              <a:rPr dirty="0" sz="1000" spc="110">
                <a:latin typeface="Times New Roman"/>
                <a:cs typeface="Times New Roman"/>
              </a:rPr>
              <a:t> </a:t>
            </a:r>
            <a:r>
              <a:rPr dirty="0" sz="1000">
                <a:latin typeface="Times New Roman"/>
                <a:cs typeface="Times New Roman"/>
              </a:rPr>
              <a:t>the</a:t>
            </a:r>
            <a:r>
              <a:rPr dirty="0" sz="1000" spc="114">
                <a:latin typeface="Times New Roman"/>
                <a:cs typeface="Times New Roman"/>
              </a:rPr>
              <a:t> </a:t>
            </a:r>
            <a:r>
              <a:rPr dirty="0" sz="1000">
                <a:latin typeface="Times New Roman"/>
                <a:cs typeface="Times New Roman"/>
              </a:rPr>
              <a:t>model</a:t>
            </a:r>
            <a:r>
              <a:rPr dirty="0" sz="1000" spc="110">
                <a:latin typeface="Times New Roman"/>
                <a:cs typeface="Times New Roman"/>
              </a:rPr>
              <a:t> </a:t>
            </a:r>
            <a:r>
              <a:rPr dirty="0" sz="1000" spc="-10">
                <a:latin typeface="Times New Roman"/>
                <a:cs typeface="Times New Roman"/>
              </a:rPr>
              <a:t>parameters.</a:t>
            </a:r>
            <a:endParaRPr sz="1000">
              <a:latin typeface="Times New Roman"/>
              <a:cs typeface="Times New Roman"/>
            </a:endParaRPr>
          </a:p>
          <a:p>
            <a:pPr>
              <a:lnSpc>
                <a:spcPct val="100000"/>
              </a:lnSpc>
              <a:spcBef>
                <a:spcPts val="585"/>
              </a:spcBef>
            </a:pPr>
            <a:endParaRPr sz="1000">
              <a:latin typeface="Times New Roman"/>
              <a:cs typeface="Times New Roman"/>
            </a:endParaRPr>
          </a:p>
          <a:p>
            <a:pPr marL="190500">
              <a:lnSpc>
                <a:spcPct val="100000"/>
              </a:lnSpc>
            </a:pPr>
            <a:r>
              <a:rPr dirty="0" sz="1000" spc="-20">
                <a:latin typeface="SimSun"/>
                <a:cs typeface="SimSun"/>
              </a:rPr>
              <a:t>更新模型参数。</a:t>
            </a:r>
            <a:endParaRPr sz="1000">
              <a:latin typeface="SimSun"/>
              <a:cs typeface="SimSun"/>
            </a:endParaRPr>
          </a:p>
        </p:txBody>
      </p:sp>
      <p:sp>
        <p:nvSpPr>
          <p:cNvPr id="30" name="object 30" descr=""/>
          <p:cNvSpPr/>
          <p:nvPr/>
        </p:nvSpPr>
        <p:spPr>
          <a:xfrm>
            <a:off x="1188021" y="7624864"/>
            <a:ext cx="5184140" cy="0"/>
          </a:xfrm>
          <a:custGeom>
            <a:avLst/>
            <a:gdLst/>
            <a:ahLst/>
            <a:cxnLst/>
            <a:rect l="l" t="t" r="r" b="b"/>
            <a:pathLst>
              <a:path w="5184140" h="0">
                <a:moveTo>
                  <a:pt x="0" y="0"/>
                </a:moveTo>
                <a:lnTo>
                  <a:pt x="5183962" y="0"/>
                </a:lnTo>
              </a:path>
            </a:pathLst>
          </a:custGeom>
          <a:ln w="7199">
            <a:solidFill>
              <a:srgbClr val="000000"/>
            </a:solidFill>
          </a:ln>
        </p:spPr>
        <p:txBody>
          <a:bodyPr wrap="square" lIns="0" tIns="0" rIns="0" bIns="0" rtlCol="0"/>
          <a:lstStyle/>
          <a:p/>
        </p:txBody>
      </p:sp>
      <p:grpSp>
        <p:nvGrpSpPr>
          <p:cNvPr id="31" name="object 31" descr=""/>
          <p:cNvGrpSpPr/>
          <p:nvPr/>
        </p:nvGrpSpPr>
        <p:grpSpPr>
          <a:xfrm>
            <a:off x="899998" y="8327109"/>
            <a:ext cx="5760085" cy="389255"/>
            <a:chOff x="899998" y="8327109"/>
            <a:chExt cx="5760085" cy="389255"/>
          </a:xfrm>
        </p:grpSpPr>
        <p:sp>
          <p:nvSpPr>
            <p:cNvPr id="32" name="object 32" descr=""/>
            <p:cNvSpPr/>
            <p:nvPr/>
          </p:nvSpPr>
          <p:spPr>
            <a:xfrm>
              <a:off x="899998" y="8327109"/>
              <a:ext cx="5760085" cy="389255"/>
            </a:xfrm>
            <a:custGeom>
              <a:avLst/>
              <a:gdLst/>
              <a:ahLst/>
              <a:cxnLst/>
              <a:rect l="l" t="t" r="r" b="b"/>
              <a:pathLst>
                <a:path w="5760084" h="389254">
                  <a:moveTo>
                    <a:pt x="5724074" y="0"/>
                  </a:moveTo>
                  <a:lnTo>
                    <a:pt x="36000" y="0"/>
                  </a:lnTo>
                  <a:lnTo>
                    <a:pt x="21987" y="2829"/>
                  </a:lnTo>
                  <a:lnTo>
                    <a:pt x="10544" y="10544"/>
                  </a:lnTo>
                  <a:lnTo>
                    <a:pt x="2829" y="21987"/>
                  </a:lnTo>
                  <a:lnTo>
                    <a:pt x="0" y="36000"/>
                  </a:lnTo>
                  <a:lnTo>
                    <a:pt x="0" y="353090"/>
                  </a:lnTo>
                  <a:lnTo>
                    <a:pt x="2829" y="367103"/>
                  </a:lnTo>
                  <a:lnTo>
                    <a:pt x="10544" y="378546"/>
                  </a:lnTo>
                  <a:lnTo>
                    <a:pt x="21987" y="386261"/>
                  </a:lnTo>
                  <a:lnTo>
                    <a:pt x="36000" y="389090"/>
                  </a:lnTo>
                  <a:lnTo>
                    <a:pt x="5724074" y="389090"/>
                  </a:lnTo>
                  <a:lnTo>
                    <a:pt x="5738087" y="386261"/>
                  </a:lnTo>
                  <a:lnTo>
                    <a:pt x="5749530" y="378546"/>
                  </a:lnTo>
                  <a:lnTo>
                    <a:pt x="5757245" y="367103"/>
                  </a:lnTo>
                  <a:lnTo>
                    <a:pt x="5760074" y="35309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33" name="object 33" descr=""/>
            <p:cNvSpPr/>
            <p:nvPr/>
          </p:nvSpPr>
          <p:spPr>
            <a:xfrm>
              <a:off x="899998" y="8327109"/>
              <a:ext cx="5760085" cy="389255"/>
            </a:xfrm>
            <a:custGeom>
              <a:avLst/>
              <a:gdLst/>
              <a:ahLst/>
              <a:cxnLst/>
              <a:rect l="l" t="t" r="r" b="b"/>
              <a:pathLst>
                <a:path w="5760084" h="389254">
                  <a:moveTo>
                    <a:pt x="5724074" y="0"/>
                  </a:moveTo>
                  <a:lnTo>
                    <a:pt x="36000" y="0"/>
                  </a:lnTo>
                  <a:lnTo>
                    <a:pt x="21987" y="2829"/>
                  </a:lnTo>
                  <a:lnTo>
                    <a:pt x="10544" y="10544"/>
                  </a:lnTo>
                  <a:lnTo>
                    <a:pt x="2829" y="21987"/>
                  </a:lnTo>
                  <a:lnTo>
                    <a:pt x="0" y="36000"/>
                  </a:lnTo>
                  <a:lnTo>
                    <a:pt x="0" y="353090"/>
                  </a:lnTo>
                  <a:lnTo>
                    <a:pt x="2829" y="367103"/>
                  </a:lnTo>
                  <a:lnTo>
                    <a:pt x="10544" y="378546"/>
                  </a:lnTo>
                  <a:lnTo>
                    <a:pt x="21987" y="386261"/>
                  </a:lnTo>
                  <a:lnTo>
                    <a:pt x="36000" y="389090"/>
                  </a:lnTo>
                  <a:lnTo>
                    <a:pt x="5724074" y="389090"/>
                  </a:lnTo>
                  <a:lnTo>
                    <a:pt x="5738087" y="386261"/>
                  </a:lnTo>
                  <a:lnTo>
                    <a:pt x="5749530" y="378546"/>
                  </a:lnTo>
                  <a:lnTo>
                    <a:pt x="5757245" y="367103"/>
                  </a:lnTo>
                  <a:lnTo>
                    <a:pt x="5760074" y="35309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34" name="object 34" descr=""/>
          <p:cNvSpPr txBox="1"/>
          <p:nvPr/>
        </p:nvSpPr>
        <p:spPr>
          <a:xfrm>
            <a:off x="887298" y="7939097"/>
            <a:ext cx="3016885" cy="701675"/>
          </a:xfrm>
          <a:prstGeom prst="rect">
            <a:avLst/>
          </a:prstGeom>
        </p:spPr>
        <p:txBody>
          <a:bodyPr wrap="square" lIns="0" tIns="17145" rIns="0" bIns="0" rtlCol="0" vert="horz">
            <a:spAutoFit/>
          </a:bodyPr>
          <a:lstStyle/>
          <a:p>
            <a:pPr marL="12700">
              <a:lnSpc>
                <a:spcPct val="100000"/>
              </a:lnSpc>
              <a:spcBef>
                <a:spcPts val="135"/>
              </a:spcBef>
            </a:pPr>
            <a:r>
              <a:rPr dirty="0" sz="1400" b="1">
                <a:latin typeface="Times New Roman"/>
                <a:cs typeface="Times New Roman"/>
              </a:rPr>
              <a:t>3.2.</a:t>
            </a:r>
            <a:r>
              <a:rPr dirty="0" sz="1400" spc="250" b="1">
                <a:latin typeface="Times New Roman"/>
                <a:cs typeface="Times New Roman"/>
              </a:rPr>
              <a:t> </a:t>
            </a:r>
            <a:r>
              <a:rPr dirty="0" sz="1400" spc="60" b="1">
                <a:latin typeface="Times New Roman"/>
                <a:cs typeface="Times New Roman"/>
              </a:rPr>
              <a:t>Disentangled</a:t>
            </a:r>
            <a:r>
              <a:rPr dirty="0" sz="1400" spc="105" b="1">
                <a:latin typeface="Times New Roman"/>
                <a:cs typeface="Times New Roman"/>
              </a:rPr>
              <a:t> </a:t>
            </a:r>
            <a:r>
              <a:rPr dirty="0" sz="1400" b="1">
                <a:latin typeface="Times New Roman"/>
                <a:cs typeface="Times New Roman"/>
              </a:rPr>
              <a:t>Gradient</a:t>
            </a:r>
            <a:r>
              <a:rPr dirty="0" sz="1400" spc="105" b="1">
                <a:latin typeface="Times New Roman"/>
                <a:cs typeface="Times New Roman"/>
              </a:rPr>
              <a:t> </a:t>
            </a:r>
            <a:r>
              <a:rPr dirty="0" sz="1400" spc="-10" b="1">
                <a:latin typeface="Times New Roman"/>
                <a:cs typeface="Times New Roman"/>
              </a:rPr>
              <a:t>Learning</a:t>
            </a:r>
            <a:endParaRPr sz="1400">
              <a:latin typeface="Times New Roman"/>
              <a:cs typeface="Times New Roman"/>
            </a:endParaRPr>
          </a:p>
          <a:p>
            <a:pPr>
              <a:lnSpc>
                <a:spcPct val="100000"/>
              </a:lnSpc>
              <a:spcBef>
                <a:spcPts val="310"/>
              </a:spcBef>
            </a:pPr>
            <a:endParaRPr sz="1400">
              <a:latin typeface="Times New Roman"/>
              <a:cs typeface="Times New Roman"/>
            </a:endParaRPr>
          </a:p>
          <a:p>
            <a:pPr marL="192405">
              <a:lnSpc>
                <a:spcPct val="100000"/>
              </a:lnSpc>
            </a:pPr>
            <a:r>
              <a:rPr dirty="0" sz="1400" b="1">
                <a:latin typeface="Times New Roman"/>
                <a:cs typeface="Times New Roman"/>
              </a:rPr>
              <a:t>3.2.</a:t>
            </a:r>
            <a:r>
              <a:rPr dirty="0" sz="1400" spc="295" b="1">
                <a:latin typeface="Times New Roman"/>
                <a:cs typeface="Times New Roman"/>
              </a:rPr>
              <a:t> </a:t>
            </a:r>
            <a:r>
              <a:rPr dirty="0" sz="1400" spc="-10" b="1">
                <a:latin typeface="Microsoft JhengHei"/>
                <a:cs typeface="Microsoft JhengHei"/>
              </a:rPr>
              <a:t>解缠梯度学习</a:t>
            </a:r>
            <a:endParaRPr sz="1400">
              <a:latin typeface="Microsoft JhengHei"/>
              <a:cs typeface="Microsoft JhengHei"/>
            </a:endParaRPr>
          </a:p>
        </p:txBody>
      </p:sp>
      <p:sp>
        <p:nvSpPr>
          <p:cNvPr id="36" name="object 36"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
        <p:nvSpPr>
          <p:cNvPr id="35" name="object 35" descr=""/>
          <p:cNvSpPr txBox="1"/>
          <p:nvPr/>
        </p:nvSpPr>
        <p:spPr>
          <a:xfrm>
            <a:off x="836498" y="8768277"/>
            <a:ext cx="5887085" cy="1012825"/>
          </a:xfrm>
          <a:prstGeom prst="rect">
            <a:avLst/>
          </a:prstGeom>
        </p:spPr>
        <p:txBody>
          <a:bodyPr wrap="square" lIns="0" tIns="12700" rIns="0" bIns="0" rtlCol="0" vert="horz">
            <a:spAutoFit/>
          </a:bodyPr>
          <a:lstStyle/>
          <a:p>
            <a:pPr algn="just" marL="63500" marR="55880" indent="252729">
              <a:lnSpc>
                <a:spcPct val="129500"/>
              </a:lnSpc>
              <a:spcBef>
                <a:spcPts val="100"/>
              </a:spcBef>
            </a:pPr>
            <a:r>
              <a:rPr dirty="0" sz="1000" spc="-10">
                <a:latin typeface="Times New Roman"/>
                <a:cs typeface="Times New Roman"/>
              </a:rPr>
              <a:t>As</a:t>
            </a:r>
            <a:r>
              <a:rPr dirty="0" sz="1000" spc="-85">
                <a:latin typeface="Times New Roman"/>
                <a:cs typeface="Times New Roman"/>
              </a:rPr>
              <a:t> </a:t>
            </a:r>
            <a:r>
              <a:rPr dirty="0" sz="1000" spc="15">
                <a:latin typeface="Times New Roman"/>
                <a:cs typeface="Times New Roman"/>
              </a:rPr>
              <a:t>discussed,</a:t>
            </a:r>
            <a:r>
              <a:rPr dirty="0" sz="1000" spc="-70">
                <a:latin typeface="Times New Roman"/>
                <a:cs typeface="Times New Roman"/>
              </a:rPr>
              <a:t> </a:t>
            </a:r>
            <a:r>
              <a:rPr dirty="0" sz="1000" spc="-75">
                <a:latin typeface="Times New Roman"/>
                <a:cs typeface="Times New Roman"/>
              </a:rPr>
              <a:t>c</a:t>
            </a:r>
            <a:r>
              <a:rPr dirty="0" baseline="-60606" sz="825" spc="-112">
                <a:latin typeface="Cambria"/>
                <a:cs typeface="Cambria"/>
              </a:rPr>
              <a:t>𝑚</a:t>
            </a:r>
            <a:r>
              <a:rPr dirty="0" sz="1000" spc="-75">
                <a:latin typeface="Times New Roman"/>
                <a:cs typeface="Times New Roman"/>
              </a:rPr>
              <a:t>ompa</a:t>
            </a:r>
            <a:r>
              <a:rPr dirty="0" baseline="-60606" sz="825" spc="-112">
                <a:latin typeface="Cambria"/>
                <a:cs typeface="Cambria"/>
              </a:rPr>
              <a:t>𝑚</a:t>
            </a:r>
            <a:r>
              <a:rPr dirty="0" sz="1000" spc="-75">
                <a:latin typeface="Times New Roman"/>
                <a:cs typeface="Times New Roman"/>
              </a:rPr>
              <a:t>red</a:t>
            </a:r>
            <a:r>
              <a:rPr dirty="0" sz="1000" spc="-85">
                <a:latin typeface="Times New Roman"/>
                <a:cs typeface="Times New Roman"/>
              </a:rPr>
              <a:t> </a:t>
            </a:r>
            <a:r>
              <a:rPr dirty="0" sz="1000" spc="-665">
                <a:latin typeface="Times New Roman"/>
                <a:cs typeface="Times New Roman"/>
              </a:rPr>
              <a:t>w</a:t>
            </a:r>
            <a:r>
              <a:rPr dirty="0" baseline="-60606" sz="825" spc="82">
                <a:latin typeface="Cambria"/>
                <a:cs typeface="Cambria"/>
              </a:rPr>
              <a:t>𝑚</a:t>
            </a:r>
            <a:r>
              <a:rPr dirty="0" baseline="-60606" sz="825" spc="44">
                <a:latin typeface="Cambria"/>
                <a:cs typeface="Cambria"/>
              </a:rPr>
              <a:t> </a:t>
            </a:r>
            <a:r>
              <a:rPr dirty="0" sz="1000" spc="35">
                <a:latin typeface="Times New Roman"/>
                <a:cs typeface="Times New Roman"/>
              </a:rPr>
              <a:t>ith</a:t>
            </a:r>
            <a:r>
              <a:rPr dirty="0" sz="1000" spc="-85">
                <a:latin typeface="Times New Roman"/>
                <a:cs typeface="Times New Roman"/>
              </a:rPr>
              <a:t> </a:t>
            </a:r>
            <a:r>
              <a:rPr dirty="0" sz="1000" spc="35">
                <a:latin typeface="Times New Roman"/>
                <a:cs typeface="Times New Roman"/>
              </a:rPr>
              <a:t>unimodal</a:t>
            </a:r>
            <a:r>
              <a:rPr dirty="0" sz="1000" spc="-80">
                <a:latin typeface="Times New Roman"/>
                <a:cs typeface="Times New Roman"/>
              </a:rPr>
              <a:t> </a:t>
            </a:r>
            <a:r>
              <a:rPr dirty="0" sz="1000" spc="15">
                <a:latin typeface="Times New Roman"/>
                <a:cs typeface="Times New Roman"/>
              </a:rPr>
              <a:t>models,</a:t>
            </a:r>
            <a:r>
              <a:rPr dirty="0" sz="1000" spc="-70">
                <a:latin typeface="Times New Roman"/>
                <a:cs typeface="Times New Roman"/>
              </a:rPr>
              <a:t> </a:t>
            </a:r>
            <a:r>
              <a:rPr dirty="0" sz="1000" spc="30">
                <a:latin typeface="Times New Roman"/>
                <a:cs typeface="Times New Roman"/>
              </a:rPr>
              <a:t>multimodal</a:t>
            </a:r>
            <a:r>
              <a:rPr dirty="0" sz="1000" spc="-80">
                <a:latin typeface="Times New Roman"/>
                <a:cs typeface="Times New Roman"/>
              </a:rPr>
              <a:t> </a:t>
            </a:r>
            <a:r>
              <a:rPr dirty="0" sz="1000" spc="20">
                <a:latin typeface="Times New Roman"/>
                <a:cs typeface="Times New Roman"/>
              </a:rPr>
              <a:t>models</a:t>
            </a:r>
            <a:r>
              <a:rPr dirty="0" sz="1000" spc="-85">
                <a:latin typeface="Times New Roman"/>
                <a:cs typeface="Times New Roman"/>
              </a:rPr>
              <a:t> </a:t>
            </a:r>
            <a:r>
              <a:rPr dirty="0" sz="1000" spc="25">
                <a:latin typeface="Times New Roman"/>
                <a:cs typeface="Times New Roman"/>
              </a:rPr>
              <a:t>constrain</a:t>
            </a:r>
            <a:r>
              <a:rPr dirty="0" sz="1000" spc="-85">
                <a:latin typeface="Times New Roman"/>
                <a:cs typeface="Times New Roman"/>
              </a:rPr>
              <a:t> </a:t>
            </a:r>
            <a:r>
              <a:rPr dirty="0" sz="1000" spc="40">
                <a:latin typeface="Times New Roman"/>
                <a:cs typeface="Times New Roman"/>
              </a:rPr>
              <a:t>the</a:t>
            </a:r>
            <a:r>
              <a:rPr dirty="0" sz="1000" spc="-85">
                <a:latin typeface="Times New Roman"/>
                <a:cs typeface="Times New Roman"/>
              </a:rPr>
              <a:t> </a:t>
            </a:r>
            <a:r>
              <a:rPr dirty="0" sz="1000" spc="25">
                <a:latin typeface="Times New Roman"/>
                <a:cs typeface="Times New Roman"/>
              </a:rPr>
              <a:t>optimization</a:t>
            </a:r>
            <a:r>
              <a:rPr dirty="0" sz="1000" spc="-80">
                <a:latin typeface="Times New Roman"/>
                <a:cs typeface="Times New Roman"/>
              </a:rPr>
              <a:t> </a:t>
            </a:r>
            <a:r>
              <a:rPr dirty="0" sz="1000" spc="-15">
                <a:latin typeface="Times New Roman"/>
                <a:cs typeface="Times New Roman"/>
              </a:rPr>
              <a:t>of</a:t>
            </a:r>
            <a:r>
              <a:rPr dirty="0" sz="1000" spc="-85">
                <a:latin typeface="Times New Roman"/>
                <a:cs typeface="Times New Roman"/>
              </a:rPr>
              <a:t> </a:t>
            </a:r>
            <a:r>
              <a:rPr dirty="0" sz="1000" spc="15">
                <a:latin typeface="Times New Roman"/>
                <a:cs typeface="Times New Roman"/>
              </a:rPr>
              <a:t>modal-</a:t>
            </a:r>
            <a:r>
              <a:rPr dirty="0" sz="1000" spc="10">
                <a:latin typeface="Times New Roman"/>
                <a:cs typeface="Times New Roman"/>
              </a:rPr>
              <a:t> </a:t>
            </a:r>
            <a:r>
              <a:rPr dirty="0" sz="1000" spc="5">
                <a:latin typeface="Times New Roman"/>
                <a:cs typeface="Times New Roman"/>
              </a:rPr>
              <a:t>ity</a:t>
            </a:r>
            <a:r>
              <a:rPr dirty="0" sz="1000" spc="-90">
                <a:latin typeface="Times New Roman"/>
                <a:cs typeface="Times New Roman"/>
              </a:rPr>
              <a:t> </a:t>
            </a:r>
            <a:r>
              <a:rPr dirty="0" sz="1000" spc="20">
                <a:latin typeface="Times New Roman"/>
                <a:cs typeface="Times New Roman"/>
              </a:rPr>
              <a:t>encoders</a:t>
            </a:r>
            <a:r>
              <a:rPr dirty="0" sz="1000" spc="-90">
                <a:latin typeface="Times New Roman"/>
                <a:cs typeface="Times New Roman"/>
              </a:rPr>
              <a:t> </a:t>
            </a:r>
            <a:r>
              <a:rPr dirty="0" sz="1000">
                <a:latin typeface="Times New Roman"/>
                <a:cs typeface="Times New Roman"/>
              </a:rPr>
              <a:t>via</a:t>
            </a:r>
            <a:r>
              <a:rPr dirty="0" sz="1000" spc="-90">
                <a:latin typeface="Times New Roman"/>
                <a:cs typeface="Times New Roman"/>
              </a:rPr>
              <a:t> </a:t>
            </a:r>
            <a:r>
              <a:rPr dirty="0" sz="1000" spc="20">
                <a:latin typeface="Cambria"/>
                <a:cs typeface="Cambria"/>
              </a:rPr>
              <a:t>𝑒</a:t>
            </a:r>
            <a:r>
              <a:rPr dirty="0" baseline="39682" sz="1050" spc="30">
                <a:latin typeface="Cambria"/>
                <a:cs typeface="Cambria"/>
              </a:rPr>
              <a:t>(𝑊</a:t>
            </a:r>
            <a:r>
              <a:rPr dirty="0" baseline="25252" sz="825" spc="30">
                <a:latin typeface="Cambria"/>
                <a:cs typeface="Cambria"/>
              </a:rPr>
              <a:t>𝑘</a:t>
            </a:r>
            <a:r>
              <a:rPr dirty="0" baseline="25252" sz="825" spc="217">
                <a:latin typeface="Cambria"/>
                <a:cs typeface="Cambria"/>
              </a:rPr>
              <a:t> </a:t>
            </a:r>
            <a:r>
              <a:rPr dirty="0" baseline="80808" sz="825" spc="7">
                <a:latin typeface="Cambria"/>
                <a:cs typeface="Cambria"/>
              </a:rPr>
              <a:t>2</a:t>
            </a:r>
            <a:r>
              <a:rPr dirty="0" baseline="80808" sz="825" spc="-37">
                <a:latin typeface="Cambria"/>
                <a:cs typeface="Cambria"/>
              </a:rPr>
              <a:t> </a:t>
            </a:r>
            <a:r>
              <a:rPr dirty="0" baseline="39682" sz="1050" spc="97">
                <a:latin typeface="Cambria"/>
                <a:cs typeface="Cambria"/>
              </a:rPr>
              <a:t>−𝑊</a:t>
            </a:r>
            <a:r>
              <a:rPr dirty="0" baseline="40404" sz="825" spc="97">
                <a:latin typeface="Cambria"/>
                <a:cs typeface="Cambria"/>
              </a:rPr>
              <a:t>𝑦</a:t>
            </a:r>
            <a:r>
              <a:rPr dirty="0" baseline="15151" sz="825" spc="97">
                <a:latin typeface="Cambria"/>
                <a:cs typeface="Cambria"/>
              </a:rPr>
              <a:t>𝑖</a:t>
            </a:r>
            <a:r>
              <a:rPr dirty="0" baseline="15151" sz="825" spc="-52">
                <a:latin typeface="Cambria"/>
                <a:cs typeface="Cambria"/>
              </a:rPr>
              <a:t> </a:t>
            </a:r>
            <a:r>
              <a:rPr dirty="0" baseline="80808" sz="825" spc="7">
                <a:latin typeface="Cambria"/>
                <a:cs typeface="Cambria"/>
              </a:rPr>
              <a:t>2</a:t>
            </a:r>
            <a:r>
              <a:rPr dirty="0" baseline="80808" sz="825" spc="-37">
                <a:latin typeface="Cambria"/>
                <a:cs typeface="Cambria"/>
              </a:rPr>
              <a:t> </a:t>
            </a:r>
            <a:r>
              <a:rPr dirty="0" baseline="39682" sz="1050" spc="60">
                <a:latin typeface="Cambria"/>
                <a:cs typeface="Cambria"/>
              </a:rPr>
              <a:t>)𝑧</a:t>
            </a:r>
            <a:r>
              <a:rPr dirty="0" baseline="25252" sz="825" spc="60">
                <a:latin typeface="Cambria"/>
                <a:cs typeface="Cambria"/>
              </a:rPr>
              <a:t>𝑖</a:t>
            </a:r>
            <a:r>
              <a:rPr dirty="0" baseline="25252" sz="825" spc="405">
                <a:latin typeface="Cambria"/>
                <a:cs typeface="Cambria"/>
              </a:rPr>
              <a:t> </a:t>
            </a:r>
            <a:r>
              <a:rPr dirty="0" baseline="80808" sz="825" spc="7">
                <a:latin typeface="Cambria"/>
                <a:cs typeface="Cambria"/>
              </a:rPr>
              <a:t>2</a:t>
            </a:r>
            <a:r>
              <a:rPr dirty="0" baseline="80808" sz="825" spc="292">
                <a:latin typeface="Cambria"/>
                <a:cs typeface="Cambria"/>
              </a:rPr>
              <a:t> </a:t>
            </a:r>
            <a:r>
              <a:rPr dirty="0" sz="1000" spc="-10">
                <a:latin typeface="Times New Roman"/>
                <a:cs typeface="Times New Roman"/>
              </a:rPr>
              <a:t>.</a:t>
            </a:r>
            <a:r>
              <a:rPr dirty="0" sz="1000" spc="35">
                <a:latin typeface="Times New Roman"/>
                <a:cs typeface="Times New Roman"/>
              </a:rPr>
              <a:t> </a:t>
            </a:r>
            <a:r>
              <a:rPr dirty="0" sz="1000" spc="-40">
                <a:latin typeface="Times New Roman"/>
                <a:cs typeface="Times New Roman"/>
              </a:rPr>
              <a:t>To</a:t>
            </a:r>
            <a:r>
              <a:rPr dirty="0" sz="1000" spc="-90">
                <a:latin typeface="Times New Roman"/>
                <a:cs typeface="Times New Roman"/>
              </a:rPr>
              <a:t> </a:t>
            </a:r>
            <a:r>
              <a:rPr dirty="0" sz="1000" spc="25">
                <a:latin typeface="Times New Roman"/>
                <a:cs typeface="Times New Roman"/>
              </a:rPr>
              <a:t>this</a:t>
            </a:r>
            <a:r>
              <a:rPr dirty="0" sz="1000" spc="-90">
                <a:latin typeface="Times New Roman"/>
                <a:cs typeface="Times New Roman"/>
              </a:rPr>
              <a:t> </a:t>
            </a:r>
            <a:r>
              <a:rPr dirty="0" sz="1000" spc="25">
                <a:latin typeface="Times New Roman"/>
                <a:cs typeface="Times New Roman"/>
              </a:rPr>
              <a:t>end,</a:t>
            </a:r>
            <a:r>
              <a:rPr dirty="0" sz="1000" spc="-75">
                <a:latin typeface="Times New Roman"/>
                <a:cs typeface="Times New Roman"/>
              </a:rPr>
              <a:t> </a:t>
            </a:r>
            <a:r>
              <a:rPr dirty="0" sz="1000" spc="5">
                <a:latin typeface="Times New Roman"/>
                <a:cs typeface="Times New Roman"/>
              </a:rPr>
              <a:t>we</a:t>
            </a:r>
            <a:r>
              <a:rPr dirty="0" sz="1000" spc="-90">
                <a:latin typeface="Times New Roman"/>
                <a:cs typeface="Times New Roman"/>
              </a:rPr>
              <a:t> </a:t>
            </a:r>
            <a:r>
              <a:rPr dirty="0" sz="1000" spc="25">
                <a:latin typeface="Times New Roman"/>
                <a:cs typeface="Times New Roman"/>
              </a:rPr>
              <a:t>introduce</a:t>
            </a:r>
            <a:r>
              <a:rPr dirty="0" sz="1000" spc="-90">
                <a:latin typeface="Times New Roman"/>
                <a:cs typeface="Times New Roman"/>
              </a:rPr>
              <a:t> </a:t>
            </a:r>
            <a:r>
              <a:rPr dirty="0" sz="1000" spc="-15">
                <a:latin typeface="Times New Roman"/>
                <a:cs typeface="Times New Roman"/>
              </a:rPr>
              <a:t>DGL</a:t>
            </a:r>
            <a:r>
              <a:rPr dirty="0" sz="1000" spc="-90">
                <a:latin typeface="Times New Roman"/>
                <a:cs typeface="Times New Roman"/>
              </a:rPr>
              <a:t> </a:t>
            </a:r>
            <a:r>
              <a:rPr dirty="0" sz="1000" spc="20">
                <a:latin typeface="Times New Roman"/>
                <a:cs typeface="Times New Roman"/>
              </a:rPr>
              <a:t>to</a:t>
            </a:r>
            <a:r>
              <a:rPr dirty="0" sz="1000" spc="-90">
                <a:latin typeface="Times New Roman"/>
                <a:cs typeface="Times New Roman"/>
              </a:rPr>
              <a:t> </a:t>
            </a:r>
            <a:r>
              <a:rPr dirty="0" sz="1000" spc="15">
                <a:latin typeface="Times New Roman"/>
                <a:cs typeface="Times New Roman"/>
              </a:rPr>
              <a:t>decouple</a:t>
            </a:r>
            <a:r>
              <a:rPr dirty="0" sz="1000" spc="-90">
                <a:latin typeface="Times New Roman"/>
                <a:cs typeface="Times New Roman"/>
              </a:rPr>
              <a:t> </a:t>
            </a:r>
            <a:r>
              <a:rPr dirty="0" sz="1000" spc="40">
                <a:latin typeface="Times New Roman"/>
                <a:cs typeface="Times New Roman"/>
              </a:rPr>
              <a:t>the</a:t>
            </a:r>
            <a:r>
              <a:rPr dirty="0" sz="1000" spc="-90">
                <a:latin typeface="Times New Roman"/>
                <a:cs typeface="Times New Roman"/>
              </a:rPr>
              <a:t> </a:t>
            </a:r>
            <a:r>
              <a:rPr dirty="0" sz="1000" spc="25">
                <a:latin typeface="Times New Roman"/>
                <a:cs typeface="Times New Roman"/>
              </a:rPr>
              <a:t>optimization</a:t>
            </a:r>
            <a:r>
              <a:rPr dirty="0" sz="1000" spc="-90">
                <a:latin typeface="Times New Roman"/>
                <a:cs typeface="Times New Roman"/>
              </a:rPr>
              <a:t> </a:t>
            </a:r>
            <a:r>
              <a:rPr dirty="0" sz="1000" spc="10">
                <a:latin typeface="Times New Roman"/>
                <a:cs typeface="Times New Roman"/>
              </a:rPr>
              <a:t>process</a:t>
            </a:r>
            <a:r>
              <a:rPr dirty="0" sz="1000" spc="-90">
                <a:latin typeface="Times New Roman"/>
                <a:cs typeface="Times New Roman"/>
              </a:rPr>
              <a:t> </a:t>
            </a:r>
            <a:r>
              <a:rPr dirty="0" sz="1000" spc="20">
                <a:latin typeface="Times New Roman"/>
                <a:cs typeface="Times New Roman"/>
              </a:rPr>
              <a:t>between</a:t>
            </a:r>
            <a:r>
              <a:rPr dirty="0" sz="1000" spc="15">
                <a:latin typeface="Times New Roman"/>
                <a:cs typeface="Times New Roman"/>
              </a:rPr>
              <a:t> </a:t>
            </a:r>
            <a:r>
              <a:rPr dirty="0" sz="1000" spc="40">
                <a:latin typeface="Times New Roman"/>
                <a:cs typeface="Times New Roman"/>
              </a:rPr>
              <a:t>the</a:t>
            </a:r>
            <a:r>
              <a:rPr dirty="0" sz="1000" spc="-85">
                <a:latin typeface="Times New Roman"/>
                <a:cs typeface="Times New Roman"/>
              </a:rPr>
              <a:t> </a:t>
            </a:r>
            <a:r>
              <a:rPr dirty="0" sz="1000" spc="20">
                <a:latin typeface="Times New Roman"/>
                <a:cs typeface="Times New Roman"/>
              </a:rPr>
              <a:t>modality</a:t>
            </a:r>
            <a:r>
              <a:rPr dirty="0" sz="1000" spc="-85">
                <a:latin typeface="Times New Roman"/>
                <a:cs typeface="Times New Roman"/>
              </a:rPr>
              <a:t> </a:t>
            </a:r>
            <a:r>
              <a:rPr dirty="0" sz="1000" spc="20">
                <a:latin typeface="Times New Roman"/>
                <a:cs typeface="Times New Roman"/>
              </a:rPr>
              <a:t>encoder</a:t>
            </a:r>
            <a:r>
              <a:rPr dirty="0" sz="1000" spc="-85">
                <a:latin typeface="Times New Roman"/>
                <a:cs typeface="Times New Roman"/>
              </a:rPr>
              <a:t> </a:t>
            </a:r>
            <a:r>
              <a:rPr dirty="0" sz="1000" spc="40">
                <a:latin typeface="Times New Roman"/>
                <a:cs typeface="Times New Roman"/>
              </a:rPr>
              <a:t>and</a:t>
            </a:r>
            <a:r>
              <a:rPr dirty="0" sz="1000" spc="-85">
                <a:latin typeface="Times New Roman"/>
                <a:cs typeface="Times New Roman"/>
              </a:rPr>
              <a:t> </a:t>
            </a:r>
            <a:r>
              <a:rPr dirty="0" sz="1000" spc="40">
                <a:latin typeface="Times New Roman"/>
                <a:cs typeface="Times New Roman"/>
              </a:rPr>
              <a:t>the</a:t>
            </a:r>
            <a:r>
              <a:rPr dirty="0" sz="1000" spc="-85">
                <a:latin typeface="Times New Roman"/>
                <a:cs typeface="Times New Roman"/>
              </a:rPr>
              <a:t> </a:t>
            </a:r>
            <a:r>
              <a:rPr dirty="0" sz="1000" spc="20">
                <a:latin typeface="Times New Roman"/>
                <a:cs typeface="Times New Roman"/>
              </a:rPr>
              <a:t>modality</a:t>
            </a:r>
            <a:r>
              <a:rPr dirty="0" sz="1000" spc="-85">
                <a:latin typeface="Times New Roman"/>
                <a:cs typeface="Times New Roman"/>
              </a:rPr>
              <a:t> </a:t>
            </a:r>
            <a:r>
              <a:rPr dirty="0" sz="1000" spc="20">
                <a:latin typeface="Times New Roman"/>
                <a:cs typeface="Times New Roman"/>
              </a:rPr>
              <a:t>fusion</a:t>
            </a:r>
            <a:r>
              <a:rPr dirty="0" sz="1000" spc="-85">
                <a:latin typeface="Times New Roman"/>
                <a:cs typeface="Times New Roman"/>
              </a:rPr>
              <a:t> </a:t>
            </a:r>
            <a:r>
              <a:rPr dirty="0" sz="1000" spc="30">
                <a:latin typeface="Times New Roman"/>
                <a:cs typeface="Times New Roman"/>
              </a:rPr>
              <a:t>module</a:t>
            </a:r>
            <a:r>
              <a:rPr dirty="0" sz="1000" spc="-85">
                <a:latin typeface="Times New Roman"/>
                <a:cs typeface="Times New Roman"/>
              </a:rPr>
              <a:t> </a:t>
            </a:r>
            <a:r>
              <a:rPr dirty="0" sz="1000" spc="35">
                <a:latin typeface="Times New Roman"/>
                <a:cs typeface="Times New Roman"/>
              </a:rPr>
              <a:t>in</a:t>
            </a:r>
            <a:r>
              <a:rPr dirty="0" sz="1000" spc="-85">
                <a:latin typeface="Times New Roman"/>
                <a:cs typeface="Times New Roman"/>
              </a:rPr>
              <a:t> </a:t>
            </a:r>
            <a:r>
              <a:rPr dirty="0" sz="1000" spc="40">
                <a:latin typeface="Times New Roman"/>
                <a:cs typeface="Times New Roman"/>
              </a:rPr>
              <a:t>the</a:t>
            </a:r>
            <a:r>
              <a:rPr dirty="0" sz="1000" spc="-85">
                <a:latin typeface="Times New Roman"/>
                <a:cs typeface="Times New Roman"/>
              </a:rPr>
              <a:t> </a:t>
            </a:r>
            <a:r>
              <a:rPr dirty="0" sz="1000" spc="30">
                <a:latin typeface="Times New Roman"/>
                <a:cs typeface="Times New Roman"/>
              </a:rPr>
              <a:t>multimodal</a:t>
            </a:r>
            <a:r>
              <a:rPr dirty="0" sz="1000" spc="-85">
                <a:latin typeface="Times New Roman"/>
                <a:cs typeface="Times New Roman"/>
              </a:rPr>
              <a:t> </a:t>
            </a:r>
            <a:r>
              <a:rPr dirty="0" sz="1000" spc="25">
                <a:latin typeface="Times New Roman"/>
                <a:cs typeface="Times New Roman"/>
              </a:rPr>
              <a:t>model</a:t>
            </a:r>
            <a:r>
              <a:rPr dirty="0" sz="1000" spc="-85">
                <a:latin typeface="Times New Roman"/>
                <a:cs typeface="Times New Roman"/>
              </a:rPr>
              <a:t> </a:t>
            </a:r>
            <a:r>
              <a:rPr dirty="0" sz="1000">
                <a:latin typeface="Times New Roman"/>
                <a:cs typeface="Times New Roman"/>
              </a:rPr>
              <a:t>by</a:t>
            </a:r>
            <a:r>
              <a:rPr dirty="0" sz="1000" spc="-85">
                <a:latin typeface="Times New Roman"/>
                <a:cs typeface="Times New Roman"/>
              </a:rPr>
              <a:t> </a:t>
            </a:r>
            <a:r>
              <a:rPr dirty="0" sz="1000" spc="25">
                <a:latin typeface="Times New Roman"/>
                <a:cs typeface="Times New Roman"/>
              </a:rPr>
              <a:t>detaching</a:t>
            </a:r>
            <a:r>
              <a:rPr dirty="0" sz="1000" spc="-85">
                <a:latin typeface="Times New Roman"/>
                <a:cs typeface="Times New Roman"/>
              </a:rPr>
              <a:t> </a:t>
            </a:r>
            <a:r>
              <a:rPr dirty="0" sz="1000" spc="40">
                <a:latin typeface="Times New Roman"/>
                <a:cs typeface="Times New Roman"/>
              </a:rPr>
              <a:t>and</a:t>
            </a:r>
            <a:r>
              <a:rPr dirty="0" sz="1000" spc="-85">
                <a:latin typeface="Times New Roman"/>
                <a:cs typeface="Times New Roman"/>
              </a:rPr>
              <a:t> </a:t>
            </a:r>
            <a:r>
              <a:rPr dirty="0" sz="1000" spc="15">
                <a:latin typeface="Times New Roman"/>
                <a:cs typeface="Times New Roman"/>
              </a:rPr>
              <a:t>reorganizing </a:t>
            </a:r>
            <a:r>
              <a:rPr dirty="0" sz="1000" spc="30">
                <a:latin typeface="Times New Roman"/>
                <a:cs typeface="Times New Roman"/>
              </a:rPr>
              <a:t>their</a:t>
            </a:r>
            <a:r>
              <a:rPr dirty="0" sz="1000" spc="-45">
                <a:latin typeface="Times New Roman"/>
                <a:cs typeface="Times New Roman"/>
              </a:rPr>
              <a:t> </a:t>
            </a:r>
            <a:r>
              <a:rPr dirty="0" sz="1000" spc="20">
                <a:latin typeface="Times New Roman"/>
                <a:cs typeface="Times New Roman"/>
              </a:rPr>
              <a:t>gradient</a:t>
            </a:r>
            <a:r>
              <a:rPr dirty="0" sz="1000" spc="-45">
                <a:latin typeface="Times New Roman"/>
                <a:cs typeface="Times New Roman"/>
              </a:rPr>
              <a:t> </a:t>
            </a:r>
            <a:r>
              <a:rPr dirty="0" sz="1000" spc="20">
                <a:latin typeface="Times New Roman"/>
                <a:cs typeface="Times New Roman"/>
              </a:rPr>
              <a:t>propagation</a:t>
            </a:r>
            <a:r>
              <a:rPr dirty="0" sz="1000" spc="-45">
                <a:latin typeface="Times New Roman"/>
                <a:cs typeface="Times New Roman"/>
              </a:rPr>
              <a:t> </a:t>
            </a:r>
            <a:r>
              <a:rPr dirty="0" sz="1000" spc="25">
                <a:latin typeface="Times New Roman"/>
                <a:cs typeface="Times New Roman"/>
              </a:rPr>
              <a:t>paths,</a:t>
            </a:r>
            <a:r>
              <a:rPr dirty="0" sz="1000" spc="-40">
                <a:latin typeface="Times New Roman"/>
                <a:cs typeface="Times New Roman"/>
              </a:rPr>
              <a:t> </a:t>
            </a:r>
            <a:r>
              <a:rPr dirty="0" sz="1000" spc="15">
                <a:latin typeface="Times New Roman"/>
                <a:cs typeface="Times New Roman"/>
              </a:rPr>
              <a:t>as</a:t>
            </a:r>
            <a:r>
              <a:rPr dirty="0" sz="1000" spc="-45">
                <a:latin typeface="Times New Roman"/>
                <a:cs typeface="Times New Roman"/>
              </a:rPr>
              <a:t> </a:t>
            </a:r>
            <a:r>
              <a:rPr dirty="0" sz="1000" spc="35">
                <a:latin typeface="Times New Roman"/>
                <a:cs typeface="Times New Roman"/>
              </a:rPr>
              <a:t>shown</a:t>
            </a:r>
            <a:r>
              <a:rPr dirty="0" sz="1000" spc="-45">
                <a:latin typeface="Times New Roman"/>
                <a:cs typeface="Times New Roman"/>
              </a:rPr>
              <a:t> </a:t>
            </a:r>
            <a:r>
              <a:rPr dirty="0" sz="1000" spc="35">
                <a:latin typeface="Times New Roman"/>
                <a:cs typeface="Times New Roman"/>
              </a:rPr>
              <a:t>in</a:t>
            </a:r>
            <a:r>
              <a:rPr dirty="0" sz="1000" spc="-45">
                <a:latin typeface="Times New Roman"/>
                <a:cs typeface="Times New Roman"/>
              </a:rPr>
              <a:t> </a:t>
            </a:r>
            <a:r>
              <a:rPr dirty="0" sz="1000">
                <a:latin typeface="Times New Roman"/>
                <a:cs typeface="Times New Roman"/>
              </a:rPr>
              <a:t>Fig.</a:t>
            </a:r>
            <a:r>
              <a:rPr dirty="0" sz="1000" spc="50">
                <a:latin typeface="Times New Roman"/>
                <a:cs typeface="Times New Roman"/>
              </a:rPr>
              <a:t> </a:t>
            </a:r>
            <a:r>
              <a:rPr dirty="0" sz="1000" spc="-10">
                <a:latin typeface="Times New Roman"/>
                <a:cs typeface="Times New Roman"/>
              </a:rPr>
              <a:t>2</a:t>
            </a:r>
            <a:r>
              <a:rPr dirty="0" sz="1000" spc="-45">
                <a:latin typeface="Times New Roman"/>
                <a:cs typeface="Times New Roman"/>
              </a:rPr>
              <a:t> </a:t>
            </a:r>
            <a:r>
              <a:rPr dirty="0" sz="1000">
                <a:latin typeface="Times New Roman"/>
                <a:cs typeface="Times New Roman"/>
              </a:rPr>
              <a:t>(b).</a:t>
            </a:r>
            <a:r>
              <a:rPr dirty="0" sz="1000" spc="50">
                <a:latin typeface="Times New Roman"/>
                <a:cs typeface="Times New Roman"/>
              </a:rPr>
              <a:t> </a:t>
            </a:r>
            <a:r>
              <a:rPr dirty="0" sz="1000" spc="25">
                <a:latin typeface="Times New Roman"/>
                <a:cs typeface="Times New Roman"/>
              </a:rPr>
              <a:t>Compared</a:t>
            </a:r>
            <a:r>
              <a:rPr dirty="0" sz="1000" spc="-45">
                <a:latin typeface="Times New Roman"/>
                <a:cs typeface="Times New Roman"/>
              </a:rPr>
              <a:t> </a:t>
            </a:r>
            <a:r>
              <a:rPr dirty="0" sz="1000" spc="35">
                <a:latin typeface="Times New Roman"/>
                <a:cs typeface="Times New Roman"/>
              </a:rPr>
              <a:t>with</a:t>
            </a:r>
            <a:r>
              <a:rPr dirty="0" sz="1000" spc="-45">
                <a:latin typeface="Times New Roman"/>
                <a:cs typeface="Times New Roman"/>
              </a:rPr>
              <a:t> </a:t>
            </a:r>
            <a:r>
              <a:rPr dirty="0" sz="1000" spc="40">
                <a:latin typeface="Times New Roman"/>
                <a:cs typeface="Times New Roman"/>
              </a:rPr>
              <a:t>the</a:t>
            </a:r>
            <a:r>
              <a:rPr dirty="0" sz="1000" spc="-45">
                <a:latin typeface="Times New Roman"/>
                <a:cs typeface="Times New Roman"/>
              </a:rPr>
              <a:t> </a:t>
            </a:r>
            <a:r>
              <a:rPr dirty="0" sz="1000" spc="10">
                <a:latin typeface="Times New Roman"/>
                <a:cs typeface="Times New Roman"/>
              </a:rPr>
              <a:t>vanilla</a:t>
            </a:r>
            <a:r>
              <a:rPr dirty="0" sz="1000" spc="-45">
                <a:latin typeface="Times New Roman"/>
                <a:cs typeface="Times New Roman"/>
              </a:rPr>
              <a:t> </a:t>
            </a:r>
            <a:r>
              <a:rPr dirty="0" sz="1000" spc="15">
                <a:latin typeface="Times New Roman"/>
                <a:cs typeface="Times New Roman"/>
              </a:rPr>
              <a:t>model,</a:t>
            </a:r>
            <a:r>
              <a:rPr dirty="0" sz="1000" spc="-40">
                <a:latin typeface="Times New Roman"/>
                <a:cs typeface="Times New Roman"/>
              </a:rPr>
              <a:t> </a:t>
            </a:r>
            <a:r>
              <a:rPr dirty="0" sz="1000" spc="25">
                <a:latin typeface="Times New Roman"/>
                <a:cs typeface="Times New Roman"/>
              </a:rPr>
              <a:t>this</a:t>
            </a:r>
            <a:r>
              <a:rPr dirty="0" sz="1000" spc="-45">
                <a:latin typeface="Times New Roman"/>
                <a:cs typeface="Times New Roman"/>
              </a:rPr>
              <a:t> </a:t>
            </a:r>
            <a:r>
              <a:rPr dirty="0" sz="1000" spc="25">
                <a:latin typeface="Times New Roman"/>
                <a:cs typeface="Times New Roman"/>
              </a:rPr>
              <a:t>can</a:t>
            </a:r>
            <a:r>
              <a:rPr dirty="0" sz="1000" spc="-45">
                <a:latin typeface="Times New Roman"/>
                <a:cs typeface="Times New Roman"/>
              </a:rPr>
              <a:t> </a:t>
            </a:r>
            <a:r>
              <a:rPr dirty="0" sz="1000" spc="25">
                <a:latin typeface="Times New Roman"/>
                <a:cs typeface="Times New Roman"/>
              </a:rPr>
              <a:t>eliminate</a:t>
            </a:r>
            <a:r>
              <a:rPr dirty="0" sz="1000" spc="5">
                <a:latin typeface="Times New Roman"/>
                <a:cs typeface="Times New Roman"/>
              </a:rPr>
              <a:t> </a:t>
            </a:r>
            <a:r>
              <a:rPr dirty="0" sz="1000" spc="40">
                <a:latin typeface="Times New Roman"/>
                <a:cs typeface="Times New Roman"/>
              </a:rPr>
              <a:t>the</a:t>
            </a:r>
            <a:r>
              <a:rPr dirty="0" sz="1000" spc="-65">
                <a:latin typeface="Times New Roman"/>
                <a:cs typeface="Times New Roman"/>
              </a:rPr>
              <a:t> </a:t>
            </a:r>
            <a:r>
              <a:rPr dirty="0" sz="1000" spc="25">
                <a:latin typeface="Times New Roman"/>
                <a:cs typeface="Times New Roman"/>
              </a:rPr>
              <a:t>optimization</a:t>
            </a:r>
            <a:r>
              <a:rPr dirty="0" sz="1000" spc="-65">
                <a:latin typeface="Times New Roman"/>
                <a:cs typeface="Times New Roman"/>
              </a:rPr>
              <a:t> </a:t>
            </a:r>
            <a:r>
              <a:rPr dirty="0" sz="1000" spc="25">
                <a:latin typeface="Times New Roman"/>
                <a:cs typeface="Times New Roman"/>
              </a:rPr>
              <a:t>constraint</a:t>
            </a:r>
            <a:r>
              <a:rPr dirty="0" sz="1000" spc="-65">
                <a:latin typeface="Times New Roman"/>
                <a:cs typeface="Times New Roman"/>
              </a:rPr>
              <a:t> </a:t>
            </a:r>
            <a:r>
              <a:rPr dirty="0" sz="1000" spc="40">
                <a:latin typeface="Times New Roman"/>
                <a:cs typeface="Times New Roman"/>
              </a:rPr>
              <a:t>on</a:t>
            </a:r>
            <a:r>
              <a:rPr dirty="0" sz="1000" spc="-65">
                <a:latin typeface="Times New Roman"/>
                <a:cs typeface="Times New Roman"/>
              </a:rPr>
              <a:t> </a:t>
            </a:r>
            <a:r>
              <a:rPr dirty="0" sz="1000" spc="20">
                <a:latin typeface="Times New Roman"/>
                <a:cs typeface="Times New Roman"/>
              </a:rPr>
              <a:t>modality</a:t>
            </a:r>
            <a:r>
              <a:rPr dirty="0" sz="1000" spc="-65">
                <a:latin typeface="Times New Roman"/>
                <a:cs typeface="Times New Roman"/>
              </a:rPr>
              <a:t> </a:t>
            </a:r>
            <a:r>
              <a:rPr dirty="0" sz="1000" spc="20">
                <a:latin typeface="Times New Roman"/>
                <a:cs typeface="Times New Roman"/>
              </a:rPr>
              <a:t>encoders</a:t>
            </a:r>
            <a:r>
              <a:rPr dirty="0" sz="1000" spc="-65">
                <a:latin typeface="Times New Roman"/>
                <a:cs typeface="Times New Roman"/>
              </a:rPr>
              <a:t> </a:t>
            </a:r>
            <a:r>
              <a:rPr dirty="0" sz="1000" spc="15">
                <a:latin typeface="Times New Roman"/>
                <a:cs typeface="Times New Roman"/>
              </a:rPr>
              <a:t>completely</a:t>
            </a:r>
            <a:r>
              <a:rPr dirty="0" sz="1000" spc="-65">
                <a:latin typeface="Times New Roman"/>
                <a:cs typeface="Times New Roman"/>
              </a:rPr>
              <a:t> </a:t>
            </a:r>
            <a:r>
              <a:rPr dirty="0" sz="1000" spc="20">
                <a:latin typeface="Times New Roman"/>
                <a:cs typeface="Times New Roman"/>
              </a:rPr>
              <a:t>while</a:t>
            </a:r>
            <a:r>
              <a:rPr dirty="0" sz="1000" spc="-65">
                <a:latin typeface="Times New Roman"/>
                <a:cs typeface="Times New Roman"/>
              </a:rPr>
              <a:t> </a:t>
            </a:r>
            <a:r>
              <a:rPr dirty="0" sz="1000" spc="30">
                <a:latin typeface="Times New Roman"/>
                <a:cs typeface="Times New Roman"/>
              </a:rPr>
              <a:t>ensuring</a:t>
            </a:r>
            <a:r>
              <a:rPr dirty="0" sz="1000" spc="-65">
                <a:latin typeface="Times New Roman"/>
                <a:cs typeface="Times New Roman"/>
              </a:rPr>
              <a:t> </a:t>
            </a:r>
            <a:r>
              <a:rPr dirty="0" sz="1000" spc="40">
                <a:latin typeface="Times New Roman"/>
                <a:cs typeface="Times New Roman"/>
              </a:rPr>
              <a:t>the</a:t>
            </a:r>
            <a:r>
              <a:rPr dirty="0" sz="1000" spc="-65">
                <a:latin typeface="Times New Roman"/>
                <a:cs typeface="Times New Roman"/>
              </a:rPr>
              <a:t> </a:t>
            </a:r>
            <a:r>
              <a:rPr dirty="0" sz="1000" spc="25">
                <a:latin typeface="Times New Roman"/>
                <a:cs typeface="Times New Roman"/>
              </a:rPr>
              <a:t>optimization</a:t>
            </a:r>
            <a:r>
              <a:rPr dirty="0" sz="1000" spc="-65">
                <a:latin typeface="Times New Roman"/>
                <a:cs typeface="Times New Roman"/>
              </a:rPr>
              <a:t> </a:t>
            </a:r>
            <a:r>
              <a:rPr dirty="0" sz="1000" spc="-15">
                <a:latin typeface="Times New Roman"/>
                <a:cs typeface="Times New Roman"/>
              </a:rPr>
              <a:t>of</a:t>
            </a:r>
            <a:r>
              <a:rPr dirty="0" sz="1000" spc="-65">
                <a:latin typeface="Times New Roman"/>
                <a:cs typeface="Times New Roman"/>
              </a:rPr>
              <a:t> </a:t>
            </a:r>
            <a:r>
              <a:rPr dirty="0" sz="1000" spc="40">
                <a:latin typeface="Times New Roman"/>
                <a:cs typeface="Times New Roman"/>
              </a:rPr>
              <a:t>the</a:t>
            </a:r>
            <a:r>
              <a:rPr dirty="0" sz="1000" spc="-65">
                <a:latin typeface="Times New Roman"/>
                <a:cs typeface="Times New Roman"/>
              </a:rPr>
              <a:t> </a:t>
            </a:r>
            <a:r>
              <a:rPr dirty="0" sz="1000" spc="20">
                <a:latin typeface="Times New Roman"/>
                <a:cs typeface="Times New Roman"/>
              </a:rPr>
              <a:t>modality</a:t>
            </a:r>
            <a:endParaRPr sz="10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887298" y="841750"/>
            <a:ext cx="5785485" cy="617855"/>
          </a:xfrm>
          <a:prstGeom prst="rect">
            <a:avLst/>
          </a:prstGeom>
        </p:spPr>
        <p:txBody>
          <a:bodyPr wrap="square" lIns="0" tIns="12700" rIns="0" bIns="0" rtlCol="0" vert="horz">
            <a:spAutoFit/>
          </a:bodyPr>
          <a:lstStyle/>
          <a:p>
            <a:pPr algn="just" marL="12700" marR="5080">
              <a:lnSpc>
                <a:spcPct val="129500"/>
              </a:lnSpc>
              <a:spcBef>
                <a:spcPts val="100"/>
              </a:spcBef>
            </a:pPr>
            <a:r>
              <a:rPr dirty="0" sz="1000">
                <a:latin typeface="Times New Roman"/>
                <a:cs typeface="Times New Roman"/>
              </a:rPr>
              <a:t>encoder</a:t>
            </a:r>
            <a:r>
              <a:rPr dirty="0" sz="1000" spc="80">
                <a:latin typeface="Times New Roman"/>
                <a:cs typeface="Times New Roman"/>
              </a:rPr>
              <a:t> </a:t>
            </a:r>
            <a:r>
              <a:rPr dirty="0" sz="1000">
                <a:latin typeface="Times New Roman"/>
                <a:cs typeface="Times New Roman"/>
              </a:rPr>
              <a:t>and</a:t>
            </a:r>
            <a:r>
              <a:rPr dirty="0" sz="1000" spc="80">
                <a:latin typeface="Times New Roman"/>
                <a:cs typeface="Times New Roman"/>
              </a:rPr>
              <a:t> </a:t>
            </a:r>
            <a:r>
              <a:rPr dirty="0" sz="1000">
                <a:latin typeface="Times New Roman"/>
                <a:cs typeface="Times New Roman"/>
              </a:rPr>
              <a:t>fusion</a:t>
            </a:r>
            <a:r>
              <a:rPr dirty="0" sz="1000" spc="85">
                <a:latin typeface="Times New Roman"/>
                <a:cs typeface="Times New Roman"/>
              </a:rPr>
              <a:t> </a:t>
            </a:r>
            <a:r>
              <a:rPr dirty="0" sz="1000">
                <a:latin typeface="Times New Roman"/>
                <a:cs typeface="Times New Roman"/>
              </a:rPr>
              <a:t>module.</a:t>
            </a:r>
            <a:r>
              <a:rPr dirty="0" sz="1000" spc="210">
                <a:latin typeface="Times New Roman"/>
                <a:cs typeface="Times New Roman"/>
              </a:rPr>
              <a:t> </a:t>
            </a:r>
            <a:r>
              <a:rPr dirty="0" sz="1000" spc="-10">
                <a:latin typeface="Times New Roman"/>
                <a:cs typeface="Times New Roman"/>
              </a:rPr>
              <a:t>Specifically,</a:t>
            </a:r>
            <a:r>
              <a:rPr dirty="0" sz="1000" spc="80">
                <a:latin typeface="Times New Roman"/>
                <a:cs typeface="Times New Roman"/>
              </a:rPr>
              <a:t> </a:t>
            </a:r>
            <a:r>
              <a:rPr dirty="0" sz="1000" spc="-10">
                <a:latin typeface="Times New Roman"/>
                <a:cs typeface="Times New Roman"/>
              </a:rPr>
              <a:t>DGL</a:t>
            </a:r>
            <a:r>
              <a:rPr dirty="0" sz="1000" spc="80">
                <a:latin typeface="Times New Roman"/>
                <a:cs typeface="Times New Roman"/>
              </a:rPr>
              <a:t> </a:t>
            </a:r>
            <a:r>
              <a:rPr dirty="0" sz="1000">
                <a:latin typeface="Times New Roman"/>
                <a:cs typeface="Times New Roman"/>
              </a:rPr>
              <a:t>consists</a:t>
            </a:r>
            <a:r>
              <a:rPr dirty="0" sz="1000" spc="85">
                <a:latin typeface="Times New Roman"/>
                <a:cs typeface="Times New Roman"/>
              </a:rPr>
              <a:t> </a:t>
            </a:r>
            <a:r>
              <a:rPr dirty="0" sz="1000">
                <a:latin typeface="Times New Roman"/>
                <a:cs typeface="Times New Roman"/>
              </a:rPr>
              <a:t>of</a:t>
            </a:r>
            <a:r>
              <a:rPr dirty="0" sz="1000" spc="80">
                <a:latin typeface="Times New Roman"/>
                <a:cs typeface="Times New Roman"/>
              </a:rPr>
              <a:t> </a:t>
            </a:r>
            <a:r>
              <a:rPr dirty="0" sz="1000">
                <a:latin typeface="Times New Roman"/>
                <a:cs typeface="Times New Roman"/>
              </a:rPr>
              <a:t>two</a:t>
            </a:r>
            <a:r>
              <a:rPr dirty="0" sz="1000" spc="75">
                <a:latin typeface="Times New Roman"/>
                <a:cs typeface="Times New Roman"/>
              </a:rPr>
              <a:t> </a:t>
            </a:r>
            <a:r>
              <a:rPr dirty="0" sz="1000">
                <a:latin typeface="Times New Roman"/>
                <a:cs typeface="Times New Roman"/>
              </a:rPr>
              <a:t>parts:</a:t>
            </a:r>
            <a:r>
              <a:rPr dirty="0" sz="1000" spc="210">
                <a:latin typeface="Times New Roman"/>
                <a:cs typeface="Times New Roman"/>
              </a:rPr>
              <a:t> </a:t>
            </a:r>
            <a:r>
              <a:rPr dirty="0" sz="1000">
                <a:latin typeface="Times New Roman"/>
                <a:cs typeface="Times New Roman"/>
              </a:rPr>
              <a:t>gradient</a:t>
            </a:r>
            <a:r>
              <a:rPr dirty="0" sz="1000" spc="75">
                <a:latin typeface="Times New Roman"/>
                <a:cs typeface="Times New Roman"/>
              </a:rPr>
              <a:t> </a:t>
            </a:r>
            <a:r>
              <a:rPr dirty="0" sz="1000">
                <a:latin typeface="Times New Roman"/>
                <a:cs typeface="Times New Roman"/>
              </a:rPr>
              <a:t>detaching</a:t>
            </a:r>
            <a:r>
              <a:rPr dirty="0" sz="1000" spc="80">
                <a:latin typeface="Times New Roman"/>
                <a:cs typeface="Times New Roman"/>
              </a:rPr>
              <a:t> </a:t>
            </a:r>
            <a:r>
              <a:rPr dirty="0" sz="1000">
                <a:latin typeface="Times New Roman"/>
                <a:cs typeface="Times New Roman"/>
              </a:rPr>
              <a:t>to</a:t>
            </a:r>
            <a:r>
              <a:rPr dirty="0" sz="1000" spc="75">
                <a:latin typeface="Times New Roman"/>
                <a:cs typeface="Times New Roman"/>
              </a:rPr>
              <a:t> </a:t>
            </a:r>
            <a:r>
              <a:rPr dirty="0" sz="1000">
                <a:latin typeface="Times New Roman"/>
                <a:cs typeface="Times New Roman"/>
              </a:rPr>
              <a:t>truncate</a:t>
            </a:r>
            <a:r>
              <a:rPr dirty="0" sz="1000" spc="80">
                <a:latin typeface="Times New Roman"/>
                <a:cs typeface="Times New Roman"/>
              </a:rPr>
              <a:t> </a:t>
            </a:r>
            <a:r>
              <a:rPr dirty="0" sz="1000">
                <a:latin typeface="Times New Roman"/>
                <a:cs typeface="Times New Roman"/>
              </a:rPr>
              <a:t>the</a:t>
            </a:r>
            <a:r>
              <a:rPr dirty="0" sz="1000" spc="85">
                <a:latin typeface="Times New Roman"/>
                <a:cs typeface="Times New Roman"/>
              </a:rPr>
              <a:t> </a:t>
            </a:r>
            <a:r>
              <a:rPr dirty="0" sz="1000" spc="-10">
                <a:latin typeface="Times New Roman"/>
                <a:cs typeface="Times New Roman"/>
              </a:rPr>
              <a:t>gradi- </a:t>
            </a:r>
            <a:r>
              <a:rPr dirty="0" sz="1000">
                <a:latin typeface="Times New Roman"/>
                <a:cs typeface="Times New Roman"/>
              </a:rPr>
              <a:t>ent</a:t>
            </a:r>
            <a:r>
              <a:rPr dirty="0" sz="1000" spc="75">
                <a:latin typeface="Times New Roman"/>
                <a:cs typeface="Times New Roman"/>
              </a:rPr>
              <a:t> </a:t>
            </a:r>
            <a:r>
              <a:rPr dirty="0" sz="1000">
                <a:latin typeface="Times New Roman"/>
                <a:cs typeface="Times New Roman"/>
              </a:rPr>
              <a:t>back-propagation</a:t>
            </a:r>
            <a:r>
              <a:rPr dirty="0" sz="1000" spc="75">
                <a:latin typeface="Times New Roman"/>
                <a:cs typeface="Times New Roman"/>
              </a:rPr>
              <a:t> </a:t>
            </a:r>
            <a:r>
              <a:rPr dirty="0" sz="1000" spc="-35">
                <a:latin typeface="Times New Roman"/>
                <a:cs typeface="Times New Roman"/>
              </a:rPr>
              <a:t>of</a:t>
            </a:r>
            <a:r>
              <a:rPr dirty="0" sz="1000" spc="75">
                <a:latin typeface="Times New Roman"/>
                <a:cs typeface="Times New Roman"/>
              </a:rPr>
              <a:t> </a:t>
            </a:r>
            <a:r>
              <a:rPr dirty="0" sz="1000">
                <a:latin typeface="Times New Roman"/>
                <a:cs typeface="Times New Roman"/>
              </a:rPr>
              <a:t>multimodal</a:t>
            </a:r>
            <a:r>
              <a:rPr dirty="0" sz="1000" spc="75">
                <a:latin typeface="Times New Roman"/>
                <a:cs typeface="Times New Roman"/>
              </a:rPr>
              <a:t> </a:t>
            </a:r>
            <a:r>
              <a:rPr dirty="0" sz="1000">
                <a:latin typeface="Times New Roman"/>
                <a:cs typeface="Times New Roman"/>
              </a:rPr>
              <a:t>loss</a:t>
            </a:r>
            <a:r>
              <a:rPr dirty="0" sz="1000" spc="80">
                <a:latin typeface="Times New Roman"/>
                <a:cs typeface="Times New Roman"/>
              </a:rPr>
              <a:t> </a:t>
            </a:r>
            <a:r>
              <a:rPr dirty="0" sz="1000">
                <a:latin typeface="Times New Roman"/>
                <a:cs typeface="Times New Roman"/>
              </a:rPr>
              <a:t>and</a:t>
            </a:r>
            <a:r>
              <a:rPr dirty="0" sz="1000" spc="75">
                <a:latin typeface="Times New Roman"/>
                <a:cs typeface="Times New Roman"/>
              </a:rPr>
              <a:t> </a:t>
            </a:r>
            <a:r>
              <a:rPr dirty="0" sz="1000">
                <a:latin typeface="Times New Roman"/>
                <a:cs typeface="Times New Roman"/>
              </a:rPr>
              <a:t>gradient</a:t>
            </a:r>
            <a:r>
              <a:rPr dirty="0" sz="1000" spc="75">
                <a:latin typeface="Times New Roman"/>
                <a:cs typeface="Times New Roman"/>
              </a:rPr>
              <a:t> </a:t>
            </a:r>
            <a:r>
              <a:rPr dirty="0" sz="1000">
                <a:latin typeface="Times New Roman"/>
                <a:cs typeface="Times New Roman"/>
              </a:rPr>
              <a:t>reorganizing</a:t>
            </a:r>
            <a:r>
              <a:rPr dirty="0" sz="1000" spc="75">
                <a:latin typeface="Times New Roman"/>
                <a:cs typeface="Times New Roman"/>
              </a:rPr>
              <a:t> </a:t>
            </a:r>
            <a:r>
              <a:rPr dirty="0" sz="1000">
                <a:latin typeface="Times New Roman"/>
                <a:cs typeface="Times New Roman"/>
              </a:rPr>
              <a:t>to</a:t>
            </a:r>
            <a:r>
              <a:rPr dirty="0" sz="1000" spc="80">
                <a:latin typeface="Times New Roman"/>
                <a:cs typeface="Times New Roman"/>
              </a:rPr>
              <a:t> </a:t>
            </a:r>
            <a:r>
              <a:rPr dirty="0" sz="1000">
                <a:latin typeface="Times New Roman"/>
                <a:cs typeface="Times New Roman"/>
              </a:rPr>
              <a:t>boost</a:t>
            </a:r>
            <a:r>
              <a:rPr dirty="0" sz="1000" spc="75">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optimization</a:t>
            </a:r>
            <a:r>
              <a:rPr dirty="0" sz="1000" spc="75">
                <a:latin typeface="Times New Roman"/>
                <a:cs typeface="Times New Roman"/>
              </a:rPr>
              <a:t> </a:t>
            </a:r>
            <a:r>
              <a:rPr dirty="0" sz="1000" spc="-35">
                <a:latin typeface="Times New Roman"/>
                <a:cs typeface="Times New Roman"/>
              </a:rPr>
              <a:t>of</a:t>
            </a:r>
            <a:r>
              <a:rPr dirty="0" sz="1000" spc="80">
                <a:latin typeface="Times New Roman"/>
                <a:cs typeface="Times New Roman"/>
              </a:rPr>
              <a:t> </a:t>
            </a:r>
            <a:r>
              <a:rPr dirty="0" sz="1000">
                <a:latin typeface="Times New Roman"/>
                <a:cs typeface="Times New Roman"/>
              </a:rPr>
              <a:t>each</a:t>
            </a:r>
            <a:r>
              <a:rPr dirty="0" sz="1000" spc="75">
                <a:latin typeface="Times New Roman"/>
                <a:cs typeface="Times New Roman"/>
              </a:rPr>
              <a:t> </a:t>
            </a:r>
            <a:r>
              <a:rPr dirty="0" sz="1000" spc="-10">
                <a:latin typeface="Times New Roman"/>
                <a:cs typeface="Times New Roman"/>
              </a:rPr>
              <a:t>modality encoder.</a:t>
            </a:r>
            <a:endParaRPr sz="1000">
              <a:latin typeface="Times New Roman"/>
              <a:cs typeface="Times New Roman"/>
            </a:endParaRPr>
          </a:p>
        </p:txBody>
      </p:sp>
      <p:grpSp>
        <p:nvGrpSpPr>
          <p:cNvPr id="3" name="object 3" descr=""/>
          <p:cNvGrpSpPr/>
          <p:nvPr/>
        </p:nvGrpSpPr>
        <p:grpSpPr>
          <a:xfrm>
            <a:off x="899998" y="1579173"/>
            <a:ext cx="5760085" cy="1193165"/>
            <a:chOff x="899998" y="1579173"/>
            <a:chExt cx="5760085" cy="1193165"/>
          </a:xfrm>
        </p:grpSpPr>
        <p:sp>
          <p:nvSpPr>
            <p:cNvPr id="4" name="object 4" descr=""/>
            <p:cNvSpPr/>
            <p:nvPr/>
          </p:nvSpPr>
          <p:spPr>
            <a:xfrm>
              <a:off x="899998" y="1579173"/>
              <a:ext cx="5760085" cy="1193165"/>
            </a:xfrm>
            <a:custGeom>
              <a:avLst/>
              <a:gdLst/>
              <a:ahLst/>
              <a:cxnLst/>
              <a:rect l="l" t="t" r="r" b="b"/>
              <a:pathLst>
                <a:path w="5760084" h="1193164">
                  <a:moveTo>
                    <a:pt x="5724074" y="0"/>
                  </a:moveTo>
                  <a:lnTo>
                    <a:pt x="36000" y="0"/>
                  </a:lnTo>
                  <a:lnTo>
                    <a:pt x="21987" y="2829"/>
                  </a:lnTo>
                  <a:lnTo>
                    <a:pt x="10544" y="10544"/>
                  </a:lnTo>
                  <a:lnTo>
                    <a:pt x="2829" y="21987"/>
                  </a:lnTo>
                  <a:lnTo>
                    <a:pt x="0" y="36000"/>
                  </a:lnTo>
                  <a:lnTo>
                    <a:pt x="0" y="1157071"/>
                  </a:lnTo>
                  <a:lnTo>
                    <a:pt x="2829" y="1171084"/>
                  </a:lnTo>
                  <a:lnTo>
                    <a:pt x="10544" y="1182527"/>
                  </a:lnTo>
                  <a:lnTo>
                    <a:pt x="21987" y="1190242"/>
                  </a:lnTo>
                  <a:lnTo>
                    <a:pt x="36000" y="1193071"/>
                  </a:lnTo>
                  <a:lnTo>
                    <a:pt x="5724074" y="1193071"/>
                  </a:lnTo>
                  <a:lnTo>
                    <a:pt x="5738087" y="1190242"/>
                  </a:lnTo>
                  <a:lnTo>
                    <a:pt x="5749530" y="1182527"/>
                  </a:lnTo>
                  <a:lnTo>
                    <a:pt x="5757245" y="1171084"/>
                  </a:lnTo>
                  <a:lnTo>
                    <a:pt x="5760074" y="115707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5" name="object 5" descr=""/>
            <p:cNvSpPr/>
            <p:nvPr/>
          </p:nvSpPr>
          <p:spPr>
            <a:xfrm>
              <a:off x="899998" y="1579173"/>
              <a:ext cx="5760085" cy="1193165"/>
            </a:xfrm>
            <a:custGeom>
              <a:avLst/>
              <a:gdLst/>
              <a:ahLst/>
              <a:cxnLst/>
              <a:rect l="l" t="t" r="r" b="b"/>
              <a:pathLst>
                <a:path w="5760084" h="1193164">
                  <a:moveTo>
                    <a:pt x="5724074" y="0"/>
                  </a:moveTo>
                  <a:lnTo>
                    <a:pt x="36000" y="0"/>
                  </a:lnTo>
                  <a:lnTo>
                    <a:pt x="21987" y="2829"/>
                  </a:lnTo>
                  <a:lnTo>
                    <a:pt x="10544" y="10544"/>
                  </a:lnTo>
                  <a:lnTo>
                    <a:pt x="2829" y="21987"/>
                  </a:lnTo>
                  <a:lnTo>
                    <a:pt x="0" y="36000"/>
                  </a:lnTo>
                  <a:lnTo>
                    <a:pt x="0" y="1157071"/>
                  </a:lnTo>
                  <a:lnTo>
                    <a:pt x="2829" y="1171084"/>
                  </a:lnTo>
                  <a:lnTo>
                    <a:pt x="10544" y="1182527"/>
                  </a:lnTo>
                  <a:lnTo>
                    <a:pt x="21987" y="1190242"/>
                  </a:lnTo>
                  <a:lnTo>
                    <a:pt x="36000" y="1193071"/>
                  </a:lnTo>
                  <a:lnTo>
                    <a:pt x="5724074" y="1193071"/>
                  </a:lnTo>
                  <a:lnTo>
                    <a:pt x="5738087" y="1190242"/>
                  </a:lnTo>
                  <a:lnTo>
                    <a:pt x="5749530" y="1182527"/>
                  </a:lnTo>
                  <a:lnTo>
                    <a:pt x="5757245" y="1171084"/>
                  </a:lnTo>
                  <a:lnTo>
                    <a:pt x="5760074" y="115707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6" name="object 6" descr=""/>
          <p:cNvSpPr txBox="1"/>
          <p:nvPr/>
        </p:nvSpPr>
        <p:spPr>
          <a:xfrm>
            <a:off x="1029195" y="1665142"/>
            <a:ext cx="5574030" cy="1012825"/>
          </a:xfrm>
          <a:prstGeom prst="rect">
            <a:avLst/>
          </a:prstGeom>
        </p:spPr>
        <p:txBody>
          <a:bodyPr wrap="square" lIns="0" tIns="12700" rIns="0" bIns="0" rtlCol="0" vert="horz">
            <a:spAutoFit/>
          </a:bodyPr>
          <a:lstStyle/>
          <a:p>
            <a:pPr marL="50800" marR="17780">
              <a:lnSpc>
                <a:spcPct val="129500"/>
              </a:lnSpc>
              <a:spcBef>
                <a:spcPts val="100"/>
              </a:spcBef>
            </a:pPr>
            <a:r>
              <a:rPr dirty="0" sz="1000" spc="-30">
                <a:latin typeface="SimSun"/>
                <a:cs typeface="SimSun"/>
              </a:rPr>
              <a:t>如前所述，与单峰模型相比，多峰模型通过</a:t>
            </a:r>
            <a:r>
              <a:rPr dirty="0" sz="1000" spc="-20">
                <a:latin typeface="Cambria"/>
                <a:cs typeface="Cambria"/>
              </a:rPr>
              <a:t>𝑒</a:t>
            </a:r>
            <a:r>
              <a:rPr dirty="0" baseline="39682" sz="1050" spc="-30">
                <a:latin typeface="Cambria"/>
                <a:cs typeface="Cambria"/>
              </a:rPr>
              <a:t>(𝑊</a:t>
            </a:r>
            <a:r>
              <a:rPr dirty="0" baseline="25252" sz="825" spc="-30">
                <a:latin typeface="Cambria"/>
                <a:cs typeface="Cambria"/>
              </a:rPr>
              <a:t>𝑘</a:t>
            </a:r>
            <a:r>
              <a:rPr dirty="0" baseline="95959" sz="825" spc="-30">
                <a:latin typeface="Cambria"/>
                <a:cs typeface="Cambria"/>
              </a:rPr>
              <a:t>𝑚</a:t>
            </a:r>
            <a:r>
              <a:rPr dirty="0" baseline="80808" sz="825" spc="-30">
                <a:latin typeface="Cambria"/>
                <a:cs typeface="Cambria"/>
              </a:rPr>
              <a:t>2</a:t>
            </a:r>
            <a:r>
              <a:rPr dirty="0" baseline="80808" sz="825" spc="-37">
                <a:latin typeface="Cambria"/>
                <a:cs typeface="Cambria"/>
              </a:rPr>
              <a:t> </a:t>
            </a:r>
            <a:r>
              <a:rPr dirty="0" baseline="39682" sz="1050" spc="-67">
                <a:latin typeface="Cambria"/>
                <a:cs typeface="Cambria"/>
              </a:rPr>
              <a:t>−𝑊</a:t>
            </a:r>
            <a:r>
              <a:rPr dirty="0" baseline="40404" sz="825" spc="-67">
                <a:latin typeface="Cambria"/>
                <a:cs typeface="Cambria"/>
              </a:rPr>
              <a:t>𝑦</a:t>
            </a:r>
            <a:r>
              <a:rPr dirty="0" baseline="95959" sz="825" spc="-67">
                <a:latin typeface="Cambria"/>
                <a:cs typeface="Cambria"/>
              </a:rPr>
              <a:t>𝑚</a:t>
            </a:r>
            <a:r>
              <a:rPr dirty="0" baseline="15151" sz="825" spc="-67">
                <a:latin typeface="Cambria"/>
                <a:cs typeface="Cambria"/>
              </a:rPr>
              <a:t>𝑖</a:t>
            </a:r>
            <a:r>
              <a:rPr dirty="0" baseline="15151" sz="825" spc="-52">
                <a:latin typeface="Cambria"/>
                <a:cs typeface="Cambria"/>
              </a:rPr>
              <a:t> </a:t>
            </a:r>
            <a:r>
              <a:rPr dirty="0" baseline="80808" sz="825" spc="7">
                <a:latin typeface="Cambria"/>
                <a:cs typeface="Cambria"/>
              </a:rPr>
              <a:t>2</a:t>
            </a:r>
            <a:r>
              <a:rPr dirty="0" baseline="80808" sz="825" spc="-37">
                <a:latin typeface="Cambria"/>
                <a:cs typeface="Cambria"/>
              </a:rPr>
              <a:t> </a:t>
            </a:r>
            <a:r>
              <a:rPr dirty="0" baseline="39682" sz="1050" spc="7">
                <a:latin typeface="Cambria"/>
                <a:cs typeface="Cambria"/>
              </a:rPr>
              <a:t>)𝑧</a:t>
            </a:r>
            <a:r>
              <a:rPr dirty="0" baseline="25252" sz="825" spc="7">
                <a:latin typeface="Cambria"/>
                <a:cs typeface="Cambria"/>
              </a:rPr>
              <a:t>𝑖</a:t>
            </a:r>
            <a:r>
              <a:rPr dirty="0" baseline="95959" sz="825" spc="7">
                <a:latin typeface="Cambria"/>
                <a:cs typeface="Cambria"/>
              </a:rPr>
              <a:t>𝑚</a:t>
            </a:r>
            <a:r>
              <a:rPr dirty="0" baseline="80808" sz="825" spc="7">
                <a:latin typeface="Cambria"/>
                <a:cs typeface="Cambria"/>
              </a:rPr>
              <a:t>2</a:t>
            </a:r>
            <a:r>
              <a:rPr dirty="0" baseline="80808" sz="825" spc="390">
                <a:latin typeface="Cambria"/>
                <a:cs typeface="Cambria"/>
              </a:rPr>
              <a:t> </a:t>
            </a:r>
            <a:r>
              <a:rPr dirty="0" sz="1000" spc="-30">
                <a:latin typeface="SimSun"/>
                <a:cs typeface="SimSun"/>
              </a:rPr>
              <a:t>来约束模态编码器的优化。为此，我们引</a:t>
            </a:r>
            <a:r>
              <a:rPr dirty="0" sz="1000" spc="-35">
                <a:latin typeface="SimSun"/>
                <a:cs typeface="SimSun"/>
              </a:rPr>
              <a:t>入解缠梯度学习 </a:t>
            </a:r>
            <a:r>
              <a:rPr dirty="0" sz="1000" spc="-5">
                <a:latin typeface="Times New Roman"/>
                <a:cs typeface="Times New Roman"/>
              </a:rPr>
              <a:t>(DGL)</a:t>
            </a:r>
            <a:r>
              <a:rPr dirty="0" sz="1000" spc="-10">
                <a:latin typeface="SimSun"/>
                <a:cs typeface="SimSun"/>
              </a:rPr>
              <a:t>，通过分离和重新组织模态编码器与模态融合模块之间的梯度传播路径，来</a:t>
            </a:r>
            <a:r>
              <a:rPr dirty="0" sz="1000" spc="-50">
                <a:latin typeface="SimSun"/>
                <a:cs typeface="SimSun"/>
              </a:rPr>
              <a:t>解耦多峰模型中的优化过程，如图 </a:t>
            </a:r>
            <a:r>
              <a:rPr dirty="0" sz="1000" spc="-10">
                <a:latin typeface="Times New Roman"/>
                <a:cs typeface="Times New Roman"/>
              </a:rPr>
              <a:t>2</a:t>
            </a:r>
            <a:r>
              <a:rPr dirty="0" sz="1000" spc="-45">
                <a:latin typeface="Times New Roman"/>
                <a:cs typeface="Times New Roman"/>
              </a:rPr>
              <a:t> </a:t>
            </a:r>
            <a:r>
              <a:rPr dirty="0" sz="1000" spc="5">
                <a:latin typeface="Times New Roman"/>
                <a:cs typeface="Times New Roman"/>
              </a:rPr>
              <a:t>(b)</a:t>
            </a:r>
            <a:r>
              <a:rPr dirty="0" sz="1000" spc="-45">
                <a:latin typeface="Times New Roman"/>
                <a:cs typeface="Times New Roman"/>
              </a:rPr>
              <a:t> </a:t>
            </a:r>
            <a:r>
              <a:rPr dirty="0" sz="1000" spc="-65">
                <a:latin typeface="SimSun"/>
                <a:cs typeface="SimSun"/>
              </a:rPr>
              <a:t>所示。与普通模型相比，这可以在确保模态编码器和融合模块</a:t>
            </a:r>
            <a:r>
              <a:rPr dirty="0" sz="1000" spc="-10">
                <a:latin typeface="SimSun"/>
                <a:cs typeface="SimSun"/>
              </a:rPr>
              <a:t>优化的同时，完全消除对模态编码器的优化约束。具体来说，解缠梯度学习由两部分组成</a:t>
            </a:r>
            <a:r>
              <a:rPr dirty="0" sz="1000" spc="-20">
                <a:latin typeface="Times New Roman"/>
                <a:cs typeface="Times New Roman"/>
              </a:rPr>
              <a:t>: </a:t>
            </a:r>
            <a:r>
              <a:rPr dirty="0" sz="1000" spc="-10">
                <a:latin typeface="SimSun"/>
                <a:cs typeface="SimSun"/>
              </a:rPr>
              <a:t>梯度分离，用于截断多峰损失的梯度反向传播；梯度重组，用于促进每个模态编码器的优化。</a:t>
            </a:r>
            <a:endParaRPr sz="1000">
              <a:latin typeface="SimSun"/>
              <a:cs typeface="SimSun"/>
            </a:endParaRPr>
          </a:p>
        </p:txBody>
      </p:sp>
      <p:sp>
        <p:nvSpPr>
          <p:cNvPr id="7" name="object 7" descr=""/>
          <p:cNvSpPr txBox="1"/>
          <p:nvPr/>
        </p:nvSpPr>
        <p:spPr>
          <a:xfrm>
            <a:off x="4436173" y="2858874"/>
            <a:ext cx="233679"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Times New Roman"/>
                <a:cs typeface="Times New Roman"/>
              </a:rPr>
              <a:t>Multi</a:t>
            </a:r>
            <a:endParaRPr sz="700">
              <a:latin typeface="Times New Roman"/>
              <a:cs typeface="Times New Roman"/>
            </a:endParaRPr>
          </a:p>
        </p:txBody>
      </p:sp>
      <p:sp>
        <p:nvSpPr>
          <p:cNvPr id="8" name="object 8" descr=""/>
          <p:cNvSpPr txBox="1"/>
          <p:nvPr/>
        </p:nvSpPr>
        <p:spPr>
          <a:xfrm>
            <a:off x="4415358" y="2946225"/>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9" name="object 9" descr=""/>
          <p:cNvSpPr txBox="1"/>
          <p:nvPr/>
        </p:nvSpPr>
        <p:spPr>
          <a:xfrm>
            <a:off x="4467517" y="2983807"/>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10" name="object 10" descr=""/>
          <p:cNvSpPr txBox="1"/>
          <p:nvPr/>
        </p:nvSpPr>
        <p:spPr>
          <a:xfrm>
            <a:off x="1140345" y="2869875"/>
            <a:ext cx="5532755" cy="177800"/>
          </a:xfrm>
          <a:prstGeom prst="rect">
            <a:avLst/>
          </a:prstGeom>
        </p:spPr>
        <p:txBody>
          <a:bodyPr wrap="square" lIns="0" tIns="12065" rIns="0" bIns="0" rtlCol="0" vert="horz">
            <a:spAutoFit/>
          </a:bodyPr>
          <a:lstStyle/>
          <a:p>
            <a:pPr marL="12700">
              <a:lnSpc>
                <a:spcPct val="100000"/>
              </a:lnSpc>
              <a:spcBef>
                <a:spcPts val="95"/>
              </a:spcBef>
              <a:tabLst>
                <a:tab pos="3566795" algn="l"/>
              </a:tabLst>
            </a:pPr>
            <a:r>
              <a:rPr dirty="0" sz="1000" spc="20">
                <a:latin typeface="Times New Roman"/>
                <a:cs typeface="Times New Roman"/>
              </a:rPr>
              <a:t>Gradient</a:t>
            </a:r>
            <a:r>
              <a:rPr dirty="0" sz="1000" spc="-30">
                <a:latin typeface="Times New Roman"/>
                <a:cs typeface="Times New Roman"/>
              </a:rPr>
              <a:t> </a:t>
            </a:r>
            <a:r>
              <a:rPr dirty="0" sz="1000" spc="20">
                <a:latin typeface="Times New Roman"/>
                <a:cs typeface="Times New Roman"/>
              </a:rPr>
              <a:t>Detaching.</a:t>
            </a:r>
            <a:r>
              <a:rPr dirty="0" sz="1000" spc="100">
                <a:latin typeface="Times New Roman"/>
                <a:cs typeface="Times New Roman"/>
              </a:rPr>
              <a:t> </a:t>
            </a:r>
            <a:r>
              <a:rPr dirty="0" sz="1000" spc="10">
                <a:latin typeface="Times New Roman"/>
                <a:cs typeface="Times New Roman"/>
              </a:rPr>
              <a:t>This</a:t>
            </a:r>
            <a:r>
              <a:rPr dirty="0" sz="1000" spc="-30">
                <a:latin typeface="Times New Roman"/>
                <a:cs typeface="Times New Roman"/>
              </a:rPr>
              <a:t> </a:t>
            </a:r>
            <a:r>
              <a:rPr dirty="0" sz="1000" spc="10">
                <a:latin typeface="Times New Roman"/>
                <a:cs typeface="Times New Roman"/>
              </a:rPr>
              <a:t>stage</a:t>
            </a:r>
            <a:r>
              <a:rPr dirty="0" sz="1000" spc="-25">
                <a:latin typeface="Times New Roman"/>
                <a:cs typeface="Times New Roman"/>
              </a:rPr>
              <a:t> </a:t>
            </a:r>
            <a:r>
              <a:rPr dirty="0" sz="1000" spc="20">
                <a:latin typeface="Times New Roman"/>
                <a:cs typeface="Times New Roman"/>
              </a:rPr>
              <a:t>aims</a:t>
            </a:r>
            <a:r>
              <a:rPr dirty="0" sz="1000" spc="-30">
                <a:latin typeface="Times New Roman"/>
                <a:cs typeface="Times New Roman"/>
              </a:rPr>
              <a:t> </a:t>
            </a:r>
            <a:r>
              <a:rPr dirty="0" sz="1000" spc="20">
                <a:latin typeface="Times New Roman"/>
                <a:cs typeface="Times New Roman"/>
              </a:rPr>
              <a:t>to</a:t>
            </a:r>
            <a:r>
              <a:rPr dirty="0" sz="1000" spc="-30">
                <a:latin typeface="Times New Roman"/>
                <a:cs typeface="Times New Roman"/>
              </a:rPr>
              <a:t> </a:t>
            </a:r>
            <a:r>
              <a:rPr dirty="0" sz="1000" spc="20">
                <a:latin typeface="Times New Roman"/>
                <a:cs typeface="Times New Roman"/>
              </a:rPr>
              <a:t>truncate</a:t>
            </a:r>
            <a:r>
              <a:rPr dirty="0" sz="1000" spc="-30">
                <a:latin typeface="Times New Roman"/>
                <a:cs typeface="Times New Roman"/>
              </a:rPr>
              <a:t> </a:t>
            </a:r>
            <a:r>
              <a:rPr dirty="0" sz="1000" spc="20">
                <a:latin typeface="Times New Roman"/>
                <a:cs typeface="Times New Roman"/>
              </a:rPr>
              <a:t>the</a:t>
            </a:r>
            <a:r>
              <a:rPr dirty="0" sz="1000" spc="-30">
                <a:latin typeface="Times New Roman"/>
                <a:cs typeface="Times New Roman"/>
              </a:rPr>
              <a:t> </a:t>
            </a:r>
            <a:r>
              <a:rPr dirty="0" sz="1000" spc="20">
                <a:latin typeface="Times New Roman"/>
                <a:cs typeface="Times New Roman"/>
              </a:rPr>
              <a:t>gradient</a:t>
            </a:r>
            <a:r>
              <a:rPr dirty="0" sz="1000" spc="-30">
                <a:latin typeface="Times New Roman"/>
                <a:cs typeface="Times New Roman"/>
              </a:rPr>
              <a:t> </a:t>
            </a:r>
            <a:r>
              <a:rPr dirty="0" sz="1000" spc="-60">
                <a:latin typeface="Cambria"/>
                <a:cs typeface="Cambria"/>
              </a:rPr>
              <a:t>𝑔</a:t>
            </a:r>
            <a:r>
              <a:rPr dirty="0" sz="1000">
                <a:latin typeface="Cambria"/>
                <a:cs typeface="Cambria"/>
              </a:rPr>
              <a:t>	</a:t>
            </a:r>
            <a:r>
              <a:rPr dirty="0" sz="1000" spc="20">
                <a:latin typeface="Times New Roman"/>
                <a:cs typeface="Times New Roman"/>
              </a:rPr>
              <a:t>transmitted</a:t>
            </a:r>
            <a:r>
              <a:rPr dirty="0" sz="1000" spc="-10">
                <a:latin typeface="Times New Roman"/>
                <a:cs typeface="Times New Roman"/>
              </a:rPr>
              <a:t> </a:t>
            </a:r>
            <a:r>
              <a:rPr dirty="0" sz="1000" spc="10">
                <a:latin typeface="Times New Roman"/>
                <a:cs typeface="Times New Roman"/>
              </a:rPr>
              <a:t>from</a:t>
            </a:r>
            <a:r>
              <a:rPr dirty="0" sz="1000" spc="-5">
                <a:latin typeface="Times New Roman"/>
                <a:cs typeface="Times New Roman"/>
              </a:rPr>
              <a:t> </a:t>
            </a:r>
            <a:r>
              <a:rPr dirty="0" sz="1000" spc="20">
                <a:latin typeface="Times New Roman"/>
                <a:cs typeface="Times New Roman"/>
              </a:rPr>
              <a:t>the</a:t>
            </a:r>
            <a:r>
              <a:rPr dirty="0" sz="1000" spc="-5">
                <a:latin typeface="Times New Roman"/>
                <a:cs typeface="Times New Roman"/>
              </a:rPr>
              <a:t> </a:t>
            </a:r>
            <a:r>
              <a:rPr dirty="0" sz="1000" spc="20">
                <a:latin typeface="Times New Roman"/>
                <a:cs typeface="Times New Roman"/>
              </a:rPr>
              <a:t>modality</a:t>
            </a:r>
            <a:r>
              <a:rPr dirty="0" sz="1000" spc="-5">
                <a:latin typeface="Times New Roman"/>
                <a:cs typeface="Times New Roman"/>
              </a:rPr>
              <a:t> </a:t>
            </a:r>
            <a:r>
              <a:rPr dirty="0" sz="1000" spc="-10">
                <a:latin typeface="Times New Roman"/>
                <a:cs typeface="Times New Roman"/>
              </a:rPr>
              <a:t>fusion</a:t>
            </a:r>
            <a:endParaRPr sz="1000">
              <a:latin typeface="Times New Roman"/>
              <a:cs typeface="Times New Roman"/>
            </a:endParaRPr>
          </a:p>
        </p:txBody>
      </p:sp>
      <p:sp>
        <p:nvSpPr>
          <p:cNvPr id="11" name="object 11" descr=""/>
          <p:cNvSpPr txBox="1"/>
          <p:nvPr/>
        </p:nvSpPr>
        <p:spPr>
          <a:xfrm>
            <a:off x="887298" y="3021705"/>
            <a:ext cx="5785485" cy="420370"/>
          </a:xfrm>
          <a:prstGeom prst="rect">
            <a:avLst/>
          </a:prstGeom>
        </p:spPr>
        <p:txBody>
          <a:bodyPr wrap="square" lIns="0" tIns="12700" rIns="0" bIns="0" rtlCol="0" vert="horz">
            <a:spAutoFit/>
          </a:bodyPr>
          <a:lstStyle/>
          <a:p>
            <a:pPr marL="12700" marR="5080">
              <a:lnSpc>
                <a:spcPct val="129500"/>
              </a:lnSpc>
              <a:spcBef>
                <a:spcPts val="100"/>
              </a:spcBef>
            </a:pPr>
            <a:r>
              <a:rPr dirty="0" sz="1000" spc="10">
                <a:latin typeface="Times New Roman"/>
                <a:cs typeface="Times New Roman"/>
              </a:rPr>
              <a:t>module</a:t>
            </a:r>
            <a:r>
              <a:rPr dirty="0" sz="1000" spc="55">
                <a:latin typeface="Times New Roman"/>
                <a:cs typeface="Times New Roman"/>
              </a:rPr>
              <a:t> </a:t>
            </a:r>
            <a:r>
              <a:rPr dirty="0" sz="1000" spc="10">
                <a:latin typeface="Times New Roman"/>
                <a:cs typeface="Times New Roman"/>
              </a:rPr>
              <a:t>to</a:t>
            </a:r>
            <a:r>
              <a:rPr dirty="0" sz="1000" spc="55">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modality</a:t>
            </a:r>
            <a:r>
              <a:rPr dirty="0" sz="1000" spc="55">
                <a:latin typeface="Times New Roman"/>
                <a:cs typeface="Times New Roman"/>
              </a:rPr>
              <a:t> </a:t>
            </a:r>
            <a:r>
              <a:rPr dirty="0" sz="1000" spc="10">
                <a:latin typeface="Times New Roman"/>
                <a:cs typeface="Times New Roman"/>
              </a:rPr>
              <a:t>encoder</a:t>
            </a:r>
            <a:r>
              <a:rPr dirty="0" sz="1000" spc="55">
                <a:latin typeface="Times New Roman"/>
                <a:cs typeface="Times New Roman"/>
              </a:rPr>
              <a:t> </a:t>
            </a:r>
            <a:r>
              <a:rPr dirty="0" sz="1000" spc="10">
                <a:latin typeface="Times New Roman"/>
                <a:cs typeface="Times New Roman"/>
              </a:rPr>
              <a:t>so</a:t>
            </a:r>
            <a:r>
              <a:rPr dirty="0" sz="1000" spc="55">
                <a:latin typeface="Times New Roman"/>
                <a:cs typeface="Times New Roman"/>
              </a:rPr>
              <a:t> </a:t>
            </a:r>
            <a:r>
              <a:rPr dirty="0" sz="1000" spc="10">
                <a:latin typeface="Times New Roman"/>
                <a:cs typeface="Times New Roman"/>
              </a:rPr>
              <a:t>that</a:t>
            </a:r>
            <a:r>
              <a:rPr dirty="0" sz="1000" spc="60">
                <a:latin typeface="Times New Roman"/>
                <a:cs typeface="Times New Roman"/>
              </a:rPr>
              <a:t> </a:t>
            </a:r>
            <a:r>
              <a:rPr dirty="0" sz="1000" spc="10">
                <a:latin typeface="Times New Roman"/>
                <a:cs typeface="Times New Roman"/>
              </a:rPr>
              <a:t>eliminates</a:t>
            </a:r>
            <a:r>
              <a:rPr dirty="0" sz="1000" spc="55">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suppression</a:t>
            </a:r>
            <a:r>
              <a:rPr dirty="0" sz="1000" spc="55">
                <a:latin typeface="Times New Roman"/>
                <a:cs typeface="Times New Roman"/>
              </a:rPr>
              <a:t> </a:t>
            </a:r>
            <a:r>
              <a:rPr dirty="0" sz="1000" spc="10">
                <a:latin typeface="Times New Roman"/>
                <a:cs typeface="Times New Roman"/>
              </a:rPr>
              <a:t>on</a:t>
            </a:r>
            <a:r>
              <a:rPr dirty="0" sz="1000" spc="55">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modality</a:t>
            </a:r>
            <a:r>
              <a:rPr dirty="0" sz="1000" spc="55">
                <a:latin typeface="Times New Roman"/>
                <a:cs typeface="Times New Roman"/>
              </a:rPr>
              <a:t> </a:t>
            </a:r>
            <a:r>
              <a:rPr dirty="0" sz="1000" spc="10">
                <a:latin typeface="Times New Roman"/>
                <a:cs typeface="Times New Roman"/>
              </a:rPr>
              <a:t>encoder</a:t>
            </a:r>
            <a:r>
              <a:rPr dirty="0" sz="1000" spc="60">
                <a:latin typeface="Times New Roman"/>
                <a:cs typeface="Times New Roman"/>
              </a:rPr>
              <a:t> </a:t>
            </a:r>
            <a:r>
              <a:rPr dirty="0" sz="1000" spc="10">
                <a:latin typeface="Times New Roman"/>
                <a:cs typeface="Times New Roman"/>
              </a:rPr>
              <a:t>optimization.</a:t>
            </a:r>
            <a:r>
              <a:rPr dirty="0" sz="1000" spc="190">
                <a:latin typeface="Times New Roman"/>
                <a:cs typeface="Times New Roman"/>
              </a:rPr>
              <a:t> </a:t>
            </a:r>
            <a:r>
              <a:rPr dirty="0" sz="1000" spc="-25">
                <a:latin typeface="Times New Roman"/>
                <a:cs typeface="Times New Roman"/>
              </a:rPr>
              <a:t>To </a:t>
            </a:r>
            <a:r>
              <a:rPr dirty="0" sz="1000" spc="10">
                <a:latin typeface="Times New Roman"/>
                <a:cs typeface="Times New Roman"/>
              </a:rPr>
              <a:t>this</a:t>
            </a:r>
            <a:r>
              <a:rPr dirty="0" sz="1000" spc="35">
                <a:latin typeface="Times New Roman"/>
                <a:cs typeface="Times New Roman"/>
              </a:rPr>
              <a:t> </a:t>
            </a:r>
            <a:r>
              <a:rPr dirty="0" sz="1000" spc="10">
                <a:latin typeface="Times New Roman"/>
                <a:cs typeface="Times New Roman"/>
              </a:rPr>
              <a:t>end,</a:t>
            </a:r>
            <a:r>
              <a:rPr dirty="0" sz="1000" spc="40">
                <a:latin typeface="Times New Roman"/>
                <a:cs typeface="Times New Roman"/>
              </a:rPr>
              <a:t> </a:t>
            </a:r>
            <a:r>
              <a:rPr dirty="0" sz="1000" spc="10">
                <a:latin typeface="Times New Roman"/>
                <a:cs typeface="Times New Roman"/>
              </a:rPr>
              <a:t>we</a:t>
            </a:r>
            <a:r>
              <a:rPr dirty="0" sz="1000" spc="35">
                <a:latin typeface="Times New Roman"/>
                <a:cs typeface="Times New Roman"/>
              </a:rPr>
              <a:t> </a:t>
            </a:r>
            <a:r>
              <a:rPr dirty="0" sz="1000" spc="10">
                <a:latin typeface="Times New Roman"/>
                <a:cs typeface="Times New Roman"/>
              </a:rPr>
              <a:t>rewrite</a:t>
            </a:r>
            <a:r>
              <a:rPr dirty="0" sz="1000" spc="40">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Equation</a:t>
            </a:r>
            <a:r>
              <a:rPr dirty="0" sz="1000" spc="40">
                <a:latin typeface="Times New Roman"/>
                <a:cs typeface="Times New Roman"/>
              </a:rPr>
              <a:t> </a:t>
            </a:r>
            <a:r>
              <a:rPr dirty="0" sz="1000" spc="10">
                <a:latin typeface="Times New Roman"/>
                <a:cs typeface="Times New Roman"/>
              </a:rPr>
              <a:t>2</a:t>
            </a:r>
            <a:r>
              <a:rPr dirty="0" sz="1000" spc="35">
                <a:latin typeface="Times New Roman"/>
                <a:cs typeface="Times New Roman"/>
              </a:rPr>
              <a:t> </a:t>
            </a:r>
            <a:r>
              <a:rPr dirty="0" sz="1000" spc="10">
                <a:latin typeface="Times New Roman"/>
                <a:cs typeface="Times New Roman"/>
              </a:rPr>
              <a:t>as</a:t>
            </a:r>
            <a:r>
              <a:rPr dirty="0" sz="1000" spc="40">
                <a:latin typeface="Times New Roman"/>
                <a:cs typeface="Times New Roman"/>
              </a:rPr>
              <a:t> </a:t>
            </a:r>
            <a:r>
              <a:rPr dirty="0" sz="1000" spc="-10">
                <a:latin typeface="Times New Roman"/>
                <a:cs typeface="Times New Roman"/>
              </a:rPr>
              <a:t>follows,</a:t>
            </a:r>
            <a:endParaRPr sz="1000">
              <a:latin typeface="Times New Roman"/>
              <a:cs typeface="Times New Roman"/>
            </a:endParaRPr>
          </a:p>
        </p:txBody>
      </p:sp>
      <p:grpSp>
        <p:nvGrpSpPr>
          <p:cNvPr id="12" name="object 12" descr=""/>
          <p:cNvGrpSpPr/>
          <p:nvPr/>
        </p:nvGrpSpPr>
        <p:grpSpPr>
          <a:xfrm>
            <a:off x="899998" y="3561767"/>
            <a:ext cx="5760085" cy="549910"/>
            <a:chOff x="899998" y="3561767"/>
            <a:chExt cx="5760085" cy="549910"/>
          </a:xfrm>
        </p:grpSpPr>
        <p:sp>
          <p:nvSpPr>
            <p:cNvPr id="13" name="object 13" descr=""/>
            <p:cNvSpPr/>
            <p:nvPr/>
          </p:nvSpPr>
          <p:spPr>
            <a:xfrm>
              <a:off x="899998" y="3561767"/>
              <a:ext cx="5760085" cy="549910"/>
            </a:xfrm>
            <a:custGeom>
              <a:avLst/>
              <a:gdLst/>
              <a:ahLst/>
              <a:cxnLst/>
              <a:rect l="l" t="t" r="r" b="b"/>
              <a:pathLst>
                <a:path w="5760084" h="549910">
                  <a:moveTo>
                    <a:pt x="5724074" y="0"/>
                  </a:moveTo>
                  <a:lnTo>
                    <a:pt x="36000" y="0"/>
                  </a:lnTo>
                  <a:lnTo>
                    <a:pt x="21987" y="2829"/>
                  </a:lnTo>
                  <a:lnTo>
                    <a:pt x="10544" y="10544"/>
                  </a:lnTo>
                  <a:lnTo>
                    <a:pt x="2829" y="21987"/>
                  </a:lnTo>
                  <a:lnTo>
                    <a:pt x="0" y="36000"/>
                  </a:lnTo>
                  <a:lnTo>
                    <a:pt x="0" y="513679"/>
                  </a:lnTo>
                  <a:lnTo>
                    <a:pt x="2829" y="527692"/>
                  </a:lnTo>
                  <a:lnTo>
                    <a:pt x="10544" y="539135"/>
                  </a:lnTo>
                  <a:lnTo>
                    <a:pt x="21987" y="546850"/>
                  </a:lnTo>
                  <a:lnTo>
                    <a:pt x="36000" y="549679"/>
                  </a:lnTo>
                  <a:lnTo>
                    <a:pt x="5724074" y="549679"/>
                  </a:lnTo>
                  <a:lnTo>
                    <a:pt x="5738087" y="546850"/>
                  </a:lnTo>
                  <a:lnTo>
                    <a:pt x="5749530" y="539135"/>
                  </a:lnTo>
                  <a:lnTo>
                    <a:pt x="5757245" y="527692"/>
                  </a:lnTo>
                  <a:lnTo>
                    <a:pt x="5760074" y="51367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4" name="object 14" descr=""/>
            <p:cNvSpPr/>
            <p:nvPr/>
          </p:nvSpPr>
          <p:spPr>
            <a:xfrm>
              <a:off x="899998" y="3561767"/>
              <a:ext cx="5760085" cy="549910"/>
            </a:xfrm>
            <a:custGeom>
              <a:avLst/>
              <a:gdLst/>
              <a:ahLst/>
              <a:cxnLst/>
              <a:rect l="l" t="t" r="r" b="b"/>
              <a:pathLst>
                <a:path w="5760084" h="549910">
                  <a:moveTo>
                    <a:pt x="5724074" y="0"/>
                  </a:moveTo>
                  <a:lnTo>
                    <a:pt x="36000" y="0"/>
                  </a:lnTo>
                  <a:lnTo>
                    <a:pt x="21987" y="2829"/>
                  </a:lnTo>
                  <a:lnTo>
                    <a:pt x="10544" y="10544"/>
                  </a:lnTo>
                  <a:lnTo>
                    <a:pt x="2829" y="21987"/>
                  </a:lnTo>
                  <a:lnTo>
                    <a:pt x="0" y="36000"/>
                  </a:lnTo>
                  <a:lnTo>
                    <a:pt x="0" y="513679"/>
                  </a:lnTo>
                  <a:lnTo>
                    <a:pt x="2829" y="527692"/>
                  </a:lnTo>
                  <a:lnTo>
                    <a:pt x="10544" y="539135"/>
                  </a:lnTo>
                  <a:lnTo>
                    <a:pt x="21987" y="546850"/>
                  </a:lnTo>
                  <a:lnTo>
                    <a:pt x="36000" y="549679"/>
                  </a:lnTo>
                  <a:lnTo>
                    <a:pt x="5724074" y="549679"/>
                  </a:lnTo>
                  <a:lnTo>
                    <a:pt x="5738087" y="546850"/>
                  </a:lnTo>
                  <a:lnTo>
                    <a:pt x="5749530" y="539135"/>
                  </a:lnTo>
                  <a:lnTo>
                    <a:pt x="5757245" y="527692"/>
                  </a:lnTo>
                  <a:lnTo>
                    <a:pt x="5760074" y="51367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5" name="object 15" descr=""/>
          <p:cNvSpPr txBox="1"/>
          <p:nvPr/>
        </p:nvSpPr>
        <p:spPr>
          <a:xfrm>
            <a:off x="4958041" y="3631022"/>
            <a:ext cx="233679"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Times New Roman"/>
                <a:cs typeface="Times New Roman"/>
              </a:rPr>
              <a:t>Multi</a:t>
            </a:r>
            <a:endParaRPr sz="700">
              <a:latin typeface="Times New Roman"/>
              <a:cs typeface="Times New Roman"/>
            </a:endParaRPr>
          </a:p>
        </p:txBody>
      </p:sp>
      <p:sp>
        <p:nvSpPr>
          <p:cNvPr id="16" name="object 16" descr=""/>
          <p:cNvSpPr txBox="1"/>
          <p:nvPr/>
        </p:nvSpPr>
        <p:spPr>
          <a:xfrm>
            <a:off x="4937226" y="3718372"/>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17" name="object 17" descr=""/>
          <p:cNvSpPr txBox="1"/>
          <p:nvPr/>
        </p:nvSpPr>
        <p:spPr>
          <a:xfrm>
            <a:off x="4989398" y="3755955"/>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18" name="object 18" descr=""/>
          <p:cNvSpPr txBox="1"/>
          <p:nvPr/>
        </p:nvSpPr>
        <p:spPr>
          <a:xfrm>
            <a:off x="1067295" y="3642035"/>
            <a:ext cx="5426075" cy="177800"/>
          </a:xfrm>
          <a:prstGeom prst="rect">
            <a:avLst/>
          </a:prstGeom>
        </p:spPr>
        <p:txBody>
          <a:bodyPr wrap="square" lIns="0" tIns="12065" rIns="0" bIns="0" rtlCol="0" vert="horz">
            <a:spAutoFit/>
          </a:bodyPr>
          <a:lstStyle/>
          <a:p>
            <a:pPr marL="12700">
              <a:lnSpc>
                <a:spcPct val="100000"/>
              </a:lnSpc>
              <a:spcBef>
                <a:spcPts val="95"/>
              </a:spcBef>
              <a:tabLst>
                <a:tab pos="4165600" algn="l"/>
              </a:tabLst>
            </a:pPr>
            <a:r>
              <a:rPr dirty="0" sz="1000" spc="-10">
                <a:latin typeface="SimSun"/>
                <a:cs typeface="SimSun"/>
              </a:rPr>
              <a:t>梯度分离</a:t>
            </a:r>
            <a:r>
              <a:rPr dirty="0" sz="1000" spc="-145">
                <a:latin typeface="SimSun"/>
                <a:cs typeface="SimSun"/>
              </a:rPr>
              <a:t>。</a:t>
            </a:r>
            <a:r>
              <a:rPr dirty="0" sz="1000" spc="-10">
                <a:latin typeface="SimSun"/>
                <a:cs typeface="SimSun"/>
              </a:rPr>
              <a:t>此阶段旨在截断从模态融合模块传输到模态编码器的梯度</a:t>
            </a:r>
            <a:r>
              <a:rPr dirty="0" sz="1000" spc="-285">
                <a:latin typeface="SimSun"/>
                <a:cs typeface="SimSun"/>
              </a:rPr>
              <a:t> </a:t>
            </a:r>
            <a:r>
              <a:rPr dirty="0" sz="1000" spc="-50">
                <a:latin typeface="Cambria"/>
                <a:cs typeface="Cambria"/>
              </a:rPr>
              <a:t>𝑔</a:t>
            </a:r>
            <a:r>
              <a:rPr dirty="0" sz="1000">
                <a:latin typeface="Cambria"/>
                <a:cs typeface="Cambria"/>
              </a:rPr>
              <a:t>	</a:t>
            </a:r>
            <a:r>
              <a:rPr dirty="0" sz="1000" spc="-160">
                <a:latin typeface="SimSun"/>
                <a:cs typeface="SimSun"/>
              </a:rPr>
              <a:t>，</a:t>
            </a:r>
            <a:r>
              <a:rPr dirty="0" sz="1000" spc="-10">
                <a:latin typeface="SimSun"/>
                <a:cs typeface="SimSun"/>
              </a:rPr>
              <a:t>从而消除对模态编</a:t>
            </a:r>
            <a:r>
              <a:rPr dirty="0" sz="1000" spc="-50">
                <a:latin typeface="SimSun"/>
                <a:cs typeface="SimSun"/>
              </a:rPr>
              <a:t>码</a:t>
            </a:r>
            <a:endParaRPr sz="1000">
              <a:latin typeface="SimSun"/>
              <a:cs typeface="SimSun"/>
            </a:endParaRPr>
          </a:p>
        </p:txBody>
      </p:sp>
      <p:sp>
        <p:nvSpPr>
          <p:cNvPr id="19" name="object 19" descr=""/>
          <p:cNvSpPr txBox="1"/>
          <p:nvPr/>
        </p:nvSpPr>
        <p:spPr>
          <a:xfrm>
            <a:off x="1067295" y="3839418"/>
            <a:ext cx="2582545" cy="177800"/>
          </a:xfrm>
          <a:prstGeom prst="rect">
            <a:avLst/>
          </a:prstGeom>
        </p:spPr>
        <p:txBody>
          <a:bodyPr wrap="square" lIns="0" tIns="12065" rIns="0" bIns="0" rtlCol="0" vert="horz">
            <a:spAutoFit/>
          </a:bodyPr>
          <a:lstStyle/>
          <a:p>
            <a:pPr marL="12700">
              <a:lnSpc>
                <a:spcPct val="100000"/>
              </a:lnSpc>
              <a:spcBef>
                <a:spcPts val="95"/>
              </a:spcBef>
            </a:pPr>
            <a:r>
              <a:rPr dirty="0" sz="1000" spc="-30">
                <a:latin typeface="SimSun"/>
                <a:cs typeface="SimSun"/>
              </a:rPr>
              <a:t>器优化的抑制。为此，我们将公式 </a:t>
            </a:r>
            <a:r>
              <a:rPr dirty="0" sz="1000">
                <a:latin typeface="Times New Roman"/>
                <a:cs typeface="Times New Roman"/>
              </a:rPr>
              <a:t>2</a:t>
            </a:r>
            <a:r>
              <a:rPr dirty="0" sz="1000" spc="-30">
                <a:latin typeface="Times New Roman"/>
                <a:cs typeface="Times New Roman"/>
              </a:rPr>
              <a:t> </a:t>
            </a:r>
            <a:r>
              <a:rPr dirty="0" sz="1000" spc="-10">
                <a:latin typeface="SimSun"/>
                <a:cs typeface="SimSun"/>
              </a:rPr>
              <a:t>改写如下</a:t>
            </a:r>
            <a:r>
              <a:rPr dirty="0" sz="1000" spc="-50">
                <a:latin typeface="Times New Roman"/>
                <a:cs typeface="Times New Roman"/>
              </a:rPr>
              <a:t>:</a:t>
            </a:r>
            <a:endParaRPr sz="1000">
              <a:latin typeface="Times New Roman"/>
              <a:cs typeface="Times New Roman"/>
            </a:endParaRPr>
          </a:p>
        </p:txBody>
      </p:sp>
      <p:grpSp>
        <p:nvGrpSpPr>
          <p:cNvPr id="20" name="object 20" descr=""/>
          <p:cNvGrpSpPr/>
          <p:nvPr/>
        </p:nvGrpSpPr>
        <p:grpSpPr>
          <a:xfrm>
            <a:off x="899998" y="5174252"/>
            <a:ext cx="5760085" cy="353695"/>
            <a:chOff x="899998" y="5174252"/>
            <a:chExt cx="5760085" cy="353695"/>
          </a:xfrm>
        </p:grpSpPr>
        <p:sp>
          <p:nvSpPr>
            <p:cNvPr id="21" name="object 21" descr=""/>
            <p:cNvSpPr/>
            <p:nvPr/>
          </p:nvSpPr>
          <p:spPr>
            <a:xfrm>
              <a:off x="899998" y="5174252"/>
              <a:ext cx="5760085" cy="353695"/>
            </a:xfrm>
            <a:custGeom>
              <a:avLst/>
              <a:gdLst/>
              <a:ahLst/>
              <a:cxnLst/>
              <a:rect l="l" t="t" r="r" b="b"/>
              <a:pathLst>
                <a:path w="5760084" h="353695">
                  <a:moveTo>
                    <a:pt x="5724074" y="0"/>
                  </a:moveTo>
                  <a:lnTo>
                    <a:pt x="36000" y="0"/>
                  </a:lnTo>
                  <a:lnTo>
                    <a:pt x="21987" y="2829"/>
                  </a:lnTo>
                  <a:lnTo>
                    <a:pt x="10544" y="10544"/>
                  </a:lnTo>
                  <a:lnTo>
                    <a:pt x="2829" y="21987"/>
                  </a:lnTo>
                  <a:lnTo>
                    <a:pt x="0" y="36000"/>
                  </a:lnTo>
                  <a:lnTo>
                    <a:pt x="0" y="317410"/>
                  </a:lnTo>
                  <a:lnTo>
                    <a:pt x="2829" y="331423"/>
                  </a:lnTo>
                  <a:lnTo>
                    <a:pt x="10544" y="342866"/>
                  </a:lnTo>
                  <a:lnTo>
                    <a:pt x="21987" y="350581"/>
                  </a:lnTo>
                  <a:lnTo>
                    <a:pt x="36000" y="353410"/>
                  </a:lnTo>
                  <a:lnTo>
                    <a:pt x="5724074" y="353410"/>
                  </a:lnTo>
                  <a:lnTo>
                    <a:pt x="5738087" y="350581"/>
                  </a:lnTo>
                  <a:lnTo>
                    <a:pt x="5749530" y="342866"/>
                  </a:lnTo>
                  <a:lnTo>
                    <a:pt x="5757245" y="331423"/>
                  </a:lnTo>
                  <a:lnTo>
                    <a:pt x="5760074" y="31741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2" name="object 22" descr=""/>
            <p:cNvSpPr/>
            <p:nvPr/>
          </p:nvSpPr>
          <p:spPr>
            <a:xfrm>
              <a:off x="899998" y="5174252"/>
              <a:ext cx="5760085" cy="353695"/>
            </a:xfrm>
            <a:custGeom>
              <a:avLst/>
              <a:gdLst/>
              <a:ahLst/>
              <a:cxnLst/>
              <a:rect l="l" t="t" r="r" b="b"/>
              <a:pathLst>
                <a:path w="5760084" h="353695">
                  <a:moveTo>
                    <a:pt x="5724074" y="0"/>
                  </a:moveTo>
                  <a:lnTo>
                    <a:pt x="36000" y="0"/>
                  </a:lnTo>
                  <a:lnTo>
                    <a:pt x="21987" y="2829"/>
                  </a:lnTo>
                  <a:lnTo>
                    <a:pt x="10544" y="10544"/>
                  </a:lnTo>
                  <a:lnTo>
                    <a:pt x="2829" y="21987"/>
                  </a:lnTo>
                  <a:lnTo>
                    <a:pt x="0" y="36000"/>
                  </a:lnTo>
                  <a:lnTo>
                    <a:pt x="0" y="317410"/>
                  </a:lnTo>
                  <a:lnTo>
                    <a:pt x="2829" y="331423"/>
                  </a:lnTo>
                  <a:lnTo>
                    <a:pt x="10544" y="342866"/>
                  </a:lnTo>
                  <a:lnTo>
                    <a:pt x="21987" y="350581"/>
                  </a:lnTo>
                  <a:lnTo>
                    <a:pt x="36000" y="353410"/>
                  </a:lnTo>
                  <a:lnTo>
                    <a:pt x="5724074" y="353410"/>
                  </a:lnTo>
                  <a:lnTo>
                    <a:pt x="5738087" y="350581"/>
                  </a:lnTo>
                  <a:lnTo>
                    <a:pt x="5749530" y="342866"/>
                  </a:lnTo>
                  <a:lnTo>
                    <a:pt x="5757245" y="331423"/>
                  </a:lnTo>
                  <a:lnTo>
                    <a:pt x="5760074" y="31741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3" name="object 23" descr=""/>
          <p:cNvSpPr txBox="1"/>
          <p:nvPr/>
        </p:nvSpPr>
        <p:spPr>
          <a:xfrm>
            <a:off x="849198" y="4407908"/>
            <a:ext cx="5874385" cy="1020444"/>
          </a:xfrm>
          <a:prstGeom prst="rect">
            <a:avLst/>
          </a:prstGeom>
        </p:spPr>
        <p:txBody>
          <a:bodyPr wrap="square" lIns="0" tIns="12065" rIns="0" bIns="0" rtlCol="0" vert="horz">
            <a:spAutoFit/>
          </a:bodyPr>
          <a:lstStyle/>
          <a:p>
            <a:pPr marL="1728470">
              <a:lnSpc>
                <a:spcPct val="100000"/>
              </a:lnSpc>
              <a:spcBef>
                <a:spcPts val="95"/>
              </a:spcBef>
              <a:tabLst>
                <a:tab pos="5661025" algn="l"/>
              </a:tabLst>
            </a:pPr>
            <a:r>
              <a:rPr dirty="0" sz="1000" spc="-25">
                <a:latin typeface="Cambria"/>
                <a:cs typeface="Cambria"/>
              </a:rPr>
              <a:t>{𝑧</a:t>
            </a:r>
            <a:r>
              <a:rPr dirty="0" baseline="-19841" sz="1050" spc="-37">
                <a:latin typeface="Cambria"/>
                <a:cs typeface="Cambria"/>
              </a:rPr>
              <a:t>𝑖</a:t>
            </a:r>
            <a:r>
              <a:rPr dirty="0" baseline="31746" sz="1050" spc="-37">
                <a:latin typeface="Cambria"/>
                <a:cs typeface="Cambria"/>
              </a:rPr>
              <a:t>𝜏𝑑</a:t>
            </a:r>
            <a:r>
              <a:rPr dirty="0" baseline="31746" sz="1050" spc="300">
                <a:latin typeface="Cambria"/>
                <a:cs typeface="Cambria"/>
              </a:rPr>
              <a:t> </a:t>
            </a:r>
            <a:r>
              <a:rPr dirty="0" sz="1000" spc="165">
                <a:latin typeface="Cambria"/>
                <a:cs typeface="Cambria"/>
              </a:rPr>
              <a:t>=</a:t>
            </a:r>
            <a:r>
              <a:rPr dirty="0" sz="1000" spc="70">
                <a:latin typeface="Cambria"/>
                <a:cs typeface="Cambria"/>
              </a:rPr>
              <a:t> </a:t>
            </a:r>
            <a:r>
              <a:rPr dirty="0" sz="1000">
                <a:latin typeface="Cambria"/>
                <a:cs typeface="Cambria"/>
              </a:rPr>
              <a:t>𝜑</a:t>
            </a:r>
            <a:r>
              <a:rPr dirty="0" baseline="-15873" sz="1050">
                <a:latin typeface="Cambria"/>
                <a:cs typeface="Cambria"/>
              </a:rPr>
              <a:t>𝜏</a:t>
            </a:r>
            <a:r>
              <a:rPr dirty="0" baseline="-15873" sz="1050" spc="112">
                <a:latin typeface="Cambria"/>
                <a:cs typeface="Cambria"/>
              </a:rPr>
              <a:t> </a:t>
            </a:r>
            <a:r>
              <a:rPr dirty="0" sz="1000">
                <a:latin typeface="Cambria"/>
                <a:cs typeface="Cambria"/>
              </a:rPr>
              <a:t>(𝜃</a:t>
            </a:r>
            <a:r>
              <a:rPr dirty="0" baseline="-15873" sz="1050">
                <a:latin typeface="Cambria"/>
                <a:cs typeface="Cambria"/>
              </a:rPr>
              <a:t>𝜏</a:t>
            </a:r>
            <a:r>
              <a:rPr dirty="0" sz="1000">
                <a:latin typeface="Cambria"/>
                <a:cs typeface="Cambria"/>
              </a:rPr>
              <a:t>,</a:t>
            </a:r>
            <a:r>
              <a:rPr dirty="0" sz="1000" spc="-45">
                <a:latin typeface="Cambria"/>
                <a:cs typeface="Cambria"/>
              </a:rPr>
              <a:t> </a:t>
            </a:r>
            <a:r>
              <a:rPr dirty="0" sz="1000" spc="-10">
                <a:latin typeface="Cambria"/>
                <a:cs typeface="Cambria"/>
              </a:rPr>
              <a:t>𝑧</a:t>
            </a:r>
            <a:r>
              <a:rPr dirty="0" baseline="-19841" sz="1050" spc="-15">
                <a:latin typeface="Cambria"/>
                <a:cs typeface="Cambria"/>
              </a:rPr>
              <a:t>𝑖</a:t>
            </a:r>
            <a:r>
              <a:rPr dirty="0" baseline="43650" sz="1050" spc="-15">
                <a:latin typeface="Cambria"/>
                <a:cs typeface="Cambria"/>
              </a:rPr>
              <a:t>𝑚</a:t>
            </a:r>
            <a:r>
              <a:rPr dirty="0" baseline="40404" sz="825" spc="-15">
                <a:latin typeface="Cambria"/>
                <a:cs typeface="Cambria"/>
              </a:rPr>
              <a:t>1</a:t>
            </a:r>
            <a:r>
              <a:rPr dirty="0" baseline="40404" sz="825" spc="337">
                <a:latin typeface="Cambria"/>
                <a:cs typeface="Cambria"/>
              </a:rPr>
              <a:t> </a:t>
            </a:r>
            <a:r>
              <a:rPr dirty="0" sz="1000">
                <a:latin typeface="Cambria"/>
                <a:cs typeface="Cambria"/>
              </a:rPr>
              <a:t>⋅</a:t>
            </a:r>
            <a:r>
              <a:rPr dirty="0" sz="1000" spc="10">
                <a:latin typeface="Cambria"/>
                <a:cs typeface="Cambria"/>
              </a:rPr>
              <a:t> </a:t>
            </a:r>
            <a:r>
              <a:rPr dirty="0" sz="1000">
                <a:latin typeface="Times New Roman"/>
                <a:cs typeface="Times New Roman"/>
              </a:rPr>
              <a:t>detach</a:t>
            </a:r>
            <a:r>
              <a:rPr dirty="0" sz="1000" spc="-75">
                <a:latin typeface="Times New Roman"/>
                <a:cs typeface="Times New Roman"/>
              </a:rPr>
              <a:t> </a:t>
            </a:r>
            <a:r>
              <a:rPr dirty="0" sz="1000" spc="-40">
                <a:latin typeface="Cambria"/>
                <a:cs typeface="Cambria"/>
              </a:rPr>
              <a:t>() </a:t>
            </a:r>
            <a:r>
              <a:rPr dirty="0" sz="1000">
                <a:latin typeface="Cambria"/>
                <a:cs typeface="Cambria"/>
              </a:rPr>
              <a:t>,</a:t>
            </a:r>
            <a:r>
              <a:rPr dirty="0" sz="1000" spc="-45">
                <a:latin typeface="Cambria"/>
                <a:cs typeface="Cambria"/>
              </a:rPr>
              <a:t> </a:t>
            </a:r>
            <a:r>
              <a:rPr dirty="0" sz="1000" spc="-10">
                <a:latin typeface="Cambria"/>
                <a:cs typeface="Cambria"/>
              </a:rPr>
              <a:t>𝑧</a:t>
            </a:r>
            <a:r>
              <a:rPr dirty="0" baseline="-19841" sz="1050" spc="-15">
                <a:latin typeface="Cambria"/>
                <a:cs typeface="Cambria"/>
              </a:rPr>
              <a:t>𝑖</a:t>
            </a:r>
            <a:r>
              <a:rPr dirty="0" baseline="43650" sz="1050" spc="-15">
                <a:latin typeface="Cambria"/>
                <a:cs typeface="Cambria"/>
              </a:rPr>
              <a:t>𝑚</a:t>
            </a:r>
            <a:r>
              <a:rPr dirty="0" baseline="40404" sz="825" spc="-15">
                <a:latin typeface="Cambria"/>
                <a:cs typeface="Cambria"/>
              </a:rPr>
              <a:t>2</a:t>
            </a:r>
            <a:r>
              <a:rPr dirty="0" baseline="40404" sz="825" spc="337">
                <a:latin typeface="Cambria"/>
                <a:cs typeface="Cambria"/>
              </a:rPr>
              <a:t> </a:t>
            </a:r>
            <a:r>
              <a:rPr dirty="0" sz="1000">
                <a:latin typeface="Cambria"/>
                <a:cs typeface="Cambria"/>
              </a:rPr>
              <a:t>⋅</a:t>
            </a:r>
            <a:r>
              <a:rPr dirty="0" sz="1000" spc="10">
                <a:latin typeface="Cambria"/>
                <a:cs typeface="Cambria"/>
              </a:rPr>
              <a:t> </a:t>
            </a:r>
            <a:r>
              <a:rPr dirty="0" sz="1000">
                <a:latin typeface="Times New Roman"/>
                <a:cs typeface="Times New Roman"/>
              </a:rPr>
              <a:t>detach</a:t>
            </a:r>
            <a:r>
              <a:rPr dirty="0" sz="1000" spc="-75">
                <a:latin typeface="Times New Roman"/>
                <a:cs typeface="Times New Roman"/>
              </a:rPr>
              <a:t> </a:t>
            </a:r>
            <a:r>
              <a:rPr dirty="0" sz="1000" spc="-25">
                <a:latin typeface="Cambria"/>
                <a:cs typeface="Cambria"/>
              </a:rPr>
              <a:t>())</a:t>
            </a:r>
            <a:r>
              <a:rPr dirty="0" sz="1000">
                <a:latin typeface="Cambria"/>
                <a:cs typeface="Cambria"/>
              </a:rPr>
              <a:t>	</a:t>
            </a:r>
            <a:r>
              <a:rPr dirty="0" sz="1000" spc="-25">
                <a:latin typeface="Times New Roman"/>
                <a:cs typeface="Times New Roman"/>
              </a:rPr>
              <a:t>(9)</a:t>
            </a:r>
            <a:endParaRPr sz="1000">
              <a:latin typeface="Times New Roman"/>
              <a:cs typeface="Times New Roman"/>
            </a:endParaRPr>
          </a:p>
          <a:p>
            <a:pPr marL="50800" marR="55880" indent="252729">
              <a:lnSpc>
                <a:spcPct val="129500"/>
              </a:lnSpc>
              <a:spcBef>
                <a:spcPts val="585"/>
              </a:spcBef>
            </a:pPr>
            <a:r>
              <a:rPr dirty="0" sz="1000">
                <a:latin typeface="Times New Roman"/>
                <a:cs typeface="Times New Roman"/>
              </a:rPr>
              <a:t>where</a:t>
            </a:r>
            <a:r>
              <a:rPr dirty="0" sz="1000" spc="75">
                <a:latin typeface="Times New Roman"/>
                <a:cs typeface="Times New Roman"/>
              </a:rPr>
              <a:t> </a:t>
            </a:r>
            <a:r>
              <a:rPr dirty="0" sz="1000" spc="-20">
                <a:latin typeface="Times New Roman"/>
                <a:cs typeface="Times New Roman"/>
              </a:rPr>
              <a:t>’.detach()’</a:t>
            </a:r>
            <a:r>
              <a:rPr dirty="0" sz="1000" spc="75">
                <a:latin typeface="Times New Roman"/>
                <a:cs typeface="Times New Roman"/>
              </a:rPr>
              <a:t> </a:t>
            </a:r>
            <a:r>
              <a:rPr dirty="0" sz="1000">
                <a:latin typeface="Times New Roman"/>
                <a:cs typeface="Times New Roman"/>
              </a:rPr>
              <a:t>is</a:t>
            </a:r>
            <a:r>
              <a:rPr dirty="0" sz="1000" spc="7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PyTorch</a:t>
            </a:r>
            <a:r>
              <a:rPr dirty="0" sz="1000" spc="75">
                <a:latin typeface="Times New Roman"/>
                <a:cs typeface="Times New Roman"/>
              </a:rPr>
              <a:t> </a:t>
            </a:r>
            <a:r>
              <a:rPr dirty="0" sz="1000">
                <a:latin typeface="Times New Roman"/>
                <a:cs typeface="Times New Roman"/>
              </a:rPr>
              <a:t>function</a:t>
            </a:r>
            <a:r>
              <a:rPr dirty="0" sz="1000" spc="75">
                <a:latin typeface="Times New Roman"/>
                <a:cs typeface="Times New Roman"/>
              </a:rPr>
              <a:t> </a:t>
            </a:r>
            <a:r>
              <a:rPr dirty="0" sz="1000">
                <a:latin typeface="Times New Roman"/>
                <a:cs typeface="Times New Roman"/>
              </a:rPr>
              <a:t>to</a:t>
            </a:r>
            <a:r>
              <a:rPr dirty="0" sz="1000" spc="80">
                <a:latin typeface="Times New Roman"/>
                <a:cs typeface="Times New Roman"/>
              </a:rPr>
              <a:t> </a:t>
            </a:r>
            <a:r>
              <a:rPr dirty="0" sz="1000">
                <a:latin typeface="Times New Roman"/>
                <a:cs typeface="Times New Roman"/>
              </a:rPr>
              <a:t>truncate</a:t>
            </a:r>
            <a:r>
              <a:rPr dirty="0" sz="1000" spc="75">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gradient.</a:t>
            </a:r>
            <a:r>
              <a:rPr dirty="0" sz="1000" spc="245">
                <a:latin typeface="Times New Roman"/>
                <a:cs typeface="Times New Roman"/>
              </a:rPr>
              <a:t> </a:t>
            </a:r>
            <a:r>
              <a:rPr dirty="0" sz="1000">
                <a:latin typeface="Times New Roman"/>
                <a:cs typeface="Times New Roman"/>
              </a:rPr>
              <a:t>Then</a:t>
            </a:r>
            <a:r>
              <a:rPr dirty="0" sz="1000" spc="75">
                <a:latin typeface="Times New Roman"/>
                <a:cs typeface="Times New Roman"/>
              </a:rPr>
              <a:t> </a:t>
            </a:r>
            <a:r>
              <a:rPr dirty="0" sz="1000">
                <a:latin typeface="Times New Roman"/>
                <a:cs typeface="Times New Roman"/>
              </a:rPr>
              <a:t>we</a:t>
            </a:r>
            <a:r>
              <a:rPr dirty="0" sz="1000" spc="80">
                <a:latin typeface="Times New Roman"/>
                <a:cs typeface="Times New Roman"/>
              </a:rPr>
              <a:t> </a:t>
            </a:r>
            <a:r>
              <a:rPr dirty="0" sz="1000">
                <a:latin typeface="Times New Roman"/>
                <a:cs typeface="Times New Roman"/>
              </a:rPr>
              <a:t>calculate</a:t>
            </a:r>
            <a:r>
              <a:rPr dirty="0" sz="1000" spc="75">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multimodal</a:t>
            </a:r>
            <a:r>
              <a:rPr dirty="0" sz="1000" spc="75">
                <a:latin typeface="Times New Roman"/>
                <a:cs typeface="Times New Roman"/>
              </a:rPr>
              <a:t> </a:t>
            </a:r>
            <a:r>
              <a:rPr dirty="0" sz="1000" spc="-20">
                <a:latin typeface="Times New Roman"/>
                <a:cs typeface="Times New Roman"/>
              </a:rPr>
              <a:t>loss </a:t>
            </a:r>
            <a:r>
              <a:rPr dirty="0" sz="1000">
                <a:latin typeface="Times New Roman"/>
                <a:cs typeface="Times New Roman"/>
              </a:rPr>
              <a:t>as</a:t>
            </a:r>
            <a:r>
              <a:rPr dirty="0" sz="1000" spc="10">
                <a:latin typeface="Times New Roman"/>
                <a:cs typeface="Times New Roman"/>
              </a:rPr>
              <a:t> </a:t>
            </a:r>
            <a:r>
              <a:rPr dirty="0" sz="1000" spc="-10">
                <a:latin typeface="Times New Roman"/>
                <a:cs typeface="Times New Roman"/>
              </a:rPr>
              <a:t>follows,</a:t>
            </a:r>
            <a:endParaRPr sz="1000">
              <a:latin typeface="Times New Roman"/>
              <a:cs typeface="Times New Roman"/>
            </a:endParaRPr>
          </a:p>
          <a:p>
            <a:pPr>
              <a:lnSpc>
                <a:spcPct val="100000"/>
              </a:lnSpc>
              <a:spcBef>
                <a:spcPts val="590"/>
              </a:spcBef>
            </a:pPr>
            <a:endParaRPr sz="1000">
              <a:latin typeface="Times New Roman"/>
              <a:cs typeface="Times New Roman"/>
            </a:endParaRPr>
          </a:p>
          <a:p>
            <a:pPr marL="230504">
              <a:lnSpc>
                <a:spcPct val="100000"/>
              </a:lnSpc>
              <a:spcBef>
                <a:spcPts val="5"/>
              </a:spcBef>
            </a:pPr>
            <a:r>
              <a:rPr dirty="0" sz="1000" spc="-10">
                <a:latin typeface="SimSun"/>
                <a:cs typeface="SimSun"/>
              </a:rPr>
              <a:t>其中</a:t>
            </a:r>
            <a:r>
              <a:rPr dirty="0" sz="1000" spc="-10">
                <a:latin typeface="Times New Roman"/>
                <a:cs typeface="Times New Roman"/>
              </a:rPr>
              <a:t>’.detach()’</a:t>
            </a:r>
            <a:r>
              <a:rPr dirty="0" sz="1000" spc="-15">
                <a:latin typeface="Times New Roman"/>
                <a:cs typeface="Times New Roman"/>
              </a:rPr>
              <a:t> </a:t>
            </a:r>
            <a:r>
              <a:rPr dirty="0" sz="1000" spc="220">
                <a:latin typeface="SimSun"/>
                <a:cs typeface="SimSun"/>
              </a:rPr>
              <a:t>是</a:t>
            </a:r>
            <a:r>
              <a:rPr dirty="0" sz="1000">
                <a:latin typeface="Times New Roman"/>
                <a:cs typeface="Times New Roman"/>
              </a:rPr>
              <a:t>PyTorch</a:t>
            </a:r>
            <a:r>
              <a:rPr dirty="0" sz="1000" spc="-15">
                <a:latin typeface="Times New Roman"/>
                <a:cs typeface="Times New Roman"/>
              </a:rPr>
              <a:t> </a:t>
            </a:r>
            <a:r>
              <a:rPr dirty="0" sz="1000" spc="-10">
                <a:latin typeface="SimSun"/>
                <a:cs typeface="SimSun"/>
              </a:rPr>
              <a:t>中用于截断梯度的函数。然后我们按如下方式计算多峰损失</a:t>
            </a:r>
            <a:r>
              <a:rPr dirty="0" sz="1000" spc="-50">
                <a:latin typeface="Times New Roman"/>
                <a:cs typeface="Times New Roman"/>
              </a:rPr>
              <a:t>:</a:t>
            </a:r>
            <a:endParaRPr sz="1000">
              <a:latin typeface="Times New Roman"/>
              <a:cs typeface="Times New Roman"/>
            </a:endParaRPr>
          </a:p>
        </p:txBody>
      </p:sp>
      <p:sp>
        <p:nvSpPr>
          <p:cNvPr id="24" name="object 24" descr=""/>
          <p:cNvSpPr txBox="1"/>
          <p:nvPr/>
        </p:nvSpPr>
        <p:spPr>
          <a:xfrm>
            <a:off x="3025432" y="5824187"/>
            <a:ext cx="3672840" cy="177800"/>
          </a:xfrm>
          <a:prstGeom prst="rect">
            <a:avLst/>
          </a:prstGeom>
        </p:spPr>
        <p:txBody>
          <a:bodyPr wrap="square" lIns="0" tIns="12065" rIns="0" bIns="0" rtlCol="0" vert="horz">
            <a:spAutoFit/>
          </a:bodyPr>
          <a:lstStyle/>
          <a:p>
            <a:pPr marL="50800">
              <a:lnSpc>
                <a:spcPct val="100000"/>
              </a:lnSpc>
              <a:spcBef>
                <a:spcPts val="95"/>
              </a:spcBef>
              <a:tabLst>
                <a:tab pos="3422015" algn="l"/>
              </a:tabLst>
            </a:pPr>
            <a:r>
              <a:rPr dirty="0" sz="1000">
                <a:latin typeface="Cambria"/>
                <a:cs typeface="Cambria"/>
              </a:rPr>
              <a:t>𝐿</a:t>
            </a:r>
            <a:r>
              <a:rPr dirty="0" baseline="27777" sz="1050">
                <a:latin typeface="Cambria"/>
                <a:cs typeface="Cambria"/>
              </a:rPr>
              <a:t>𝑑</a:t>
            </a:r>
            <a:r>
              <a:rPr dirty="0" baseline="27777" sz="1050" spc="232">
                <a:latin typeface="Cambria"/>
                <a:cs typeface="Cambria"/>
              </a:rPr>
              <a:t> </a:t>
            </a:r>
            <a:r>
              <a:rPr dirty="0" sz="1000" spc="165">
                <a:latin typeface="Cambria"/>
                <a:cs typeface="Cambria"/>
              </a:rPr>
              <a:t>=</a:t>
            </a:r>
            <a:r>
              <a:rPr dirty="0" sz="1000" spc="40">
                <a:latin typeface="Cambria"/>
                <a:cs typeface="Cambria"/>
              </a:rPr>
              <a:t> </a:t>
            </a:r>
            <a:r>
              <a:rPr dirty="0" sz="1000" spc="75">
                <a:latin typeface="Cambria"/>
                <a:cs typeface="Cambria"/>
              </a:rPr>
              <a:t>𝐿</a:t>
            </a:r>
            <a:r>
              <a:rPr dirty="0" baseline="-15873" sz="1050" spc="112">
                <a:latin typeface="Cambria"/>
                <a:cs typeface="Cambria"/>
              </a:rPr>
              <a:t>𝐶𝐸</a:t>
            </a:r>
            <a:r>
              <a:rPr dirty="0" baseline="-15873" sz="1050" spc="97">
                <a:latin typeface="Cambria"/>
                <a:cs typeface="Cambria"/>
              </a:rPr>
              <a:t> </a:t>
            </a:r>
            <a:r>
              <a:rPr dirty="0" sz="1000">
                <a:latin typeface="Cambria"/>
                <a:cs typeface="Cambria"/>
              </a:rPr>
              <a:t>(𝑊</a:t>
            </a:r>
            <a:r>
              <a:rPr dirty="0" sz="1000" spc="30">
                <a:latin typeface="Cambria"/>
                <a:cs typeface="Cambria"/>
              </a:rPr>
              <a:t> </a:t>
            </a:r>
            <a:r>
              <a:rPr dirty="0" sz="1000" spc="-20">
                <a:latin typeface="Cambria"/>
                <a:cs typeface="Cambria"/>
              </a:rPr>
              <a:t>(𝑧</a:t>
            </a:r>
            <a:r>
              <a:rPr dirty="0" baseline="-19841" sz="1050" spc="-30">
                <a:latin typeface="Cambria"/>
                <a:cs typeface="Cambria"/>
              </a:rPr>
              <a:t>𝑖</a:t>
            </a:r>
            <a:r>
              <a:rPr dirty="0" baseline="31746" sz="1050" spc="-30">
                <a:latin typeface="Cambria"/>
                <a:cs typeface="Cambria"/>
              </a:rPr>
              <a:t>𝜏𝑑</a:t>
            </a:r>
            <a:r>
              <a:rPr dirty="0" sz="1000" spc="-20">
                <a:latin typeface="Cambria"/>
                <a:cs typeface="Cambria"/>
              </a:rPr>
              <a:t>)</a:t>
            </a:r>
            <a:r>
              <a:rPr dirty="0" sz="1000" spc="-10">
                <a:latin typeface="Cambria"/>
                <a:cs typeface="Cambria"/>
              </a:rPr>
              <a:t> </a:t>
            </a:r>
            <a:r>
              <a:rPr dirty="0" sz="1000" spc="165">
                <a:latin typeface="Cambria"/>
                <a:cs typeface="Cambria"/>
              </a:rPr>
              <a:t>+</a:t>
            </a:r>
            <a:r>
              <a:rPr dirty="0" sz="1000" spc="-10">
                <a:latin typeface="Cambria"/>
                <a:cs typeface="Cambria"/>
              </a:rPr>
              <a:t> </a:t>
            </a:r>
            <a:r>
              <a:rPr dirty="0" sz="1000">
                <a:latin typeface="Cambria"/>
                <a:cs typeface="Cambria"/>
              </a:rPr>
              <a:t>𝑏,</a:t>
            </a:r>
            <a:r>
              <a:rPr dirty="0" sz="1000" spc="-60">
                <a:latin typeface="Cambria"/>
                <a:cs typeface="Cambria"/>
              </a:rPr>
              <a:t> </a:t>
            </a:r>
            <a:r>
              <a:rPr dirty="0" sz="1000" spc="-25">
                <a:latin typeface="Cambria"/>
                <a:cs typeface="Cambria"/>
              </a:rPr>
              <a:t>𝑦</a:t>
            </a:r>
            <a:r>
              <a:rPr dirty="0" baseline="-15873" sz="1050" spc="-37">
                <a:latin typeface="Cambria"/>
                <a:cs typeface="Cambria"/>
              </a:rPr>
              <a:t>𝑖</a:t>
            </a:r>
            <a:r>
              <a:rPr dirty="0" sz="1000" spc="-25">
                <a:latin typeface="Cambria"/>
                <a:cs typeface="Cambria"/>
              </a:rPr>
              <a:t>)</a:t>
            </a:r>
            <a:r>
              <a:rPr dirty="0" sz="1000">
                <a:latin typeface="Cambria"/>
                <a:cs typeface="Cambria"/>
              </a:rPr>
              <a:t>	</a:t>
            </a:r>
            <a:r>
              <a:rPr dirty="0" sz="1000" spc="-20">
                <a:latin typeface="Times New Roman"/>
                <a:cs typeface="Times New Roman"/>
              </a:rPr>
              <a:t>(10)</a:t>
            </a:r>
            <a:endParaRPr sz="1000">
              <a:latin typeface="Times New Roman"/>
              <a:cs typeface="Times New Roman"/>
            </a:endParaRPr>
          </a:p>
        </p:txBody>
      </p:sp>
      <p:sp>
        <p:nvSpPr>
          <p:cNvPr id="25" name="object 25" descr=""/>
          <p:cNvSpPr txBox="1"/>
          <p:nvPr/>
        </p:nvSpPr>
        <p:spPr>
          <a:xfrm>
            <a:off x="2716644" y="6088370"/>
            <a:ext cx="1365885" cy="132080"/>
          </a:xfrm>
          <a:prstGeom prst="rect">
            <a:avLst/>
          </a:prstGeom>
        </p:spPr>
        <p:txBody>
          <a:bodyPr wrap="square" lIns="0" tIns="12065" rIns="0" bIns="0" rtlCol="0" vert="horz">
            <a:spAutoFit/>
          </a:bodyPr>
          <a:lstStyle/>
          <a:p>
            <a:pPr marL="12700">
              <a:lnSpc>
                <a:spcPct val="100000"/>
              </a:lnSpc>
              <a:spcBef>
                <a:spcPts val="95"/>
              </a:spcBef>
              <a:tabLst>
                <a:tab pos="1144270" algn="l"/>
              </a:tabLst>
            </a:pPr>
            <a:r>
              <a:rPr dirty="0" sz="700" spc="-20">
                <a:latin typeface="Times New Roman"/>
                <a:cs typeface="Times New Roman"/>
              </a:rPr>
              <a:t>Multi</a:t>
            </a:r>
            <a:r>
              <a:rPr dirty="0" sz="700">
                <a:latin typeface="Times New Roman"/>
                <a:cs typeface="Times New Roman"/>
              </a:rPr>
              <a:t>	</a:t>
            </a:r>
            <a:r>
              <a:rPr dirty="0" baseline="3968" sz="1050" spc="-15">
                <a:latin typeface="Times New Roman"/>
                <a:cs typeface="Times New Roman"/>
              </a:rPr>
              <a:t>Multi</a:t>
            </a:r>
            <a:endParaRPr baseline="3968" sz="1050">
              <a:latin typeface="Times New Roman"/>
              <a:cs typeface="Times New Roman"/>
            </a:endParaRPr>
          </a:p>
        </p:txBody>
      </p:sp>
      <p:sp>
        <p:nvSpPr>
          <p:cNvPr id="26" name="object 26" descr=""/>
          <p:cNvSpPr txBox="1"/>
          <p:nvPr/>
        </p:nvSpPr>
        <p:spPr>
          <a:xfrm>
            <a:off x="3827818" y="6172317"/>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27" name="object 27" descr=""/>
          <p:cNvSpPr txBox="1"/>
          <p:nvPr/>
        </p:nvSpPr>
        <p:spPr>
          <a:xfrm>
            <a:off x="3879977" y="6209900"/>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28" name="object 28" descr=""/>
          <p:cNvSpPr txBox="1"/>
          <p:nvPr/>
        </p:nvSpPr>
        <p:spPr>
          <a:xfrm>
            <a:off x="5991872" y="6088370"/>
            <a:ext cx="7937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𝑑</a:t>
            </a:r>
            <a:endParaRPr sz="700">
              <a:latin typeface="Cambria"/>
              <a:cs typeface="Cambria"/>
            </a:endParaRPr>
          </a:p>
        </p:txBody>
      </p:sp>
      <p:sp>
        <p:nvSpPr>
          <p:cNvPr id="29" name="object 29" descr=""/>
          <p:cNvSpPr txBox="1"/>
          <p:nvPr/>
        </p:nvSpPr>
        <p:spPr>
          <a:xfrm>
            <a:off x="1140345" y="6095967"/>
            <a:ext cx="5532755" cy="177800"/>
          </a:xfrm>
          <a:prstGeom prst="rect">
            <a:avLst/>
          </a:prstGeom>
        </p:spPr>
        <p:txBody>
          <a:bodyPr wrap="square" lIns="0" tIns="12065" rIns="0" bIns="0" rtlCol="0" vert="horz">
            <a:spAutoFit/>
          </a:bodyPr>
          <a:lstStyle/>
          <a:p>
            <a:pPr marL="12700">
              <a:lnSpc>
                <a:spcPct val="100000"/>
              </a:lnSpc>
              <a:spcBef>
                <a:spcPts val="95"/>
              </a:spcBef>
              <a:tabLst>
                <a:tab pos="1852930" algn="l"/>
                <a:tab pos="2985135" algn="l"/>
              </a:tabLst>
            </a:pPr>
            <a:r>
              <a:rPr dirty="0" sz="1000">
                <a:latin typeface="Times New Roman"/>
                <a:cs typeface="Times New Roman"/>
              </a:rPr>
              <a:t>Compared</a:t>
            </a:r>
            <a:r>
              <a:rPr dirty="0" sz="1000" spc="100">
                <a:latin typeface="Times New Roman"/>
                <a:cs typeface="Times New Roman"/>
              </a:rPr>
              <a:t> </a:t>
            </a:r>
            <a:r>
              <a:rPr dirty="0" sz="1000">
                <a:latin typeface="Times New Roman"/>
                <a:cs typeface="Times New Roman"/>
              </a:rPr>
              <a:t>with</a:t>
            </a:r>
            <a:r>
              <a:rPr dirty="0" sz="1000" spc="105">
                <a:latin typeface="Times New Roman"/>
                <a:cs typeface="Times New Roman"/>
              </a:rPr>
              <a:t> </a:t>
            </a:r>
            <a:r>
              <a:rPr dirty="0" sz="1000">
                <a:latin typeface="Times New Roman"/>
                <a:cs typeface="Times New Roman"/>
              </a:rPr>
              <a:t>vanilla</a:t>
            </a:r>
            <a:r>
              <a:rPr dirty="0" sz="1000" spc="105">
                <a:latin typeface="Times New Roman"/>
                <a:cs typeface="Times New Roman"/>
              </a:rPr>
              <a:t> </a:t>
            </a:r>
            <a:r>
              <a:rPr dirty="0" sz="1000">
                <a:latin typeface="Times New Roman"/>
                <a:cs typeface="Times New Roman"/>
              </a:rPr>
              <a:t>loss</a:t>
            </a:r>
            <a:r>
              <a:rPr dirty="0" sz="1000" spc="105">
                <a:latin typeface="Times New Roman"/>
                <a:cs typeface="Times New Roman"/>
              </a:rPr>
              <a:t> </a:t>
            </a:r>
            <a:r>
              <a:rPr dirty="0" sz="1000" spc="-50">
                <a:latin typeface="Cambria"/>
                <a:cs typeface="Cambria"/>
              </a:rPr>
              <a:t>𝐿</a:t>
            </a:r>
            <a:r>
              <a:rPr dirty="0" sz="1000">
                <a:latin typeface="Cambria"/>
                <a:cs typeface="Cambria"/>
              </a:rPr>
              <a:t>	</a:t>
            </a:r>
            <a:r>
              <a:rPr dirty="0" sz="1000" spc="10">
                <a:latin typeface="Times New Roman"/>
                <a:cs typeface="Times New Roman"/>
              </a:rPr>
              <a:t>in</a:t>
            </a:r>
            <a:r>
              <a:rPr dirty="0" sz="1000" spc="45">
                <a:latin typeface="Times New Roman"/>
                <a:cs typeface="Times New Roman"/>
              </a:rPr>
              <a:t> </a:t>
            </a:r>
            <a:r>
              <a:rPr dirty="0" sz="1000" spc="10">
                <a:latin typeface="Times New Roman"/>
                <a:cs typeface="Times New Roman"/>
              </a:rPr>
              <a:t>Equation</a:t>
            </a:r>
            <a:r>
              <a:rPr dirty="0" sz="1000" spc="45">
                <a:latin typeface="Times New Roman"/>
                <a:cs typeface="Times New Roman"/>
              </a:rPr>
              <a:t> </a:t>
            </a:r>
            <a:r>
              <a:rPr dirty="0" sz="1000" spc="10">
                <a:latin typeface="Times New Roman"/>
                <a:cs typeface="Times New Roman"/>
              </a:rPr>
              <a:t>1,</a:t>
            </a:r>
            <a:r>
              <a:rPr dirty="0" sz="1000" spc="45">
                <a:latin typeface="Times New Roman"/>
                <a:cs typeface="Times New Roman"/>
              </a:rPr>
              <a:t> </a:t>
            </a:r>
            <a:r>
              <a:rPr dirty="0" sz="1000" spc="-50">
                <a:latin typeface="Cambria"/>
                <a:cs typeface="Cambria"/>
              </a:rPr>
              <a:t>𝑔</a:t>
            </a:r>
            <a:r>
              <a:rPr dirty="0" sz="1000">
                <a:latin typeface="Cambria"/>
                <a:cs typeface="Cambria"/>
              </a:rPr>
              <a:t>	</a:t>
            </a:r>
            <a:r>
              <a:rPr dirty="0" sz="1000" spc="10">
                <a:latin typeface="Times New Roman"/>
                <a:cs typeface="Times New Roman"/>
              </a:rPr>
              <a:t>calculated</a:t>
            </a:r>
            <a:r>
              <a:rPr dirty="0" sz="1000" spc="25">
                <a:latin typeface="Times New Roman"/>
                <a:cs typeface="Times New Roman"/>
              </a:rPr>
              <a:t> </a:t>
            </a:r>
            <a:r>
              <a:rPr dirty="0" sz="1000" spc="10">
                <a:latin typeface="Times New Roman"/>
                <a:cs typeface="Times New Roman"/>
              </a:rPr>
              <a:t>by</a:t>
            </a:r>
            <a:r>
              <a:rPr dirty="0" sz="1000" spc="30">
                <a:latin typeface="Times New Roman"/>
                <a:cs typeface="Times New Roman"/>
              </a:rPr>
              <a:t> </a:t>
            </a:r>
            <a:r>
              <a:rPr dirty="0" sz="1000" spc="10">
                <a:latin typeface="Times New Roman"/>
                <a:cs typeface="Times New Roman"/>
              </a:rPr>
              <a:t>the</a:t>
            </a:r>
            <a:r>
              <a:rPr dirty="0" sz="1000" spc="30">
                <a:latin typeface="Times New Roman"/>
                <a:cs typeface="Times New Roman"/>
              </a:rPr>
              <a:t> </a:t>
            </a:r>
            <a:r>
              <a:rPr dirty="0" sz="1000" spc="10">
                <a:latin typeface="Times New Roman"/>
                <a:cs typeface="Times New Roman"/>
              </a:rPr>
              <a:t>multimodal</a:t>
            </a:r>
            <a:r>
              <a:rPr dirty="0" sz="1000" spc="30">
                <a:latin typeface="Times New Roman"/>
                <a:cs typeface="Times New Roman"/>
              </a:rPr>
              <a:t> </a:t>
            </a:r>
            <a:r>
              <a:rPr dirty="0" sz="1000" spc="10">
                <a:latin typeface="Times New Roman"/>
                <a:cs typeface="Times New Roman"/>
              </a:rPr>
              <a:t>loss</a:t>
            </a:r>
            <a:r>
              <a:rPr dirty="0" sz="1000" spc="30">
                <a:latin typeface="Times New Roman"/>
                <a:cs typeface="Times New Roman"/>
              </a:rPr>
              <a:t> </a:t>
            </a:r>
            <a:r>
              <a:rPr dirty="0" sz="1000" spc="10">
                <a:latin typeface="Cambria"/>
                <a:cs typeface="Cambria"/>
              </a:rPr>
              <a:t>𝐿</a:t>
            </a:r>
            <a:r>
              <a:rPr dirty="0" sz="1000" spc="150">
                <a:latin typeface="Cambria"/>
                <a:cs typeface="Cambria"/>
              </a:rPr>
              <a:t>  </a:t>
            </a:r>
            <a:r>
              <a:rPr dirty="0" sz="1000" spc="10">
                <a:latin typeface="Times New Roman"/>
                <a:cs typeface="Times New Roman"/>
              </a:rPr>
              <a:t>will</a:t>
            </a:r>
            <a:r>
              <a:rPr dirty="0" sz="1000" spc="35">
                <a:latin typeface="Times New Roman"/>
                <a:cs typeface="Times New Roman"/>
              </a:rPr>
              <a:t> </a:t>
            </a:r>
            <a:r>
              <a:rPr dirty="0" sz="1000" spc="10">
                <a:latin typeface="Times New Roman"/>
                <a:cs typeface="Times New Roman"/>
              </a:rPr>
              <a:t>not</a:t>
            </a:r>
            <a:r>
              <a:rPr dirty="0" sz="1000" spc="30">
                <a:latin typeface="Times New Roman"/>
                <a:cs typeface="Times New Roman"/>
              </a:rPr>
              <a:t> </a:t>
            </a:r>
            <a:r>
              <a:rPr dirty="0" sz="1000" spc="-25">
                <a:latin typeface="Times New Roman"/>
                <a:cs typeface="Times New Roman"/>
              </a:rPr>
              <a:t>be</a:t>
            </a:r>
            <a:endParaRPr sz="1000">
              <a:latin typeface="Times New Roman"/>
              <a:cs typeface="Times New Roman"/>
            </a:endParaRPr>
          </a:p>
        </p:txBody>
      </p:sp>
      <p:sp>
        <p:nvSpPr>
          <p:cNvPr id="30" name="object 30" descr=""/>
          <p:cNvSpPr txBox="1"/>
          <p:nvPr/>
        </p:nvSpPr>
        <p:spPr>
          <a:xfrm>
            <a:off x="861898" y="6294861"/>
            <a:ext cx="4582795" cy="177800"/>
          </a:xfrm>
          <a:prstGeom prst="rect">
            <a:avLst/>
          </a:prstGeom>
        </p:spPr>
        <p:txBody>
          <a:bodyPr wrap="square" lIns="0" tIns="12065" rIns="0" bIns="0" rtlCol="0" vert="horz">
            <a:spAutoFit/>
          </a:bodyPr>
          <a:lstStyle/>
          <a:p>
            <a:pPr marL="38100">
              <a:lnSpc>
                <a:spcPct val="100000"/>
              </a:lnSpc>
              <a:spcBef>
                <a:spcPts val="95"/>
              </a:spcBef>
            </a:pPr>
            <a:r>
              <a:rPr dirty="0" sz="1000">
                <a:latin typeface="Times New Roman"/>
                <a:cs typeface="Times New Roman"/>
              </a:rPr>
              <a:t>passed</a:t>
            </a:r>
            <a:r>
              <a:rPr dirty="0" sz="1000" spc="50">
                <a:latin typeface="Times New Roman"/>
                <a:cs typeface="Times New Roman"/>
              </a:rPr>
              <a:t> </a:t>
            </a:r>
            <a:r>
              <a:rPr dirty="0" sz="1000">
                <a:latin typeface="Times New Roman"/>
                <a:cs typeface="Times New Roman"/>
              </a:rPr>
              <a:t>back</a:t>
            </a:r>
            <a:r>
              <a:rPr dirty="0" sz="1000" spc="50">
                <a:latin typeface="Times New Roman"/>
                <a:cs typeface="Times New Roman"/>
              </a:rPr>
              <a:t> </a:t>
            </a:r>
            <a:r>
              <a:rPr dirty="0" sz="1000">
                <a:latin typeface="Times New Roman"/>
                <a:cs typeface="Times New Roman"/>
              </a:rPr>
              <a:t>to</a:t>
            </a:r>
            <a:r>
              <a:rPr dirty="0" sz="1000" spc="55">
                <a:latin typeface="Times New Roman"/>
                <a:cs typeface="Times New Roman"/>
              </a:rPr>
              <a:t> </a:t>
            </a:r>
            <a:r>
              <a:rPr dirty="0" sz="1000">
                <a:latin typeface="Times New Roman"/>
                <a:cs typeface="Times New Roman"/>
              </a:rPr>
              <a:t>encoder</a:t>
            </a:r>
            <a:r>
              <a:rPr dirty="0" sz="1000" spc="50">
                <a:latin typeface="Times New Roman"/>
                <a:cs typeface="Times New Roman"/>
              </a:rPr>
              <a:t> </a:t>
            </a:r>
            <a:r>
              <a:rPr dirty="0" sz="1000" spc="-10">
                <a:latin typeface="Cambria"/>
                <a:cs typeface="Cambria"/>
              </a:rPr>
              <a:t>𝜑</a:t>
            </a:r>
            <a:r>
              <a:rPr dirty="0" baseline="-15873" sz="1050" spc="-15">
                <a:latin typeface="Cambria"/>
                <a:cs typeface="Cambria"/>
              </a:rPr>
              <a:t>1</a:t>
            </a:r>
            <a:r>
              <a:rPr dirty="0" baseline="-15873" sz="1050" spc="187">
                <a:latin typeface="Cambria"/>
                <a:cs typeface="Cambria"/>
              </a:rPr>
              <a:t> </a:t>
            </a:r>
            <a:r>
              <a:rPr dirty="0" sz="1000" spc="-10">
                <a:latin typeface="Cambria"/>
                <a:cs typeface="Cambria"/>
              </a:rPr>
              <a:t>(𝜃</a:t>
            </a:r>
            <a:r>
              <a:rPr dirty="0" baseline="-15873" sz="1050" spc="-15">
                <a:latin typeface="Cambria"/>
                <a:cs typeface="Cambria"/>
              </a:rPr>
              <a:t>1</a:t>
            </a:r>
            <a:r>
              <a:rPr dirty="0" sz="1000" spc="-10">
                <a:latin typeface="Cambria"/>
                <a:cs typeface="Cambria"/>
              </a:rPr>
              <a:t>,</a:t>
            </a:r>
            <a:r>
              <a:rPr dirty="0" sz="1000">
                <a:latin typeface="Cambria"/>
                <a:cs typeface="Cambria"/>
              </a:rPr>
              <a:t> ⋅)</a:t>
            </a:r>
            <a:r>
              <a:rPr dirty="0" sz="1000" spc="80">
                <a:latin typeface="Cambria"/>
                <a:cs typeface="Cambria"/>
              </a:rPr>
              <a:t> </a:t>
            </a:r>
            <a:r>
              <a:rPr dirty="0" sz="1000">
                <a:latin typeface="Times New Roman"/>
                <a:cs typeface="Times New Roman"/>
              </a:rPr>
              <a:t>,</a:t>
            </a:r>
            <a:r>
              <a:rPr dirty="0" sz="1000" spc="55">
                <a:latin typeface="Times New Roman"/>
                <a:cs typeface="Times New Roman"/>
              </a:rPr>
              <a:t> </a:t>
            </a:r>
            <a:r>
              <a:rPr dirty="0" sz="1000">
                <a:latin typeface="Times New Roman"/>
                <a:cs typeface="Times New Roman"/>
              </a:rPr>
              <a:t>and</a:t>
            </a:r>
            <a:r>
              <a:rPr dirty="0" sz="1000" spc="50">
                <a:latin typeface="Times New Roman"/>
                <a:cs typeface="Times New Roman"/>
              </a:rPr>
              <a:t> </a:t>
            </a:r>
            <a:r>
              <a:rPr dirty="0" sz="1000">
                <a:latin typeface="Times New Roman"/>
                <a:cs typeface="Times New Roman"/>
              </a:rPr>
              <a:t>thus</a:t>
            </a:r>
            <a:r>
              <a:rPr dirty="0" sz="1000" spc="50">
                <a:latin typeface="Times New Roman"/>
                <a:cs typeface="Times New Roman"/>
              </a:rPr>
              <a:t> </a:t>
            </a:r>
            <a:r>
              <a:rPr dirty="0" sz="1000">
                <a:latin typeface="Times New Roman"/>
                <a:cs typeface="Times New Roman"/>
              </a:rPr>
              <a:t>will</a:t>
            </a:r>
            <a:r>
              <a:rPr dirty="0" sz="1000" spc="55">
                <a:latin typeface="Times New Roman"/>
                <a:cs typeface="Times New Roman"/>
              </a:rPr>
              <a:t> </a:t>
            </a:r>
            <a:r>
              <a:rPr dirty="0" sz="1000">
                <a:latin typeface="Times New Roman"/>
                <a:cs typeface="Times New Roman"/>
              </a:rPr>
              <a:t>not</a:t>
            </a:r>
            <a:r>
              <a:rPr dirty="0" sz="1000" spc="50">
                <a:latin typeface="Times New Roman"/>
                <a:cs typeface="Times New Roman"/>
              </a:rPr>
              <a:t> </a:t>
            </a:r>
            <a:r>
              <a:rPr dirty="0" sz="1000">
                <a:latin typeface="Times New Roman"/>
                <a:cs typeface="Times New Roman"/>
              </a:rPr>
              <a:t>affect</a:t>
            </a:r>
            <a:r>
              <a:rPr dirty="0" sz="1000" spc="55">
                <a:latin typeface="Times New Roman"/>
                <a:cs typeface="Times New Roman"/>
              </a:rPr>
              <a:t> </a:t>
            </a:r>
            <a:r>
              <a:rPr dirty="0" sz="1000">
                <a:latin typeface="Times New Roman"/>
                <a:cs typeface="Times New Roman"/>
              </a:rPr>
              <a:t>its</a:t>
            </a:r>
            <a:r>
              <a:rPr dirty="0" sz="1000" spc="50">
                <a:latin typeface="Times New Roman"/>
                <a:cs typeface="Times New Roman"/>
              </a:rPr>
              <a:t> </a:t>
            </a:r>
            <a:r>
              <a:rPr dirty="0" sz="1000">
                <a:latin typeface="Times New Roman"/>
                <a:cs typeface="Times New Roman"/>
              </a:rPr>
              <a:t>parameter</a:t>
            </a:r>
            <a:r>
              <a:rPr dirty="0" sz="1000" spc="50">
                <a:latin typeface="Times New Roman"/>
                <a:cs typeface="Times New Roman"/>
              </a:rPr>
              <a:t> </a:t>
            </a:r>
            <a:r>
              <a:rPr dirty="0" sz="1000" spc="-10">
                <a:latin typeface="Times New Roman"/>
                <a:cs typeface="Times New Roman"/>
              </a:rPr>
              <a:t>optimization.</a:t>
            </a:r>
            <a:endParaRPr sz="1000">
              <a:latin typeface="Times New Roman"/>
              <a:cs typeface="Times New Roman"/>
            </a:endParaRPr>
          </a:p>
        </p:txBody>
      </p:sp>
      <p:grpSp>
        <p:nvGrpSpPr>
          <p:cNvPr id="31" name="object 31" descr=""/>
          <p:cNvGrpSpPr/>
          <p:nvPr/>
        </p:nvGrpSpPr>
        <p:grpSpPr>
          <a:xfrm>
            <a:off x="899998" y="6590469"/>
            <a:ext cx="5760085" cy="553085"/>
            <a:chOff x="899998" y="6590469"/>
            <a:chExt cx="5760085" cy="553085"/>
          </a:xfrm>
        </p:grpSpPr>
        <p:sp>
          <p:nvSpPr>
            <p:cNvPr id="32" name="object 32" descr=""/>
            <p:cNvSpPr/>
            <p:nvPr/>
          </p:nvSpPr>
          <p:spPr>
            <a:xfrm>
              <a:off x="899998" y="6590469"/>
              <a:ext cx="5760085" cy="553085"/>
            </a:xfrm>
            <a:custGeom>
              <a:avLst/>
              <a:gdLst/>
              <a:ahLst/>
              <a:cxnLst/>
              <a:rect l="l" t="t" r="r" b="b"/>
              <a:pathLst>
                <a:path w="5760084" h="553084">
                  <a:moveTo>
                    <a:pt x="5724074" y="0"/>
                  </a:moveTo>
                  <a:lnTo>
                    <a:pt x="36000" y="0"/>
                  </a:lnTo>
                  <a:lnTo>
                    <a:pt x="21987" y="2829"/>
                  </a:lnTo>
                  <a:lnTo>
                    <a:pt x="10544" y="10544"/>
                  </a:lnTo>
                  <a:lnTo>
                    <a:pt x="2829" y="21987"/>
                  </a:lnTo>
                  <a:lnTo>
                    <a:pt x="0" y="36000"/>
                  </a:lnTo>
                  <a:lnTo>
                    <a:pt x="0" y="516467"/>
                  </a:lnTo>
                  <a:lnTo>
                    <a:pt x="2829" y="530480"/>
                  </a:lnTo>
                  <a:lnTo>
                    <a:pt x="10544" y="541924"/>
                  </a:lnTo>
                  <a:lnTo>
                    <a:pt x="21987" y="549639"/>
                  </a:lnTo>
                  <a:lnTo>
                    <a:pt x="36000" y="552468"/>
                  </a:lnTo>
                  <a:lnTo>
                    <a:pt x="5724074" y="552468"/>
                  </a:lnTo>
                  <a:lnTo>
                    <a:pt x="5738087" y="549639"/>
                  </a:lnTo>
                  <a:lnTo>
                    <a:pt x="5749530" y="541924"/>
                  </a:lnTo>
                  <a:lnTo>
                    <a:pt x="5757245" y="530480"/>
                  </a:lnTo>
                  <a:lnTo>
                    <a:pt x="5760074" y="51646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33" name="object 33" descr=""/>
            <p:cNvSpPr/>
            <p:nvPr/>
          </p:nvSpPr>
          <p:spPr>
            <a:xfrm>
              <a:off x="899998" y="6590469"/>
              <a:ext cx="5760085" cy="553085"/>
            </a:xfrm>
            <a:custGeom>
              <a:avLst/>
              <a:gdLst/>
              <a:ahLst/>
              <a:cxnLst/>
              <a:rect l="l" t="t" r="r" b="b"/>
              <a:pathLst>
                <a:path w="5760084" h="553084">
                  <a:moveTo>
                    <a:pt x="5724074" y="0"/>
                  </a:moveTo>
                  <a:lnTo>
                    <a:pt x="36000" y="0"/>
                  </a:lnTo>
                  <a:lnTo>
                    <a:pt x="21987" y="2829"/>
                  </a:lnTo>
                  <a:lnTo>
                    <a:pt x="10544" y="10544"/>
                  </a:lnTo>
                  <a:lnTo>
                    <a:pt x="2829" y="21987"/>
                  </a:lnTo>
                  <a:lnTo>
                    <a:pt x="0" y="36000"/>
                  </a:lnTo>
                  <a:lnTo>
                    <a:pt x="0" y="516467"/>
                  </a:lnTo>
                  <a:lnTo>
                    <a:pt x="2829" y="530480"/>
                  </a:lnTo>
                  <a:lnTo>
                    <a:pt x="10544" y="541924"/>
                  </a:lnTo>
                  <a:lnTo>
                    <a:pt x="21987" y="549639"/>
                  </a:lnTo>
                  <a:lnTo>
                    <a:pt x="36000" y="552468"/>
                  </a:lnTo>
                  <a:lnTo>
                    <a:pt x="5724074" y="552468"/>
                  </a:lnTo>
                  <a:lnTo>
                    <a:pt x="5738087" y="549639"/>
                  </a:lnTo>
                  <a:lnTo>
                    <a:pt x="5749530" y="541924"/>
                  </a:lnTo>
                  <a:lnTo>
                    <a:pt x="5757245" y="530480"/>
                  </a:lnTo>
                  <a:lnTo>
                    <a:pt x="5760074" y="51646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34" name="object 34" descr=""/>
          <p:cNvSpPr txBox="1"/>
          <p:nvPr/>
        </p:nvSpPr>
        <p:spPr>
          <a:xfrm>
            <a:off x="2541993" y="6663286"/>
            <a:ext cx="2562225" cy="132080"/>
          </a:xfrm>
          <a:prstGeom prst="rect">
            <a:avLst/>
          </a:prstGeom>
        </p:spPr>
        <p:txBody>
          <a:bodyPr wrap="square" lIns="0" tIns="12065" rIns="0" bIns="0" rtlCol="0" vert="horz">
            <a:spAutoFit/>
          </a:bodyPr>
          <a:lstStyle/>
          <a:p>
            <a:pPr marL="12700">
              <a:lnSpc>
                <a:spcPct val="100000"/>
              </a:lnSpc>
              <a:spcBef>
                <a:spcPts val="95"/>
              </a:spcBef>
              <a:tabLst>
                <a:tab pos="1445260" algn="l"/>
                <a:tab pos="2341245" algn="l"/>
              </a:tabLst>
            </a:pPr>
            <a:r>
              <a:rPr dirty="0" sz="700" spc="-20">
                <a:latin typeface="Times New Roman"/>
                <a:cs typeface="Times New Roman"/>
              </a:rPr>
              <a:t>Multi</a:t>
            </a:r>
            <a:r>
              <a:rPr dirty="0" sz="700">
                <a:latin typeface="Times New Roman"/>
                <a:cs typeface="Times New Roman"/>
              </a:rPr>
              <a:t>	</a:t>
            </a:r>
            <a:r>
              <a:rPr dirty="0" sz="700" spc="-50">
                <a:latin typeface="Cambria"/>
                <a:cs typeface="Cambria"/>
              </a:rPr>
              <a:t>𝑑</a:t>
            </a:r>
            <a:r>
              <a:rPr dirty="0" sz="700">
                <a:latin typeface="Cambria"/>
                <a:cs typeface="Cambria"/>
              </a:rPr>
              <a:t>	</a:t>
            </a:r>
            <a:r>
              <a:rPr dirty="0" baseline="3968" sz="1050" spc="-15">
                <a:latin typeface="Times New Roman"/>
                <a:cs typeface="Times New Roman"/>
              </a:rPr>
              <a:t>Multi</a:t>
            </a:r>
            <a:endParaRPr baseline="3968" sz="1050">
              <a:latin typeface="Times New Roman"/>
              <a:cs typeface="Times New Roman"/>
            </a:endParaRPr>
          </a:p>
        </p:txBody>
      </p:sp>
      <p:sp>
        <p:nvSpPr>
          <p:cNvPr id="35" name="object 35" descr=""/>
          <p:cNvSpPr txBox="1"/>
          <p:nvPr/>
        </p:nvSpPr>
        <p:spPr>
          <a:xfrm>
            <a:off x="4850015" y="6747220"/>
            <a:ext cx="65405"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𝜃</a:t>
            </a:r>
            <a:endParaRPr sz="700">
              <a:latin typeface="Cambria"/>
              <a:cs typeface="Cambria"/>
            </a:endParaRPr>
          </a:p>
        </p:txBody>
      </p:sp>
      <p:sp>
        <p:nvSpPr>
          <p:cNvPr id="36" name="object 36" descr=""/>
          <p:cNvSpPr txBox="1"/>
          <p:nvPr/>
        </p:nvSpPr>
        <p:spPr>
          <a:xfrm>
            <a:off x="4902187" y="6784803"/>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37" name="object 37" descr=""/>
          <p:cNvSpPr txBox="1"/>
          <p:nvPr/>
        </p:nvSpPr>
        <p:spPr>
          <a:xfrm>
            <a:off x="1067295" y="6670883"/>
            <a:ext cx="5425440" cy="177800"/>
          </a:xfrm>
          <a:prstGeom prst="rect">
            <a:avLst/>
          </a:prstGeom>
        </p:spPr>
        <p:txBody>
          <a:bodyPr wrap="square" lIns="0" tIns="12065" rIns="0" bIns="0" rtlCol="0" vert="horz">
            <a:spAutoFit/>
          </a:bodyPr>
          <a:lstStyle/>
          <a:p>
            <a:pPr marL="12700">
              <a:lnSpc>
                <a:spcPct val="100000"/>
              </a:lnSpc>
              <a:spcBef>
                <a:spcPts val="95"/>
              </a:spcBef>
              <a:tabLst>
                <a:tab pos="1769745" algn="l"/>
                <a:tab pos="4098290" algn="l"/>
              </a:tabLst>
            </a:pPr>
            <a:r>
              <a:rPr dirty="0" sz="1000">
                <a:latin typeface="SimSun"/>
                <a:cs typeface="SimSun"/>
              </a:rPr>
              <a:t>与公</a:t>
            </a:r>
            <a:r>
              <a:rPr dirty="0" sz="1000" spc="-10">
                <a:latin typeface="SimSun"/>
                <a:cs typeface="SimSun"/>
              </a:rPr>
              <a:t>式</a:t>
            </a:r>
            <a:r>
              <a:rPr dirty="0" sz="1000" spc="-70">
                <a:latin typeface="SimSun"/>
                <a:cs typeface="SimSun"/>
              </a:rPr>
              <a:t> </a:t>
            </a:r>
            <a:r>
              <a:rPr dirty="0" sz="1000">
                <a:latin typeface="Times New Roman"/>
                <a:cs typeface="Times New Roman"/>
              </a:rPr>
              <a:t>1</a:t>
            </a:r>
            <a:r>
              <a:rPr dirty="0" sz="1000" spc="185">
                <a:latin typeface="Times New Roman"/>
                <a:cs typeface="Times New Roman"/>
              </a:rPr>
              <a:t> </a:t>
            </a:r>
            <a:r>
              <a:rPr dirty="0" sz="1000">
                <a:latin typeface="SimSun"/>
                <a:cs typeface="SimSun"/>
              </a:rPr>
              <a:t>中的普通损</a:t>
            </a:r>
            <a:r>
              <a:rPr dirty="0" sz="1000" spc="-10">
                <a:latin typeface="SimSun"/>
                <a:cs typeface="SimSun"/>
              </a:rPr>
              <a:t>失</a:t>
            </a:r>
            <a:r>
              <a:rPr dirty="0" sz="1000" spc="-55">
                <a:latin typeface="SimSun"/>
                <a:cs typeface="SimSun"/>
              </a:rPr>
              <a:t> </a:t>
            </a:r>
            <a:r>
              <a:rPr dirty="0" sz="1000" spc="-50">
                <a:latin typeface="Cambria"/>
                <a:cs typeface="Cambria"/>
              </a:rPr>
              <a:t>𝐿</a:t>
            </a:r>
            <a:r>
              <a:rPr dirty="0" sz="1000">
                <a:latin typeface="Cambria"/>
                <a:cs typeface="Cambria"/>
              </a:rPr>
              <a:t>	</a:t>
            </a:r>
            <a:r>
              <a:rPr dirty="0" sz="1000">
                <a:latin typeface="SimSun"/>
                <a:cs typeface="SimSun"/>
              </a:rPr>
              <a:t>相</a:t>
            </a:r>
            <a:r>
              <a:rPr dirty="0" sz="1000" spc="-10">
                <a:latin typeface="SimSun"/>
                <a:cs typeface="SimSun"/>
              </a:rPr>
              <a:t>比</a:t>
            </a:r>
            <a:r>
              <a:rPr dirty="0" sz="1000">
                <a:latin typeface="SimSun"/>
                <a:cs typeface="SimSun"/>
              </a:rPr>
              <a:t>，由多峰损</a:t>
            </a:r>
            <a:r>
              <a:rPr dirty="0" sz="1000" spc="-10">
                <a:latin typeface="SimSun"/>
                <a:cs typeface="SimSun"/>
              </a:rPr>
              <a:t>失</a:t>
            </a:r>
            <a:r>
              <a:rPr dirty="0" sz="1000" spc="-45">
                <a:latin typeface="SimSun"/>
                <a:cs typeface="SimSun"/>
              </a:rPr>
              <a:t> </a:t>
            </a:r>
            <a:r>
              <a:rPr dirty="0" sz="1000">
                <a:latin typeface="Cambria"/>
                <a:cs typeface="Cambria"/>
              </a:rPr>
              <a:t>𝐿</a:t>
            </a:r>
            <a:r>
              <a:rPr dirty="0" sz="1000" spc="240">
                <a:latin typeface="Cambria"/>
                <a:cs typeface="Cambria"/>
              </a:rPr>
              <a:t>  </a:t>
            </a:r>
            <a:r>
              <a:rPr dirty="0" sz="1000">
                <a:latin typeface="SimSun"/>
                <a:cs typeface="SimSun"/>
              </a:rPr>
              <a:t>计算得到</a:t>
            </a:r>
            <a:r>
              <a:rPr dirty="0" sz="1000" spc="-10">
                <a:latin typeface="SimSun"/>
                <a:cs typeface="SimSun"/>
              </a:rPr>
              <a:t>的</a:t>
            </a:r>
            <a:r>
              <a:rPr dirty="0" sz="1000" spc="-45">
                <a:latin typeface="SimSun"/>
                <a:cs typeface="SimSun"/>
              </a:rPr>
              <a:t> </a:t>
            </a:r>
            <a:r>
              <a:rPr dirty="0" sz="1000" spc="-50">
                <a:latin typeface="Cambria"/>
                <a:cs typeface="Cambria"/>
              </a:rPr>
              <a:t>𝑔</a:t>
            </a:r>
            <a:r>
              <a:rPr dirty="0" sz="1000">
                <a:latin typeface="Cambria"/>
                <a:cs typeface="Cambria"/>
              </a:rPr>
              <a:t>	</a:t>
            </a:r>
            <a:r>
              <a:rPr dirty="0" sz="1000">
                <a:latin typeface="SimSun"/>
                <a:cs typeface="SimSun"/>
              </a:rPr>
              <a:t>不会反向传播回编码</a:t>
            </a:r>
            <a:r>
              <a:rPr dirty="0" sz="1000" spc="-50">
                <a:latin typeface="SimSun"/>
                <a:cs typeface="SimSun"/>
              </a:rPr>
              <a:t>器</a:t>
            </a:r>
            <a:endParaRPr sz="1000">
              <a:latin typeface="SimSun"/>
              <a:cs typeface="SimSun"/>
            </a:endParaRPr>
          </a:p>
        </p:txBody>
      </p:sp>
      <p:sp>
        <p:nvSpPr>
          <p:cNvPr id="38" name="object 38" descr=""/>
          <p:cNvSpPr txBox="1"/>
          <p:nvPr/>
        </p:nvSpPr>
        <p:spPr>
          <a:xfrm>
            <a:off x="1147267" y="6932793"/>
            <a:ext cx="254000" cy="132080"/>
          </a:xfrm>
          <a:prstGeom prst="rect">
            <a:avLst/>
          </a:prstGeom>
        </p:spPr>
        <p:txBody>
          <a:bodyPr wrap="square" lIns="0" tIns="12065" rIns="0" bIns="0" rtlCol="0" vert="horz">
            <a:spAutoFit/>
          </a:bodyPr>
          <a:lstStyle/>
          <a:p>
            <a:pPr marL="12700">
              <a:lnSpc>
                <a:spcPct val="100000"/>
              </a:lnSpc>
              <a:spcBef>
                <a:spcPts val="95"/>
              </a:spcBef>
              <a:tabLst>
                <a:tab pos="195580" algn="l"/>
              </a:tabLst>
            </a:pPr>
            <a:r>
              <a:rPr dirty="0" sz="700" spc="-50">
                <a:latin typeface="Cambria"/>
                <a:cs typeface="Cambria"/>
              </a:rPr>
              <a:t>1</a:t>
            </a:r>
            <a:r>
              <a:rPr dirty="0" sz="700">
                <a:latin typeface="Cambria"/>
                <a:cs typeface="Cambria"/>
              </a:rPr>
              <a:t>	</a:t>
            </a:r>
            <a:r>
              <a:rPr dirty="0" sz="700" spc="-50">
                <a:latin typeface="Cambria"/>
                <a:cs typeface="Cambria"/>
              </a:rPr>
              <a:t>1</a:t>
            </a:r>
            <a:endParaRPr sz="700">
              <a:latin typeface="Cambria"/>
              <a:cs typeface="Cambria"/>
            </a:endParaRPr>
          </a:p>
        </p:txBody>
      </p:sp>
      <p:sp>
        <p:nvSpPr>
          <p:cNvPr id="39" name="object 39" descr=""/>
          <p:cNvSpPr txBox="1"/>
          <p:nvPr/>
        </p:nvSpPr>
        <p:spPr>
          <a:xfrm>
            <a:off x="1067295" y="6869778"/>
            <a:ext cx="2149475" cy="177800"/>
          </a:xfrm>
          <a:prstGeom prst="rect">
            <a:avLst/>
          </a:prstGeom>
        </p:spPr>
        <p:txBody>
          <a:bodyPr wrap="square" lIns="0" tIns="12065" rIns="0" bIns="0" rtlCol="0" vert="horz">
            <a:spAutoFit/>
          </a:bodyPr>
          <a:lstStyle/>
          <a:p>
            <a:pPr marL="12700">
              <a:lnSpc>
                <a:spcPct val="100000"/>
              </a:lnSpc>
              <a:spcBef>
                <a:spcPts val="95"/>
              </a:spcBef>
            </a:pPr>
            <a:r>
              <a:rPr dirty="0" sz="1000">
                <a:latin typeface="Cambria"/>
                <a:cs typeface="Cambria"/>
              </a:rPr>
              <a:t>𝜑</a:t>
            </a:r>
            <a:r>
              <a:rPr dirty="0" sz="1000" spc="150">
                <a:latin typeface="Cambria"/>
                <a:cs typeface="Cambria"/>
              </a:rPr>
              <a:t> (</a:t>
            </a:r>
            <a:r>
              <a:rPr dirty="0" sz="1000">
                <a:latin typeface="Cambria"/>
                <a:cs typeface="Cambria"/>
              </a:rPr>
              <a:t>𝜃</a:t>
            </a:r>
            <a:r>
              <a:rPr dirty="0" sz="1000" spc="5">
                <a:latin typeface="Cambria"/>
                <a:cs typeface="Cambria"/>
              </a:rPr>
              <a:t> , ⋅) </a:t>
            </a:r>
            <a:r>
              <a:rPr dirty="0" sz="1000" spc="-15">
                <a:latin typeface="SimSun"/>
                <a:cs typeface="SimSun"/>
              </a:rPr>
              <a:t>，因此不会影响其参数优化。</a:t>
            </a:r>
            <a:endParaRPr sz="1000">
              <a:latin typeface="SimSun"/>
              <a:cs typeface="SimSun"/>
            </a:endParaRPr>
          </a:p>
        </p:txBody>
      </p:sp>
      <p:grpSp>
        <p:nvGrpSpPr>
          <p:cNvPr id="40" name="object 40" descr=""/>
          <p:cNvGrpSpPr/>
          <p:nvPr/>
        </p:nvGrpSpPr>
        <p:grpSpPr>
          <a:xfrm>
            <a:off x="899998" y="8129833"/>
            <a:ext cx="5760085" cy="734695"/>
            <a:chOff x="899998" y="8129833"/>
            <a:chExt cx="5760085" cy="734695"/>
          </a:xfrm>
        </p:grpSpPr>
        <p:sp>
          <p:nvSpPr>
            <p:cNvPr id="41" name="object 41" descr=""/>
            <p:cNvSpPr/>
            <p:nvPr/>
          </p:nvSpPr>
          <p:spPr>
            <a:xfrm>
              <a:off x="899998" y="8129833"/>
              <a:ext cx="5760085" cy="734695"/>
            </a:xfrm>
            <a:custGeom>
              <a:avLst/>
              <a:gdLst/>
              <a:ahLst/>
              <a:cxnLst/>
              <a:rect l="l" t="t" r="r" b="b"/>
              <a:pathLst>
                <a:path w="5760084" h="734695">
                  <a:moveTo>
                    <a:pt x="5724074" y="0"/>
                  </a:moveTo>
                  <a:lnTo>
                    <a:pt x="36000" y="0"/>
                  </a:lnTo>
                  <a:lnTo>
                    <a:pt x="21987" y="2829"/>
                  </a:lnTo>
                  <a:lnTo>
                    <a:pt x="10544" y="10544"/>
                  </a:lnTo>
                  <a:lnTo>
                    <a:pt x="2829" y="21987"/>
                  </a:lnTo>
                  <a:lnTo>
                    <a:pt x="0" y="36000"/>
                  </a:lnTo>
                  <a:lnTo>
                    <a:pt x="0" y="698131"/>
                  </a:lnTo>
                  <a:lnTo>
                    <a:pt x="2829" y="712144"/>
                  </a:lnTo>
                  <a:lnTo>
                    <a:pt x="10544" y="723587"/>
                  </a:lnTo>
                  <a:lnTo>
                    <a:pt x="21987" y="731302"/>
                  </a:lnTo>
                  <a:lnTo>
                    <a:pt x="36000" y="734131"/>
                  </a:lnTo>
                  <a:lnTo>
                    <a:pt x="5724074" y="734131"/>
                  </a:lnTo>
                  <a:lnTo>
                    <a:pt x="5738087" y="731302"/>
                  </a:lnTo>
                  <a:lnTo>
                    <a:pt x="5749530" y="723587"/>
                  </a:lnTo>
                  <a:lnTo>
                    <a:pt x="5757245" y="712144"/>
                  </a:lnTo>
                  <a:lnTo>
                    <a:pt x="5760074" y="69813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2" name="object 42" descr=""/>
            <p:cNvSpPr/>
            <p:nvPr/>
          </p:nvSpPr>
          <p:spPr>
            <a:xfrm>
              <a:off x="899998" y="8129833"/>
              <a:ext cx="5760085" cy="734695"/>
            </a:xfrm>
            <a:custGeom>
              <a:avLst/>
              <a:gdLst/>
              <a:ahLst/>
              <a:cxnLst/>
              <a:rect l="l" t="t" r="r" b="b"/>
              <a:pathLst>
                <a:path w="5760084" h="734695">
                  <a:moveTo>
                    <a:pt x="5724074" y="0"/>
                  </a:moveTo>
                  <a:lnTo>
                    <a:pt x="36000" y="0"/>
                  </a:lnTo>
                  <a:lnTo>
                    <a:pt x="21987" y="2829"/>
                  </a:lnTo>
                  <a:lnTo>
                    <a:pt x="10544" y="10544"/>
                  </a:lnTo>
                  <a:lnTo>
                    <a:pt x="2829" y="21987"/>
                  </a:lnTo>
                  <a:lnTo>
                    <a:pt x="0" y="36000"/>
                  </a:lnTo>
                  <a:lnTo>
                    <a:pt x="0" y="698131"/>
                  </a:lnTo>
                  <a:lnTo>
                    <a:pt x="2829" y="712144"/>
                  </a:lnTo>
                  <a:lnTo>
                    <a:pt x="10544" y="723587"/>
                  </a:lnTo>
                  <a:lnTo>
                    <a:pt x="21987" y="731302"/>
                  </a:lnTo>
                  <a:lnTo>
                    <a:pt x="36000" y="734131"/>
                  </a:lnTo>
                  <a:lnTo>
                    <a:pt x="5724074" y="734131"/>
                  </a:lnTo>
                  <a:lnTo>
                    <a:pt x="5738087" y="731302"/>
                  </a:lnTo>
                  <a:lnTo>
                    <a:pt x="5749530" y="723587"/>
                  </a:lnTo>
                  <a:lnTo>
                    <a:pt x="5757245" y="712144"/>
                  </a:lnTo>
                  <a:lnTo>
                    <a:pt x="5760074" y="69813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43" name="object 43" descr=""/>
          <p:cNvSpPr txBox="1"/>
          <p:nvPr/>
        </p:nvSpPr>
        <p:spPr>
          <a:xfrm>
            <a:off x="798398" y="7193502"/>
            <a:ext cx="5963285" cy="2340610"/>
          </a:xfrm>
          <a:prstGeom prst="rect">
            <a:avLst/>
          </a:prstGeom>
        </p:spPr>
        <p:txBody>
          <a:bodyPr wrap="square" lIns="0" tIns="13970" rIns="0" bIns="0" rtlCol="0" vert="horz">
            <a:spAutoFit/>
          </a:bodyPr>
          <a:lstStyle/>
          <a:p>
            <a:pPr algn="just" marL="100965" marR="93345" indent="252729">
              <a:lnSpc>
                <a:spcPct val="129500"/>
              </a:lnSpc>
              <a:spcBef>
                <a:spcPts val="110"/>
              </a:spcBef>
            </a:pPr>
            <a:r>
              <a:rPr dirty="0" sz="1000" spc="10">
                <a:latin typeface="Times New Roman"/>
                <a:cs typeface="Times New Roman"/>
              </a:rPr>
              <a:t>Gradient</a:t>
            </a:r>
            <a:r>
              <a:rPr dirty="0" sz="1000" spc="80">
                <a:latin typeface="Times New Roman"/>
                <a:cs typeface="Times New Roman"/>
              </a:rPr>
              <a:t> </a:t>
            </a:r>
            <a:r>
              <a:rPr dirty="0" sz="1000" spc="10">
                <a:latin typeface="Times New Roman"/>
                <a:cs typeface="Times New Roman"/>
              </a:rPr>
              <a:t>Reorganizing.</a:t>
            </a:r>
            <a:r>
              <a:rPr dirty="0" sz="1000" spc="200">
                <a:latin typeface="Times New Roman"/>
                <a:cs typeface="Times New Roman"/>
              </a:rPr>
              <a:t> </a:t>
            </a:r>
            <a:r>
              <a:rPr dirty="0" sz="1000" spc="10">
                <a:latin typeface="Times New Roman"/>
                <a:cs typeface="Times New Roman"/>
              </a:rPr>
              <a:t>Although</a:t>
            </a:r>
            <a:r>
              <a:rPr dirty="0" sz="1000" spc="85">
                <a:latin typeface="Times New Roman"/>
                <a:cs typeface="Times New Roman"/>
              </a:rPr>
              <a:t> </a:t>
            </a:r>
            <a:r>
              <a:rPr dirty="0" sz="1000" spc="10">
                <a:latin typeface="Times New Roman"/>
                <a:cs typeface="Times New Roman"/>
              </a:rPr>
              <a:t>gradient</a:t>
            </a:r>
            <a:r>
              <a:rPr dirty="0" sz="1000" spc="80">
                <a:latin typeface="Times New Roman"/>
                <a:cs typeface="Times New Roman"/>
              </a:rPr>
              <a:t> </a:t>
            </a:r>
            <a:r>
              <a:rPr dirty="0" sz="1000" spc="10">
                <a:latin typeface="Times New Roman"/>
                <a:cs typeface="Times New Roman"/>
              </a:rPr>
              <a:t>detaching</a:t>
            </a:r>
            <a:r>
              <a:rPr dirty="0" sz="1000" spc="85">
                <a:latin typeface="Times New Roman"/>
                <a:cs typeface="Times New Roman"/>
              </a:rPr>
              <a:t> </a:t>
            </a:r>
            <a:r>
              <a:rPr dirty="0" sz="1000" spc="10">
                <a:latin typeface="Times New Roman"/>
                <a:cs typeface="Times New Roman"/>
              </a:rPr>
              <a:t>eliminates</a:t>
            </a:r>
            <a:r>
              <a:rPr dirty="0" sz="1000" spc="80">
                <a:latin typeface="Times New Roman"/>
                <a:cs typeface="Times New Roman"/>
              </a:rPr>
              <a:t> </a:t>
            </a:r>
            <a:r>
              <a:rPr dirty="0" sz="1000" spc="10">
                <a:latin typeface="Times New Roman"/>
                <a:cs typeface="Times New Roman"/>
              </a:rPr>
              <a:t>the</a:t>
            </a:r>
            <a:r>
              <a:rPr dirty="0" sz="1000" spc="85">
                <a:latin typeface="Times New Roman"/>
                <a:cs typeface="Times New Roman"/>
              </a:rPr>
              <a:t> </a:t>
            </a:r>
            <a:r>
              <a:rPr dirty="0" sz="1000" spc="10">
                <a:latin typeface="Times New Roman"/>
                <a:cs typeface="Times New Roman"/>
              </a:rPr>
              <a:t>constraint</a:t>
            </a:r>
            <a:r>
              <a:rPr dirty="0" sz="1000" spc="80">
                <a:latin typeface="Times New Roman"/>
                <a:cs typeface="Times New Roman"/>
              </a:rPr>
              <a:t> </a:t>
            </a:r>
            <a:r>
              <a:rPr dirty="0" sz="1000" spc="10">
                <a:latin typeface="Times New Roman"/>
                <a:cs typeface="Times New Roman"/>
              </a:rPr>
              <a:t>on</a:t>
            </a:r>
            <a:r>
              <a:rPr dirty="0" sz="1000" spc="85">
                <a:latin typeface="Times New Roman"/>
                <a:cs typeface="Times New Roman"/>
              </a:rPr>
              <a:t> </a:t>
            </a:r>
            <a:r>
              <a:rPr dirty="0" sz="1000" spc="10">
                <a:latin typeface="Times New Roman"/>
                <a:cs typeface="Times New Roman"/>
              </a:rPr>
              <a:t>the</a:t>
            </a:r>
            <a:r>
              <a:rPr dirty="0" sz="1000" spc="90">
                <a:latin typeface="Times New Roman"/>
                <a:cs typeface="Times New Roman"/>
              </a:rPr>
              <a:t> </a:t>
            </a:r>
            <a:r>
              <a:rPr dirty="0" sz="1000" spc="10">
                <a:latin typeface="Times New Roman"/>
                <a:cs typeface="Times New Roman"/>
              </a:rPr>
              <a:t>modality</a:t>
            </a:r>
            <a:r>
              <a:rPr dirty="0" sz="1000" spc="85">
                <a:latin typeface="Times New Roman"/>
                <a:cs typeface="Times New Roman"/>
              </a:rPr>
              <a:t> </a:t>
            </a:r>
            <a:r>
              <a:rPr dirty="0" sz="1000" spc="-10">
                <a:latin typeface="Times New Roman"/>
                <a:cs typeface="Times New Roman"/>
              </a:rPr>
              <a:t>encoder </a:t>
            </a:r>
            <a:r>
              <a:rPr dirty="0" sz="1000">
                <a:latin typeface="Times New Roman"/>
                <a:cs typeface="Times New Roman"/>
              </a:rPr>
              <a:t>optimization,</a:t>
            </a:r>
            <a:r>
              <a:rPr dirty="0" sz="1000" spc="30">
                <a:latin typeface="Times New Roman"/>
                <a:cs typeface="Times New Roman"/>
              </a:rPr>
              <a:t> </a:t>
            </a:r>
            <a:r>
              <a:rPr dirty="0" sz="1000">
                <a:latin typeface="Times New Roman"/>
                <a:cs typeface="Times New Roman"/>
              </a:rPr>
              <a:t>it</a:t>
            </a:r>
            <a:r>
              <a:rPr dirty="0" sz="1000" spc="20">
                <a:latin typeface="Times New Roman"/>
                <a:cs typeface="Times New Roman"/>
              </a:rPr>
              <a:t> </a:t>
            </a:r>
            <a:r>
              <a:rPr dirty="0" sz="1000">
                <a:latin typeface="Times New Roman"/>
                <a:cs typeface="Times New Roman"/>
              </a:rPr>
              <a:t>also</a:t>
            </a:r>
            <a:r>
              <a:rPr dirty="0" sz="1000" spc="15">
                <a:latin typeface="Times New Roman"/>
                <a:cs typeface="Times New Roman"/>
              </a:rPr>
              <a:t> </a:t>
            </a:r>
            <a:r>
              <a:rPr dirty="0" sz="1000">
                <a:latin typeface="Times New Roman"/>
                <a:cs typeface="Times New Roman"/>
              </a:rPr>
              <a:t>blocks</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optimization</a:t>
            </a:r>
            <a:r>
              <a:rPr dirty="0" sz="1000" spc="20">
                <a:latin typeface="Times New Roman"/>
                <a:cs typeface="Times New Roman"/>
              </a:rPr>
              <a:t> </a:t>
            </a:r>
            <a:r>
              <a:rPr dirty="0" sz="1000" spc="-50">
                <a:latin typeface="Times New Roman"/>
                <a:cs typeface="Times New Roman"/>
              </a:rPr>
              <a:t>of</a:t>
            </a:r>
            <a:r>
              <a:rPr dirty="0" sz="1000" spc="15">
                <a:latin typeface="Times New Roman"/>
                <a:cs typeface="Times New Roman"/>
              </a:rPr>
              <a:t> </a:t>
            </a:r>
            <a:r>
              <a:rPr dirty="0" sz="1000">
                <a:latin typeface="Times New Roman"/>
                <a:cs typeface="Times New Roman"/>
              </a:rPr>
              <a:t>encoder</a:t>
            </a:r>
            <a:r>
              <a:rPr dirty="0" sz="1000" spc="20">
                <a:latin typeface="Times New Roman"/>
                <a:cs typeface="Times New Roman"/>
              </a:rPr>
              <a:t> </a:t>
            </a:r>
            <a:r>
              <a:rPr dirty="0" sz="1000">
                <a:latin typeface="Cambria"/>
                <a:cs typeface="Cambria"/>
              </a:rPr>
              <a:t>𝜑</a:t>
            </a:r>
            <a:r>
              <a:rPr dirty="0" baseline="-15873" sz="1050">
                <a:latin typeface="Cambria"/>
                <a:cs typeface="Cambria"/>
              </a:rPr>
              <a:t>1</a:t>
            </a:r>
            <a:r>
              <a:rPr dirty="0" baseline="-15873" sz="1050" spc="270">
                <a:latin typeface="Cambria"/>
                <a:cs typeface="Cambria"/>
              </a:rPr>
              <a:t> </a:t>
            </a:r>
            <a:r>
              <a:rPr dirty="0" sz="1000" spc="-20">
                <a:latin typeface="Cambria"/>
                <a:cs typeface="Cambria"/>
              </a:rPr>
              <a:t>(𝜃</a:t>
            </a:r>
            <a:r>
              <a:rPr dirty="0" baseline="-15873" sz="1050" spc="-30">
                <a:latin typeface="Cambria"/>
                <a:cs typeface="Cambria"/>
              </a:rPr>
              <a:t>1</a:t>
            </a:r>
            <a:r>
              <a:rPr dirty="0" sz="1000" spc="-20">
                <a:latin typeface="Cambria"/>
                <a:cs typeface="Cambria"/>
              </a:rPr>
              <a:t>,</a:t>
            </a:r>
            <a:r>
              <a:rPr dirty="0" sz="1000" spc="40">
                <a:latin typeface="Cambria"/>
                <a:cs typeface="Cambria"/>
              </a:rPr>
              <a:t> </a:t>
            </a:r>
            <a:r>
              <a:rPr dirty="0" sz="1000" spc="-30">
                <a:latin typeface="Cambria"/>
                <a:cs typeface="Cambria"/>
              </a:rPr>
              <a:t>⋅)</a:t>
            </a:r>
            <a:r>
              <a:rPr dirty="0" sz="1000" spc="50">
                <a:latin typeface="Cambria"/>
                <a:cs typeface="Cambria"/>
              </a:rPr>
              <a:t> </a:t>
            </a:r>
            <a:r>
              <a:rPr dirty="0" sz="1000">
                <a:latin typeface="Times New Roman"/>
                <a:cs typeface="Times New Roman"/>
              </a:rPr>
              <a:t>because</a:t>
            </a:r>
            <a:r>
              <a:rPr dirty="0" sz="1000" spc="20">
                <a:latin typeface="Times New Roman"/>
                <a:cs typeface="Times New Roman"/>
              </a:rPr>
              <a:t> </a:t>
            </a:r>
            <a:r>
              <a:rPr dirty="0" sz="1000">
                <a:latin typeface="Times New Roman"/>
                <a:cs typeface="Times New Roman"/>
              </a:rPr>
              <a:t>no</a:t>
            </a:r>
            <a:r>
              <a:rPr dirty="0" sz="1000" spc="15">
                <a:latin typeface="Times New Roman"/>
                <a:cs typeface="Times New Roman"/>
              </a:rPr>
              <a:t> </a:t>
            </a:r>
            <a:r>
              <a:rPr dirty="0" sz="1000">
                <a:latin typeface="Times New Roman"/>
                <a:cs typeface="Times New Roman"/>
              </a:rPr>
              <a:t>gradient</a:t>
            </a:r>
            <a:r>
              <a:rPr dirty="0" sz="1000" spc="20">
                <a:latin typeface="Times New Roman"/>
                <a:cs typeface="Times New Roman"/>
              </a:rPr>
              <a:t> </a:t>
            </a:r>
            <a:r>
              <a:rPr dirty="0" sz="1000">
                <a:latin typeface="Times New Roman"/>
                <a:cs typeface="Times New Roman"/>
              </a:rPr>
              <a:t>can</a:t>
            </a:r>
            <a:r>
              <a:rPr dirty="0" sz="1000" spc="20">
                <a:latin typeface="Times New Roman"/>
                <a:cs typeface="Times New Roman"/>
              </a:rPr>
              <a:t> </a:t>
            </a:r>
            <a:r>
              <a:rPr dirty="0" sz="1000">
                <a:latin typeface="Times New Roman"/>
                <a:cs typeface="Times New Roman"/>
              </a:rPr>
              <a:t>be</a:t>
            </a:r>
            <a:r>
              <a:rPr dirty="0" sz="1000" spc="15">
                <a:latin typeface="Times New Roman"/>
                <a:cs typeface="Times New Roman"/>
              </a:rPr>
              <a:t> </a:t>
            </a:r>
            <a:r>
              <a:rPr dirty="0" sz="1000">
                <a:latin typeface="Times New Roman"/>
                <a:cs typeface="Times New Roman"/>
              </a:rPr>
              <a:t>passed</a:t>
            </a:r>
            <a:r>
              <a:rPr dirty="0" sz="1000" spc="20">
                <a:latin typeface="Times New Roman"/>
                <a:cs typeface="Times New Roman"/>
              </a:rPr>
              <a:t> </a:t>
            </a:r>
            <a:r>
              <a:rPr dirty="0" sz="1000">
                <a:latin typeface="Times New Roman"/>
                <a:cs typeface="Times New Roman"/>
              </a:rPr>
              <a:t>back</a:t>
            </a:r>
            <a:r>
              <a:rPr dirty="0" sz="1000" spc="15">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spc="-25">
                <a:latin typeface="Times New Roman"/>
                <a:cs typeface="Times New Roman"/>
              </a:rPr>
              <a:t>the </a:t>
            </a:r>
            <a:r>
              <a:rPr dirty="0" sz="1000">
                <a:latin typeface="Times New Roman"/>
                <a:cs typeface="Times New Roman"/>
              </a:rPr>
              <a:t>encoder.</a:t>
            </a:r>
            <a:r>
              <a:rPr dirty="0" sz="1000" spc="254">
                <a:latin typeface="Times New Roman"/>
                <a:cs typeface="Times New Roman"/>
              </a:rPr>
              <a:t> </a:t>
            </a:r>
            <a:r>
              <a:rPr dirty="0" sz="1000" spc="-20">
                <a:latin typeface="Times New Roman"/>
                <a:cs typeface="Times New Roman"/>
              </a:rPr>
              <a:t>To</a:t>
            </a:r>
            <a:r>
              <a:rPr dirty="0" sz="1000" spc="114">
                <a:latin typeface="Times New Roman"/>
                <a:cs typeface="Times New Roman"/>
              </a:rPr>
              <a:t> </a:t>
            </a:r>
            <a:r>
              <a:rPr dirty="0" sz="1000">
                <a:latin typeface="Times New Roman"/>
                <a:cs typeface="Times New Roman"/>
              </a:rPr>
              <a:t>address</a:t>
            </a:r>
            <a:r>
              <a:rPr dirty="0" sz="1000" spc="114">
                <a:latin typeface="Times New Roman"/>
                <a:cs typeface="Times New Roman"/>
              </a:rPr>
              <a:t> </a:t>
            </a:r>
            <a:r>
              <a:rPr dirty="0" sz="1000">
                <a:latin typeface="Times New Roman"/>
                <a:cs typeface="Times New Roman"/>
              </a:rPr>
              <a:t>this</a:t>
            </a:r>
            <a:r>
              <a:rPr dirty="0" sz="1000" spc="114">
                <a:latin typeface="Times New Roman"/>
                <a:cs typeface="Times New Roman"/>
              </a:rPr>
              <a:t> </a:t>
            </a:r>
            <a:r>
              <a:rPr dirty="0" sz="1000">
                <a:latin typeface="Times New Roman"/>
                <a:cs typeface="Times New Roman"/>
              </a:rPr>
              <a:t>problem,</a:t>
            </a:r>
            <a:r>
              <a:rPr dirty="0" sz="1000" spc="114">
                <a:latin typeface="Times New Roman"/>
                <a:cs typeface="Times New Roman"/>
              </a:rPr>
              <a:t> </a:t>
            </a:r>
            <a:r>
              <a:rPr dirty="0" sz="1000">
                <a:latin typeface="Times New Roman"/>
                <a:cs typeface="Times New Roman"/>
              </a:rPr>
              <a:t>we</a:t>
            </a:r>
            <a:r>
              <a:rPr dirty="0" sz="1000" spc="114">
                <a:latin typeface="Times New Roman"/>
                <a:cs typeface="Times New Roman"/>
              </a:rPr>
              <a:t> </a:t>
            </a:r>
            <a:r>
              <a:rPr dirty="0" sz="1000">
                <a:latin typeface="Times New Roman"/>
                <a:cs typeface="Times New Roman"/>
              </a:rPr>
              <a:t>consider</a:t>
            </a:r>
            <a:r>
              <a:rPr dirty="0" sz="1000" spc="114">
                <a:latin typeface="Times New Roman"/>
                <a:cs typeface="Times New Roman"/>
              </a:rPr>
              <a:t> </a:t>
            </a:r>
            <a:r>
              <a:rPr dirty="0" sz="1000">
                <a:latin typeface="Times New Roman"/>
                <a:cs typeface="Times New Roman"/>
              </a:rPr>
              <a:t>introducing</a:t>
            </a:r>
            <a:r>
              <a:rPr dirty="0" sz="1000" spc="114">
                <a:latin typeface="Times New Roman"/>
                <a:cs typeface="Times New Roman"/>
              </a:rPr>
              <a:t> </a:t>
            </a:r>
            <a:r>
              <a:rPr dirty="0" sz="1000">
                <a:latin typeface="Times New Roman"/>
                <a:cs typeface="Times New Roman"/>
              </a:rPr>
              <a:t>unimodal</a:t>
            </a:r>
            <a:r>
              <a:rPr dirty="0" sz="1000" spc="110">
                <a:latin typeface="Times New Roman"/>
                <a:cs typeface="Times New Roman"/>
              </a:rPr>
              <a:t> </a:t>
            </a:r>
            <a:r>
              <a:rPr dirty="0" sz="1000">
                <a:latin typeface="Times New Roman"/>
                <a:cs typeface="Times New Roman"/>
              </a:rPr>
              <a:t>gradients</a:t>
            </a:r>
            <a:r>
              <a:rPr dirty="0" sz="1000" spc="114">
                <a:latin typeface="Times New Roman"/>
                <a:cs typeface="Times New Roman"/>
              </a:rPr>
              <a:t> </a:t>
            </a:r>
            <a:r>
              <a:rPr dirty="0" sz="1000">
                <a:latin typeface="Times New Roman"/>
                <a:cs typeface="Times New Roman"/>
              </a:rPr>
              <a:t>for</a:t>
            </a:r>
            <a:r>
              <a:rPr dirty="0" sz="1000" spc="114">
                <a:latin typeface="Times New Roman"/>
                <a:cs typeface="Times New Roman"/>
              </a:rPr>
              <a:t> </a:t>
            </a:r>
            <a:r>
              <a:rPr dirty="0" sz="1000">
                <a:latin typeface="Times New Roman"/>
                <a:cs typeface="Times New Roman"/>
              </a:rPr>
              <a:t>each</a:t>
            </a:r>
            <a:r>
              <a:rPr dirty="0" sz="1000" spc="114">
                <a:latin typeface="Times New Roman"/>
                <a:cs typeface="Times New Roman"/>
              </a:rPr>
              <a:t> </a:t>
            </a:r>
            <a:r>
              <a:rPr dirty="0" sz="1000">
                <a:latin typeface="Times New Roman"/>
                <a:cs typeface="Times New Roman"/>
              </a:rPr>
              <a:t>encoder</a:t>
            </a:r>
            <a:r>
              <a:rPr dirty="0" sz="1000" spc="114">
                <a:latin typeface="Times New Roman"/>
                <a:cs typeface="Times New Roman"/>
              </a:rPr>
              <a:t> </a:t>
            </a:r>
            <a:r>
              <a:rPr dirty="0" sz="1000">
                <a:latin typeface="Times New Roman"/>
                <a:cs typeface="Times New Roman"/>
              </a:rPr>
              <a:t>to</a:t>
            </a:r>
            <a:r>
              <a:rPr dirty="0" sz="1000" spc="114">
                <a:latin typeface="Times New Roman"/>
                <a:cs typeface="Times New Roman"/>
              </a:rPr>
              <a:t> </a:t>
            </a:r>
            <a:r>
              <a:rPr dirty="0" sz="1000" spc="-10">
                <a:latin typeface="Times New Roman"/>
                <a:cs typeface="Times New Roman"/>
              </a:rPr>
              <a:t>optimize </a:t>
            </a:r>
            <a:r>
              <a:rPr dirty="0" sz="1000">
                <a:latin typeface="Times New Roman"/>
                <a:cs typeface="Times New Roman"/>
              </a:rPr>
              <a:t>their</a:t>
            </a:r>
            <a:r>
              <a:rPr dirty="0" sz="1000" spc="145">
                <a:latin typeface="Times New Roman"/>
                <a:cs typeface="Times New Roman"/>
              </a:rPr>
              <a:t> </a:t>
            </a:r>
            <a:r>
              <a:rPr dirty="0" sz="1000" spc="-10">
                <a:latin typeface="Times New Roman"/>
                <a:cs typeface="Times New Roman"/>
              </a:rPr>
              <a:t>parameters.</a:t>
            </a:r>
            <a:endParaRPr sz="1000">
              <a:latin typeface="Times New Roman"/>
              <a:cs typeface="Times New Roman"/>
            </a:endParaRPr>
          </a:p>
          <a:p>
            <a:pPr>
              <a:lnSpc>
                <a:spcPct val="100000"/>
              </a:lnSpc>
              <a:spcBef>
                <a:spcPts val="254"/>
              </a:spcBef>
            </a:pPr>
            <a:endParaRPr sz="1000">
              <a:latin typeface="Times New Roman"/>
              <a:cs typeface="Times New Roman"/>
            </a:endParaRPr>
          </a:p>
          <a:p>
            <a:pPr marL="281305" marR="175895">
              <a:lnSpc>
                <a:spcPct val="129000"/>
              </a:lnSpc>
            </a:pPr>
            <a:r>
              <a:rPr dirty="0" sz="1000" spc="-20">
                <a:latin typeface="SimSun"/>
                <a:cs typeface="SimSun"/>
              </a:rPr>
              <a:t>梯度重组。虽然梯度分离消除了对模态编码器优化的约束，但它也阻止了编码器 </a:t>
            </a:r>
            <a:r>
              <a:rPr dirty="0" sz="1000" spc="-45">
                <a:latin typeface="Cambria"/>
                <a:cs typeface="Cambria"/>
              </a:rPr>
              <a:t>𝜑</a:t>
            </a:r>
            <a:r>
              <a:rPr dirty="0" baseline="-15873" sz="1050" spc="-67">
                <a:latin typeface="Cambria"/>
                <a:cs typeface="Cambria"/>
              </a:rPr>
              <a:t>1</a:t>
            </a:r>
            <a:r>
              <a:rPr dirty="0" baseline="-15873" sz="1050" spc="89">
                <a:latin typeface="Cambria"/>
                <a:cs typeface="Cambria"/>
              </a:rPr>
              <a:t> </a:t>
            </a:r>
            <a:r>
              <a:rPr dirty="0" sz="1000" spc="-10">
                <a:latin typeface="Cambria"/>
                <a:cs typeface="Cambria"/>
              </a:rPr>
              <a:t>(𝜃</a:t>
            </a:r>
            <a:r>
              <a:rPr dirty="0" baseline="-15873" sz="1050" spc="-15">
                <a:latin typeface="Cambria"/>
                <a:cs typeface="Cambria"/>
              </a:rPr>
              <a:t>1</a:t>
            </a:r>
            <a:r>
              <a:rPr dirty="0" sz="1000" spc="-15">
                <a:latin typeface="Cambria"/>
                <a:cs typeface="Cambria"/>
              </a:rPr>
              <a:t>, ⋅) </a:t>
            </a:r>
            <a:r>
              <a:rPr dirty="0" sz="1000" spc="-10">
                <a:latin typeface="SimSun"/>
                <a:cs typeface="SimSun"/>
              </a:rPr>
              <a:t>的优化，</a:t>
            </a:r>
            <a:r>
              <a:rPr dirty="0" sz="1000" spc="-30">
                <a:latin typeface="SimSun"/>
                <a:cs typeface="SimSun"/>
              </a:rPr>
              <a:t>因为没有梯度可以反向传播回编码器。为了解决这个问题，我们考虑为每个编码器引入单峰梯度来优</a:t>
            </a:r>
            <a:r>
              <a:rPr dirty="0" sz="1000" spc="-10">
                <a:latin typeface="SimSun"/>
                <a:cs typeface="SimSun"/>
              </a:rPr>
              <a:t>化其参数。</a:t>
            </a:r>
            <a:endParaRPr sz="1000">
              <a:latin typeface="SimSun"/>
              <a:cs typeface="SimSun"/>
            </a:endParaRPr>
          </a:p>
          <a:p>
            <a:pPr>
              <a:lnSpc>
                <a:spcPct val="100000"/>
              </a:lnSpc>
              <a:spcBef>
                <a:spcPts val="5"/>
              </a:spcBef>
            </a:pPr>
            <a:endParaRPr sz="1000">
              <a:latin typeface="SimSun"/>
              <a:cs typeface="SimSun"/>
            </a:endParaRPr>
          </a:p>
          <a:p>
            <a:pPr algn="just" marL="101600" marR="93345" indent="252729">
              <a:lnSpc>
                <a:spcPct val="129500"/>
              </a:lnSpc>
            </a:pPr>
            <a:r>
              <a:rPr dirty="0" sz="1000" spc="10">
                <a:latin typeface="Times New Roman"/>
                <a:cs typeface="Times New Roman"/>
              </a:rPr>
              <a:t>Unlike</a:t>
            </a:r>
            <a:r>
              <a:rPr dirty="0" sz="1000" spc="55">
                <a:latin typeface="Times New Roman"/>
                <a:cs typeface="Times New Roman"/>
              </a:rPr>
              <a:t> </a:t>
            </a:r>
            <a:r>
              <a:rPr dirty="0" sz="1000" spc="10">
                <a:latin typeface="Times New Roman"/>
                <a:cs typeface="Times New Roman"/>
              </a:rPr>
              <a:t>existing</a:t>
            </a:r>
            <a:r>
              <a:rPr dirty="0" sz="1000" spc="60">
                <a:latin typeface="Times New Roman"/>
                <a:cs typeface="Times New Roman"/>
              </a:rPr>
              <a:t> </a:t>
            </a:r>
            <a:r>
              <a:rPr dirty="0" sz="1000" spc="10">
                <a:latin typeface="Times New Roman"/>
                <a:cs typeface="Times New Roman"/>
              </a:rPr>
              <a:t>methods</a:t>
            </a:r>
            <a:r>
              <a:rPr dirty="0" sz="1000" spc="65">
                <a:latin typeface="Times New Roman"/>
                <a:cs typeface="Times New Roman"/>
              </a:rPr>
              <a:t> </a:t>
            </a:r>
            <a:r>
              <a:rPr dirty="0" sz="1000" spc="10">
                <a:latin typeface="Times New Roman"/>
                <a:cs typeface="Times New Roman"/>
              </a:rPr>
              <a:t>that</a:t>
            </a:r>
            <a:r>
              <a:rPr dirty="0" sz="1000" spc="60">
                <a:latin typeface="Times New Roman"/>
                <a:cs typeface="Times New Roman"/>
              </a:rPr>
              <a:t> </a:t>
            </a:r>
            <a:r>
              <a:rPr dirty="0" sz="1000" spc="10">
                <a:latin typeface="Times New Roman"/>
                <a:cs typeface="Times New Roman"/>
              </a:rPr>
              <a:t>introduce</a:t>
            </a:r>
            <a:r>
              <a:rPr dirty="0" sz="1000" spc="60">
                <a:latin typeface="Times New Roman"/>
                <a:cs typeface="Times New Roman"/>
              </a:rPr>
              <a:t> </a:t>
            </a:r>
            <a:r>
              <a:rPr dirty="0" sz="1000" spc="10">
                <a:latin typeface="Times New Roman"/>
                <a:cs typeface="Times New Roman"/>
              </a:rPr>
              <a:t>extra</a:t>
            </a:r>
            <a:r>
              <a:rPr dirty="0" sz="1000" spc="60">
                <a:latin typeface="Times New Roman"/>
                <a:cs typeface="Times New Roman"/>
              </a:rPr>
              <a:t> </a:t>
            </a:r>
            <a:r>
              <a:rPr dirty="0" sz="1000" spc="10">
                <a:latin typeface="Times New Roman"/>
                <a:cs typeface="Times New Roman"/>
              </a:rPr>
              <a:t>classifiers</a:t>
            </a:r>
            <a:r>
              <a:rPr dirty="0" sz="1000" spc="65">
                <a:latin typeface="Times New Roman"/>
                <a:cs typeface="Times New Roman"/>
              </a:rPr>
              <a:t> </a:t>
            </a:r>
            <a:r>
              <a:rPr dirty="0" sz="1000" spc="10">
                <a:latin typeface="Times New Roman"/>
                <a:cs typeface="Times New Roman"/>
              </a:rPr>
              <a:t>for</a:t>
            </a:r>
            <a:r>
              <a:rPr dirty="0" sz="1000" spc="60">
                <a:latin typeface="Times New Roman"/>
                <a:cs typeface="Times New Roman"/>
              </a:rPr>
              <a:t> </a:t>
            </a:r>
            <a:r>
              <a:rPr dirty="0" sz="1000" spc="10">
                <a:latin typeface="Times New Roman"/>
                <a:cs typeface="Times New Roman"/>
              </a:rPr>
              <a:t>modality</a:t>
            </a:r>
            <a:r>
              <a:rPr dirty="0" sz="1000" spc="65">
                <a:latin typeface="Times New Roman"/>
                <a:cs typeface="Times New Roman"/>
              </a:rPr>
              <a:t> </a:t>
            </a:r>
            <a:r>
              <a:rPr dirty="0" sz="1000" spc="10">
                <a:latin typeface="Times New Roman"/>
                <a:cs typeface="Times New Roman"/>
              </a:rPr>
              <a:t>representations,</a:t>
            </a:r>
            <a:r>
              <a:rPr dirty="0" sz="1000" spc="60">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proposed</a:t>
            </a:r>
            <a:r>
              <a:rPr dirty="0" sz="1000" spc="60">
                <a:latin typeface="Times New Roman"/>
                <a:cs typeface="Times New Roman"/>
              </a:rPr>
              <a:t> </a:t>
            </a:r>
            <a:r>
              <a:rPr dirty="0" sz="1000" spc="-25">
                <a:latin typeface="Times New Roman"/>
                <a:cs typeface="Times New Roman"/>
              </a:rPr>
              <a:t>DGL </a:t>
            </a:r>
            <a:r>
              <a:rPr dirty="0" sz="1000">
                <a:latin typeface="Times New Roman"/>
                <a:cs typeface="Times New Roman"/>
              </a:rPr>
              <a:t>calculates</a:t>
            </a:r>
            <a:r>
              <a:rPr dirty="0" sz="1000" spc="195">
                <a:latin typeface="Times New Roman"/>
                <a:cs typeface="Times New Roman"/>
              </a:rPr>
              <a:t> </a:t>
            </a:r>
            <a:r>
              <a:rPr dirty="0" sz="1000">
                <a:latin typeface="Times New Roman"/>
                <a:cs typeface="Times New Roman"/>
              </a:rPr>
              <a:t>the</a:t>
            </a:r>
            <a:r>
              <a:rPr dirty="0" sz="1000" spc="195">
                <a:latin typeface="Times New Roman"/>
                <a:cs typeface="Times New Roman"/>
              </a:rPr>
              <a:t> </a:t>
            </a:r>
            <a:r>
              <a:rPr dirty="0" sz="1000">
                <a:latin typeface="Times New Roman"/>
                <a:cs typeface="Times New Roman"/>
              </a:rPr>
              <a:t>unimodal</a:t>
            </a:r>
            <a:r>
              <a:rPr dirty="0" sz="1000" spc="200">
                <a:latin typeface="Times New Roman"/>
                <a:cs typeface="Times New Roman"/>
              </a:rPr>
              <a:t> </a:t>
            </a:r>
            <a:r>
              <a:rPr dirty="0" sz="1000">
                <a:latin typeface="Times New Roman"/>
                <a:cs typeface="Times New Roman"/>
              </a:rPr>
              <a:t>loss</a:t>
            </a:r>
            <a:r>
              <a:rPr dirty="0" sz="1000" spc="195">
                <a:latin typeface="Times New Roman"/>
                <a:cs typeface="Times New Roman"/>
              </a:rPr>
              <a:t> </a:t>
            </a:r>
            <a:r>
              <a:rPr dirty="0" sz="1000">
                <a:latin typeface="Times New Roman"/>
                <a:cs typeface="Times New Roman"/>
              </a:rPr>
              <a:t>via</a:t>
            </a:r>
            <a:r>
              <a:rPr dirty="0" sz="1000" spc="204">
                <a:latin typeface="Times New Roman"/>
                <a:cs typeface="Times New Roman"/>
              </a:rPr>
              <a:t> </a:t>
            </a:r>
            <a:r>
              <a:rPr dirty="0" sz="1000">
                <a:latin typeface="Times New Roman"/>
                <a:cs typeface="Times New Roman"/>
              </a:rPr>
              <a:t>the</a:t>
            </a:r>
            <a:r>
              <a:rPr dirty="0" sz="1000" spc="195">
                <a:latin typeface="Times New Roman"/>
                <a:cs typeface="Times New Roman"/>
              </a:rPr>
              <a:t> </a:t>
            </a:r>
            <a:r>
              <a:rPr dirty="0" sz="1000">
                <a:latin typeface="Times New Roman"/>
                <a:cs typeface="Times New Roman"/>
              </a:rPr>
              <a:t>modality</a:t>
            </a:r>
            <a:r>
              <a:rPr dirty="0" sz="1000" spc="195">
                <a:latin typeface="Times New Roman"/>
                <a:cs typeface="Times New Roman"/>
              </a:rPr>
              <a:t> </a:t>
            </a:r>
            <a:r>
              <a:rPr dirty="0" sz="1000">
                <a:latin typeface="Times New Roman"/>
                <a:cs typeface="Times New Roman"/>
              </a:rPr>
              <a:t>dropout</a:t>
            </a:r>
            <a:r>
              <a:rPr dirty="0" sz="1000" spc="195">
                <a:latin typeface="Times New Roman"/>
                <a:cs typeface="Times New Roman"/>
              </a:rPr>
              <a:t> </a:t>
            </a:r>
            <a:r>
              <a:rPr dirty="0" sz="1000">
                <a:latin typeface="Times New Roman"/>
                <a:cs typeface="Times New Roman"/>
              </a:rPr>
              <a:t>technique</a:t>
            </a:r>
            <a:r>
              <a:rPr dirty="0" sz="1000" spc="200">
                <a:latin typeface="Times New Roman"/>
                <a:cs typeface="Times New Roman"/>
              </a:rPr>
              <a:t> </a:t>
            </a:r>
            <a:r>
              <a:rPr dirty="0" sz="1000">
                <a:latin typeface="Times New Roman"/>
                <a:cs typeface="Times New Roman"/>
              </a:rPr>
              <a:t>[29,</a:t>
            </a:r>
            <a:r>
              <a:rPr dirty="0" sz="1000" spc="229">
                <a:latin typeface="Times New Roman"/>
                <a:cs typeface="Times New Roman"/>
              </a:rPr>
              <a:t> </a:t>
            </a:r>
            <a:r>
              <a:rPr dirty="0" sz="1000">
                <a:latin typeface="Times New Roman"/>
                <a:cs typeface="Times New Roman"/>
              </a:rPr>
              <a:t>31].</a:t>
            </a:r>
            <a:r>
              <a:rPr dirty="0" sz="1000" spc="155">
                <a:latin typeface="Times New Roman"/>
                <a:cs typeface="Times New Roman"/>
              </a:rPr>
              <a:t>  </a:t>
            </a:r>
            <a:r>
              <a:rPr dirty="0" sz="1000">
                <a:latin typeface="Times New Roman"/>
                <a:cs typeface="Times New Roman"/>
              </a:rPr>
              <a:t>This</a:t>
            </a:r>
            <a:r>
              <a:rPr dirty="0" sz="1000" spc="204">
                <a:latin typeface="Times New Roman"/>
                <a:cs typeface="Times New Roman"/>
              </a:rPr>
              <a:t> </a:t>
            </a:r>
            <a:r>
              <a:rPr dirty="0" sz="1000">
                <a:latin typeface="Times New Roman"/>
                <a:cs typeface="Times New Roman"/>
              </a:rPr>
              <a:t>retains</a:t>
            </a:r>
            <a:r>
              <a:rPr dirty="0" sz="1000" spc="200">
                <a:latin typeface="Times New Roman"/>
                <a:cs typeface="Times New Roman"/>
              </a:rPr>
              <a:t> </a:t>
            </a:r>
            <a:r>
              <a:rPr dirty="0" sz="1000">
                <a:latin typeface="Times New Roman"/>
                <a:cs typeface="Times New Roman"/>
              </a:rPr>
              <a:t>the</a:t>
            </a:r>
            <a:r>
              <a:rPr dirty="0" sz="1000" spc="200">
                <a:latin typeface="Times New Roman"/>
                <a:cs typeface="Times New Roman"/>
              </a:rPr>
              <a:t> </a:t>
            </a:r>
            <a:r>
              <a:rPr dirty="0" sz="1000">
                <a:latin typeface="Times New Roman"/>
                <a:cs typeface="Times New Roman"/>
              </a:rPr>
              <a:t>fusion</a:t>
            </a:r>
            <a:r>
              <a:rPr dirty="0" sz="1000" spc="195">
                <a:latin typeface="Times New Roman"/>
                <a:cs typeface="Times New Roman"/>
              </a:rPr>
              <a:t> </a:t>
            </a:r>
            <a:r>
              <a:rPr dirty="0" sz="1000" spc="-10">
                <a:latin typeface="Times New Roman"/>
                <a:cs typeface="Times New Roman"/>
              </a:rPr>
              <a:t>module </a:t>
            </a:r>
            <a:r>
              <a:rPr dirty="0" sz="1000">
                <a:latin typeface="Times New Roman"/>
                <a:cs typeface="Times New Roman"/>
              </a:rPr>
              <a:t>and</a:t>
            </a:r>
            <a:r>
              <a:rPr dirty="0" sz="1000" spc="85">
                <a:latin typeface="Times New Roman"/>
                <a:cs typeface="Times New Roman"/>
              </a:rPr>
              <a:t> </a:t>
            </a:r>
            <a:r>
              <a:rPr dirty="0" sz="1000">
                <a:latin typeface="Times New Roman"/>
                <a:cs typeface="Times New Roman"/>
              </a:rPr>
              <a:t>calculates</a:t>
            </a:r>
            <a:r>
              <a:rPr dirty="0" sz="1000" spc="85">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unimodal</a:t>
            </a:r>
            <a:r>
              <a:rPr dirty="0" sz="1000" spc="85">
                <a:latin typeface="Times New Roman"/>
                <a:cs typeface="Times New Roman"/>
              </a:rPr>
              <a:t> </a:t>
            </a:r>
            <a:r>
              <a:rPr dirty="0" sz="1000">
                <a:latin typeface="Times New Roman"/>
                <a:cs typeface="Times New Roman"/>
              </a:rPr>
              <a:t>loss</a:t>
            </a:r>
            <a:r>
              <a:rPr dirty="0" sz="1000" spc="90">
                <a:latin typeface="Times New Roman"/>
                <a:cs typeface="Times New Roman"/>
              </a:rPr>
              <a:t> </a:t>
            </a:r>
            <a:r>
              <a:rPr dirty="0" sz="1000">
                <a:latin typeface="Times New Roman"/>
                <a:cs typeface="Times New Roman"/>
              </a:rPr>
              <a:t>by</a:t>
            </a:r>
            <a:r>
              <a:rPr dirty="0" sz="1000" spc="85">
                <a:latin typeface="Times New Roman"/>
                <a:cs typeface="Times New Roman"/>
              </a:rPr>
              <a:t> </a:t>
            </a:r>
            <a:r>
              <a:rPr dirty="0" sz="1000">
                <a:latin typeface="Times New Roman"/>
                <a:cs typeface="Times New Roman"/>
              </a:rPr>
              <a:t>setting</a:t>
            </a:r>
            <a:r>
              <a:rPr dirty="0" sz="1000" spc="85">
                <a:latin typeface="Times New Roman"/>
                <a:cs typeface="Times New Roman"/>
              </a:rPr>
              <a:t> </a:t>
            </a:r>
            <a:r>
              <a:rPr dirty="0" sz="1000">
                <a:latin typeface="Times New Roman"/>
                <a:cs typeface="Times New Roman"/>
              </a:rPr>
              <a:t>other</a:t>
            </a:r>
            <a:r>
              <a:rPr dirty="0" sz="1000" spc="90">
                <a:latin typeface="Times New Roman"/>
                <a:cs typeface="Times New Roman"/>
              </a:rPr>
              <a:t> </a:t>
            </a:r>
            <a:r>
              <a:rPr dirty="0" sz="1000">
                <a:latin typeface="Times New Roman"/>
                <a:cs typeface="Times New Roman"/>
              </a:rPr>
              <a:t>modality</a:t>
            </a:r>
            <a:r>
              <a:rPr dirty="0" sz="1000" spc="85">
                <a:latin typeface="Times New Roman"/>
                <a:cs typeface="Times New Roman"/>
              </a:rPr>
              <a:t> </a:t>
            </a:r>
            <a:r>
              <a:rPr dirty="0" sz="1000">
                <a:latin typeface="Times New Roman"/>
                <a:cs typeface="Times New Roman"/>
              </a:rPr>
              <a:t>representations</a:t>
            </a:r>
            <a:r>
              <a:rPr dirty="0" sz="1000" spc="90">
                <a:latin typeface="Times New Roman"/>
                <a:cs typeface="Times New Roman"/>
              </a:rPr>
              <a:t> </a:t>
            </a:r>
            <a:r>
              <a:rPr dirty="0" sz="1000">
                <a:latin typeface="Times New Roman"/>
                <a:cs typeface="Times New Roman"/>
              </a:rPr>
              <a:t>as</a:t>
            </a:r>
            <a:r>
              <a:rPr dirty="0" sz="1000" spc="85">
                <a:latin typeface="Times New Roman"/>
                <a:cs typeface="Times New Roman"/>
              </a:rPr>
              <a:t> </a:t>
            </a:r>
            <a:r>
              <a:rPr dirty="0" sz="1000">
                <a:latin typeface="Times New Roman"/>
                <a:cs typeface="Times New Roman"/>
              </a:rPr>
              <a:t>0</a:t>
            </a:r>
            <a:r>
              <a:rPr dirty="0" sz="1000" spc="90">
                <a:latin typeface="Times New Roman"/>
                <a:cs typeface="Times New Roman"/>
              </a:rPr>
              <a:t> </a:t>
            </a:r>
            <a:r>
              <a:rPr dirty="0" sz="1000">
                <a:latin typeface="Times New Roman"/>
                <a:cs typeface="Times New Roman"/>
              </a:rPr>
              <a:t>directly.</a:t>
            </a:r>
            <a:r>
              <a:rPr dirty="0" sz="1000" spc="204">
                <a:latin typeface="Times New Roman"/>
                <a:cs typeface="Times New Roman"/>
              </a:rPr>
              <a:t> </a:t>
            </a:r>
            <a:r>
              <a:rPr dirty="0" sz="1000">
                <a:latin typeface="Times New Roman"/>
                <a:cs typeface="Times New Roman"/>
              </a:rPr>
              <a:t>This</a:t>
            </a:r>
            <a:r>
              <a:rPr dirty="0" sz="1000" spc="85">
                <a:latin typeface="Times New Roman"/>
                <a:cs typeface="Times New Roman"/>
              </a:rPr>
              <a:t> </a:t>
            </a:r>
            <a:r>
              <a:rPr dirty="0" sz="1000">
                <a:latin typeface="Times New Roman"/>
                <a:cs typeface="Times New Roman"/>
              </a:rPr>
              <a:t>enables</a:t>
            </a:r>
            <a:r>
              <a:rPr dirty="0" sz="1000" spc="90">
                <a:latin typeface="Times New Roman"/>
                <a:cs typeface="Times New Roman"/>
              </a:rPr>
              <a:t> </a:t>
            </a:r>
            <a:r>
              <a:rPr dirty="0" sz="1000" spc="-10">
                <a:latin typeface="Times New Roman"/>
                <a:cs typeface="Times New Roman"/>
              </a:rPr>
              <a:t>DGL</a:t>
            </a:r>
            <a:r>
              <a:rPr dirty="0" sz="1000" spc="85">
                <a:latin typeface="Times New Roman"/>
                <a:cs typeface="Times New Roman"/>
              </a:rPr>
              <a:t> </a:t>
            </a:r>
            <a:r>
              <a:rPr dirty="0" sz="1000" spc="-25">
                <a:latin typeface="Times New Roman"/>
                <a:cs typeface="Times New Roman"/>
              </a:rPr>
              <a:t>to</a:t>
            </a:r>
            <a:endParaRPr sz="1000">
              <a:latin typeface="Times New Roman"/>
              <a:cs typeface="Times New Roman"/>
            </a:endParaRPr>
          </a:p>
        </p:txBody>
      </p:sp>
      <p:sp>
        <p:nvSpPr>
          <p:cNvPr id="44" name="object 44"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381799"/>
            <a:ext cx="5760085" cy="941069"/>
            <a:chOff x="899998" y="1381799"/>
            <a:chExt cx="5760085" cy="941069"/>
          </a:xfrm>
        </p:grpSpPr>
        <p:sp>
          <p:nvSpPr>
            <p:cNvPr id="3" name="object 3" descr=""/>
            <p:cNvSpPr/>
            <p:nvPr/>
          </p:nvSpPr>
          <p:spPr>
            <a:xfrm>
              <a:off x="899998" y="1381799"/>
              <a:ext cx="5760085" cy="941069"/>
            </a:xfrm>
            <a:custGeom>
              <a:avLst/>
              <a:gdLst/>
              <a:ahLst/>
              <a:cxnLst/>
              <a:rect l="l" t="t" r="r" b="b"/>
              <a:pathLst>
                <a:path w="5760084" h="941069">
                  <a:moveTo>
                    <a:pt x="5724074" y="0"/>
                  </a:moveTo>
                  <a:lnTo>
                    <a:pt x="36000" y="0"/>
                  </a:lnTo>
                  <a:lnTo>
                    <a:pt x="21987" y="2829"/>
                  </a:lnTo>
                  <a:lnTo>
                    <a:pt x="10544" y="10544"/>
                  </a:lnTo>
                  <a:lnTo>
                    <a:pt x="2829" y="21987"/>
                  </a:lnTo>
                  <a:lnTo>
                    <a:pt x="0" y="36000"/>
                  </a:lnTo>
                  <a:lnTo>
                    <a:pt x="0" y="904624"/>
                  </a:lnTo>
                  <a:lnTo>
                    <a:pt x="2829" y="918637"/>
                  </a:lnTo>
                  <a:lnTo>
                    <a:pt x="10544" y="930080"/>
                  </a:lnTo>
                  <a:lnTo>
                    <a:pt x="21987" y="937795"/>
                  </a:lnTo>
                  <a:lnTo>
                    <a:pt x="36000" y="940624"/>
                  </a:lnTo>
                  <a:lnTo>
                    <a:pt x="5724074" y="940624"/>
                  </a:lnTo>
                  <a:lnTo>
                    <a:pt x="5738087" y="937795"/>
                  </a:lnTo>
                  <a:lnTo>
                    <a:pt x="5749530" y="930080"/>
                  </a:lnTo>
                  <a:lnTo>
                    <a:pt x="5757245" y="918637"/>
                  </a:lnTo>
                  <a:lnTo>
                    <a:pt x="5760074" y="90462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381799"/>
              <a:ext cx="5760085" cy="941069"/>
            </a:xfrm>
            <a:custGeom>
              <a:avLst/>
              <a:gdLst/>
              <a:ahLst/>
              <a:cxnLst/>
              <a:rect l="l" t="t" r="r" b="b"/>
              <a:pathLst>
                <a:path w="5760084" h="941069">
                  <a:moveTo>
                    <a:pt x="5724074" y="0"/>
                  </a:moveTo>
                  <a:lnTo>
                    <a:pt x="36000" y="0"/>
                  </a:lnTo>
                  <a:lnTo>
                    <a:pt x="21987" y="2829"/>
                  </a:lnTo>
                  <a:lnTo>
                    <a:pt x="10544" y="10544"/>
                  </a:lnTo>
                  <a:lnTo>
                    <a:pt x="2829" y="21987"/>
                  </a:lnTo>
                  <a:lnTo>
                    <a:pt x="0" y="36000"/>
                  </a:lnTo>
                  <a:lnTo>
                    <a:pt x="0" y="904624"/>
                  </a:lnTo>
                  <a:lnTo>
                    <a:pt x="2829" y="918637"/>
                  </a:lnTo>
                  <a:lnTo>
                    <a:pt x="10544" y="930080"/>
                  </a:lnTo>
                  <a:lnTo>
                    <a:pt x="21987" y="937795"/>
                  </a:lnTo>
                  <a:lnTo>
                    <a:pt x="36000" y="940624"/>
                  </a:lnTo>
                  <a:lnTo>
                    <a:pt x="5724074" y="940624"/>
                  </a:lnTo>
                  <a:lnTo>
                    <a:pt x="5738087" y="937795"/>
                  </a:lnTo>
                  <a:lnTo>
                    <a:pt x="5749530" y="930080"/>
                  </a:lnTo>
                  <a:lnTo>
                    <a:pt x="5757245" y="918637"/>
                  </a:lnTo>
                  <a:lnTo>
                    <a:pt x="5760074" y="90462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717184"/>
            <a:ext cx="5760085" cy="350520"/>
            <a:chOff x="899998" y="2717184"/>
            <a:chExt cx="5760085" cy="350520"/>
          </a:xfrm>
        </p:grpSpPr>
        <p:sp>
          <p:nvSpPr>
            <p:cNvPr id="6" name="object 6" descr=""/>
            <p:cNvSpPr/>
            <p:nvPr/>
          </p:nvSpPr>
          <p:spPr>
            <a:xfrm>
              <a:off x="899998" y="2717184"/>
              <a:ext cx="5760085" cy="350520"/>
            </a:xfrm>
            <a:custGeom>
              <a:avLst/>
              <a:gdLst/>
              <a:ahLst/>
              <a:cxnLst/>
              <a:rect l="l" t="t" r="r" b="b"/>
              <a:pathLst>
                <a:path w="5760084" h="350519">
                  <a:moveTo>
                    <a:pt x="5724074" y="0"/>
                  </a:moveTo>
                  <a:lnTo>
                    <a:pt x="36000" y="0"/>
                  </a:lnTo>
                  <a:lnTo>
                    <a:pt x="21987" y="2829"/>
                  </a:lnTo>
                  <a:lnTo>
                    <a:pt x="10544" y="10544"/>
                  </a:lnTo>
                  <a:lnTo>
                    <a:pt x="2829" y="21987"/>
                  </a:lnTo>
                  <a:lnTo>
                    <a:pt x="0" y="36000"/>
                  </a:lnTo>
                  <a:lnTo>
                    <a:pt x="0" y="314500"/>
                  </a:lnTo>
                  <a:lnTo>
                    <a:pt x="2829" y="328513"/>
                  </a:lnTo>
                  <a:lnTo>
                    <a:pt x="10544" y="339956"/>
                  </a:lnTo>
                  <a:lnTo>
                    <a:pt x="21987" y="347671"/>
                  </a:lnTo>
                  <a:lnTo>
                    <a:pt x="36000" y="350500"/>
                  </a:lnTo>
                  <a:lnTo>
                    <a:pt x="5724074" y="350500"/>
                  </a:lnTo>
                  <a:lnTo>
                    <a:pt x="5738087" y="347671"/>
                  </a:lnTo>
                  <a:lnTo>
                    <a:pt x="5749530" y="339956"/>
                  </a:lnTo>
                  <a:lnTo>
                    <a:pt x="5757245" y="328513"/>
                  </a:lnTo>
                  <a:lnTo>
                    <a:pt x="5760074" y="31450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717184"/>
              <a:ext cx="5760085" cy="350520"/>
            </a:xfrm>
            <a:custGeom>
              <a:avLst/>
              <a:gdLst/>
              <a:ahLst/>
              <a:cxnLst/>
              <a:rect l="l" t="t" r="r" b="b"/>
              <a:pathLst>
                <a:path w="5760084" h="350519">
                  <a:moveTo>
                    <a:pt x="5724074" y="0"/>
                  </a:moveTo>
                  <a:lnTo>
                    <a:pt x="36000" y="0"/>
                  </a:lnTo>
                  <a:lnTo>
                    <a:pt x="21987" y="2829"/>
                  </a:lnTo>
                  <a:lnTo>
                    <a:pt x="10544" y="10544"/>
                  </a:lnTo>
                  <a:lnTo>
                    <a:pt x="2829" y="21987"/>
                  </a:lnTo>
                  <a:lnTo>
                    <a:pt x="0" y="36000"/>
                  </a:lnTo>
                  <a:lnTo>
                    <a:pt x="0" y="314500"/>
                  </a:lnTo>
                  <a:lnTo>
                    <a:pt x="2829" y="328513"/>
                  </a:lnTo>
                  <a:lnTo>
                    <a:pt x="10544" y="339956"/>
                  </a:lnTo>
                  <a:lnTo>
                    <a:pt x="21987" y="347671"/>
                  </a:lnTo>
                  <a:lnTo>
                    <a:pt x="36000" y="350500"/>
                  </a:lnTo>
                  <a:lnTo>
                    <a:pt x="5724074" y="350500"/>
                  </a:lnTo>
                  <a:lnTo>
                    <a:pt x="5738087" y="347671"/>
                  </a:lnTo>
                  <a:lnTo>
                    <a:pt x="5749530" y="339956"/>
                  </a:lnTo>
                  <a:lnTo>
                    <a:pt x="5757245" y="328513"/>
                  </a:lnTo>
                  <a:lnTo>
                    <a:pt x="5760074" y="31450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8" name="object 8" descr=""/>
          <p:cNvSpPr txBox="1"/>
          <p:nvPr/>
        </p:nvSpPr>
        <p:spPr>
          <a:xfrm>
            <a:off x="874598" y="841750"/>
            <a:ext cx="5810885" cy="2130425"/>
          </a:xfrm>
          <a:prstGeom prst="rect">
            <a:avLst/>
          </a:prstGeom>
        </p:spPr>
        <p:txBody>
          <a:bodyPr wrap="square" lIns="0" tIns="12700" rIns="0" bIns="0" rtlCol="0" vert="horz">
            <a:spAutoFit/>
          </a:bodyPr>
          <a:lstStyle/>
          <a:p>
            <a:pPr marL="25400" marR="17780">
              <a:lnSpc>
                <a:spcPct val="129500"/>
              </a:lnSpc>
              <a:spcBef>
                <a:spcPts val="100"/>
              </a:spcBef>
            </a:pPr>
            <a:r>
              <a:rPr dirty="0" sz="1000" spc="10">
                <a:latin typeface="Times New Roman"/>
                <a:cs typeface="Times New Roman"/>
              </a:rPr>
              <a:t>handle</a:t>
            </a:r>
            <a:r>
              <a:rPr dirty="0" sz="1000" spc="110">
                <a:latin typeface="Times New Roman"/>
                <a:cs typeface="Times New Roman"/>
              </a:rPr>
              <a:t> </a:t>
            </a:r>
            <a:r>
              <a:rPr dirty="0" sz="1000" spc="10">
                <a:latin typeface="Times New Roman"/>
                <a:cs typeface="Times New Roman"/>
              </a:rPr>
              <a:t>dense</a:t>
            </a:r>
            <a:r>
              <a:rPr dirty="0" sz="1000" spc="110">
                <a:latin typeface="Times New Roman"/>
                <a:cs typeface="Times New Roman"/>
              </a:rPr>
              <a:t> </a:t>
            </a:r>
            <a:r>
              <a:rPr dirty="0" sz="1000">
                <a:latin typeface="Times New Roman"/>
                <a:cs typeface="Times New Roman"/>
              </a:rPr>
              <a:t>cross-</a:t>
            </a:r>
            <a:r>
              <a:rPr dirty="0" sz="1000" spc="10">
                <a:latin typeface="Times New Roman"/>
                <a:cs typeface="Times New Roman"/>
              </a:rPr>
              <a:t>modal</a:t>
            </a:r>
            <a:r>
              <a:rPr dirty="0" sz="1000" spc="110">
                <a:latin typeface="Times New Roman"/>
                <a:cs typeface="Times New Roman"/>
              </a:rPr>
              <a:t> </a:t>
            </a:r>
            <a:r>
              <a:rPr dirty="0" sz="1000" spc="10">
                <a:latin typeface="Times New Roman"/>
                <a:cs typeface="Times New Roman"/>
              </a:rPr>
              <a:t>interaction.</a:t>
            </a:r>
            <a:r>
              <a:rPr dirty="0" sz="1000" spc="295">
                <a:latin typeface="Times New Roman"/>
                <a:cs typeface="Times New Roman"/>
              </a:rPr>
              <a:t> </a:t>
            </a:r>
            <a:r>
              <a:rPr dirty="0" sz="1000" spc="10">
                <a:latin typeface="Times New Roman"/>
                <a:cs typeface="Times New Roman"/>
              </a:rPr>
              <a:t>More</a:t>
            </a:r>
            <a:r>
              <a:rPr dirty="0" sz="1000" spc="110">
                <a:latin typeface="Times New Roman"/>
                <a:cs typeface="Times New Roman"/>
              </a:rPr>
              <a:t> </a:t>
            </a:r>
            <a:r>
              <a:rPr dirty="0" sz="1000" spc="10">
                <a:latin typeface="Times New Roman"/>
                <a:cs typeface="Times New Roman"/>
              </a:rPr>
              <a:t>importantly,</a:t>
            </a:r>
            <a:r>
              <a:rPr dirty="0" sz="1000" spc="120">
                <a:latin typeface="Times New Roman"/>
                <a:cs typeface="Times New Roman"/>
              </a:rPr>
              <a:t> </a:t>
            </a:r>
            <a:r>
              <a:rPr dirty="0" sz="1000" spc="10">
                <a:latin typeface="Times New Roman"/>
                <a:cs typeface="Times New Roman"/>
              </a:rPr>
              <a:t>the</a:t>
            </a:r>
            <a:r>
              <a:rPr dirty="0" sz="1000" spc="110">
                <a:latin typeface="Times New Roman"/>
                <a:cs typeface="Times New Roman"/>
              </a:rPr>
              <a:t> </a:t>
            </a:r>
            <a:r>
              <a:rPr dirty="0" sz="1000" spc="10">
                <a:latin typeface="Times New Roman"/>
                <a:cs typeface="Times New Roman"/>
              </a:rPr>
              <a:t>module</a:t>
            </a:r>
            <a:r>
              <a:rPr dirty="0" sz="1000" spc="110">
                <a:latin typeface="Times New Roman"/>
                <a:cs typeface="Times New Roman"/>
              </a:rPr>
              <a:t> </a:t>
            </a:r>
            <a:r>
              <a:rPr dirty="0" sz="1000" spc="10">
                <a:latin typeface="Times New Roman"/>
                <a:cs typeface="Times New Roman"/>
              </a:rPr>
              <a:t>parameters</a:t>
            </a:r>
            <a:r>
              <a:rPr dirty="0" sz="1000" spc="110">
                <a:latin typeface="Times New Roman"/>
                <a:cs typeface="Times New Roman"/>
              </a:rPr>
              <a:t> </a:t>
            </a:r>
            <a:r>
              <a:rPr dirty="0" sz="1000" spc="10">
                <a:latin typeface="Times New Roman"/>
                <a:cs typeface="Times New Roman"/>
              </a:rPr>
              <a:t>are</a:t>
            </a:r>
            <a:r>
              <a:rPr dirty="0" sz="1000" spc="114">
                <a:latin typeface="Times New Roman"/>
                <a:cs typeface="Times New Roman"/>
              </a:rPr>
              <a:t> </a:t>
            </a:r>
            <a:r>
              <a:rPr dirty="0" sz="1000" spc="10">
                <a:latin typeface="Times New Roman"/>
                <a:cs typeface="Times New Roman"/>
              </a:rPr>
              <a:t>shared</a:t>
            </a:r>
            <a:r>
              <a:rPr dirty="0" sz="1000" spc="110">
                <a:latin typeface="Times New Roman"/>
                <a:cs typeface="Times New Roman"/>
              </a:rPr>
              <a:t> </a:t>
            </a:r>
            <a:r>
              <a:rPr dirty="0" sz="1000" spc="10">
                <a:latin typeface="Times New Roman"/>
                <a:cs typeface="Times New Roman"/>
              </a:rPr>
              <a:t>with</a:t>
            </a:r>
            <a:r>
              <a:rPr dirty="0" sz="1000" spc="110">
                <a:latin typeface="Times New Roman"/>
                <a:cs typeface="Times New Roman"/>
              </a:rPr>
              <a:t> </a:t>
            </a:r>
            <a:r>
              <a:rPr dirty="0" sz="1000" spc="-10">
                <a:latin typeface="Times New Roman"/>
                <a:cs typeface="Times New Roman"/>
              </a:rPr>
              <a:t>unimodal </a:t>
            </a:r>
            <a:r>
              <a:rPr dirty="0" sz="1000" spc="10">
                <a:latin typeface="Times New Roman"/>
                <a:cs typeface="Times New Roman"/>
              </a:rPr>
              <a:t>and</a:t>
            </a:r>
            <a:r>
              <a:rPr dirty="0" sz="1000" spc="85">
                <a:latin typeface="Times New Roman"/>
                <a:cs typeface="Times New Roman"/>
              </a:rPr>
              <a:t> </a:t>
            </a:r>
            <a:r>
              <a:rPr dirty="0" sz="1000" spc="10">
                <a:latin typeface="Times New Roman"/>
                <a:cs typeface="Times New Roman"/>
              </a:rPr>
              <a:t>multimodal</a:t>
            </a:r>
            <a:r>
              <a:rPr dirty="0" sz="1000" spc="85">
                <a:latin typeface="Times New Roman"/>
                <a:cs typeface="Times New Roman"/>
              </a:rPr>
              <a:t> </a:t>
            </a:r>
            <a:r>
              <a:rPr dirty="0" sz="1000" spc="10">
                <a:latin typeface="Times New Roman"/>
                <a:cs typeface="Times New Roman"/>
              </a:rPr>
              <a:t>loss,</a:t>
            </a:r>
            <a:r>
              <a:rPr dirty="0" sz="1000" spc="85">
                <a:latin typeface="Times New Roman"/>
                <a:cs typeface="Times New Roman"/>
              </a:rPr>
              <a:t> </a:t>
            </a:r>
            <a:r>
              <a:rPr dirty="0" sz="1000" spc="10">
                <a:latin typeface="Times New Roman"/>
                <a:cs typeface="Times New Roman"/>
              </a:rPr>
              <a:t>introducing</a:t>
            </a:r>
            <a:r>
              <a:rPr dirty="0" sz="1000" spc="90">
                <a:latin typeface="Times New Roman"/>
                <a:cs typeface="Times New Roman"/>
              </a:rPr>
              <a:t> </a:t>
            </a:r>
            <a:r>
              <a:rPr dirty="0" sz="1000" spc="10">
                <a:latin typeface="Times New Roman"/>
                <a:cs typeface="Times New Roman"/>
              </a:rPr>
              <a:t>no</a:t>
            </a:r>
            <a:r>
              <a:rPr dirty="0" sz="1000" spc="85">
                <a:latin typeface="Times New Roman"/>
                <a:cs typeface="Times New Roman"/>
              </a:rPr>
              <a:t> </a:t>
            </a:r>
            <a:r>
              <a:rPr dirty="0" sz="1000" spc="10">
                <a:latin typeface="Times New Roman"/>
                <a:cs typeface="Times New Roman"/>
              </a:rPr>
              <a:t>extra</a:t>
            </a:r>
            <a:r>
              <a:rPr dirty="0" sz="1000" spc="85">
                <a:latin typeface="Times New Roman"/>
                <a:cs typeface="Times New Roman"/>
              </a:rPr>
              <a:t> </a:t>
            </a:r>
            <a:r>
              <a:rPr dirty="0" sz="1000" spc="10">
                <a:latin typeface="Times New Roman"/>
                <a:cs typeface="Times New Roman"/>
              </a:rPr>
              <a:t>structure</a:t>
            </a:r>
            <a:r>
              <a:rPr dirty="0" sz="1000" spc="90">
                <a:latin typeface="Times New Roman"/>
                <a:cs typeface="Times New Roman"/>
              </a:rPr>
              <a:t> </a:t>
            </a:r>
            <a:r>
              <a:rPr dirty="0" sz="1000" spc="-10">
                <a:latin typeface="Times New Roman"/>
                <a:cs typeface="Times New Roman"/>
              </a:rPr>
              <a:t>complexity.</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205104" marR="197485">
              <a:lnSpc>
                <a:spcPct val="129500"/>
              </a:lnSpc>
            </a:pPr>
            <a:r>
              <a:rPr dirty="0" sz="1000" spc="-30">
                <a:latin typeface="SimSun"/>
                <a:cs typeface="SimSun"/>
              </a:rPr>
              <a:t>与现有为模态表示引入额外分类器的方法不同，所提出的解缠梯度学习通过模态随机失活技术 </a:t>
            </a:r>
            <a:r>
              <a:rPr dirty="0" sz="1000" spc="-5">
                <a:latin typeface="Times New Roman"/>
                <a:cs typeface="Times New Roman"/>
              </a:rPr>
              <a:t>[29, 31]</a:t>
            </a:r>
            <a:r>
              <a:rPr dirty="0" sz="1000" spc="-50">
                <a:latin typeface="Times New Roman"/>
                <a:cs typeface="Times New Roman"/>
              </a:rPr>
              <a:t> </a:t>
            </a:r>
            <a:r>
              <a:rPr dirty="0" sz="1000" spc="-70">
                <a:latin typeface="SimSun"/>
                <a:cs typeface="SimSun"/>
              </a:rPr>
              <a:t>来计算单峰损失。这保留了融合模块，并通过直接将其他模态表示设置为 </a:t>
            </a:r>
            <a:r>
              <a:rPr dirty="0" sz="1000" spc="-10">
                <a:latin typeface="Times New Roman"/>
                <a:cs typeface="Times New Roman"/>
              </a:rPr>
              <a:t>0</a:t>
            </a:r>
            <a:r>
              <a:rPr dirty="0" sz="1000" spc="-50">
                <a:latin typeface="Times New Roman"/>
                <a:cs typeface="Times New Roman"/>
              </a:rPr>
              <a:t> </a:t>
            </a:r>
            <a:r>
              <a:rPr dirty="0" sz="1000" spc="-45">
                <a:latin typeface="SimSun"/>
                <a:cs typeface="SimSun"/>
              </a:rPr>
              <a:t>来计算单峰损失。这</a:t>
            </a:r>
            <a:r>
              <a:rPr dirty="0" sz="1000" spc="-30">
                <a:latin typeface="SimSun"/>
                <a:cs typeface="SimSun"/>
              </a:rPr>
              <a:t>使得解缠梯度学习能够处理密集的跨模态交互。更重要的是，该模块参数在单峰和多峰损失之间共</a:t>
            </a:r>
            <a:r>
              <a:rPr dirty="0" sz="1000" spc="-10">
                <a:latin typeface="SimSun"/>
                <a:cs typeface="SimSun"/>
              </a:rPr>
              <a:t>享，不会引入额外的结构复杂性。</a:t>
            </a:r>
            <a:endParaRPr sz="1000">
              <a:latin typeface="SimSun"/>
              <a:cs typeface="SimSun"/>
            </a:endParaRPr>
          </a:p>
          <a:p>
            <a:pPr>
              <a:lnSpc>
                <a:spcPct val="100000"/>
              </a:lnSpc>
              <a:spcBef>
                <a:spcPts val="440"/>
              </a:spcBef>
            </a:pPr>
            <a:endParaRPr sz="1000">
              <a:latin typeface="SimSun"/>
              <a:cs typeface="SimSun"/>
            </a:endParaRPr>
          </a:p>
          <a:p>
            <a:pPr algn="just" marL="278130">
              <a:lnSpc>
                <a:spcPct val="100000"/>
              </a:lnSpc>
              <a:spcBef>
                <a:spcPts val="5"/>
              </a:spcBef>
            </a:pPr>
            <a:r>
              <a:rPr dirty="0" sz="1000" spc="-10">
                <a:latin typeface="Times New Roman"/>
                <a:cs typeface="Times New Roman"/>
              </a:rPr>
              <a:t>Specifically,</a:t>
            </a:r>
            <a:r>
              <a:rPr dirty="0" sz="1000" spc="40">
                <a:latin typeface="Times New Roman"/>
                <a:cs typeface="Times New Roman"/>
              </a:rPr>
              <a:t> </a:t>
            </a:r>
            <a:r>
              <a:rPr dirty="0" sz="1000">
                <a:latin typeface="Times New Roman"/>
                <a:cs typeface="Times New Roman"/>
              </a:rPr>
              <a:t>take</a:t>
            </a:r>
            <a:r>
              <a:rPr dirty="0" sz="1000" spc="40">
                <a:latin typeface="Times New Roman"/>
                <a:cs typeface="Times New Roman"/>
              </a:rPr>
              <a:t> </a:t>
            </a:r>
            <a:r>
              <a:rPr dirty="0" sz="1000">
                <a:latin typeface="Times New Roman"/>
                <a:cs typeface="Times New Roman"/>
              </a:rPr>
              <a:t>encoder</a:t>
            </a:r>
            <a:r>
              <a:rPr dirty="0" sz="1000" spc="40">
                <a:latin typeface="Times New Roman"/>
                <a:cs typeface="Times New Roman"/>
              </a:rPr>
              <a:t> </a:t>
            </a:r>
            <a:r>
              <a:rPr dirty="0" sz="1000" spc="-10">
                <a:latin typeface="Cambria"/>
                <a:cs typeface="Cambria"/>
              </a:rPr>
              <a:t>𝜑</a:t>
            </a:r>
            <a:r>
              <a:rPr dirty="0" baseline="-15873" sz="1050" spc="-15">
                <a:latin typeface="Cambria"/>
                <a:cs typeface="Cambria"/>
              </a:rPr>
              <a:t>1</a:t>
            </a:r>
            <a:r>
              <a:rPr dirty="0" baseline="-15873" sz="1050" spc="172">
                <a:latin typeface="Cambria"/>
                <a:cs typeface="Cambria"/>
              </a:rPr>
              <a:t> </a:t>
            </a:r>
            <a:r>
              <a:rPr dirty="0" sz="1000" spc="-10">
                <a:latin typeface="Cambria"/>
                <a:cs typeface="Cambria"/>
              </a:rPr>
              <a:t>(𝜃</a:t>
            </a:r>
            <a:r>
              <a:rPr dirty="0" baseline="-15873" sz="1050" spc="-15">
                <a:latin typeface="Cambria"/>
                <a:cs typeface="Cambria"/>
              </a:rPr>
              <a:t>1</a:t>
            </a:r>
            <a:r>
              <a:rPr dirty="0" sz="1000" spc="-10">
                <a:latin typeface="Cambria"/>
                <a:cs typeface="Cambria"/>
              </a:rPr>
              <a:t>, </a:t>
            </a:r>
            <a:r>
              <a:rPr dirty="0" sz="1000">
                <a:latin typeface="Cambria"/>
                <a:cs typeface="Cambria"/>
              </a:rPr>
              <a:t>⋅)</a:t>
            </a:r>
            <a:r>
              <a:rPr dirty="0" sz="1000" spc="75">
                <a:latin typeface="Cambria"/>
                <a:cs typeface="Cambria"/>
              </a:rPr>
              <a:t> </a:t>
            </a:r>
            <a:r>
              <a:rPr dirty="0" sz="1000">
                <a:latin typeface="Times New Roman"/>
                <a:cs typeface="Times New Roman"/>
              </a:rPr>
              <a:t>as</a:t>
            </a:r>
            <a:r>
              <a:rPr dirty="0" sz="1000" spc="40">
                <a:latin typeface="Times New Roman"/>
                <a:cs typeface="Times New Roman"/>
              </a:rPr>
              <a:t> </a:t>
            </a:r>
            <a:r>
              <a:rPr dirty="0" sz="1000">
                <a:latin typeface="Times New Roman"/>
                <a:cs typeface="Times New Roman"/>
              </a:rPr>
              <a:t>an</a:t>
            </a:r>
            <a:r>
              <a:rPr dirty="0" sz="1000" spc="40">
                <a:latin typeface="Times New Roman"/>
                <a:cs typeface="Times New Roman"/>
              </a:rPr>
              <a:t> </a:t>
            </a:r>
            <a:r>
              <a:rPr dirty="0" sz="1000">
                <a:latin typeface="Times New Roman"/>
                <a:cs typeface="Times New Roman"/>
              </a:rPr>
              <a:t>example,</a:t>
            </a:r>
            <a:r>
              <a:rPr dirty="0" sz="1000" spc="40">
                <a:latin typeface="Times New Roman"/>
                <a:cs typeface="Times New Roman"/>
              </a:rPr>
              <a:t> </a:t>
            </a:r>
            <a:r>
              <a:rPr dirty="0" sz="1000">
                <a:latin typeface="Times New Roman"/>
                <a:cs typeface="Times New Roman"/>
              </a:rPr>
              <a:t>its</a:t>
            </a:r>
            <a:r>
              <a:rPr dirty="0" sz="1000" spc="45">
                <a:latin typeface="Times New Roman"/>
                <a:cs typeface="Times New Roman"/>
              </a:rPr>
              <a:t> </a:t>
            </a:r>
            <a:r>
              <a:rPr dirty="0" sz="1000">
                <a:latin typeface="Times New Roman"/>
                <a:cs typeface="Times New Roman"/>
              </a:rPr>
              <a:t>unimodal</a:t>
            </a:r>
            <a:r>
              <a:rPr dirty="0" sz="1000" spc="40">
                <a:latin typeface="Times New Roman"/>
                <a:cs typeface="Times New Roman"/>
              </a:rPr>
              <a:t> </a:t>
            </a:r>
            <a:r>
              <a:rPr dirty="0" sz="1000">
                <a:latin typeface="Times New Roman"/>
                <a:cs typeface="Times New Roman"/>
              </a:rPr>
              <a:t>loss</a:t>
            </a:r>
            <a:r>
              <a:rPr dirty="0" sz="1000" spc="40">
                <a:latin typeface="Times New Roman"/>
                <a:cs typeface="Times New Roman"/>
              </a:rPr>
              <a:t> </a:t>
            </a:r>
            <a:r>
              <a:rPr dirty="0" sz="1000">
                <a:latin typeface="Times New Roman"/>
                <a:cs typeface="Times New Roman"/>
              </a:rPr>
              <a:t>is</a:t>
            </a:r>
            <a:r>
              <a:rPr dirty="0" sz="1000" spc="40">
                <a:latin typeface="Times New Roman"/>
                <a:cs typeface="Times New Roman"/>
              </a:rPr>
              <a:t> </a:t>
            </a:r>
            <a:r>
              <a:rPr dirty="0" sz="1000">
                <a:latin typeface="Times New Roman"/>
                <a:cs typeface="Times New Roman"/>
              </a:rPr>
              <a:t>defined</a:t>
            </a:r>
            <a:r>
              <a:rPr dirty="0" sz="1000" spc="45">
                <a:latin typeface="Times New Roman"/>
                <a:cs typeface="Times New Roman"/>
              </a:rPr>
              <a:t> </a:t>
            </a:r>
            <a:r>
              <a:rPr dirty="0" sz="1000">
                <a:latin typeface="Times New Roman"/>
                <a:cs typeface="Times New Roman"/>
              </a:rPr>
              <a:t>as</a:t>
            </a:r>
            <a:r>
              <a:rPr dirty="0" sz="1000" spc="40">
                <a:latin typeface="Times New Roman"/>
                <a:cs typeface="Times New Roman"/>
              </a:rPr>
              <a:t> </a:t>
            </a:r>
            <a:r>
              <a:rPr dirty="0" sz="1000" spc="-10">
                <a:latin typeface="Times New Roman"/>
                <a:cs typeface="Times New Roman"/>
              </a:rPr>
              <a:t>follows,</a:t>
            </a:r>
            <a:endParaRPr sz="1000">
              <a:latin typeface="Times New Roman"/>
              <a:cs typeface="Times New Roman"/>
            </a:endParaRPr>
          </a:p>
          <a:p>
            <a:pPr>
              <a:lnSpc>
                <a:spcPct val="100000"/>
              </a:lnSpc>
              <a:spcBef>
                <a:spcPts val="585"/>
              </a:spcBef>
            </a:pPr>
            <a:endParaRPr sz="1000">
              <a:latin typeface="Times New Roman"/>
              <a:cs typeface="Times New Roman"/>
            </a:endParaRPr>
          </a:p>
          <a:p>
            <a:pPr algn="just" marL="205104">
              <a:lnSpc>
                <a:spcPct val="100000"/>
              </a:lnSpc>
            </a:pPr>
            <a:r>
              <a:rPr dirty="0" sz="1000" spc="15">
                <a:latin typeface="SimSun"/>
                <a:cs typeface="SimSun"/>
              </a:rPr>
              <a:t>具体来说，以编码器</a:t>
            </a:r>
            <a:r>
              <a:rPr dirty="0" sz="1000" spc="-10">
                <a:latin typeface="Cambria"/>
                <a:cs typeface="Cambria"/>
              </a:rPr>
              <a:t>𝜑</a:t>
            </a:r>
            <a:r>
              <a:rPr dirty="0" baseline="-15873" sz="1050" spc="-15">
                <a:latin typeface="Cambria"/>
                <a:cs typeface="Cambria"/>
              </a:rPr>
              <a:t>1</a:t>
            </a:r>
            <a:r>
              <a:rPr dirty="0" baseline="-15873" sz="1050" spc="7">
                <a:latin typeface="Cambria"/>
                <a:cs typeface="Cambria"/>
              </a:rPr>
              <a:t> </a:t>
            </a:r>
            <a:r>
              <a:rPr dirty="0" sz="1000" spc="-10">
                <a:latin typeface="Cambria"/>
                <a:cs typeface="Cambria"/>
              </a:rPr>
              <a:t>(𝜃</a:t>
            </a:r>
            <a:r>
              <a:rPr dirty="0" baseline="-15873" sz="1050" spc="-15">
                <a:latin typeface="Cambria"/>
                <a:cs typeface="Cambria"/>
              </a:rPr>
              <a:t>1</a:t>
            </a:r>
            <a:r>
              <a:rPr dirty="0" sz="1000" spc="-25">
                <a:latin typeface="Cambria"/>
                <a:cs typeface="Cambria"/>
              </a:rPr>
              <a:t>, ⋅) </a:t>
            </a:r>
            <a:r>
              <a:rPr dirty="0" sz="1000" spc="-10">
                <a:latin typeface="SimSun"/>
                <a:cs typeface="SimSun"/>
              </a:rPr>
              <a:t>为例，其单峰损失定义如下</a:t>
            </a:r>
            <a:r>
              <a:rPr dirty="0" sz="1000" spc="-50">
                <a:latin typeface="Times New Roman"/>
                <a:cs typeface="Times New Roman"/>
              </a:rPr>
              <a:t>:</a:t>
            </a:r>
            <a:endParaRPr sz="1000">
              <a:latin typeface="Times New Roman"/>
              <a:cs typeface="Times New Roman"/>
            </a:endParaRPr>
          </a:p>
        </p:txBody>
      </p:sp>
      <p:sp>
        <p:nvSpPr>
          <p:cNvPr id="9" name="object 9" descr=""/>
          <p:cNvSpPr txBox="1"/>
          <p:nvPr/>
        </p:nvSpPr>
        <p:spPr>
          <a:xfrm>
            <a:off x="2929178" y="3409447"/>
            <a:ext cx="88900" cy="177800"/>
          </a:xfrm>
          <a:prstGeom prst="rect">
            <a:avLst/>
          </a:prstGeom>
        </p:spPr>
        <p:txBody>
          <a:bodyPr wrap="square" lIns="0" tIns="12065" rIns="0" bIns="0" rtlCol="0" vert="horz">
            <a:spAutoFit/>
          </a:bodyPr>
          <a:lstStyle/>
          <a:p>
            <a:pPr marL="12700">
              <a:lnSpc>
                <a:spcPct val="100000"/>
              </a:lnSpc>
              <a:spcBef>
                <a:spcPts val="95"/>
              </a:spcBef>
            </a:pPr>
            <a:r>
              <a:rPr dirty="0" sz="1000" spc="55">
                <a:latin typeface="Cambria"/>
                <a:cs typeface="Cambria"/>
              </a:rPr>
              <a:t>{</a:t>
            </a:r>
            <a:endParaRPr sz="1000">
              <a:latin typeface="Cambria"/>
              <a:cs typeface="Cambria"/>
            </a:endParaRPr>
          </a:p>
        </p:txBody>
      </p:sp>
      <p:sp>
        <p:nvSpPr>
          <p:cNvPr id="10" name="object 10" descr=""/>
          <p:cNvSpPr txBox="1"/>
          <p:nvPr/>
        </p:nvSpPr>
        <p:spPr>
          <a:xfrm>
            <a:off x="3114027" y="3308530"/>
            <a:ext cx="109855" cy="132080"/>
          </a:xfrm>
          <a:prstGeom prst="rect">
            <a:avLst/>
          </a:prstGeom>
        </p:spPr>
        <p:txBody>
          <a:bodyPr wrap="square" lIns="0" tIns="12065" rIns="0" bIns="0" rtlCol="0" vert="horz">
            <a:spAutoFit/>
          </a:bodyPr>
          <a:lstStyle/>
          <a:p>
            <a:pPr marL="12700">
              <a:lnSpc>
                <a:spcPct val="100000"/>
              </a:lnSpc>
              <a:spcBef>
                <a:spcPts val="95"/>
              </a:spcBef>
            </a:pPr>
            <a:r>
              <a:rPr dirty="0" sz="700" spc="25">
                <a:latin typeface="Cambria"/>
                <a:cs typeface="Cambria"/>
              </a:rPr>
              <a:t>𝑚</a:t>
            </a:r>
            <a:endParaRPr sz="700">
              <a:latin typeface="Cambria"/>
              <a:cs typeface="Cambria"/>
            </a:endParaRPr>
          </a:p>
        </p:txBody>
      </p:sp>
      <p:sp>
        <p:nvSpPr>
          <p:cNvPr id="11" name="object 11" descr=""/>
          <p:cNvSpPr txBox="1"/>
          <p:nvPr/>
        </p:nvSpPr>
        <p:spPr>
          <a:xfrm>
            <a:off x="3198431" y="3346113"/>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1</a:t>
            </a:r>
            <a:endParaRPr sz="550">
              <a:latin typeface="Cambria"/>
              <a:cs typeface="Cambria"/>
            </a:endParaRPr>
          </a:p>
        </p:txBody>
      </p:sp>
      <p:sp>
        <p:nvSpPr>
          <p:cNvPr id="12" name="object 12" descr=""/>
          <p:cNvSpPr txBox="1"/>
          <p:nvPr/>
        </p:nvSpPr>
        <p:spPr>
          <a:xfrm>
            <a:off x="3957789" y="3305203"/>
            <a:ext cx="117475" cy="132080"/>
          </a:xfrm>
          <a:prstGeom prst="rect">
            <a:avLst/>
          </a:prstGeom>
        </p:spPr>
        <p:txBody>
          <a:bodyPr wrap="square" lIns="0" tIns="12065" rIns="0" bIns="0" rtlCol="0" vert="horz">
            <a:spAutoFit/>
          </a:bodyPr>
          <a:lstStyle/>
          <a:p>
            <a:pPr marL="12700">
              <a:lnSpc>
                <a:spcPct val="100000"/>
              </a:lnSpc>
              <a:spcBef>
                <a:spcPts val="95"/>
              </a:spcBef>
            </a:pPr>
            <a:r>
              <a:rPr dirty="0" sz="700" spc="-25">
                <a:latin typeface="Cambria"/>
                <a:cs typeface="Cambria"/>
              </a:rPr>
              <a:t>𝜏1</a:t>
            </a:r>
            <a:endParaRPr sz="700">
              <a:latin typeface="Cambria"/>
              <a:cs typeface="Cambria"/>
            </a:endParaRPr>
          </a:p>
        </p:txBody>
      </p:sp>
      <p:sp>
        <p:nvSpPr>
          <p:cNvPr id="13" name="object 13" descr=""/>
          <p:cNvSpPr txBox="1"/>
          <p:nvPr/>
        </p:nvSpPr>
        <p:spPr>
          <a:xfrm>
            <a:off x="3483521" y="3388667"/>
            <a:ext cx="964565" cy="132080"/>
          </a:xfrm>
          <a:prstGeom prst="rect">
            <a:avLst/>
          </a:prstGeom>
        </p:spPr>
        <p:txBody>
          <a:bodyPr wrap="square" lIns="0" tIns="12065" rIns="0" bIns="0" rtlCol="0" vert="horz">
            <a:spAutoFit/>
          </a:bodyPr>
          <a:lstStyle/>
          <a:p>
            <a:pPr marL="12700">
              <a:lnSpc>
                <a:spcPct val="100000"/>
              </a:lnSpc>
              <a:spcBef>
                <a:spcPts val="95"/>
              </a:spcBef>
              <a:tabLst>
                <a:tab pos="485140" algn="l"/>
                <a:tab pos="922655" algn="l"/>
              </a:tabLst>
            </a:pPr>
            <a:r>
              <a:rPr dirty="0" baseline="3968" sz="1050" spc="112">
                <a:latin typeface="Cambria"/>
                <a:cs typeface="Cambria"/>
              </a:rPr>
              <a:t>𝐶𝐸</a:t>
            </a:r>
            <a:r>
              <a:rPr dirty="0" baseline="3968" sz="1050">
                <a:latin typeface="Cambria"/>
                <a:cs typeface="Cambria"/>
              </a:rPr>
              <a:t>	</a:t>
            </a:r>
            <a:r>
              <a:rPr dirty="0" sz="700" spc="-50">
                <a:latin typeface="Cambria"/>
                <a:cs typeface="Cambria"/>
              </a:rPr>
              <a:t>𝑖</a:t>
            </a:r>
            <a:r>
              <a:rPr dirty="0" sz="700">
                <a:latin typeface="Cambria"/>
                <a:cs typeface="Cambria"/>
              </a:rPr>
              <a:t>	</a:t>
            </a:r>
            <a:r>
              <a:rPr dirty="0" baseline="3968" sz="1050" spc="-75">
                <a:latin typeface="Cambria"/>
                <a:cs typeface="Cambria"/>
              </a:rPr>
              <a:t>𝑖</a:t>
            </a:r>
            <a:endParaRPr baseline="3968" sz="1050">
              <a:latin typeface="Cambria"/>
              <a:cs typeface="Cambria"/>
            </a:endParaRPr>
          </a:p>
        </p:txBody>
      </p:sp>
      <p:sp>
        <p:nvSpPr>
          <p:cNvPr id="14" name="object 14" descr=""/>
          <p:cNvSpPr txBox="1"/>
          <p:nvPr/>
        </p:nvSpPr>
        <p:spPr>
          <a:xfrm>
            <a:off x="3055823" y="3317639"/>
            <a:ext cx="1496695" cy="177800"/>
          </a:xfrm>
          <a:prstGeom prst="rect">
            <a:avLst/>
          </a:prstGeom>
        </p:spPr>
        <p:txBody>
          <a:bodyPr wrap="square" lIns="0" tIns="12065" rIns="0" bIns="0" rtlCol="0" vert="horz">
            <a:spAutoFit/>
          </a:bodyPr>
          <a:lstStyle/>
          <a:p>
            <a:pPr marL="12700">
              <a:lnSpc>
                <a:spcPct val="100000"/>
              </a:lnSpc>
              <a:spcBef>
                <a:spcPts val="95"/>
              </a:spcBef>
              <a:tabLst>
                <a:tab pos="241935" algn="l"/>
                <a:tab pos="605155" algn="l"/>
                <a:tab pos="1040765" algn="l"/>
              </a:tabLst>
            </a:pPr>
            <a:r>
              <a:rPr dirty="0" sz="1000" spc="-50">
                <a:latin typeface="Cambria"/>
                <a:cs typeface="Cambria"/>
              </a:rPr>
              <a:t>𝐿</a:t>
            </a:r>
            <a:r>
              <a:rPr dirty="0" sz="1000">
                <a:latin typeface="Cambria"/>
                <a:cs typeface="Cambria"/>
              </a:rPr>
              <a:t>	</a:t>
            </a:r>
            <a:r>
              <a:rPr dirty="0" sz="1000" spc="165">
                <a:latin typeface="Cambria"/>
                <a:cs typeface="Cambria"/>
              </a:rPr>
              <a:t>=</a:t>
            </a:r>
            <a:r>
              <a:rPr dirty="0" sz="1000" spc="55">
                <a:latin typeface="Cambria"/>
                <a:cs typeface="Cambria"/>
              </a:rPr>
              <a:t> </a:t>
            </a:r>
            <a:r>
              <a:rPr dirty="0" sz="1000" spc="-50">
                <a:latin typeface="Cambria"/>
                <a:cs typeface="Cambria"/>
              </a:rPr>
              <a:t>𝐿</a:t>
            </a:r>
            <a:r>
              <a:rPr dirty="0" sz="1000">
                <a:latin typeface="Cambria"/>
                <a:cs typeface="Cambria"/>
              </a:rPr>
              <a:t>	(𝑊</a:t>
            </a:r>
            <a:r>
              <a:rPr dirty="0" sz="1000" spc="-15">
                <a:latin typeface="Cambria"/>
                <a:cs typeface="Cambria"/>
              </a:rPr>
              <a:t> </a:t>
            </a:r>
            <a:r>
              <a:rPr dirty="0" sz="1000" spc="-25">
                <a:latin typeface="Cambria"/>
                <a:cs typeface="Cambria"/>
              </a:rPr>
              <a:t>(𝑧</a:t>
            </a:r>
            <a:r>
              <a:rPr dirty="0" sz="1000">
                <a:latin typeface="Cambria"/>
                <a:cs typeface="Cambria"/>
              </a:rPr>
              <a:t>	</a:t>
            </a:r>
            <a:r>
              <a:rPr dirty="0" sz="1000" spc="165">
                <a:latin typeface="Cambria"/>
                <a:cs typeface="Cambria"/>
              </a:rPr>
              <a:t>+</a:t>
            </a:r>
            <a:r>
              <a:rPr dirty="0" sz="1000" spc="-15">
                <a:latin typeface="Cambria"/>
                <a:cs typeface="Cambria"/>
              </a:rPr>
              <a:t> </a:t>
            </a:r>
            <a:r>
              <a:rPr dirty="0" sz="1000">
                <a:latin typeface="Cambria"/>
                <a:cs typeface="Cambria"/>
              </a:rPr>
              <a:t>𝑏,</a:t>
            </a:r>
            <a:r>
              <a:rPr dirty="0" sz="1000" spc="-55">
                <a:latin typeface="Cambria"/>
                <a:cs typeface="Cambria"/>
              </a:rPr>
              <a:t> </a:t>
            </a:r>
            <a:r>
              <a:rPr dirty="0" sz="1000">
                <a:latin typeface="Cambria"/>
                <a:cs typeface="Cambria"/>
              </a:rPr>
              <a:t>𝑦</a:t>
            </a:r>
            <a:r>
              <a:rPr dirty="0" sz="1000" spc="120">
                <a:latin typeface="Cambria"/>
                <a:cs typeface="Cambria"/>
              </a:rPr>
              <a:t> </a:t>
            </a:r>
            <a:r>
              <a:rPr dirty="0" sz="1000" spc="-25">
                <a:latin typeface="Cambria"/>
                <a:cs typeface="Cambria"/>
              </a:rPr>
              <a:t>))</a:t>
            </a:r>
            <a:endParaRPr sz="1000">
              <a:latin typeface="Cambria"/>
              <a:cs typeface="Cambria"/>
            </a:endParaRPr>
          </a:p>
        </p:txBody>
      </p:sp>
      <p:sp>
        <p:nvSpPr>
          <p:cNvPr id="15" name="object 15" descr=""/>
          <p:cNvSpPr txBox="1"/>
          <p:nvPr/>
        </p:nvSpPr>
        <p:spPr>
          <a:xfrm>
            <a:off x="3809034" y="3484781"/>
            <a:ext cx="97155" cy="132080"/>
          </a:xfrm>
          <a:prstGeom prst="rect">
            <a:avLst/>
          </a:prstGeom>
        </p:spPr>
        <p:txBody>
          <a:bodyPr wrap="square" lIns="0" tIns="12065" rIns="0" bIns="0" rtlCol="0" vert="horz">
            <a:spAutoFit/>
          </a:bodyPr>
          <a:lstStyle/>
          <a:p>
            <a:pPr marL="12700">
              <a:lnSpc>
                <a:spcPct val="100000"/>
              </a:lnSpc>
              <a:spcBef>
                <a:spcPts val="95"/>
              </a:spcBef>
            </a:pPr>
            <a:r>
              <a:rPr dirty="0" sz="700" spc="-350">
                <a:latin typeface="Cambria"/>
                <a:cs typeface="Cambria"/>
              </a:rPr>
              <a:t>𝑚</a:t>
            </a:r>
            <a:endParaRPr sz="700">
              <a:latin typeface="Cambria"/>
              <a:cs typeface="Cambria"/>
            </a:endParaRPr>
          </a:p>
        </p:txBody>
      </p:sp>
      <p:sp>
        <p:nvSpPr>
          <p:cNvPr id="16" name="object 16" descr=""/>
          <p:cNvSpPr txBox="1"/>
          <p:nvPr/>
        </p:nvSpPr>
        <p:spPr>
          <a:xfrm>
            <a:off x="3030423" y="3515022"/>
            <a:ext cx="1129030" cy="177800"/>
          </a:xfrm>
          <a:prstGeom prst="rect">
            <a:avLst/>
          </a:prstGeom>
        </p:spPr>
        <p:txBody>
          <a:bodyPr wrap="square" lIns="0" tIns="12065" rIns="0" bIns="0" rtlCol="0" vert="horz">
            <a:spAutoFit/>
          </a:bodyPr>
          <a:lstStyle/>
          <a:p>
            <a:pPr marL="38100">
              <a:lnSpc>
                <a:spcPct val="100000"/>
              </a:lnSpc>
              <a:spcBef>
                <a:spcPts val="95"/>
              </a:spcBef>
            </a:pPr>
            <a:r>
              <a:rPr dirty="0" sz="1000" spc="-35">
                <a:latin typeface="Cambria"/>
                <a:cs typeface="Cambria"/>
              </a:rPr>
              <a:t>𝑧</a:t>
            </a:r>
            <a:r>
              <a:rPr dirty="0" baseline="-19841" sz="1050" spc="-52">
                <a:latin typeface="Cambria"/>
                <a:cs typeface="Cambria"/>
              </a:rPr>
              <a:t>𝑖</a:t>
            </a:r>
            <a:r>
              <a:rPr dirty="0" baseline="31746" sz="1050" spc="-52">
                <a:latin typeface="Cambria"/>
                <a:cs typeface="Cambria"/>
              </a:rPr>
              <a:t>𝜏1</a:t>
            </a:r>
            <a:r>
              <a:rPr dirty="0" baseline="31746" sz="1050" spc="240">
                <a:latin typeface="Cambria"/>
                <a:cs typeface="Cambria"/>
              </a:rPr>
              <a:t> </a:t>
            </a:r>
            <a:r>
              <a:rPr dirty="0" sz="1000" spc="165">
                <a:latin typeface="Cambria"/>
                <a:cs typeface="Cambria"/>
              </a:rPr>
              <a:t>=</a:t>
            </a:r>
            <a:r>
              <a:rPr dirty="0" sz="1000" spc="55">
                <a:latin typeface="Cambria"/>
                <a:cs typeface="Cambria"/>
              </a:rPr>
              <a:t> </a:t>
            </a:r>
            <a:r>
              <a:rPr dirty="0" sz="1000">
                <a:latin typeface="Cambria"/>
                <a:cs typeface="Cambria"/>
              </a:rPr>
              <a:t>𝜑</a:t>
            </a:r>
            <a:r>
              <a:rPr dirty="0" baseline="-15873" sz="1050">
                <a:latin typeface="Cambria"/>
                <a:cs typeface="Cambria"/>
              </a:rPr>
              <a:t>𝜏</a:t>
            </a:r>
            <a:r>
              <a:rPr dirty="0" baseline="-15873" sz="1050" spc="89">
                <a:latin typeface="Cambria"/>
                <a:cs typeface="Cambria"/>
              </a:rPr>
              <a:t> </a:t>
            </a:r>
            <a:r>
              <a:rPr dirty="0" sz="1000">
                <a:latin typeface="Cambria"/>
                <a:cs typeface="Cambria"/>
              </a:rPr>
              <a:t>(𝜃</a:t>
            </a:r>
            <a:r>
              <a:rPr dirty="0" baseline="-15873" sz="1050">
                <a:latin typeface="Cambria"/>
                <a:cs typeface="Cambria"/>
              </a:rPr>
              <a:t>𝜏</a:t>
            </a:r>
            <a:r>
              <a:rPr dirty="0" sz="1000">
                <a:latin typeface="Cambria"/>
                <a:cs typeface="Cambria"/>
              </a:rPr>
              <a:t>,</a:t>
            </a:r>
            <a:r>
              <a:rPr dirty="0" sz="1000" spc="-55">
                <a:latin typeface="Cambria"/>
                <a:cs typeface="Cambria"/>
              </a:rPr>
              <a:t> </a:t>
            </a:r>
            <a:r>
              <a:rPr dirty="0" sz="1000">
                <a:latin typeface="Cambria"/>
                <a:cs typeface="Cambria"/>
              </a:rPr>
              <a:t>𝑧</a:t>
            </a:r>
            <a:r>
              <a:rPr dirty="0" baseline="-19841" sz="1050">
                <a:latin typeface="Cambria"/>
                <a:cs typeface="Cambria"/>
              </a:rPr>
              <a:t>𝑖</a:t>
            </a:r>
            <a:r>
              <a:rPr dirty="0" baseline="-19841" sz="1050" spc="412">
                <a:latin typeface="Cambria"/>
                <a:cs typeface="Cambria"/>
              </a:rPr>
              <a:t> </a:t>
            </a:r>
            <a:r>
              <a:rPr dirty="0" baseline="40404" sz="825">
                <a:latin typeface="Cambria"/>
                <a:cs typeface="Cambria"/>
              </a:rPr>
              <a:t>1</a:t>
            </a:r>
            <a:r>
              <a:rPr dirty="0" baseline="40404" sz="825" spc="-37">
                <a:latin typeface="Cambria"/>
                <a:cs typeface="Cambria"/>
              </a:rPr>
              <a:t> </a:t>
            </a:r>
            <a:r>
              <a:rPr dirty="0" sz="1000">
                <a:latin typeface="Cambria"/>
                <a:cs typeface="Cambria"/>
              </a:rPr>
              <a:t>,</a:t>
            </a:r>
            <a:r>
              <a:rPr dirty="0" sz="1000" spc="-55">
                <a:latin typeface="Cambria"/>
                <a:cs typeface="Cambria"/>
              </a:rPr>
              <a:t> </a:t>
            </a:r>
            <a:r>
              <a:rPr dirty="0" sz="1000" spc="-25">
                <a:latin typeface="Cambria"/>
                <a:cs typeface="Cambria"/>
              </a:rPr>
              <a:t>0)</a:t>
            </a:r>
            <a:endParaRPr sz="1000">
              <a:latin typeface="Cambria"/>
              <a:cs typeface="Cambria"/>
            </a:endParaRPr>
          </a:p>
        </p:txBody>
      </p:sp>
      <p:sp>
        <p:nvSpPr>
          <p:cNvPr id="17" name="object 17" descr=""/>
          <p:cNvSpPr txBox="1"/>
          <p:nvPr/>
        </p:nvSpPr>
        <p:spPr>
          <a:xfrm>
            <a:off x="6435242" y="3407987"/>
            <a:ext cx="237490" cy="177800"/>
          </a:xfrm>
          <a:prstGeom prst="rect">
            <a:avLst/>
          </a:prstGeom>
        </p:spPr>
        <p:txBody>
          <a:bodyPr wrap="square" lIns="0" tIns="12065" rIns="0" bIns="0" rtlCol="0" vert="horz">
            <a:spAutoFit/>
          </a:bodyPr>
          <a:lstStyle/>
          <a:p>
            <a:pPr marL="12700">
              <a:lnSpc>
                <a:spcPct val="100000"/>
              </a:lnSpc>
              <a:spcBef>
                <a:spcPts val="95"/>
              </a:spcBef>
            </a:pPr>
            <a:r>
              <a:rPr dirty="0" sz="1000" spc="-20">
                <a:latin typeface="Times New Roman"/>
                <a:cs typeface="Times New Roman"/>
              </a:rPr>
              <a:t>(11)</a:t>
            </a:r>
            <a:endParaRPr sz="1000">
              <a:latin typeface="Times New Roman"/>
              <a:cs typeface="Times New Roman"/>
            </a:endParaRPr>
          </a:p>
        </p:txBody>
      </p:sp>
      <p:grpSp>
        <p:nvGrpSpPr>
          <p:cNvPr id="18" name="object 18" descr=""/>
          <p:cNvGrpSpPr/>
          <p:nvPr/>
        </p:nvGrpSpPr>
        <p:grpSpPr>
          <a:xfrm>
            <a:off x="899998" y="4248166"/>
            <a:ext cx="5760085" cy="355600"/>
            <a:chOff x="899998" y="4248166"/>
            <a:chExt cx="5760085" cy="355600"/>
          </a:xfrm>
        </p:grpSpPr>
        <p:sp>
          <p:nvSpPr>
            <p:cNvPr id="19" name="object 19" descr=""/>
            <p:cNvSpPr/>
            <p:nvPr/>
          </p:nvSpPr>
          <p:spPr>
            <a:xfrm>
              <a:off x="899998" y="4248166"/>
              <a:ext cx="5760085" cy="355600"/>
            </a:xfrm>
            <a:custGeom>
              <a:avLst/>
              <a:gdLst/>
              <a:ahLst/>
              <a:cxnLst/>
              <a:rect l="l" t="t" r="r" b="b"/>
              <a:pathLst>
                <a:path w="5760084" h="355600">
                  <a:moveTo>
                    <a:pt x="5724074" y="0"/>
                  </a:moveTo>
                  <a:lnTo>
                    <a:pt x="36000" y="0"/>
                  </a:lnTo>
                  <a:lnTo>
                    <a:pt x="21987" y="2829"/>
                  </a:lnTo>
                  <a:lnTo>
                    <a:pt x="10544" y="10544"/>
                  </a:lnTo>
                  <a:lnTo>
                    <a:pt x="2829" y="21987"/>
                  </a:lnTo>
                  <a:lnTo>
                    <a:pt x="0" y="36000"/>
                  </a:lnTo>
                  <a:lnTo>
                    <a:pt x="0" y="318999"/>
                  </a:lnTo>
                  <a:lnTo>
                    <a:pt x="2829" y="333012"/>
                  </a:lnTo>
                  <a:lnTo>
                    <a:pt x="10544" y="344455"/>
                  </a:lnTo>
                  <a:lnTo>
                    <a:pt x="21987" y="352170"/>
                  </a:lnTo>
                  <a:lnTo>
                    <a:pt x="36000" y="354999"/>
                  </a:lnTo>
                  <a:lnTo>
                    <a:pt x="5724074" y="354999"/>
                  </a:lnTo>
                  <a:lnTo>
                    <a:pt x="5738087" y="352170"/>
                  </a:lnTo>
                  <a:lnTo>
                    <a:pt x="5749530" y="344455"/>
                  </a:lnTo>
                  <a:lnTo>
                    <a:pt x="5757245" y="333012"/>
                  </a:lnTo>
                  <a:lnTo>
                    <a:pt x="5760074" y="31899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0" name="object 20" descr=""/>
            <p:cNvSpPr/>
            <p:nvPr/>
          </p:nvSpPr>
          <p:spPr>
            <a:xfrm>
              <a:off x="899998" y="4248166"/>
              <a:ext cx="5760085" cy="355600"/>
            </a:xfrm>
            <a:custGeom>
              <a:avLst/>
              <a:gdLst/>
              <a:ahLst/>
              <a:cxnLst/>
              <a:rect l="l" t="t" r="r" b="b"/>
              <a:pathLst>
                <a:path w="5760084" h="355600">
                  <a:moveTo>
                    <a:pt x="5724074" y="0"/>
                  </a:moveTo>
                  <a:lnTo>
                    <a:pt x="36000" y="0"/>
                  </a:lnTo>
                  <a:lnTo>
                    <a:pt x="21987" y="2829"/>
                  </a:lnTo>
                  <a:lnTo>
                    <a:pt x="10544" y="10544"/>
                  </a:lnTo>
                  <a:lnTo>
                    <a:pt x="2829" y="21987"/>
                  </a:lnTo>
                  <a:lnTo>
                    <a:pt x="0" y="36000"/>
                  </a:lnTo>
                  <a:lnTo>
                    <a:pt x="0" y="318999"/>
                  </a:lnTo>
                  <a:lnTo>
                    <a:pt x="2829" y="333012"/>
                  </a:lnTo>
                  <a:lnTo>
                    <a:pt x="10544" y="344455"/>
                  </a:lnTo>
                  <a:lnTo>
                    <a:pt x="21987" y="352170"/>
                  </a:lnTo>
                  <a:lnTo>
                    <a:pt x="36000" y="354999"/>
                  </a:lnTo>
                  <a:lnTo>
                    <a:pt x="5724074" y="354999"/>
                  </a:lnTo>
                  <a:lnTo>
                    <a:pt x="5738087" y="352170"/>
                  </a:lnTo>
                  <a:lnTo>
                    <a:pt x="5749530" y="344455"/>
                  </a:lnTo>
                  <a:lnTo>
                    <a:pt x="5757245" y="333012"/>
                  </a:lnTo>
                  <a:lnTo>
                    <a:pt x="5760074" y="31899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21" name="object 21" descr=""/>
          <p:cNvGrpSpPr/>
          <p:nvPr/>
        </p:nvGrpSpPr>
        <p:grpSpPr>
          <a:xfrm>
            <a:off x="899998" y="5195295"/>
            <a:ext cx="5760085" cy="554355"/>
            <a:chOff x="899998" y="5195295"/>
            <a:chExt cx="5760085" cy="554355"/>
          </a:xfrm>
        </p:grpSpPr>
        <p:sp>
          <p:nvSpPr>
            <p:cNvPr id="22" name="object 22" descr=""/>
            <p:cNvSpPr/>
            <p:nvPr/>
          </p:nvSpPr>
          <p:spPr>
            <a:xfrm>
              <a:off x="899998" y="5195295"/>
              <a:ext cx="5760085" cy="554355"/>
            </a:xfrm>
            <a:custGeom>
              <a:avLst/>
              <a:gdLst/>
              <a:ahLst/>
              <a:cxnLst/>
              <a:rect l="l" t="t" r="r" b="b"/>
              <a:pathLst>
                <a:path w="5760084" h="554354">
                  <a:moveTo>
                    <a:pt x="5724074" y="0"/>
                  </a:moveTo>
                  <a:lnTo>
                    <a:pt x="36000" y="0"/>
                  </a:lnTo>
                  <a:lnTo>
                    <a:pt x="21987" y="2829"/>
                  </a:lnTo>
                  <a:lnTo>
                    <a:pt x="10544" y="10544"/>
                  </a:lnTo>
                  <a:lnTo>
                    <a:pt x="2829" y="21987"/>
                  </a:lnTo>
                  <a:lnTo>
                    <a:pt x="0" y="36000"/>
                  </a:lnTo>
                  <a:lnTo>
                    <a:pt x="0" y="517842"/>
                  </a:lnTo>
                  <a:lnTo>
                    <a:pt x="2829" y="531855"/>
                  </a:lnTo>
                  <a:lnTo>
                    <a:pt x="10544" y="543298"/>
                  </a:lnTo>
                  <a:lnTo>
                    <a:pt x="21987" y="551013"/>
                  </a:lnTo>
                  <a:lnTo>
                    <a:pt x="36000" y="553842"/>
                  </a:lnTo>
                  <a:lnTo>
                    <a:pt x="5724074" y="553842"/>
                  </a:lnTo>
                  <a:lnTo>
                    <a:pt x="5738087" y="551013"/>
                  </a:lnTo>
                  <a:lnTo>
                    <a:pt x="5749530" y="543298"/>
                  </a:lnTo>
                  <a:lnTo>
                    <a:pt x="5757245" y="531855"/>
                  </a:lnTo>
                  <a:lnTo>
                    <a:pt x="5760074" y="51784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3" name="object 23" descr=""/>
            <p:cNvSpPr/>
            <p:nvPr/>
          </p:nvSpPr>
          <p:spPr>
            <a:xfrm>
              <a:off x="899998" y="5195295"/>
              <a:ext cx="5760085" cy="554355"/>
            </a:xfrm>
            <a:custGeom>
              <a:avLst/>
              <a:gdLst/>
              <a:ahLst/>
              <a:cxnLst/>
              <a:rect l="l" t="t" r="r" b="b"/>
              <a:pathLst>
                <a:path w="5760084" h="554354">
                  <a:moveTo>
                    <a:pt x="5724074" y="0"/>
                  </a:moveTo>
                  <a:lnTo>
                    <a:pt x="36000" y="0"/>
                  </a:lnTo>
                  <a:lnTo>
                    <a:pt x="21987" y="2829"/>
                  </a:lnTo>
                  <a:lnTo>
                    <a:pt x="10544" y="10544"/>
                  </a:lnTo>
                  <a:lnTo>
                    <a:pt x="2829" y="21987"/>
                  </a:lnTo>
                  <a:lnTo>
                    <a:pt x="0" y="36000"/>
                  </a:lnTo>
                  <a:lnTo>
                    <a:pt x="0" y="517842"/>
                  </a:lnTo>
                  <a:lnTo>
                    <a:pt x="2829" y="531855"/>
                  </a:lnTo>
                  <a:lnTo>
                    <a:pt x="10544" y="543298"/>
                  </a:lnTo>
                  <a:lnTo>
                    <a:pt x="21987" y="551013"/>
                  </a:lnTo>
                  <a:lnTo>
                    <a:pt x="36000" y="553842"/>
                  </a:lnTo>
                  <a:lnTo>
                    <a:pt x="5724074" y="553842"/>
                  </a:lnTo>
                  <a:lnTo>
                    <a:pt x="5738087" y="551013"/>
                  </a:lnTo>
                  <a:lnTo>
                    <a:pt x="5749530" y="543298"/>
                  </a:lnTo>
                  <a:lnTo>
                    <a:pt x="5757245" y="531855"/>
                  </a:lnTo>
                  <a:lnTo>
                    <a:pt x="5760074" y="51784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4" name="object 24" descr=""/>
          <p:cNvSpPr txBox="1"/>
          <p:nvPr/>
        </p:nvSpPr>
        <p:spPr>
          <a:xfrm>
            <a:off x="823798" y="3708101"/>
            <a:ext cx="5917565" cy="1945639"/>
          </a:xfrm>
          <a:prstGeom prst="rect">
            <a:avLst/>
          </a:prstGeom>
        </p:spPr>
        <p:txBody>
          <a:bodyPr wrap="square" lIns="0" tIns="57785" rIns="0" bIns="0" rtlCol="0" vert="horz">
            <a:spAutoFit/>
          </a:bodyPr>
          <a:lstStyle/>
          <a:p>
            <a:pPr marL="328930">
              <a:lnSpc>
                <a:spcPct val="100000"/>
              </a:lnSpc>
              <a:spcBef>
                <a:spcPts val="455"/>
              </a:spcBef>
            </a:pPr>
            <a:r>
              <a:rPr dirty="0" sz="1000" spc="-20">
                <a:latin typeface="Times New Roman"/>
                <a:cs typeface="Times New Roman"/>
              </a:rPr>
              <a:t>(12)</a:t>
            </a:r>
            <a:endParaRPr sz="1000">
              <a:latin typeface="Times New Roman"/>
              <a:cs typeface="Times New Roman"/>
            </a:endParaRPr>
          </a:p>
          <a:p>
            <a:pPr marL="328930">
              <a:lnSpc>
                <a:spcPct val="100000"/>
              </a:lnSpc>
              <a:spcBef>
                <a:spcPts val="355"/>
              </a:spcBef>
            </a:pPr>
            <a:r>
              <a:rPr dirty="0" sz="1000" spc="10">
                <a:latin typeface="Times New Roman"/>
                <a:cs typeface="Times New Roman"/>
              </a:rPr>
              <a:t>where</a:t>
            </a:r>
            <a:r>
              <a:rPr dirty="0" sz="1000" spc="25">
                <a:latin typeface="Times New Roman"/>
                <a:cs typeface="Times New Roman"/>
              </a:rPr>
              <a:t> </a:t>
            </a:r>
            <a:r>
              <a:rPr dirty="0" sz="1000" spc="10">
                <a:latin typeface="Times New Roman"/>
                <a:cs typeface="Times New Roman"/>
              </a:rPr>
              <a:t>the</a:t>
            </a:r>
            <a:r>
              <a:rPr dirty="0" sz="1000" spc="30">
                <a:latin typeface="Times New Roman"/>
                <a:cs typeface="Times New Roman"/>
              </a:rPr>
              <a:t> </a:t>
            </a:r>
            <a:r>
              <a:rPr dirty="0" sz="1000" spc="10">
                <a:latin typeface="Times New Roman"/>
                <a:cs typeface="Times New Roman"/>
              </a:rPr>
              <a:t>parameters</a:t>
            </a:r>
            <a:r>
              <a:rPr dirty="0" sz="1000" spc="30">
                <a:latin typeface="Times New Roman"/>
                <a:cs typeface="Times New Roman"/>
              </a:rPr>
              <a:t> </a:t>
            </a:r>
            <a:r>
              <a:rPr dirty="0" sz="1000" spc="10">
                <a:latin typeface="Cambria"/>
                <a:cs typeface="Cambria"/>
              </a:rPr>
              <a:t>𝜃</a:t>
            </a:r>
            <a:r>
              <a:rPr dirty="0" baseline="-15873" sz="1050" spc="15">
                <a:latin typeface="Cambria"/>
                <a:cs typeface="Cambria"/>
              </a:rPr>
              <a:t>𝜏</a:t>
            </a:r>
            <a:r>
              <a:rPr dirty="0" sz="1000" spc="10">
                <a:latin typeface="Cambria"/>
                <a:cs typeface="Cambria"/>
              </a:rPr>
              <a:t>,</a:t>
            </a:r>
            <a:r>
              <a:rPr dirty="0" sz="1000" spc="-15">
                <a:latin typeface="Cambria"/>
                <a:cs typeface="Cambria"/>
              </a:rPr>
              <a:t> </a:t>
            </a:r>
            <a:r>
              <a:rPr dirty="0" sz="1000" spc="10">
                <a:latin typeface="Cambria"/>
                <a:cs typeface="Cambria"/>
              </a:rPr>
              <a:t>𝑊</a:t>
            </a:r>
            <a:r>
              <a:rPr dirty="0" sz="1000" spc="185">
                <a:latin typeface="Cambria"/>
                <a:cs typeface="Cambria"/>
              </a:rPr>
              <a:t> </a:t>
            </a:r>
            <a:r>
              <a:rPr dirty="0" sz="1000" spc="10">
                <a:latin typeface="Times New Roman"/>
                <a:cs typeface="Times New Roman"/>
              </a:rPr>
              <a:t>and</a:t>
            </a:r>
            <a:r>
              <a:rPr dirty="0" sz="1000" spc="30">
                <a:latin typeface="Times New Roman"/>
                <a:cs typeface="Times New Roman"/>
              </a:rPr>
              <a:t> </a:t>
            </a:r>
            <a:r>
              <a:rPr dirty="0" sz="1000" spc="10">
                <a:latin typeface="Cambria"/>
                <a:cs typeface="Cambria"/>
              </a:rPr>
              <a:t>𝑏</a:t>
            </a:r>
            <a:r>
              <a:rPr dirty="0" sz="1000" spc="70">
                <a:latin typeface="Cambria"/>
                <a:cs typeface="Cambria"/>
              </a:rPr>
              <a:t> </a:t>
            </a:r>
            <a:r>
              <a:rPr dirty="0" sz="1000" spc="10">
                <a:latin typeface="Times New Roman"/>
                <a:cs typeface="Times New Roman"/>
              </a:rPr>
              <a:t>are</a:t>
            </a:r>
            <a:r>
              <a:rPr dirty="0" sz="1000" spc="30">
                <a:latin typeface="Times New Roman"/>
                <a:cs typeface="Times New Roman"/>
              </a:rPr>
              <a:t> </a:t>
            </a:r>
            <a:r>
              <a:rPr dirty="0" sz="1000" spc="10">
                <a:latin typeface="Times New Roman"/>
                <a:cs typeface="Times New Roman"/>
              </a:rPr>
              <a:t>shared</a:t>
            </a:r>
            <a:r>
              <a:rPr dirty="0" sz="1000" spc="30">
                <a:latin typeface="Times New Roman"/>
                <a:cs typeface="Times New Roman"/>
              </a:rPr>
              <a:t> </a:t>
            </a:r>
            <a:r>
              <a:rPr dirty="0" sz="1000" spc="10">
                <a:latin typeface="Times New Roman"/>
                <a:cs typeface="Times New Roman"/>
              </a:rPr>
              <a:t>with</a:t>
            </a:r>
            <a:r>
              <a:rPr dirty="0" sz="1000" spc="30">
                <a:latin typeface="Times New Roman"/>
                <a:cs typeface="Times New Roman"/>
              </a:rPr>
              <a:t> </a:t>
            </a:r>
            <a:r>
              <a:rPr dirty="0" sz="1000" spc="10">
                <a:latin typeface="Times New Roman"/>
                <a:cs typeface="Times New Roman"/>
              </a:rPr>
              <a:t>those</a:t>
            </a:r>
            <a:r>
              <a:rPr dirty="0" sz="1000" spc="35">
                <a:latin typeface="Times New Roman"/>
                <a:cs typeface="Times New Roman"/>
              </a:rPr>
              <a:t> </a:t>
            </a:r>
            <a:r>
              <a:rPr dirty="0" sz="1000" spc="10">
                <a:latin typeface="Times New Roman"/>
                <a:cs typeface="Times New Roman"/>
              </a:rPr>
              <a:t>in</a:t>
            </a:r>
            <a:r>
              <a:rPr dirty="0" sz="1000" spc="30">
                <a:latin typeface="Times New Roman"/>
                <a:cs typeface="Times New Roman"/>
              </a:rPr>
              <a:t> </a:t>
            </a:r>
            <a:r>
              <a:rPr dirty="0" sz="1000" spc="10">
                <a:latin typeface="Cambria"/>
                <a:cs typeface="Cambria"/>
              </a:rPr>
              <a:t>𝐿</a:t>
            </a:r>
            <a:r>
              <a:rPr dirty="0" baseline="27777" sz="1050" spc="15">
                <a:latin typeface="Cambria"/>
                <a:cs typeface="Cambria"/>
              </a:rPr>
              <a:t>𝑑</a:t>
            </a:r>
            <a:r>
              <a:rPr dirty="0" baseline="27777" sz="1050" spc="292">
                <a:latin typeface="Cambria"/>
                <a:cs typeface="Cambria"/>
              </a:rPr>
              <a:t> </a:t>
            </a:r>
            <a:r>
              <a:rPr dirty="0" sz="1000" spc="-50">
                <a:latin typeface="Times New Roman"/>
                <a:cs typeface="Times New Roman"/>
              </a:rPr>
              <a:t>.</a:t>
            </a:r>
            <a:endParaRPr sz="1000">
              <a:latin typeface="Times New Roman"/>
              <a:cs typeface="Times New Roman"/>
            </a:endParaRPr>
          </a:p>
          <a:p>
            <a:pPr>
              <a:lnSpc>
                <a:spcPct val="100000"/>
              </a:lnSpc>
              <a:spcBef>
                <a:spcPts val="620"/>
              </a:spcBef>
            </a:pPr>
            <a:endParaRPr sz="1000">
              <a:latin typeface="Times New Roman"/>
              <a:cs typeface="Times New Roman"/>
            </a:endParaRPr>
          </a:p>
          <a:p>
            <a:pPr marL="255904">
              <a:lnSpc>
                <a:spcPct val="100000"/>
              </a:lnSpc>
            </a:pPr>
            <a:r>
              <a:rPr dirty="0" sz="1000" spc="45">
                <a:latin typeface="SimSun"/>
                <a:cs typeface="SimSun"/>
              </a:rPr>
              <a:t>其中参数</a:t>
            </a:r>
            <a:r>
              <a:rPr dirty="0" sz="1000">
                <a:latin typeface="Cambria"/>
                <a:cs typeface="Cambria"/>
              </a:rPr>
              <a:t>𝜃</a:t>
            </a:r>
            <a:r>
              <a:rPr dirty="0" baseline="-15873" sz="1050">
                <a:latin typeface="Cambria"/>
                <a:cs typeface="Cambria"/>
              </a:rPr>
              <a:t>𝜏</a:t>
            </a:r>
            <a:r>
              <a:rPr dirty="0" sz="1000" spc="-30">
                <a:latin typeface="Cambria"/>
                <a:cs typeface="Cambria"/>
              </a:rPr>
              <a:t>, </a:t>
            </a:r>
            <a:r>
              <a:rPr dirty="0" sz="1000">
                <a:latin typeface="Cambria"/>
                <a:cs typeface="Cambria"/>
              </a:rPr>
              <a:t>𝑊</a:t>
            </a:r>
            <a:r>
              <a:rPr dirty="0" sz="1000" spc="60">
                <a:latin typeface="Cambria"/>
                <a:cs typeface="Cambria"/>
              </a:rPr>
              <a:t> </a:t>
            </a:r>
            <a:r>
              <a:rPr dirty="0" sz="1000" spc="220">
                <a:latin typeface="SimSun"/>
                <a:cs typeface="SimSun"/>
              </a:rPr>
              <a:t>和</a:t>
            </a:r>
            <a:r>
              <a:rPr dirty="0" sz="1000">
                <a:latin typeface="Cambria"/>
                <a:cs typeface="Cambria"/>
              </a:rPr>
              <a:t>𝑏</a:t>
            </a:r>
            <a:r>
              <a:rPr dirty="0" sz="1000" spc="-5">
                <a:latin typeface="Cambria"/>
                <a:cs typeface="Cambria"/>
              </a:rPr>
              <a:t> </a:t>
            </a:r>
            <a:r>
              <a:rPr dirty="0" sz="1000" spc="-140">
                <a:latin typeface="SimSun"/>
                <a:cs typeface="SimSun"/>
              </a:rPr>
              <a:t>与 </a:t>
            </a:r>
            <a:r>
              <a:rPr dirty="0" sz="1000">
                <a:latin typeface="Cambria"/>
                <a:cs typeface="Cambria"/>
              </a:rPr>
              <a:t>𝐿</a:t>
            </a:r>
            <a:r>
              <a:rPr dirty="0" baseline="27777" sz="1050">
                <a:latin typeface="Cambria"/>
                <a:cs typeface="Cambria"/>
              </a:rPr>
              <a:t>𝑑</a:t>
            </a:r>
            <a:r>
              <a:rPr dirty="0" baseline="27777" sz="1050" spc="172">
                <a:latin typeface="Cambria"/>
                <a:cs typeface="Cambria"/>
              </a:rPr>
              <a:t> </a:t>
            </a:r>
            <a:r>
              <a:rPr dirty="0" sz="1000" spc="-20">
                <a:latin typeface="SimSun"/>
                <a:cs typeface="SimSun"/>
              </a:rPr>
              <a:t>中的参数共享。</a:t>
            </a:r>
            <a:endParaRPr sz="1000">
              <a:latin typeface="SimSun"/>
              <a:cs typeface="SimSun"/>
            </a:endParaRPr>
          </a:p>
          <a:p>
            <a:pPr>
              <a:lnSpc>
                <a:spcPct val="100000"/>
              </a:lnSpc>
              <a:spcBef>
                <a:spcPts val="459"/>
              </a:spcBef>
            </a:pPr>
            <a:endParaRPr sz="1000">
              <a:latin typeface="SimSun"/>
              <a:cs typeface="SimSun"/>
            </a:endParaRPr>
          </a:p>
          <a:p>
            <a:pPr marL="328930">
              <a:lnSpc>
                <a:spcPct val="100000"/>
              </a:lnSpc>
            </a:pPr>
            <a:r>
              <a:rPr dirty="0" sz="1000">
                <a:latin typeface="Times New Roman"/>
                <a:cs typeface="Times New Roman"/>
              </a:rPr>
              <a:t>According</a:t>
            </a:r>
            <a:r>
              <a:rPr dirty="0" sz="1000" spc="70">
                <a:latin typeface="Times New Roman"/>
                <a:cs typeface="Times New Roman"/>
              </a:rPr>
              <a:t> </a:t>
            </a:r>
            <a:r>
              <a:rPr dirty="0" sz="1000">
                <a:latin typeface="Times New Roman"/>
                <a:cs typeface="Times New Roman"/>
              </a:rPr>
              <a:t>to</a:t>
            </a:r>
            <a:r>
              <a:rPr dirty="0" sz="1000" spc="70">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chain</a:t>
            </a:r>
            <a:r>
              <a:rPr dirty="0" sz="1000" spc="70">
                <a:latin typeface="Times New Roman"/>
                <a:cs typeface="Times New Roman"/>
              </a:rPr>
              <a:t> </a:t>
            </a:r>
            <a:r>
              <a:rPr dirty="0" sz="1000">
                <a:latin typeface="Times New Roman"/>
                <a:cs typeface="Times New Roman"/>
              </a:rPr>
              <a:t>rule,</a:t>
            </a:r>
            <a:r>
              <a:rPr dirty="0" sz="1000" spc="80">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gradient</a:t>
            </a:r>
            <a:r>
              <a:rPr dirty="0" sz="1000" spc="75">
                <a:latin typeface="Times New Roman"/>
                <a:cs typeface="Times New Roman"/>
              </a:rPr>
              <a:t> </a:t>
            </a:r>
            <a:r>
              <a:rPr dirty="0" sz="1000">
                <a:latin typeface="Times New Roman"/>
                <a:cs typeface="Times New Roman"/>
              </a:rPr>
              <a:t>passed</a:t>
            </a:r>
            <a:r>
              <a:rPr dirty="0" sz="1000" spc="70">
                <a:latin typeface="Times New Roman"/>
                <a:cs typeface="Times New Roman"/>
              </a:rPr>
              <a:t> </a:t>
            </a:r>
            <a:r>
              <a:rPr dirty="0" sz="1000">
                <a:latin typeface="Times New Roman"/>
                <a:cs typeface="Times New Roman"/>
              </a:rPr>
              <a:t>back</a:t>
            </a:r>
            <a:r>
              <a:rPr dirty="0" sz="1000" spc="70">
                <a:latin typeface="Times New Roman"/>
                <a:cs typeface="Times New Roman"/>
              </a:rPr>
              <a:t> </a:t>
            </a:r>
            <a:r>
              <a:rPr dirty="0" sz="1000">
                <a:latin typeface="Times New Roman"/>
                <a:cs typeface="Times New Roman"/>
              </a:rPr>
              <a:t>to</a:t>
            </a:r>
            <a:r>
              <a:rPr dirty="0" sz="1000" spc="7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encoder</a:t>
            </a:r>
            <a:r>
              <a:rPr dirty="0" sz="1000" spc="75">
                <a:latin typeface="Times New Roman"/>
                <a:cs typeface="Times New Roman"/>
              </a:rPr>
              <a:t> </a:t>
            </a:r>
            <a:r>
              <a:rPr dirty="0" sz="1000" spc="-10">
                <a:latin typeface="Cambria"/>
                <a:cs typeface="Cambria"/>
              </a:rPr>
              <a:t>𝜑</a:t>
            </a:r>
            <a:r>
              <a:rPr dirty="0" baseline="-15873" sz="1050" spc="-15">
                <a:latin typeface="Cambria"/>
                <a:cs typeface="Cambria"/>
              </a:rPr>
              <a:t>1</a:t>
            </a:r>
            <a:r>
              <a:rPr dirty="0" baseline="-15873" sz="1050" spc="195">
                <a:latin typeface="Cambria"/>
                <a:cs typeface="Cambria"/>
              </a:rPr>
              <a:t> </a:t>
            </a:r>
            <a:r>
              <a:rPr dirty="0" sz="1000" spc="-10">
                <a:latin typeface="Cambria"/>
                <a:cs typeface="Cambria"/>
              </a:rPr>
              <a:t>(𝜃</a:t>
            </a:r>
            <a:r>
              <a:rPr dirty="0" baseline="-15873" sz="1050" spc="-15">
                <a:latin typeface="Cambria"/>
                <a:cs typeface="Cambria"/>
              </a:rPr>
              <a:t>1</a:t>
            </a:r>
            <a:r>
              <a:rPr dirty="0" sz="1000" spc="-10">
                <a:latin typeface="Cambria"/>
                <a:cs typeface="Cambria"/>
              </a:rPr>
              <a:t>,</a:t>
            </a:r>
            <a:r>
              <a:rPr dirty="0" sz="1000" spc="5">
                <a:latin typeface="Cambria"/>
                <a:cs typeface="Cambria"/>
              </a:rPr>
              <a:t> </a:t>
            </a:r>
            <a:r>
              <a:rPr dirty="0" sz="1000">
                <a:latin typeface="Cambria"/>
                <a:cs typeface="Cambria"/>
              </a:rPr>
              <a:t>⋅)</a:t>
            </a:r>
            <a:r>
              <a:rPr dirty="0" sz="1000" spc="100">
                <a:latin typeface="Cambria"/>
                <a:cs typeface="Cambria"/>
              </a:rPr>
              <a:t> </a:t>
            </a:r>
            <a:r>
              <a:rPr dirty="0" sz="1000">
                <a:latin typeface="Times New Roman"/>
                <a:cs typeface="Times New Roman"/>
              </a:rPr>
              <a:t>is</a:t>
            </a:r>
            <a:r>
              <a:rPr dirty="0" sz="1000" spc="75">
                <a:latin typeface="Times New Roman"/>
                <a:cs typeface="Times New Roman"/>
              </a:rPr>
              <a:t> </a:t>
            </a:r>
            <a:r>
              <a:rPr dirty="0" sz="1000">
                <a:latin typeface="Times New Roman"/>
                <a:cs typeface="Times New Roman"/>
              </a:rPr>
              <a:t>exactly</a:t>
            </a:r>
            <a:r>
              <a:rPr dirty="0" sz="1000" spc="70">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vanilla</a:t>
            </a:r>
            <a:r>
              <a:rPr dirty="0" sz="1000" spc="75">
                <a:latin typeface="Times New Roman"/>
                <a:cs typeface="Times New Roman"/>
              </a:rPr>
              <a:t> </a:t>
            </a:r>
            <a:r>
              <a:rPr dirty="0" sz="1000" spc="-10">
                <a:latin typeface="Cambria"/>
                <a:cs typeface="Cambria"/>
              </a:rPr>
              <a:t>𝑔</a:t>
            </a:r>
            <a:r>
              <a:rPr dirty="0" baseline="-23809" sz="1050" spc="-15">
                <a:latin typeface="Cambria"/>
                <a:cs typeface="Cambria"/>
              </a:rPr>
              <a:t>𝜃</a:t>
            </a:r>
            <a:r>
              <a:rPr dirty="0" baseline="31746" sz="1050" spc="-15">
                <a:latin typeface="Cambria"/>
                <a:cs typeface="Cambria"/>
              </a:rPr>
              <a:t>𝑈</a:t>
            </a:r>
            <a:r>
              <a:rPr dirty="0" baseline="-45454" sz="825" spc="-15">
                <a:latin typeface="Cambria"/>
                <a:cs typeface="Cambria"/>
              </a:rPr>
              <a:t>1</a:t>
            </a:r>
            <a:r>
              <a:rPr dirty="0" baseline="31746" sz="1050" spc="-15">
                <a:latin typeface="Cambria"/>
                <a:cs typeface="Cambria"/>
              </a:rPr>
              <a:t>𝑛𝑖</a:t>
            </a:r>
            <a:endParaRPr baseline="31746" sz="1050">
              <a:latin typeface="Cambria"/>
              <a:cs typeface="Cambria"/>
            </a:endParaRPr>
          </a:p>
          <a:p>
            <a:pPr marL="76200">
              <a:lnSpc>
                <a:spcPct val="100000"/>
              </a:lnSpc>
              <a:spcBef>
                <a:spcPts val="355"/>
              </a:spcBef>
            </a:pPr>
            <a:r>
              <a:rPr dirty="0" sz="1000">
                <a:latin typeface="Times New Roman"/>
                <a:cs typeface="Times New Roman"/>
              </a:rPr>
              <a:t>defined</a:t>
            </a:r>
            <a:r>
              <a:rPr dirty="0" sz="1000" spc="45">
                <a:latin typeface="Times New Roman"/>
                <a:cs typeface="Times New Roman"/>
              </a:rPr>
              <a:t> </a:t>
            </a:r>
            <a:r>
              <a:rPr dirty="0" sz="1000">
                <a:latin typeface="Times New Roman"/>
                <a:cs typeface="Times New Roman"/>
              </a:rPr>
              <a:t>in</a:t>
            </a:r>
            <a:r>
              <a:rPr dirty="0" sz="1000" spc="45">
                <a:latin typeface="Times New Roman"/>
                <a:cs typeface="Times New Roman"/>
              </a:rPr>
              <a:t> </a:t>
            </a:r>
            <a:r>
              <a:rPr dirty="0" sz="1000">
                <a:latin typeface="Times New Roman"/>
                <a:cs typeface="Times New Roman"/>
              </a:rPr>
              <a:t>Equation</a:t>
            </a:r>
            <a:r>
              <a:rPr dirty="0" sz="1000" spc="50">
                <a:latin typeface="Times New Roman"/>
                <a:cs typeface="Times New Roman"/>
              </a:rPr>
              <a:t> </a:t>
            </a:r>
            <a:r>
              <a:rPr dirty="0" sz="1000">
                <a:latin typeface="Times New Roman"/>
                <a:cs typeface="Times New Roman"/>
              </a:rPr>
              <a:t>7.</a:t>
            </a:r>
            <a:r>
              <a:rPr dirty="0" sz="1000" spc="150">
                <a:latin typeface="Times New Roman"/>
                <a:cs typeface="Times New Roman"/>
              </a:rPr>
              <a:t> </a:t>
            </a:r>
            <a:r>
              <a:rPr dirty="0" sz="1000">
                <a:latin typeface="Times New Roman"/>
                <a:cs typeface="Times New Roman"/>
              </a:rPr>
              <a:t>Similarly,</a:t>
            </a:r>
            <a:r>
              <a:rPr dirty="0" sz="1000" spc="45">
                <a:latin typeface="Times New Roman"/>
                <a:cs typeface="Times New Roman"/>
              </a:rPr>
              <a:t> </a:t>
            </a:r>
            <a:r>
              <a:rPr dirty="0" sz="1000">
                <a:latin typeface="Times New Roman"/>
                <a:cs typeface="Times New Roman"/>
              </a:rPr>
              <a:t>we</a:t>
            </a:r>
            <a:r>
              <a:rPr dirty="0" sz="1000" spc="50">
                <a:latin typeface="Times New Roman"/>
                <a:cs typeface="Times New Roman"/>
              </a:rPr>
              <a:t> </a:t>
            </a:r>
            <a:r>
              <a:rPr dirty="0" sz="1000">
                <a:latin typeface="Times New Roman"/>
                <a:cs typeface="Times New Roman"/>
              </a:rPr>
              <a:t>can</a:t>
            </a:r>
            <a:r>
              <a:rPr dirty="0" sz="1000" spc="45">
                <a:latin typeface="Times New Roman"/>
                <a:cs typeface="Times New Roman"/>
              </a:rPr>
              <a:t> </a:t>
            </a:r>
            <a:r>
              <a:rPr dirty="0" sz="1000">
                <a:latin typeface="Times New Roman"/>
                <a:cs typeface="Times New Roman"/>
              </a:rPr>
              <a:t>get</a:t>
            </a:r>
            <a:r>
              <a:rPr dirty="0" sz="1000" spc="45">
                <a:latin typeface="Times New Roman"/>
                <a:cs typeface="Times New Roman"/>
              </a:rPr>
              <a:t> </a:t>
            </a:r>
            <a:r>
              <a:rPr dirty="0" sz="1000">
                <a:latin typeface="Times New Roman"/>
                <a:cs typeface="Times New Roman"/>
              </a:rPr>
              <a:t>the</a:t>
            </a:r>
            <a:r>
              <a:rPr dirty="0" sz="1000" spc="50">
                <a:latin typeface="Times New Roman"/>
                <a:cs typeface="Times New Roman"/>
              </a:rPr>
              <a:t> </a:t>
            </a:r>
            <a:r>
              <a:rPr dirty="0" sz="1000">
                <a:latin typeface="Times New Roman"/>
                <a:cs typeface="Times New Roman"/>
              </a:rPr>
              <a:t>unimodal</a:t>
            </a:r>
            <a:r>
              <a:rPr dirty="0" sz="1000" spc="45">
                <a:latin typeface="Times New Roman"/>
                <a:cs typeface="Times New Roman"/>
              </a:rPr>
              <a:t> </a:t>
            </a:r>
            <a:r>
              <a:rPr dirty="0" sz="1000">
                <a:latin typeface="Times New Roman"/>
                <a:cs typeface="Times New Roman"/>
              </a:rPr>
              <a:t>loss</a:t>
            </a:r>
            <a:r>
              <a:rPr dirty="0" sz="1000" spc="50">
                <a:latin typeface="Times New Roman"/>
                <a:cs typeface="Times New Roman"/>
              </a:rPr>
              <a:t> </a:t>
            </a:r>
            <a:r>
              <a:rPr dirty="0" sz="1000">
                <a:latin typeface="Times New Roman"/>
                <a:cs typeface="Times New Roman"/>
              </a:rPr>
              <a:t>for</a:t>
            </a:r>
            <a:r>
              <a:rPr dirty="0" sz="1000" spc="45">
                <a:latin typeface="Times New Roman"/>
                <a:cs typeface="Times New Roman"/>
              </a:rPr>
              <a:t> </a:t>
            </a:r>
            <a:r>
              <a:rPr dirty="0" sz="1000">
                <a:latin typeface="Times New Roman"/>
                <a:cs typeface="Times New Roman"/>
              </a:rPr>
              <a:t>encoder</a:t>
            </a:r>
            <a:r>
              <a:rPr dirty="0" sz="1000" spc="50">
                <a:latin typeface="Times New Roman"/>
                <a:cs typeface="Times New Roman"/>
              </a:rPr>
              <a:t> </a:t>
            </a:r>
            <a:r>
              <a:rPr dirty="0" sz="1000">
                <a:latin typeface="Cambria"/>
                <a:cs typeface="Cambria"/>
              </a:rPr>
              <a:t>𝜑</a:t>
            </a:r>
            <a:r>
              <a:rPr dirty="0" baseline="-15873" sz="1050">
                <a:latin typeface="Cambria"/>
                <a:cs typeface="Cambria"/>
              </a:rPr>
              <a:t>2</a:t>
            </a:r>
            <a:r>
              <a:rPr dirty="0" baseline="-15873" sz="1050" spc="179">
                <a:latin typeface="Cambria"/>
                <a:cs typeface="Cambria"/>
              </a:rPr>
              <a:t> </a:t>
            </a:r>
            <a:r>
              <a:rPr dirty="0" sz="1000" spc="-10">
                <a:latin typeface="Cambria"/>
                <a:cs typeface="Cambria"/>
              </a:rPr>
              <a:t>(𝜃</a:t>
            </a:r>
            <a:r>
              <a:rPr dirty="0" baseline="-15873" sz="1050" spc="-15">
                <a:latin typeface="Cambria"/>
                <a:cs typeface="Cambria"/>
              </a:rPr>
              <a:t>2</a:t>
            </a:r>
            <a:r>
              <a:rPr dirty="0" sz="1000" spc="-10">
                <a:latin typeface="Cambria"/>
                <a:cs typeface="Cambria"/>
              </a:rPr>
              <a:t>,</a:t>
            </a:r>
            <a:r>
              <a:rPr dirty="0" sz="1000" spc="-5">
                <a:latin typeface="Cambria"/>
                <a:cs typeface="Cambria"/>
              </a:rPr>
              <a:t> </a:t>
            </a:r>
            <a:r>
              <a:rPr dirty="0" sz="1000">
                <a:latin typeface="Cambria"/>
                <a:cs typeface="Cambria"/>
              </a:rPr>
              <a:t>⋅)</a:t>
            </a:r>
            <a:r>
              <a:rPr dirty="0" sz="1000" spc="75">
                <a:latin typeface="Cambria"/>
                <a:cs typeface="Cambria"/>
              </a:rPr>
              <a:t> </a:t>
            </a:r>
            <a:r>
              <a:rPr dirty="0" sz="1000">
                <a:latin typeface="Times New Roman"/>
                <a:cs typeface="Times New Roman"/>
              </a:rPr>
              <a:t>as</a:t>
            </a:r>
            <a:r>
              <a:rPr dirty="0" sz="1000" spc="50">
                <a:latin typeface="Times New Roman"/>
                <a:cs typeface="Times New Roman"/>
              </a:rPr>
              <a:t> </a:t>
            </a:r>
            <a:r>
              <a:rPr dirty="0" sz="1000" spc="-10">
                <a:latin typeface="Times New Roman"/>
                <a:cs typeface="Times New Roman"/>
              </a:rPr>
              <a:t>follows,</a:t>
            </a:r>
            <a:endParaRPr sz="1000">
              <a:latin typeface="Times New Roman"/>
              <a:cs typeface="Times New Roman"/>
            </a:endParaRPr>
          </a:p>
          <a:p>
            <a:pPr>
              <a:lnSpc>
                <a:spcPct val="100000"/>
              </a:lnSpc>
              <a:spcBef>
                <a:spcPts val="280"/>
              </a:spcBef>
            </a:pPr>
            <a:endParaRPr sz="1000">
              <a:latin typeface="Times New Roman"/>
              <a:cs typeface="Times New Roman"/>
            </a:endParaRPr>
          </a:p>
          <a:p>
            <a:pPr marL="255904" marR="252729">
              <a:lnSpc>
                <a:spcPct val="129500"/>
              </a:lnSpc>
            </a:pPr>
            <a:r>
              <a:rPr dirty="0" sz="1000" spc="-25">
                <a:latin typeface="SimSun"/>
                <a:cs typeface="SimSun"/>
              </a:rPr>
              <a:t>根据链式法则，反向传播回编码器 </a:t>
            </a:r>
            <a:r>
              <a:rPr dirty="0" sz="1000" spc="-10">
                <a:latin typeface="Cambria"/>
                <a:cs typeface="Cambria"/>
              </a:rPr>
              <a:t>𝜑</a:t>
            </a:r>
            <a:r>
              <a:rPr dirty="0" baseline="-15873" sz="1050" spc="-15">
                <a:latin typeface="Cambria"/>
                <a:cs typeface="Cambria"/>
              </a:rPr>
              <a:t>1</a:t>
            </a:r>
            <a:r>
              <a:rPr dirty="0" baseline="-15873" sz="1050" spc="75">
                <a:latin typeface="Cambria"/>
                <a:cs typeface="Cambria"/>
              </a:rPr>
              <a:t> </a:t>
            </a:r>
            <a:r>
              <a:rPr dirty="0" sz="1000" spc="-10">
                <a:latin typeface="Cambria"/>
                <a:cs typeface="Cambria"/>
              </a:rPr>
              <a:t>(𝜃</a:t>
            </a:r>
            <a:r>
              <a:rPr dirty="0" baseline="-15873" sz="1050" spc="-15">
                <a:latin typeface="Cambria"/>
                <a:cs typeface="Cambria"/>
              </a:rPr>
              <a:t>1</a:t>
            </a:r>
            <a:r>
              <a:rPr dirty="0" sz="1000" spc="-20">
                <a:latin typeface="Cambria"/>
                <a:cs typeface="Cambria"/>
              </a:rPr>
              <a:t>, ⋅) </a:t>
            </a:r>
            <a:r>
              <a:rPr dirty="0" sz="1000" spc="-40">
                <a:latin typeface="SimSun"/>
                <a:cs typeface="SimSun"/>
              </a:rPr>
              <a:t>的梯度正是公式 </a:t>
            </a:r>
            <a:r>
              <a:rPr dirty="0" sz="1000">
                <a:latin typeface="Times New Roman"/>
                <a:cs typeface="Times New Roman"/>
              </a:rPr>
              <a:t>7 </a:t>
            </a:r>
            <a:r>
              <a:rPr dirty="0" sz="1000" spc="-45">
                <a:latin typeface="SimSun"/>
                <a:cs typeface="SimSun"/>
              </a:rPr>
              <a:t>中定义的普通 </a:t>
            </a:r>
            <a:r>
              <a:rPr dirty="0" sz="1000" spc="-90">
                <a:latin typeface="Cambria"/>
                <a:cs typeface="Cambria"/>
              </a:rPr>
              <a:t>𝑔</a:t>
            </a:r>
            <a:r>
              <a:rPr dirty="0" baseline="-23809" sz="1050" spc="-135">
                <a:latin typeface="Cambria"/>
                <a:cs typeface="Cambria"/>
              </a:rPr>
              <a:t>𝜃</a:t>
            </a:r>
            <a:r>
              <a:rPr dirty="0" baseline="31746" sz="1050" spc="-135">
                <a:latin typeface="Cambria"/>
                <a:cs typeface="Cambria"/>
              </a:rPr>
              <a:t>𝑈</a:t>
            </a:r>
            <a:r>
              <a:rPr dirty="0" baseline="-45454" sz="825" spc="-135">
                <a:latin typeface="Cambria"/>
                <a:cs typeface="Cambria"/>
              </a:rPr>
              <a:t>1</a:t>
            </a:r>
            <a:r>
              <a:rPr dirty="0" baseline="31746" sz="1050" spc="-135">
                <a:latin typeface="Cambria"/>
                <a:cs typeface="Cambria"/>
              </a:rPr>
              <a:t>𝑛𝑖</a:t>
            </a:r>
            <a:r>
              <a:rPr dirty="0" baseline="31746" sz="1050" spc="232">
                <a:latin typeface="Cambria"/>
                <a:cs typeface="Cambria"/>
              </a:rPr>
              <a:t> </a:t>
            </a:r>
            <a:r>
              <a:rPr dirty="0" sz="1000" spc="-20">
                <a:latin typeface="SimSun"/>
                <a:cs typeface="SimSun"/>
              </a:rPr>
              <a:t>。类似地，我们</a:t>
            </a:r>
            <a:r>
              <a:rPr dirty="0" sz="1000" spc="20">
                <a:latin typeface="SimSun"/>
                <a:cs typeface="SimSun"/>
              </a:rPr>
              <a:t>可以得到编码器</a:t>
            </a:r>
            <a:r>
              <a:rPr dirty="0" sz="1000" spc="-10">
                <a:latin typeface="Cambria"/>
                <a:cs typeface="Cambria"/>
              </a:rPr>
              <a:t>𝜑</a:t>
            </a:r>
            <a:r>
              <a:rPr dirty="0" baseline="-15873" sz="1050" spc="-15">
                <a:latin typeface="Cambria"/>
                <a:cs typeface="Cambria"/>
              </a:rPr>
              <a:t>2</a:t>
            </a:r>
            <a:r>
              <a:rPr dirty="0" baseline="-15873" sz="1050" spc="30">
                <a:latin typeface="Cambria"/>
                <a:cs typeface="Cambria"/>
              </a:rPr>
              <a:t> </a:t>
            </a:r>
            <a:r>
              <a:rPr dirty="0" sz="1000" spc="-10">
                <a:latin typeface="Cambria"/>
                <a:cs typeface="Cambria"/>
              </a:rPr>
              <a:t>(𝜃</a:t>
            </a:r>
            <a:r>
              <a:rPr dirty="0" baseline="-15873" sz="1050" spc="-15">
                <a:latin typeface="Cambria"/>
                <a:cs typeface="Cambria"/>
              </a:rPr>
              <a:t>2</a:t>
            </a:r>
            <a:r>
              <a:rPr dirty="0" sz="1000" spc="-20">
                <a:latin typeface="Cambria"/>
                <a:cs typeface="Cambria"/>
              </a:rPr>
              <a:t>, ⋅) </a:t>
            </a:r>
            <a:r>
              <a:rPr dirty="0" sz="1000" spc="-10">
                <a:latin typeface="SimSun"/>
                <a:cs typeface="SimSun"/>
              </a:rPr>
              <a:t>的单峰损失如下</a:t>
            </a:r>
            <a:r>
              <a:rPr dirty="0" sz="1000" spc="-50">
                <a:latin typeface="Times New Roman"/>
                <a:cs typeface="Times New Roman"/>
              </a:rPr>
              <a:t>:</a:t>
            </a:r>
            <a:endParaRPr sz="1000">
              <a:latin typeface="Times New Roman"/>
              <a:cs typeface="Times New Roman"/>
            </a:endParaRPr>
          </a:p>
        </p:txBody>
      </p:sp>
      <p:sp>
        <p:nvSpPr>
          <p:cNvPr id="25" name="object 25" descr=""/>
          <p:cNvSpPr txBox="1"/>
          <p:nvPr/>
        </p:nvSpPr>
        <p:spPr>
          <a:xfrm>
            <a:off x="2928581" y="6090899"/>
            <a:ext cx="88900" cy="177800"/>
          </a:xfrm>
          <a:prstGeom prst="rect">
            <a:avLst/>
          </a:prstGeom>
        </p:spPr>
        <p:txBody>
          <a:bodyPr wrap="square" lIns="0" tIns="12065" rIns="0" bIns="0" rtlCol="0" vert="horz">
            <a:spAutoFit/>
          </a:bodyPr>
          <a:lstStyle/>
          <a:p>
            <a:pPr marL="12700">
              <a:lnSpc>
                <a:spcPct val="100000"/>
              </a:lnSpc>
              <a:spcBef>
                <a:spcPts val="95"/>
              </a:spcBef>
            </a:pPr>
            <a:r>
              <a:rPr dirty="0" sz="1000" spc="55">
                <a:latin typeface="Cambria"/>
                <a:cs typeface="Cambria"/>
              </a:rPr>
              <a:t>{</a:t>
            </a:r>
            <a:endParaRPr sz="1000">
              <a:latin typeface="Cambria"/>
              <a:cs typeface="Cambria"/>
            </a:endParaRPr>
          </a:p>
        </p:txBody>
      </p:sp>
      <p:sp>
        <p:nvSpPr>
          <p:cNvPr id="26" name="object 26" descr=""/>
          <p:cNvSpPr txBox="1"/>
          <p:nvPr/>
        </p:nvSpPr>
        <p:spPr>
          <a:xfrm>
            <a:off x="3113443" y="5989983"/>
            <a:ext cx="109855" cy="132080"/>
          </a:xfrm>
          <a:prstGeom prst="rect">
            <a:avLst/>
          </a:prstGeom>
        </p:spPr>
        <p:txBody>
          <a:bodyPr wrap="square" lIns="0" tIns="12065" rIns="0" bIns="0" rtlCol="0" vert="horz">
            <a:spAutoFit/>
          </a:bodyPr>
          <a:lstStyle/>
          <a:p>
            <a:pPr marL="12700">
              <a:lnSpc>
                <a:spcPct val="100000"/>
              </a:lnSpc>
              <a:spcBef>
                <a:spcPts val="95"/>
              </a:spcBef>
            </a:pPr>
            <a:r>
              <a:rPr dirty="0" sz="700" spc="25">
                <a:latin typeface="Cambria"/>
                <a:cs typeface="Cambria"/>
              </a:rPr>
              <a:t>𝑚</a:t>
            </a:r>
            <a:endParaRPr sz="700">
              <a:latin typeface="Cambria"/>
              <a:cs typeface="Cambria"/>
            </a:endParaRPr>
          </a:p>
        </p:txBody>
      </p:sp>
      <p:sp>
        <p:nvSpPr>
          <p:cNvPr id="27" name="object 27" descr=""/>
          <p:cNvSpPr txBox="1"/>
          <p:nvPr/>
        </p:nvSpPr>
        <p:spPr>
          <a:xfrm>
            <a:off x="3197847" y="6027566"/>
            <a:ext cx="64769" cy="109220"/>
          </a:xfrm>
          <a:prstGeom prst="rect">
            <a:avLst/>
          </a:prstGeom>
        </p:spPr>
        <p:txBody>
          <a:bodyPr wrap="square" lIns="0" tIns="12065" rIns="0" bIns="0" rtlCol="0" vert="horz">
            <a:spAutoFit/>
          </a:bodyPr>
          <a:lstStyle/>
          <a:p>
            <a:pPr marL="12700">
              <a:lnSpc>
                <a:spcPct val="100000"/>
              </a:lnSpc>
              <a:spcBef>
                <a:spcPts val="95"/>
              </a:spcBef>
            </a:pPr>
            <a:r>
              <a:rPr dirty="0" sz="550" spc="-50">
                <a:latin typeface="Cambria"/>
                <a:cs typeface="Cambria"/>
              </a:rPr>
              <a:t>2</a:t>
            </a:r>
            <a:endParaRPr sz="550">
              <a:latin typeface="Cambria"/>
              <a:cs typeface="Cambria"/>
            </a:endParaRPr>
          </a:p>
        </p:txBody>
      </p:sp>
      <p:sp>
        <p:nvSpPr>
          <p:cNvPr id="28" name="object 28" descr=""/>
          <p:cNvSpPr txBox="1"/>
          <p:nvPr/>
        </p:nvSpPr>
        <p:spPr>
          <a:xfrm>
            <a:off x="3957065" y="5986668"/>
            <a:ext cx="118745" cy="132080"/>
          </a:xfrm>
          <a:prstGeom prst="rect">
            <a:avLst/>
          </a:prstGeom>
        </p:spPr>
        <p:txBody>
          <a:bodyPr wrap="square" lIns="0" tIns="12065" rIns="0" bIns="0" rtlCol="0" vert="horz">
            <a:spAutoFit/>
          </a:bodyPr>
          <a:lstStyle/>
          <a:p>
            <a:pPr marL="12700">
              <a:lnSpc>
                <a:spcPct val="100000"/>
              </a:lnSpc>
              <a:spcBef>
                <a:spcPts val="95"/>
              </a:spcBef>
            </a:pPr>
            <a:r>
              <a:rPr dirty="0" sz="700" spc="-25">
                <a:latin typeface="Cambria"/>
                <a:cs typeface="Cambria"/>
              </a:rPr>
              <a:t>𝜏2</a:t>
            </a:r>
            <a:endParaRPr sz="700">
              <a:latin typeface="Cambria"/>
              <a:cs typeface="Cambria"/>
            </a:endParaRPr>
          </a:p>
        </p:txBody>
      </p:sp>
      <p:sp>
        <p:nvSpPr>
          <p:cNvPr id="29" name="object 29" descr=""/>
          <p:cNvSpPr txBox="1"/>
          <p:nvPr/>
        </p:nvSpPr>
        <p:spPr>
          <a:xfrm>
            <a:off x="3955796" y="6070120"/>
            <a:ext cx="41910" cy="132080"/>
          </a:xfrm>
          <a:prstGeom prst="rect">
            <a:avLst/>
          </a:prstGeom>
        </p:spPr>
        <p:txBody>
          <a:bodyPr wrap="square" lIns="0" tIns="12065" rIns="0" bIns="0" rtlCol="0" vert="horz">
            <a:spAutoFit/>
          </a:bodyPr>
          <a:lstStyle/>
          <a:p>
            <a:pPr marL="12700">
              <a:lnSpc>
                <a:spcPct val="100000"/>
              </a:lnSpc>
              <a:spcBef>
                <a:spcPts val="95"/>
              </a:spcBef>
            </a:pPr>
            <a:r>
              <a:rPr dirty="0" sz="700" spc="-50">
                <a:latin typeface="Cambria"/>
                <a:cs typeface="Cambria"/>
              </a:rPr>
              <a:t>𝑖</a:t>
            </a:r>
            <a:endParaRPr sz="700">
              <a:latin typeface="Cambria"/>
              <a:cs typeface="Cambria"/>
            </a:endParaRPr>
          </a:p>
        </p:txBody>
      </p:sp>
      <p:sp>
        <p:nvSpPr>
          <p:cNvPr id="30" name="object 30" descr=""/>
          <p:cNvSpPr txBox="1"/>
          <p:nvPr/>
        </p:nvSpPr>
        <p:spPr>
          <a:xfrm>
            <a:off x="3482784" y="6062119"/>
            <a:ext cx="965835" cy="132080"/>
          </a:xfrm>
          <a:prstGeom prst="rect">
            <a:avLst/>
          </a:prstGeom>
        </p:spPr>
        <p:txBody>
          <a:bodyPr wrap="square" lIns="0" tIns="12065" rIns="0" bIns="0" rtlCol="0" vert="horz">
            <a:spAutoFit/>
          </a:bodyPr>
          <a:lstStyle/>
          <a:p>
            <a:pPr marL="12700">
              <a:lnSpc>
                <a:spcPct val="100000"/>
              </a:lnSpc>
              <a:spcBef>
                <a:spcPts val="95"/>
              </a:spcBef>
              <a:tabLst>
                <a:tab pos="923925" algn="l"/>
              </a:tabLst>
            </a:pPr>
            <a:r>
              <a:rPr dirty="0" sz="700" spc="75">
                <a:latin typeface="Cambria"/>
                <a:cs typeface="Cambria"/>
              </a:rPr>
              <a:t>𝐶𝐸</a:t>
            </a:r>
            <a:r>
              <a:rPr dirty="0" sz="700">
                <a:latin typeface="Cambria"/>
                <a:cs typeface="Cambria"/>
              </a:rPr>
              <a:t>	</a:t>
            </a:r>
            <a:r>
              <a:rPr dirty="0" sz="700" spc="-50">
                <a:latin typeface="Cambria"/>
                <a:cs typeface="Cambria"/>
              </a:rPr>
              <a:t>𝑖</a:t>
            </a:r>
            <a:endParaRPr sz="700">
              <a:latin typeface="Cambria"/>
              <a:cs typeface="Cambria"/>
            </a:endParaRPr>
          </a:p>
        </p:txBody>
      </p:sp>
      <p:sp>
        <p:nvSpPr>
          <p:cNvPr id="31" name="object 31" descr=""/>
          <p:cNvSpPr txBox="1"/>
          <p:nvPr/>
        </p:nvSpPr>
        <p:spPr>
          <a:xfrm>
            <a:off x="3055239" y="5999104"/>
            <a:ext cx="1497965" cy="177800"/>
          </a:xfrm>
          <a:prstGeom prst="rect">
            <a:avLst/>
          </a:prstGeom>
        </p:spPr>
        <p:txBody>
          <a:bodyPr wrap="square" lIns="0" tIns="12065" rIns="0" bIns="0" rtlCol="0" vert="horz">
            <a:spAutoFit/>
          </a:bodyPr>
          <a:lstStyle/>
          <a:p>
            <a:pPr marL="12700">
              <a:lnSpc>
                <a:spcPct val="100000"/>
              </a:lnSpc>
              <a:spcBef>
                <a:spcPts val="95"/>
              </a:spcBef>
              <a:tabLst>
                <a:tab pos="241935" algn="l"/>
                <a:tab pos="604520" algn="l"/>
                <a:tab pos="1041400" algn="l"/>
              </a:tabLst>
            </a:pPr>
            <a:r>
              <a:rPr dirty="0" sz="1000" spc="-50">
                <a:latin typeface="Cambria"/>
                <a:cs typeface="Cambria"/>
              </a:rPr>
              <a:t>𝐿</a:t>
            </a:r>
            <a:r>
              <a:rPr dirty="0" sz="1000">
                <a:latin typeface="Cambria"/>
                <a:cs typeface="Cambria"/>
              </a:rPr>
              <a:t>	</a:t>
            </a:r>
            <a:r>
              <a:rPr dirty="0" sz="1000" spc="165">
                <a:latin typeface="Cambria"/>
                <a:cs typeface="Cambria"/>
              </a:rPr>
              <a:t>=</a:t>
            </a:r>
            <a:r>
              <a:rPr dirty="0" sz="1000" spc="55">
                <a:latin typeface="Cambria"/>
                <a:cs typeface="Cambria"/>
              </a:rPr>
              <a:t> </a:t>
            </a:r>
            <a:r>
              <a:rPr dirty="0" sz="1000" spc="-50">
                <a:latin typeface="Cambria"/>
                <a:cs typeface="Cambria"/>
              </a:rPr>
              <a:t>𝐿</a:t>
            </a:r>
            <a:r>
              <a:rPr dirty="0" sz="1000">
                <a:latin typeface="Cambria"/>
                <a:cs typeface="Cambria"/>
              </a:rPr>
              <a:t>	(𝑊</a:t>
            </a:r>
            <a:r>
              <a:rPr dirty="0" sz="1000" spc="-15">
                <a:latin typeface="Cambria"/>
                <a:cs typeface="Cambria"/>
              </a:rPr>
              <a:t> </a:t>
            </a:r>
            <a:r>
              <a:rPr dirty="0" sz="1000" spc="-25">
                <a:latin typeface="Cambria"/>
                <a:cs typeface="Cambria"/>
              </a:rPr>
              <a:t>(𝑧</a:t>
            </a:r>
            <a:r>
              <a:rPr dirty="0" sz="1000">
                <a:latin typeface="Cambria"/>
                <a:cs typeface="Cambria"/>
              </a:rPr>
              <a:t>	</a:t>
            </a:r>
            <a:r>
              <a:rPr dirty="0" sz="1000" spc="165">
                <a:latin typeface="Cambria"/>
                <a:cs typeface="Cambria"/>
              </a:rPr>
              <a:t>+</a:t>
            </a:r>
            <a:r>
              <a:rPr dirty="0" sz="1000" spc="-15">
                <a:latin typeface="Cambria"/>
                <a:cs typeface="Cambria"/>
              </a:rPr>
              <a:t> </a:t>
            </a:r>
            <a:r>
              <a:rPr dirty="0" sz="1000">
                <a:latin typeface="Cambria"/>
                <a:cs typeface="Cambria"/>
              </a:rPr>
              <a:t>𝑏,</a:t>
            </a:r>
            <a:r>
              <a:rPr dirty="0" sz="1000" spc="-55">
                <a:latin typeface="Cambria"/>
                <a:cs typeface="Cambria"/>
              </a:rPr>
              <a:t> </a:t>
            </a:r>
            <a:r>
              <a:rPr dirty="0" sz="1000">
                <a:latin typeface="Cambria"/>
                <a:cs typeface="Cambria"/>
              </a:rPr>
              <a:t>𝑦</a:t>
            </a:r>
            <a:r>
              <a:rPr dirty="0" sz="1000" spc="120">
                <a:latin typeface="Cambria"/>
                <a:cs typeface="Cambria"/>
              </a:rPr>
              <a:t> </a:t>
            </a:r>
            <a:r>
              <a:rPr dirty="0" sz="1000" spc="-25">
                <a:latin typeface="Cambria"/>
                <a:cs typeface="Cambria"/>
              </a:rPr>
              <a:t>))</a:t>
            </a:r>
            <a:endParaRPr sz="1000">
              <a:latin typeface="Cambria"/>
              <a:cs typeface="Cambria"/>
            </a:endParaRPr>
          </a:p>
        </p:txBody>
      </p:sp>
      <p:sp>
        <p:nvSpPr>
          <p:cNvPr id="32" name="object 32" descr=""/>
          <p:cNvSpPr txBox="1"/>
          <p:nvPr/>
        </p:nvSpPr>
        <p:spPr>
          <a:xfrm>
            <a:off x="3029839" y="6196475"/>
            <a:ext cx="1129665" cy="177800"/>
          </a:xfrm>
          <a:prstGeom prst="rect">
            <a:avLst/>
          </a:prstGeom>
        </p:spPr>
        <p:txBody>
          <a:bodyPr wrap="square" lIns="0" tIns="12065" rIns="0" bIns="0" rtlCol="0" vert="horz">
            <a:spAutoFit/>
          </a:bodyPr>
          <a:lstStyle/>
          <a:p>
            <a:pPr marL="38100">
              <a:lnSpc>
                <a:spcPct val="100000"/>
              </a:lnSpc>
              <a:spcBef>
                <a:spcPts val="95"/>
              </a:spcBef>
            </a:pPr>
            <a:r>
              <a:rPr dirty="0" sz="1000" spc="-30">
                <a:latin typeface="Cambria"/>
                <a:cs typeface="Cambria"/>
              </a:rPr>
              <a:t>𝑧</a:t>
            </a:r>
            <a:r>
              <a:rPr dirty="0" baseline="-19841" sz="1050" spc="-44">
                <a:latin typeface="Cambria"/>
                <a:cs typeface="Cambria"/>
              </a:rPr>
              <a:t>𝑖</a:t>
            </a:r>
            <a:r>
              <a:rPr dirty="0" baseline="31746" sz="1050" spc="-44">
                <a:latin typeface="Cambria"/>
                <a:cs typeface="Cambria"/>
              </a:rPr>
              <a:t>𝜏2</a:t>
            </a:r>
            <a:r>
              <a:rPr dirty="0" baseline="31746" sz="1050" spc="209">
                <a:latin typeface="Cambria"/>
                <a:cs typeface="Cambria"/>
              </a:rPr>
              <a:t> </a:t>
            </a:r>
            <a:r>
              <a:rPr dirty="0" sz="1000" spc="165">
                <a:latin typeface="Cambria"/>
                <a:cs typeface="Cambria"/>
              </a:rPr>
              <a:t>=</a:t>
            </a:r>
            <a:r>
              <a:rPr dirty="0" sz="1000" spc="45">
                <a:latin typeface="Cambria"/>
                <a:cs typeface="Cambria"/>
              </a:rPr>
              <a:t> </a:t>
            </a:r>
            <a:r>
              <a:rPr dirty="0" sz="1000">
                <a:latin typeface="Cambria"/>
                <a:cs typeface="Cambria"/>
              </a:rPr>
              <a:t>𝜑</a:t>
            </a:r>
            <a:r>
              <a:rPr dirty="0" baseline="-15873" sz="1050">
                <a:latin typeface="Cambria"/>
                <a:cs typeface="Cambria"/>
              </a:rPr>
              <a:t>𝜏</a:t>
            </a:r>
            <a:r>
              <a:rPr dirty="0" baseline="-15873" sz="1050" spc="75">
                <a:latin typeface="Cambria"/>
                <a:cs typeface="Cambria"/>
              </a:rPr>
              <a:t> </a:t>
            </a:r>
            <a:r>
              <a:rPr dirty="0" sz="1000">
                <a:latin typeface="Cambria"/>
                <a:cs typeface="Cambria"/>
              </a:rPr>
              <a:t>(𝜃</a:t>
            </a:r>
            <a:r>
              <a:rPr dirty="0" baseline="-15873" sz="1050">
                <a:latin typeface="Cambria"/>
                <a:cs typeface="Cambria"/>
              </a:rPr>
              <a:t>𝜏</a:t>
            </a:r>
            <a:r>
              <a:rPr dirty="0" sz="1000">
                <a:latin typeface="Cambria"/>
                <a:cs typeface="Cambria"/>
              </a:rPr>
              <a:t>,</a:t>
            </a:r>
            <a:r>
              <a:rPr dirty="0" sz="1000" spc="-55">
                <a:latin typeface="Cambria"/>
                <a:cs typeface="Cambria"/>
              </a:rPr>
              <a:t> </a:t>
            </a:r>
            <a:r>
              <a:rPr dirty="0" sz="1000" spc="-10">
                <a:latin typeface="Cambria"/>
                <a:cs typeface="Cambria"/>
              </a:rPr>
              <a:t>0,</a:t>
            </a:r>
            <a:r>
              <a:rPr dirty="0" sz="1000" spc="-55">
                <a:latin typeface="Cambria"/>
                <a:cs typeface="Cambria"/>
              </a:rPr>
              <a:t> </a:t>
            </a:r>
            <a:r>
              <a:rPr dirty="0" sz="1000" spc="-40">
                <a:latin typeface="Cambria"/>
                <a:cs typeface="Cambria"/>
              </a:rPr>
              <a:t>𝑧</a:t>
            </a:r>
            <a:r>
              <a:rPr dirty="0" baseline="-19841" sz="1050" spc="-60">
                <a:latin typeface="Cambria"/>
                <a:cs typeface="Cambria"/>
              </a:rPr>
              <a:t>𝑖</a:t>
            </a:r>
            <a:r>
              <a:rPr dirty="0" baseline="43650" sz="1050" spc="-60">
                <a:latin typeface="Cambria"/>
                <a:cs typeface="Cambria"/>
              </a:rPr>
              <a:t>𝑚</a:t>
            </a:r>
            <a:r>
              <a:rPr dirty="0" baseline="40404" sz="825" spc="-60">
                <a:latin typeface="Cambria"/>
                <a:cs typeface="Cambria"/>
              </a:rPr>
              <a:t>2</a:t>
            </a:r>
            <a:r>
              <a:rPr dirty="0" baseline="40404" sz="825" spc="-37">
                <a:latin typeface="Cambria"/>
                <a:cs typeface="Cambria"/>
              </a:rPr>
              <a:t> </a:t>
            </a:r>
            <a:r>
              <a:rPr dirty="0" sz="1000" spc="-50">
                <a:latin typeface="Cambria"/>
                <a:cs typeface="Cambria"/>
              </a:rPr>
              <a:t>)</a:t>
            </a:r>
            <a:endParaRPr sz="1000">
              <a:latin typeface="Cambria"/>
              <a:cs typeface="Cambria"/>
            </a:endParaRPr>
          </a:p>
        </p:txBody>
      </p:sp>
      <p:sp>
        <p:nvSpPr>
          <p:cNvPr id="33" name="object 33" descr=""/>
          <p:cNvSpPr txBox="1"/>
          <p:nvPr/>
        </p:nvSpPr>
        <p:spPr>
          <a:xfrm>
            <a:off x="6435242" y="6089452"/>
            <a:ext cx="237490" cy="177800"/>
          </a:xfrm>
          <a:prstGeom prst="rect">
            <a:avLst/>
          </a:prstGeom>
        </p:spPr>
        <p:txBody>
          <a:bodyPr wrap="square" lIns="0" tIns="12065" rIns="0" bIns="0" rtlCol="0" vert="horz">
            <a:spAutoFit/>
          </a:bodyPr>
          <a:lstStyle/>
          <a:p>
            <a:pPr marL="12700">
              <a:lnSpc>
                <a:spcPct val="100000"/>
              </a:lnSpc>
              <a:spcBef>
                <a:spcPts val="95"/>
              </a:spcBef>
            </a:pPr>
            <a:r>
              <a:rPr dirty="0" sz="1000" spc="-20">
                <a:latin typeface="Times New Roman"/>
                <a:cs typeface="Times New Roman"/>
              </a:rPr>
              <a:t>(13)</a:t>
            </a:r>
            <a:endParaRPr sz="1000">
              <a:latin typeface="Times New Roman"/>
              <a:cs typeface="Times New Roman"/>
            </a:endParaRPr>
          </a:p>
        </p:txBody>
      </p:sp>
      <p:grpSp>
        <p:nvGrpSpPr>
          <p:cNvPr id="34" name="object 34" descr=""/>
          <p:cNvGrpSpPr/>
          <p:nvPr/>
        </p:nvGrpSpPr>
        <p:grpSpPr>
          <a:xfrm>
            <a:off x="899998" y="7324369"/>
            <a:ext cx="5760085" cy="546100"/>
            <a:chOff x="899998" y="7324369"/>
            <a:chExt cx="5760085" cy="546100"/>
          </a:xfrm>
        </p:grpSpPr>
        <p:sp>
          <p:nvSpPr>
            <p:cNvPr id="35" name="object 35" descr=""/>
            <p:cNvSpPr/>
            <p:nvPr/>
          </p:nvSpPr>
          <p:spPr>
            <a:xfrm>
              <a:off x="899998" y="7324369"/>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36" name="object 36" descr=""/>
            <p:cNvSpPr/>
            <p:nvPr/>
          </p:nvSpPr>
          <p:spPr>
            <a:xfrm>
              <a:off x="899998" y="7324369"/>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37" name="object 37" descr=""/>
          <p:cNvGrpSpPr/>
          <p:nvPr/>
        </p:nvGrpSpPr>
        <p:grpSpPr>
          <a:xfrm>
            <a:off x="899998" y="8857126"/>
            <a:ext cx="5760085" cy="744220"/>
            <a:chOff x="899998" y="8857126"/>
            <a:chExt cx="5760085" cy="744220"/>
          </a:xfrm>
        </p:grpSpPr>
        <p:sp>
          <p:nvSpPr>
            <p:cNvPr id="38" name="object 38" descr=""/>
            <p:cNvSpPr/>
            <p:nvPr/>
          </p:nvSpPr>
          <p:spPr>
            <a:xfrm>
              <a:off x="899998" y="8857126"/>
              <a:ext cx="5760085" cy="744220"/>
            </a:xfrm>
            <a:custGeom>
              <a:avLst/>
              <a:gdLst/>
              <a:ahLst/>
              <a:cxnLst/>
              <a:rect l="l" t="t" r="r" b="b"/>
              <a:pathLst>
                <a:path w="5760084" h="744220">
                  <a:moveTo>
                    <a:pt x="5724074" y="0"/>
                  </a:moveTo>
                  <a:lnTo>
                    <a:pt x="36000" y="0"/>
                  </a:lnTo>
                  <a:lnTo>
                    <a:pt x="21987" y="2829"/>
                  </a:lnTo>
                  <a:lnTo>
                    <a:pt x="10544" y="10544"/>
                  </a:lnTo>
                  <a:lnTo>
                    <a:pt x="2829" y="21987"/>
                  </a:lnTo>
                  <a:lnTo>
                    <a:pt x="0" y="36000"/>
                  </a:lnTo>
                  <a:lnTo>
                    <a:pt x="0" y="708123"/>
                  </a:lnTo>
                  <a:lnTo>
                    <a:pt x="2829" y="722136"/>
                  </a:lnTo>
                  <a:lnTo>
                    <a:pt x="10544" y="733579"/>
                  </a:lnTo>
                  <a:lnTo>
                    <a:pt x="21987" y="741294"/>
                  </a:lnTo>
                  <a:lnTo>
                    <a:pt x="36000" y="744123"/>
                  </a:lnTo>
                  <a:lnTo>
                    <a:pt x="5724074" y="744123"/>
                  </a:lnTo>
                  <a:lnTo>
                    <a:pt x="5738087" y="741294"/>
                  </a:lnTo>
                  <a:lnTo>
                    <a:pt x="5749530" y="733579"/>
                  </a:lnTo>
                  <a:lnTo>
                    <a:pt x="5757245" y="722136"/>
                  </a:lnTo>
                  <a:lnTo>
                    <a:pt x="5760074" y="70812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39" name="object 39" descr=""/>
            <p:cNvSpPr/>
            <p:nvPr/>
          </p:nvSpPr>
          <p:spPr>
            <a:xfrm>
              <a:off x="899998" y="8857126"/>
              <a:ext cx="5760085" cy="744220"/>
            </a:xfrm>
            <a:custGeom>
              <a:avLst/>
              <a:gdLst/>
              <a:ahLst/>
              <a:cxnLst/>
              <a:rect l="l" t="t" r="r" b="b"/>
              <a:pathLst>
                <a:path w="5760084" h="744220">
                  <a:moveTo>
                    <a:pt x="5724074" y="0"/>
                  </a:moveTo>
                  <a:lnTo>
                    <a:pt x="36000" y="0"/>
                  </a:lnTo>
                  <a:lnTo>
                    <a:pt x="21987" y="2829"/>
                  </a:lnTo>
                  <a:lnTo>
                    <a:pt x="10544" y="10544"/>
                  </a:lnTo>
                  <a:lnTo>
                    <a:pt x="2829" y="21987"/>
                  </a:lnTo>
                  <a:lnTo>
                    <a:pt x="0" y="36000"/>
                  </a:lnTo>
                  <a:lnTo>
                    <a:pt x="0" y="708123"/>
                  </a:lnTo>
                  <a:lnTo>
                    <a:pt x="2829" y="722136"/>
                  </a:lnTo>
                  <a:lnTo>
                    <a:pt x="10544" y="733579"/>
                  </a:lnTo>
                  <a:lnTo>
                    <a:pt x="21987" y="741294"/>
                  </a:lnTo>
                  <a:lnTo>
                    <a:pt x="36000" y="744123"/>
                  </a:lnTo>
                  <a:lnTo>
                    <a:pt x="5724074" y="744123"/>
                  </a:lnTo>
                  <a:lnTo>
                    <a:pt x="5738087" y="741294"/>
                  </a:lnTo>
                  <a:lnTo>
                    <a:pt x="5749530" y="733579"/>
                  </a:lnTo>
                  <a:lnTo>
                    <a:pt x="5757245" y="722136"/>
                  </a:lnTo>
                  <a:lnTo>
                    <a:pt x="5760074" y="70812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40" name="object 40" descr=""/>
          <p:cNvSpPr txBox="1"/>
          <p:nvPr/>
        </p:nvSpPr>
        <p:spPr>
          <a:xfrm>
            <a:off x="887298" y="6389554"/>
            <a:ext cx="5785485" cy="3117215"/>
          </a:xfrm>
          <a:prstGeom prst="rect">
            <a:avLst/>
          </a:prstGeom>
        </p:spPr>
        <p:txBody>
          <a:bodyPr wrap="square" lIns="0" tIns="57785" rIns="0" bIns="0" rtlCol="0" vert="horz">
            <a:spAutoFit/>
          </a:bodyPr>
          <a:lstStyle/>
          <a:p>
            <a:pPr marL="265430">
              <a:lnSpc>
                <a:spcPct val="100000"/>
              </a:lnSpc>
              <a:spcBef>
                <a:spcPts val="455"/>
              </a:spcBef>
            </a:pPr>
            <a:r>
              <a:rPr dirty="0" sz="1000" spc="-20">
                <a:latin typeface="Times New Roman"/>
                <a:cs typeface="Times New Roman"/>
              </a:rPr>
              <a:t>(14)</a:t>
            </a:r>
            <a:endParaRPr sz="1000">
              <a:latin typeface="Times New Roman"/>
              <a:cs typeface="Times New Roman"/>
            </a:endParaRPr>
          </a:p>
          <a:p>
            <a:pPr algn="just" marL="12700" marR="5080" indent="252729">
              <a:lnSpc>
                <a:spcPct val="129500"/>
              </a:lnSpc>
            </a:pPr>
            <a:r>
              <a:rPr dirty="0" sz="1000" spc="10">
                <a:latin typeface="Times New Roman"/>
                <a:cs typeface="Times New Roman"/>
              </a:rPr>
              <a:t>It</a:t>
            </a:r>
            <a:r>
              <a:rPr dirty="0" sz="1000" spc="65">
                <a:latin typeface="Times New Roman"/>
                <a:cs typeface="Times New Roman"/>
              </a:rPr>
              <a:t> </a:t>
            </a:r>
            <a:r>
              <a:rPr dirty="0" sz="1000" spc="10">
                <a:latin typeface="Times New Roman"/>
                <a:cs typeface="Times New Roman"/>
              </a:rPr>
              <a:t>is</a:t>
            </a:r>
            <a:r>
              <a:rPr dirty="0" sz="1000" spc="65">
                <a:latin typeface="Times New Roman"/>
                <a:cs typeface="Times New Roman"/>
              </a:rPr>
              <a:t> </a:t>
            </a:r>
            <a:r>
              <a:rPr dirty="0" sz="1000" spc="10">
                <a:latin typeface="Times New Roman"/>
                <a:cs typeface="Times New Roman"/>
              </a:rPr>
              <a:t>worth</a:t>
            </a:r>
            <a:r>
              <a:rPr dirty="0" sz="1000" spc="65">
                <a:latin typeface="Times New Roman"/>
                <a:cs typeface="Times New Roman"/>
              </a:rPr>
              <a:t> </a:t>
            </a:r>
            <a:r>
              <a:rPr dirty="0" sz="1000" spc="10">
                <a:latin typeface="Times New Roman"/>
                <a:cs typeface="Times New Roman"/>
              </a:rPr>
              <a:t>mentioning</a:t>
            </a:r>
            <a:r>
              <a:rPr dirty="0" sz="1000" spc="65">
                <a:latin typeface="Times New Roman"/>
                <a:cs typeface="Times New Roman"/>
              </a:rPr>
              <a:t> </a:t>
            </a:r>
            <a:r>
              <a:rPr dirty="0" sz="1000" spc="10">
                <a:latin typeface="Times New Roman"/>
                <a:cs typeface="Times New Roman"/>
              </a:rPr>
              <a:t>that</a:t>
            </a:r>
            <a:r>
              <a:rPr dirty="0" sz="1000" spc="65">
                <a:latin typeface="Times New Roman"/>
                <a:cs typeface="Times New Roman"/>
              </a:rPr>
              <a:t> </a:t>
            </a:r>
            <a:r>
              <a:rPr dirty="0" sz="1000" spc="10">
                <a:latin typeface="Times New Roman"/>
                <a:cs typeface="Times New Roman"/>
              </a:rPr>
              <a:t>the</a:t>
            </a:r>
            <a:r>
              <a:rPr dirty="0" sz="1000" spc="70">
                <a:latin typeface="Times New Roman"/>
                <a:cs typeface="Times New Roman"/>
              </a:rPr>
              <a:t> </a:t>
            </a:r>
            <a:r>
              <a:rPr dirty="0" sz="1000" spc="10">
                <a:latin typeface="Times New Roman"/>
                <a:cs typeface="Times New Roman"/>
              </a:rPr>
              <a:t>gradient</a:t>
            </a:r>
            <a:r>
              <a:rPr dirty="0" sz="1000" spc="65">
                <a:latin typeface="Times New Roman"/>
                <a:cs typeface="Times New Roman"/>
              </a:rPr>
              <a:t> </a:t>
            </a:r>
            <a:r>
              <a:rPr dirty="0" sz="1000">
                <a:latin typeface="Times New Roman"/>
                <a:cs typeface="Times New Roman"/>
              </a:rPr>
              <a:t>of</a:t>
            </a:r>
            <a:r>
              <a:rPr dirty="0" sz="1000" spc="6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unimodal</a:t>
            </a:r>
            <a:r>
              <a:rPr dirty="0" sz="1000" spc="65">
                <a:latin typeface="Times New Roman"/>
                <a:cs typeface="Times New Roman"/>
              </a:rPr>
              <a:t> </a:t>
            </a:r>
            <a:r>
              <a:rPr dirty="0" sz="1000" spc="10">
                <a:latin typeface="Times New Roman"/>
                <a:cs typeface="Times New Roman"/>
              </a:rPr>
              <a:t>loss</a:t>
            </a:r>
            <a:r>
              <a:rPr dirty="0" sz="1000" spc="70">
                <a:latin typeface="Times New Roman"/>
                <a:cs typeface="Times New Roman"/>
              </a:rPr>
              <a:t> </a:t>
            </a:r>
            <a:r>
              <a:rPr dirty="0" sz="1000" spc="10">
                <a:latin typeface="Times New Roman"/>
                <a:cs typeface="Times New Roman"/>
              </a:rPr>
              <a:t>also</a:t>
            </a:r>
            <a:r>
              <a:rPr dirty="0" sz="1000" spc="65">
                <a:latin typeface="Times New Roman"/>
                <a:cs typeface="Times New Roman"/>
              </a:rPr>
              <a:t> </a:t>
            </a:r>
            <a:r>
              <a:rPr dirty="0" sz="1000" spc="10">
                <a:latin typeface="Times New Roman"/>
                <a:cs typeface="Times New Roman"/>
              </a:rPr>
              <a:t>passes</a:t>
            </a:r>
            <a:r>
              <a:rPr dirty="0" sz="1000" spc="65">
                <a:latin typeface="Times New Roman"/>
                <a:cs typeface="Times New Roman"/>
              </a:rPr>
              <a:t> </a:t>
            </a:r>
            <a:r>
              <a:rPr dirty="0" sz="1000" spc="10">
                <a:latin typeface="Times New Roman"/>
                <a:cs typeface="Times New Roman"/>
              </a:rPr>
              <a:t>through</a:t>
            </a:r>
            <a:r>
              <a:rPr dirty="0" sz="1000" spc="6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fusion</a:t>
            </a:r>
            <a:r>
              <a:rPr dirty="0" sz="1000" spc="65">
                <a:latin typeface="Times New Roman"/>
                <a:cs typeface="Times New Roman"/>
              </a:rPr>
              <a:t> </a:t>
            </a:r>
            <a:r>
              <a:rPr dirty="0" sz="1000" spc="10">
                <a:latin typeface="Times New Roman"/>
                <a:cs typeface="Times New Roman"/>
              </a:rPr>
              <a:t>module.</a:t>
            </a:r>
            <a:r>
              <a:rPr dirty="0" sz="1000" spc="180">
                <a:latin typeface="Times New Roman"/>
                <a:cs typeface="Times New Roman"/>
              </a:rPr>
              <a:t> </a:t>
            </a:r>
            <a:r>
              <a:rPr dirty="0" sz="1000" spc="-25">
                <a:latin typeface="Times New Roman"/>
                <a:cs typeface="Times New Roman"/>
              </a:rPr>
              <a:t>To </a:t>
            </a:r>
            <a:r>
              <a:rPr dirty="0" sz="1000" spc="10">
                <a:latin typeface="Times New Roman"/>
                <a:cs typeface="Times New Roman"/>
              </a:rPr>
              <a:t>avoid</a:t>
            </a:r>
            <a:r>
              <a:rPr dirty="0" sz="1000" spc="75">
                <a:latin typeface="Times New Roman"/>
                <a:cs typeface="Times New Roman"/>
              </a:rPr>
              <a:t> </a:t>
            </a:r>
            <a:r>
              <a:rPr dirty="0" sz="1000" spc="10">
                <a:latin typeface="Times New Roman"/>
                <a:cs typeface="Times New Roman"/>
              </a:rPr>
              <a:t>conflicting</a:t>
            </a:r>
            <a:r>
              <a:rPr dirty="0" sz="1000" spc="85">
                <a:latin typeface="Times New Roman"/>
                <a:cs typeface="Times New Roman"/>
              </a:rPr>
              <a:t> </a:t>
            </a:r>
            <a:r>
              <a:rPr dirty="0" sz="1000" spc="10">
                <a:latin typeface="Times New Roman"/>
                <a:cs typeface="Times New Roman"/>
              </a:rPr>
              <a:t>with</a:t>
            </a:r>
            <a:r>
              <a:rPr dirty="0" sz="1000" spc="85">
                <a:latin typeface="Times New Roman"/>
                <a:cs typeface="Times New Roman"/>
              </a:rPr>
              <a:t> </a:t>
            </a:r>
            <a:r>
              <a:rPr dirty="0" sz="1000" spc="10">
                <a:latin typeface="Times New Roman"/>
                <a:cs typeface="Times New Roman"/>
              </a:rPr>
              <a:t>the</a:t>
            </a:r>
            <a:r>
              <a:rPr dirty="0" sz="1000" spc="85">
                <a:latin typeface="Times New Roman"/>
                <a:cs typeface="Times New Roman"/>
              </a:rPr>
              <a:t> </a:t>
            </a:r>
            <a:r>
              <a:rPr dirty="0" sz="1000" spc="10">
                <a:latin typeface="Times New Roman"/>
                <a:cs typeface="Times New Roman"/>
              </a:rPr>
              <a:t>multimodal</a:t>
            </a:r>
            <a:r>
              <a:rPr dirty="0" sz="1000" spc="85">
                <a:latin typeface="Times New Roman"/>
                <a:cs typeface="Times New Roman"/>
              </a:rPr>
              <a:t> </a:t>
            </a:r>
            <a:r>
              <a:rPr dirty="0" sz="1000" spc="10">
                <a:latin typeface="Times New Roman"/>
                <a:cs typeface="Times New Roman"/>
              </a:rPr>
              <a:t>gradient,</a:t>
            </a:r>
            <a:r>
              <a:rPr dirty="0" sz="1000" spc="95">
                <a:latin typeface="Times New Roman"/>
                <a:cs typeface="Times New Roman"/>
              </a:rPr>
              <a:t> </a:t>
            </a:r>
            <a:r>
              <a:rPr dirty="0" sz="1000" spc="10">
                <a:latin typeface="Times New Roman"/>
                <a:cs typeface="Times New Roman"/>
              </a:rPr>
              <a:t>we</a:t>
            </a:r>
            <a:r>
              <a:rPr dirty="0" sz="1000" spc="75">
                <a:latin typeface="Times New Roman"/>
                <a:cs typeface="Times New Roman"/>
              </a:rPr>
              <a:t> </a:t>
            </a:r>
            <a:r>
              <a:rPr dirty="0" sz="1000" spc="10">
                <a:latin typeface="Times New Roman"/>
                <a:cs typeface="Times New Roman"/>
              </a:rPr>
              <a:t>will</a:t>
            </a:r>
            <a:r>
              <a:rPr dirty="0" sz="1000" spc="85">
                <a:latin typeface="Times New Roman"/>
                <a:cs typeface="Times New Roman"/>
              </a:rPr>
              <a:t> </a:t>
            </a:r>
            <a:r>
              <a:rPr dirty="0" sz="1000" spc="10">
                <a:latin typeface="Times New Roman"/>
                <a:cs typeface="Times New Roman"/>
              </a:rPr>
              <a:t>set</a:t>
            </a:r>
            <a:r>
              <a:rPr dirty="0" sz="1000" spc="85">
                <a:latin typeface="Times New Roman"/>
                <a:cs typeface="Times New Roman"/>
              </a:rPr>
              <a:t> </a:t>
            </a:r>
            <a:r>
              <a:rPr dirty="0" sz="1000" spc="10">
                <a:latin typeface="Times New Roman"/>
                <a:cs typeface="Times New Roman"/>
              </a:rPr>
              <a:t>the</a:t>
            </a:r>
            <a:r>
              <a:rPr dirty="0" sz="1000" spc="85">
                <a:latin typeface="Times New Roman"/>
                <a:cs typeface="Times New Roman"/>
              </a:rPr>
              <a:t> </a:t>
            </a:r>
            <a:r>
              <a:rPr dirty="0" sz="1000" spc="10">
                <a:latin typeface="Times New Roman"/>
                <a:cs typeface="Times New Roman"/>
              </a:rPr>
              <a:t>unimodal</a:t>
            </a:r>
            <a:r>
              <a:rPr dirty="0" sz="1000" spc="85">
                <a:latin typeface="Times New Roman"/>
                <a:cs typeface="Times New Roman"/>
              </a:rPr>
              <a:t> </a:t>
            </a:r>
            <a:r>
              <a:rPr dirty="0" sz="1000" spc="10">
                <a:latin typeface="Times New Roman"/>
                <a:cs typeface="Times New Roman"/>
              </a:rPr>
              <a:t>gradient</a:t>
            </a:r>
            <a:r>
              <a:rPr dirty="0" sz="1000" spc="85">
                <a:latin typeface="Times New Roman"/>
                <a:cs typeface="Times New Roman"/>
              </a:rPr>
              <a:t> </a:t>
            </a:r>
            <a:r>
              <a:rPr dirty="0" sz="1000" spc="10">
                <a:latin typeface="Times New Roman"/>
                <a:cs typeface="Times New Roman"/>
              </a:rPr>
              <a:t>in</a:t>
            </a:r>
            <a:r>
              <a:rPr dirty="0" sz="1000" spc="85">
                <a:latin typeface="Times New Roman"/>
                <a:cs typeface="Times New Roman"/>
              </a:rPr>
              <a:t> </a:t>
            </a:r>
            <a:r>
              <a:rPr dirty="0" sz="1000" spc="10">
                <a:latin typeface="Times New Roman"/>
                <a:cs typeface="Times New Roman"/>
              </a:rPr>
              <a:t>the</a:t>
            </a:r>
            <a:r>
              <a:rPr dirty="0" sz="1000" spc="85">
                <a:latin typeface="Times New Roman"/>
                <a:cs typeface="Times New Roman"/>
              </a:rPr>
              <a:t> </a:t>
            </a:r>
            <a:r>
              <a:rPr dirty="0" sz="1000" spc="10">
                <a:latin typeface="Times New Roman"/>
                <a:cs typeface="Times New Roman"/>
              </a:rPr>
              <a:t>fusion</a:t>
            </a:r>
            <a:r>
              <a:rPr dirty="0" sz="1000" spc="85">
                <a:latin typeface="Times New Roman"/>
                <a:cs typeface="Times New Roman"/>
              </a:rPr>
              <a:t> </a:t>
            </a:r>
            <a:r>
              <a:rPr dirty="0" sz="1000" spc="10">
                <a:latin typeface="Times New Roman"/>
                <a:cs typeface="Times New Roman"/>
              </a:rPr>
              <a:t>module</a:t>
            </a:r>
            <a:r>
              <a:rPr dirty="0" sz="1000" spc="85">
                <a:latin typeface="Times New Roman"/>
                <a:cs typeface="Times New Roman"/>
              </a:rPr>
              <a:t> </a:t>
            </a:r>
            <a:r>
              <a:rPr dirty="0" sz="1000" spc="10">
                <a:latin typeface="Times New Roman"/>
                <a:cs typeface="Times New Roman"/>
              </a:rPr>
              <a:t>to</a:t>
            </a:r>
            <a:r>
              <a:rPr dirty="0" sz="1000" spc="85">
                <a:latin typeface="Times New Roman"/>
                <a:cs typeface="Times New Roman"/>
              </a:rPr>
              <a:t> </a:t>
            </a:r>
            <a:r>
              <a:rPr dirty="0" sz="1000" spc="-50">
                <a:latin typeface="Times New Roman"/>
                <a:cs typeface="Times New Roman"/>
              </a:rPr>
              <a:t>0</a:t>
            </a:r>
            <a:r>
              <a:rPr dirty="0" sz="1000" spc="10">
                <a:latin typeface="Times New Roman"/>
                <a:cs typeface="Times New Roman"/>
              </a:rPr>
              <a:t> before</a:t>
            </a:r>
            <a:r>
              <a:rPr dirty="0" sz="1000" spc="45">
                <a:latin typeface="Times New Roman"/>
                <a:cs typeface="Times New Roman"/>
              </a:rPr>
              <a:t> </a:t>
            </a:r>
            <a:r>
              <a:rPr dirty="0" sz="1000" spc="10">
                <a:latin typeface="Times New Roman"/>
                <a:cs typeface="Times New Roman"/>
              </a:rPr>
              <a:t>calculating</a:t>
            </a:r>
            <a:r>
              <a:rPr dirty="0" sz="1000" spc="50">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gradient</a:t>
            </a:r>
            <a:r>
              <a:rPr dirty="0" sz="1000" spc="50">
                <a:latin typeface="Times New Roman"/>
                <a:cs typeface="Times New Roman"/>
              </a:rPr>
              <a:t> </a:t>
            </a:r>
            <a:r>
              <a:rPr dirty="0" sz="1000">
                <a:latin typeface="Times New Roman"/>
                <a:cs typeface="Times New Roman"/>
              </a:rPr>
              <a:t>of</a:t>
            </a:r>
            <a:r>
              <a:rPr dirty="0" sz="1000" spc="50">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multimodal</a:t>
            </a:r>
            <a:r>
              <a:rPr dirty="0" sz="1000" spc="50">
                <a:latin typeface="Times New Roman"/>
                <a:cs typeface="Times New Roman"/>
              </a:rPr>
              <a:t> </a:t>
            </a:r>
            <a:r>
              <a:rPr dirty="0" sz="1000" spc="10">
                <a:latin typeface="Times New Roman"/>
                <a:cs typeface="Times New Roman"/>
              </a:rPr>
              <a:t>loss,</a:t>
            </a:r>
            <a:r>
              <a:rPr dirty="0" sz="1000" spc="50">
                <a:latin typeface="Times New Roman"/>
                <a:cs typeface="Times New Roman"/>
              </a:rPr>
              <a:t> </a:t>
            </a:r>
            <a:r>
              <a:rPr dirty="0" sz="1000" spc="10">
                <a:latin typeface="Times New Roman"/>
                <a:cs typeface="Times New Roman"/>
              </a:rPr>
              <a:t>as</a:t>
            </a:r>
            <a:r>
              <a:rPr dirty="0" sz="1000" spc="45">
                <a:latin typeface="Times New Roman"/>
                <a:cs typeface="Times New Roman"/>
              </a:rPr>
              <a:t> </a:t>
            </a:r>
            <a:r>
              <a:rPr dirty="0" sz="1000" spc="10">
                <a:latin typeface="Times New Roman"/>
                <a:cs typeface="Times New Roman"/>
              </a:rPr>
              <a:t>described</a:t>
            </a:r>
            <a:r>
              <a:rPr dirty="0" sz="1000" spc="50">
                <a:latin typeface="Times New Roman"/>
                <a:cs typeface="Times New Roman"/>
              </a:rPr>
              <a:t> </a:t>
            </a:r>
            <a:r>
              <a:rPr dirty="0" sz="1000" spc="10">
                <a:latin typeface="Times New Roman"/>
                <a:cs typeface="Times New Roman"/>
              </a:rPr>
              <a:t>in</a:t>
            </a:r>
            <a:r>
              <a:rPr dirty="0" sz="1000" spc="50">
                <a:latin typeface="Times New Roman"/>
                <a:cs typeface="Times New Roman"/>
              </a:rPr>
              <a:t> </a:t>
            </a:r>
            <a:r>
              <a:rPr dirty="0" sz="1000" spc="10">
                <a:latin typeface="Times New Roman"/>
                <a:cs typeface="Times New Roman"/>
              </a:rPr>
              <a:t>Algorithm</a:t>
            </a:r>
            <a:r>
              <a:rPr dirty="0" sz="1000" spc="45">
                <a:latin typeface="Times New Roman"/>
                <a:cs typeface="Times New Roman"/>
              </a:rPr>
              <a:t> </a:t>
            </a:r>
            <a:r>
              <a:rPr dirty="0" sz="1000" spc="-25">
                <a:latin typeface="Times New Roman"/>
                <a:cs typeface="Times New Roman"/>
              </a:rPr>
              <a:t>1.</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192405" marR="184785">
              <a:lnSpc>
                <a:spcPct val="129500"/>
              </a:lnSpc>
            </a:pPr>
            <a:r>
              <a:rPr dirty="0" sz="1000" spc="-45">
                <a:latin typeface="SimSun"/>
                <a:cs typeface="SimSun"/>
              </a:rPr>
              <a:t>值得一提的是，单峰损失的梯度也会通过融合模块。为了避免与多峰梯度冲突，我们将在计算多峰</a:t>
            </a:r>
            <a:r>
              <a:rPr dirty="0" sz="1000" spc="-25">
                <a:latin typeface="SimSun"/>
                <a:cs typeface="SimSun"/>
              </a:rPr>
              <a:t>损失的梯度之前，将融合模块中的单峰梯度设置为 </a:t>
            </a:r>
            <a:r>
              <a:rPr dirty="0" sz="1000" spc="-10">
                <a:latin typeface="Times New Roman"/>
                <a:cs typeface="Times New Roman"/>
              </a:rPr>
              <a:t>0</a:t>
            </a:r>
            <a:r>
              <a:rPr dirty="0" sz="1000" spc="-65">
                <a:latin typeface="SimSun"/>
                <a:cs typeface="SimSun"/>
              </a:rPr>
              <a:t>，如算法 </a:t>
            </a:r>
            <a:r>
              <a:rPr dirty="0" sz="1000">
                <a:latin typeface="Times New Roman"/>
                <a:cs typeface="Times New Roman"/>
              </a:rPr>
              <a:t>1</a:t>
            </a:r>
            <a:r>
              <a:rPr dirty="0" sz="1000" spc="-30">
                <a:latin typeface="Times New Roman"/>
                <a:cs typeface="Times New Roman"/>
              </a:rPr>
              <a:t> </a:t>
            </a:r>
            <a:r>
              <a:rPr dirty="0" sz="1000" spc="-20">
                <a:latin typeface="SimSun"/>
                <a:cs typeface="SimSun"/>
              </a:rPr>
              <a:t>中所述。</a:t>
            </a:r>
            <a:endParaRPr sz="1000">
              <a:latin typeface="SimSun"/>
              <a:cs typeface="SimSun"/>
            </a:endParaRPr>
          </a:p>
          <a:p>
            <a:pPr>
              <a:lnSpc>
                <a:spcPct val="100000"/>
              </a:lnSpc>
              <a:spcBef>
                <a:spcPts val="70"/>
              </a:spcBef>
            </a:pPr>
            <a:endParaRPr sz="1000">
              <a:latin typeface="SimSun"/>
              <a:cs typeface="SimSun"/>
            </a:endParaRPr>
          </a:p>
          <a:p>
            <a:pPr algn="just" marL="12700" marR="5080" indent="252729">
              <a:lnSpc>
                <a:spcPct val="129800"/>
              </a:lnSpc>
              <a:spcBef>
                <a:spcPts val="5"/>
              </a:spcBef>
            </a:pPr>
            <a:r>
              <a:rPr dirty="0" sz="1000">
                <a:latin typeface="Times New Roman"/>
                <a:cs typeface="Times New Roman"/>
              </a:rPr>
              <a:t>So</a:t>
            </a:r>
            <a:r>
              <a:rPr dirty="0" sz="1000" spc="55">
                <a:latin typeface="Times New Roman"/>
                <a:cs typeface="Times New Roman"/>
              </a:rPr>
              <a:t> </a:t>
            </a:r>
            <a:r>
              <a:rPr dirty="0" sz="1000">
                <a:latin typeface="Times New Roman"/>
                <a:cs typeface="Times New Roman"/>
              </a:rPr>
              <a:t>far,</a:t>
            </a:r>
            <a:r>
              <a:rPr dirty="0" sz="1000" spc="55">
                <a:latin typeface="Times New Roman"/>
                <a:cs typeface="Times New Roman"/>
              </a:rPr>
              <a:t> </a:t>
            </a:r>
            <a:r>
              <a:rPr dirty="0" sz="1000" spc="10">
                <a:latin typeface="Times New Roman"/>
                <a:cs typeface="Times New Roman"/>
              </a:rPr>
              <a:t>we</a:t>
            </a:r>
            <a:r>
              <a:rPr dirty="0" sz="1000" spc="55">
                <a:latin typeface="Times New Roman"/>
                <a:cs typeface="Times New Roman"/>
              </a:rPr>
              <a:t> </a:t>
            </a:r>
            <a:r>
              <a:rPr dirty="0" sz="1000" spc="10">
                <a:latin typeface="Times New Roman"/>
                <a:cs typeface="Times New Roman"/>
              </a:rPr>
              <a:t>have</a:t>
            </a:r>
            <a:r>
              <a:rPr dirty="0" sz="1000" spc="55">
                <a:latin typeface="Times New Roman"/>
                <a:cs typeface="Times New Roman"/>
              </a:rPr>
              <a:t> </a:t>
            </a:r>
            <a:r>
              <a:rPr dirty="0" sz="1000" spc="10">
                <a:latin typeface="Times New Roman"/>
                <a:cs typeface="Times New Roman"/>
              </a:rPr>
              <a:t>successfully</a:t>
            </a:r>
            <a:r>
              <a:rPr dirty="0" sz="1000" spc="55">
                <a:latin typeface="Times New Roman"/>
                <a:cs typeface="Times New Roman"/>
              </a:rPr>
              <a:t> </a:t>
            </a:r>
            <a:r>
              <a:rPr dirty="0" sz="1000" spc="10">
                <a:latin typeface="Times New Roman"/>
                <a:cs typeface="Times New Roman"/>
              </a:rPr>
              <a:t>eliminated</a:t>
            </a:r>
            <a:r>
              <a:rPr dirty="0" sz="1000" spc="50">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optimization</a:t>
            </a:r>
            <a:r>
              <a:rPr dirty="0" sz="1000" spc="55">
                <a:latin typeface="Times New Roman"/>
                <a:cs typeface="Times New Roman"/>
              </a:rPr>
              <a:t> </a:t>
            </a:r>
            <a:r>
              <a:rPr dirty="0" sz="1000" spc="10">
                <a:latin typeface="Times New Roman"/>
                <a:cs typeface="Times New Roman"/>
              </a:rPr>
              <a:t>conflict</a:t>
            </a:r>
            <a:r>
              <a:rPr dirty="0" sz="1000" spc="55">
                <a:latin typeface="Times New Roman"/>
                <a:cs typeface="Times New Roman"/>
              </a:rPr>
              <a:t> </a:t>
            </a:r>
            <a:r>
              <a:rPr dirty="0" sz="1000" spc="10">
                <a:latin typeface="Times New Roman"/>
                <a:cs typeface="Times New Roman"/>
              </a:rPr>
              <a:t>between</a:t>
            </a:r>
            <a:r>
              <a:rPr dirty="0" sz="1000" spc="55">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modality</a:t>
            </a:r>
            <a:r>
              <a:rPr dirty="0" sz="1000" spc="55">
                <a:latin typeface="Times New Roman"/>
                <a:cs typeface="Times New Roman"/>
              </a:rPr>
              <a:t> </a:t>
            </a:r>
            <a:r>
              <a:rPr dirty="0" sz="1000" spc="10">
                <a:latin typeface="Times New Roman"/>
                <a:cs typeface="Times New Roman"/>
              </a:rPr>
              <a:t>encoder</a:t>
            </a:r>
            <a:r>
              <a:rPr dirty="0" sz="1000" spc="55">
                <a:latin typeface="Times New Roman"/>
                <a:cs typeface="Times New Roman"/>
              </a:rPr>
              <a:t> </a:t>
            </a:r>
            <a:r>
              <a:rPr dirty="0" sz="1000" spc="10">
                <a:latin typeface="Times New Roman"/>
                <a:cs typeface="Times New Roman"/>
              </a:rPr>
              <a:t>and</a:t>
            </a:r>
            <a:r>
              <a:rPr dirty="0" sz="1000" spc="55">
                <a:latin typeface="Times New Roman"/>
                <a:cs typeface="Times New Roman"/>
              </a:rPr>
              <a:t> </a:t>
            </a:r>
            <a:r>
              <a:rPr dirty="0" sz="1000" spc="-25">
                <a:latin typeface="Times New Roman"/>
                <a:cs typeface="Times New Roman"/>
              </a:rPr>
              <a:t>the </a:t>
            </a:r>
            <a:r>
              <a:rPr dirty="0" sz="1000" spc="10">
                <a:latin typeface="Times New Roman"/>
                <a:cs typeface="Times New Roman"/>
              </a:rPr>
              <a:t>modality</a:t>
            </a:r>
            <a:r>
              <a:rPr dirty="0" sz="1000" spc="65">
                <a:latin typeface="Times New Roman"/>
                <a:cs typeface="Times New Roman"/>
              </a:rPr>
              <a:t> </a:t>
            </a:r>
            <a:r>
              <a:rPr dirty="0" sz="1000" spc="10">
                <a:latin typeface="Times New Roman"/>
                <a:cs typeface="Times New Roman"/>
              </a:rPr>
              <a:t>fusion</a:t>
            </a:r>
            <a:r>
              <a:rPr dirty="0" sz="1000" spc="70">
                <a:latin typeface="Times New Roman"/>
                <a:cs typeface="Times New Roman"/>
              </a:rPr>
              <a:t> </a:t>
            </a:r>
            <a:r>
              <a:rPr dirty="0" sz="1000" spc="10">
                <a:latin typeface="Times New Roman"/>
                <a:cs typeface="Times New Roman"/>
              </a:rPr>
              <a:t>module</a:t>
            </a:r>
            <a:r>
              <a:rPr dirty="0" sz="1000" spc="75">
                <a:latin typeface="Times New Roman"/>
                <a:cs typeface="Times New Roman"/>
              </a:rPr>
              <a:t> </a:t>
            </a:r>
            <a:r>
              <a:rPr dirty="0" sz="1000" spc="10">
                <a:latin typeface="Times New Roman"/>
                <a:cs typeface="Times New Roman"/>
              </a:rPr>
              <a:t>when</a:t>
            </a:r>
            <a:r>
              <a:rPr dirty="0" sz="1000" spc="70">
                <a:latin typeface="Times New Roman"/>
                <a:cs typeface="Times New Roman"/>
              </a:rPr>
              <a:t> </a:t>
            </a:r>
            <a:r>
              <a:rPr dirty="0" sz="1000" spc="10">
                <a:latin typeface="Times New Roman"/>
                <a:cs typeface="Times New Roman"/>
              </a:rPr>
              <a:t>ensuring</a:t>
            </a:r>
            <a:r>
              <a:rPr dirty="0" sz="1000" spc="75">
                <a:latin typeface="Times New Roman"/>
                <a:cs typeface="Times New Roman"/>
              </a:rPr>
              <a:t> </a:t>
            </a:r>
            <a:r>
              <a:rPr dirty="0" sz="1000" spc="10">
                <a:latin typeface="Times New Roman"/>
                <a:cs typeface="Times New Roman"/>
              </a:rPr>
              <a:t>their</a:t>
            </a:r>
            <a:r>
              <a:rPr dirty="0" sz="1000" spc="65">
                <a:latin typeface="Times New Roman"/>
                <a:cs typeface="Times New Roman"/>
              </a:rPr>
              <a:t> </a:t>
            </a:r>
            <a:r>
              <a:rPr dirty="0" sz="1000" spc="10">
                <a:latin typeface="Times New Roman"/>
                <a:cs typeface="Times New Roman"/>
              </a:rPr>
              <a:t>respective</a:t>
            </a:r>
            <a:r>
              <a:rPr dirty="0" sz="1000" spc="70">
                <a:latin typeface="Times New Roman"/>
                <a:cs typeface="Times New Roman"/>
              </a:rPr>
              <a:t> </a:t>
            </a:r>
            <a:r>
              <a:rPr dirty="0" sz="1000" spc="10">
                <a:latin typeface="Times New Roman"/>
                <a:cs typeface="Times New Roman"/>
              </a:rPr>
              <a:t>optimization</a:t>
            </a:r>
            <a:r>
              <a:rPr dirty="0" sz="1000" spc="75">
                <a:latin typeface="Times New Roman"/>
                <a:cs typeface="Times New Roman"/>
              </a:rPr>
              <a:t> </a:t>
            </a:r>
            <a:r>
              <a:rPr dirty="0" sz="1000" spc="10">
                <a:latin typeface="Times New Roman"/>
                <a:cs typeface="Times New Roman"/>
              </a:rPr>
              <a:t>processes.</a:t>
            </a:r>
            <a:r>
              <a:rPr dirty="0" sz="1000" spc="190">
                <a:latin typeface="Times New Roman"/>
                <a:cs typeface="Times New Roman"/>
              </a:rPr>
              <a:t> </a:t>
            </a:r>
            <a:r>
              <a:rPr dirty="0" sz="1000" spc="10">
                <a:latin typeface="Times New Roman"/>
                <a:cs typeface="Times New Roman"/>
              </a:rPr>
              <a:t>More</a:t>
            </a:r>
            <a:r>
              <a:rPr dirty="0" sz="1000" spc="70">
                <a:latin typeface="Times New Roman"/>
                <a:cs typeface="Times New Roman"/>
              </a:rPr>
              <a:t> </a:t>
            </a:r>
            <a:r>
              <a:rPr dirty="0" sz="1000" spc="10">
                <a:latin typeface="Times New Roman"/>
                <a:cs typeface="Times New Roman"/>
              </a:rPr>
              <a:t>importantly,</a:t>
            </a:r>
            <a:r>
              <a:rPr dirty="0" sz="1000" spc="75">
                <a:latin typeface="Times New Roman"/>
                <a:cs typeface="Times New Roman"/>
              </a:rPr>
              <a:t> </a:t>
            </a:r>
            <a:r>
              <a:rPr dirty="0" sz="1000" spc="10">
                <a:latin typeface="Times New Roman"/>
                <a:cs typeface="Times New Roman"/>
              </a:rPr>
              <a:t>since</a:t>
            </a:r>
            <a:r>
              <a:rPr dirty="0" sz="1000" spc="70">
                <a:latin typeface="Times New Roman"/>
                <a:cs typeface="Times New Roman"/>
              </a:rPr>
              <a:t> </a:t>
            </a:r>
            <a:r>
              <a:rPr dirty="0" sz="1000" spc="-25">
                <a:latin typeface="Times New Roman"/>
                <a:cs typeface="Times New Roman"/>
              </a:rPr>
              <a:t>the </a:t>
            </a:r>
            <a:r>
              <a:rPr dirty="0" sz="1000">
                <a:latin typeface="Times New Roman"/>
                <a:cs typeface="Times New Roman"/>
              </a:rPr>
              <a:t>extra</a:t>
            </a:r>
            <a:r>
              <a:rPr dirty="0" sz="1000" spc="229">
                <a:latin typeface="Times New Roman"/>
                <a:cs typeface="Times New Roman"/>
              </a:rPr>
              <a:t> </a:t>
            </a:r>
            <a:r>
              <a:rPr dirty="0" sz="1000">
                <a:latin typeface="Times New Roman"/>
                <a:cs typeface="Times New Roman"/>
              </a:rPr>
              <a:t>unimodal</a:t>
            </a:r>
            <a:r>
              <a:rPr dirty="0" sz="1000" spc="229">
                <a:latin typeface="Times New Roman"/>
                <a:cs typeface="Times New Roman"/>
              </a:rPr>
              <a:t> </a:t>
            </a:r>
            <a:r>
              <a:rPr dirty="0" sz="1000">
                <a:latin typeface="Times New Roman"/>
                <a:cs typeface="Times New Roman"/>
              </a:rPr>
              <a:t>gradient</a:t>
            </a:r>
            <a:r>
              <a:rPr dirty="0" sz="1000" spc="229">
                <a:latin typeface="Times New Roman"/>
                <a:cs typeface="Times New Roman"/>
              </a:rPr>
              <a:t> </a:t>
            </a:r>
            <a:r>
              <a:rPr dirty="0" sz="1000">
                <a:latin typeface="Times New Roman"/>
                <a:cs typeface="Times New Roman"/>
              </a:rPr>
              <a:t>paths</a:t>
            </a:r>
            <a:r>
              <a:rPr dirty="0" sz="1000" spc="229">
                <a:latin typeface="Times New Roman"/>
                <a:cs typeface="Times New Roman"/>
              </a:rPr>
              <a:t> </a:t>
            </a:r>
            <a:r>
              <a:rPr dirty="0" sz="1000">
                <a:latin typeface="Times New Roman"/>
                <a:cs typeface="Times New Roman"/>
              </a:rPr>
              <a:t>for</a:t>
            </a:r>
            <a:r>
              <a:rPr dirty="0" sz="1000" spc="229">
                <a:latin typeface="Times New Roman"/>
                <a:cs typeface="Times New Roman"/>
              </a:rPr>
              <a:t> </a:t>
            </a:r>
            <a:r>
              <a:rPr dirty="0" sz="1000">
                <a:latin typeface="Times New Roman"/>
                <a:cs typeface="Times New Roman"/>
              </a:rPr>
              <a:t>each</a:t>
            </a:r>
            <a:r>
              <a:rPr dirty="0" sz="1000" spc="229">
                <a:latin typeface="Times New Roman"/>
                <a:cs typeface="Times New Roman"/>
              </a:rPr>
              <a:t> </a:t>
            </a:r>
            <a:r>
              <a:rPr dirty="0" sz="1000">
                <a:latin typeface="Times New Roman"/>
                <a:cs typeface="Times New Roman"/>
              </a:rPr>
              <a:t>modality</a:t>
            </a:r>
            <a:r>
              <a:rPr dirty="0" sz="1000" spc="229">
                <a:latin typeface="Times New Roman"/>
                <a:cs typeface="Times New Roman"/>
              </a:rPr>
              <a:t> </a:t>
            </a:r>
            <a:r>
              <a:rPr dirty="0" sz="1000">
                <a:latin typeface="Times New Roman"/>
                <a:cs typeface="Times New Roman"/>
              </a:rPr>
              <a:t>encoder</a:t>
            </a:r>
            <a:r>
              <a:rPr dirty="0" sz="1000" spc="229">
                <a:latin typeface="Times New Roman"/>
                <a:cs typeface="Times New Roman"/>
              </a:rPr>
              <a:t> </a:t>
            </a:r>
            <a:r>
              <a:rPr dirty="0" sz="1000">
                <a:latin typeface="Times New Roman"/>
                <a:cs typeface="Times New Roman"/>
              </a:rPr>
              <a:t>are</a:t>
            </a:r>
            <a:r>
              <a:rPr dirty="0" sz="1000" spc="229">
                <a:latin typeface="Times New Roman"/>
                <a:cs typeface="Times New Roman"/>
              </a:rPr>
              <a:t> </a:t>
            </a:r>
            <a:r>
              <a:rPr dirty="0" sz="1000">
                <a:latin typeface="Times New Roman"/>
                <a:cs typeface="Times New Roman"/>
              </a:rPr>
              <a:t>independent,</a:t>
            </a:r>
            <a:r>
              <a:rPr dirty="0" sz="1000" spc="270">
                <a:latin typeface="Times New Roman"/>
                <a:cs typeface="Times New Roman"/>
              </a:rPr>
              <a:t> </a:t>
            </a:r>
            <a:r>
              <a:rPr dirty="0" sz="1000">
                <a:latin typeface="Times New Roman"/>
                <a:cs typeface="Times New Roman"/>
              </a:rPr>
              <a:t>DGL</a:t>
            </a:r>
            <a:r>
              <a:rPr dirty="0" sz="1000" spc="229">
                <a:latin typeface="Times New Roman"/>
                <a:cs typeface="Times New Roman"/>
              </a:rPr>
              <a:t> </a:t>
            </a:r>
            <a:r>
              <a:rPr dirty="0" sz="1000">
                <a:latin typeface="Times New Roman"/>
                <a:cs typeface="Times New Roman"/>
              </a:rPr>
              <a:t>also</a:t>
            </a:r>
            <a:r>
              <a:rPr dirty="0" sz="1000" spc="229">
                <a:latin typeface="Times New Roman"/>
                <a:cs typeface="Times New Roman"/>
              </a:rPr>
              <a:t> </a:t>
            </a:r>
            <a:r>
              <a:rPr dirty="0" sz="1000">
                <a:latin typeface="Times New Roman"/>
                <a:cs typeface="Times New Roman"/>
              </a:rPr>
              <a:t>addresses</a:t>
            </a:r>
            <a:r>
              <a:rPr dirty="0" sz="1000" spc="229">
                <a:latin typeface="Times New Roman"/>
                <a:cs typeface="Times New Roman"/>
              </a:rPr>
              <a:t> </a:t>
            </a:r>
            <a:r>
              <a:rPr dirty="0" sz="1000">
                <a:latin typeface="Times New Roman"/>
                <a:cs typeface="Times New Roman"/>
              </a:rPr>
              <a:t>the</a:t>
            </a:r>
            <a:r>
              <a:rPr dirty="0" sz="1000" spc="229">
                <a:latin typeface="Times New Roman"/>
                <a:cs typeface="Times New Roman"/>
              </a:rPr>
              <a:t> </a:t>
            </a:r>
            <a:r>
              <a:rPr dirty="0" sz="1000" spc="-10">
                <a:latin typeface="Times New Roman"/>
                <a:cs typeface="Times New Roman"/>
              </a:rPr>
              <a:t>inter- </a:t>
            </a:r>
            <a:r>
              <a:rPr dirty="0" sz="1000">
                <a:latin typeface="Times New Roman"/>
                <a:cs typeface="Times New Roman"/>
              </a:rPr>
              <a:t>modality</a:t>
            </a:r>
            <a:r>
              <a:rPr dirty="0" sz="1000" spc="125">
                <a:latin typeface="Times New Roman"/>
                <a:cs typeface="Times New Roman"/>
              </a:rPr>
              <a:t> </a:t>
            </a:r>
            <a:r>
              <a:rPr dirty="0" sz="1000">
                <a:latin typeface="Times New Roman"/>
                <a:cs typeface="Times New Roman"/>
              </a:rPr>
              <a:t>competition</a:t>
            </a:r>
            <a:r>
              <a:rPr dirty="0" sz="1000" spc="125">
                <a:latin typeface="Times New Roman"/>
                <a:cs typeface="Times New Roman"/>
              </a:rPr>
              <a:t> </a:t>
            </a:r>
            <a:r>
              <a:rPr dirty="0" sz="1000">
                <a:latin typeface="Times New Roman"/>
                <a:cs typeface="Times New Roman"/>
              </a:rPr>
              <a:t>that</a:t>
            </a:r>
            <a:r>
              <a:rPr dirty="0" sz="1000" spc="125">
                <a:latin typeface="Times New Roman"/>
                <a:cs typeface="Times New Roman"/>
              </a:rPr>
              <a:t> </a:t>
            </a:r>
            <a:r>
              <a:rPr dirty="0" sz="1000">
                <a:latin typeface="Times New Roman"/>
                <a:cs typeface="Times New Roman"/>
              </a:rPr>
              <a:t>limits</a:t>
            </a:r>
            <a:r>
              <a:rPr dirty="0" sz="1000" spc="125">
                <a:latin typeface="Times New Roman"/>
                <a:cs typeface="Times New Roman"/>
              </a:rPr>
              <a:t> </a:t>
            </a:r>
            <a:r>
              <a:rPr dirty="0" sz="1000">
                <a:latin typeface="Times New Roman"/>
                <a:cs typeface="Times New Roman"/>
              </a:rPr>
              <a:t>the</a:t>
            </a:r>
            <a:r>
              <a:rPr dirty="0" sz="1000" spc="125">
                <a:latin typeface="Times New Roman"/>
                <a:cs typeface="Times New Roman"/>
              </a:rPr>
              <a:t> </a:t>
            </a:r>
            <a:r>
              <a:rPr dirty="0" sz="1000">
                <a:latin typeface="Times New Roman"/>
                <a:cs typeface="Times New Roman"/>
              </a:rPr>
              <a:t>performance</a:t>
            </a:r>
            <a:r>
              <a:rPr dirty="0" sz="1000" spc="130">
                <a:latin typeface="Times New Roman"/>
                <a:cs typeface="Times New Roman"/>
              </a:rPr>
              <a:t> </a:t>
            </a:r>
            <a:r>
              <a:rPr dirty="0" sz="1000">
                <a:latin typeface="Times New Roman"/>
                <a:cs typeface="Times New Roman"/>
              </a:rPr>
              <a:t>of</a:t>
            </a:r>
            <a:r>
              <a:rPr dirty="0" sz="1000" spc="125">
                <a:latin typeface="Times New Roman"/>
                <a:cs typeface="Times New Roman"/>
              </a:rPr>
              <a:t> </a:t>
            </a:r>
            <a:r>
              <a:rPr dirty="0" sz="1000">
                <a:latin typeface="Times New Roman"/>
                <a:cs typeface="Times New Roman"/>
              </a:rPr>
              <a:t>multimodal</a:t>
            </a:r>
            <a:r>
              <a:rPr dirty="0" sz="1000" spc="125">
                <a:latin typeface="Times New Roman"/>
                <a:cs typeface="Times New Roman"/>
              </a:rPr>
              <a:t> </a:t>
            </a:r>
            <a:r>
              <a:rPr dirty="0" sz="1000">
                <a:latin typeface="Times New Roman"/>
                <a:cs typeface="Times New Roman"/>
              </a:rPr>
              <a:t>model</a:t>
            </a:r>
            <a:r>
              <a:rPr dirty="0" sz="1000" spc="125">
                <a:latin typeface="Times New Roman"/>
                <a:cs typeface="Times New Roman"/>
              </a:rPr>
              <a:t> </a:t>
            </a:r>
            <a:r>
              <a:rPr dirty="0" sz="1000" spc="-10">
                <a:latin typeface="Cambria"/>
                <a:cs typeface="Cambria"/>
              </a:rPr>
              <a:t>[9,</a:t>
            </a:r>
            <a:r>
              <a:rPr dirty="0" sz="1000" spc="55">
                <a:latin typeface="Cambria"/>
                <a:cs typeface="Cambria"/>
              </a:rPr>
              <a:t> </a:t>
            </a:r>
            <a:r>
              <a:rPr dirty="0" sz="1000" spc="-35">
                <a:latin typeface="Cambria"/>
                <a:cs typeface="Cambria"/>
              </a:rPr>
              <a:t>21]</a:t>
            </a:r>
            <a:r>
              <a:rPr dirty="0" sz="1000" spc="160">
                <a:latin typeface="Cambria"/>
                <a:cs typeface="Cambria"/>
              </a:rPr>
              <a:t> </a:t>
            </a:r>
            <a:r>
              <a:rPr dirty="0" sz="1000" spc="-50">
                <a:latin typeface="Times New Roman"/>
                <a:cs typeface="Times New Roman"/>
              </a:rPr>
              <a:t>.</a:t>
            </a:r>
            <a:endParaRPr sz="1000">
              <a:latin typeface="Times New Roman"/>
              <a:cs typeface="Times New Roman"/>
            </a:endParaRPr>
          </a:p>
          <a:p>
            <a:pPr>
              <a:lnSpc>
                <a:spcPct val="100000"/>
              </a:lnSpc>
              <a:spcBef>
                <a:spcPts val="210"/>
              </a:spcBef>
            </a:pPr>
            <a:endParaRPr sz="1000">
              <a:latin typeface="Times New Roman"/>
              <a:cs typeface="Times New Roman"/>
            </a:endParaRPr>
          </a:p>
          <a:p>
            <a:pPr algn="just" marL="192405" marR="184785">
              <a:lnSpc>
                <a:spcPct val="130000"/>
              </a:lnSpc>
              <a:spcBef>
                <a:spcPts val="5"/>
              </a:spcBef>
            </a:pPr>
            <a:r>
              <a:rPr dirty="0" sz="1000" spc="-50">
                <a:latin typeface="SimSun"/>
                <a:cs typeface="SimSun"/>
              </a:rPr>
              <a:t>到目前为止，我们已经成功消除了模态编码器与模态融合模块之间的优化冲突，同时确保了它们各</a:t>
            </a:r>
            <a:r>
              <a:rPr dirty="0" sz="1000" spc="-45">
                <a:latin typeface="SimSun"/>
                <a:cs typeface="SimSun"/>
              </a:rPr>
              <a:t>自的优化过程。更重要的是，由于每个模态编码器的额外单峰梯度路径是独立的，解缠梯度学习还</a:t>
            </a:r>
            <a:r>
              <a:rPr dirty="0" sz="1000" spc="15">
                <a:latin typeface="SimSun"/>
                <a:cs typeface="SimSun"/>
              </a:rPr>
              <a:t>解决了限制多峰模型</a:t>
            </a:r>
            <a:r>
              <a:rPr dirty="0" sz="1000" spc="-10">
                <a:latin typeface="Cambria"/>
                <a:cs typeface="Cambria"/>
              </a:rPr>
              <a:t>[9,</a:t>
            </a:r>
            <a:r>
              <a:rPr dirty="0" sz="1000" spc="-55">
                <a:latin typeface="Cambria"/>
                <a:cs typeface="Cambria"/>
              </a:rPr>
              <a:t> </a:t>
            </a:r>
            <a:r>
              <a:rPr dirty="0" sz="1000" spc="-35">
                <a:latin typeface="Cambria"/>
                <a:cs typeface="Cambria"/>
              </a:rPr>
              <a:t>21</a:t>
            </a:r>
            <a:r>
              <a:rPr dirty="0" sz="1000" spc="-20">
                <a:latin typeface="Cambria"/>
                <a:cs typeface="Cambria"/>
              </a:rPr>
              <a:t>] </a:t>
            </a:r>
            <a:r>
              <a:rPr dirty="0" sz="1000" spc="-15">
                <a:latin typeface="SimSun"/>
                <a:cs typeface="SimSun"/>
              </a:rPr>
              <a:t>性能的模态间竞争问题。</a:t>
            </a:r>
            <a:endParaRPr sz="1000">
              <a:latin typeface="SimSun"/>
              <a:cs typeface="SimSun"/>
            </a:endParaRPr>
          </a:p>
        </p:txBody>
      </p:sp>
      <p:sp>
        <p:nvSpPr>
          <p:cNvPr id="41" name="object 41"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381805"/>
            <a:ext cx="5760085" cy="351790"/>
            <a:chOff x="899998" y="1381805"/>
            <a:chExt cx="5760085" cy="351790"/>
          </a:xfrm>
        </p:grpSpPr>
        <p:sp>
          <p:nvSpPr>
            <p:cNvPr id="3" name="object 3" descr=""/>
            <p:cNvSpPr/>
            <p:nvPr/>
          </p:nvSpPr>
          <p:spPr>
            <a:xfrm>
              <a:off x="899998" y="1381805"/>
              <a:ext cx="5760085" cy="351790"/>
            </a:xfrm>
            <a:custGeom>
              <a:avLst/>
              <a:gdLst/>
              <a:ahLst/>
              <a:cxnLst/>
              <a:rect l="l" t="t" r="r" b="b"/>
              <a:pathLst>
                <a:path w="5760084" h="351789">
                  <a:moveTo>
                    <a:pt x="5724074" y="0"/>
                  </a:moveTo>
                  <a:lnTo>
                    <a:pt x="36000" y="0"/>
                  </a:lnTo>
                  <a:lnTo>
                    <a:pt x="21987" y="2829"/>
                  </a:lnTo>
                  <a:lnTo>
                    <a:pt x="10544" y="10544"/>
                  </a:lnTo>
                  <a:lnTo>
                    <a:pt x="2829" y="21987"/>
                  </a:lnTo>
                  <a:lnTo>
                    <a:pt x="0" y="36000"/>
                  </a:lnTo>
                  <a:lnTo>
                    <a:pt x="0" y="315312"/>
                  </a:lnTo>
                  <a:lnTo>
                    <a:pt x="2829" y="329325"/>
                  </a:lnTo>
                  <a:lnTo>
                    <a:pt x="10544" y="340768"/>
                  </a:lnTo>
                  <a:lnTo>
                    <a:pt x="21987" y="348483"/>
                  </a:lnTo>
                  <a:lnTo>
                    <a:pt x="36000" y="351312"/>
                  </a:lnTo>
                  <a:lnTo>
                    <a:pt x="5724074" y="351312"/>
                  </a:lnTo>
                  <a:lnTo>
                    <a:pt x="5738087" y="348483"/>
                  </a:lnTo>
                  <a:lnTo>
                    <a:pt x="5749530" y="340768"/>
                  </a:lnTo>
                  <a:lnTo>
                    <a:pt x="5757245" y="329325"/>
                  </a:lnTo>
                  <a:lnTo>
                    <a:pt x="5760074" y="31531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381805"/>
              <a:ext cx="5760085" cy="351790"/>
            </a:xfrm>
            <a:custGeom>
              <a:avLst/>
              <a:gdLst/>
              <a:ahLst/>
              <a:cxnLst/>
              <a:rect l="l" t="t" r="r" b="b"/>
              <a:pathLst>
                <a:path w="5760084" h="351789">
                  <a:moveTo>
                    <a:pt x="5724074" y="0"/>
                  </a:moveTo>
                  <a:lnTo>
                    <a:pt x="36000" y="0"/>
                  </a:lnTo>
                  <a:lnTo>
                    <a:pt x="21987" y="2829"/>
                  </a:lnTo>
                  <a:lnTo>
                    <a:pt x="10544" y="10544"/>
                  </a:lnTo>
                  <a:lnTo>
                    <a:pt x="2829" y="21987"/>
                  </a:lnTo>
                  <a:lnTo>
                    <a:pt x="0" y="36000"/>
                  </a:lnTo>
                  <a:lnTo>
                    <a:pt x="0" y="315312"/>
                  </a:lnTo>
                  <a:lnTo>
                    <a:pt x="2829" y="329325"/>
                  </a:lnTo>
                  <a:lnTo>
                    <a:pt x="10544" y="340768"/>
                  </a:lnTo>
                  <a:lnTo>
                    <a:pt x="21987" y="348483"/>
                  </a:lnTo>
                  <a:lnTo>
                    <a:pt x="36000" y="351312"/>
                  </a:lnTo>
                  <a:lnTo>
                    <a:pt x="5724074" y="351312"/>
                  </a:lnTo>
                  <a:lnTo>
                    <a:pt x="5738087" y="348483"/>
                  </a:lnTo>
                  <a:lnTo>
                    <a:pt x="5749530" y="340768"/>
                  </a:lnTo>
                  <a:lnTo>
                    <a:pt x="5757245" y="329325"/>
                  </a:lnTo>
                  <a:lnTo>
                    <a:pt x="5760074" y="31531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 name="object 5" descr=""/>
          <p:cNvSpPr txBox="1"/>
          <p:nvPr/>
        </p:nvSpPr>
        <p:spPr>
          <a:xfrm>
            <a:off x="861898" y="841750"/>
            <a:ext cx="5861685" cy="793750"/>
          </a:xfrm>
          <a:prstGeom prst="rect">
            <a:avLst/>
          </a:prstGeom>
        </p:spPr>
        <p:txBody>
          <a:bodyPr wrap="square" lIns="0" tIns="12700" rIns="0" bIns="0" rtlCol="0" vert="horz">
            <a:spAutoFit/>
          </a:bodyPr>
          <a:lstStyle/>
          <a:p>
            <a:pPr marL="38100" marR="55880" indent="252729">
              <a:lnSpc>
                <a:spcPct val="129500"/>
              </a:lnSpc>
              <a:spcBef>
                <a:spcPts val="100"/>
              </a:spcBef>
            </a:pPr>
            <a:r>
              <a:rPr dirty="0" sz="1000" spc="10">
                <a:latin typeface="Times New Roman"/>
                <a:cs typeface="Times New Roman"/>
              </a:rPr>
              <a:t>Total</a:t>
            </a:r>
            <a:r>
              <a:rPr dirty="0" sz="1000" spc="70">
                <a:latin typeface="Times New Roman"/>
                <a:cs typeface="Times New Roman"/>
              </a:rPr>
              <a:t> </a:t>
            </a:r>
            <a:r>
              <a:rPr dirty="0" sz="1000" spc="10">
                <a:latin typeface="Times New Roman"/>
                <a:cs typeface="Times New Roman"/>
              </a:rPr>
              <a:t>loss.</a:t>
            </a:r>
            <a:r>
              <a:rPr dirty="0" sz="1000" spc="270">
                <a:latin typeface="Times New Roman"/>
                <a:cs typeface="Times New Roman"/>
              </a:rPr>
              <a:t> </a:t>
            </a:r>
            <a:r>
              <a:rPr dirty="0" sz="1000" spc="10">
                <a:latin typeface="Times New Roman"/>
                <a:cs typeface="Times New Roman"/>
              </a:rPr>
              <a:t>As</a:t>
            </a:r>
            <a:r>
              <a:rPr dirty="0" sz="1000" spc="70">
                <a:latin typeface="Times New Roman"/>
                <a:cs typeface="Times New Roman"/>
              </a:rPr>
              <a:t> </a:t>
            </a:r>
            <a:r>
              <a:rPr dirty="0" sz="1000" spc="10">
                <a:latin typeface="Times New Roman"/>
                <a:cs typeface="Times New Roman"/>
              </a:rPr>
              <a:t>discussed</a:t>
            </a:r>
            <a:r>
              <a:rPr dirty="0" sz="1000" spc="70">
                <a:latin typeface="Times New Roman"/>
                <a:cs typeface="Times New Roman"/>
              </a:rPr>
              <a:t> </a:t>
            </a:r>
            <a:r>
              <a:rPr dirty="0" sz="1000" spc="10">
                <a:latin typeface="Times New Roman"/>
                <a:cs typeface="Times New Roman"/>
              </a:rPr>
              <a:t>above,</a:t>
            </a:r>
            <a:r>
              <a:rPr dirty="0" sz="1000" spc="80">
                <a:latin typeface="Times New Roman"/>
                <a:cs typeface="Times New Roman"/>
              </a:rPr>
              <a:t> </a:t>
            </a:r>
            <a:r>
              <a:rPr dirty="0" sz="1000" spc="10">
                <a:latin typeface="Times New Roman"/>
                <a:cs typeface="Times New Roman"/>
              </a:rPr>
              <a:t>the</a:t>
            </a:r>
            <a:r>
              <a:rPr dirty="0" sz="1000" spc="75">
                <a:latin typeface="Times New Roman"/>
                <a:cs typeface="Times New Roman"/>
              </a:rPr>
              <a:t> </a:t>
            </a:r>
            <a:r>
              <a:rPr dirty="0" sz="1000" spc="10">
                <a:latin typeface="Times New Roman"/>
                <a:cs typeface="Times New Roman"/>
              </a:rPr>
              <a:t>total</a:t>
            </a:r>
            <a:r>
              <a:rPr dirty="0" sz="1000" spc="70">
                <a:latin typeface="Times New Roman"/>
                <a:cs typeface="Times New Roman"/>
              </a:rPr>
              <a:t> </a:t>
            </a:r>
            <a:r>
              <a:rPr dirty="0" sz="1000" spc="10">
                <a:latin typeface="Times New Roman"/>
                <a:cs typeface="Times New Roman"/>
              </a:rPr>
              <a:t>loss</a:t>
            </a:r>
            <a:r>
              <a:rPr dirty="0" sz="1000" spc="75">
                <a:latin typeface="Times New Roman"/>
                <a:cs typeface="Times New Roman"/>
              </a:rPr>
              <a:t> </a:t>
            </a:r>
            <a:r>
              <a:rPr dirty="0" sz="1000" spc="75">
                <a:latin typeface="Cambria"/>
                <a:cs typeface="Cambria"/>
              </a:rPr>
              <a:t>𝐿</a:t>
            </a:r>
            <a:r>
              <a:rPr dirty="0" baseline="-15873" sz="1050" spc="112">
                <a:latin typeface="Cambria"/>
                <a:cs typeface="Cambria"/>
              </a:rPr>
              <a:t>𝐷𝐺𝐿</a:t>
            </a:r>
            <a:r>
              <a:rPr dirty="0" baseline="-15873" sz="1050" spc="337">
                <a:latin typeface="Cambria"/>
                <a:cs typeface="Cambria"/>
              </a:rPr>
              <a:t> </a:t>
            </a:r>
            <a:r>
              <a:rPr dirty="0" sz="1000" spc="10">
                <a:latin typeface="Times New Roman"/>
                <a:cs typeface="Times New Roman"/>
              </a:rPr>
              <a:t>for</a:t>
            </a:r>
            <a:r>
              <a:rPr dirty="0" sz="1000" spc="70">
                <a:latin typeface="Times New Roman"/>
                <a:cs typeface="Times New Roman"/>
              </a:rPr>
              <a:t> </a:t>
            </a:r>
            <a:r>
              <a:rPr dirty="0" sz="1000" spc="10">
                <a:latin typeface="Times New Roman"/>
                <a:cs typeface="Times New Roman"/>
              </a:rPr>
              <a:t>multimodal</a:t>
            </a:r>
            <a:r>
              <a:rPr dirty="0" sz="1000" spc="70">
                <a:latin typeface="Times New Roman"/>
                <a:cs typeface="Times New Roman"/>
              </a:rPr>
              <a:t> </a:t>
            </a:r>
            <a:r>
              <a:rPr dirty="0" sz="1000" spc="10">
                <a:latin typeface="Times New Roman"/>
                <a:cs typeface="Times New Roman"/>
              </a:rPr>
              <a:t>learning</a:t>
            </a:r>
            <a:r>
              <a:rPr dirty="0" sz="1000" spc="70">
                <a:latin typeface="Times New Roman"/>
                <a:cs typeface="Times New Roman"/>
              </a:rPr>
              <a:t> </a:t>
            </a:r>
            <a:r>
              <a:rPr dirty="0" sz="1000" spc="10">
                <a:latin typeface="Times New Roman"/>
                <a:cs typeface="Times New Roman"/>
              </a:rPr>
              <a:t>with</a:t>
            </a:r>
            <a:r>
              <a:rPr dirty="0" sz="1000" spc="75">
                <a:latin typeface="Times New Roman"/>
                <a:cs typeface="Times New Roman"/>
              </a:rPr>
              <a:t> </a:t>
            </a:r>
            <a:r>
              <a:rPr dirty="0" sz="1000" spc="10">
                <a:latin typeface="Times New Roman"/>
                <a:cs typeface="Times New Roman"/>
              </a:rPr>
              <a:t>disentangled</a:t>
            </a:r>
            <a:r>
              <a:rPr dirty="0" sz="1000" spc="70">
                <a:latin typeface="Times New Roman"/>
                <a:cs typeface="Times New Roman"/>
              </a:rPr>
              <a:t> </a:t>
            </a:r>
            <a:r>
              <a:rPr dirty="0" sz="1000" spc="-10">
                <a:latin typeface="Times New Roman"/>
                <a:cs typeface="Times New Roman"/>
              </a:rPr>
              <a:t>gradient </a:t>
            </a:r>
            <a:r>
              <a:rPr dirty="0" sz="1000">
                <a:latin typeface="Times New Roman"/>
                <a:cs typeface="Times New Roman"/>
              </a:rPr>
              <a:t>learning</a:t>
            </a:r>
            <a:r>
              <a:rPr dirty="0" sz="1000" spc="70">
                <a:latin typeface="Times New Roman"/>
                <a:cs typeface="Times New Roman"/>
              </a:rPr>
              <a:t> </a:t>
            </a:r>
            <a:r>
              <a:rPr dirty="0" sz="1000">
                <a:latin typeface="Times New Roman"/>
                <a:cs typeface="Times New Roman"/>
              </a:rPr>
              <a:t>is</a:t>
            </a:r>
            <a:r>
              <a:rPr dirty="0" sz="1000" spc="70">
                <a:latin typeface="Times New Roman"/>
                <a:cs typeface="Times New Roman"/>
              </a:rPr>
              <a:t> </a:t>
            </a:r>
            <a:r>
              <a:rPr dirty="0" sz="1000">
                <a:latin typeface="Times New Roman"/>
                <a:cs typeface="Times New Roman"/>
              </a:rPr>
              <a:t>defined</a:t>
            </a:r>
            <a:r>
              <a:rPr dirty="0" sz="1000" spc="70">
                <a:latin typeface="Times New Roman"/>
                <a:cs typeface="Times New Roman"/>
              </a:rPr>
              <a:t> </a:t>
            </a:r>
            <a:r>
              <a:rPr dirty="0" sz="1000">
                <a:latin typeface="Times New Roman"/>
                <a:cs typeface="Times New Roman"/>
              </a:rPr>
              <a:t>as</a:t>
            </a:r>
            <a:r>
              <a:rPr dirty="0" sz="1000" spc="70">
                <a:latin typeface="Times New Roman"/>
                <a:cs typeface="Times New Roman"/>
              </a:rPr>
              <a:t> </a:t>
            </a:r>
            <a:r>
              <a:rPr dirty="0" sz="1000" spc="-10">
                <a:latin typeface="Times New Roman"/>
                <a:cs typeface="Times New Roman"/>
              </a:rPr>
              <a:t>follows,</a:t>
            </a:r>
            <a:endParaRPr sz="1000">
              <a:latin typeface="Times New Roman"/>
              <a:cs typeface="Times New Roman"/>
            </a:endParaRPr>
          </a:p>
          <a:p>
            <a:pPr>
              <a:lnSpc>
                <a:spcPct val="100000"/>
              </a:lnSpc>
              <a:spcBef>
                <a:spcPts val="590"/>
              </a:spcBef>
            </a:pPr>
            <a:endParaRPr sz="1000">
              <a:latin typeface="Times New Roman"/>
              <a:cs typeface="Times New Roman"/>
            </a:endParaRPr>
          </a:p>
          <a:p>
            <a:pPr marL="217804">
              <a:lnSpc>
                <a:spcPct val="100000"/>
              </a:lnSpc>
            </a:pPr>
            <a:r>
              <a:rPr dirty="0" sz="1000" spc="-5">
                <a:latin typeface="SimSun"/>
                <a:cs typeface="SimSun"/>
              </a:rPr>
              <a:t>总损失。如上所述，使用解缠梯度学习进行多峰学习的总损失</a:t>
            </a:r>
            <a:r>
              <a:rPr dirty="0" sz="1000" spc="75">
                <a:latin typeface="Cambria"/>
                <a:cs typeface="Cambria"/>
              </a:rPr>
              <a:t>𝐿</a:t>
            </a:r>
            <a:r>
              <a:rPr dirty="0" baseline="-15873" sz="1050" spc="112">
                <a:latin typeface="Cambria"/>
                <a:cs typeface="Cambria"/>
              </a:rPr>
              <a:t>𝐷𝐺𝐿</a:t>
            </a:r>
            <a:r>
              <a:rPr dirty="0" baseline="-15873" sz="1050" spc="209">
                <a:latin typeface="Cambria"/>
                <a:cs typeface="Cambria"/>
              </a:rPr>
              <a:t> </a:t>
            </a:r>
            <a:r>
              <a:rPr dirty="0" sz="1000" spc="-10">
                <a:latin typeface="SimSun"/>
                <a:cs typeface="SimSun"/>
              </a:rPr>
              <a:t>定义如下</a:t>
            </a:r>
            <a:r>
              <a:rPr dirty="0" sz="1000" spc="-50">
                <a:latin typeface="Times New Roman"/>
                <a:cs typeface="Times New Roman"/>
              </a:rPr>
              <a:t>:</a:t>
            </a:r>
            <a:endParaRPr sz="1000">
              <a:latin typeface="Times New Roman"/>
              <a:cs typeface="Times New Roman"/>
            </a:endParaRPr>
          </a:p>
        </p:txBody>
      </p:sp>
      <p:grpSp>
        <p:nvGrpSpPr>
          <p:cNvPr id="6" name="object 6" descr=""/>
          <p:cNvGrpSpPr/>
          <p:nvPr/>
        </p:nvGrpSpPr>
        <p:grpSpPr>
          <a:xfrm>
            <a:off x="899998" y="3585449"/>
            <a:ext cx="5760085" cy="944880"/>
            <a:chOff x="899998" y="3585449"/>
            <a:chExt cx="5760085" cy="944880"/>
          </a:xfrm>
        </p:grpSpPr>
        <p:sp>
          <p:nvSpPr>
            <p:cNvPr id="7" name="object 7" descr=""/>
            <p:cNvSpPr/>
            <p:nvPr/>
          </p:nvSpPr>
          <p:spPr>
            <a:xfrm>
              <a:off x="899998" y="3585449"/>
              <a:ext cx="5760085" cy="944880"/>
            </a:xfrm>
            <a:custGeom>
              <a:avLst/>
              <a:gdLst/>
              <a:ahLst/>
              <a:cxnLst/>
              <a:rect l="l" t="t" r="r" b="b"/>
              <a:pathLst>
                <a:path w="5760084" h="944879">
                  <a:moveTo>
                    <a:pt x="5724074" y="0"/>
                  </a:moveTo>
                  <a:lnTo>
                    <a:pt x="36000" y="0"/>
                  </a:lnTo>
                  <a:lnTo>
                    <a:pt x="21987" y="2829"/>
                  </a:lnTo>
                  <a:lnTo>
                    <a:pt x="10544" y="10544"/>
                  </a:lnTo>
                  <a:lnTo>
                    <a:pt x="2829" y="21987"/>
                  </a:lnTo>
                  <a:lnTo>
                    <a:pt x="0" y="36000"/>
                  </a:lnTo>
                  <a:lnTo>
                    <a:pt x="0" y="908576"/>
                  </a:lnTo>
                  <a:lnTo>
                    <a:pt x="2829" y="922589"/>
                  </a:lnTo>
                  <a:lnTo>
                    <a:pt x="10544" y="934032"/>
                  </a:lnTo>
                  <a:lnTo>
                    <a:pt x="21987" y="941747"/>
                  </a:lnTo>
                  <a:lnTo>
                    <a:pt x="36000" y="944576"/>
                  </a:lnTo>
                  <a:lnTo>
                    <a:pt x="5724074" y="944576"/>
                  </a:lnTo>
                  <a:lnTo>
                    <a:pt x="5738087" y="941747"/>
                  </a:lnTo>
                  <a:lnTo>
                    <a:pt x="5749530" y="934032"/>
                  </a:lnTo>
                  <a:lnTo>
                    <a:pt x="5757245" y="922589"/>
                  </a:lnTo>
                  <a:lnTo>
                    <a:pt x="5760074" y="90857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8" name="object 8" descr=""/>
            <p:cNvSpPr/>
            <p:nvPr/>
          </p:nvSpPr>
          <p:spPr>
            <a:xfrm>
              <a:off x="899998" y="3585449"/>
              <a:ext cx="5760085" cy="944880"/>
            </a:xfrm>
            <a:custGeom>
              <a:avLst/>
              <a:gdLst/>
              <a:ahLst/>
              <a:cxnLst/>
              <a:rect l="l" t="t" r="r" b="b"/>
              <a:pathLst>
                <a:path w="5760084" h="944879">
                  <a:moveTo>
                    <a:pt x="5724074" y="0"/>
                  </a:moveTo>
                  <a:lnTo>
                    <a:pt x="36000" y="0"/>
                  </a:lnTo>
                  <a:lnTo>
                    <a:pt x="21987" y="2829"/>
                  </a:lnTo>
                  <a:lnTo>
                    <a:pt x="10544" y="10544"/>
                  </a:lnTo>
                  <a:lnTo>
                    <a:pt x="2829" y="21987"/>
                  </a:lnTo>
                  <a:lnTo>
                    <a:pt x="0" y="36000"/>
                  </a:lnTo>
                  <a:lnTo>
                    <a:pt x="0" y="908576"/>
                  </a:lnTo>
                  <a:lnTo>
                    <a:pt x="2829" y="922589"/>
                  </a:lnTo>
                  <a:lnTo>
                    <a:pt x="10544" y="934032"/>
                  </a:lnTo>
                  <a:lnTo>
                    <a:pt x="21987" y="941747"/>
                  </a:lnTo>
                  <a:lnTo>
                    <a:pt x="36000" y="944576"/>
                  </a:lnTo>
                  <a:lnTo>
                    <a:pt x="5724074" y="944576"/>
                  </a:lnTo>
                  <a:lnTo>
                    <a:pt x="5738087" y="941747"/>
                  </a:lnTo>
                  <a:lnTo>
                    <a:pt x="5749530" y="934032"/>
                  </a:lnTo>
                  <a:lnTo>
                    <a:pt x="5757245" y="922589"/>
                  </a:lnTo>
                  <a:lnTo>
                    <a:pt x="5760074" y="90857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9" name="object 9" descr=""/>
          <p:cNvSpPr txBox="1"/>
          <p:nvPr/>
        </p:nvSpPr>
        <p:spPr>
          <a:xfrm>
            <a:off x="760298" y="2029643"/>
            <a:ext cx="6052185" cy="2406015"/>
          </a:xfrm>
          <a:prstGeom prst="rect">
            <a:avLst/>
          </a:prstGeom>
        </p:spPr>
        <p:txBody>
          <a:bodyPr wrap="square" lIns="0" tIns="12065" rIns="0" bIns="0" rtlCol="0" vert="horz">
            <a:spAutoFit/>
          </a:bodyPr>
          <a:lstStyle/>
          <a:p>
            <a:pPr marL="2303780">
              <a:lnSpc>
                <a:spcPct val="100000"/>
              </a:lnSpc>
              <a:spcBef>
                <a:spcPts val="95"/>
              </a:spcBef>
              <a:tabLst>
                <a:tab pos="5687060" algn="l"/>
              </a:tabLst>
            </a:pPr>
            <a:r>
              <a:rPr dirty="0" sz="1000" spc="80">
                <a:latin typeface="Cambria"/>
                <a:cs typeface="Cambria"/>
              </a:rPr>
              <a:t>𝐿</a:t>
            </a:r>
            <a:r>
              <a:rPr dirty="0" baseline="-15873" sz="1050" spc="120">
                <a:latin typeface="Cambria"/>
                <a:cs typeface="Cambria"/>
              </a:rPr>
              <a:t>𝐷𝐺𝐿</a:t>
            </a:r>
            <a:r>
              <a:rPr dirty="0" baseline="-15873" sz="1050" spc="254">
                <a:latin typeface="Cambria"/>
                <a:cs typeface="Cambria"/>
              </a:rPr>
              <a:t> </a:t>
            </a:r>
            <a:r>
              <a:rPr dirty="0" sz="1000" spc="165">
                <a:latin typeface="Cambria"/>
                <a:cs typeface="Cambria"/>
              </a:rPr>
              <a:t>=</a:t>
            </a:r>
            <a:r>
              <a:rPr dirty="0" sz="1000" spc="60">
                <a:latin typeface="Cambria"/>
                <a:cs typeface="Cambria"/>
              </a:rPr>
              <a:t> </a:t>
            </a:r>
            <a:r>
              <a:rPr dirty="0" sz="1000">
                <a:latin typeface="Cambria"/>
                <a:cs typeface="Cambria"/>
              </a:rPr>
              <a:t>[𝐿</a:t>
            </a:r>
            <a:r>
              <a:rPr dirty="0" baseline="27777" sz="1050">
                <a:latin typeface="Cambria"/>
                <a:cs typeface="Cambria"/>
              </a:rPr>
              <a:t>𝑑</a:t>
            </a:r>
            <a:r>
              <a:rPr dirty="0" sz="1000">
                <a:latin typeface="Cambria"/>
                <a:cs typeface="Cambria"/>
              </a:rPr>
              <a:t>,</a:t>
            </a:r>
            <a:r>
              <a:rPr dirty="0" sz="1000" spc="-50">
                <a:latin typeface="Cambria"/>
                <a:cs typeface="Cambria"/>
              </a:rPr>
              <a:t> </a:t>
            </a:r>
            <a:r>
              <a:rPr dirty="0" sz="1000" spc="-25">
                <a:latin typeface="Cambria"/>
                <a:cs typeface="Cambria"/>
              </a:rPr>
              <a:t>𝛼</a:t>
            </a:r>
            <a:r>
              <a:rPr dirty="0" sz="1000" spc="-55">
                <a:latin typeface="Cambria"/>
                <a:cs typeface="Cambria"/>
              </a:rPr>
              <a:t> </a:t>
            </a:r>
            <a:r>
              <a:rPr dirty="0" sz="1000">
                <a:latin typeface="Cambria"/>
                <a:cs typeface="Cambria"/>
              </a:rPr>
              <a:t>(𝐿</a:t>
            </a:r>
            <a:r>
              <a:rPr dirty="0" baseline="27777" sz="1050">
                <a:latin typeface="Cambria"/>
                <a:cs typeface="Cambria"/>
              </a:rPr>
              <a:t>𝑚</a:t>
            </a:r>
            <a:r>
              <a:rPr dirty="0" baseline="20202" sz="825">
                <a:latin typeface="Cambria"/>
                <a:cs typeface="Cambria"/>
              </a:rPr>
              <a:t>1</a:t>
            </a:r>
            <a:r>
              <a:rPr dirty="0" baseline="20202" sz="825" spc="322">
                <a:latin typeface="Cambria"/>
                <a:cs typeface="Cambria"/>
              </a:rPr>
              <a:t> </a:t>
            </a:r>
            <a:r>
              <a:rPr dirty="0" sz="1000" spc="165">
                <a:latin typeface="Cambria"/>
                <a:cs typeface="Cambria"/>
              </a:rPr>
              <a:t>+</a:t>
            </a:r>
            <a:r>
              <a:rPr dirty="0" sz="1000" spc="5">
                <a:latin typeface="Cambria"/>
                <a:cs typeface="Cambria"/>
              </a:rPr>
              <a:t> </a:t>
            </a:r>
            <a:r>
              <a:rPr dirty="0" sz="1000">
                <a:latin typeface="Cambria"/>
                <a:cs typeface="Cambria"/>
              </a:rPr>
              <a:t>𝐿</a:t>
            </a:r>
            <a:r>
              <a:rPr dirty="0" baseline="27777" sz="1050">
                <a:latin typeface="Cambria"/>
                <a:cs typeface="Cambria"/>
              </a:rPr>
              <a:t>𝑚</a:t>
            </a:r>
            <a:r>
              <a:rPr dirty="0" baseline="20202" sz="825">
                <a:latin typeface="Cambria"/>
                <a:cs typeface="Cambria"/>
              </a:rPr>
              <a:t>2</a:t>
            </a:r>
            <a:r>
              <a:rPr dirty="0" baseline="20202" sz="825" spc="-37">
                <a:latin typeface="Cambria"/>
                <a:cs typeface="Cambria"/>
              </a:rPr>
              <a:t> </a:t>
            </a:r>
            <a:r>
              <a:rPr dirty="0" sz="1000" spc="-25">
                <a:latin typeface="Cambria"/>
                <a:cs typeface="Cambria"/>
              </a:rPr>
              <a:t>)]</a:t>
            </a:r>
            <a:r>
              <a:rPr dirty="0" sz="1000">
                <a:latin typeface="Cambria"/>
                <a:cs typeface="Cambria"/>
              </a:rPr>
              <a:t>	</a:t>
            </a:r>
            <a:r>
              <a:rPr dirty="0" sz="1000" spc="-20">
                <a:latin typeface="Times New Roman"/>
                <a:cs typeface="Times New Roman"/>
              </a:rPr>
              <a:t>(15)</a:t>
            </a:r>
            <a:endParaRPr sz="1000">
              <a:latin typeface="Times New Roman"/>
              <a:cs typeface="Times New Roman"/>
            </a:endParaRPr>
          </a:p>
          <a:p>
            <a:pPr algn="just" marL="139700" marR="144145" indent="252729">
              <a:lnSpc>
                <a:spcPct val="129500"/>
              </a:lnSpc>
              <a:spcBef>
                <a:spcPts val="585"/>
              </a:spcBef>
            </a:pPr>
            <a:r>
              <a:rPr dirty="0" sz="1000" spc="10">
                <a:latin typeface="Times New Roman"/>
                <a:cs typeface="Times New Roman"/>
              </a:rPr>
              <a:t>where</a:t>
            </a:r>
            <a:r>
              <a:rPr dirty="0" sz="1000" spc="60">
                <a:latin typeface="Times New Roman"/>
                <a:cs typeface="Times New Roman"/>
              </a:rPr>
              <a:t> </a:t>
            </a:r>
            <a:r>
              <a:rPr dirty="0" sz="1000" spc="10">
                <a:latin typeface="Cambria"/>
                <a:cs typeface="Cambria"/>
              </a:rPr>
              <a:t>𝐿</a:t>
            </a:r>
            <a:r>
              <a:rPr dirty="0" baseline="27777" sz="1050" spc="15">
                <a:latin typeface="Cambria"/>
                <a:cs typeface="Cambria"/>
              </a:rPr>
              <a:t>𝑑</a:t>
            </a:r>
            <a:r>
              <a:rPr dirty="0" baseline="27777" sz="1050" spc="359">
                <a:latin typeface="Cambria"/>
                <a:cs typeface="Cambria"/>
              </a:rPr>
              <a:t> </a:t>
            </a:r>
            <a:r>
              <a:rPr dirty="0" sz="1000" spc="10">
                <a:latin typeface="Times New Roman"/>
                <a:cs typeface="Times New Roman"/>
              </a:rPr>
              <a:t>is</a:t>
            </a:r>
            <a:r>
              <a:rPr dirty="0" sz="1000" spc="65">
                <a:latin typeface="Times New Roman"/>
                <a:cs typeface="Times New Roman"/>
              </a:rPr>
              <a:t> </a:t>
            </a:r>
            <a:r>
              <a:rPr dirty="0" sz="1000" spc="10">
                <a:latin typeface="Times New Roman"/>
                <a:cs typeface="Times New Roman"/>
              </a:rPr>
              <a:t>the</a:t>
            </a:r>
            <a:r>
              <a:rPr dirty="0" sz="1000" spc="70">
                <a:latin typeface="Times New Roman"/>
                <a:cs typeface="Times New Roman"/>
              </a:rPr>
              <a:t> </a:t>
            </a:r>
            <a:r>
              <a:rPr dirty="0" sz="1000" spc="10">
                <a:latin typeface="Times New Roman"/>
                <a:cs typeface="Times New Roman"/>
              </a:rPr>
              <a:t>multimodal</a:t>
            </a:r>
            <a:r>
              <a:rPr dirty="0" sz="1000" spc="65">
                <a:latin typeface="Times New Roman"/>
                <a:cs typeface="Times New Roman"/>
              </a:rPr>
              <a:t> </a:t>
            </a:r>
            <a:r>
              <a:rPr dirty="0" sz="1000" spc="10">
                <a:latin typeface="Times New Roman"/>
                <a:cs typeface="Times New Roman"/>
              </a:rPr>
              <a:t>loss</a:t>
            </a:r>
            <a:r>
              <a:rPr dirty="0" sz="1000" spc="70">
                <a:latin typeface="Times New Roman"/>
                <a:cs typeface="Times New Roman"/>
              </a:rPr>
              <a:t> </a:t>
            </a:r>
            <a:r>
              <a:rPr dirty="0" sz="1000" spc="10">
                <a:latin typeface="Times New Roman"/>
                <a:cs typeface="Times New Roman"/>
              </a:rPr>
              <a:t>with</a:t>
            </a:r>
            <a:r>
              <a:rPr dirty="0" sz="1000" spc="65">
                <a:latin typeface="Times New Roman"/>
                <a:cs typeface="Times New Roman"/>
              </a:rPr>
              <a:t> </a:t>
            </a:r>
            <a:r>
              <a:rPr dirty="0" sz="1000" spc="10">
                <a:latin typeface="Times New Roman"/>
                <a:cs typeface="Times New Roman"/>
              </a:rPr>
              <a:t>gradient</a:t>
            </a:r>
            <a:r>
              <a:rPr dirty="0" sz="1000" spc="65">
                <a:latin typeface="Times New Roman"/>
                <a:cs typeface="Times New Roman"/>
              </a:rPr>
              <a:t> </a:t>
            </a:r>
            <a:r>
              <a:rPr dirty="0" sz="1000" spc="10">
                <a:latin typeface="Times New Roman"/>
                <a:cs typeface="Times New Roman"/>
              </a:rPr>
              <a:t>detaching.</a:t>
            </a:r>
            <a:r>
              <a:rPr dirty="0" sz="1000" spc="240">
                <a:latin typeface="Times New Roman"/>
                <a:cs typeface="Times New Roman"/>
              </a:rPr>
              <a:t> </a:t>
            </a:r>
            <a:r>
              <a:rPr dirty="0" sz="1000" spc="10">
                <a:latin typeface="Cambria"/>
                <a:cs typeface="Cambria"/>
              </a:rPr>
              <a:t>𝐿</a:t>
            </a:r>
            <a:r>
              <a:rPr dirty="0" baseline="27777" sz="1050" spc="15">
                <a:latin typeface="Cambria"/>
                <a:cs typeface="Cambria"/>
              </a:rPr>
              <a:t>𝑚</a:t>
            </a:r>
            <a:r>
              <a:rPr dirty="0" baseline="20202" sz="825" spc="15">
                <a:latin typeface="Cambria"/>
                <a:cs typeface="Cambria"/>
              </a:rPr>
              <a:t>1</a:t>
            </a:r>
            <a:r>
              <a:rPr dirty="0" baseline="20202" sz="825" spc="494">
                <a:latin typeface="Cambria"/>
                <a:cs typeface="Cambria"/>
              </a:rPr>
              <a:t> </a:t>
            </a:r>
            <a:r>
              <a:rPr dirty="0" sz="1000" spc="10">
                <a:latin typeface="Times New Roman"/>
                <a:cs typeface="Times New Roman"/>
              </a:rPr>
              <a:t>and</a:t>
            </a:r>
            <a:r>
              <a:rPr dirty="0" sz="1000" spc="60">
                <a:latin typeface="Times New Roman"/>
                <a:cs typeface="Times New Roman"/>
              </a:rPr>
              <a:t> </a:t>
            </a:r>
            <a:r>
              <a:rPr dirty="0" sz="1000" spc="10">
                <a:latin typeface="Cambria"/>
                <a:cs typeface="Cambria"/>
              </a:rPr>
              <a:t>𝐿</a:t>
            </a:r>
            <a:r>
              <a:rPr dirty="0" baseline="27777" sz="1050" spc="15">
                <a:latin typeface="Cambria"/>
                <a:cs typeface="Cambria"/>
              </a:rPr>
              <a:t>𝑚</a:t>
            </a:r>
            <a:r>
              <a:rPr dirty="0" baseline="20202" sz="825" spc="15">
                <a:latin typeface="Cambria"/>
                <a:cs typeface="Cambria"/>
              </a:rPr>
              <a:t>2</a:t>
            </a:r>
            <a:r>
              <a:rPr dirty="0" baseline="20202" sz="825" spc="494">
                <a:latin typeface="Cambria"/>
                <a:cs typeface="Cambria"/>
              </a:rPr>
              <a:t> </a:t>
            </a:r>
            <a:r>
              <a:rPr dirty="0" sz="1000" spc="10">
                <a:latin typeface="Times New Roman"/>
                <a:cs typeface="Times New Roman"/>
              </a:rPr>
              <a:t>are</a:t>
            </a:r>
            <a:r>
              <a:rPr dirty="0" sz="1000" spc="65">
                <a:latin typeface="Times New Roman"/>
                <a:cs typeface="Times New Roman"/>
              </a:rPr>
              <a:t> </a:t>
            </a:r>
            <a:r>
              <a:rPr dirty="0" sz="1000" spc="10">
                <a:latin typeface="Times New Roman"/>
                <a:cs typeface="Times New Roman"/>
              </a:rPr>
              <a:t>unimodal</a:t>
            </a:r>
            <a:r>
              <a:rPr dirty="0" sz="1000" spc="65">
                <a:latin typeface="Times New Roman"/>
                <a:cs typeface="Times New Roman"/>
              </a:rPr>
              <a:t> </a:t>
            </a:r>
            <a:r>
              <a:rPr dirty="0" sz="1000" spc="10">
                <a:latin typeface="Times New Roman"/>
                <a:cs typeface="Times New Roman"/>
              </a:rPr>
              <a:t>loss.</a:t>
            </a:r>
            <a:r>
              <a:rPr dirty="0" sz="1000" spc="240">
                <a:latin typeface="Times New Roman"/>
                <a:cs typeface="Times New Roman"/>
              </a:rPr>
              <a:t> </a:t>
            </a:r>
            <a:r>
              <a:rPr dirty="0" sz="1000" spc="10">
                <a:latin typeface="Times New Roman"/>
                <a:cs typeface="Times New Roman"/>
              </a:rPr>
              <a:t>Here</a:t>
            </a:r>
            <a:r>
              <a:rPr dirty="0" sz="1000" spc="65">
                <a:latin typeface="Times New Roman"/>
                <a:cs typeface="Times New Roman"/>
              </a:rPr>
              <a:t> </a:t>
            </a:r>
            <a:r>
              <a:rPr dirty="0" sz="1000" spc="10">
                <a:latin typeface="Times New Roman"/>
                <a:cs typeface="Times New Roman"/>
              </a:rPr>
              <a:t>we</a:t>
            </a:r>
            <a:r>
              <a:rPr dirty="0" sz="1000" spc="65">
                <a:latin typeface="Times New Roman"/>
                <a:cs typeface="Times New Roman"/>
              </a:rPr>
              <a:t> </a:t>
            </a:r>
            <a:r>
              <a:rPr dirty="0" sz="1000" spc="-25">
                <a:latin typeface="Times New Roman"/>
                <a:cs typeface="Times New Roman"/>
              </a:rPr>
              <a:t>use </a:t>
            </a:r>
            <a:r>
              <a:rPr dirty="0" sz="1000" spc="20">
                <a:latin typeface="Times New Roman"/>
                <a:cs typeface="Times New Roman"/>
              </a:rPr>
              <a:t>the</a:t>
            </a:r>
            <a:r>
              <a:rPr dirty="0" sz="1000" spc="-10">
                <a:latin typeface="Times New Roman"/>
                <a:cs typeface="Times New Roman"/>
              </a:rPr>
              <a:t> </a:t>
            </a:r>
            <a:r>
              <a:rPr dirty="0" sz="1000" spc="20">
                <a:latin typeface="Times New Roman"/>
                <a:cs typeface="Times New Roman"/>
              </a:rPr>
              <a:t>operation</a:t>
            </a:r>
            <a:r>
              <a:rPr dirty="0" sz="1000" spc="-5">
                <a:latin typeface="Times New Roman"/>
                <a:cs typeface="Times New Roman"/>
              </a:rPr>
              <a:t> </a:t>
            </a:r>
            <a:r>
              <a:rPr dirty="0" sz="1000" spc="10">
                <a:latin typeface="Times New Roman"/>
                <a:cs typeface="Times New Roman"/>
              </a:rPr>
              <a:t>of</a:t>
            </a:r>
            <a:r>
              <a:rPr dirty="0" sz="1000" spc="-5">
                <a:latin typeface="Times New Roman"/>
                <a:cs typeface="Times New Roman"/>
              </a:rPr>
              <a:t> </a:t>
            </a:r>
            <a:r>
              <a:rPr dirty="0" sz="1000" spc="20">
                <a:latin typeface="Times New Roman"/>
                <a:cs typeface="Times New Roman"/>
              </a:rPr>
              <a:t>concatenation</a:t>
            </a:r>
            <a:r>
              <a:rPr dirty="0" sz="1000" spc="-5">
                <a:latin typeface="Times New Roman"/>
                <a:cs typeface="Times New Roman"/>
              </a:rPr>
              <a:t> </a:t>
            </a:r>
            <a:r>
              <a:rPr dirty="0" sz="1000" spc="20">
                <a:latin typeface="Times New Roman"/>
                <a:cs typeface="Times New Roman"/>
              </a:rPr>
              <a:t>instead</a:t>
            </a:r>
            <a:r>
              <a:rPr dirty="0" sz="1000" spc="-5">
                <a:latin typeface="Times New Roman"/>
                <a:cs typeface="Times New Roman"/>
              </a:rPr>
              <a:t> </a:t>
            </a:r>
            <a:r>
              <a:rPr dirty="0" sz="1000" spc="10">
                <a:latin typeface="Times New Roman"/>
                <a:cs typeface="Times New Roman"/>
              </a:rPr>
              <a:t>of</a:t>
            </a:r>
            <a:r>
              <a:rPr dirty="0" sz="1000" spc="-5">
                <a:latin typeface="Times New Roman"/>
                <a:cs typeface="Times New Roman"/>
              </a:rPr>
              <a:t> </a:t>
            </a:r>
            <a:r>
              <a:rPr dirty="0" sz="1000" spc="20">
                <a:latin typeface="Times New Roman"/>
                <a:cs typeface="Times New Roman"/>
              </a:rPr>
              <a:t>summation</a:t>
            </a:r>
            <a:r>
              <a:rPr dirty="0" sz="1000" spc="-5">
                <a:latin typeface="Times New Roman"/>
                <a:cs typeface="Times New Roman"/>
              </a:rPr>
              <a:t> </a:t>
            </a:r>
            <a:r>
              <a:rPr dirty="0" sz="1000" spc="20">
                <a:latin typeface="Times New Roman"/>
                <a:cs typeface="Times New Roman"/>
              </a:rPr>
              <a:t>since</a:t>
            </a:r>
            <a:r>
              <a:rPr dirty="0" sz="1000" spc="-5">
                <a:latin typeface="Times New Roman"/>
                <a:cs typeface="Times New Roman"/>
              </a:rPr>
              <a:t> </a:t>
            </a:r>
            <a:r>
              <a:rPr dirty="0" sz="1000" spc="20">
                <a:latin typeface="Times New Roman"/>
                <a:cs typeface="Times New Roman"/>
              </a:rPr>
              <a:t>the</a:t>
            </a:r>
            <a:r>
              <a:rPr dirty="0" sz="1000" spc="-10">
                <a:latin typeface="Times New Roman"/>
                <a:cs typeface="Times New Roman"/>
              </a:rPr>
              <a:t> </a:t>
            </a:r>
            <a:r>
              <a:rPr dirty="0" sz="1000" spc="20">
                <a:latin typeface="Times New Roman"/>
                <a:cs typeface="Times New Roman"/>
              </a:rPr>
              <a:t>gradient</a:t>
            </a:r>
            <a:r>
              <a:rPr dirty="0" sz="1000" spc="-5">
                <a:latin typeface="Times New Roman"/>
                <a:cs typeface="Times New Roman"/>
              </a:rPr>
              <a:t> </a:t>
            </a:r>
            <a:r>
              <a:rPr dirty="0" sz="1000" spc="10">
                <a:latin typeface="Times New Roman"/>
                <a:cs typeface="Times New Roman"/>
              </a:rPr>
              <a:t>of</a:t>
            </a:r>
            <a:r>
              <a:rPr dirty="0" sz="1000" spc="-5">
                <a:latin typeface="Times New Roman"/>
                <a:cs typeface="Times New Roman"/>
              </a:rPr>
              <a:t> </a:t>
            </a:r>
            <a:r>
              <a:rPr dirty="0" sz="1000" spc="20">
                <a:latin typeface="Cambria"/>
                <a:cs typeface="Cambria"/>
              </a:rPr>
              <a:t>𝐿</a:t>
            </a:r>
            <a:r>
              <a:rPr dirty="0" baseline="27777" sz="1050" spc="30">
                <a:latin typeface="Cambria"/>
                <a:cs typeface="Cambria"/>
              </a:rPr>
              <a:t>𝑑</a:t>
            </a:r>
            <a:r>
              <a:rPr dirty="0" baseline="27777" sz="1050" spc="232">
                <a:latin typeface="Cambria"/>
                <a:cs typeface="Cambria"/>
              </a:rPr>
              <a:t> </a:t>
            </a:r>
            <a:r>
              <a:rPr dirty="0" sz="1000" spc="20">
                <a:latin typeface="Times New Roman"/>
                <a:cs typeface="Times New Roman"/>
              </a:rPr>
              <a:t>and</a:t>
            </a:r>
            <a:r>
              <a:rPr dirty="0" sz="1000" spc="-10">
                <a:latin typeface="Times New Roman"/>
                <a:cs typeface="Times New Roman"/>
              </a:rPr>
              <a:t> </a:t>
            </a:r>
            <a:r>
              <a:rPr dirty="0" sz="1000" spc="20">
                <a:latin typeface="Cambria"/>
                <a:cs typeface="Cambria"/>
              </a:rPr>
              <a:t>𝐿</a:t>
            </a:r>
            <a:r>
              <a:rPr dirty="0" baseline="27777" sz="1050" spc="30">
                <a:latin typeface="Cambria"/>
                <a:cs typeface="Cambria"/>
              </a:rPr>
              <a:t>𝑚</a:t>
            </a:r>
            <a:r>
              <a:rPr dirty="0" baseline="20202" sz="825" spc="30">
                <a:latin typeface="Cambria"/>
                <a:cs typeface="Cambria"/>
              </a:rPr>
              <a:t>1</a:t>
            </a:r>
            <a:r>
              <a:rPr dirty="0" baseline="20202" sz="825" spc="337">
                <a:latin typeface="Cambria"/>
                <a:cs typeface="Cambria"/>
              </a:rPr>
              <a:t> </a:t>
            </a:r>
            <a:r>
              <a:rPr dirty="0" sz="1000" spc="165">
                <a:latin typeface="Cambria"/>
                <a:cs typeface="Cambria"/>
              </a:rPr>
              <a:t>+</a:t>
            </a:r>
            <a:r>
              <a:rPr dirty="0" sz="1000" spc="10">
                <a:latin typeface="Cambria"/>
                <a:cs typeface="Cambria"/>
              </a:rPr>
              <a:t> </a:t>
            </a:r>
            <a:r>
              <a:rPr dirty="0" sz="1000" spc="20">
                <a:latin typeface="Cambria"/>
                <a:cs typeface="Cambria"/>
              </a:rPr>
              <a:t>𝐿</a:t>
            </a:r>
            <a:r>
              <a:rPr dirty="0" baseline="27777" sz="1050" spc="30">
                <a:latin typeface="Cambria"/>
                <a:cs typeface="Cambria"/>
              </a:rPr>
              <a:t>𝑚</a:t>
            </a:r>
            <a:r>
              <a:rPr dirty="0" baseline="20202" sz="825" spc="30">
                <a:latin typeface="Cambria"/>
                <a:cs typeface="Cambria"/>
              </a:rPr>
              <a:t>2</a:t>
            </a:r>
            <a:r>
              <a:rPr dirty="0" baseline="20202" sz="825" spc="352">
                <a:latin typeface="Cambria"/>
                <a:cs typeface="Cambria"/>
              </a:rPr>
              <a:t> </a:t>
            </a:r>
            <a:r>
              <a:rPr dirty="0" sz="1000" spc="20">
                <a:latin typeface="Times New Roman"/>
                <a:cs typeface="Times New Roman"/>
              </a:rPr>
              <a:t>is</a:t>
            </a:r>
            <a:r>
              <a:rPr dirty="0" sz="1000" spc="-5">
                <a:latin typeface="Times New Roman"/>
                <a:cs typeface="Times New Roman"/>
              </a:rPr>
              <a:t> </a:t>
            </a:r>
            <a:r>
              <a:rPr dirty="0" sz="1000" spc="20">
                <a:latin typeface="Times New Roman"/>
                <a:cs typeface="Times New Roman"/>
              </a:rPr>
              <a:t>decoupled,</a:t>
            </a:r>
            <a:r>
              <a:rPr dirty="0" sz="1000" spc="-10">
                <a:latin typeface="Times New Roman"/>
                <a:cs typeface="Times New Roman"/>
              </a:rPr>
              <a:t> </a:t>
            </a:r>
            <a:r>
              <a:rPr dirty="0" sz="1000" spc="-25">
                <a:latin typeface="Times New Roman"/>
                <a:cs typeface="Times New Roman"/>
              </a:rPr>
              <a:t>as </a:t>
            </a:r>
            <a:r>
              <a:rPr dirty="0" sz="1000">
                <a:latin typeface="Times New Roman"/>
                <a:cs typeface="Times New Roman"/>
              </a:rPr>
              <a:t>described</a:t>
            </a:r>
            <a:r>
              <a:rPr dirty="0" sz="1000" spc="55">
                <a:latin typeface="Times New Roman"/>
                <a:cs typeface="Times New Roman"/>
              </a:rPr>
              <a:t> </a:t>
            </a:r>
            <a:r>
              <a:rPr dirty="0" sz="1000">
                <a:latin typeface="Times New Roman"/>
                <a:cs typeface="Times New Roman"/>
              </a:rPr>
              <a:t>in</a:t>
            </a:r>
            <a:r>
              <a:rPr dirty="0" sz="1000" spc="70">
                <a:latin typeface="Times New Roman"/>
                <a:cs typeface="Times New Roman"/>
              </a:rPr>
              <a:t> </a:t>
            </a:r>
            <a:r>
              <a:rPr dirty="0" sz="1000">
                <a:latin typeface="Times New Roman"/>
                <a:cs typeface="Times New Roman"/>
              </a:rPr>
              <a:t>Algorithm</a:t>
            </a:r>
            <a:r>
              <a:rPr dirty="0" sz="1000" spc="65">
                <a:latin typeface="Times New Roman"/>
                <a:cs typeface="Times New Roman"/>
              </a:rPr>
              <a:t> </a:t>
            </a:r>
            <a:r>
              <a:rPr dirty="0" sz="1000">
                <a:latin typeface="Times New Roman"/>
                <a:cs typeface="Times New Roman"/>
              </a:rPr>
              <a:t>1.</a:t>
            </a:r>
            <a:r>
              <a:rPr dirty="0" sz="1000" spc="190">
                <a:latin typeface="Times New Roman"/>
                <a:cs typeface="Times New Roman"/>
              </a:rPr>
              <a:t> </a:t>
            </a:r>
            <a:r>
              <a:rPr dirty="0" sz="1000" spc="-10">
                <a:latin typeface="Times New Roman"/>
                <a:cs typeface="Times New Roman"/>
              </a:rPr>
              <a:t>Specifically,</a:t>
            </a:r>
            <a:r>
              <a:rPr dirty="0" sz="1000" spc="70">
                <a:latin typeface="Times New Roman"/>
                <a:cs typeface="Times New Roman"/>
              </a:rPr>
              <a:t> </a:t>
            </a:r>
            <a:r>
              <a:rPr dirty="0" sz="1000">
                <a:latin typeface="Cambria"/>
                <a:cs typeface="Cambria"/>
              </a:rPr>
              <a:t>𝐿</a:t>
            </a:r>
            <a:r>
              <a:rPr dirty="0" baseline="27777" sz="1050">
                <a:latin typeface="Cambria"/>
                <a:cs typeface="Cambria"/>
              </a:rPr>
              <a:t>𝑑</a:t>
            </a:r>
            <a:r>
              <a:rPr dirty="0" baseline="27777" sz="1050" spc="367">
                <a:latin typeface="Cambria"/>
                <a:cs typeface="Cambria"/>
              </a:rPr>
              <a:t> </a:t>
            </a:r>
            <a:r>
              <a:rPr dirty="0" sz="1000">
                <a:latin typeface="Times New Roman"/>
                <a:cs typeface="Times New Roman"/>
              </a:rPr>
              <a:t>only</a:t>
            </a:r>
            <a:r>
              <a:rPr dirty="0" sz="1000" spc="60">
                <a:latin typeface="Times New Roman"/>
                <a:cs typeface="Times New Roman"/>
              </a:rPr>
              <a:t> </a:t>
            </a:r>
            <a:r>
              <a:rPr dirty="0" sz="1000">
                <a:latin typeface="Times New Roman"/>
                <a:cs typeface="Times New Roman"/>
              </a:rPr>
              <a:t>optimizes</a:t>
            </a:r>
            <a:r>
              <a:rPr dirty="0" sz="1000" spc="6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modality</a:t>
            </a:r>
            <a:r>
              <a:rPr dirty="0" sz="1000" spc="65">
                <a:latin typeface="Times New Roman"/>
                <a:cs typeface="Times New Roman"/>
              </a:rPr>
              <a:t> </a:t>
            </a:r>
            <a:r>
              <a:rPr dirty="0" sz="1000">
                <a:latin typeface="Times New Roman"/>
                <a:cs typeface="Times New Roman"/>
              </a:rPr>
              <a:t>fusion</a:t>
            </a:r>
            <a:r>
              <a:rPr dirty="0" sz="1000" spc="70">
                <a:latin typeface="Times New Roman"/>
                <a:cs typeface="Times New Roman"/>
              </a:rPr>
              <a:t> </a:t>
            </a:r>
            <a:r>
              <a:rPr dirty="0" sz="1000">
                <a:latin typeface="Times New Roman"/>
                <a:cs typeface="Times New Roman"/>
              </a:rPr>
              <a:t>module</a:t>
            </a:r>
            <a:r>
              <a:rPr dirty="0" sz="1000" spc="65">
                <a:latin typeface="Times New Roman"/>
                <a:cs typeface="Times New Roman"/>
              </a:rPr>
              <a:t> </a:t>
            </a:r>
            <a:r>
              <a:rPr dirty="0" sz="1000">
                <a:latin typeface="Times New Roman"/>
                <a:cs typeface="Times New Roman"/>
              </a:rPr>
              <a:t>and</a:t>
            </a:r>
            <a:r>
              <a:rPr dirty="0" sz="1000" spc="6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fully</a:t>
            </a:r>
            <a:r>
              <a:rPr dirty="0" sz="1000" spc="65">
                <a:latin typeface="Times New Roman"/>
                <a:cs typeface="Times New Roman"/>
              </a:rPr>
              <a:t> </a:t>
            </a:r>
            <a:r>
              <a:rPr dirty="0" sz="1000" spc="-10">
                <a:latin typeface="Times New Roman"/>
                <a:cs typeface="Times New Roman"/>
              </a:rPr>
              <a:t>connected </a:t>
            </a:r>
            <a:r>
              <a:rPr dirty="0" sz="1000" spc="10">
                <a:latin typeface="Times New Roman"/>
                <a:cs typeface="Times New Roman"/>
              </a:rPr>
              <a:t>layer</a:t>
            </a:r>
            <a:r>
              <a:rPr dirty="0" sz="1000" spc="35">
                <a:latin typeface="Times New Roman"/>
                <a:cs typeface="Times New Roman"/>
              </a:rPr>
              <a:t> </a:t>
            </a:r>
            <a:r>
              <a:rPr dirty="0" sz="1000" spc="10">
                <a:latin typeface="Times New Roman"/>
                <a:cs typeface="Times New Roman"/>
              </a:rPr>
              <a:t>in</a:t>
            </a:r>
            <a:r>
              <a:rPr dirty="0" sz="1000" spc="45">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multimodal</a:t>
            </a:r>
            <a:r>
              <a:rPr dirty="0" sz="1000" spc="45">
                <a:latin typeface="Times New Roman"/>
                <a:cs typeface="Times New Roman"/>
              </a:rPr>
              <a:t> </a:t>
            </a:r>
            <a:r>
              <a:rPr dirty="0" sz="1000" spc="10">
                <a:latin typeface="Times New Roman"/>
                <a:cs typeface="Times New Roman"/>
              </a:rPr>
              <a:t>model.</a:t>
            </a:r>
            <a:r>
              <a:rPr dirty="0" sz="1000" spc="145">
                <a:latin typeface="Times New Roman"/>
                <a:cs typeface="Times New Roman"/>
              </a:rPr>
              <a:t> </a:t>
            </a:r>
            <a:r>
              <a:rPr dirty="0" sz="1000" spc="10">
                <a:latin typeface="Cambria"/>
                <a:cs typeface="Cambria"/>
              </a:rPr>
              <a:t>𝐿</a:t>
            </a:r>
            <a:r>
              <a:rPr dirty="0" baseline="27777" sz="1050" spc="15">
                <a:latin typeface="Cambria"/>
                <a:cs typeface="Cambria"/>
              </a:rPr>
              <a:t>𝑚</a:t>
            </a:r>
            <a:r>
              <a:rPr dirty="0" baseline="20202" sz="825" spc="15">
                <a:latin typeface="Cambria"/>
                <a:cs typeface="Cambria"/>
              </a:rPr>
              <a:t>1</a:t>
            </a:r>
            <a:r>
              <a:rPr dirty="0" baseline="20202" sz="825" spc="427">
                <a:latin typeface="Cambria"/>
                <a:cs typeface="Cambria"/>
              </a:rPr>
              <a:t> </a:t>
            </a:r>
            <a:r>
              <a:rPr dirty="0" sz="1000" spc="165">
                <a:latin typeface="Cambria"/>
                <a:cs typeface="Cambria"/>
              </a:rPr>
              <a:t>+</a:t>
            </a:r>
            <a:r>
              <a:rPr dirty="0" sz="1000" spc="50">
                <a:latin typeface="Cambria"/>
                <a:cs typeface="Cambria"/>
              </a:rPr>
              <a:t> </a:t>
            </a:r>
            <a:r>
              <a:rPr dirty="0" sz="1000" spc="10">
                <a:latin typeface="Cambria"/>
                <a:cs typeface="Cambria"/>
              </a:rPr>
              <a:t>𝐿</a:t>
            </a:r>
            <a:r>
              <a:rPr dirty="0" baseline="27777" sz="1050" spc="15">
                <a:latin typeface="Cambria"/>
                <a:cs typeface="Cambria"/>
              </a:rPr>
              <a:t>𝑚</a:t>
            </a:r>
            <a:r>
              <a:rPr dirty="0" baseline="20202" sz="825" spc="15">
                <a:latin typeface="Cambria"/>
                <a:cs typeface="Cambria"/>
              </a:rPr>
              <a:t>2</a:t>
            </a:r>
            <a:r>
              <a:rPr dirty="0" baseline="20202" sz="825" spc="465">
                <a:latin typeface="Cambria"/>
                <a:cs typeface="Cambria"/>
              </a:rPr>
              <a:t> </a:t>
            </a:r>
            <a:r>
              <a:rPr dirty="0" sz="1000" spc="10">
                <a:latin typeface="Times New Roman"/>
                <a:cs typeface="Times New Roman"/>
              </a:rPr>
              <a:t>only</a:t>
            </a:r>
            <a:r>
              <a:rPr dirty="0" sz="1000" spc="45">
                <a:latin typeface="Times New Roman"/>
                <a:cs typeface="Times New Roman"/>
              </a:rPr>
              <a:t> </a:t>
            </a:r>
            <a:r>
              <a:rPr dirty="0" sz="1000" spc="10">
                <a:latin typeface="Times New Roman"/>
                <a:cs typeface="Times New Roman"/>
              </a:rPr>
              <a:t>optimizes</a:t>
            </a:r>
            <a:r>
              <a:rPr dirty="0" sz="1000" spc="45">
                <a:latin typeface="Times New Roman"/>
                <a:cs typeface="Times New Roman"/>
              </a:rPr>
              <a:t> </a:t>
            </a:r>
            <a:r>
              <a:rPr dirty="0" sz="1000" spc="10">
                <a:latin typeface="Times New Roman"/>
                <a:cs typeface="Times New Roman"/>
              </a:rPr>
              <a:t>the</a:t>
            </a:r>
            <a:r>
              <a:rPr dirty="0" sz="1000" spc="40">
                <a:latin typeface="Times New Roman"/>
                <a:cs typeface="Times New Roman"/>
              </a:rPr>
              <a:t> </a:t>
            </a:r>
            <a:r>
              <a:rPr dirty="0" sz="1000" spc="10">
                <a:latin typeface="Times New Roman"/>
                <a:cs typeface="Times New Roman"/>
              </a:rPr>
              <a:t>modality</a:t>
            </a:r>
            <a:r>
              <a:rPr dirty="0" sz="1000" spc="45">
                <a:latin typeface="Times New Roman"/>
                <a:cs typeface="Times New Roman"/>
              </a:rPr>
              <a:t> </a:t>
            </a:r>
            <a:r>
              <a:rPr dirty="0" sz="1000" spc="10">
                <a:latin typeface="Times New Roman"/>
                <a:cs typeface="Times New Roman"/>
              </a:rPr>
              <a:t>encoders</a:t>
            </a:r>
            <a:r>
              <a:rPr dirty="0" sz="1000" spc="45">
                <a:latin typeface="Times New Roman"/>
                <a:cs typeface="Times New Roman"/>
              </a:rPr>
              <a:t> </a:t>
            </a:r>
            <a:r>
              <a:rPr dirty="0" sz="1000" spc="10">
                <a:latin typeface="Times New Roman"/>
                <a:cs typeface="Times New Roman"/>
              </a:rPr>
              <a:t>in</a:t>
            </a:r>
            <a:r>
              <a:rPr dirty="0" sz="1000" spc="45">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multimodal</a:t>
            </a:r>
            <a:r>
              <a:rPr dirty="0" sz="1000" spc="45">
                <a:latin typeface="Times New Roman"/>
                <a:cs typeface="Times New Roman"/>
              </a:rPr>
              <a:t> </a:t>
            </a:r>
            <a:r>
              <a:rPr dirty="0" sz="1000" spc="10">
                <a:latin typeface="Times New Roman"/>
                <a:cs typeface="Times New Roman"/>
              </a:rPr>
              <a:t>model.</a:t>
            </a:r>
            <a:r>
              <a:rPr dirty="0" sz="1000" spc="145">
                <a:latin typeface="Times New Roman"/>
                <a:cs typeface="Times New Roman"/>
              </a:rPr>
              <a:t> </a:t>
            </a:r>
            <a:r>
              <a:rPr dirty="0" sz="1000" spc="-50">
                <a:latin typeface="Cambria"/>
                <a:cs typeface="Cambria"/>
              </a:rPr>
              <a:t>𝛼</a:t>
            </a:r>
            <a:r>
              <a:rPr dirty="0" sz="1000" spc="10">
                <a:latin typeface="Cambria"/>
                <a:cs typeface="Cambria"/>
              </a:rPr>
              <a:t> </a:t>
            </a:r>
            <a:r>
              <a:rPr dirty="0" sz="1000" spc="10">
                <a:latin typeface="Times New Roman"/>
                <a:cs typeface="Times New Roman"/>
              </a:rPr>
              <a:t>is</a:t>
            </a:r>
            <a:r>
              <a:rPr dirty="0" sz="1000" spc="70">
                <a:latin typeface="Times New Roman"/>
                <a:cs typeface="Times New Roman"/>
              </a:rPr>
              <a:t> </a:t>
            </a:r>
            <a:r>
              <a:rPr dirty="0" sz="1000" spc="10">
                <a:latin typeface="Times New Roman"/>
                <a:cs typeface="Times New Roman"/>
              </a:rPr>
              <a:t>the</a:t>
            </a:r>
            <a:r>
              <a:rPr dirty="0" sz="1000" spc="75">
                <a:latin typeface="Times New Roman"/>
                <a:cs typeface="Times New Roman"/>
              </a:rPr>
              <a:t> </a:t>
            </a:r>
            <a:r>
              <a:rPr dirty="0" sz="1000" spc="10">
                <a:latin typeface="Times New Roman"/>
                <a:cs typeface="Times New Roman"/>
              </a:rPr>
              <a:t>hyper-parameter</a:t>
            </a:r>
            <a:r>
              <a:rPr dirty="0" sz="1000" spc="70">
                <a:latin typeface="Times New Roman"/>
                <a:cs typeface="Times New Roman"/>
              </a:rPr>
              <a:t> </a:t>
            </a:r>
            <a:r>
              <a:rPr dirty="0" sz="1000" spc="10">
                <a:latin typeface="Times New Roman"/>
                <a:cs typeface="Times New Roman"/>
              </a:rPr>
              <a:t>to</a:t>
            </a:r>
            <a:r>
              <a:rPr dirty="0" sz="1000" spc="75">
                <a:latin typeface="Times New Roman"/>
                <a:cs typeface="Times New Roman"/>
              </a:rPr>
              <a:t> </a:t>
            </a:r>
            <a:r>
              <a:rPr dirty="0" sz="1000" spc="10">
                <a:latin typeface="Times New Roman"/>
                <a:cs typeface="Times New Roman"/>
              </a:rPr>
              <a:t>calibrate</a:t>
            </a:r>
            <a:r>
              <a:rPr dirty="0" sz="1000" spc="70">
                <a:latin typeface="Times New Roman"/>
                <a:cs typeface="Times New Roman"/>
              </a:rPr>
              <a:t> </a:t>
            </a:r>
            <a:r>
              <a:rPr dirty="0" sz="1000" spc="10">
                <a:latin typeface="Times New Roman"/>
                <a:cs typeface="Times New Roman"/>
              </a:rPr>
              <a:t>the</a:t>
            </a:r>
            <a:r>
              <a:rPr dirty="0" sz="1000" spc="75">
                <a:latin typeface="Times New Roman"/>
                <a:cs typeface="Times New Roman"/>
              </a:rPr>
              <a:t> </a:t>
            </a:r>
            <a:r>
              <a:rPr dirty="0" sz="1000" spc="10">
                <a:latin typeface="Times New Roman"/>
                <a:cs typeface="Times New Roman"/>
              </a:rPr>
              <a:t>optimization</a:t>
            </a:r>
            <a:r>
              <a:rPr dirty="0" sz="1000" spc="70">
                <a:latin typeface="Times New Roman"/>
                <a:cs typeface="Times New Roman"/>
              </a:rPr>
              <a:t> </a:t>
            </a:r>
            <a:r>
              <a:rPr dirty="0" sz="1000" spc="10">
                <a:latin typeface="Times New Roman"/>
                <a:cs typeface="Times New Roman"/>
              </a:rPr>
              <a:t>of</a:t>
            </a:r>
            <a:r>
              <a:rPr dirty="0" sz="1000" spc="75">
                <a:latin typeface="Times New Roman"/>
                <a:cs typeface="Times New Roman"/>
              </a:rPr>
              <a:t> </a:t>
            </a:r>
            <a:r>
              <a:rPr dirty="0" sz="1000" spc="10">
                <a:latin typeface="Times New Roman"/>
                <a:cs typeface="Times New Roman"/>
              </a:rPr>
              <a:t>the</a:t>
            </a:r>
            <a:r>
              <a:rPr dirty="0" sz="1000" spc="70">
                <a:latin typeface="Times New Roman"/>
                <a:cs typeface="Times New Roman"/>
              </a:rPr>
              <a:t> </a:t>
            </a:r>
            <a:r>
              <a:rPr dirty="0" sz="1000" spc="10">
                <a:latin typeface="Times New Roman"/>
                <a:cs typeface="Times New Roman"/>
              </a:rPr>
              <a:t>modality</a:t>
            </a:r>
            <a:r>
              <a:rPr dirty="0" sz="1000" spc="75">
                <a:latin typeface="Times New Roman"/>
                <a:cs typeface="Times New Roman"/>
              </a:rPr>
              <a:t> </a:t>
            </a:r>
            <a:r>
              <a:rPr dirty="0" sz="1000" spc="10">
                <a:latin typeface="Times New Roman"/>
                <a:cs typeface="Times New Roman"/>
              </a:rPr>
              <a:t>encoder,</a:t>
            </a:r>
            <a:r>
              <a:rPr dirty="0" sz="1000" spc="80">
                <a:latin typeface="Times New Roman"/>
                <a:cs typeface="Times New Roman"/>
              </a:rPr>
              <a:t> </a:t>
            </a:r>
            <a:r>
              <a:rPr dirty="0" sz="1000" spc="10">
                <a:latin typeface="Times New Roman"/>
                <a:cs typeface="Times New Roman"/>
              </a:rPr>
              <a:t>which</a:t>
            </a:r>
            <a:r>
              <a:rPr dirty="0" sz="1000" spc="70">
                <a:latin typeface="Times New Roman"/>
                <a:cs typeface="Times New Roman"/>
              </a:rPr>
              <a:t> </a:t>
            </a:r>
            <a:r>
              <a:rPr dirty="0" sz="1000" spc="10">
                <a:latin typeface="Times New Roman"/>
                <a:cs typeface="Times New Roman"/>
              </a:rPr>
              <a:t>has</a:t>
            </a:r>
            <a:r>
              <a:rPr dirty="0" sz="1000" spc="75">
                <a:latin typeface="Times New Roman"/>
                <a:cs typeface="Times New Roman"/>
              </a:rPr>
              <a:t> </a:t>
            </a:r>
            <a:r>
              <a:rPr dirty="0" sz="1000" spc="10">
                <a:latin typeface="Times New Roman"/>
                <a:cs typeface="Times New Roman"/>
              </a:rPr>
              <a:t>been</a:t>
            </a:r>
            <a:r>
              <a:rPr dirty="0" sz="1000" spc="70">
                <a:latin typeface="Times New Roman"/>
                <a:cs typeface="Times New Roman"/>
              </a:rPr>
              <a:t> </a:t>
            </a:r>
            <a:r>
              <a:rPr dirty="0" sz="1000" spc="10">
                <a:latin typeface="Times New Roman"/>
                <a:cs typeface="Times New Roman"/>
              </a:rPr>
              <a:t>widely</a:t>
            </a:r>
            <a:r>
              <a:rPr dirty="0" sz="1000" spc="75">
                <a:latin typeface="Times New Roman"/>
                <a:cs typeface="Times New Roman"/>
              </a:rPr>
              <a:t> </a:t>
            </a:r>
            <a:r>
              <a:rPr dirty="0" sz="1000" spc="-10">
                <a:latin typeface="Times New Roman"/>
                <a:cs typeface="Times New Roman"/>
              </a:rPr>
              <a:t>proven </a:t>
            </a:r>
            <a:r>
              <a:rPr dirty="0" sz="1000" spc="10">
                <a:latin typeface="Times New Roman"/>
                <a:cs typeface="Times New Roman"/>
              </a:rPr>
              <a:t>to</a:t>
            </a:r>
            <a:r>
              <a:rPr dirty="0" sz="1000" spc="65">
                <a:latin typeface="Times New Roman"/>
                <a:cs typeface="Times New Roman"/>
              </a:rPr>
              <a:t> </a:t>
            </a:r>
            <a:r>
              <a:rPr dirty="0" sz="1000" spc="10">
                <a:latin typeface="Times New Roman"/>
                <a:cs typeface="Times New Roman"/>
              </a:rPr>
              <a:t>improve</a:t>
            </a:r>
            <a:r>
              <a:rPr dirty="0" sz="1000" spc="70">
                <a:latin typeface="Times New Roman"/>
                <a:cs typeface="Times New Roman"/>
              </a:rPr>
              <a:t> </a:t>
            </a:r>
            <a:r>
              <a:rPr dirty="0" sz="1000" spc="10">
                <a:latin typeface="Times New Roman"/>
                <a:cs typeface="Times New Roman"/>
              </a:rPr>
              <a:t>the</a:t>
            </a:r>
            <a:r>
              <a:rPr dirty="0" sz="1000" spc="70">
                <a:latin typeface="Times New Roman"/>
                <a:cs typeface="Times New Roman"/>
              </a:rPr>
              <a:t> </a:t>
            </a:r>
            <a:r>
              <a:rPr dirty="0" sz="1000" spc="10">
                <a:latin typeface="Times New Roman"/>
                <a:cs typeface="Times New Roman"/>
              </a:rPr>
              <a:t>modality</a:t>
            </a:r>
            <a:r>
              <a:rPr dirty="0" sz="1000" spc="70">
                <a:latin typeface="Times New Roman"/>
                <a:cs typeface="Times New Roman"/>
              </a:rPr>
              <a:t> </a:t>
            </a:r>
            <a:r>
              <a:rPr dirty="0" sz="1000" spc="10">
                <a:latin typeface="Times New Roman"/>
                <a:cs typeface="Times New Roman"/>
              </a:rPr>
              <a:t>capacity</a:t>
            </a:r>
            <a:r>
              <a:rPr dirty="0" sz="1000" spc="65">
                <a:latin typeface="Times New Roman"/>
                <a:cs typeface="Times New Roman"/>
              </a:rPr>
              <a:t> </a:t>
            </a:r>
            <a:r>
              <a:rPr dirty="0" sz="1000" spc="10">
                <a:latin typeface="Times New Roman"/>
                <a:cs typeface="Times New Roman"/>
              </a:rPr>
              <a:t>and</a:t>
            </a:r>
            <a:r>
              <a:rPr dirty="0" sz="1000" spc="70">
                <a:latin typeface="Times New Roman"/>
                <a:cs typeface="Times New Roman"/>
              </a:rPr>
              <a:t> </a:t>
            </a:r>
            <a:r>
              <a:rPr dirty="0" sz="1000" spc="10">
                <a:latin typeface="Times New Roman"/>
                <a:cs typeface="Times New Roman"/>
              </a:rPr>
              <a:t>multimodal</a:t>
            </a:r>
            <a:r>
              <a:rPr dirty="0" sz="1000" spc="70">
                <a:latin typeface="Times New Roman"/>
                <a:cs typeface="Times New Roman"/>
              </a:rPr>
              <a:t> </a:t>
            </a:r>
            <a:r>
              <a:rPr dirty="0" sz="1000" spc="-10">
                <a:latin typeface="Times New Roman"/>
                <a:cs typeface="Times New Roman"/>
              </a:rPr>
              <a:t>performance.</a:t>
            </a:r>
            <a:endParaRPr sz="1000">
              <a:latin typeface="Times New Roman"/>
              <a:cs typeface="Times New Roman"/>
            </a:endParaRPr>
          </a:p>
          <a:p>
            <a:pPr>
              <a:lnSpc>
                <a:spcPct val="100000"/>
              </a:lnSpc>
              <a:spcBef>
                <a:spcPts val="270"/>
              </a:spcBef>
            </a:pPr>
            <a:endParaRPr sz="1000">
              <a:latin typeface="Times New Roman"/>
              <a:cs typeface="Times New Roman"/>
            </a:endParaRPr>
          </a:p>
          <a:p>
            <a:pPr algn="just" marL="319405" marR="324485">
              <a:lnSpc>
                <a:spcPct val="129500"/>
              </a:lnSpc>
            </a:pPr>
            <a:r>
              <a:rPr dirty="0" sz="1000" spc="-105">
                <a:latin typeface="SimSun"/>
                <a:cs typeface="SimSun"/>
              </a:rPr>
              <a:t>其中 </a:t>
            </a:r>
            <a:r>
              <a:rPr dirty="0" sz="1000" spc="-30">
                <a:latin typeface="Cambria"/>
                <a:cs typeface="Cambria"/>
              </a:rPr>
              <a:t>𝐿</a:t>
            </a:r>
            <a:r>
              <a:rPr dirty="0" baseline="27777" sz="1050" spc="-44">
                <a:latin typeface="Cambria"/>
                <a:cs typeface="Cambria"/>
              </a:rPr>
              <a:t>𝑑</a:t>
            </a:r>
            <a:r>
              <a:rPr dirty="0" baseline="27777" sz="1050" spc="165">
                <a:latin typeface="Cambria"/>
                <a:cs typeface="Cambria"/>
              </a:rPr>
              <a:t> </a:t>
            </a:r>
            <a:r>
              <a:rPr dirty="0" sz="1000" spc="-30">
                <a:latin typeface="SimSun"/>
                <a:cs typeface="SimSun"/>
              </a:rPr>
              <a:t>是带梯度分离的多模态损失。</a:t>
            </a:r>
            <a:r>
              <a:rPr dirty="0" sz="1000" spc="-5">
                <a:latin typeface="Cambria"/>
                <a:cs typeface="Cambria"/>
              </a:rPr>
              <a:t>𝐿</a:t>
            </a:r>
            <a:r>
              <a:rPr dirty="0" baseline="27777" sz="1050" spc="-7">
                <a:latin typeface="Cambria"/>
                <a:cs typeface="Cambria"/>
              </a:rPr>
              <a:t>𝑚</a:t>
            </a:r>
            <a:r>
              <a:rPr dirty="0" baseline="20202" sz="825" spc="-7">
                <a:latin typeface="Cambria"/>
                <a:cs typeface="Cambria"/>
              </a:rPr>
              <a:t>1</a:t>
            </a:r>
            <a:r>
              <a:rPr dirty="0" baseline="20202" sz="825" spc="284">
                <a:latin typeface="Cambria"/>
                <a:cs typeface="Cambria"/>
              </a:rPr>
              <a:t> </a:t>
            </a:r>
            <a:r>
              <a:rPr dirty="0" sz="1000" spc="-155">
                <a:latin typeface="SimSun"/>
                <a:cs typeface="SimSun"/>
              </a:rPr>
              <a:t>和 </a:t>
            </a:r>
            <a:r>
              <a:rPr dirty="0" sz="1000" spc="-5">
                <a:latin typeface="Cambria"/>
                <a:cs typeface="Cambria"/>
              </a:rPr>
              <a:t>𝐿</a:t>
            </a:r>
            <a:r>
              <a:rPr dirty="0" baseline="27777" sz="1050" spc="-7">
                <a:latin typeface="Cambria"/>
                <a:cs typeface="Cambria"/>
              </a:rPr>
              <a:t>𝑚</a:t>
            </a:r>
            <a:r>
              <a:rPr dirty="0" baseline="20202" sz="825" spc="-7">
                <a:latin typeface="Cambria"/>
                <a:cs typeface="Cambria"/>
              </a:rPr>
              <a:t>2</a:t>
            </a:r>
            <a:r>
              <a:rPr dirty="0" baseline="20202" sz="825" spc="284">
                <a:latin typeface="Cambria"/>
                <a:cs typeface="Cambria"/>
              </a:rPr>
              <a:t> </a:t>
            </a:r>
            <a:r>
              <a:rPr dirty="0" sz="1000" spc="-65">
                <a:latin typeface="SimSun"/>
                <a:cs typeface="SimSun"/>
              </a:rPr>
              <a:t>是单模态损失。由于如算法 </a:t>
            </a:r>
            <a:r>
              <a:rPr dirty="0" sz="1000" spc="-10">
                <a:latin typeface="Times New Roman"/>
                <a:cs typeface="Times New Roman"/>
              </a:rPr>
              <a:t>1</a:t>
            </a:r>
            <a:r>
              <a:rPr dirty="0" sz="1000" spc="-45">
                <a:latin typeface="Times New Roman"/>
                <a:cs typeface="Times New Roman"/>
              </a:rPr>
              <a:t> </a:t>
            </a:r>
            <a:r>
              <a:rPr dirty="0" sz="1000" spc="-45">
                <a:latin typeface="SimSun"/>
                <a:cs typeface="SimSun"/>
              </a:rPr>
              <a:t>所述，</a:t>
            </a:r>
            <a:r>
              <a:rPr dirty="0" sz="1000" spc="-110">
                <a:latin typeface="Cambria"/>
                <a:cs typeface="Cambria"/>
              </a:rPr>
              <a:t>𝐿</a:t>
            </a:r>
            <a:r>
              <a:rPr dirty="0" baseline="27777" sz="1050" spc="-165">
                <a:latin typeface="Cambria"/>
                <a:cs typeface="Cambria"/>
              </a:rPr>
              <a:t>𝑑</a:t>
            </a:r>
            <a:r>
              <a:rPr dirty="0" baseline="27777" sz="1050" spc="165">
                <a:latin typeface="Cambria"/>
                <a:cs typeface="Cambria"/>
              </a:rPr>
              <a:t> </a:t>
            </a:r>
            <a:r>
              <a:rPr dirty="0" sz="1000" spc="-155">
                <a:latin typeface="SimSun"/>
                <a:cs typeface="SimSun"/>
              </a:rPr>
              <a:t>和 </a:t>
            </a:r>
            <a:r>
              <a:rPr dirty="0" sz="1000" spc="-5">
                <a:latin typeface="Cambria"/>
                <a:cs typeface="Cambria"/>
              </a:rPr>
              <a:t>𝐿</a:t>
            </a:r>
            <a:r>
              <a:rPr dirty="0" baseline="27777" sz="1050" spc="-7">
                <a:latin typeface="Cambria"/>
                <a:cs typeface="Cambria"/>
              </a:rPr>
              <a:t>𝑚</a:t>
            </a:r>
            <a:r>
              <a:rPr dirty="0" baseline="20202" sz="825" spc="-7">
                <a:latin typeface="Cambria"/>
                <a:cs typeface="Cambria"/>
              </a:rPr>
              <a:t>1</a:t>
            </a:r>
            <a:r>
              <a:rPr dirty="0" baseline="20202" sz="825" spc="179">
                <a:latin typeface="Cambria"/>
                <a:cs typeface="Cambria"/>
              </a:rPr>
              <a:t> </a:t>
            </a:r>
            <a:r>
              <a:rPr dirty="0" sz="1000" spc="40">
                <a:latin typeface="Cambria"/>
                <a:cs typeface="Cambria"/>
              </a:rPr>
              <a:t>+ </a:t>
            </a:r>
            <a:r>
              <a:rPr dirty="0" sz="1000" spc="-5">
                <a:latin typeface="Cambria"/>
                <a:cs typeface="Cambria"/>
              </a:rPr>
              <a:t>𝐿</a:t>
            </a:r>
            <a:r>
              <a:rPr dirty="0" baseline="27777" sz="1050" spc="-7">
                <a:latin typeface="Cambria"/>
                <a:cs typeface="Cambria"/>
              </a:rPr>
              <a:t>𝑚</a:t>
            </a:r>
            <a:r>
              <a:rPr dirty="0" baseline="20202" sz="825" spc="-7">
                <a:latin typeface="Cambria"/>
                <a:cs typeface="Cambria"/>
              </a:rPr>
              <a:t>2</a:t>
            </a:r>
            <a:r>
              <a:rPr dirty="0" sz="1000" spc="-45">
                <a:latin typeface="SimSun"/>
                <a:cs typeface="SimSun"/>
              </a:rPr>
              <a:t>的梯度是解耦的，这里我们使用拼接操作而不是求和操作。具体来说，</a:t>
            </a:r>
            <a:r>
              <a:rPr dirty="0" sz="1000" spc="-80">
                <a:latin typeface="Cambria"/>
                <a:cs typeface="Cambria"/>
              </a:rPr>
              <a:t>𝐿</a:t>
            </a:r>
            <a:r>
              <a:rPr dirty="0" baseline="27777" sz="1050" spc="-120">
                <a:latin typeface="Cambria"/>
                <a:cs typeface="Cambria"/>
              </a:rPr>
              <a:t>𝑑</a:t>
            </a:r>
            <a:r>
              <a:rPr dirty="0" baseline="27777" sz="1050" spc="179">
                <a:latin typeface="Cambria"/>
                <a:cs typeface="Cambria"/>
              </a:rPr>
              <a:t> </a:t>
            </a:r>
            <a:r>
              <a:rPr dirty="0" sz="1000" spc="-10">
                <a:latin typeface="SimSun"/>
                <a:cs typeface="SimSun"/>
              </a:rPr>
              <a:t>仅优化多模态模型中的模态融合模块和全连接层。</a:t>
            </a:r>
            <a:r>
              <a:rPr dirty="0" sz="1000" spc="-5">
                <a:latin typeface="Cambria"/>
                <a:cs typeface="Cambria"/>
              </a:rPr>
              <a:t>𝐿</a:t>
            </a:r>
            <a:r>
              <a:rPr dirty="0" baseline="27777" sz="1050" spc="-7">
                <a:latin typeface="Cambria"/>
                <a:cs typeface="Cambria"/>
              </a:rPr>
              <a:t>𝑚</a:t>
            </a:r>
            <a:r>
              <a:rPr dirty="0" baseline="20202" sz="825" spc="-7">
                <a:latin typeface="Cambria"/>
                <a:cs typeface="Cambria"/>
              </a:rPr>
              <a:t>1</a:t>
            </a:r>
            <a:r>
              <a:rPr dirty="0" baseline="20202" sz="825" spc="345">
                <a:latin typeface="Cambria"/>
                <a:cs typeface="Cambria"/>
              </a:rPr>
              <a:t> </a:t>
            </a:r>
            <a:r>
              <a:rPr dirty="0" sz="1000" spc="95">
                <a:latin typeface="Cambria"/>
                <a:cs typeface="Cambria"/>
              </a:rPr>
              <a:t>+ </a:t>
            </a:r>
            <a:r>
              <a:rPr dirty="0" sz="1000" spc="-5">
                <a:latin typeface="Cambria"/>
                <a:cs typeface="Cambria"/>
              </a:rPr>
              <a:t>𝐿</a:t>
            </a:r>
            <a:r>
              <a:rPr dirty="0" baseline="27777" sz="1050" spc="-7">
                <a:latin typeface="Cambria"/>
                <a:cs typeface="Cambria"/>
              </a:rPr>
              <a:t>𝑚</a:t>
            </a:r>
            <a:r>
              <a:rPr dirty="0" baseline="20202" sz="825" spc="-7">
                <a:latin typeface="Cambria"/>
                <a:cs typeface="Cambria"/>
              </a:rPr>
              <a:t>2</a:t>
            </a:r>
            <a:r>
              <a:rPr dirty="0" baseline="20202" sz="825" spc="367">
                <a:latin typeface="Cambria"/>
                <a:cs typeface="Cambria"/>
              </a:rPr>
              <a:t> </a:t>
            </a:r>
            <a:r>
              <a:rPr dirty="0" sz="1000" spc="-10">
                <a:latin typeface="SimSun"/>
                <a:cs typeface="SimSun"/>
              </a:rPr>
              <a:t>仅优化多模态模型中的模态编码器。</a:t>
            </a:r>
            <a:r>
              <a:rPr dirty="0" sz="1000" spc="-20">
                <a:latin typeface="Cambria"/>
                <a:cs typeface="Cambria"/>
              </a:rPr>
              <a:t>𝛼</a:t>
            </a:r>
            <a:r>
              <a:rPr dirty="0" sz="1000" spc="40">
                <a:latin typeface="Cambria"/>
                <a:cs typeface="Cambria"/>
              </a:rPr>
              <a:t> </a:t>
            </a:r>
            <a:r>
              <a:rPr dirty="0" sz="1000" spc="-10">
                <a:latin typeface="SimSun"/>
                <a:cs typeface="SimSun"/>
              </a:rPr>
              <a:t>是用于校准模态编码器优化的超参数，已被广泛证明可提高模态能力和多模态性能。</a:t>
            </a:r>
            <a:endParaRPr sz="1000">
              <a:latin typeface="SimSun"/>
              <a:cs typeface="SimSun"/>
            </a:endParaRPr>
          </a:p>
        </p:txBody>
      </p:sp>
      <p:grpSp>
        <p:nvGrpSpPr>
          <p:cNvPr id="10" name="object 10" descr=""/>
          <p:cNvGrpSpPr/>
          <p:nvPr/>
        </p:nvGrpSpPr>
        <p:grpSpPr>
          <a:xfrm>
            <a:off x="899998" y="5166712"/>
            <a:ext cx="5760085" cy="391795"/>
            <a:chOff x="899998" y="5166712"/>
            <a:chExt cx="5760085" cy="391795"/>
          </a:xfrm>
        </p:grpSpPr>
        <p:sp>
          <p:nvSpPr>
            <p:cNvPr id="11" name="object 11" descr=""/>
            <p:cNvSpPr/>
            <p:nvPr/>
          </p:nvSpPr>
          <p:spPr>
            <a:xfrm>
              <a:off x="899998" y="5166712"/>
              <a:ext cx="5760085" cy="391795"/>
            </a:xfrm>
            <a:custGeom>
              <a:avLst/>
              <a:gdLst/>
              <a:ahLst/>
              <a:cxnLst/>
              <a:rect l="l" t="t" r="r" b="b"/>
              <a:pathLst>
                <a:path w="5760084" h="391795">
                  <a:moveTo>
                    <a:pt x="5724074" y="0"/>
                  </a:moveTo>
                  <a:lnTo>
                    <a:pt x="36000" y="0"/>
                  </a:lnTo>
                  <a:lnTo>
                    <a:pt x="21987" y="2829"/>
                  </a:lnTo>
                  <a:lnTo>
                    <a:pt x="10544" y="10544"/>
                  </a:lnTo>
                  <a:lnTo>
                    <a:pt x="2829" y="21987"/>
                  </a:lnTo>
                  <a:lnTo>
                    <a:pt x="0" y="36000"/>
                  </a:lnTo>
                  <a:lnTo>
                    <a:pt x="0" y="355277"/>
                  </a:lnTo>
                  <a:lnTo>
                    <a:pt x="2829" y="369290"/>
                  </a:lnTo>
                  <a:lnTo>
                    <a:pt x="10544" y="380733"/>
                  </a:lnTo>
                  <a:lnTo>
                    <a:pt x="21987" y="388448"/>
                  </a:lnTo>
                  <a:lnTo>
                    <a:pt x="36000" y="391277"/>
                  </a:lnTo>
                  <a:lnTo>
                    <a:pt x="5724074" y="391277"/>
                  </a:lnTo>
                  <a:lnTo>
                    <a:pt x="5738087" y="388448"/>
                  </a:lnTo>
                  <a:lnTo>
                    <a:pt x="5749530" y="380733"/>
                  </a:lnTo>
                  <a:lnTo>
                    <a:pt x="5757245" y="369290"/>
                  </a:lnTo>
                  <a:lnTo>
                    <a:pt x="5760074" y="35527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2" name="object 12" descr=""/>
            <p:cNvSpPr/>
            <p:nvPr/>
          </p:nvSpPr>
          <p:spPr>
            <a:xfrm>
              <a:off x="899998" y="5166712"/>
              <a:ext cx="5760085" cy="391795"/>
            </a:xfrm>
            <a:custGeom>
              <a:avLst/>
              <a:gdLst/>
              <a:ahLst/>
              <a:cxnLst/>
              <a:rect l="l" t="t" r="r" b="b"/>
              <a:pathLst>
                <a:path w="5760084" h="391795">
                  <a:moveTo>
                    <a:pt x="5724074" y="0"/>
                  </a:moveTo>
                  <a:lnTo>
                    <a:pt x="36000" y="0"/>
                  </a:lnTo>
                  <a:lnTo>
                    <a:pt x="21987" y="2829"/>
                  </a:lnTo>
                  <a:lnTo>
                    <a:pt x="10544" y="10544"/>
                  </a:lnTo>
                  <a:lnTo>
                    <a:pt x="2829" y="21987"/>
                  </a:lnTo>
                  <a:lnTo>
                    <a:pt x="0" y="36000"/>
                  </a:lnTo>
                  <a:lnTo>
                    <a:pt x="0" y="355277"/>
                  </a:lnTo>
                  <a:lnTo>
                    <a:pt x="2829" y="369290"/>
                  </a:lnTo>
                  <a:lnTo>
                    <a:pt x="10544" y="380733"/>
                  </a:lnTo>
                  <a:lnTo>
                    <a:pt x="21987" y="388448"/>
                  </a:lnTo>
                  <a:lnTo>
                    <a:pt x="36000" y="391277"/>
                  </a:lnTo>
                  <a:lnTo>
                    <a:pt x="5724074" y="391277"/>
                  </a:lnTo>
                  <a:lnTo>
                    <a:pt x="5738087" y="388448"/>
                  </a:lnTo>
                  <a:lnTo>
                    <a:pt x="5749530" y="380733"/>
                  </a:lnTo>
                  <a:lnTo>
                    <a:pt x="5757245" y="369290"/>
                  </a:lnTo>
                  <a:lnTo>
                    <a:pt x="5760074" y="35527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3" name="object 13" descr=""/>
          <p:cNvGrpSpPr/>
          <p:nvPr/>
        </p:nvGrpSpPr>
        <p:grpSpPr>
          <a:xfrm>
            <a:off x="899998" y="7531779"/>
            <a:ext cx="5760085" cy="1333500"/>
            <a:chOff x="899998" y="7531779"/>
            <a:chExt cx="5760085" cy="1333500"/>
          </a:xfrm>
        </p:grpSpPr>
        <p:sp>
          <p:nvSpPr>
            <p:cNvPr id="14" name="object 14" descr=""/>
            <p:cNvSpPr/>
            <p:nvPr/>
          </p:nvSpPr>
          <p:spPr>
            <a:xfrm>
              <a:off x="899998" y="7531779"/>
              <a:ext cx="5760085" cy="1333500"/>
            </a:xfrm>
            <a:custGeom>
              <a:avLst/>
              <a:gdLst/>
              <a:ahLst/>
              <a:cxnLst/>
              <a:rect l="l" t="t" r="r" b="b"/>
              <a:pathLst>
                <a:path w="5760084" h="1333500">
                  <a:moveTo>
                    <a:pt x="5724074" y="0"/>
                  </a:moveTo>
                  <a:lnTo>
                    <a:pt x="36000" y="0"/>
                  </a:lnTo>
                  <a:lnTo>
                    <a:pt x="21987" y="2829"/>
                  </a:lnTo>
                  <a:lnTo>
                    <a:pt x="10544" y="10544"/>
                  </a:lnTo>
                  <a:lnTo>
                    <a:pt x="2829" y="21987"/>
                  </a:lnTo>
                  <a:lnTo>
                    <a:pt x="0" y="36000"/>
                  </a:lnTo>
                  <a:lnTo>
                    <a:pt x="0" y="1296985"/>
                  </a:lnTo>
                  <a:lnTo>
                    <a:pt x="2829" y="1310998"/>
                  </a:lnTo>
                  <a:lnTo>
                    <a:pt x="10544" y="1322441"/>
                  </a:lnTo>
                  <a:lnTo>
                    <a:pt x="21987" y="1330156"/>
                  </a:lnTo>
                  <a:lnTo>
                    <a:pt x="36000" y="1332985"/>
                  </a:lnTo>
                  <a:lnTo>
                    <a:pt x="5724074" y="1332985"/>
                  </a:lnTo>
                  <a:lnTo>
                    <a:pt x="5738087" y="1330156"/>
                  </a:lnTo>
                  <a:lnTo>
                    <a:pt x="5749530" y="1322441"/>
                  </a:lnTo>
                  <a:lnTo>
                    <a:pt x="5757245" y="1310998"/>
                  </a:lnTo>
                  <a:lnTo>
                    <a:pt x="5760074" y="129698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5" name="object 15" descr=""/>
            <p:cNvSpPr/>
            <p:nvPr/>
          </p:nvSpPr>
          <p:spPr>
            <a:xfrm>
              <a:off x="899998" y="7531779"/>
              <a:ext cx="5760085" cy="1333500"/>
            </a:xfrm>
            <a:custGeom>
              <a:avLst/>
              <a:gdLst/>
              <a:ahLst/>
              <a:cxnLst/>
              <a:rect l="l" t="t" r="r" b="b"/>
              <a:pathLst>
                <a:path w="5760084" h="1333500">
                  <a:moveTo>
                    <a:pt x="5724074" y="0"/>
                  </a:moveTo>
                  <a:lnTo>
                    <a:pt x="36000" y="0"/>
                  </a:lnTo>
                  <a:lnTo>
                    <a:pt x="21987" y="2829"/>
                  </a:lnTo>
                  <a:lnTo>
                    <a:pt x="10544" y="10544"/>
                  </a:lnTo>
                  <a:lnTo>
                    <a:pt x="2829" y="21987"/>
                  </a:lnTo>
                  <a:lnTo>
                    <a:pt x="0" y="36000"/>
                  </a:lnTo>
                  <a:lnTo>
                    <a:pt x="0" y="1296985"/>
                  </a:lnTo>
                  <a:lnTo>
                    <a:pt x="2829" y="1310998"/>
                  </a:lnTo>
                  <a:lnTo>
                    <a:pt x="10544" y="1322441"/>
                  </a:lnTo>
                  <a:lnTo>
                    <a:pt x="21987" y="1330156"/>
                  </a:lnTo>
                  <a:lnTo>
                    <a:pt x="36000" y="1332985"/>
                  </a:lnTo>
                  <a:lnTo>
                    <a:pt x="5724074" y="1332985"/>
                  </a:lnTo>
                  <a:lnTo>
                    <a:pt x="5738087" y="1330156"/>
                  </a:lnTo>
                  <a:lnTo>
                    <a:pt x="5749530" y="1322441"/>
                  </a:lnTo>
                  <a:lnTo>
                    <a:pt x="5757245" y="1310998"/>
                  </a:lnTo>
                  <a:lnTo>
                    <a:pt x="5760074" y="129698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6" name="object 16" descr=""/>
          <p:cNvSpPr txBox="1"/>
          <p:nvPr/>
        </p:nvSpPr>
        <p:spPr>
          <a:xfrm>
            <a:off x="887298" y="4781446"/>
            <a:ext cx="5785485" cy="4752975"/>
          </a:xfrm>
          <a:prstGeom prst="rect">
            <a:avLst/>
          </a:prstGeom>
        </p:spPr>
        <p:txBody>
          <a:bodyPr wrap="square" lIns="0" tIns="17145" rIns="0" bIns="0" rtlCol="0" vert="horz">
            <a:spAutoFit/>
          </a:bodyPr>
          <a:lstStyle/>
          <a:p>
            <a:pPr marL="12700">
              <a:lnSpc>
                <a:spcPct val="100000"/>
              </a:lnSpc>
              <a:spcBef>
                <a:spcPts val="135"/>
              </a:spcBef>
            </a:pPr>
            <a:r>
              <a:rPr dirty="0" sz="1400" b="1">
                <a:latin typeface="Times New Roman"/>
                <a:cs typeface="Times New Roman"/>
              </a:rPr>
              <a:t>3.3.</a:t>
            </a:r>
            <a:r>
              <a:rPr dirty="0" sz="1400" spc="190" b="1">
                <a:latin typeface="Times New Roman"/>
                <a:cs typeface="Times New Roman"/>
              </a:rPr>
              <a:t> </a:t>
            </a:r>
            <a:r>
              <a:rPr dirty="0" sz="1400" spc="55" b="1">
                <a:latin typeface="Times New Roman"/>
                <a:cs typeface="Times New Roman"/>
              </a:rPr>
              <a:t>Relationship </a:t>
            </a:r>
            <a:r>
              <a:rPr dirty="0" sz="1400" b="1">
                <a:latin typeface="Times New Roman"/>
                <a:cs typeface="Times New Roman"/>
              </a:rPr>
              <a:t>to</a:t>
            </a:r>
            <a:r>
              <a:rPr dirty="0" sz="1400" spc="60" b="1">
                <a:latin typeface="Times New Roman"/>
                <a:cs typeface="Times New Roman"/>
              </a:rPr>
              <a:t> </a:t>
            </a:r>
            <a:r>
              <a:rPr dirty="0" sz="1400" b="1">
                <a:latin typeface="Times New Roman"/>
                <a:cs typeface="Times New Roman"/>
              </a:rPr>
              <a:t>Prior</a:t>
            </a:r>
            <a:r>
              <a:rPr dirty="0" sz="1400" spc="55" b="1">
                <a:latin typeface="Times New Roman"/>
                <a:cs typeface="Times New Roman"/>
              </a:rPr>
              <a:t> </a:t>
            </a:r>
            <a:r>
              <a:rPr dirty="0" sz="1400" spc="-20" b="1">
                <a:latin typeface="Times New Roman"/>
                <a:cs typeface="Times New Roman"/>
              </a:rPr>
              <a:t>Work</a:t>
            </a:r>
            <a:endParaRPr sz="1400">
              <a:latin typeface="Times New Roman"/>
              <a:cs typeface="Times New Roman"/>
            </a:endParaRPr>
          </a:p>
          <a:p>
            <a:pPr>
              <a:lnSpc>
                <a:spcPct val="100000"/>
              </a:lnSpc>
              <a:spcBef>
                <a:spcPts val="285"/>
              </a:spcBef>
            </a:pPr>
            <a:endParaRPr sz="1400">
              <a:latin typeface="Times New Roman"/>
              <a:cs typeface="Times New Roman"/>
            </a:endParaRPr>
          </a:p>
          <a:p>
            <a:pPr marL="192405">
              <a:lnSpc>
                <a:spcPct val="100000"/>
              </a:lnSpc>
            </a:pPr>
            <a:r>
              <a:rPr dirty="0" sz="1400" b="1">
                <a:latin typeface="Times New Roman"/>
                <a:cs typeface="Times New Roman"/>
              </a:rPr>
              <a:t>3.3.</a:t>
            </a:r>
            <a:r>
              <a:rPr dirty="0" sz="1400" spc="350" b="1">
                <a:latin typeface="Times New Roman"/>
                <a:cs typeface="Times New Roman"/>
              </a:rPr>
              <a:t> </a:t>
            </a:r>
            <a:r>
              <a:rPr dirty="0" sz="1400" spc="-10" b="1">
                <a:latin typeface="Microsoft JhengHei"/>
                <a:cs typeface="Microsoft JhengHei"/>
              </a:rPr>
              <a:t>与先前工作的关系</a:t>
            </a:r>
            <a:endParaRPr sz="1400">
              <a:latin typeface="Microsoft JhengHei"/>
              <a:cs typeface="Microsoft JhengHei"/>
            </a:endParaRPr>
          </a:p>
          <a:p>
            <a:pPr algn="just" marL="12700" marR="5080" indent="252729">
              <a:lnSpc>
                <a:spcPct val="129500"/>
              </a:lnSpc>
              <a:spcBef>
                <a:spcPts val="1235"/>
              </a:spcBef>
            </a:pPr>
            <a:r>
              <a:rPr dirty="0" sz="1000" spc="10">
                <a:latin typeface="Times New Roman"/>
                <a:cs typeface="Times New Roman"/>
              </a:rPr>
              <a:t>Some</a:t>
            </a:r>
            <a:r>
              <a:rPr dirty="0" sz="1000" spc="45">
                <a:latin typeface="Times New Roman"/>
                <a:cs typeface="Times New Roman"/>
              </a:rPr>
              <a:t> </a:t>
            </a:r>
            <a:r>
              <a:rPr dirty="0" sz="1000" spc="10">
                <a:latin typeface="Times New Roman"/>
                <a:cs typeface="Times New Roman"/>
              </a:rPr>
              <a:t>concurrent</a:t>
            </a:r>
            <a:r>
              <a:rPr dirty="0" sz="1000" spc="40">
                <a:latin typeface="Times New Roman"/>
                <a:cs typeface="Times New Roman"/>
              </a:rPr>
              <a:t> </a:t>
            </a:r>
            <a:r>
              <a:rPr dirty="0" sz="1000" spc="10">
                <a:latin typeface="Times New Roman"/>
                <a:cs typeface="Times New Roman"/>
              </a:rPr>
              <a:t>works</a:t>
            </a:r>
            <a:r>
              <a:rPr dirty="0" sz="1000" spc="45">
                <a:latin typeface="Times New Roman"/>
                <a:cs typeface="Times New Roman"/>
              </a:rPr>
              <a:t> </a:t>
            </a:r>
            <a:r>
              <a:rPr dirty="0" sz="1000">
                <a:latin typeface="Times New Roman"/>
                <a:cs typeface="Times New Roman"/>
              </a:rPr>
              <a:t>[28,</a:t>
            </a:r>
            <a:r>
              <a:rPr dirty="0" sz="1000" spc="45">
                <a:latin typeface="Times New Roman"/>
                <a:cs typeface="Times New Roman"/>
              </a:rPr>
              <a:t> </a:t>
            </a:r>
            <a:r>
              <a:rPr dirty="0" sz="1000" spc="10">
                <a:latin typeface="Times New Roman"/>
                <a:cs typeface="Times New Roman"/>
              </a:rPr>
              <a:t>32]</a:t>
            </a:r>
            <a:r>
              <a:rPr dirty="0" sz="1000" spc="45">
                <a:latin typeface="Times New Roman"/>
                <a:cs typeface="Times New Roman"/>
              </a:rPr>
              <a:t> </a:t>
            </a:r>
            <a:r>
              <a:rPr dirty="0" sz="1000" spc="10">
                <a:latin typeface="Times New Roman"/>
                <a:cs typeface="Times New Roman"/>
              </a:rPr>
              <a:t>seem</a:t>
            </a:r>
            <a:r>
              <a:rPr dirty="0" sz="1000" spc="45">
                <a:latin typeface="Times New Roman"/>
                <a:cs typeface="Times New Roman"/>
              </a:rPr>
              <a:t> </a:t>
            </a:r>
            <a:r>
              <a:rPr dirty="0" sz="1000" spc="10">
                <a:latin typeface="Times New Roman"/>
                <a:cs typeface="Times New Roman"/>
              </a:rPr>
              <a:t>similar</a:t>
            </a:r>
            <a:r>
              <a:rPr dirty="0" sz="1000" spc="45">
                <a:latin typeface="Times New Roman"/>
                <a:cs typeface="Times New Roman"/>
              </a:rPr>
              <a:t> </a:t>
            </a:r>
            <a:r>
              <a:rPr dirty="0" sz="1000" spc="10">
                <a:latin typeface="Times New Roman"/>
                <a:cs typeface="Times New Roman"/>
              </a:rPr>
              <a:t>to</a:t>
            </a:r>
            <a:r>
              <a:rPr dirty="0" sz="1000" spc="40">
                <a:latin typeface="Times New Roman"/>
                <a:cs typeface="Times New Roman"/>
              </a:rPr>
              <a:t> </a:t>
            </a:r>
            <a:r>
              <a:rPr dirty="0" sz="1000" spc="10">
                <a:latin typeface="Times New Roman"/>
                <a:cs typeface="Times New Roman"/>
              </a:rPr>
              <a:t>our</a:t>
            </a:r>
            <a:r>
              <a:rPr dirty="0" sz="1000" spc="45">
                <a:latin typeface="Times New Roman"/>
                <a:cs typeface="Times New Roman"/>
              </a:rPr>
              <a:t> </a:t>
            </a:r>
            <a:r>
              <a:rPr dirty="0" sz="1000">
                <a:latin typeface="Times New Roman"/>
                <a:cs typeface="Times New Roman"/>
              </a:rPr>
              <a:t>DGL,</a:t>
            </a:r>
            <a:r>
              <a:rPr dirty="0" sz="1000" spc="50">
                <a:latin typeface="Times New Roman"/>
                <a:cs typeface="Times New Roman"/>
              </a:rPr>
              <a:t> </a:t>
            </a:r>
            <a:r>
              <a:rPr dirty="0" sz="1000" spc="10">
                <a:latin typeface="Times New Roman"/>
                <a:cs typeface="Times New Roman"/>
              </a:rPr>
              <a:t>which</a:t>
            </a:r>
            <a:r>
              <a:rPr dirty="0" sz="1000" spc="45">
                <a:latin typeface="Times New Roman"/>
                <a:cs typeface="Times New Roman"/>
              </a:rPr>
              <a:t> </a:t>
            </a:r>
            <a:r>
              <a:rPr dirty="0" sz="1000" spc="10">
                <a:latin typeface="Times New Roman"/>
                <a:cs typeface="Times New Roman"/>
              </a:rPr>
              <a:t>also</a:t>
            </a:r>
            <a:r>
              <a:rPr dirty="0" sz="1000" spc="45">
                <a:latin typeface="Times New Roman"/>
                <a:cs typeface="Times New Roman"/>
              </a:rPr>
              <a:t> </a:t>
            </a:r>
            <a:r>
              <a:rPr dirty="0" sz="1000" spc="10">
                <a:latin typeface="Times New Roman"/>
                <a:cs typeface="Times New Roman"/>
              </a:rPr>
              <a:t>introduces</a:t>
            </a:r>
            <a:r>
              <a:rPr dirty="0" sz="1000" spc="40">
                <a:latin typeface="Times New Roman"/>
                <a:cs typeface="Times New Roman"/>
              </a:rPr>
              <a:t> </a:t>
            </a:r>
            <a:r>
              <a:rPr dirty="0" sz="1000" spc="10">
                <a:latin typeface="Times New Roman"/>
                <a:cs typeface="Times New Roman"/>
              </a:rPr>
              <a:t>unimodal</a:t>
            </a:r>
            <a:r>
              <a:rPr dirty="0" sz="1000" spc="45">
                <a:latin typeface="Times New Roman"/>
                <a:cs typeface="Times New Roman"/>
              </a:rPr>
              <a:t> </a:t>
            </a:r>
            <a:r>
              <a:rPr dirty="0" sz="1000" spc="10">
                <a:latin typeface="Times New Roman"/>
                <a:cs typeface="Times New Roman"/>
              </a:rPr>
              <a:t>loss</a:t>
            </a:r>
            <a:r>
              <a:rPr dirty="0" sz="1000" spc="45">
                <a:latin typeface="Times New Roman"/>
                <a:cs typeface="Times New Roman"/>
              </a:rPr>
              <a:t> </a:t>
            </a:r>
            <a:r>
              <a:rPr dirty="0" sz="1000" spc="10">
                <a:latin typeface="Times New Roman"/>
                <a:cs typeface="Times New Roman"/>
              </a:rPr>
              <a:t>to</a:t>
            </a:r>
            <a:r>
              <a:rPr dirty="0" sz="1000" spc="40">
                <a:latin typeface="Times New Roman"/>
                <a:cs typeface="Times New Roman"/>
              </a:rPr>
              <a:t> </a:t>
            </a:r>
            <a:r>
              <a:rPr dirty="0" sz="1000" spc="-10">
                <a:latin typeface="Times New Roman"/>
                <a:cs typeface="Times New Roman"/>
              </a:rPr>
              <a:t>assist </a:t>
            </a:r>
            <a:r>
              <a:rPr dirty="0" sz="1000">
                <a:latin typeface="Times New Roman"/>
                <a:cs typeface="Times New Roman"/>
              </a:rPr>
              <a:t>multimodal</a:t>
            </a:r>
            <a:r>
              <a:rPr dirty="0" sz="1000" spc="135">
                <a:latin typeface="Times New Roman"/>
                <a:cs typeface="Times New Roman"/>
              </a:rPr>
              <a:t> </a:t>
            </a:r>
            <a:r>
              <a:rPr dirty="0" sz="1000">
                <a:latin typeface="Times New Roman"/>
                <a:cs typeface="Times New Roman"/>
              </a:rPr>
              <a:t>learning.</a:t>
            </a:r>
            <a:r>
              <a:rPr dirty="0" sz="1000" spc="275">
                <a:latin typeface="Times New Roman"/>
                <a:cs typeface="Times New Roman"/>
              </a:rPr>
              <a:t> </a:t>
            </a:r>
            <a:r>
              <a:rPr dirty="0" sz="1000">
                <a:latin typeface="Times New Roman"/>
                <a:cs typeface="Times New Roman"/>
              </a:rPr>
              <a:t>However,</a:t>
            </a:r>
            <a:r>
              <a:rPr dirty="0" sz="1000" spc="140">
                <a:latin typeface="Times New Roman"/>
                <a:cs typeface="Times New Roman"/>
              </a:rPr>
              <a:t> </a:t>
            </a:r>
            <a:r>
              <a:rPr dirty="0" sz="1000">
                <a:latin typeface="Times New Roman"/>
                <a:cs typeface="Times New Roman"/>
              </a:rPr>
              <a:t>there</a:t>
            </a:r>
            <a:r>
              <a:rPr dirty="0" sz="1000" spc="130">
                <a:latin typeface="Times New Roman"/>
                <a:cs typeface="Times New Roman"/>
              </a:rPr>
              <a:t> </a:t>
            </a:r>
            <a:r>
              <a:rPr dirty="0" sz="1000">
                <a:latin typeface="Times New Roman"/>
                <a:cs typeface="Times New Roman"/>
              </a:rPr>
              <a:t>are</a:t>
            </a:r>
            <a:r>
              <a:rPr dirty="0" sz="1000" spc="130">
                <a:latin typeface="Times New Roman"/>
                <a:cs typeface="Times New Roman"/>
              </a:rPr>
              <a:t> </a:t>
            </a:r>
            <a:r>
              <a:rPr dirty="0" sz="1000">
                <a:latin typeface="Times New Roman"/>
                <a:cs typeface="Times New Roman"/>
              </a:rPr>
              <a:t>still</a:t>
            </a:r>
            <a:r>
              <a:rPr dirty="0" sz="1000" spc="135">
                <a:latin typeface="Times New Roman"/>
                <a:cs typeface="Times New Roman"/>
              </a:rPr>
              <a:t> </a:t>
            </a:r>
            <a:r>
              <a:rPr dirty="0" sz="1000">
                <a:latin typeface="Times New Roman"/>
                <a:cs typeface="Times New Roman"/>
              </a:rPr>
              <a:t>differences</a:t>
            </a:r>
            <a:r>
              <a:rPr dirty="0" sz="1000" spc="130">
                <a:latin typeface="Times New Roman"/>
                <a:cs typeface="Times New Roman"/>
              </a:rPr>
              <a:t> </a:t>
            </a:r>
            <a:r>
              <a:rPr dirty="0" sz="1000">
                <a:latin typeface="Times New Roman"/>
                <a:cs typeface="Times New Roman"/>
              </a:rPr>
              <a:t>in</a:t>
            </a:r>
            <a:r>
              <a:rPr dirty="0" sz="1000" spc="140">
                <a:latin typeface="Times New Roman"/>
                <a:cs typeface="Times New Roman"/>
              </a:rPr>
              <a:t> </a:t>
            </a:r>
            <a:r>
              <a:rPr dirty="0" sz="1000">
                <a:latin typeface="Times New Roman"/>
                <a:cs typeface="Times New Roman"/>
              </a:rPr>
              <a:t>motivations,</a:t>
            </a:r>
            <a:r>
              <a:rPr dirty="0" sz="1000" spc="140">
                <a:latin typeface="Times New Roman"/>
                <a:cs typeface="Times New Roman"/>
              </a:rPr>
              <a:t> </a:t>
            </a:r>
            <a:r>
              <a:rPr dirty="0" sz="1000">
                <a:latin typeface="Times New Roman"/>
                <a:cs typeface="Times New Roman"/>
              </a:rPr>
              <a:t>implementations,</a:t>
            </a:r>
            <a:r>
              <a:rPr dirty="0" sz="1000" spc="135">
                <a:latin typeface="Times New Roman"/>
                <a:cs typeface="Times New Roman"/>
              </a:rPr>
              <a:t> </a:t>
            </a:r>
            <a:r>
              <a:rPr dirty="0" sz="1000">
                <a:latin typeface="Times New Roman"/>
                <a:cs typeface="Times New Roman"/>
              </a:rPr>
              <a:t>and</a:t>
            </a:r>
            <a:r>
              <a:rPr dirty="0" sz="1000" spc="140">
                <a:latin typeface="Times New Roman"/>
                <a:cs typeface="Times New Roman"/>
              </a:rPr>
              <a:t> </a:t>
            </a:r>
            <a:r>
              <a:rPr dirty="0" sz="1000" spc="-10">
                <a:latin typeface="Times New Roman"/>
                <a:cs typeface="Times New Roman"/>
              </a:rPr>
              <a:t>performance </a:t>
            </a:r>
            <a:r>
              <a:rPr dirty="0" sz="1000" spc="10">
                <a:latin typeface="Times New Roman"/>
                <a:cs typeface="Times New Roman"/>
              </a:rPr>
              <a:t>with</a:t>
            </a:r>
            <a:r>
              <a:rPr dirty="0" sz="1000" spc="80">
                <a:latin typeface="Times New Roman"/>
                <a:cs typeface="Times New Roman"/>
              </a:rPr>
              <a:t> </a:t>
            </a:r>
            <a:r>
              <a:rPr dirty="0" sz="1000" spc="10">
                <a:latin typeface="Times New Roman"/>
                <a:cs typeface="Times New Roman"/>
              </a:rPr>
              <a:t>ours.</a:t>
            </a:r>
            <a:r>
              <a:rPr dirty="0" sz="1000" spc="275">
                <a:latin typeface="Times New Roman"/>
                <a:cs typeface="Times New Roman"/>
              </a:rPr>
              <a:t> </a:t>
            </a:r>
            <a:r>
              <a:rPr dirty="0" sz="1000" spc="10">
                <a:latin typeface="Times New Roman"/>
                <a:cs typeface="Times New Roman"/>
              </a:rPr>
              <a:t>They</a:t>
            </a:r>
            <a:r>
              <a:rPr dirty="0" sz="1000" spc="80">
                <a:latin typeface="Times New Roman"/>
                <a:cs typeface="Times New Roman"/>
              </a:rPr>
              <a:t> </a:t>
            </a:r>
            <a:r>
              <a:rPr dirty="0" sz="1000" spc="10">
                <a:latin typeface="Times New Roman"/>
                <a:cs typeface="Times New Roman"/>
              </a:rPr>
              <a:t>focus</a:t>
            </a:r>
            <a:r>
              <a:rPr dirty="0" sz="1000" spc="85">
                <a:latin typeface="Times New Roman"/>
                <a:cs typeface="Times New Roman"/>
              </a:rPr>
              <a:t> </a:t>
            </a:r>
            <a:r>
              <a:rPr dirty="0" sz="1000" spc="10">
                <a:latin typeface="Times New Roman"/>
                <a:cs typeface="Times New Roman"/>
              </a:rPr>
              <a:t>on</a:t>
            </a:r>
            <a:r>
              <a:rPr dirty="0" sz="1000" spc="80">
                <a:latin typeface="Times New Roman"/>
                <a:cs typeface="Times New Roman"/>
              </a:rPr>
              <a:t> </a:t>
            </a:r>
            <a:r>
              <a:rPr dirty="0" sz="1000" spc="10">
                <a:latin typeface="Times New Roman"/>
                <a:cs typeface="Times New Roman"/>
              </a:rPr>
              <a:t>the</a:t>
            </a:r>
            <a:r>
              <a:rPr dirty="0" sz="1000" spc="85">
                <a:latin typeface="Times New Roman"/>
                <a:cs typeface="Times New Roman"/>
              </a:rPr>
              <a:t> </a:t>
            </a:r>
            <a:r>
              <a:rPr dirty="0" sz="1000" spc="10">
                <a:latin typeface="Times New Roman"/>
                <a:cs typeface="Times New Roman"/>
              </a:rPr>
              <a:t>optimization</a:t>
            </a:r>
            <a:r>
              <a:rPr dirty="0" sz="1000" spc="80">
                <a:latin typeface="Times New Roman"/>
                <a:cs typeface="Times New Roman"/>
              </a:rPr>
              <a:t> </a:t>
            </a:r>
            <a:r>
              <a:rPr dirty="0" sz="1000" spc="10">
                <a:latin typeface="Times New Roman"/>
                <a:cs typeface="Times New Roman"/>
              </a:rPr>
              <a:t>conflict</a:t>
            </a:r>
            <a:r>
              <a:rPr dirty="0" sz="1000" spc="85">
                <a:latin typeface="Times New Roman"/>
                <a:cs typeface="Times New Roman"/>
              </a:rPr>
              <a:t> </a:t>
            </a:r>
            <a:r>
              <a:rPr dirty="0" sz="1000" spc="10">
                <a:latin typeface="Times New Roman"/>
                <a:cs typeface="Times New Roman"/>
              </a:rPr>
              <a:t>between</a:t>
            </a:r>
            <a:r>
              <a:rPr dirty="0" sz="1000" spc="80">
                <a:latin typeface="Times New Roman"/>
                <a:cs typeface="Times New Roman"/>
              </a:rPr>
              <a:t> </a:t>
            </a:r>
            <a:r>
              <a:rPr dirty="0" sz="1000" spc="10">
                <a:latin typeface="Times New Roman"/>
                <a:cs typeface="Times New Roman"/>
              </a:rPr>
              <a:t>different</a:t>
            </a:r>
            <a:r>
              <a:rPr dirty="0" sz="1000" spc="85">
                <a:latin typeface="Times New Roman"/>
                <a:cs typeface="Times New Roman"/>
              </a:rPr>
              <a:t> </a:t>
            </a:r>
            <a:r>
              <a:rPr dirty="0" sz="1000" spc="10">
                <a:latin typeface="Times New Roman"/>
                <a:cs typeface="Times New Roman"/>
              </a:rPr>
              <a:t>modalities</a:t>
            </a:r>
            <a:r>
              <a:rPr dirty="0" sz="1000" spc="85">
                <a:latin typeface="Times New Roman"/>
                <a:cs typeface="Times New Roman"/>
              </a:rPr>
              <a:t> </a:t>
            </a:r>
            <a:r>
              <a:rPr dirty="0" sz="1000" spc="10">
                <a:latin typeface="Times New Roman"/>
                <a:cs typeface="Times New Roman"/>
              </a:rPr>
              <a:t>and</a:t>
            </a:r>
            <a:r>
              <a:rPr dirty="0" sz="1000" spc="80">
                <a:latin typeface="Times New Roman"/>
                <a:cs typeface="Times New Roman"/>
              </a:rPr>
              <a:t> </a:t>
            </a:r>
            <a:r>
              <a:rPr dirty="0" sz="1000" spc="10">
                <a:latin typeface="Times New Roman"/>
                <a:cs typeface="Times New Roman"/>
              </a:rPr>
              <a:t>leverage</a:t>
            </a:r>
            <a:r>
              <a:rPr dirty="0" sz="1000" spc="85">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unimodal </a:t>
            </a:r>
            <a:r>
              <a:rPr dirty="0" sz="1000">
                <a:latin typeface="Times New Roman"/>
                <a:cs typeface="Times New Roman"/>
              </a:rPr>
              <a:t>loss</a:t>
            </a:r>
            <a:r>
              <a:rPr dirty="0" sz="1000" spc="200">
                <a:latin typeface="Times New Roman"/>
                <a:cs typeface="Times New Roman"/>
              </a:rPr>
              <a:t> </a:t>
            </a:r>
            <a:r>
              <a:rPr dirty="0" sz="1000">
                <a:latin typeface="Times New Roman"/>
                <a:cs typeface="Times New Roman"/>
              </a:rPr>
              <a:t>to</a:t>
            </a:r>
            <a:r>
              <a:rPr dirty="0" sz="1000" spc="200">
                <a:latin typeface="Times New Roman"/>
                <a:cs typeface="Times New Roman"/>
              </a:rPr>
              <a:t> </a:t>
            </a:r>
            <a:r>
              <a:rPr dirty="0" sz="1000">
                <a:latin typeface="Times New Roman"/>
                <a:cs typeface="Times New Roman"/>
              </a:rPr>
              <a:t>balance</a:t>
            </a:r>
            <a:r>
              <a:rPr dirty="0" sz="1000" spc="204">
                <a:latin typeface="Times New Roman"/>
                <a:cs typeface="Times New Roman"/>
              </a:rPr>
              <a:t> </a:t>
            </a:r>
            <a:r>
              <a:rPr dirty="0" sz="1000">
                <a:latin typeface="Times New Roman"/>
                <a:cs typeface="Times New Roman"/>
              </a:rPr>
              <a:t>their</a:t>
            </a:r>
            <a:r>
              <a:rPr dirty="0" sz="1000" spc="200">
                <a:latin typeface="Times New Roman"/>
                <a:cs typeface="Times New Roman"/>
              </a:rPr>
              <a:t> </a:t>
            </a:r>
            <a:r>
              <a:rPr dirty="0" sz="1000">
                <a:latin typeface="Times New Roman"/>
                <a:cs typeface="Times New Roman"/>
              </a:rPr>
              <a:t>optimization</a:t>
            </a:r>
            <a:r>
              <a:rPr dirty="0" sz="1000" spc="204">
                <a:latin typeface="Times New Roman"/>
                <a:cs typeface="Times New Roman"/>
              </a:rPr>
              <a:t> </a:t>
            </a:r>
            <a:r>
              <a:rPr dirty="0" sz="1000">
                <a:latin typeface="Times New Roman"/>
                <a:cs typeface="Times New Roman"/>
              </a:rPr>
              <a:t>progress.</a:t>
            </a:r>
            <a:r>
              <a:rPr dirty="0" sz="1000" spc="170">
                <a:latin typeface="Times New Roman"/>
                <a:cs typeface="Times New Roman"/>
              </a:rPr>
              <a:t>  </a:t>
            </a:r>
            <a:r>
              <a:rPr dirty="0" sz="1000">
                <a:latin typeface="Times New Roman"/>
                <a:cs typeface="Times New Roman"/>
              </a:rPr>
              <a:t>Here,</a:t>
            </a:r>
            <a:r>
              <a:rPr dirty="0" sz="1000" spc="235">
                <a:latin typeface="Times New Roman"/>
                <a:cs typeface="Times New Roman"/>
              </a:rPr>
              <a:t> </a:t>
            </a:r>
            <a:r>
              <a:rPr dirty="0" sz="1000">
                <a:latin typeface="Times New Roman"/>
                <a:cs typeface="Times New Roman"/>
              </a:rPr>
              <a:t>the</a:t>
            </a:r>
            <a:r>
              <a:rPr dirty="0" sz="1000" spc="204">
                <a:latin typeface="Times New Roman"/>
                <a:cs typeface="Times New Roman"/>
              </a:rPr>
              <a:t> </a:t>
            </a:r>
            <a:r>
              <a:rPr dirty="0" sz="1000">
                <a:latin typeface="Times New Roman"/>
                <a:cs typeface="Times New Roman"/>
              </a:rPr>
              <a:t>unimodal</a:t>
            </a:r>
            <a:r>
              <a:rPr dirty="0" sz="1000" spc="200">
                <a:latin typeface="Times New Roman"/>
                <a:cs typeface="Times New Roman"/>
              </a:rPr>
              <a:t> </a:t>
            </a:r>
            <a:r>
              <a:rPr dirty="0" sz="1000">
                <a:latin typeface="Times New Roman"/>
                <a:cs typeface="Times New Roman"/>
              </a:rPr>
              <a:t>loss</a:t>
            </a:r>
            <a:r>
              <a:rPr dirty="0" sz="1000" spc="204">
                <a:latin typeface="Times New Roman"/>
                <a:cs typeface="Times New Roman"/>
              </a:rPr>
              <a:t> </a:t>
            </a:r>
            <a:r>
              <a:rPr dirty="0" sz="1000">
                <a:latin typeface="Times New Roman"/>
                <a:cs typeface="Times New Roman"/>
              </a:rPr>
              <a:t>and</a:t>
            </a:r>
            <a:r>
              <a:rPr dirty="0" sz="1000" spc="200">
                <a:latin typeface="Times New Roman"/>
                <a:cs typeface="Times New Roman"/>
              </a:rPr>
              <a:t> </a:t>
            </a:r>
            <a:r>
              <a:rPr dirty="0" sz="1000">
                <a:latin typeface="Times New Roman"/>
                <a:cs typeface="Times New Roman"/>
              </a:rPr>
              <a:t>multimodal</a:t>
            </a:r>
            <a:r>
              <a:rPr dirty="0" sz="1000" spc="200">
                <a:latin typeface="Times New Roman"/>
                <a:cs typeface="Times New Roman"/>
              </a:rPr>
              <a:t> </a:t>
            </a:r>
            <a:r>
              <a:rPr dirty="0" sz="1000">
                <a:latin typeface="Times New Roman"/>
                <a:cs typeface="Times New Roman"/>
              </a:rPr>
              <a:t>loss</a:t>
            </a:r>
            <a:r>
              <a:rPr dirty="0" sz="1000" spc="204">
                <a:latin typeface="Times New Roman"/>
                <a:cs typeface="Times New Roman"/>
              </a:rPr>
              <a:t> </a:t>
            </a:r>
            <a:r>
              <a:rPr dirty="0" sz="1000">
                <a:latin typeface="Times New Roman"/>
                <a:cs typeface="Times New Roman"/>
              </a:rPr>
              <a:t>will</a:t>
            </a:r>
            <a:r>
              <a:rPr dirty="0" sz="1000" spc="200">
                <a:latin typeface="Times New Roman"/>
                <a:cs typeface="Times New Roman"/>
              </a:rPr>
              <a:t> </a:t>
            </a:r>
            <a:r>
              <a:rPr dirty="0" sz="1000">
                <a:latin typeface="Times New Roman"/>
                <a:cs typeface="Times New Roman"/>
              </a:rPr>
              <a:t>be</a:t>
            </a:r>
            <a:r>
              <a:rPr dirty="0" sz="1000" spc="204">
                <a:latin typeface="Times New Roman"/>
                <a:cs typeface="Times New Roman"/>
              </a:rPr>
              <a:t> </a:t>
            </a:r>
            <a:r>
              <a:rPr dirty="0" sz="1000">
                <a:latin typeface="Times New Roman"/>
                <a:cs typeface="Times New Roman"/>
              </a:rPr>
              <a:t>used</a:t>
            </a:r>
            <a:r>
              <a:rPr dirty="0" sz="1000" spc="200">
                <a:latin typeface="Times New Roman"/>
                <a:cs typeface="Times New Roman"/>
              </a:rPr>
              <a:t> </a:t>
            </a:r>
            <a:r>
              <a:rPr dirty="0" sz="1000" spc="-25">
                <a:latin typeface="Times New Roman"/>
                <a:cs typeface="Times New Roman"/>
              </a:rPr>
              <a:t>to </a:t>
            </a:r>
            <a:r>
              <a:rPr dirty="0" sz="1000" spc="10">
                <a:latin typeface="Times New Roman"/>
                <a:cs typeface="Times New Roman"/>
              </a:rPr>
              <a:t>update</a:t>
            </a:r>
            <a:r>
              <a:rPr dirty="0" sz="1000" spc="25">
                <a:latin typeface="Times New Roman"/>
                <a:cs typeface="Times New Roman"/>
              </a:rPr>
              <a:t> </a:t>
            </a:r>
            <a:r>
              <a:rPr dirty="0" sz="1000" spc="10">
                <a:latin typeface="Times New Roman"/>
                <a:cs typeface="Times New Roman"/>
              </a:rPr>
              <a:t>all</a:t>
            </a:r>
            <a:r>
              <a:rPr dirty="0" sz="1000" spc="25">
                <a:latin typeface="Times New Roman"/>
                <a:cs typeface="Times New Roman"/>
              </a:rPr>
              <a:t> </a:t>
            </a:r>
            <a:r>
              <a:rPr dirty="0" sz="1000" spc="10">
                <a:latin typeface="Times New Roman"/>
                <a:cs typeface="Times New Roman"/>
              </a:rPr>
              <a:t>parameters</a:t>
            </a:r>
            <a:r>
              <a:rPr dirty="0" sz="1000" spc="25">
                <a:latin typeface="Times New Roman"/>
                <a:cs typeface="Times New Roman"/>
              </a:rPr>
              <a:t> </a:t>
            </a:r>
            <a:r>
              <a:rPr dirty="0" sz="1000" spc="10">
                <a:latin typeface="Times New Roman"/>
                <a:cs typeface="Times New Roman"/>
              </a:rPr>
              <a:t>simultaneously.</a:t>
            </a:r>
            <a:r>
              <a:rPr dirty="0" sz="1000" spc="180">
                <a:latin typeface="Times New Roman"/>
                <a:cs typeface="Times New Roman"/>
              </a:rPr>
              <a:t> </a:t>
            </a:r>
            <a:r>
              <a:rPr dirty="0" sz="1000" spc="10">
                <a:latin typeface="Times New Roman"/>
                <a:cs typeface="Times New Roman"/>
              </a:rPr>
              <a:t>In</a:t>
            </a:r>
            <a:r>
              <a:rPr dirty="0" sz="1000" spc="25">
                <a:latin typeface="Times New Roman"/>
                <a:cs typeface="Times New Roman"/>
              </a:rPr>
              <a:t> </a:t>
            </a:r>
            <a:r>
              <a:rPr dirty="0" sz="1000" spc="10">
                <a:latin typeface="Times New Roman"/>
                <a:cs typeface="Times New Roman"/>
              </a:rPr>
              <a:t>contrast,</a:t>
            </a:r>
            <a:r>
              <a:rPr dirty="0" sz="1000" spc="45">
                <a:latin typeface="Times New Roman"/>
                <a:cs typeface="Times New Roman"/>
              </a:rPr>
              <a:t> </a:t>
            </a:r>
            <a:r>
              <a:rPr dirty="0" sz="1000" spc="10">
                <a:latin typeface="Times New Roman"/>
                <a:cs typeface="Times New Roman"/>
              </a:rPr>
              <a:t>we</a:t>
            </a:r>
            <a:r>
              <a:rPr dirty="0" sz="1000" spc="25">
                <a:latin typeface="Times New Roman"/>
                <a:cs typeface="Times New Roman"/>
              </a:rPr>
              <a:t> </a:t>
            </a:r>
            <a:r>
              <a:rPr dirty="0" sz="1000" spc="10">
                <a:latin typeface="Times New Roman"/>
                <a:cs typeface="Times New Roman"/>
              </a:rPr>
              <a:t>address</a:t>
            </a:r>
            <a:r>
              <a:rPr dirty="0" sz="1000" spc="25">
                <a:latin typeface="Times New Roman"/>
                <a:cs typeface="Times New Roman"/>
              </a:rPr>
              <a:t> </a:t>
            </a:r>
            <a:r>
              <a:rPr dirty="0" sz="1000" spc="10">
                <a:latin typeface="Times New Roman"/>
                <a:cs typeface="Times New Roman"/>
              </a:rPr>
              <a:t>the</a:t>
            </a:r>
            <a:r>
              <a:rPr dirty="0" sz="1000" spc="25">
                <a:latin typeface="Times New Roman"/>
                <a:cs typeface="Times New Roman"/>
              </a:rPr>
              <a:t> </a:t>
            </a:r>
            <a:r>
              <a:rPr dirty="0" sz="1000" spc="10">
                <a:latin typeface="Times New Roman"/>
                <a:cs typeface="Times New Roman"/>
              </a:rPr>
              <a:t>optimization</a:t>
            </a:r>
            <a:r>
              <a:rPr dirty="0" sz="1000" spc="30">
                <a:latin typeface="Times New Roman"/>
                <a:cs typeface="Times New Roman"/>
              </a:rPr>
              <a:t> </a:t>
            </a:r>
            <a:r>
              <a:rPr dirty="0" sz="1000" spc="10">
                <a:latin typeface="Times New Roman"/>
                <a:cs typeface="Times New Roman"/>
              </a:rPr>
              <a:t>conflict</a:t>
            </a:r>
            <a:r>
              <a:rPr dirty="0" sz="1000" spc="25">
                <a:latin typeface="Times New Roman"/>
                <a:cs typeface="Times New Roman"/>
              </a:rPr>
              <a:t> </a:t>
            </a:r>
            <a:r>
              <a:rPr dirty="0" sz="1000" spc="10">
                <a:latin typeface="Times New Roman"/>
                <a:cs typeface="Times New Roman"/>
              </a:rPr>
              <a:t>between</a:t>
            </a:r>
            <a:r>
              <a:rPr dirty="0" sz="1000" spc="25">
                <a:latin typeface="Times New Roman"/>
                <a:cs typeface="Times New Roman"/>
              </a:rPr>
              <a:t> </a:t>
            </a:r>
            <a:r>
              <a:rPr dirty="0" sz="1000" spc="10">
                <a:latin typeface="Times New Roman"/>
                <a:cs typeface="Times New Roman"/>
              </a:rPr>
              <a:t>the</a:t>
            </a:r>
            <a:r>
              <a:rPr dirty="0" sz="1000" spc="30">
                <a:latin typeface="Times New Roman"/>
                <a:cs typeface="Times New Roman"/>
              </a:rPr>
              <a:t> </a:t>
            </a:r>
            <a:r>
              <a:rPr dirty="0" sz="1000" spc="-10">
                <a:latin typeface="Times New Roman"/>
                <a:cs typeface="Times New Roman"/>
              </a:rPr>
              <a:t>modality </a:t>
            </a:r>
            <a:r>
              <a:rPr dirty="0" sz="1000" spc="10">
                <a:latin typeface="Times New Roman"/>
                <a:cs typeface="Times New Roman"/>
              </a:rPr>
              <a:t>encoder</a:t>
            </a:r>
            <a:r>
              <a:rPr dirty="0" sz="1000" spc="95">
                <a:latin typeface="Times New Roman"/>
                <a:cs typeface="Times New Roman"/>
              </a:rPr>
              <a:t> </a:t>
            </a:r>
            <a:r>
              <a:rPr dirty="0" sz="1000" spc="10">
                <a:latin typeface="Times New Roman"/>
                <a:cs typeface="Times New Roman"/>
              </a:rPr>
              <a:t>and</a:t>
            </a:r>
            <a:r>
              <a:rPr dirty="0" sz="1000" spc="95">
                <a:latin typeface="Times New Roman"/>
                <a:cs typeface="Times New Roman"/>
              </a:rPr>
              <a:t> </a:t>
            </a:r>
            <a:r>
              <a:rPr dirty="0" sz="1000" spc="10">
                <a:latin typeface="Times New Roman"/>
                <a:cs typeface="Times New Roman"/>
              </a:rPr>
              <a:t>the</a:t>
            </a:r>
            <a:r>
              <a:rPr dirty="0" sz="1000" spc="100">
                <a:latin typeface="Times New Roman"/>
                <a:cs typeface="Times New Roman"/>
              </a:rPr>
              <a:t> </a:t>
            </a:r>
            <a:r>
              <a:rPr dirty="0" sz="1000" spc="10">
                <a:latin typeface="Times New Roman"/>
                <a:cs typeface="Times New Roman"/>
              </a:rPr>
              <a:t>modality</a:t>
            </a:r>
            <a:r>
              <a:rPr dirty="0" sz="1000" spc="95">
                <a:latin typeface="Times New Roman"/>
                <a:cs typeface="Times New Roman"/>
              </a:rPr>
              <a:t> </a:t>
            </a:r>
            <a:r>
              <a:rPr dirty="0" sz="1000" spc="10">
                <a:latin typeface="Times New Roman"/>
                <a:cs typeface="Times New Roman"/>
              </a:rPr>
              <a:t>fusion</a:t>
            </a:r>
            <a:r>
              <a:rPr dirty="0" sz="1000" spc="100">
                <a:latin typeface="Times New Roman"/>
                <a:cs typeface="Times New Roman"/>
              </a:rPr>
              <a:t> </a:t>
            </a:r>
            <a:r>
              <a:rPr dirty="0" sz="1000" spc="10">
                <a:latin typeface="Times New Roman"/>
                <a:cs typeface="Times New Roman"/>
              </a:rPr>
              <a:t>module.</a:t>
            </a:r>
            <a:r>
              <a:rPr dirty="0" sz="1000" spc="320">
                <a:latin typeface="Times New Roman"/>
                <a:cs typeface="Times New Roman"/>
              </a:rPr>
              <a:t> </a:t>
            </a:r>
            <a:r>
              <a:rPr dirty="0" sz="1000" spc="10">
                <a:latin typeface="Times New Roman"/>
                <a:cs typeface="Times New Roman"/>
              </a:rPr>
              <a:t>And</a:t>
            </a:r>
            <a:r>
              <a:rPr dirty="0" sz="1000" spc="95">
                <a:latin typeface="Times New Roman"/>
                <a:cs typeface="Times New Roman"/>
              </a:rPr>
              <a:t> </a:t>
            </a:r>
            <a:r>
              <a:rPr dirty="0" sz="1000" spc="10">
                <a:latin typeface="Times New Roman"/>
                <a:cs typeface="Times New Roman"/>
              </a:rPr>
              <a:t>the</a:t>
            </a:r>
            <a:r>
              <a:rPr dirty="0" sz="1000" spc="100">
                <a:latin typeface="Times New Roman"/>
                <a:cs typeface="Times New Roman"/>
              </a:rPr>
              <a:t> </a:t>
            </a:r>
            <a:r>
              <a:rPr dirty="0" sz="1000" spc="10">
                <a:latin typeface="Times New Roman"/>
                <a:cs typeface="Times New Roman"/>
              </a:rPr>
              <a:t>unimodal</a:t>
            </a:r>
            <a:r>
              <a:rPr dirty="0" sz="1000" spc="95">
                <a:latin typeface="Times New Roman"/>
                <a:cs typeface="Times New Roman"/>
              </a:rPr>
              <a:t> </a:t>
            </a:r>
            <a:r>
              <a:rPr dirty="0" sz="1000" spc="10">
                <a:latin typeface="Times New Roman"/>
                <a:cs typeface="Times New Roman"/>
              </a:rPr>
              <a:t>model</a:t>
            </a:r>
            <a:r>
              <a:rPr dirty="0" sz="1000" spc="100">
                <a:latin typeface="Times New Roman"/>
                <a:cs typeface="Times New Roman"/>
              </a:rPr>
              <a:t> </a:t>
            </a:r>
            <a:r>
              <a:rPr dirty="0" sz="1000" spc="10">
                <a:latin typeface="Times New Roman"/>
                <a:cs typeface="Times New Roman"/>
              </a:rPr>
              <a:t>loss</a:t>
            </a:r>
            <a:r>
              <a:rPr dirty="0" sz="1000" spc="95">
                <a:latin typeface="Times New Roman"/>
                <a:cs typeface="Times New Roman"/>
              </a:rPr>
              <a:t> </a:t>
            </a:r>
            <a:r>
              <a:rPr dirty="0" sz="1000" spc="10">
                <a:latin typeface="Times New Roman"/>
                <a:cs typeface="Times New Roman"/>
              </a:rPr>
              <a:t>in</a:t>
            </a:r>
            <a:r>
              <a:rPr dirty="0" sz="1000" spc="100">
                <a:latin typeface="Times New Roman"/>
                <a:cs typeface="Times New Roman"/>
              </a:rPr>
              <a:t> </a:t>
            </a:r>
            <a:r>
              <a:rPr dirty="0" sz="1000" spc="10">
                <a:latin typeface="Times New Roman"/>
                <a:cs typeface="Times New Roman"/>
              </a:rPr>
              <a:t>DGL</a:t>
            </a:r>
            <a:r>
              <a:rPr dirty="0" sz="1000" spc="95">
                <a:latin typeface="Times New Roman"/>
                <a:cs typeface="Times New Roman"/>
              </a:rPr>
              <a:t> </a:t>
            </a:r>
            <a:r>
              <a:rPr dirty="0" sz="1000" spc="10">
                <a:latin typeface="Times New Roman"/>
                <a:cs typeface="Times New Roman"/>
              </a:rPr>
              <a:t>is</a:t>
            </a:r>
            <a:r>
              <a:rPr dirty="0" sz="1000" spc="100">
                <a:latin typeface="Times New Roman"/>
                <a:cs typeface="Times New Roman"/>
              </a:rPr>
              <a:t> </a:t>
            </a:r>
            <a:r>
              <a:rPr dirty="0" sz="1000" spc="10">
                <a:latin typeface="Times New Roman"/>
                <a:cs typeface="Times New Roman"/>
              </a:rPr>
              <a:t>only</a:t>
            </a:r>
            <a:r>
              <a:rPr dirty="0" sz="1000" spc="95">
                <a:latin typeface="Times New Roman"/>
                <a:cs typeface="Times New Roman"/>
              </a:rPr>
              <a:t> </a:t>
            </a:r>
            <a:r>
              <a:rPr dirty="0" sz="1000" spc="10">
                <a:latin typeface="Times New Roman"/>
                <a:cs typeface="Times New Roman"/>
              </a:rPr>
              <a:t>used</a:t>
            </a:r>
            <a:r>
              <a:rPr dirty="0" sz="1000" spc="100">
                <a:latin typeface="Times New Roman"/>
                <a:cs typeface="Times New Roman"/>
              </a:rPr>
              <a:t> </a:t>
            </a:r>
            <a:r>
              <a:rPr dirty="0" sz="1000" spc="10">
                <a:latin typeface="Times New Roman"/>
                <a:cs typeface="Times New Roman"/>
              </a:rPr>
              <a:t>to</a:t>
            </a:r>
            <a:r>
              <a:rPr dirty="0" sz="1000" spc="95">
                <a:latin typeface="Times New Roman"/>
                <a:cs typeface="Times New Roman"/>
              </a:rPr>
              <a:t> </a:t>
            </a:r>
            <a:r>
              <a:rPr dirty="0" sz="1000" spc="10">
                <a:latin typeface="Times New Roman"/>
                <a:cs typeface="Times New Roman"/>
              </a:rPr>
              <a:t>update</a:t>
            </a:r>
            <a:r>
              <a:rPr dirty="0" sz="1000" spc="100">
                <a:latin typeface="Times New Roman"/>
                <a:cs typeface="Times New Roman"/>
              </a:rPr>
              <a:t> </a:t>
            </a:r>
            <a:r>
              <a:rPr dirty="0" sz="1000" spc="-25">
                <a:latin typeface="Times New Roman"/>
                <a:cs typeface="Times New Roman"/>
              </a:rPr>
              <a:t>the </a:t>
            </a:r>
            <a:r>
              <a:rPr dirty="0" sz="1000" spc="10">
                <a:latin typeface="Times New Roman"/>
                <a:cs typeface="Times New Roman"/>
              </a:rPr>
              <a:t>modality</a:t>
            </a:r>
            <a:r>
              <a:rPr dirty="0" sz="1000" spc="40">
                <a:latin typeface="Times New Roman"/>
                <a:cs typeface="Times New Roman"/>
              </a:rPr>
              <a:t> </a:t>
            </a:r>
            <a:r>
              <a:rPr dirty="0" sz="1000" spc="10">
                <a:latin typeface="Times New Roman"/>
                <a:cs typeface="Times New Roman"/>
              </a:rPr>
              <a:t>encoder,</a:t>
            </a:r>
            <a:r>
              <a:rPr dirty="0" sz="1000" spc="40">
                <a:latin typeface="Times New Roman"/>
                <a:cs typeface="Times New Roman"/>
              </a:rPr>
              <a:t> </a:t>
            </a:r>
            <a:r>
              <a:rPr dirty="0" sz="1000" spc="10">
                <a:latin typeface="Times New Roman"/>
                <a:cs typeface="Times New Roman"/>
              </a:rPr>
              <a:t>while</a:t>
            </a:r>
            <a:r>
              <a:rPr dirty="0" sz="1000" spc="50">
                <a:latin typeface="Times New Roman"/>
                <a:cs typeface="Times New Roman"/>
              </a:rPr>
              <a:t> </a:t>
            </a:r>
            <a:r>
              <a:rPr dirty="0" sz="1000" spc="10">
                <a:latin typeface="Times New Roman"/>
                <a:cs typeface="Times New Roman"/>
              </a:rPr>
              <a:t>multimodal</a:t>
            </a:r>
            <a:r>
              <a:rPr dirty="0" sz="1000" spc="45">
                <a:latin typeface="Times New Roman"/>
                <a:cs typeface="Times New Roman"/>
              </a:rPr>
              <a:t> </a:t>
            </a:r>
            <a:r>
              <a:rPr dirty="0" sz="1000" spc="10">
                <a:latin typeface="Times New Roman"/>
                <a:cs typeface="Times New Roman"/>
              </a:rPr>
              <a:t>loss</a:t>
            </a:r>
            <a:r>
              <a:rPr dirty="0" sz="1000" spc="45">
                <a:latin typeface="Times New Roman"/>
                <a:cs typeface="Times New Roman"/>
              </a:rPr>
              <a:t> </a:t>
            </a:r>
            <a:r>
              <a:rPr dirty="0" sz="1000" spc="10">
                <a:latin typeface="Times New Roman"/>
                <a:cs typeface="Times New Roman"/>
              </a:rPr>
              <a:t>is</a:t>
            </a:r>
            <a:r>
              <a:rPr dirty="0" sz="1000" spc="45">
                <a:latin typeface="Times New Roman"/>
                <a:cs typeface="Times New Roman"/>
              </a:rPr>
              <a:t> </a:t>
            </a:r>
            <a:r>
              <a:rPr dirty="0" sz="1000" spc="10">
                <a:latin typeface="Times New Roman"/>
                <a:cs typeface="Times New Roman"/>
              </a:rPr>
              <a:t>only</a:t>
            </a:r>
            <a:r>
              <a:rPr dirty="0" sz="1000" spc="50">
                <a:latin typeface="Times New Roman"/>
                <a:cs typeface="Times New Roman"/>
              </a:rPr>
              <a:t> </a:t>
            </a:r>
            <a:r>
              <a:rPr dirty="0" sz="1000" spc="10">
                <a:latin typeface="Times New Roman"/>
                <a:cs typeface="Times New Roman"/>
              </a:rPr>
              <a:t>used</a:t>
            </a:r>
            <a:r>
              <a:rPr dirty="0" sz="1000" spc="45">
                <a:latin typeface="Times New Roman"/>
                <a:cs typeface="Times New Roman"/>
              </a:rPr>
              <a:t> </a:t>
            </a:r>
            <a:r>
              <a:rPr dirty="0" sz="1000" spc="10">
                <a:latin typeface="Times New Roman"/>
                <a:cs typeface="Times New Roman"/>
              </a:rPr>
              <a:t>to</a:t>
            </a:r>
            <a:r>
              <a:rPr dirty="0" sz="1000" spc="45">
                <a:latin typeface="Times New Roman"/>
                <a:cs typeface="Times New Roman"/>
              </a:rPr>
              <a:t> </a:t>
            </a:r>
            <a:r>
              <a:rPr dirty="0" sz="1000" spc="10">
                <a:latin typeface="Times New Roman"/>
                <a:cs typeface="Times New Roman"/>
              </a:rPr>
              <a:t>update</a:t>
            </a:r>
            <a:r>
              <a:rPr dirty="0" sz="1000" spc="40">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fusion</a:t>
            </a:r>
            <a:r>
              <a:rPr dirty="0" sz="1000" spc="50">
                <a:latin typeface="Times New Roman"/>
                <a:cs typeface="Times New Roman"/>
              </a:rPr>
              <a:t> </a:t>
            </a:r>
            <a:r>
              <a:rPr dirty="0" sz="1000" spc="10">
                <a:latin typeface="Times New Roman"/>
                <a:cs typeface="Times New Roman"/>
              </a:rPr>
              <a:t>module</a:t>
            </a:r>
            <a:r>
              <a:rPr dirty="0" sz="1000" spc="40">
                <a:latin typeface="Times New Roman"/>
                <a:cs typeface="Times New Roman"/>
              </a:rPr>
              <a:t> </a:t>
            </a:r>
            <a:r>
              <a:rPr dirty="0" sz="1000" spc="10">
                <a:latin typeface="Times New Roman"/>
                <a:cs typeface="Times New Roman"/>
              </a:rPr>
              <a:t>and</a:t>
            </a:r>
            <a:r>
              <a:rPr dirty="0" sz="1000" spc="50">
                <a:latin typeface="Times New Roman"/>
                <a:cs typeface="Times New Roman"/>
              </a:rPr>
              <a:t> </a:t>
            </a:r>
            <a:r>
              <a:rPr dirty="0" sz="1000">
                <a:latin typeface="Times New Roman"/>
                <a:cs typeface="Times New Roman"/>
              </a:rPr>
              <a:t>classifier,</a:t>
            </a:r>
            <a:r>
              <a:rPr dirty="0" sz="1000" spc="40">
                <a:latin typeface="Times New Roman"/>
                <a:cs typeface="Times New Roman"/>
              </a:rPr>
              <a:t> </a:t>
            </a:r>
            <a:r>
              <a:rPr dirty="0" sz="1000" spc="-10">
                <a:latin typeface="Times New Roman"/>
                <a:cs typeface="Times New Roman"/>
              </a:rPr>
              <a:t>eliminating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interference</a:t>
            </a:r>
            <a:r>
              <a:rPr dirty="0" sz="1000" spc="80">
                <a:latin typeface="Times New Roman"/>
                <a:cs typeface="Times New Roman"/>
              </a:rPr>
              <a:t> </a:t>
            </a:r>
            <a:r>
              <a:rPr dirty="0" sz="1000" spc="10">
                <a:latin typeface="Times New Roman"/>
                <a:cs typeface="Times New Roman"/>
              </a:rPr>
              <a:t>between</a:t>
            </a:r>
            <a:r>
              <a:rPr dirty="0" sz="1000" spc="80">
                <a:latin typeface="Times New Roman"/>
                <a:cs typeface="Times New Roman"/>
              </a:rPr>
              <a:t> </a:t>
            </a:r>
            <a:r>
              <a:rPr dirty="0" sz="1000" spc="10">
                <a:latin typeface="Times New Roman"/>
                <a:cs typeface="Times New Roman"/>
              </a:rPr>
              <a:t>them.</a:t>
            </a:r>
            <a:r>
              <a:rPr dirty="0" sz="1000" spc="254">
                <a:latin typeface="Times New Roman"/>
                <a:cs typeface="Times New Roman"/>
              </a:rPr>
              <a:t> </a:t>
            </a:r>
            <a:r>
              <a:rPr dirty="0" sz="1000" spc="10">
                <a:latin typeface="Times New Roman"/>
                <a:cs typeface="Times New Roman"/>
              </a:rPr>
              <a:t>As</a:t>
            </a:r>
            <a:r>
              <a:rPr dirty="0" sz="1000" spc="80">
                <a:latin typeface="Times New Roman"/>
                <a:cs typeface="Times New Roman"/>
              </a:rPr>
              <a:t> </a:t>
            </a:r>
            <a:r>
              <a:rPr dirty="0" sz="1000" spc="10">
                <a:latin typeface="Times New Roman"/>
                <a:cs typeface="Times New Roman"/>
              </a:rPr>
              <a:t>a</a:t>
            </a:r>
            <a:r>
              <a:rPr dirty="0" sz="1000" spc="85">
                <a:latin typeface="Times New Roman"/>
                <a:cs typeface="Times New Roman"/>
              </a:rPr>
              <a:t> </a:t>
            </a:r>
            <a:r>
              <a:rPr dirty="0" sz="1000" spc="10">
                <a:latin typeface="Times New Roman"/>
                <a:cs typeface="Times New Roman"/>
              </a:rPr>
              <a:t>result,</a:t>
            </a:r>
            <a:r>
              <a:rPr dirty="0" sz="1000" spc="85">
                <a:latin typeface="Times New Roman"/>
                <a:cs typeface="Times New Roman"/>
              </a:rPr>
              <a:t> </a:t>
            </a:r>
            <a:r>
              <a:rPr dirty="0" sz="1000" spc="10">
                <a:latin typeface="Times New Roman"/>
                <a:cs typeface="Times New Roman"/>
              </a:rPr>
              <a:t>DGL</a:t>
            </a:r>
            <a:r>
              <a:rPr dirty="0" sz="1000" spc="80">
                <a:latin typeface="Times New Roman"/>
                <a:cs typeface="Times New Roman"/>
              </a:rPr>
              <a:t> </a:t>
            </a:r>
            <a:r>
              <a:rPr dirty="0" sz="1000" spc="10">
                <a:latin typeface="Times New Roman"/>
                <a:cs typeface="Times New Roman"/>
              </a:rPr>
              <a:t>achieves</a:t>
            </a:r>
            <a:r>
              <a:rPr dirty="0" sz="1000" spc="85">
                <a:latin typeface="Times New Roman"/>
                <a:cs typeface="Times New Roman"/>
              </a:rPr>
              <a:t> </a:t>
            </a:r>
            <a:r>
              <a:rPr dirty="0" sz="1000" spc="10">
                <a:latin typeface="Times New Roman"/>
                <a:cs typeface="Times New Roman"/>
              </a:rPr>
              <a:t>better</a:t>
            </a:r>
            <a:r>
              <a:rPr dirty="0" sz="1000" spc="80">
                <a:latin typeface="Times New Roman"/>
                <a:cs typeface="Times New Roman"/>
              </a:rPr>
              <a:t> </a:t>
            </a:r>
            <a:r>
              <a:rPr dirty="0" sz="1000" spc="10">
                <a:latin typeface="Times New Roman"/>
                <a:cs typeface="Times New Roman"/>
              </a:rPr>
              <a:t>performance</a:t>
            </a:r>
            <a:r>
              <a:rPr dirty="0" sz="1000" spc="80">
                <a:latin typeface="Times New Roman"/>
                <a:cs typeface="Times New Roman"/>
              </a:rPr>
              <a:t> </a:t>
            </a:r>
            <a:r>
              <a:rPr dirty="0" sz="1000" spc="10">
                <a:latin typeface="Times New Roman"/>
                <a:cs typeface="Times New Roman"/>
              </a:rPr>
              <a:t>in</a:t>
            </a:r>
            <a:r>
              <a:rPr dirty="0" sz="1000" spc="85">
                <a:latin typeface="Times New Roman"/>
                <a:cs typeface="Times New Roman"/>
              </a:rPr>
              <a:t> </a:t>
            </a:r>
            <a:r>
              <a:rPr dirty="0" sz="1000" spc="10">
                <a:latin typeface="Times New Roman"/>
                <a:cs typeface="Times New Roman"/>
              </a:rPr>
              <a:t>unimodal</a:t>
            </a:r>
            <a:r>
              <a:rPr dirty="0" sz="1000" spc="80">
                <a:latin typeface="Times New Roman"/>
                <a:cs typeface="Times New Roman"/>
              </a:rPr>
              <a:t> </a:t>
            </a:r>
            <a:r>
              <a:rPr dirty="0" sz="1000" spc="10">
                <a:latin typeface="Times New Roman"/>
                <a:cs typeface="Times New Roman"/>
              </a:rPr>
              <a:t>and</a:t>
            </a:r>
            <a:r>
              <a:rPr dirty="0" sz="1000" spc="80">
                <a:latin typeface="Times New Roman"/>
                <a:cs typeface="Times New Roman"/>
              </a:rPr>
              <a:t> </a:t>
            </a:r>
            <a:r>
              <a:rPr dirty="0" sz="1000" spc="-10">
                <a:latin typeface="Times New Roman"/>
                <a:cs typeface="Times New Roman"/>
              </a:rPr>
              <a:t>multimodal </a:t>
            </a:r>
            <a:r>
              <a:rPr dirty="0" sz="1000" spc="10">
                <a:latin typeface="Times New Roman"/>
                <a:cs typeface="Times New Roman"/>
              </a:rPr>
              <a:t>evaluation</a:t>
            </a:r>
            <a:r>
              <a:rPr dirty="0" sz="1000" spc="45">
                <a:latin typeface="Times New Roman"/>
                <a:cs typeface="Times New Roman"/>
              </a:rPr>
              <a:t> </a:t>
            </a:r>
            <a:r>
              <a:rPr dirty="0" sz="1000" spc="50">
                <a:latin typeface="Times New Roman"/>
                <a:cs typeface="Times New Roman"/>
              </a:rPr>
              <a:t>than </a:t>
            </a:r>
            <a:r>
              <a:rPr dirty="0" sz="1000" spc="10">
                <a:latin typeface="Times New Roman"/>
                <a:cs typeface="Times New Roman"/>
              </a:rPr>
              <a:t>existing</a:t>
            </a:r>
            <a:r>
              <a:rPr dirty="0" sz="1000" spc="50">
                <a:latin typeface="Times New Roman"/>
                <a:cs typeface="Times New Roman"/>
              </a:rPr>
              <a:t> </a:t>
            </a:r>
            <a:r>
              <a:rPr dirty="0" sz="1000" spc="10">
                <a:latin typeface="Times New Roman"/>
                <a:cs typeface="Times New Roman"/>
              </a:rPr>
              <a:t>unimodal</a:t>
            </a:r>
            <a:r>
              <a:rPr dirty="0" sz="1000" spc="50">
                <a:latin typeface="Times New Roman"/>
                <a:cs typeface="Times New Roman"/>
              </a:rPr>
              <a:t> </a:t>
            </a:r>
            <a:r>
              <a:rPr dirty="0" sz="1000" spc="10">
                <a:latin typeface="Times New Roman"/>
                <a:cs typeface="Times New Roman"/>
              </a:rPr>
              <a:t>assistance</a:t>
            </a:r>
            <a:r>
              <a:rPr dirty="0" sz="1000" spc="50">
                <a:latin typeface="Times New Roman"/>
                <a:cs typeface="Times New Roman"/>
              </a:rPr>
              <a:t> </a:t>
            </a:r>
            <a:r>
              <a:rPr dirty="0" sz="1000" spc="10">
                <a:latin typeface="Times New Roman"/>
                <a:cs typeface="Times New Roman"/>
              </a:rPr>
              <a:t>methods</a:t>
            </a:r>
            <a:r>
              <a:rPr dirty="0" sz="1000" spc="50">
                <a:latin typeface="Times New Roman"/>
                <a:cs typeface="Times New Roman"/>
              </a:rPr>
              <a:t> </a:t>
            </a:r>
            <a:r>
              <a:rPr dirty="0" sz="1000" spc="10">
                <a:latin typeface="Times New Roman"/>
                <a:cs typeface="Times New Roman"/>
              </a:rPr>
              <a:t>(see</a:t>
            </a:r>
            <a:r>
              <a:rPr dirty="0" sz="1000" spc="50">
                <a:latin typeface="Times New Roman"/>
                <a:cs typeface="Times New Roman"/>
              </a:rPr>
              <a:t> </a:t>
            </a:r>
            <a:r>
              <a:rPr dirty="0" sz="1000">
                <a:latin typeface="Times New Roman"/>
                <a:cs typeface="Times New Roman"/>
              </a:rPr>
              <a:t>Tables</a:t>
            </a:r>
            <a:r>
              <a:rPr dirty="0" sz="1000" spc="45">
                <a:latin typeface="Times New Roman"/>
                <a:cs typeface="Times New Roman"/>
              </a:rPr>
              <a:t> </a:t>
            </a:r>
            <a:r>
              <a:rPr dirty="0" sz="1000" spc="10">
                <a:latin typeface="Times New Roman"/>
                <a:cs typeface="Times New Roman"/>
              </a:rPr>
              <a:t>1</a:t>
            </a:r>
            <a:r>
              <a:rPr dirty="0" sz="1000" spc="50">
                <a:latin typeface="Times New Roman"/>
                <a:cs typeface="Times New Roman"/>
              </a:rPr>
              <a:t> </a:t>
            </a:r>
            <a:r>
              <a:rPr dirty="0" sz="1000" spc="10">
                <a:latin typeface="Times New Roman"/>
                <a:cs typeface="Times New Roman"/>
              </a:rPr>
              <a:t>and</a:t>
            </a:r>
            <a:r>
              <a:rPr dirty="0" sz="1000" spc="50">
                <a:latin typeface="Times New Roman"/>
                <a:cs typeface="Times New Roman"/>
              </a:rPr>
              <a:t> </a:t>
            </a:r>
            <a:r>
              <a:rPr dirty="0" sz="1000" spc="-25">
                <a:latin typeface="Times New Roman"/>
                <a:cs typeface="Times New Roman"/>
              </a:rPr>
              <a:t>2).</a:t>
            </a:r>
            <a:endParaRPr sz="1000">
              <a:latin typeface="Times New Roman"/>
              <a:cs typeface="Times New Roman"/>
            </a:endParaRPr>
          </a:p>
          <a:p>
            <a:pPr>
              <a:lnSpc>
                <a:spcPct val="100000"/>
              </a:lnSpc>
              <a:spcBef>
                <a:spcPts val="225"/>
              </a:spcBef>
            </a:pPr>
            <a:endParaRPr sz="1000">
              <a:latin typeface="Times New Roman"/>
              <a:cs typeface="Times New Roman"/>
            </a:endParaRPr>
          </a:p>
          <a:p>
            <a:pPr marL="192405" marR="86995">
              <a:lnSpc>
                <a:spcPct val="129500"/>
              </a:lnSpc>
              <a:spcBef>
                <a:spcPts val="5"/>
              </a:spcBef>
            </a:pPr>
            <a:r>
              <a:rPr dirty="0" sz="1000" spc="-45">
                <a:latin typeface="SimSun"/>
                <a:cs typeface="SimSun"/>
              </a:rPr>
              <a:t>一些同期工作 </a:t>
            </a:r>
            <a:r>
              <a:rPr dirty="0" sz="1000" spc="-5">
                <a:latin typeface="Times New Roman"/>
                <a:cs typeface="Times New Roman"/>
              </a:rPr>
              <a:t>[28,</a:t>
            </a:r>
            <a:r>
              <a:rPr dirty="0" sz="1000" spc="10">
                <a:latin typeface="Times New Roman"/>
                <a:cs typeface="Times New Roman"/>
              </a:rPr>
              <a:t> </a:t>
            </a:r>
            <a:r>
              <a:rPr dirty="0" sz="1000" spc="-5">
                <a:latin typeface="Times New Roman"/>
                <a:cs typeface="Times New Roman"/>
              </a:rPr>
              <a:t>32]</a:t>
            </a:r>
            <a:r>
              <a:rPr dirty="0" sz="1000" spc="5">
                <a:latin typeface="Times New Roman"/>
                <a:cs typeface="Times New Roman"/>
              </a:rPr>
              <a:t> </a:t>
            </a:r>
            <a:r>
              <a:rPr dirty="0" sz="1000" spc="-45">
                <a:latin typeface="SimSun"/>
                <a:cs typeface="SimSun"/>
              </a:rPr>
              <a:t>似乎与我们的 </a:t>
            </a:r>
            <a:r>
              <a:rPr dirty="0" sz="1000" spc="-15">
                <a:latin typeface="Times New Roman"/>
                <a:cs typeface="Times New Roman"/>
              </a:rPr>
              <a:t>DGL</a:t>
            </a:r>
            <a:r>
              <a:rPr dirty="0" sz="1000" spc="5">
                <a:latin typeface="Times New Roman"/>
                <a:cs typeface="Times New Roman"/>
              </a:rPr>
              <a:t> </a:t>
            </a:r>
            <a:r>
              <a:rPr dirty="0" sz="1000" spc="-10">
                <a:latin typeface="SimSun"/>
                <a:cs typeface="SimSun"/>
              </a:rPr>
              <a:t>相似，它们也引入单模态损失来辅助多模态学习。然而，</a:t>
            </a:r>
            <a:r>
              <a:rPr dirty="0" sz="1000" spc="-45">
                <a:latin typeface="SimSun"/>
                <a:cs typeface="SimSun"/>
              </a:rPr>
              <a:t>在动机、实现和性能方面仍与我们的方法存在差异。它们关注不同模态之间的优化冲突，并利用单模</a:t>
            </a:r>
            <a:r>
              <a:rPr dirty="0" sz="1000" spc="-35">
                <a:latin typeface="SimSun"/>
                <a:cs typeface="SimSun"/>
              </a:rPr>
              <a:t>态损失来平衡其优化进程。在这里，单模态损失和多模态损失将同时用于更新所有参数。相比之下，</a:t>
            </a:r>
            <a:r>
              <a:rPr dirty="0" sz="1000" spc="-5">
                <a:latin typeface="SimSun"/>
                <a:cs typeface="SimSun"/>
              </a:rPr>
              <a:t>我们解决的是模态编码器和模态融合模块之间的优化冲突。并且</a:t>
            </a:r>
            <a:r>
              <a:rPr dirty="0" sz="1000" spc="-15">
                <a:latin typeface="Times New Roman"/>
                <a:cs typeface="Times New Roman"/>
              </a:rPr>
              <a:t>DGL</a:t>
            </a:r>
            <a:r>
              <a:rPr dirty="0" sz="1000" spc="-5">
                <a:latin typeface="Times New Roman"/>
                <a:cs typeface="Times New Roman"/>
              </a:rPr>
              <a:t> </a:t>
            </a:r>
            <a:r>
              <a:rPr dirty="0" sz="1000" spc="-10">
                <a:latin typeface="SimSun"/>
                <a:cs typeface="SimSun"/>
              </a:rPr>
              <a:t>中的单模态模型损失仅用于更</a:t>
            </a:r>
            <a:r>
              <a:rPr dirty="0" sz="1000" spc="-55">
                <a:latin typeface="SimSun"/>
                <a:cs typeface="SimSun"/>
              </a:rPr>
              <a:t>新模态编码器，而多模态损失仅用于更新融合模块和分类器，消除了它们之间的干扰。因此， </a:t>
            </a:r>
            <a:r>
              <a:rPr dirty="0" sz="1000" spc="-15">
                <a:latin typeface="Times New Roman"/>
                <a:cs typeface="Times New Roman"/>
              </a:rPr>
              <a:t>DGL</a:t>
            </a:r>
            <a:r>
              <a:rPr dirty="0" sz="1000" spc="-20">
                <a:latin typeface="Times New Roman"/>
                <a:cs typeface="Times New Roman"/>
              </a:rPr>
              <a:t> </a:t>
            </a:r>
            <a:r>
              <a:rPr dirty="0" sz="1000" spc="-5">
                <a:latin typeface="SimSun"/>
                <a:cs typeface="SimSun"/>
              </a:rPr>
              <a:t>在单模态和多模态评估中比现有的单模态辅助方法具有更好的性能</a:t>
            </a:r>
            <a:r>
              <a:rPr dirty="0" sz="1000">
                <a:latin typeface="Times New Roman"/>
                <a:cs typeface="Times New Roman"/>
              </a:rPr>
              <a:t>(</a:t>
            </a:r>
            <a:r>
              <a:rPr dirty="0" sz="1000" spc="-100">
                <a:latin typeface="SimSun"/>
                <a:cs typeface="SimSun"/>
              </a:rPr>
              <a:t>见表 </a:t>
            </a:r>
            <a:r>
              <a:rPr dirty="0" sz="1000" spc="-10">
                <a:latin typeface="Times New Roman"/>
                <a:cs typeface="Times New Roman"/>
              </a:rPr>
              <a:t>1</a:t>
            </a:r>
            <a:r>
              <a:rPr dirty="0" sz="1000" spc="-20">
                <a:latin typeface="Times New Roman"/>
                <a:cs typeface="Times New Roman"/>
              </a:rPr>
              <a:t> </a:t>
            </a:r>
            <a:r>
              <a:rPr dirty="0" sz="1000" spc="-100">
                <a:latin typeface="SimSun"/>
                <a:cs typeface="SimSun"/>
              </a:rPr>
              <a:t>和表 </a:t>
            </a:r>
            <a:r>
              <a:rPr dirty="0" sz="1000" spc="-5">
                <a:latin typeface="Times New Roman"/>
                <a:cs typeface="Times New Roman"/>
              </a:rPr>
              <a:t>2)</a:t>
            </a:r>
            <a:r>
              <a:rPr dirty="0" sz="1000" spc="-10">
                <a:latin typeface="SimSun"/>
                <a:cs typeface="SimSun"/>
              </a:rPr>
              <a:t>。</a:t>
            </a:r>
            <a:endParaRPr sz="1000">
              <a:latin typeface="SimSun"/>
              <a:cs typeface="SimSun"/>
            </a:endParaRPr>
          </a:p>
          <a:p>
            <a:pPr>
              <a:lnSpc>
                <a:spcPct val="100000"/>
              </a:lnSpc>
              <a:spcBef>
                <a:spcPts val="60"/>
              </a:spcBef>
            </a:pPr>
            <a:endParaRPr sz="1000">
              <a:latin typeface="SimSun"/>
              <a:cs typeface="SimSun"/>
            </a:endParaRPr>
          </a:p>
          <a:p>
            <a:pPr algn="just" marL="12700" marR="5080" indent="252729">
              <a:lnSpc>
                <a:spcPct val="129500"/>
              </a:lnSpc>
              <a:spcBef>
                <a:spcPts val="5"/>
              </a:spcBef>
            </a:pPr>
            <a:r>
              <a:rPr dirty="0" sz="1000">
                <a:latin typeface="Times New Roman"/>
                <a:cs typeface="Times New Roman"/>
              </a:rPr>
              <a:t>Besides,</a:t>
            </a:r>
            <a:r>
              <a:rPr dirty="0" sz="1000" spc="95">
                <a:latin typeface="Times New Roman"/>
                <a:cs typeface="Times New Roman"/>
              </a:rPr>
              <a:t> </a:t>
            </a:r>
            <a:r>
              <a:rPr dirty="0" sz="1000">
                <a:latin typeface="Times New Roman"/>
                <a:cs typeface="Times New Roman"/>
              </a:rPr>
              <a:t>existing</a:t>
            </a:r>
            <a:r>
              <a:rPr dirty="0" sz="1000" spc="95">
                <a:latin typeface="Times New Roman"/>
                <a:cs typeface="Times New Roman"/>
              </a:rPr>
              <a:t> </a:t>
            </a:r>
            <a:r>
              <a:rPr dirty="0" sz="1000">
                <a:latin typeface="Times New Roman"/>
                <a:cs typeface="Times New Roman"/>
              </a:rPr>
              <a:t>methods</a:t>
            </a:r>
            <a:r>
              <a:rPr dirty="0" sz="1000" spc="90">
                <a:latin typeface="Times New Roman"/>
                <a:cs typeface="Times New Roman"/>
              </a:rPr>
              <a:t> </a:t>
            </a:r>
            <a:r>
              <a:rPr dirty="0" sz="1000">
                <a:latin typeface="Times New Roman"/>
                <a:cs typeface="Times New Roman"/>
              </a:rPr>
              <a:t>usually</a:t>
            </a:r>
            <a:r>
              <a:rPr dirty="0" sz="1000" spc="90">
                <a:latin typeface="Times New Roman"/>
                <a:cs typeface="Times New Roman"/>
              </a:rPr>
              <a:t> </a:t>
            </a:r>
            <a:r>
              <a:rPr dirty="0" sz="1000">
                <a:latin typeface="Times New Roman"/>
                <a:cs typeface="Times New Roman"/>
              </a:rPr>
              <a:t>introduce</a:t>
            </a:r>
            <a:r>
              <a:rPr dirty="0" sz="1000" spc="85">
                <a:latin typeface="Times New Roman"/>
                <a:cs typeface="Times New Roman"/>
              </a:rPr>
              <a:t> </a:t>
            </a:r>
            <a:r>
              <a:rPr dirty="0" sz="1000">
                <a:latin typeface="Times New Roman"/>
                <a:cs typeface="Times New Roman"/>
              </a:rPr>
              <a:t>extra</a:t>
            </a:r>
            <a:r>
              <a:rPr dirty="0" sz="1000" spc="80">
                <a:latin typeface="Times New Roman"/>
                <a:cs typeface="Times New Roman"/>
              </a:rPr>
              <a:t> </a:t>
            </a:r>
            <a:r>
              <a:rPr dirty="0" sz="1000">
                <a:latin typeface="Times New Roman"/>
                <a:cs typeface="Times New Roman"/>
              </a:rPr>
              <a:t>classifiers</a:t>
            </a:r>
            <a:r>
              <a:rPr dirty="0" sz="1000" spc="95">
                <a:latin typeface="Times New Roman"/>
                <a:cs typeface="Times New Roman"/>
              </a:rPr>
              <a:t> </a:t>
            </a:r>
            <a:r>
              <a:rPr dirty="0" sz="1000">
                <a:latin typeface="Times New Roman"/>
                <a:cs typeface="Times New Roman"/>
              </a:rPr>
              <a:t>for</a:t>
            </a:r>
            <a:r>
              <a:rPr dirty="0" sz="1000" spc="90">
                <a:latin typeface="Times New Roman"/>
                <a:cs typeface="Times New Roman"/>
              </a:rPr>
              <a:t> </a:t>
            </a:r>
            <a:r>
              <a:rPr dirty="0" sz="1000">
                <a:latin typeface="Times New Roman"/>
                <a:cs typeface="Times New Roman"/>
              </a:rPr>
              <a:t>modality</a:t>
            </a:r>
            <a:r>
              <a:rPr dirty="0" sz="1000" spc="90">
                <a:latin typeface="Times New Roman"/>
                <a:cs typeface="Times New Roman"/>
              </a:rPr>
              <a:t> </a:t>
            </a:r>
            <a:r>
              <a:rPr dirty="0" sz="1000">
                <a:latin typeface="Times New Roman"/>
                <a:cs typeface="Times New Roman"/>
              </a:rPr>
              <a:t>representations</a:t>
            </a:r>
            <a:r>
              <a:rPr dirty="0" sz="1000" spc="85">
                <a:latin typeface="Times New Roman"/>
                <a:cs typeface="Times New Roman"/>
              </a:rPr>
              <a:t> </a:t>
            </a:r>
            <a:r>
              <a:rPr dirty="0" sz="1000">
                <a:latin typeface="Times New Roman"/>
                <a:cs typeface="Times New Roman"/>
              </a:rPr>
              <a:t>In</a:t>
            </a:r>
            <a:r>
              <a:rPr dirty="0" sz="1000" spc="90">
                <a:latin typeface="Times New Roman"/>
                <a:cs typeface="Times New Roman"/>
              </a:rPr>
              <a:t> </a:t>
            </a:r>
            <a:r>
              <a:rPr dirty="0" sz="1000">
                <a:latin typeface="Times New Roman"/>
                <a:cs typeface="Times New Roman"/>
              </a:rPr>
              <a:t>contrast,</a:t>
            </a:r>
            <a:r>
              <a:rPr dirty="0" sz="1000" spc="100">
                <a:latin typeface="Times New Roman"/>
                <a:cs typeface="Times New Roman"/>
              </a:rPr>
              <a:t> </a:t>
            </a:r>
            <a:r>
              <a:rPr dirty="0" sz="1000" spc="-25">
                <a:latin typeface="Times New Roman"/>
                <a:cs typeface="Times New Roman"/>
              </a:rPr>
              <a:t>the </a:t>
            </a:r>
            <a:r>
              <a:rPr dirty="0" sz="1000" spc="10">
                <a:latin typeface="Times New Roman"/>
                <a:cs typeface="Times New Roman"/>
              </a:rPr>
              <a:t>proposed</a:t>
            </a:r>
            <a:r>
              <a:rPr dirty="0" sz="1000" spc="60">
                <a:latin typeface="Times New Roman"/>
                <a:cs typeface="Times New Roman"/>
              </a:rPr>
              <a:t> </a:t>
            </a:r>
            <a:r>
              <a:rPr dirty="0" sz="1000">
                <a:latin typeface="Times New Roman"/>
                <a:cs typeface="Times New Roman"/>
              </a:rPr>
              <a:t>DGL</a:t>
            </a:r>
            <a:r>
              <a:rPr dirty="0" sz="1000" spc="60">
                <a:latin typeface="Times New Roman"/>
                <a:cs typeface="Times New Roman"/>
              </a:rPr>
              <a:t> </a:t>
            </a:r>
            <a:r>
              <a:rPr dirty="0" sz="1000" spc="10">
                <a:latin typeface="Times New Roman"/>
                <a:cs typeface="Times New Roman"/>
              </a:rPr>
              <a:t>overcomes</a:t>
            </a:r>
            <a:r>
              <a:rPr dirty="0" sz="1000" spc="60">
                <a:latin typeface="Times New Roman"/>
                <a:cs typeface="Times New Roman"/>
              </a:rPr>
              <a:t> </a:t>
            </a:r>
            <a:r>
              <a:rPr dirty="0" sz="1000" spc="10">
                <a:latin typeface="Times New Roman"/>
                <a:cs typeface="Times New Roman"/>
              </a:rPr>
              <a:t>those</a:t>
            </a:r>
            <a:r>
              <a:rPr dirty="0" sz="1000" spc="65">
                <a:latin typeface="Times New Roman"/>
                <a:cs typeface="Times New Roman"/>
              </a:rPr>
              <a:t> </a:t>
            </a:r>
            <a:r>
              <a:rPr dirty="0" sz="1000" spc="10">
                <a:latin typeface="Times New Roman"/>
                <a:cs typeface="Times New Roman"/>
              </a:rPr>
              <a:t>defects</a:t>
            </a:r>
            <a:r>
              <a:rPr dirty="0" sz="1000" spc="60">
                <a:latin typeface="Times New Roman"/>
                <a:cs typeface="Times New Roman"/>
              </a:rPr>
              <a:t> </a:t>
            </a:r>
            <a:r>
              <a:rPr dirty="0" sz="1000" spc="10">
                <a:latin typeface="Times New Roman"/>
                <a:cs typeface="Times New Roman"/>
              </a:rPr>
              <a:t>by</a:t>
            </a:r>
            <a:r>
              <a:rPr dirty="0" sz="1000" spc="60">
                <a:latin typeface="Times New Roman"/>
                <a:cs typeface="Times New Roman"/>
              </a:rPr>
              <a:t> </a:t>
            </a:r>
            <a:r>
              <a:rPr dirty="0" sz="1000" spc="10">
                <a:latin typeface="Times New Roman"/>
                <a:cs typeface="Times New Roman"/>
              </a:rPr>
              <a:t>retaining</a:t>
            </a:r>
            <a:r>
              <a:rPr dirty="0" sz="1000" spc="65">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fusion</a:t>
            </a:r>
            <a:r>
              <a:rPr dirty="0" sz="1000" spc="60">
                <a:latin typeface="Times New Roman"/>
                <a:cs typeface="Times New Roman"/>
              </a:rPr>
              <a:t> </a:t>
            </a:r>
            <a:r>
              <a:rPr dirty="0" sz="1000" spc="10">
                <a:latin typeface="Times New Roman"/>
                <a:cs typeface="Times New Roman"/>
              </a:rPr>
              <a:t>module</a:t>
            </a:r>
            <a:r>
              <a:rPr dirty="0" sz="1000" spc="60">
                <a:latin typeface="Times New Roman"/>
                <a:cs typeface="Times New Roman"/>
              </a:rPr>
              <a:t> </a:t>
            </a:r>
            <a:r>
              <a:rPr dirty="0" sz="1000" spc="10">
                <a:latin typeface="Times New Roman"/>
                <a:cs typeface="Times New Roman"/>
              </a:rPr>
              <a:t>and</a:t>
            </a:r>
            <a:r>
              <a:rPr dirty="0" sz="1000" spc="65">
                <a:latin typeface="Times New Roman"/>
                <a:cs typeface="Times New Roman"/>
              </a:rPr>
              <a:t> </a:t>
            </a:r>
            <a:r>
              <a:rPr dirty="0" sz="1000" spc="10">
                <a:latin typeface="Times New Roman"/>
                <a:cs typeface="Times New Roman"/>
              </a:rPr>
              <a:t>setting</a:t>
            </a:r>
            <a:r>
              <a:rPr dirty="0" sz="1000" spc="60">
                <a:latin typeface="Times New Roman"/>
                <a:cs typeface="Times New Roman"/>
              </a:rPr>
              <a:t> </a:t>
            </a:r>
            <a:r>
              <a:rPr dirty="0" sz="1000" spc="10">
                <a:latin typeface="Times New Roman"/>
                <a:cs typeface="Times New Roman"/>
              </a:rPr>
              <a:t>other</a:t>
            </a:r>
            <a:r>
              <a:rPr dirty="0" sz="1000" spc="60">
                <a:latin typeface="Times New Roman"/>
                <a:cs typeface="Times New Roman"/>
              </a:rPr>
              <a:t> </a:t>
            </a:r>
            <a:r>
              <a:rPr dirty="0" sz="1000" spc="10">
                <a:latin typeface="Times New Roman"/>
                <a:cs typeface="Times New Roman"/>
              </a:rPr>
              <a:t>modality</a:t>
            </a:r>
            <a:r>
              <a:rPr dirty="0" sz="1000" spc="65">
                <a:latin typeface="Times New Roman"/>
                <a:cs typeface="Times New Roman"/>
              </a:rPr>
              <a:t> </a:t>
            </a:r>
            <a:r>
              <a:rPr dirty="0" sz="1000" spc="-10">
                <a:latin typeface="Times New Roman"/>
                <a:cs typeface="Times New Roman"/>
              </a:rPr>
              <a:t>represen- </a:t>
            </a:r>
            <a:r>
              <a:rPr dirty="0" sz="1000" spc="10">
                <a:latin typeface="Times New Roman"/>
                <a:cs typeface="Times New Roman"/>
              </a:rPr>
              <a:t>tations</a:t>
            </a:r>
            <a:r>
              <a:rPr dirty="0" sz="1000" spc="50">
                <a:latin typeface="Times New Roman"/>
                <a:cs typeface="Times New Roman"/>
              </a:rPr>
              <a:t> </a:t>
            </a:r>
            <a:r>
              <a:rPr dirty="0" sz="1000" spc="10">
                <a:latin typeface="Times New Roman"/>
                <a:cs typeface="Times New Roman"/>
              </a:rPr>
              <a:t>as</a:t>
            </a:r>
            <a:r>
              <a:rPr dirty="0" sz="1000" spc="55">
                <a:latin typeface="Times New Roman"/>
                <a:cs typeface="Times New Roman"/>
              </a:rPr>
              <a:t> </a:t>
            </a:r>
            <a:r>
              <a:rPr dirty="0" sz="1000" spc="10">
                <a:latin typeface="Times New Roman"/>
                <a:cs typeface="Times New Roman"/>
              </a:rPr>
              <a:t>0</a:t>
            </a:r>
            <a:r>
              <a:rPr dirty="0" sz="1000" spc="55">
                <a:latin typeface="Times New Roman"/>
                <a:cs typeface="Times New Roman"/>
              </a:rPr>
              <a:t> </a:t>
            </a:r>
            <a:r>
              <a:rPr dirty="0" sz="1000" spc="10">
                <a:latin typeface="Times New Roman"/>
                <a:cs typeface="Times New Roman"/>
              </a:rPr>
              <a:t>to</a:t>
            </a:r>
            <a:r>
              <a:rPr dirty="0" sz="1000" spc="55">
                <a:latin typeface="Times New Roman"/>
                <a:cs typeface="Times New Roman"/>
              </a:rPr>
              <a:t> </a:t>
            </a:r>
            <a:r>
              <a:rPr dirty="0" sz="1000" spc="10">
                <a:latin typeface="Times New Roman"/>
                <a:cs typeface="Times New Roman"/>
              </a:rPr>
              <a:t>calculate</a:t>
            </a:r>
            <a:r>
              <a:rPr dirty="0" sz="1000" spc="55">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spc="10">
                <a:latin typeface="Times New Roman"/>
                <a:cs typeface="Times New Roman"/>
              </a:rPr>
              <a:t>unimodal</a:t>
            </a:r>
            <a:r>
              <a:rPr dirty="0" sz="1000" spc="55">
                <a:latin typeface="Times New Roman"/>
                <a:cs typeface="Times New Roman"/>
              </a:rPr>
              <a:t> </a:t>
            </a:r>
            <a:r>
              <a:rPr dirty="0" sz="1000" spc="-10">
                <a:latin typeface="Times New Roman"/>
                <a:cs typeface="Times New Roman"/>
              </a:rPr>
              <a:t>directly.</a:t>
            </a:r>
            <a:endParaRPr sz="1000">
              <a:latin typeface="Times New Roman"/>
              <a:cs typeface="Times New Roman"/>
            </a:endParaRPr>
          </a:p>
        </p:txBody>
      </p:sp>
      <p:sp>
        <p:nvSpPr>
          <p:cNvPr id="17" name="object 17"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96"/>
            <a:ext cx="5760085" cy="545465"/>
            <a:chOff x="899998" y="899996"/>
            <a:chExt cx="5760085" cy="545465"/>
          </a:xfrm>
        </p:grpSpPr>
        <p:sp>
          <p:nvSpPr>
            <p:cNvPr id="3" name="object 3" descr=""/>
            <p:cNvSpPr/>
            <p:nvPr/>
          </p:nvSpPr>
          <p:spPr>
            <a:xfrm>
              <a:off x="899998" y="899996"/>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96"/>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 name="object 5" descr=""/>
          <p:cNvSpPr txBox="1"/>
          <p:nvPr/>
        </p:nvSpPr>
        <p:spPr>
          <a:xfrm>
            <a:off x="1067295" y="930383"/>
            <a:ext cx="5425440" cy="420370"/>
          </a:xfrm>
          <a:prstGeom prst="rect">
            <a:avLst/>
          </a:prstGeom>
        </p:spPr>
        <p:txBody>
          <a:bodyPr wrap="square" lIns="0" tIns="12700" rIns="0" bIns="0" rtlCol="0" vert="horz">
            <a:spAutoFit/>
          </a:bodyPr>
          <a:lstStyle/>
          <a:p>
            <a:pPr marL="12700" marR="5080">
              <a:lnSpc>
                <a:spcPct val="129500"/>
              </a:lnSpc>
              <a:spcBef>
                <a:spcPts val="100"/>
              </a:spcBef>
            </a:pPr>
            <a:r>
              <a:rPr dirty="0" sz="1000" spc="-5">
                <a:latin typeface="SimSun"/>
                <a:cs typeface="SimSun"/>
              </a:rPr>
              <a:t>此外，现有方法通常为模态表示引入额外的分类器。相比之下，所提出的</a:t>
            </a:r>
            <a:r>
              <a:rPr dirty="0" sz="1000">
                <a:latin typeface="Times New Roman"/>
                <a:cs typeface="Times New Roman"/>
              </a:rPr>
              <a:t>DGL</a:t>
            </a:r>
            <a:r>
              <a:rPr dirty="0" sz="1000" spc="-20">
                <a:latin typeface="Times New Roman"/>
                <a:cs typeface="Times New Roman"/>
              </a:rPr>
              <a:t> </a:t>
            </a:r>
            <a:r>
              <a:rPr dirty="0" sz="1000" spc="-15">
                <a:latin typeface="SimSun"/>
                <a:cs typeface="SimSun"/>
              </a:rPr>
              <a:t>通过保留融合模块</a:t>
            </a:r>
            <a:r>
              <a:rPr dirty="0" sz="1000" spc="-35">
                <a:latin typeface="SimSun"/>
                <a:cs typeface="SimSun"/>
              </a:rPr>
              <a:t>并将其他模态表示设置为 </a:t>
            </a:r>
            <a:r>
              <a:rPr dirty="0" sz="1000">
                <a:latin typeface="Times New Roman"/>
                <a:cs typeface="Times New Roman"/>
              </a:rPr>
              <a:t>0</a:t>
            </a:r>
            <a:r>
              <a:rPr dirty="0" sz="1000" spc="-30">
                <a:latin typeface="Times New Roman"/>
                <a:cs typeface="Times New Roman"/>
              </a:rPr>
              <a:t> </a:t>
            </a:r>
            <a:r>
              <a:rPr dirty="0" sz="1000" spc="-15">
                <a:latin typeface="SimSun"/>
                <a:cs typeface="SimSun"/>
              </a:rPr>
              <a:t>来直接计算单模态，从而克服了这些缺陷。</a:t>
            </a:r>
            <a:endParaRPr sz="1000">
              <a:latin typeface="SimSun"/>
              <a:cs typeface="SimSun"/>
            </a:endParaRPr>
          </a:p>
        </p:txBody>
      </p:sp>
      <p:graphicFrame>
        <p:nvGraphicFramePr>
          <p:cNvPr id="6" name="object 6" descr=""/>
          <p:cNvGraphicFramePr>
            <a:graphicFrameLocks noGrp="1"/>
          </p:cNvGraphicFramePr>
          <p:nvPr/>
        </p:nvGraphicFramePr>
        <p:xfrm>
          <a:off x="1233357" y="1584525"/>
          <a:ext cx="5169535" cy="2564130"/>
        </p:xfrm>
        <a:graphic>
          <a:graphicData uri="http://schemas.openxmlformats.org/drawingml/2006/table">
            <a:tbl>
              <a:tblPr firstRow="1" bandRow="1">
                <a:tableStyleId>{2D5ABB26-0587-4C30-8999-92F81FD0307C}</a:tableStyleId>
              </a:tblPr>
              <a:tblGrid>
                <a:gridCol w="775970"/>
                <a:gridCol w="483870"/>
                <a:gridCol w="497204"/>
                <a:gridCol w="455930"/>
                <a:gridCol w="483235"/>
                <a:gridCol w="496569"/>
                <a:gridCol w="455294"/>
                <a:gridCol w="482600"/>
                <a:gridCol w="495935"/>
                <a:gridCol w="452120"/>
              </a:tblGrid>
              <a:tr h="201930">
                <a:tc rowSpan="2">
                  <a:txBody>
                    <a:bodyPr/>
                    <a:lstStyle/>
                    <a:p>
                      <a:pPr marL="177165">
                        <a:lnSpc>
                          <a:spcPct val="100000"/>
                        </a:lnSpc>
                        <a:spcBef>
                          <a:spcPts val="885"/>
                        </a:spcBef>
                      </a:pPr>
                      <a:r>
                        <a:rPr dirty="0" sz="1000" spc="-10">
                          <a:latin typeface="Times New Roman"/>
                          <a:cs typeface="Times New Roman"/>
                        </a:rPr>
                        <a:t>Method</a:t>
                      </a:r>
                      <a:endParaRPr sz="1000">
                        <a:latin typeface="Times New Roman"/>
                        <a:cs typeface="Times New Roman"/>
                      </a:endParaRPr>
                    </a:p>
                  </a:txBody>
                  <a:tcPr marL="0" marR="0" marB="0" marT="112395">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27990">
                        <a:lnSpc>
                          <a:spcPct val="100000"/>
                        </a:lnSpc>
                        <a:spcBef>
                          <a:spcPts val="105"/>
                        </a:spcBef>
                      </a:pPr>
                      <a:r>
                        <a:rPr dirty="0" sz="1000" spc="-10">
                          <a:latin typeface="Times New Roman"/>
                          <a:cs typeface="Times New Roman"/>
                        </a:rPr>
                        <a:t>CREMA-</a:t>
                      </a:r>
                      <a:r>
                        <a:rPr dirty="0" sz="1000" spc="-50">
                          <a:latin typeface="Times New Roman"/>
                          <a:cs typeface="Times New Roman"/>
                        </a:rPr>
                        <a:t>D</a:t>
                      </a:r>
                      <a:endParaRPr sz="1000">
                        <a:latin typeface="Times New Roman"/>
                        <a:cs typeface="Times New Roman"/>
                      </a:endParaRPr>
                    </a:p>
                  </a:txBody>
                  <a:tcPr marL="0" marR="0" marB="0" marT="13335">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3">
                  <a:txBody>
                    <a:bodyPr/>
                    <a:lstStyle/>
                    <a:p>
                      <a:pPr algn="ctr">
                        <a:lnSpc>
                          <a:spcPct val="100000"/>
                        </a:lnSpc>
                        <a:spcBef>
                          <a:spcPts val="105"/>
                        </a:spcBef>
                      </a:pPr>
                      <a:r>
                        <a:rPr dirty="0" sz="1000" spc="-25">
                          <a:latin typeface="Times New Roman"/>
                          <a:cs typeface="Times New Roman"/>
                        </a:rPr>
                        <a:t>KS</a:t>
                      </a:r>
                      <a:endParaRPr sz="1000">
                        <a:latin typeface="Times New Roman"/>
                        <a:cs typeface="Times New Roman"/>
                      </a:endParaRPr>
                    </a:p>
                  </a:txBody>
                  <a:tcPr marL="0" marR="0" marB="0" marT="13335">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3">
                  <a:txBody>
                    <a:bodyPr/>
                    <a:lstStyle/>
                    <a:p>
                      <a:pPr marL="415925">
                        <a:lnSpc>
                          <a:spcPct val="100000"/>
                        </a:lnSpc>
                        <a:spcBef>
                          <a:spcPts val="105"/>
                        </a:spcBef>
                      </a:pPr>
                      <a:r>
                        <a:rPr dirty="0" sz="1000" spc="-10">
                          <a:latin typeface="Times New Roman"/>
                          <a:cs typeface="Times New Roman"/>
                        </a:rPr>
                        <a:t>VGGSound</a:t>
                      </a:r>
                      <a:endParaRPr sz="1000">
                        <a:latin typeface="Times New Roman"/>
                        <a:cs typeface="Times New Roman"/>
                      </a:endParaRPr>
                    </a:p>
                  </a:txBody>
                  <a:tcPr marL="0" marR="0" marB="0" marT="13335">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r>
              <a:tr h="196850">
                <a:tc vMerge="1">
                  <a:txBody>
                    <a:bodyPr/>
                    <a:lstStyle/>
                    <a:p>
                      <a:pPr/>
                    </a:p>
                  </a:txBody>
                  <a:tcPr marL="0" marR="0" marB="0" marT="112395">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Audio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Visual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Multi</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Audio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Visual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Multi</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Audio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Visual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Multi</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a:latin typeface="Times New Roman"/>
                          <a:cs typeface="Times New Roman"/>
                        </a:rPr>
                        <a:t>Audio-</a:t>
                      </a:r>
                      <a:r>
                        <a:rPr dirty="0" sz="1000" spc="-20">
                          <a:latin typeface="Times New Roman"/>
                          <a:cs typeface="Times New Roman"/>
                        </a:rPr>
                        <a:t>only</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62.18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0">
                          <a:latin typeface="Times New Roman"/>
                          <a:cs typeface="Times New Roman"/>
                        </a:rPr>
                        <a:t>48.7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45.13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a:latin typeface="Times New Roman"/>
                          <a:cs typeface="Times New Roman"/>
                        </a:rPr>
                        <a:t>Visual-</a:t>
                      </a:r>
                      <a:r>
                        <a:rPr dirty="0" sz="1000" spc="-20">
                          <a:latin typeface="Times New Roman"/>
                          <a:cs typeface="Times New Roman"/>
                        </a:rPr>
                        <a:t>only</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68.23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0">
                          <a:latin typeface="Times New Roman"/>
                          <a:cs typeface="Times New Roman"/>
                        </a:rPr>
                        <a:t>54.6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30.68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Concat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59.62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36.71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0">
                          <a:latin typeface="Times New Roman"/>
                          <a:cs typeface="Times New Roman"/>
                        </a:rPr>
                        <a:t>65.1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43.35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48.72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64.45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20.55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47.90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G-</a:t>
                      </a:r>
                      <a:r>
                        <a:rPr dirty="0" sz="1000" spc="-10">
                          <a:latin typeface="Times New Roman"/>
                          <a:cs typeface="Times New Roman"/>
                        </a:rPr>
                        <a:t>Blending</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58.78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58.62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69.21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46.35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51.12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69.60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44.34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26.56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49.33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OGM_GE</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57.76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40.09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68.82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44.23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45.81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66.89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41.85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27.41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48.71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PMR</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55.11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38.34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67.44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43.61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46.67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65.70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42.33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25.12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48.17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AGM</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56.37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43.54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69.61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46.12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47.65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68.88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41.87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27.34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49.10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MLA</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60.46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64.23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73.12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50.03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54.67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71.12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45.87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31.60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51.19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MMPareto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59.43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61.09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70.12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48.40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52.42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69.83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42.44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30.07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49.12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D&amp;R</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61.11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64.57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74.32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49.78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54.88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69.10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45.18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31.23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50.84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DGL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63.12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77.48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60.11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74.78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47.13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33.45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52.53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7" name="object 7" descr=""/>
          <p:cNvGrpSpPr/>
          <p:nvPr/>
        </p:nvGrpSpPr>
        <p:grpSpPr>
          <a:xfrm>
            <a:off x="899998" y="4287072"/>
            <a:ext cx="5760085" cy="2792095"/>
            <a:chOff x="899998" y="4287072"/>
            <a:chExt cx="5760085" cy="2792095"/>
          </a:xfrm>
        </p:grpSpPr>
        <p:sp>
          <p:nvSpPr>
            <p:cNvPr id="8" name="object 8" descr=""/>
            <p:cNvSpPr/>
            <p:nvPr/>
          </p:nvSpPr>
          <p:spPr>
            <a:xfrm>
              <a:off x="899998" y="4287072"/>
              <a:ext cx="5760085" cy="2792095"/>
            </a:xfrm>
            <a:custGeom>
              <a:avLst/>
              <a:gdLst/>
              <a:ahLst/>
              <a:cxnLst/>
              <a:rect l="l" t="t" r="r" b="b"/>
              <a:pathLst>
                <a:path w="5760084" h="2792095">
                  <a:moveTo>
                    <a:pt x="5724074" y="0"/>
                  </a:moveTo>
                  <a:lnTo>
                    <a:pt x="36000" y="0"/>
                  </a:lnTo>
                  <a:lnTo>
                    <a:pt x="21987" y="2829"/>
                  </a:lnTo>
                  <a:lnTo>
                    <a:pt x="10544" y="10544"/>
                  </a:lnTo>
                  <a:lnTo>
                    <a:pt x="2829" y="21987"/>
                  </a:lnTo>
                  <a:lnTo>
                    <a:pt x="0" y="36000"/>
                  </a:lnTo>
                  <a:lnTo>
                    <a:pt x="0" y="2756098"/>
                  </a:lnTo>
                  <a:lnTo>
                    <a:pt x="2829" y="2770111"/>
                  </a:lnTo>
                  <a:lnTo>
                    <a:pt x="10544" y="2781554"/>
                  </a:lnTo>
                  <a:lnTo>
                    <a:pt x="21987" y="2789269"/>
                  </a:lnTo>
                  <a:lnTo>
                    <a:pt x="36000" y="2792098"/>
                  </a:lnTo>
                  <a:lnTo>
                    <a:pt x="5724074" y="2792098"/>
                  </a:lnTo>
                  <a:lnTo>
                    <a:pt x="5738087" y="2789269"/>
                  </a:lnTo>
                  <a:lnTo>
                    <a:pt x="5749530" y="2781554"/>
                  </a:lnTo>
                  <a:lnTo>
                    <a:pt x="5757245" y="2770111"/>
                  </a:lnTo>
                  <a:lnTo>
                    <a:pt x="5760074" y="275609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9" name="object 9" descr=""/>
            <p:cNvSpPr/>
            <p:nvPr/>
          </p:nvSpPr>
          <p:spPr>
            <a:xfrm>
              <a:off x="899998" y="4287072"/>
              <a:ext cx="5760085" cy="2792095"/>
            </a:xfrm>
            <a:custGeom>
              <a:avLst/>
              <a:gdLst/>
              <a:ahLst/>
              <a:cxnLst/>
              <a:rect l="l" t="t" r="r" b="b"/>
              <a:pathLst>
                <a:path w="5760084" h="2792095">
                  <a:moveTo>
                    <a:pt x="5724074" y="0"/>
                  </a:moveTo>
                  <a:lnTo>
                    <a:pt x="36000" y="0"/>
                  </a:lnTo>
                  <a:lnTo>
                    <a:pt x="21987" y="2829"/>
                  </a:lnTo>
                  <a:lnTo>
                    <a:pt x="10544" y="10544"/>
                  </a:lnTo>
                  <a:lnTo>
                    <a:pt x="2829" y="21987"/>
                  </a:lnTo>
                  <a:lnTo>
                    <a:pt x="0" y="36000"/>
                  </a:lnTo>
                  <a:lnTo>
                    <a:pt x="0" y="2756098"/>
                  </a:lnTo>
                  <a:lnTo>
                    <a:pt x="2829" y="2770111"/>
                  </a:lnTo>
                  <a:lnTo>
                    <a:pt x="10544" y="2781554"/>
                  </a:lnTo>
                  <a:lnTo>
                    <a:pt x="21987" y="2789269"/>
                  </a:lnTo>
                  <a:lnTo>
                    <a:pt x="36000" y="2792098"/>
                  </a:lnTo>
                  <a:lnTo>
                    <a:pt x="5724074" y="2792098"/>
                  </a:lnTo>
                  <a:lnTo>
                    <a:pt x="5738087" y="2789269"/>
                  </a:lnTo>
                  <a:lnTo>
                    <a:pt x="5749530" y="2781554"/>
                  </a:lnTo>
                  <a:lnTo>
                    <a:pt x="5757245" y="2770111"/>
                  </a:lnTo>
                  <a:lnTo>
                    <a:pt x="5760074" y="275609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aphicFrame>
        <p:nvGraphicFramePr>
          <p:cNvPr id="10" name="object 10" descr=""/>
          <p:cNvGraphicFramePr>
            <a:graphicFrameLocks noGrp="1"/>
          </p:cNvGraphicFramePr>
          <p:nvPr/>
        </p:nvGraphicFramePr>
        <p:xfrm>
          <a:off x="1296171" y="4395098"/>
          <a:ext cx="5044440" cy="2564130"/>
        </p:xfrm>
        <a:graphic>
          <a:graphicData uri="http://schemas.openxmlformats.org/drawingml/2006/table">
            <a:tbl>
              <a:tblPr firstRow="1" bandRow="1">
                <a:tableStyleId>{2D5ABB26-0587-4C30-8999-92F81FD0307C}</a:tableStyleId>
              </a:tblPr>
              <a:tblGrid>
                <a:gridCol w="725170"/>
                <a:gridCol w="435610"/>
                <a:gridCol w="438150"/>
                <a:gridCol w="538480"/>
                <a:gridCol w="435610"/>
                <a:gridCol w="438150"/>
                <a:gridCol w="538479"/>
                <a:gridCol w="435610"/>
                <a:gridCol w="438150"/>
                <a:gridCol w="535939"/>
              </a:tblGrid>
              <a:tr h="201930">
                <a:tc rowSpan="2">
                  <a:txBody>
                    <a:bodyPr/>
                    <a:lstStyle/>
                    <a:p>
                      <a:pPr marL="234315">
                        <a:lnSpc>
                          <a:spcPct val="100000"/>
                        </a:lnSpc>
                        <a:spcBef>
                          <a:spcPts val="885"/>
                        </a:spcBef>
                      </a:pPr>
                      <a:r>
                        <a:rPr dirty="0" sz="1000" spc="-30">
                          <a:latin typeface="SimSun"/>
                          <a:cs typeface="SimSun"/>
                        </a:rPr>
                        <a:t>方法</a:t>
                      </a:r>
                      <a:endParaRPr sz="1000">
                        <a:latin typeface="SimSun"/>
                        <a:cs typeface="SimSun"/>
                      </a:endParaRPr>
                    </a:p>
                  </a:txBody>
                  <a:tcPr marL="0" marR="0" marB="0" marT="112395">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15925">
                        <a:lnSpc>
                          <a:spcPct val="100000"/>
                        </a:lnSpc>
                        <a:spcBef>
                          <a:spcPts val="105"/>
                        </a:spcBef>
                      </a:pPr>
                      <a:r>
                        <a:rPr dirty="0" sz="1000" spc="-10">
                          <a:latin typeface="Times New Roman"/>
                          <a:cs typeface="Times New Roman"/>
                        </a:rPr>
                        <a:t>CREMA-</a:t>
                      </a:r>
                      <a:r>
                        <a:rPr dirty="0" sz="1000" spc="-50">
                          <a:latin typeface="Times New Roman"/>
                          <a:cs typeface="Times New Roman"/>
                        </a:rPr>
                        <a:t>D</a:t>
                      </a:r>
                      <a:endParaRPr sz="1000">
                        <a:latin typeface="Times New Roman"/>
                        <a:cs typeface="Times New Roman"/>
                      </a:endParaRPr>
                    </a:p>
                  </a:txBody>
                  <a:tcPr marL="0" marR="0" marB="0" marT="13335">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3">
                  <a:txBody>
                    <a:bodyPr/>
                    <a:lstStyle/>
                    <a:p>
                      <a:pPr algn="ctr">
                        <a:lnSpc>
                          <a:spcPct val="100000"/>
                        </a:lnSpc>
                        <a:spcBef>
                          <a:spcPts val="105"/>
                        </a:spcBef>
                      </a:pPr>
                      <a:r>
                        <a:rPr dirty="0" sz="1000" spc="-25">
                          <a:latin typeface="Times New Roman"/>
                          <a:cs typeface="Times New Roman"/>
                        </a:rPr>
                        <a:t>KS</a:t>
                      </a:r>
                      <a:endParaRPr sz="1000">
                        <a:latin typeface="Times New Roman"/>
                        <a:cs typeface="Times New Roman"/>
                      </a:endParaRPr>
                    </a:p>
                  </a:txBody>
                  <a:tcPr marL="0" marR="0" marB="0" marT="13335">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3">
                  <a:txBody>
                    <a:bodyPr/>
                    <a:lstStyle/>
                    <a:p>
                      <a:pPr marL="403225">
                        <a:lnSpc>
                          <a:spcPct val="100000"/>
                        </a:lnSpc>
                        <a:spcBef>
                          <a:spcPts val="105"/>
                        </a:spcBef>
                      </a:pPr>
                      <a:r>
                        <a:rPr dirty="0" sz="1000" spc="-10">
                          <a:latin typeface="Times New Roman"/>
                          <a:cs typeface="Times New Roman"/>
                        </a:rPr>
                        <a:t>VGGSound</a:t>
                      </a:r>
                      <a:endParaRPr sz="1000">
                        <a:latin typeface="Times New Roman"/>
                        <a:cs typeface="Times New Roman"/>
                      </a:endParaRPr>
                    </a:p>
                  </a:txBody>
                  <a:tcPr marL="0" marR="0" marB="0" marT="13335">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r>
              <a:tr h="196850">
                <a:tc vMerge="1">
                  <a:txBody>
                    <a:bodyPr/>
                    <a:lstStyle/>
                    <a:p>
                      <a:pPr/>
                    </a:p>
                  </a:txBody>
                  <a:tcPr marL="0" marR="0" marB="0" marT="112395">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音频</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视觉</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5">
                          <a:latin typeface="SimSun"/>
                          <a:cs typeface="SimSun"/>
                        </a:rPr>
                        <a:t>多模态</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音频</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视觉</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5">
                          <a:latin typeface="SimSun"/>
                          <a:cs typeface="SimSun"/>
                        </a:rPr>
                        <a:t>多模态</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音频</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视觉</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5">
                          <a:latin typeface="SimSun"/>
                          <a:cs typeface="SimSun"/>
                        </a:rPr>
                        <a:t>多模态</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SimSun"/>
                          <a:cs typeface="SimSun"/>
                        </a:rPr>
                        <a:t>仅音频</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62.18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0">
                          <a:latin typeface="Times New Roman"/>
                          <a:cs typeface="Times New Roman"/>
                        </a:rPr>
                        <a:t>48.7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45.13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SimSun"/>
                          <a:cs typeface="SimSun"/>
                        </a:rPr>
                        <a:t>仅视觉</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68.23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0">
                          <a:latin typeface="Times New Roman"/>
                          <a:cs typeface="Times New Roman"/>
                        </a:rPr>
                        <a:t>54.6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30.68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30">
                          <a:latin typeface="SimSun"/>
                          <a:cs typeface="SimSun"/>
                        </a:rPr>
                        <a:t>拼接</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59.62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36.71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0">
                          <a:latin typeface="Times New Roman"/>
                          <a:cs typeface="Times New Roman"/>
                        </a:rPr>
                        <a:t>65.1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43.35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48.72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64.45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20.55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47.90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a:latin typeface="Times New Roman"/>
                          <a:cs typeface="Times New Roman"/>
                        </a:rPr>
                        <a:t>G</a:t>
                      </a:r>
                      <a:r>
                        <a:rPr dirty="0" sz="1000" spc="-35">
                          <a:latin typeface="Times New Roman"/>
                          <a:cs typeface="Times New Roman"/>
                        </a:rPr>
                        <a:t> </a:t>
                      </a:r>
                      <a:r>
                        <a:rPr dirty="0" sz="1000" spc="-30">
                          <a:latin typeface="SimSun"/>
                          <a:cs typeface="SimSun"/>
                        </a:rPr>
                        <a:t>融合</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58.78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58.62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69.21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46.35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51.12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69.60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44.34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26.56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49.33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OGM_GE</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57.76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40.09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68.82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44.23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45.81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66.89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41.85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27.41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48.71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PMR</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55.11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38.34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67.44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43.61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46.67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65.70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42.33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25.12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48.17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AGM</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56.37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43.54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69.61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46.12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47.65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68.88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41.87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27.34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49.10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MLA</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60.46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64.23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73.12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50.03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54.67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71.12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45.87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31.60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51.19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MMPareto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59.43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61.09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70.12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48.40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52.42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69.83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42.44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30.07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49.12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D&amp;R</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61.11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64.57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74.32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49.78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54.88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69.10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45.18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31.23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50.84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DGL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63.12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77.48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60.11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74.78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47.13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33.45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52.53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11" name="object 11" descr=""/>
          <p:cNvGrpSpPr/>
          <p:nvPr/>
        </p:nvGrpSpPr>
        <p:grpSpPr>
          <a:xfrm>
            <a:off x="899998" y="7868687"/>
            <a:ext cx="5760085" cy="728345"/>
            <a:chOff x="899998" y="7868687"/>
            <a:chExt cx="5760085" cy="728345"/>
          </a:xfrm>
        </p:grpSpPr>
        <p:sp>
          <p:nvSpPr>
            <p:cNvPr id="12" name="object 12" descr=""/>
            <p:cNvSpPr/>
            <p:nvPr/>
          </p:nvSpPr>
          <p:spPr>
            <a:xfrm>
              <a:off x="899998" y="7868687"/>
              <a:ext cx="5760085" cy="728345"/>
            </a:xfrm>
            <a:custGeom>
              <a:avLst/>
              <a:gdLst/>
              <a:ahLst/>
              <a:cxnLst/>
              <a:rect l="l" t="t" r="r" b="b"/>
              <a:pathLst>
                <a:path w="5760084" h="728345">
                  <a:moveTo>
                    <a:pt x="5724074" y="0"/>
                  </a:moveTo>
                  <a:lnTo>
                    <a:pt x="36000" y="0"/>
                  </a:lnTo>
                  <a:lnTo>
                    <a:pt x="21987" y="2829"/>
                  </a:lnTo>
                  <a:lnTo>
                    <a:pt x="10544" y="10544"/>
                  </a:lnTo>
                  <a:lnTo>
                    <a:pt x="2829" y="21987"/>
                  </a:lnTo>
                  <a:lnTo>
                    <a:pt x="0" y="36000"/>
                  </a:lnTo>
                  <a:lnTo>
                    <a:pt x="0" y="692311"/>
                  </a:lnTo>
                  <a:lnTo>
                    <a:pt x="2829" y="706324"/>
                  </a:lnTo>
                  <a:lnTo>
                    <a:pt x="10544" y="717767"/>
                  </a:lnTo>
                  <a:lnTo>
                    <a:pt x="21987" y="725482"/>
                  </a:lnTo>
                  <a:lnTo>
                    <a:pt x="36000" y="728311"/>
                  </a:lnTo>
                  <a:lnTo>
                    <a:pt x="5724074" y="728311"/>
                  </a:lnTo>
                  <a:lnTo>
                    <a:pt x="5738087" y="725482"/>
                  </a:lnTo>
                  <a:lnTo>
                    <a:pt x="5749530" y="717767"/>
                  </a:lnTo>
                  <a:lnTo>
                    <a:pt x="5757245" y="706324"/>
                  </a:lnTo>
                  <a:lnTo>
                    <a:pt x="5760074" y="69231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7868687"/>
              <a:ext cx="5760085" cy="728345"/>
            </a:xfrm>
            <a:custGeom>
              <a:avLst/>
              <a:gdLst/>
              <a:ahLst/>
              <a:cxnLst/>
              <a:rect l="l" t="t" r="r" b="b"/>
              <a:pathLst>
                <a:path w="5760084" h="728345">
                  <a:moveTo>
                    <a:pt x="5724074" y="0"/>
                  </a:moveTo>
                  <a:lnTo>
                    <a:pt x="36000" y="0"/>
                  </a:lnTo>
                  <a:lnTo>
                    <a:pt x="21987" y="2829"/>
                  </a:lnTo>
                  <a:lnTo>
                    <a:pt x="10544" y="10544"/>
                  </a:lnTo>
                  <a:lnTo>
                    <a:pt x="2829" y="21987"/>
                  </a:lnTo>
                  <a:lnTo>
                    <a:pt x="0" y="36000"/>
                  </a:lnTo>
                  <a:lnTo>
                    <a:pt x="0" y="692311"/>
                  </a:lnTo>
                  <a:lnTo>
                    <a:pt x="2829" y="706324"/>
                  </a:lnTo>
                  <a:lnTo>
                    <a:pt x="10544" y="717767"/>
                  </a:lnTo>
                  <a:lnTo>
                    <a:pt x="21987" y="725482"/>
                  </a:lnTo>
                  <a:lnTo>
                    <a:pt x="36000" y="728311"/>
                  </a:lnTo>
                  <a:lnTo>
                    <a:pt x="5724074" y="728311"/>
                  </a:lnTo>
                  <a:lnTo>
                    <a:pt x="5738087" y="725482"/>
                  </a:lnTo>
                  <a:lnTo>
                    <a:pt x="5749530" y="717767"/>
                  </a:lnTo>
                  <a:lnTo>
                    <a:pt x="5757245" y="706324"/>
                  </a:lnTo>
                  <a:lnTo>
                    <a:pt x="5760074" y="69231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9233689"/>
            <a:ext cx="5760085" cy="396240"/>
            <a:chOff x="899998" y="9233689"/>
            <a:chExt cx="5760085" cy="396240"/>
          </a:xfrm>
        </p:grpSpPr>
        <p:sp>
          <p:nvSpPr>
            <p:cNvPr id="15" name="object 15" descr=""/>
            <p:cNvSpPr/>
            <p:nvPr/>
          </p:nvSpPr>
          <p:spPr>
            <a:xfrm>
              <a:off x="899998" y="9233689"/>
              <a:ext cx="5760085" cy="396240"/>
            </a:xfrm>
            <a:custGeom>
              <a:avLst/>
              <a:gdLst/>
              <a:ahLst/>
              <a:cxnLst/>
              <a:rect l="l" t="t" r="r" b="b"/>
              <a:pathLst>
                <a:path w="5760084" h="396240">
                  <a:moveTo>
                    <a:pt x="5724074" y="0"/>
                  </a:moveTo>
                  <a:lnTo>
                    <a:pt x="36000" y="0"/>
                  </a:lnTo>
                  <a:lnTo>
                    <a:pt x="21987" y="2829"/>
                  </a:lnTo>
                  <a:lnTo>
                    <a:pt x="10544" y="10544"/>
                  </a:lnTo>
                  <a:lnTo>
                    <a:pt x="2829" y="21987"/>
                  </a:lnTo>
                  <a:lnTo>
                    <a:pt x="0" y="36000"/>
                  </a:lnTo>
                  <a:lnTo>
                    <a:pt x="0" y="359832"/>
                  </a:lnTo>
                  <a:lnTo>
                    <a:pt x="2829" y="373845"/>
                  </a:lnTo>
                  <a:lnTo>
                    <a:pt x="10544" y="385288"/>
                  </a:lnTo>
                  <a:lnTo>
                    <a:pt x="21987" y="393003"/>
                  </a:lnTo>
                  <a:lnTo>
                    <a:pt x="36000" y="395832"/>
                  </a:lnTo>
                  <a:lnTo>
                    <a:pt x="5724074" y="395832"/>
                  </a:lnTo>
                  <a:lnTo>
                    <a:pt x="5738087" y="393003"/>
                  </a:lnTo>
                  <a:lnTo>
                    <a:pt x="5749530" y="385288"/>
                  </a:lnTo>
                  <a:lnTo>
                    <a:pt x="5757245" y="373845"/>
                  </a:lnTo>
                  <a:lnTo>
                    <a:pt x="5760074" y="35983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9233689"/>
              <a:ext cx="5760085" cy="396240"/>
            </a:xfrm>
            <a:custGeom>
              <a:avLst/>
              <a:gdLst/>
              <a:ahLst/>
              <a:cxnLst/>
              <a:rect l="l" t="t" r="r" b="b"/>
              <a:pathLst>
                <a:path w="5760084" h="396240">
                  <a:moveTo>
                    <a:pt x="5724074" y="0"/>
                  </a:moveTo>
                  <a:lnTo>
                    <a:pt x="36000" y="0"/>
                  </a:lnTo>
                  <a:lnTo>
                    <a:pt x="21987" y="2829"/>
                  </a:lnTo>
                  <a:lnTo>
                    <a:pt x="10544" y="10544"/>
                  </a:lnTo>
                  <a:lnTo>
                    <a:pt x="2829" y="21987"/>
                  </a:lnTo>
                  <a:lnTo>
                    <a:pt x="0" y="36000"/>
                  </a:lnTo>
                  <a:lnTo>
                    <a:pt x="0" y="359832"/>
                  </a:lnTo>
                  <a:lnTo>
                    <a:pt x="2829" y="373845"/>
                  </a:lnTo>
                  <a:lnTo>
                    <a:pt x="10544" y="385288"/>
                  </a:lnTo>
                  <a:lnTo>
                    <a:pt x="21987" y="393003"/>
                  </a:lnTo>
                  <a:lnTo>
                    <a:pt x="36000" y="395832"/>
                  </a:lnTo>
                  <a:lnTo>
                    <a:pt x="5724074" y="395832"/>
                  </a:lnTo>
                  <a:lnTo>
                    <a:pt x="5738087" y="393003"/>
                  </a:lnTo>
                  <a:lnTo>
                    <a:pt x="5749530" y="385288"/>
                  </a:lnTo>
                  <a:lnTo>
                    <a:pt x="5757245" y="373845"/>
                  </a:lnTo>
                  <a:lnTo>
                    <a:pt x="5760074" y="35983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7" name="object 17" descr=""/>
          <p:cNvSpPr txBox="1"/>
          <p:nvPr/>
        </p:nvSpPr>
        <p:spPr>
          <a:xfrm>
            <a:off x="887298" y="7131246"/>
            <a:ext cx="5795010" cy="2414270"/>
          </a:xfrm>
          <a:prstGeom prst="rect">
            <a:avLst/>
          </a:prstGeom>
        </p:spPr>
        <p:txBody>
          <a:bodyPr wrap="square" lIns="0" tIns="12700" rIns="0" bIns="0" rtlCol="0" vert="horz">
            <a:spAutoFit/>
          </a:bodyPr>
          <a:lstStyle/>
          <a:p>
            <a:pPr algn="just" marL="12700" marR="5080" indent="252729">
              <a:lnSpc>
                <a:spcPct val="129500"/>
              </a:lnSpc>
              <a:spcBef>
                <a:spcPts val="100"/>
              </a:spcBef>
            </a:pPr>
            <a:r>
              <a:rPr dirty="0" sz="1000" spc="-20">
                <a:latin typeface="Times New Roman"/>
                <a:cs typeface="Times New Roman"/>
              </a:rPr>
              <a:t>Table</a:t>
            </a:r>
            <a:r>
              <a:rPr dirty="0" sz="1000" spc="30">
                <a:latin typeface="Times New Roman"/>
                <a:cs typeface="Times New Roman"/>
              </a:rPr>
              <a:t> </a:t>
            </a:r>
            <a:r>
              <a:rPr dirty="0" sz="1000">
                <a:latin typeface="Times New Roman"/>
                <a:cs typeface="Times New Roman"/>
              </a:rPr>
              <a:t>1.</a:t>
            </a:r>
            <a:r>
              <a:rPr dirty="0" sz="1000" spc="295">
                <a:latin typeface="Times New Roman"/>
                <a:cs typeface="Times New Roman"/>
              </a:rPr>
              <a:t> </a:t>
            </a:r>
            <a:r>
              <a:rPr dirty="0" sz="1000">
                <a:latin typeface="Times New Roman"/>
                <a:cs typeface="Times New Roman"/>
              </a:rPr>
              <a:t>Comparison</a:t>
            </a:r>
            <a:r>
              <a:rPr dirty="0" sz="1000" spc="45">
                <a:latin typeface="Times New Roman"/>
                <a:cs typeface="Times New Roman"/>
              </a:rPr>
              <a:t> </a:t>
            </a:r>
            <a:r>
              <a:rPr dirty="0" sz="1000">
                <a:latin typeface="Times New Roman"/>
                <a:cs typeface="Times New Roman"/>
              </a:rPr>
              <a:t>with</a:t>
            </a:r>
            <a:r>
              <a:rPr dirty="0" sz="1000" spc="45">
                <a:latin typeface="Times New Roman"/>
                <a:cs typeface="Times New Roman"/>
              </a:rPr>
              <a:t> </a:t>
            </a:r>
            <a:r>
              <a:rPr dirty="0" sz="1000">
                <a:latin typeface="Times New Roman"/>
                <a:cs typeface="Times New Roman"/>
              </a:rPr>
              <a:t>existing</a:t>
            </a:r>
            <a:r>
              <a:rPr dirty="0" sz="1000" spc="35">
                <a:latin typeface="Times New Roman"/>
                <a:cs typeface="Times New Roman"/>
              </a:rPr>
              <a:t> </a:t>
            </a:r>
            <a:r>
              <a:rPr dirty="0" sz="1000">
                <a:latin typeface="Times New Roman"/>
                <a:cs typeface="Times New Roman"/>
              </a:rPr>
              <a:t>modulation</a:t>
            </a:r>
            <a:r>
              <a:rPr dirty="0" sz="1000" spc="45">
                <a:latin typeface="Times New Roman"/>
                <a:cs typeface="Times New Roman"/>
              </a:rPr>
              <a:t> </a:t>
            </a:r>
            <a:r>
              <a:rPr dirty="0" sz="1000">
                <a:latin typeface="Times New Roman"/>
                <a:cs typeface="Times New Roman"/>
              </a:rPr>
              <a:t>strategies</a:t>
            </a:r>
            <a:r>
              <a:rPr dirty="0" sz="1000" spc="45">
                <a:latin typeface="Times New Roman"/>
                <a:cs typeface="Times New Roman"/>
              </a:rPr>
              <a:t> </a:t>
            </a:r>
            <a:r>
              <a:rPr dirty="0" sz="1000">
                <a:latin typeface="Times New Roman"/>
                <a:cs typeface="Times New Roman"/>
              </a:rPr>
              <a:t>on</a:t>
            </a:r>
            <a:r>
              <a:rPr dirty="0" sz="1000" spc="45">
                <a:latin typeface="Times New Roman"/>
                <a:cs typeface="Times New Roman"/>
              </a:rPr>
              <a:t> </a:t>
            </a:r>
            <a:r>
              <a:rPr dirty="0" sz="1000" spc="-10">
                <a:latin typeface="Times New Roman"/>
                <a:cs typeface="Times New Roman"/>
              </a:rPr>
              <a:t>CREMA-</a:t>
            </a:r>
            <a:r>
              <a:rPr dirty="0" sz="1000" spc="-110">
                <a:latin typeface="Times New Roman"/>
                <a:cs typeface="Times New Roman"/>
              </a:rPr>
              <a:t>D,</a:t>
            </a:r>
            <a:r>
              <a:rPr dirty="0" sz="1000" spc="45">
                <a:latin typeface="Times New Roman"/>
                <a:cs typeface="Times New Roman"/>
              </a:rPr>
              <a:t> </a:t>
            </a:r>
            <a:r>
              <a:rPr dirty="0" sz="1000">
                <a:latin typeface="Times New Roman"/>
                <a:cs typeface="Times New Roman"/>
              </a:rPr>
              <a:t>Kinetics-Sounds,</a:t>
            </a:r>
            <a:r>
              <a:rPr dirty="0" sz="1000" spc="75">
                <a:latin typeface="Times New Roman"/>
                <a:cs typeface="Times New Roman"/>
              </a:rPr>
              <a:t> </a:t>
            </a:r>
            <a:r>
              <a:rPr dirty="0" sz="1000">
                <a:latin typeface="Times New Roman"/>
                <a:cs typeface="Times New Roman"/>
              </a:rPr>
              <a:t>and</a:t>
            </a:r>
            <a:r>
              <a:rPr dirty="0" sz="1000" spc="45">
                <a:latin typeface="Times New Roman"/>
                <a:cs typeface="Times New Roman"/>
              </a:rPr>
              <a:t> </a:t>
            </a:r>
            <a:r>
              <a:rPr dirty="0" sz="1000" spc="-10">
                <a:latin typeface="Times New Roman"/>
                <a:cs typeface="Times New Roman"/>
              </a:rPr>
              <a:t>VGGSound </a:t>
            </a:r>
            <a:r>
              <a:rPr dirty="0" sz="1000">
                <a:latin typeface="Times New Roman"/>
                <a:cs typeface="Times New Roman"/>
              </a:rPr>
              <a:t>datasets.</a:t>
            </a:r>
            <a:r>
              <a:rPr dirty="0" sz="1000" spc="215">
                <a:latin typeface="Times New Roman"/>
                <a:cs typeface="Times New Roman"/>
              </a:rPr>
              <a:t> </a:t>
            </a:r>
            <a:r>
              <a:rPr dirty="0" sz="1000">
                <a:latin typeface="Times New Roman"/>
                <a:cs typeface="Times New Roman"/>
              </a:rPr>
              <a:t>Bold</a:t>
            </a:r>
            <a:r>
              <a:rPr dirty="0" sz="1000" spc="50">
                <a:latin typeface="Times New Roman"/>
                <a:cs typeface="Times New Roman"/>
              </a:rPr>
              <a:t> </a:t>
            </a:r>
            <a:r>
              <a:rPr dirty="0" sz="1000">
                <a:latin typeface="Times New Roman"/>
                <a:cs typeface="Times New Roman"/>
              </a:rPr>
              <a:t>and</a:t>
            </a:r>
            <a:r>
              <a:rPr dirty="0" sz="1000" spc="50">
                <a:latin typeface="Times New Roman"/>
                <a:cs typeface="Times New Roman"/>
              </a:rPr>
              <a:t> </a:t>
            </a:r>
            <a:r>
              <a:rPr dirty="0" sz="1000">
                <a:latin typeface="Times New Roman"/>
                <a:cs typeface="Times New Roman"/>
              </a:rPr>
              <a:t>underline</a:t>
            </a:r>
            <a:r>
              <a:rPr dirty="0" sz="1000" spc="50">
                <a:latin typeface="Times New Roman"/>
                <a:cs typeface="Times New Roman"/>
              </a:rPr>
              <a:t> </a:t>
            </a:r>
            <a:r>
              <a:rPr dirty="0" sz="1000">
                <a:latin typeface="Times New Roman"/>
                <a:cs typeface="Times New Roman"/>
              </a:rPr>
              <a:t>mean</a:t>
            </a:r>
            <a:r>
              <a:rPr dirty="0" sz="1000" spc="50">
                <a:latin typeface="Times New Roman"/>
                <a:cs typeface="Times New Roman"/>
              </a:rPr>
              <a:t> </a:t>
            </a:r>
            <a:r>
              <a:rPr dirty="0" sz="1000">
                <a:latin typeface="Times New Roman"/>
                <a:cs typeface="Times New Roman"/>
              </a:rPr>
              <a:t>the</a:t>
            </a:r>
            <a:r>
              <a:rPr dirty="0" sz="1000" spc="50">
                <a:latin typeface="Times New Roman"/>
                <a:cs typeface="Times New Roman"/>
              </a:rPr>
              <a:t> </a:t>
            </a:r>
            <a:r>
              <a:rPr dirty="0" sz="1000">
                <a:latin typeface="Times New Roman"/>
                <a:cs typeface="Times New Roman"/>
              </a:rPr>
              <a:t>best</a:t>
            </a:r>
            <a:r>
              <a:rPr dirty="0" sz="1000" spc="50">
                <a:latin typeface="Times New Roman"/>
                <a:cs typeface="Times New Roman"/>
              </a:rPr>
              <a:t> </a:t>
            </a:r>
            <a:r>
              <a:rPr dirty="0" sz="1000">
                <a:latin typeface="Times New Roman"/>
                <a:cs typeface="Times New Roman"/>
              </a:rPr>
              <a:t>and</a:t>
            </a:r>
            <a:r>
              <a:rPr dirty="0" sz="1000" spc="50">
                <a:latin typeface="Times New Roman"/>
                <a:cs typeface="Times New Roman"/>
              </a:rPr>
              <a:t> </a:t>
            </a:r>
            <a:r>
              <a:rPr dirty="0" sz="1000">
                <a:latin typeface="Times New Roman"/>
                <a:cs typeface="Times New Roman"/>
              </a:rPr>
              <a:t>second-best</a:t>
            </a:r>
            <a:r>
              <a:rPr dirty="0" sz="1000" spc="50">
                <a:latin typeface="Times New Roman"/>
                <a:cs typeface="Times New Roman"/>
              </a:rPr>
              <a:t> </a:t>
            </a:r>
            <a:r>
              <a:rPr dirty="0" sz="1000">
                <a:latin typeface="Times New Roman"/>
                <a:cs typeface="Times New Roman"/>
              </a:rPr>
              <a:t>results,</a:t>
            </a:r>
            <a:r>
              <a:rPr dirty="0" sz="1000" spc="55">
                <a:latin typeface="Times New Roman"/>
                <a:cs typeface="Times New Roman"/>
              </a:rPr>
              <a:t> </a:t>
            </a:r>
            <a:r>
              <a:rPr dirty="0" sz="1000">
                <a:latin typeface="Times New Roman"/>
                <a:cs typeface="Times New Roman"/>
              </a:rPr>
              <a:t>respectively.</a:t>
            </a:r>
            <a:r>
              <a:rPr dirty="0" sz="1000" spc="215">
                <a:latin typeface="Times New Roman"/>
                <a:cs typeface="Times New Roman"/>
              </a:rPr>
              <a:t> </a:t>
            </a:r>
            <a:r>
              <a:rPr dirty="0" sz="1000">
                <a:latin typeface="Times New Roman"/>
                <a:cs typeface="Times New Roman"/>
              </a:rPr>
              <a:t>The</a:t>
            </a:r>
            <a:r>
              <a:rPr dirty="0" sz="1000" spc="50">
                <a:latin typeface="Times New Roman"/>
                <a:cs typeface="Times New Roman"/>
              </a:rPr>
              <a:t> </a:t>
            </a:r>
            <a:r>
              <a:rPr dirty="0" sz="1000">
                <a:latin typeface="Times New Roman"/>
                <a:cs typeface="Times New Roman"/>
              </a:rPr>
              <a:t>proposed</a:t>
            </a:r>
            <a:r>
              <a:rPr dirty="0" sz="1000" spc="50">
                <a:latin typeface="Times New Roman"/>
                <a:cs typeface="Times New Roman"/>
              </a:rPr>
              <a:t> </a:t>
            </a:r>
            <a:r>
              <a:rPr dirty="0" sz="1000" spc="-20">
                <a:latin typeface="Times New Roman"/>
                <a:cs typeface="Times New Roman"/>
              </a:rPr>
              <a:t>DGL</a:t>
            </a:r>
            <a:r>
              <a:rPr dirty="0" sz="1000" spc="50">
                <a:latin typeface="Times New Roman"/>
                <a:cs typeface="Times New Roman"/>
              </a:rPr>
              <a:t> </a:t>
            </a:r>
            <a:r>
              <a:rPr dirty="0" sz="1000" spc="-10">
                <a:latin typeface="Times New Roman"/>
                <a:cs typeface="Times New Roman"/>
              </a:rPr>
              <a:t>achieves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best</a:t>
            </a:r>
            <a:r>
              <a:rPr dirty="0" sz="1000" spc="85">
                <a:latin typeface="Times New Roman"/>
                <a:cs typeface="Times New Roman"/>
              </a:rPr>
              <a:t> </a:t>
            </a:r>
            <a:r>
              <a:rPr dirty="0" sz="1000" spc="10">
                <a:latin typeface="Times New Roman"/>
                <a:cs typeface="Times New Roman"/>
              </a:rPr>
              <a:t>performance</a:t>
            </a:r>
            <a:r>
              <a:rPr dirty="0" sz="1000" spc="80">
                <a:latin typeface="Times New Roman"/>
                <a:cs typeface="Times New Roman"/>
              </a:rPr>
              <a:t> </a:t>
            </a:r>
            <a:r>
              <a:rPr dirty="0" sz="1000" spc="10">
                <a:latin typeface="Times New Roman"/>
                <a:cs typeface="Times New Roman"/>
              </a:rPr>
              <a:t>in</a:t>
            </a:r>
            <a:r>
              <a:rPr dirty="0" sz="1000" spc="85">
                <a:latin typeface="Times New Roman"/>
                <a:cs typeface="Times New Roman"/>
              </a:rPr>
              <a:t> </a:t>
            </a:r>
            <a:r>
              <a:rPr dirty="0" sz="1000" spc="10">
                <a:latin typeface="Times New Roman"/>
                <a:cs typeface="Times New Roman"/>
              </a:rPr>
              <a:t>both</a:t>
            </a:r>
            <a:r>
              <a:rPr dirty="0" sz="1000" spc="85">
                <a:latin typeface="Times New Roman"/>
                <a:cs typeface="Times New Roman"/>
              </a:rPr>
              <a:t> </a:t>
            </a:r>
            <a:r>
              <a:rPr dirty="0" sz="1000" spc="10">
                <a:latin typeface="Times New Roman"/>
                <a:cs typeface="Times New Roman"/>
              </a:rPr>
              <a:t>unimodal</a:t>
            </a:r>
            <a:r>
              <a:rPr dirty="0" sz="1000" spc="80">
                <a:latin typeface="Times New Roman"/>
                <a:cs typeface="Times New Roman"/>
              </a:rPr>
              <a:t> </a:t>
            </a:r>
            <a:r>
              <a:rPr dirty="0" sz="1000" spc="10">
                <a:latin typeface="Times New Roman"/>
                <a:cs typeface="Times New Roman"/>
              </a:rPr>
              <a:t>and</a:t>
            </a:r>
            <a:r>
              <a:rPr dirty="0" sz="1000" spc="85">
                <a:latin typeface="Times New Roman"/>
                <a:cs typeface="Times New Roman"/>
              </a:rPr>
              <a:t> </a:t>
            </a:r>
            <a:r>
              <a:rPr dirty="0" sz="1000" spc="10">
                <a:latin typeface="Times New Roman"/>
                <a:cs typeface="Times New Roman"/>
              </a:rPr>
              <a:t>multimodal</a:t>
            </a:r>
            <a:r>
              <a:rPr dirty="0" sz="1000" spc="80">
                <a:latin typeface="Times New Roman"/>
                <a:cs typeface="Times New Roman"/>
              </a:rPr>
              <a:t> </a:t>
            </a:r>
            <a:r>
              <a:rPr dirty="0" sz="1000" spc="10">
                <a:latin typeface="Times New Roman"/>
                <a:cs typeface="Times New Roman"/>
              </a:rPr>
              <a:t>performance</a:t>
            </a:r>
            <a:r>
              <a:rPr dirty="0" sz="1000" spc="85">
                <a:latin typeface="Times New Roman"/>
                <a:cs typeface="Times New Roman"/>
              </a:rPr>
              <a:t> </a:t>
            </a:r>
            <a:r>
              <a:rPr dirty="0" sz="1000" spc="10">
                <a:latin typeface="Times New Roman"/>
                <a:cs typeface="Times New Roman"/>
              </a:rPr>
              <a:t>comparisons.</a:t>
            </a:r>
            <a:r>
              <a:rPr dirty="0" sz="1000" spc="200">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metric</a:t>
            </a:r>
            <a:r>
              <a:rPr dirty="0" sz="1000" spc="85">
                <a:latin typeface="Times New Roman"/>
                <a:cs typeface="Times New Roman"/>
              </a:rPr>
              <a:t> </a:t>
            </a:r>
            <a:r>
              <a:rPr dirty="0" sz="1000" spc="10">
                <a:latin typeface="Times New Roman"/>
                <a:cs typeface="Times New Roman"/>
              </a:rPr>
              <a:t>is</a:t>
            </a:r>
            <a:r>
              <a:rPr dirty="0" sz="1000" spc="80">
                <a:latin typeface="Times New Roman"/>
                <a:cs typeface="Times New Roman"/>
              </a:rPr>
              <a:t> </a:t>
            </a:r>
            <a:r>
              <a:rPr dirty="0" sz="1000" spc="-10">
                <a:latin typeface="Times New Roman"/>
                <a:cs typeface="Times New Roman"/>
              </a:rPr>
              <a:t>accuracy.</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93675">
              <a:lnSpc>
                <a:spcPct val="129500"/>
              </a:lnSpc>
              <a:spcBef>
                <a:spcPts val="5"/>
              </a:spcBef>
            </a:pPr>
            <a:r>
              <a:rPr dirty="0" sz="1000" spc="-135">
                <a:latin typeface="SimSun"/>
                <a:cs typeface="SimSun"/>
              </a:rPr>
              <a:t>表 </a:t>
            </a:r>
            <a:r>
              <a:rPr dirty="0" sz="1000" spc="-10">
                <a:latin typeface="Times New Roman"/>
                <a:cs typeface="Times New Roman"/>
              </a:rPr>
              <a:t>1.</a:t>
            </a:r>
            <a:r>
              <a:rPr dirty="0" sz="1000" spc="100">
                <a:latin typeface="Times New Roman"/>
                <a:cs typeface="Times New Roman"/>
              </a:rPr>
              <a:t> </a:t>
            </a:r>
            <a:r>
              <a:rPr dirty="0" sz="1000" spc="235">
                <a:latin typeface="SimSun"/>
                <a:cs typeface="SimSun"/>
              </a:rPr>
              <a:t>在</a:t>
            </a:r>
            <a:r>
              <a:rPr dirty="0" sz="1000" spc="-5">
                <a:latin typeface="Times New Roman"/>
                <a:cs typeface="Times New Roman"/>
              </a:rPr>
              <a:t>CREMA-</a:t>
            </a:r>
            <a:r>
              <a:rPr dirty="0" sz="1000" spc="-30">
                <a:latin typeface="Times New Roman"/>
                <a:cs typeface="Times New Roman"/>
              </a:rPr>
              <a:t>D</a:t>
            </a:r>
            <a:r>
              <a:rPr dirty="0" sz="1000" spc="-15">
                <a:latin typeface="SimSun"/>
                <a:cs typeface="SimSun"/>
              </a:rPr>
              <a:t>、</a:t>
            </a:r>
            <a:r>
              <a:rPr dirty="0" sz="1000" spc="5">
                <a:latin typeface="Times New Roman"/>
                <a:cs typeface="Times New Roman"/>
              </a:rPr>
              <a:t>Kinetics-</a:t>
            </a:r>
            <a:r>
              <a:rPr dirty="0" sz="1000" spc="20">
                <a:latin typeface="Times New Roman"/>
                <a:cs typeface="Times New Roman"/>
              </a:rPr>
              <a:t>Sounds</a:t>
            </a:r>
            <a:r>
              <a:rPr dirty="0" sz="1000" spc="-5">
                <a:latin typeface="Times New Roman"/>
                <a:cs typeface="Times New Roman"/>
              </a:rPr>
              <a:t> </a:t>
            </a:r>
            <a:r>
              <a:rPr dirty="0" sz="1000" spc="235">
                <a:latin typeface="SimSun"/>
                <a:cs typeface="SimSun"/>
              </a:rPr>
              <a:t>和</a:t>
            </a:r>
            <a:r>
              <a:rPr dirty="0" sz="1000">
                <a:latin typeface="Times New Roman"/>
                <a:cs typeface="Times New Roman"/>
              </a:rPr>
              <a:t>VGGSound</a:t>
            </a:r>
            <a:r>
              <a:rPr dirty="0" sz="1000" spc="-5">
                <a:latin typeface="Times New Roman"/>
                <a:cs typeface="Times New Roman"/>
              </a:rPr>
              <a:t> </a:t>
            </a:r>
            <a:r>
              <a:rPr dirty="0" sz="1000" spc="-10">
                <a:latin typeface="SimSun"/>
                <a:cs typeface="SimSun"/>
              </a:rPr>
              <a:t>数据集上与现有调制策略的比较。加粗和下划</a:t>
            </a:r>
            <a:r>
              <a:rPr dirty="0" sz="1000">
                <a:latin typeface="SimSun"/>
                <a:cs typeface="SimSun"/>
              </a:rPr>
              <a:t>线分别表示最佳和次佳结果。所提出的</a:t>
            </a:r>
            <a:r>
              <a:rPr dirty="0" sz="1000" spc="-15">
                <a:latin typeface="Times New Roman"/>
                <a:cs typeface="Times New Roman"/>
              </a:rPr>
              <a:t>DGL</a:t>
            </a:r>
            <a:r>
              <a:rPr dirty="0" sz="1000" spc="-5">
                <a:latin typeface="Times New Roman"/>
                <a:cs typeface="Times New Roman"/>
              </a:rPr>
              <a:t> </a:t>
            </a:r>
            <a:r>
              <a:rPr dirty="0" sz="1000" spc="-10">
                <a:latin typeface="SimSun"/>
                <a:cs typeface="SimSun"/>
              </a:rPr>
              <a:t>在单模态和多模态性能比较中均取得了最佳性能。评估指标为准确率。</a:t>
            </a:r>
            <a:endParaRPr sz="1000">
              <a:latin typeface="SimSun"/>
              <a:cs typeface="SimSun"/>
            </a:endParaRPr>
          </a:p>
          <a:p>
            <a:pPr>
              <a:lnSpc>
                <a:spcPct val="100000"/>
              </a:lnSpc>
            </a:pPr>
            <a:endParaRPr sz="1000">
              <a:latin typeface="SimSun"/>
              <a:cs typeface="SimSun"/>
            </a:endParaRPr>
          </a:p>
          <a:p>
            <a:pPr>
              <a:lnSpc>
                <a:spcPct val="100000"/>
              </a:lnSpc>
              <a:spcBef>
                <a:spcPts val="280"/>
              </a:spcBef>
            </a:pPr>
            <a:endParaRPr sz="1000">
              <a:latin typeface="SimSun"/>
              <a:cs typeface="SimSun"/>
            </a:endParaRPr>
          </a:p>
          <a:p>
            <a:pPr marL="12700">
              <a:lnSpc>
                <a:spcPct val="100000"/>
              </a:lnSpc>
            </a:pPr>
            <a:r>
              <a:rPr dirty="0" sz="1400" b="1">
                <a:latin typeface="Times New Roman"/>
                <a:cs typeface="Times New Roman"/>
              </a:rPr>
              <a:t>4.</a:t>
            </a:r>
            <a:r>
              <a:rPr dirty="0" sz="1400" spc="125" b="1">
                <a:latin typeface="Times New Roman"/>
                <a:cs typeface="Times New Roman"/>
              </a:rPr>
              <a:t> </a:t>
            </a:r>
            <a:r>
              <a:rPr dirty="0" sz="1400" spc="45" b="1">
                <a:latin typeface="Times New Roman"/>
                <a:cs typeface="Times New Roman"/>
              </a:rPr>
              <a:t>Experiments</a:t>
            </a:r>
            <a:endParaRPr sz="1400">
              <a:latin typeface="Times New Roman"/>
              <a:cs typeface="Times New Roman"/>
            </a:endParaRPr>
          </a:p>
          <a:p>
            <a:pPr>
              <a:lnSpc>
                <a:spcPct val="100000"/>
              </a:lnSpc>
              <a:spcBef>
                <a:spcPts val="280"/>
              </a:spcBef>
            </a:pPr>
            <a:endParaRPr sz="1400">
              <a:latin typeface="Times New Roman"/>
              <a:cs typeface="Times New Roman"/>
            </a:endParaRPr>
          </a:p>
          <a:p>
            <a:pPr marL="192405">
              <a:lnSpc>
                <a:spcPct val="100000"/>
              </a:lnSpc>
            </a:pPr>
            <a:r>
              <a:rPr dirty="0" sz="1400" b="1">
                <a:latin typeface="Times New Roman"/>
                <a:cs typeface="Times New Roman"/>
              </a:rPr>
              <a:t>4.</a:t>
            </a:r>
            <a:r>
              <a:rPr dirty="0" sz="1400" spc="150" b="1">
                <a:latin typeface="Times New Roman"/>
                <a:cs typeface="Times New Roman"/>
              </a:rPr>
              <a:t> </a:t>
            </a:r>
            <a:r>
              <a:rPr dirty="0" sz="1400" spc="-25" b="1">
                <a:latin typeface="Microsoft JhengHei"/>
                <a:cs typeface="Microsoft JhengHei"/>
              </a:rPr>
              <a:t>实验</a:t>
            </a:r>
            <a:endParaRPr sz="1400">
              <a:latin typeface="Microsoft JhengHei"/>
              <a:cs typeface="Microsoft JhengHei"/>
            </a:endParaRPr>
          </a:p>
        </p:txBody>
      </p:sp>
      <p:sp>
        <p:nvSpPr>
          <p:cNvPr id="18" name="object 18"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179190"/>
            <a:ext cx="5760085" cy="388620"/>
            <a:chOff x="899998" y="1179190"/>
            <a:chExt cx="5760085" cy="388620"/>
          </a:xfrm>
        </p:grpSpPr>
        <p:sp>
          <p:nvSpPr>
            <p:cNvPr id="3" name="object 3" descr=""/>
            <p:cNvSpPr/>
            <p:nvPr/>
          </p:nvSpPr>
          <p:spPr>
            <a:xfrm>
              <a:off x="899998" y="1179190"/>
              <a:ext cx="5760085" cy="388620"/>
            </a:xfrm>
            <a:custGeom>
              <a:avLst/>
              <a:gdLst/>
              <a:ahLst/>
              <a:cxnLst/>
              <a:rect l="l" t="t" r="r" b="b"/>
              <a:pathLst>
                <a:path w="5760084" h="388619">
                  <a:moveTo>
                    <a:pt x="5724074" y="0"/>
                  </a:moveTo>
                  <a:lnTo>
                    <a:pt x="36000" y="0"/>
                  </a:lnTo>
                  <a:lnTo>
                    <a:pt x="21987" y="2829"/>
                  </a:lnTo>
                  <a:lnTo>
                    <a:pt x="10544" y="10544"/>
                  </a:lnTo>
                  <a:lnTo>
                    <a:pt x="2829" y="21987"/>
                  </a:lnTo>
                  <a:lnTo>
                    <a:pt x="0" y="36000"/>
                  </a:lnTo>
                  <a:lnTo>
                    <a:pt x="0" y="352179"/>
                  </a:lnTo>
                  <a:lnTo>
                    <a:pt x="2829" y="366192"/>
                  </a:lnTo>
                  <a:lnTo>
                    <a:pt x="10544" y="377635"/>
                  </a:lnTo>
                  <a:lnTo>
                    <a:pt x="21987" y="385350"/>
                  </a:lnTo>
                  <a:lnTo>
                    <a:pt x="36000" y="388179"/>
                  </a:lnTo>
                  <a:lnTo>
                    <a:pt x="5724074" y="388179"/>
                  </a:lnTo>
                  <a:lnTo>
                    <a:pt x="5738087" y="385350"/>
                  </a:lnTo>
                  <a:lnTo>
                    <a:pt x="5749530" y="377635"/>
                  </a:lnTo>
                  <a:lnTo>
                    <a:pt x="5757245" y="366192"/>
                  </a:lnTo>
                  <a:lnTo>
                    <a:pt x="5760074" y="35217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179190"/>
              <a:ext cx="5760085" cy="388620"/>
            </a:xfrm>
            <a:custGeom>
              <a:avLst/>
              <a:gdLst/>
              <a:ahLst/>
              <a:cxnLst/>
              <a:rect l="l" t="t" r="r" b="b"/>
              <a:pathLst>
                <a:path w="5760084" h="388619">
                  <a:moveTo>
                    <a:pt x="5724074" y="0"/>
                  </a:moveTo>
                  <a:lnTo>
                    <a:pt x="36000" y="0"/>
                  </a:lnTo>
                  <a:lnTo>
                    <a:pt x="21987" y="2829"/>
                  </a:lnTo>
                  <a:lnTo>
                    <a:pt x="10544" y="10544"/>
                  </a:lnTo>
                  <a:lnTo>
                    <a:pt x="2829" y="21987"/>
                  </a:lnTo>
                  <a:lnTo>
                    <a:pt x="0" y="36000"/>
                  </a:lnTo>
                  <a:lnTo>
                    <a:pt x="0" y="352179"/>
                  </a:lnTo>
                  <a:lnTo>
                    <a:pt x="2829" y="366192"/>
                  </a:lnTo>
                  <a:lnTo>
                    <a:pt x="10544" y="377635"/>
                  </a:lnTo>
                  <a:lnTo>
                    <a:pt x="21987" y="385350"/>
                  </a:lnTo>
                  <a:lnTo>
                    <a:pt x="36000" y="388179"/>
                  </a:lnTo>
                  <a:lnTo>
                    <a:pt x="5724074" y="388179"/>
                  </a:lnTo>
                  <a:lnTo>
                    <a:pt x="5738087" y="385350"/>
                  </a:lnTo>
                  <a:lnTo>
                    <a:pt x="5749530" y="377635"/>
                  </a:lnTo>
                  <a:lnTo>
                    <a:pt x="5757245" y="366192"/>
                  </a:lnTo>
                  <a:lnTo>
                    <a:pt x="5760074" y="35217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356881"/>
            <a:ext cx="5760085" cy="730250"/>
            <a:chOff x="899998" y="2356881"/>
            <a:chExt cx="5760085" cy="730250"/>
          </a:xfrm>
        </p:grpSpPr>
        <p:sp>
          <p:nvSpPr>
            <p:cNvPr id="6" name="object 6" descr=""/>
            <p:cNvSpPr/>
            <p:nvPr/>
          </p:nvSpPr>
          <p:spPr>
            <a:xfrm>
              <a:off x="899998" y="2356881"/>
              <a:ext cx="5760085" cy="730250"/>
            </a:xfrm>
            <a:custGeom>
              <a:avLst/>
              <a:gdLst/>
              <a:ahLst/>
              <a:cxnLst/>
              <a:rect l="l" t="t" r="r" b="b"/>
              <a:pathLst>
                <a:path w="5760084" h="730250">
                  <a:moveTo>
                    <a:pt x="5724074" y="0"/>
                  </a:moveTo>
                  <a:lnTo>
                    <a:pt x="36000" y="0"/>
                  </a:lnTo>
                  <a:lnTo>
                    <a:pt x="21987" y="2829"/>
                  </a:lnTo>
                  <a:lnTo>
                    <a:pt x="10544" y="10544"/>
                  </a:lnTo>
                  <a:lnTo>
                    <a:pt x="2829" y="21987"/>
                  </a:lnTo>
                  <a:lnTo>
                    <a:pt x="0" y="36000"/>
                  </a:lnTo>
                  <a:lnTo>
                    <a:pt x="0" y="694082"/>
                  </a:lnTo>
                  <a:lnTo>
                    <a:pt x="2829" y="708095"/>
                  </a:lnTo>
                  <a:lnTo>
                    <a:pt x="10544" y="719538"/>
                  </a:lnTo>
                  <a:lnTo>
                    <a:pt x="21987" y="727253"/>
                  </a:lnTo>
                  <a:lnTo>
                    <a:pt x="36000" y="730082"/>
                  </a:lnTo>
                  <a:lnTo>
                    <a:pt x="5724074" y="730082"/>
                  </a:lnTo>
                  <a:lnTo>
                    <a:pt x="5738087" y="727253"/>
                  </a:lnTo>
                  <a:lnTo>
                    <a:pt x="5749530" y="719538"/>
                  </a:lnTo>
                  <a:lnTo>
                    <a:pt x="5757245" y="708095"/>
                  </a:lnTo>
                  <a:lnTo>
                    <a:pt x="5760074" y="69408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356881"/>
              <a:ext cx="5760085" cy="730250"/>
            </a:xfrm>
            <a:custGeom>
              <a:avLst/>
              <a:gdLst/>
              <a:ahLst/>
              <a:cxnLst/>
              <a:rect l="l" t="t" r="r" b="b"/>
              <a:pathLst>
                <a:path w="5760084" h="730250">
                  <a:moveTo>
                    <a:pt x="5724074" y="0"/>
                  </a:moveTo>
                  <a:lnTo>
                    <a:pt x="36000" y="0"/>
                  </a:lnTo>
                  <a:lnTo>
                    <a:pt x="21987" y="2829"/>
                  </a:lnTo>
                  <a:lnTo>
                    <a:pt x="10544" y="10544"/>
                  </a:lnTo>
                  <a:lnTo>
                    <a:pt x="2829" y="21987"/>
                  </a:lnTo>
                  <a:lnTo>
                    <a:pt x="0" y="36000"/>
                  </a:lnTo>
                  <a:lnTo>
                    <a:pt x="0" y="694082"/>
                  </a:lnTo>
                  <a:lnTo>
                    <a:pt x="2829" y="708095"/>
                  </a:lnTo>
                  <a:lnTo>
                    <a:pt x="10544" y="719538"/>
                  </a:lnTo>
                  <a:lnTo>
                    <a:pt x="21987" y="727253"/>
                  </a:lnTo>
                  <a:lnTo>
                    <a:pt x="36000" y="730082"/>
                  </a:lnTo>
                  <a:lnTo>
                    <a:pt x="5724074" y="730082"/>
                  </a:lnTo>
                  <a:lnTo>
                    <a:pt x="5738087" y="727253"/>
                  </a:lnTo>
                  <a:lnTo>
                    <a:pt x="5749530" y="719538"/>
                  </a:lnTo>
                  <a:lnTo>
                    <a:pt x="5757245" y="708095"/>
                  </a:lnTo>
                  <a:lnTo>
                    <a:pt x="5760074" y="69408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3876470"/>
            <a:ext cx="5760085" cy="742950"/>
            <a:chOff x="899998" y="3876470"/>
            <a:chExt cx="5760085" cy="742950"/>
          </a:xfrm>
        </p:grpSpPr>
        <p:sp>
          <p:nvSpPr>
            <p:cNvPr id="9" name="object 9" descr=""/>
            <p:cNvSpPr/>
            <p:nvPr/>
          </p:nvSpPr>
          <p:spPr>
            <a:xfrm>
              <a:off x="899998" y="3876470"/>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735"/>
                  </a:lnTo>
                  <a:lnTo>
                    <a:pt x="2829" y="720748"/>
                  </a:lnTo>
                  <a:lnTo>
                    <a:pt x="10544" y="732191"/>
                  </a:lnTo>
                  <a:lnTo>
                    <a:pt x="21987" y="739906"/>
                  </a:lnTo>
                  <a:lnTo>
                    <a:pt x="36000" y="742735"/>
                  </a:lnTo>
                  <a:lnTo>
                    <a:pt x="5724074" y="742735"/>
                  </a:lnTo>
                  <a:lnTo>
                    <a:pt x="5738087" y="739906"/>
                  </a:lnTo>
                  <a:lnTo>
                    <a:pt x="5749530" y="732191"/>
                  </a:lnTo>
                  <a:lnTo>
                    <a:pt x="5757245" y="720748"/>
                  </a:lnTo>
                  <a:lnTo>
                    <a:pt x="5760074" y="70673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3876470"/>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735"/>
                  </a:lnTo>
                  <a:lnTo>
                    <a:pt x="2829" y="720748"/>
                  </a:lnTo>
                  <a:lnTo>
                    <a:pt x="10544" y="732191"/>
                  </a:lnTo>
                  <a:lnTo>
                    <a:pt x="21987" y="739906"/>
                  </a:lnTo>
                  <a:lnTo>
                    <a:pt x="36000" y="742735"/>
                  </a:lnTo>
                  <a:lnTo>
                    <a:pt x="5724074" y="742735"/>
                  </a:lnTo>
                  <a:lnTo>
                    <a:pt x="5738087" y="739906"/>
                  </a:lnTo>
                  <a:lnTo>
                    <a:pt x="5749530" y="732191"/>
                  </a:lnTo>
                  <a:lnTo>
                    <a:pt x="5757245" y="720748"/>
                  </a:lnTo>
                  <a:lnTo>
                    <a:pt x="5760074" y="70673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5211341"/>
            <a:ext cx="5760085" cy="545465"/>
            <a:chOff x="899998" y="5211341"/>
            <a:chExt cx="5760085" cy="545465"/>
          </a:xfrm>
        </p:grpSpPr>
        <p:sp>
          <p:nvSpPr>
            <p:cNvPr id="12" name="object 12" descr=""/>
            <p:cNvSpPr/>
            <p:nvPr/>
          </p:nvSpPr>
          <p:spPr>
            <a:xfrm>
              <a:off x="899998" y="5211341"/>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5211341"/>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6940960"/>
            <a:ext cx="5760085" cy="931544"/>
            <a:chOff x="899998" y="6940960"/>
            <a:chExt cx="5760085" cy="931544"/>
          </a:xfrm>
        </p:grpSpPr>
        <p:sp>
          <p:nvSpPr>
            <p:cNvPr id="15" name="object 15" descr=""/>
            <p:cNvSpPr/>
            <p:nvPr/>
          </p:nvSpPr>
          <p:spPr>
            <a:xfrm>
              <a:off x="899998" y="6940960"/>
              <a:ext cx="5760085" cy="931544"/>
            </a:xfrm>
            <a:custGeom>
              <a:avLst/>
              <a:gdLst/>
              <a:ahLst/>
              <a:cxnLst/>
              <a:rect l="l" t="t" r="r" b="b"/>
              <a:pathLst>
                <a:path w="5760084" h="931545">
                  <a:moveTo>
                    <a:pt x="5724074" y="0"/>
                  </a:moveTo>
                  <a:lnTo>
                    <a:pt x="36000" y="0"/>
                  </a:lnTo>
                  <a:lnTo>
                    <a:pt x="21987" y="2829"/>
                  </a:lnTo>
                  <a:lnTo>
                    <a:pt x="10544" y="10544"/>
                  </a:lnTo>
                  <a:lnTo>
                    <a:pt x="2829" y="21987"/>
                  </a:lnTo>
                  <a:lnTo>
                    <a:pt x="0" y="36000"/>
                  </a:lnTo>
                  <a:lnTo>
                    <a:pt x="0" y="895260"/>
                  </a:lnTo>
                  <a:lnTo>
                    <a:pt x="2829" y="909273"/>
                  </a:lnTo>
                  <a:lnTo>
                    <a:pt x="10544" y="920717"/>
                  </a:lnTo>
                  <a:lnTo>
                    <a:pt x="21987" y="928432"/>
                  </a:lnTo>
                  <a:lnTo>
                    <a:pt x="36000" y="931261"/>
                  </a:lnTo>
                  <a:lnTo>
                    <a:pt x="5724074" y="931261"/>
                  </a:lnTo>
                  <a:lnTo>
                    <a:pt x="5738087" y="928432"/>
                  </a:lnTo>
                  <a:lnTo>
                    <a:pt x="5749530" y="920717"/>
                  </a:lnTo>
                  <a:lnTo>
                    <a:pt x="5757245" y="909273"/>
                  </a:lnTo>
                  <a:lnTo>
                    <a:pt x="5760074" y="89526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6940960"/>
              <a:ext cx="5760085" cy="931544"/>
            </a:xfrm>
            <a:custGeom>
              <a:avLst/>
              <a:gdLst/>
              <a:ahLst/>
              <a:cxnLst/>
              <a:rect l="l" t="t" r="r" b="b"/>
              <a:pathLst>
                <a:path w="5760084" h="931545">
                  <a:moveTo>
                    <a:pt x="5724074" y="0"/>
                  </a:moveTo>
                  <a:lnTo>
                    <a:pt x="36000" y="0"/>
                  </a:lnTo>
                  <a:lnTo>
                    <a:pt x="21987" y="2829"/>
                  </a:lnTo>
                  <a:lnTo>
                    <a:pt x="10544" y="10544"/>
                  </a:lnTo>
                  <a:lnTo>
                    <a:pt x="2829" y="21987"/>
                  </a:lnTo>
                  <a:lnTo>
                    <a:pt x="0" y="36000"/>
                  </a:lnTo>
                  <a:lnTo>
                    <a:pt x="0" y="895260"/>
                  </a:lnTo>
                  <a:lnTo>
                    <a:pt x="2829" y="909273"/>
                  </a:lnTo>
                  <a:lnTo>
                    <a:pt x="10544" y="920717"/>
                  </a:lnTo>
                  <a:lnTo>
                    <a:pt x="21987" y="928432"/>
                  </a:lnTo>
                  <a:lnTo>
                    <a:pt x="36000" y="931261"/>
                  </a:lnTo>
                  <a:lnTo>
                    <a:pt x="5724074" y="931261"/>
                  </a:lnTo>
                  <a:lnTo>
                    <a:pt x="5738087" y="928432"/>
                  </a:lnTo>
                  <a:lnTo>
                    <a:pt x="5749530" y="920717"/>
                  </a:lnTo>
                  <a:lnTo>
                    <a:pt x="5757245" y="909273"/>
                  </a:lnTo>
                  <a:lnTo>
                    <a:pt x="5760074" y="89526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8661733"/>
            <a:ext cx="5760085" cy="734060"/>
            <a:chOff x="899998" y="8661733"/>
            <a:chExt cx="5760085" cy="734060"/>
          </a:xfrm>
        </p:grpSpPr>
        <p:sp>
          <p:nvSpPr>
            <p:cNvPr id="18" name="object 18" descr=""/>
            <p:cNvSpPr/>
            <p:nvPr/>
          </p:nvSpPr>
          <p:spPr>
            <a:xfrm>
              <a:off x="899998" y="8661733"/>
              <a:ext cx="5760085" cy="734060"/>
            </a:xfrm>
            <a:custGeom>
              <a:avLst/>
              <a:gdLst/>
              <a:ahLst/>
              <a:cxnLst/>
              <a:rect l="l" t="t" r="r" b="b"/>
              <a:pathLst>
                <a:path w="5760084" h="734059">
                  <a:moveTo>
                    <a:pt x="5724074" y="0"/>
                  </a:moveTo>
                  <a:lnTo>
                    <a:pt x="36000" y="0"/>
                  </a:lnTo>
                  <a:lnTo>
                    <a:pt x="21987" y="2829"/>
                  </a:lnTo>
                  <a:lnTo>
                    <a:pt x="10544" y="10544"/>
                  </a:lnTo>
                  <a:lnTo>
                    <a:pt x="2829" y="21987"/>
                  </a:lnTo>
                  <a:lnTo>
                    <a:pt x="0" y="36000"/>
                  </a:lnTo>
                  <a:lnTo>
                    <a:pt x="0" y="697751"/>
                  </a:lnTo>
                  <a:lnTo>
                    <a:pt x="2829" y="711764"/>
                  </a:lnTo>
                  <a:lnTo>
                    <a:pt x="10544" y="723207"/>
                  </a:lnTo>
                  <a:lnTo>
                    <a:pt x="21987" y="730922"/>
                  </a:lnTo>
                  <a:lnTo>
                    <a:pt x="36000" y="733751"/>
                  </a:lnTo>
                  <a:lnTo>
                    <a:pt x="5724074" y="733751"/>
                  </a:lnTo>
                  <a:lnTo>
                    <a:pt x="5738087" y="730922"/>
                  </a:lnTo>
                  <a:lnTo>
                    <a:pt x="5749530" y="723207"/>
                  </a:lnTo>
                  <a:lnTo>
                    <a:pt x="5757245" y="711764"/>
                  </a:lnTo>
                  <a:lnTo>
                    <a:pt x="5760074" y="69775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8661733"/>
              <a:ext cx="5760085" cy="734060"/>
            </a:xfrm>
            <a:custGeom>
              <a:avLst/>
              <a:gdLst/>
              <a:ahLst/>
              <a:cxnLst/>
              <a:rect l="l" t="t" r="r" b="b"/>
              <a:pathLst>
                <a:path w="5760084" h="734059">
                  <a:moveTo>
                    <a:pt x="5724074" y="0"/>
                  </a:moveTo>
                  <a:lnTo>
                    <a:pt x="36000" y="0"/>
                  </a:lnTo>
                  <a:lnTo>
                    <a:pt x="21987" y="2829"/>
                  </a:lnTo>
                  <a:lnTo>
                    <a:pt x="10544" y="10544"/>
                  </a:lnTo>
                  <a:lnTo>
                    <a:pt x="2829" y="21987"/>
                  </a:lnTo>
                  <a:lnTo>
                    <a:pt x="0" y="36000"/>
                  </a:lnTo>
                  <a:lnTo>
                    <a:pt x="0" y="697751"/>
                  </a:lnTo>
                  <a:lnTo>
                    <a:pt x="2829" y="711764"/>
                  </a:lnTo>
                  <a:lnTo>
                    <a:pt x="10544" y="723207"/>
                  </a:lnTo>
                  <a:lnTo>
                    <a:pt x="21987" y="730922"/>
                  </a:lnTo>
                  <a:lnTo>
                    <a:pt x="36000" y="733751"/>
                  </a:lnTo>
                  <a:lnTo>
                    <a:pt x="5724074" y="733751"/>
                  </a:lnTo>
                  <a:lnTo>
                    <a:pt x="5738087" y="730922"/>
                  </a:lnTo>
                  <a:lnTo>
                    <a:pt x="5749530" y="723207"/>
                  </a:lnTo>
                  <a:lnTo>
                    <a:pt x="5757245" y="711764"/>
                  </a:lnTo>
                  <a:lnTo>
                    <a:pt x="5760074" y="69775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0" name="object 20" descr=""/>
          <p:cNvSpPr txBox="1"/>
          <p:nvPr/>
        </p:nvSpPr>
        <p:spPr>
          <a:xfrm>
            <a:off x="887298" y="831632"/>
            <a:ext cx="5785485" cy="8478520"/>
          </a:xfrm>
          <a:prstGeom prst="rect">
            <a:avLst/>
          </a:prstGeom>
        </p:spPr>
        <p:txBody>
          <a:bodyPr wrap="square" lIns="0" tIns="17145" rIns="0" bIns="0" rtlCol="0" vert="horz">
            <a:spAutoFit/>
          </a:bodyPr>
          <a:lstStyle/>
          <a:p>
            <a:pPr algn="r" marR="4733290">
              <a:lnSpc>
                <a:spcPct val="100000"/>
              </a:lnSpc>
              <a:spcBef>
                <a:spcPts val="135"/>
              </a:spcBef>
            </a:pPr>
            <a:r>
              <a:rPr dirty="0" sz="1400" b="1">
                <a:latin typeface="Times New Roman"/>
                <a:cs typeface="Times New Roman"/>
              </a:rPr>
              <a:t>4.1.</a:t>
            </a:r>
            <a:r>
              <a:rPr dirty="0" sz="1400" spc="155" b="1">
                <a:latin typeface="Times New Roman"/>
                <a:cs typeface="Times New Roman"/>
              </a:rPr>
              <a:t> </a:t>
            </a:r>
            <a:r>
              <a:rPr dirty="0" sz="1400" spc="40" b="1">
                <a:latin typeface="Times New Roman"/>
                <a:cs typeface="Times New Roman"/>
              </a:rPr>
              <a:t>Datasets</a:t>
            </a:r>
            <a:endParaRPr sz="1400">
              <a:latin typeface="Times New Roman"/>
              <a:cs typeface="Times New Roman"/>
            </a:endParaRPr>
          </a:p>
          <a:p>
            <a:pPr algn="r" marR="4704080">
              <a:lnSpc>
                <a:spcPct val="100000"/>
              </a:lnSpc>
              <a:spcBef>
                <a:spcPts val="1595"/>
              </a:spcBef>
            </a:pPr>
            <a:r>
              <a:rPr dirty="0" sz="1400" b="1">
                <a:latin typeface="Times New Roman"/>
                <a:cs typeface="Times New Roman"/>
              </a:rPr>
              <a:t>4.1.</a:t>
            </a:r>
            <a:r>
              <a:rPr dirty="0" sz="1400" spc="210" b="1">
                <a:latin typeface="Times New Roman"/>
                <a:cs typeface="Times New Roman"/>
              </a:rPr>
              <a:t> </a:t>
            </a:r>
            <a:r>
              <a:rPr dirty="0" sz="1400" spc="-20" b="1">
                <a:latin typeface="Microsoft JhengHei"/>
                <a:cs typeface="Microsoft JhengHei"/>
              </a:rPr>
              <a:t>数据集</a:t>
            </a:r>
            <a:endParaRPr sz="1400">
              <a:latin typeface="Microsoft JhengHei"/>
              <a:cs typeface="Microsoft JhengHei"/>
            </a:endParaRPr>
          </a:p>
          <a:p>
            <a:pPr algn="just" marL="12700" marR="5080" indent="252729">
              <a:lnSpc>
                <a:spcPct val="129500"/>
              </a:lnSpc>
              <a:spcBef>
                <a:spcPts val="1215"/>
              </a:spcBef>
            </a:pPr>
            <a:r>
              <a:rPr dirty="0" sz="1000" spc="-10">
                <a:latin typeface="Times New Roman"/>
                <a:cs typeface="Times New Roman"/>
              </a:rPr>
              <a:t>CREMA-</a:t>
            </a:r>
            <a:r>
              <a:rPr dirty="0" sz="1000">
                <a:latin typeface="Times New Roman"/>
                <a:cs typeface="Times New Roman"/>
              </a:rPr>
              <a:t>D</a:t>
            </a:r>
            <a:r>
              <a:rPr dirty="0" sz="1000" spc="70">
                <a:latin typeface="Times New Roman"/>
                <a:cs typeface="Times New Roman"/>
              </a:rPr>
              <a:t> </a:t>
            </a:r>
            <a:r>
              <a:rPr dirty="0" sz="1000">
                <a:latin typeface="Times New Roman"/>
                <a:cs typeface="Times New Roman"/>
              </a:rPr>
              <a:t>[3]</a:t>
            </a:r>
            <a:r>
              <a:rPr dirty="0" sz="1000" spc="75">
                <a:latin typeface="Times New Roman"/>
                <a:cs typeface="Times New Roman"/>
              </a:rPr>
              <a:t> </a:t>
            </a:r>
            <a:r>
              <a:rPr dirty="0" sz="1000">
                <a:latin typeface="Times New Roman"/>
                <a:cs typeface="Times New Roman"/>
              </a:rPr>
              <a:t>serves</a:t>
            </a:r>
            <a:r>
              <a:rPr dirty="0" sz="1000" spc="70">
                <a:latin typeface="Times New Roman"/>
                <a:cs typeface="Times New Roman"/>
              </a:rPr>
              <a:t> </a:t>
            </a:r>
            <a:r>
              <a:rPr dirty="0" sz="1000">
                <a:latin typeface="Times New Roman"/>
                <a:cs typeface="Times New Roman"/>
              </a:rPr>
              <a:t>as</a:t>
            </a:r>
            <a:r>
              <a:rPr dirty="0" sz="1000" spc="75">
                <a:latin typeface="Times New Roman"/>
                <a:cs typeface="Times New Roman"/>
              </a:rPr>
              <a:t> </a:t>
            </a:r>
            <a:r>
              <a:rPr dirty="0" sz="1000">
                <a:latin typeface="Times New Roman"/>
                <a:cs typeface="Times New Roman"/>
              </a:rPr>
              <a:t>an</a:t>
            </a:r>
            <a:r>
              <a:rPr dirty="0" sz="1000" spc="70">
                <a:latin typeface="Times New Roman"/>
                <a:cs typeface="Times New Roman"/>
              </a:rPr>
              <a:t> </a:t>
            </a:r>
            <a:r>
              <a:rPr dirty="0" sz="1000">
                <a:latin typeface="Times New Roman"/>
                <a:cs typeface="Times New Roman"/>
              </a:rPr>
              <a:t>audio-visual</a:t>
            </a:r>
            <a:r>
              <a:rPr dirty="0" sz="1000" spc="75">
                <a:latin typeface="Times New Roman"/>
                <a:cs typeface="Times New Roman"/>
              </a:rPr>
              <a:t> </a:t>
            </a:r>
            <a:r>
              <a:rPr dirty="0" sz="1000">
                <a:latin typeface="Times New Roman"/>
                <a:cs typeface="Times New Roman"/>
              </a:rPr>
              <a:t>dataset</a:t>
            </a:r>
            <a:r>
              <a:rPr dirty="0" sz="1000" spc="75">
                <a:latin typeface="Times New Roman"/>
                <a:cs typeface="Times New Roman"/>
              </a:rPr>
              <a:t> </a:t>
            </a:r>
            <a:r>
              <a:rPr dirty="0" sz="1000">
                <a:latin typeface="Times New Roman"/>
                <a:cs typeface="Times New Roman"/>
              </a:rPr>
              <a:t>crafted</a:t>
            </a:r>
            <a:r>
              <a:rPr dirty="0" sz="1000" spc="70">
                <a:latin typeface="Times New Roman"/>
                <a:cs typeface="Times New Roman"/>
              </a:rPr>
              <a:t> </a:t>
            </a:r>
            <a:r>
              <a:rPr dirty="0" sz="1000">
                <a:latin typeface="Times New Roman"/>
                <a:cs typeface="Times New Roman"/>
              </a:rPr>
              <a:t>for</a:t>
            </a:r>
            <a:r>
              <a:rPr dirty="0" sz="1000" spc="75">
                <a:latin typeface="Times New Roman"/>
                <a:cs typeface="Times New Roman"/>
              </a:rPr>
              <a:t> </a:t>
            </a:r>
            <a:r>
              <a:rPr dirty="0" sz="1000">
                <a:latin typeface="Times New Roman"/>
                <a:cs typeface="Times New Roman"/>
              </a:rPr>
              <a:t>speech</a:t>
            </a:r>
            <a:r>
              <a:rPr dirty="0" sz="1000" spc="70">
                <a:latin typeface="Times New Roman"/>
                <a:cs typeface="Times New Roman"/>
              </a:rPr>
              <a:t> </a:t>
            </a:r>
            <a:r>
              <a:rPr dirty="0" sz="1000">
                <a:latin typeface="Times New Roman"/>
                <a:cs typeface="Times New Roman"/>
              </a:rPr>
              <a:t>emotion</a:t>
            </a:r>
            <a:r>
              <a:rPr dirty="0" sz="1000" spc="75">
                <a:latin typeface="Times New Roman"/>
                <a:cs typeface="Times New Roman"/>
              </a:rPr>
              <a:t> </a:t>
            </a:r>
            <a:r>
              <a:rPr dirty="0" sz="1000">
                <a:latin typeface="Times New Roman"/>
                <a:cs typeface="Times New Roman"/>
              </a:rPr>
              <a:t>recognition.</a:t>
            </a:r>
            <a:r>
              <a:rPr dirty="0" sz="1000" spc="195">
                <a:latin typeface="Times New Roman"/>
                <a:cs typeface="Times New Roman"/>
              </a:rPr>
              <a:t> </a:t>
            </a:r>
            <a:r>
              <a:rPr dirty="0" sz="1000">
                <a:latin typeface="Times New Roman"/>
                <a:cs typeface="Times New Roman"/>
              </a:rPr>
              <a:t>It</a:t>
            </a:r>
            <a:r>
              <a:rPr dirty="0" sz="1000" spc="75">
                <a:latin typeface="Times New Roman"/>
                <a:cs typeface="Times New Roman"/>
              </a:rPr>
              <a:t> </a:t>
            </a:r>
            <a:r>
              <a:rPr dirty="0" sz="1000">
                <a:latin typeface="Times New Roman"/>
                <a:cs typeface="Times New Roman"/>
              </a:rPr>
              <a:t>contains</a:t>
            </a:r>
            <a:r>
              <a:rPr dirty="0" sz="1000" spc="75">
                <a:latin typeface="Times New Roman"/>
                <a:cs typeface="Times New Roman"/>
              </a:rPr>
              <a:t> </a:t>
            </a:r>
            <a:r>
              <a:rPr dirty="0" sz="1000" spc="-20">
                <a:latin typeface="Times New Roman"/>
                <a:cs typeface="Times New Roman"/>
              </a:rPr>
              <a:t>7442 </a:t>
            </a:r>
            <a:r>
              <a:rPr dirty="0" sz="1000">
                <a:latin typeface="Times New Roman"/>
                <a:cs typeface="Times New Roman"/>
              </a:rPr>
              <a:t>video</a:t>
            </a:r>
            <a:r>
              <a:rPr dirty="0" sz="1000" spc="114">
                <a:latin typeface="Times New Roman"/>
                <a:cs typeface="Times New Roman"/>
              </a:rPr>
              <a:t> </a:t>
            </a:r>
            <a:r>
              <a:rPr dirty="0" sz="1000">
                <a:latin typeface="Times New Roman"/>
                <a:cs typeface="Times New Roman"/>
              </a:rPr>
              <a:t>clips</a:t>
            </a:r>
            <a:r>
              <a:rPr dirty="0" sz="1000" spc="125">
                <a:latin typeface="Times New Roman"/>
                <a:cs typeface="Times New Roman"/>
              </a:rPr>
              <a:t> </a:t>
            </a:r>
            <a:r>
              <a:rPr dirty="0" sz="1000">
                <a:latin typeface="Times New Roman"/>
                <a:cs typeface="Times New Roman"/>
              </a:rPr>
              <a:t>of</a:t>
            </a:r>
            <a:r>
              <a:rPr dirty="0" sz="1000" spc="120">
                <a:latin typeface="Times New Roman"/>
                <a:cs typeface="Times New Roman"/>
              </a:rPr>
              <a:t> </a:t>
            </a:r>
            <a:r>
              <a:rPr dirty="0" sz="1000" spc="-20">
                <a:latin typeface="Times New Roman"/>
                <a:cs typeface="Times New Roman"/>
              </a:rPr>
              <a:t>2-</a:t>
            </a:r>
            <a:r>
              <a:rPr dirty="0" sz="1000">
                <a:latin typeface="Times New Roman"/>
                <a:cs typeface="Times New Roman"/>
              </a:rPr>
              <a:t>3</a:t>
            </a:r>
            <a:r>
              <a:rPr dirty="0" sz="1000" spc="125">
                <a:latin typeface="Times New Roman"/>
                <a:cs typeface="Times New Roman"/>
              </a:rPr>
              <a:t> </a:t>
            </a:r>
            <a:r>
              <a:rPr dirty="0" sz="1000">
                <a:latin typeface="Times New Roman"/>
                <a:cs typeface="Times New Roman"/>
              </a:rPr>
              <a:t>seconds</a:t>
            </a:r>
            <a:r>
              <a:rPr dirty="0" sz="1000" spc="114">
                <a:latin typeface="Times New Roman"/>
                <a:cs typeface="Times New Roman"/>
              </a:rPr>
              <a:t> </a:t>
            </a:r>
            <a:r>
              <a:rPr dirty="0" sz="1000">
                <a:latin typeface="Times New Roman"/>
                <a:cs typeface="Times New Roman"/>
              </a:rPr>
              <a:t>from</a:t>
            </a:r>
            <a:r>
              <a:rPr dirty="0" sz="1000" spc="120">
                <a:latin typeface="Times New Roman"/>
                <a:cs typeface="Times New Roman"/>
              </a:rPr>
              <a:t> </a:t>
            </a:r>
            <a:r>
              <a:rPr dirty="0" sz="1000">
                <a:latin typeface="Times New Roman"/>
                <a:cs typeface="Times New Roman"/>
              </a:rPr>
              <a:t>91</a:t>
            </a:r>
            <a:r>
              <a:rPr dirty="0" sz="1000" spc="120">
                <a:latin typeface="Times New Roman"/>
                <a:cs typeface="Times New Roman"/>
              </a:rPr>
              <a:t> </a:t>
            </a:r>
            <a:r>
              <a:rPr dirty="0" sz="1000">
                <a:latin typeface="Times New Roman"/>
                <a:cs typeface="Times New Roman"/>
              </a:rPr>
              <a:t>actors</a:t>
            </a:r>
            <a:r>
              <a:rPr dirty="0" sz="1000" spc="114">
                <a:latin typeface="Times New Roman"/>
                <a:cs typeface="Times New Roman"/>
              </a:rPr>
              <a:t> </a:t>
            </a:r>
            <a:r>
              <a:rPr dirty="0" sz="1000">
                <a:latin typeface="Times New Roman"/>
                <a:cs typeface="Times New Roman"/>
              </a:rPr>
              <a:t>for</a:t>
            </a:r>
            <a:r>
              <a:rPr dirty="0" sz="1000" spc="120">
                <a:latin typeface="Times New Roman"/>
                <a:cs typeface="Times New Roman"/>
              </a:rPr>
              <a:t> </a:t>
            </a:r>
            <a:r>
              <a:rPr dirty="0" sz="1000">
                <a:latin typeface="Times New Roman"/>
                <a:cs typeface="Times New Roman"/>
              </a:rPr>
              <a:t>6</a:t>
            </a:r>
            <a:r>
              <a:rPr dirty="0" sz="1000" spc="125">
                <a:latin typeface="Times New Roman"/>
                <a:cs typeface="Times New Roman"/>
              </a:rPr>
              <a:t> </a:t>
            </a:r>
            <a:r>
              <a:rPr dirty="0" sz="1000">
                <a:latin typeface="Times New Roman"/>
                <a:cs typeface="Times New Roman"/>
              </a:rPr>
              <a:t>emotions.</a:t>
            </a:r>
            <a:r>
              <a:rPr dirty="0" sz="1000" spc="385">
                <a:latin typeface="Times New Roman"/>
                <a:cs typeface="Times New Roman"/>
              </a:rPr>
              <a:t> </a:t>
            </a:r>
            <a:r>
              <a:rPr dirty="0" sz="1000">
                <a:latin typeface="Times New Roman"/>
                <a:cs typeface="Times New Roman"/>
              </a:rPr>
              <a:t>The</a:t>
            </a:r>
            <a:r>
              <a:rPr dirty="0" sz="1000" spc="125">
                <a:latin typeface="Times New Roman"/>
                <a:cs typeface="Times New Roman"/>
              </a:rPr>
              <a:t> </a:t>
            </a:r>
            <a:r>
              <a:rPr dirty="0" sz="1000">
                <a:latin typeface="Times New Roman"/>
                <a:cs typeface="Times New Roman"/>
              </a:rPr>
              <a:t>whole</a:t>
            </a:r>
            <a:r>
              <a:rPr dirty="0" sz="1000" spc="120">
                <a:latin typeface="Times New Roman"/>
                <a:cs typeface="Times New Roman"/>
              </a:rPr>
              <a:t> </a:t>
            </a:r>
            <a:r>
              <a:rPr dirty="0" sz="1000">
                <a:latin typeface="Times New Roman"/>
                <a:cs typeface="Times New Roman"/>
              </a:rPr>
              <a:t>dataset</a:t>
            </a:r>
            <a:r>
              <a:rPr dirty="0" sz="1000" spc="125">
                <a:latin typeface="Times New Roman"/>
                <a:cs typeface="Times New Roman"/>
              </a:rPr>
              <a:t> </a:t>
            </a:r>
            <a:r>
              <a:rPr dirty="0" sz="1000">
                <a:latin typeface="Times New Roman"/>
                <a:cs typeface="Times New Roman"/>
              </a:rPr>
              <a:t>is</a:t>
            </a:r>
            <a:r>
              <a:rPr dirty="0" sz="1000" spc="114">
                <a:latin typeface="Times New Roman"/>
                <a:cs typeface="Times New Roman"/>
              </a:rPr>
              <a:t> </a:t>
            </a:r>
            <a:r>
              <a:rPr dirty="0" sz="1000">
                <a:latin typeface="Times New Roman"/>
                <a:cs typeface="Times New Roman"/>
              </a:rPr>
              <a:t>randomly</a:t>
            </a:r>
            <a:r>
              <a:rPr dirty="0" sz="1000" spc="120">
                <a:latin typeface="Times New Roman"/>
                <a:cs typeface="Times New Roman"/>
              </a:rPr>
              <a:t> </a:t>
            </a:r>
            <a:r>
              <a:rPr dirty="0" sz="1000">
                <a:latin typeface="Times New Roman"/>
                <a:cs typeface="Times New Roman"/>
              </a:rPr>
              <a:t>divided</a:t>
            </a:r>
            <a:r>
              <a:rPr dirty="0" sz="1000" spc="120">
                <a:latin typeface="Times New Roman"/>
                <a:cs typeface="Times New Roman"/>
              </a:rPr>
              <a:t> </a:t>
            </a:r>
            <a:r>
              <a:rPr dirty="0" sz="1000">
                <a:latin typeface="Times New Roman"/>
                <a:cs typeface="Times New Roman"/>
              </a:rPr>
              <a:t>into</a:t>
            </a:r>
            <a:r>
              <a:rPr dirty="0" sz="1000" spc="114">
                <a:latin typeface="Times New Roman"/>
                <a:cs typeface="Times New Roman"/>
              </a:rPr>
              <a:t> </a:t>
            </a:r>
            <a:r>
              <a:rPr dirty="0" sz="1000" spc="-20">
                <a:latin typeface="Times New Roman"/>
                <a:cs typeface="Times New Roman"/>
              </a:rPr>
              <a:t>6698 </a:t>
            </a:r>
            <a:r>
              <a:rPr dirty="0" sz="1000" spc="10">
                <a:latin typeface="Times New Roman"/>
                <a:cs typeface="Times New Roman"/>
              </a:rPr>
              <a:t>samples</a:t>
            </a:r>
            <a:r>
              <a:rPr dirty="0" sz="1000" spc="45">
                <a:latin typeface="Times New Roman"/>
                <a:cs typeface="Times New Roman"/>
              </a:rPr>
              <a:t> </a:t>
            </a:r>
            <a:r>
              <a:rPr dirty="0" sz="1000" spc="10">
                <a:latin typeface="Times New Roman"/>
                <a:cs typeface="Times New Roman"/>
              </a:rPr>
              <a:t>as</a:t>
            </a:r>
            <a:r>
              <a:rPr dirty="0" sz="1000" spc="45">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training</a:t>
            </a:r>
            <a:r>
              <a:rPr dirty="0" sz="1000" spc="50">
                <a:latin typeface="Times New Roman"/>
                <a:cs typeface="Times New Roman"/>
              </a:rPr>
              <a:t> </a:t>
            </a:r>
            <a:r>
              <a:rPr dirty="0" sz="1000" spc="10">
                <a:latin typeface="Times New Roman"/>
                <a:cs typeface="Times New Roman"/>
              </a:rPr>
              <a:t>set</a:t>
            </a:r>
            <a:r>
              <a:rPr dirty="0" sz="1000" spc="45">
                <a:latin typeface="Times New Roman"/>
                <a:cs typeface="Times New Roman"/>
              </a:rPr>
              <a:t> </a:t>
            </a:r>
            <a:r>
              <a:rPr dirty="0" sz="1000" spc="10">
                <a:latin typeface="Times New Roman"/>
                <a:cs typeface="Times New Roman"/>
              </a:rPr>
              <a:t>and</a:t>
            </a:r>
            <a:r>
              <a:rPr dirty="0" sz="1000" spc="45">
                <a:latin typeface="Times New Roman"/>
                <a:cs typeface="Times New Roman"/>
              </a:rPr>
              <a:t> </a:t>
            </a:r>
            <a:r>
              <a:rPr dirty="0" sz="1000">
                <a:latin typeface="Times New Roman"/>
                <a:cs typeface="Times New Roman"/>
              </a:rPr>
              <a:t>744</a:t>
            </a:r>
            <a:r>
              <a:rPr dirty="0" sz="1000" spc="50">
                <a:latin typeface="Times New Roman"/>
                <a:cs typeface="Times New Roman"/>
              </a:rPr>
              <a:t> </a:t>
            </a:r>
            <a:r>
              <a:rPr dirty="0" sz="1000" spc="10">
                <a:latin typeface="Times New Roman"/>
                <a:cs typeface="Times New Roman"/>
              </a:rPr>
              <a:t>samples</a:t>
            </a:r>
            <a:r>
              <a:rPr dirty="0" sz="1000" spc="45">
                <a:latin typeface="Times New Roman"/>
                <a:cs typeface="Times New Roman"/>
              </a:rPr>
              <a:t> </a:t>
            </a:r>
            <a:r>
              <a:rPr dirty="0" sz="1000" spc="10">
                <a:latin typeface="Times New Roman"/>
                <a:cs typeface="Times New Roman"/>
              </a:rPr>
              <a:t>as</a:t>
            </a:r>
            <a:r>
              <a:rPr dirty="0" sz="1000" spc="45">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spc="10">
                <a:latin typeface="Times New Roman"/>
                <a:cs typeface="Times New Roman"/>
              </a:rPr>
              <a:t>testing</a:t>
            </a:r>
            <a:r>
              <a:rPr dirty="0" sz="1000" spc="45">
                <a:latin typeface="Times New Roman"/>
                <a:cs typeface="Times New Roman"/>
              </a:rPr>
              <a:t> </a:t>
            </a:r>
            <a:r>
              <a:rPr dirty="0" sz="1000" spc="-20">
                <a:latin typeface="Times New Roman"/>
                <a:cs typeface="Times New Roman"/>
              </a:rPr>
              <a:t>set.</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spc="-5">
                <a:latin typeface="Times New Roman"/>
                <a:cs typeface="Times New Roman"/>
              </a:rPr>
              <a:t>CREMA-</a:t>
            </a:r>
            <a:r>
              <a:rPr dirty="0" sz="1000" spc="-25">
                <a:latin typeface="Times New Roman"/>
                <a:cs typeface="Times New Roman"/>
              </a:rPr>
              <a:t>D</a:t>
            </a:r>
            <a:r>
              <a:rPr dirty="0" sz="1000" spc="15">
                <a:latin typeface="Times New Roman"/>
                <a:cs typeface="Times New Roman"/>
              </a:rPr>
              <a:t> </a:t>
            </a:r>
            <a:r>
              <a:rPr dirty="0" sz="1000">
                <a:latin typeface="Times New Roman"/>
                <a:cs typeface="Times New Roman"/>
              </a:rPr>
              <a:t>[3]</a:t>
            </a:r>
            <a:r>
              <a:rPr dirty="0" sz="1000" spc="20">
                <a:latin typeface="Times New Roman"/>
                <a:cs typeface="Times New Roman"/>
              </a:rPr>
              <a:t> </a:t>
            </a:r>
            <a:r>
              <a:rPr dirty="0" sz="1000" spc="-20">
                <a:latin typeface="SimSun"/>
                <a:cs typeface="SimSun"/>
              </a:rPr>
              <a:t>用作一个为语音情感识别精心构建的视听数据集。它包含来自 </a:t>
            </a:r>
            <a:r>
              <a:rPr dirty="0" sz="1000" spc="-10">
                <a:latin typeface="Times New Roman"/>
                <a:cs typeface="Times New Roman"/>
              </a:rPr>
              <a:t>91</a:t>
            </a:r>
            <a:r>
              <a:rPr dirty="0" sz="1000" spc="15">
                <a:latin typeface="Times New Roman"/>
                <a:cs typeface="Times New Roman"/>
              </a:rPr>
              <a:t> </a:t>
            </a:r>
            <a:r>
              <a:rPr dirty="0" sz="1000" spc="-50">
                <a:latin typeface="SimSun"/>
                <a:cs typeface="SimSun"/>
              </a:rPr>
              <a:t>名演员的 </a:t>
            </a:r>
            <a:r>
              <a:rPr dirty="0" sz="1000" spc="-10">
                <a:latin typeface="Times New Roman"/>
                <a:cs typeface="Times New Roman"/>
              </a:rPr>
              <a:t>7442</a:t>
            </a:r>
            <a:r>
              <a:rPr dirty="0" sz="1000" spc="15">
                <a:latin typeface="Times New Roman"/>
                <a:cs typeface="Times New Roman"/>
              </a:rPr>
              <a:t> </a:t>
            </a:r>
            <a:r>
              <a:rPr dirty="0" sz="1000" spc="-10">
                <a:latin typeface="SimSun"/>
                <a:cs typeface="SimSun"/>
              </a:rPr>
              <a:t>个</a:t>
            </a:r>
            <a:r>
              <a:rPr dirty="0" sz="1000" spc="-80">
                <a:latin typeface="SimSun"/>
                <a:cs typeface="SimSun"/>
              </a:rPr>
              <a:t>时长为 </a:t>
            </a:r>
            <a:r>
              <a:rPr dirty="0" sz="1000" spc="-10">
                <a:latin typeface="Times New Roman"/>
                <a:cs typeface="Times New Roman"/>
              </a:rPr>
              <a:t>2</a:t>
            </a:r>
            <a:r>
              <a:rPr dirty="0" sz="1000" spc="-30">
                <a:latin typeface="Times New Roman"/>
                <a:cs typeface="Times New Roman"/>
              </a:rPr>
              <a:t> - </a:t>
            </a:r>
            <a:r>
              <a:rPr dirty="0" sz="1000" spc="-10">
                <a:latin typeface="Times New Roman"/>
                <a:cs typeface="Times New Roman"/>
              </a:rPr>
              <a:t>3</a:t>
            </a:r>
            <a:r>
              <a:rPr dirty="0" sz="1000" spc="-30">
                <a:latin typeface="Times New Roman"/>
                <a:cs typeface="Times New Roman"/>
              </a:rPr>
              <a:t> </a:t>
            </a:r>
            <a:r>
              <a:rPr dirty="0" sz="1000" spc="-55">
                <a:latin typeface="SimSun"/>
                <a:cs typeface="SimSun"/>
              </a:rPr>
              <a:t>秒的视频片段，涵盖 </a:t>
            </a:r>
            <a:r>
              <a:rPr dirty="0" sz="1000" spc="-10">
                <a:latin typeface="Times New Roman"/>
                <a:cs typeface="Times New Roman"/>
              </a:rPr>
              <a:t>6</a:t>
            </a:r>
            <a:r>
              <a:rPr dirty="0" sz="1000" spc="-30">
                <a:latin typeface="Times New Roman"/>
                <a:cs typeface="Times New Roman"/>
              </a:rPr>
              <a:t> </a:t>
            </a:r>
            <a:r>
              <a:rPr dirty="0" sz="1000" spc="-55">
                <a:latin typeface="SimSun"/>
                <a:cs typeface="SimSun"/>
              </a:rPr>
              <a:t>种情感。整个数据集被随机划分为 </a:t>
            </a:r>
            <a:r>
              <a:rPr dirty="0" sz="1000" spc="-10">
                <a:latin typeface="Times New Roman"/>
                <a:cs typeface="Times New Roman"/>
              </a:rPr>
              <a:t>6698</a:t>
            </a:r>
            <a:r>
              <a:rPr dirty="0" sz="1000" spc="-30">
                <a:latin typeface="Times New Roman"/>
                <a:cs typeface="Times New Roman"/>
              </a:rPr>
              <a:t> </a:t>
            </a:r>
            <a:r>
              <a:rPr dirty="0" sz="1000" spc="-15">
                <a:latin typeface="SimSun"/>
                <a:cs typeface="SimSun"/>
              </a:rPr>
              <a:t>个样本作为训练集，</a:t>
            </a:r>
            <a:r>
              <a:rPr dirty="0" sz="1000" spc="-45">
                <a:latin typeface="Times New Roman"/>
                <a:cs typeface="Times New Roman"/>
              </a:rPr>
              <a:t>744</a:t>
            </a:r>
            <a:r>
              <a:rPr dirty="0" sz="1000" spc="-10">
                <a:latin typeface="SimSun"/>
                <a:cs typeface="SimSun"/>
              </a:rPr>
              <a:t>个样本作为测试集。</a:t>
            </a:r>
            <a:endParaRPr sz="1000">
              <a:latin typeface="SimSun"/>
              <a:cs typeface="SimSun"/>
            </a:endParaRPr>
          </a:p>
          <a:p>
            <a:pPr algn="just" marL="12700" marR="5080" indent="252729">
              <a:lnSpc>
                <a:spcPct val="129500"/>
              </a:lnSpc>
              <a:spcBef>
                <a:spcPts val="1255"/>
              </a:spcBef>
            </a:pPr>
            <a:r>
              <a:rPr dirty="0" sz="1000">
                <a:latin typeface="Times New Roman"/>
                <a:cs typeface="Times New Roman"/>
              </a:rPr>
              <a:t>Kinetics-Sounds</a:t>
            </a:r>
            <a:r>
              <a:rPr dirty="0" sz="1000" spc="30">
                <a:latin typeface="Times New Roman"/>
                <a:cs typeface="Times New Roman"/>
              </a:rPr>
              <a:t> </a:t>
            </a:r>
            <a:r>
              <a:rPr dirty="0" sz="1000" spc="-20">
                <a:latin typeface="Times New Roman"/>
                <a:cs typeface="Times New Roman"/>
              </a:rPr>
              <a:t>(KS)</a:t>
            </a:r>
            <a:r>
              <a:rPr dirty="0" sz="1000" spc="35">
                <a:latin typeface="Times New Roman"/>
                <a:cs typeface="Times New Roman"/>
              </a:rPr>
              <a:t> </a:t>
            </a:r>
            <a:r>
              <a:rPr dirty="0" sz="1000">
                <a:latin typeface="Times New Roman"/>
                <a:cs typeface="Times New Roman"/>
              </a:rPr>
              <a:t>[2]</a:t>
            </a:r>
            <a:r>
              <a:rPr dirty="0" sz="1000" spc="35">
                <a:latin typeface="Times New Roman"/>
                <a:cs typeface="Times New Roman"/>
              </a:rPr>
              <a:t> </a:t>
            </a:r>
            <a:r>
              <a:rPr dirty="0" sz="1000">
                <a:latin typeface="Times New Roman"/>
                <a:cs typeface="Times New Roman"/>
              </a:rPr>
              <a:t>is</a:t>
            </a:r>
            <a:r>
              <a:rPr dirty="0" sz="1000" spc="35">
                <a:latin typeface="Times New Roman"/>
                <a:cs typeface="Times New Roman"/>
              </a:rPr>
              <a:t> </a:t>
            </a:r>
            <a:r>
              <a:rPr dirty="0" sz="1000">
                <a:latin typeface="Times New Roman"/>
                <a:cs typeface="Times New Roman"/>
              </a:rPr>
              <a:t>a</a:t>
            </a:r>
            <a:r>
              <a:rPr dirty="0" sz="1000" spc="35">
                <a:latin typeface="Times New Roman"/>
                <a:cs typeface="Times New Roman"/>
              </a:rPr>
              <a:t> </a:t>
            </a:r>
            <a:r>
              <a:rPr dirty="0" sz="1000">
                <a:latin typeface="Times New Roman"/>
                <a:cs typeface="Times New Roman"/>
              </a:rPr>
              <a:t>dataset</a:t>
            </a:r>
            <a:r>
              <a:rPr dirty="0" sz="1000" spc="35">
                <a:latin typeface="Times New Roman"/>
                <a:cs typeface="Times New Roman"/>
              </a:rPr>
              <a:t> </a:t>
            </a:r>
            <a:r>
              <a:rPr dirty="0" sz="1000">
                <a:latin typeface="Times New Roman"/>
                <a:cs typeface="Times New Roman"/>
              </a:rPr>
              <a:t>formed</a:t>
            </a:r>
            <a:r>
              <a:rPr dirty="0" sz="1000" spc="35">
                <a:latin typeface="Times New Roman"/>
                <a:cs typeface="Times New Roman"/>
              </a:rPr>
              <a:t> </a:t>
            </a:r>
            <a:r>
              <a:rPr dirty="0" sz="1000">
                <a:latin typeface="Times New Roman"/>
                <a:cs typeface="Times New Roman"/>
              </a:rPr>
              <a:t>by</a:t>
            </a:r>
            <a:r>
              <a:rPr dirty="0" sz="1000" spc="35">
                <a:latin typeface="Times New Roman"/>
                <a:cs typeface="Times New Roman"/>
              </a:rPr>
              <a:t> </a:t>
            </a:r>
            <a:r>
              <a:rPr dirty="0" sz="1000">
                <a:latin typeface="Times New Roman"/>
                <a:cs typeface="Times New Roman"/>
              </a:rPr>
              <a:t>filtering</a:t>
            </a:r>
            <a:r>
              <a:rPr dirty="0" sz="1000" spc="35">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Kinetics</a:t>
            </a:r>
            <a:r>
              <a:rPr dirty="0" sz="1000" spc="35">
                <a:latin typeface="Times New Roman"/>
                <a:cs typeface="Times New Roman"/>
              </a:rPr>
              <a:t> </a:t>
            </a:r>
            <a:r>
              <a:rPr dirty="0" sz="1000">
                <a:latin typeface="Times New Roman"/>
                <a:cs typeface="Times New Roman"/>
              </a:rPr>
              <a:t>dataset</a:t>
            </a:r>
            <a:r>
              <a:rPr dirty="0" sz="1000" spc="35">
                <a:latin typeface="Times New Roman"/>
                <a:cs typeface="Times New Roman"/>
              </a:rPr>
              <a:t> </a:t>
            </a:r>
            <a:r>
              <a:rPr dirty="0" sz="1000">
                <a:latin typeface="Times New Roman"/>
                <a:cs typeface="Times New Roman"/>
              </a:rPr>
              <a:t>for</a:t>
            </a:r>
            <a:r>
              <a:rPr dirty="0" sz="1000" spc="35">
                <a:latin typeface="Times New Roman"/>
                <a:cs typeface="Times New Roman"/>
              </a:rPr>
              <a:t> </a:t>
            </a:r>
            <a:r>
              <a:rPr dirty="0" sz="1000">
                <a:latin typeface="Times New Roman"/>
                <a:cs typeface="Times New Roman"/>
              </a:rPr>
              <a:t>34</a:t>
            </a:r>
            <a:r>
              <a:rPr dirty="0" sz="1000" spc="35">
                <a:latin typeface="Times New Roman"/>
                <a:cs typeface="Times New Roman"/>
              </a:rPr>
              <a:t> </a:t>
            </a:r>
            <a:r>
              <a:rPr dirty="0" sz="1000" spc="60">
                <a:latin typeface="Times New Roman"/>
                <a:cs typeface="Times New Roman"/>
              </a:rPr>
              <a:t>human</a:t>
            </a:r>
            <a:r>
              <a:rPr dirty="0" sz="1000" spc="35">
                <a:latin typeface="Times New Roman"/>
                <a:cs typeface="Times New Roman"/>
              </a:rPr>
              <a:t> </a:t>
            </a:r>
            <a:r>
              <a:rPr dirty="0" sz="1000">
                <a:latin typeface="Times New Roman"/>
                <a:cs typeface="Times New Roman"/>
              </a:rPr>
              <a:t>action</a:t>
            </a:r>
            <a:r>
              <a:rPr dirty="0" sz="1000" spc="35">
                <a:latin typeface="Times New Roman"/>
                <a:cs typeface="Times New Roman"/>
              </a:rPr>
              <a:t> </a:t>
            </a:r>
            <a:r>
              <a:rPr dirty="0" sz="1000" spc="-10">
                <a:latin typeface="Times New Roman"/>
                <a:cs typeface="Times New Roman"/>
              </a:rPr>
              <a:t>classes </a:t>
            </a:r>
            <a:r>
              <a:rPr dirty="0" sz="1000">
                <a:latin typeface="Times New Roman"/>
                <a:cs typeface="Times New Roman"/>
              </a:rPr>
              <a:t>which</a:t>
            </a:r>
            <a:r>
              <a:rPr dirty="0" sz="1000" spc="35">
                <a:latin typeface="Times New Roman"/>
                <a:cs typeface="Times New Roman"/>
              </a:rPr>
              <a:t> </a:t>
            </a:r>
            <a:r>
              <a:rPr dirty="0" sz="1000">
                <a:latin typeface="Times New Roman"/>
                <a:cs typeface="Times New Roman"/>
              </a:rPr>
              <a:t>have</a:t>
            </a:r>
            <a:r>
              <a:rPr dirty="0" sz="1000" spc="35">
                <a:latin typeface="Times New Roman"/>
                <a:cs typeface="Times New Roman"/>
              </a:rPr>
              <a:t> </a:t>
            </a:r>
            <a:r>
              <a:rPr dirty="0" sz="1000">
                <a:latin typeface="Times New Roman"/>
                <a:cs typeface="Times New Roman"/>
              </a:rPr>
              <a:t>been</a:t>
            </a:r>
            <a:r>
              <a:rPr dirty="0" sz="1000" spc="35">
                <a:latin typeface="Times New Roman"/>
                <a:cs typeface="Times New Roman"/>
              </a:rPr>
              <a:t> </a:t>
            </a:r>
            <a:r>
              <a:rPr dirty="0" sz="1000">
                <a:latin typeface="Times New Roman"/>
                <a:cs typeface="Times New Roman"/>
              </a:rPr>
              <a:t>chosen</a:t>
            </a:r>
            <a:r>
              <a:rPr dirty="0" sz="1000" spc="40">
                <a:latin typeface="Times New Roman"/>
                <a:cs typeface="Times New Roman"/>
              </a:rPr>
              <a:t> </a:t>
            </a:r>
            <a:r>
              <a:rPr dirty="0" sz="1000">
                <a:latin typeface="Times New Roman"/>
                <a:cs typeface="Times New Roman"/>
              </a:rPr>
              <a:t>to</a:t>
            </a:r>
            <a:r>
              <a:rPr dirty="0" sz="1000" spc="35">
                <a:latin typeface="Times New Roman"/>
                <a:cs typeface="Times New Roman"/>
              </a:rPr>
              <a:t> </a:t>
            </a:r>
            <a:r>
              <a:rPr dirty="0" sz="1000">
                <a:latin typeface="Times New Roman"/>
                <a:cs typeface="Times New Roman"/>
              </a:rPr>
              <a:t>be</a:t>
            </a:r>
            <a:r>
              <a:rPr dirty="0" sz="1000" spc="35">
                <a:latin typeface="Times New Roman"/>
                <a:cs typeface="Times New Roman"/>
              </a:rPr>
              <a:t> </a:t>
            </a:r>
            <a:r>
              <a:rPr dirty="0" sz="1000">
                <a:latin typeface="Times New Roman"/>
                <a:cs typeface="Times New Roman"/>
              </a:rPr>
              <a:t>potentially</a:t>
            </a:r>
            <a:r>
              <a:rPr dirty="0" sz="1000" spc="40">
                <a:latin typeface="Times New Roman"/>
                <a:cs typeface="Times New Roman"/>
              </a:rPr>
              <a:t> </a:t>
            </a:r>
            <a:r>
              <a:rPr dirty="0" sz="1000">
                <a:latin typeface="Times New Roman"/>
                <a:cs typeface="Times New Roman"/>
              </a:rPr>
              <a:t>manifested</a:t>
            </a:r>
            <a:r>
              <a:rPr dirty="0" sz="1000" spc="35">
                <a:latin typeface="Times New Roman"/>
                <a:cs typeface="Times New Roman"/>
              </a:rPr>
              <a:t> </a:t>
            </a:r>
            <a:r>
              <a:rPr dirty="0" sz="1000">
                <a:latin typeface="Times New Roman"/>
                <a:cs typeface="Times New Roman"/>
              </a:rPr>
              <a:t>visually</a:t>
            </a:r>
            <a:r>
              <a:rPr dirty="0" sz="1000" spc="35">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a:latin typeface="Times New Roman"/>
                <a:cs typeface="Times New Roman"/>
              </a:rPr>
              <a:t>aurally.</a:t>
            </a:r>
            <a:r>
              <a:rPr dirty="0" sz="1000" spc="240">
                <a:latin typeface="Times New Roman"/>
                <a:cs typeface="Times New Roman"/>
              </a:rPr>
              <a:t> </a:t>
            </a:r>
            <a:r>
              <a:rPr dirty="0" sz="1000">
                <a:latin typeface="Times New Roman"/>
                <a:cs typeface="Times New Roman"/>
              </a:rPr>
              <a:t>This</a:t>
            </a:r>
            <a:r>
              <a:rPr dirty="0" sz="1000" spc="35">
                <a:latin typeface="Times New Roman"/>
                <a:cs typeface="Times New Roman"/>
              </a:rPr>
              <a:t> </a:t>
            </a:r>
            <a:r>
              <a:rPr dirty="0" sz="1000">
                <a:latin typeface="Times New Roman"/>
                <a:cs typeface="Times New Roman"/>
              </a:rPr>
              <a:t>dataset</a:t>
            </a:r>
            <a:r>
              <a:rPr dirty="0" sz="1000" spc="35">
                <a:latin typeface="Times New Roman"/>
                <a:cs typeface="Times New Roman"/>
              </a:rPr>
              <a:t> </a:t>
            </a:r>
            <a:r>
              <a:rPr dirty="0" sz="1000">
                <a:latin typeface="Times New Roman"/>
                <a:cs typeface="Times New Roman"/>
              </a:rPr>
              <a:t>contains</a:t>
            </a:r>
            <a:r>
              <a:rPr dirty="0" sz="1000" spc="35">
                <a:latin typeface="Times New Roman"/>
                <a:cs typeface="Times New Roman"/>
              </a:rPr>
              <a:t> </a:t>
            </a:r>
            <a:r>
              <a:rPr dirty="0" sz="1000" spc="-10">
                <a:latin typeface="Times New Roman"/>
                <a:cs typeface="Times New Roman"/>
              </a:rPr>
              <a:t>19k</a:t>
            </a:r>
            <a:r>
              <a:rPr dirty="0" sz="1000" spc="40">
                <a:latin typeface="Times New Roman"/>
                <a:cs typeface="Times New Roman"/>
              </a:rPr>
              <a:t> </a:t>
            </a:r>
            <a:r>
              <a:rPr dirty="0" sz="1000" spc="-20">
                <a:latin typeface="Times New Roman"/>
                <a:cs typeface="Times New Roman"/>
              </a:rPr>
              <a:t>10-</a:t>
            </a:r>
            <a:r>
              <a:rPr dirty="0" sz="1000" spc="-10">
                <a:latin typeface="Times New Roman"/>
                <a:cs typeface="Times New Roman"/>
              </a:rPr>
              <a:t>second </a:t>
            </a:r>
            <a:r>
              <a:rPr dirty="0" sz="1000">
                <a:latin typeface="Times New Roman"/>
                <a:cs typeface="Times New Roman"/>
              </a:rPr>
              <a:t>video</a:t>
            </a:r>
            <a:r>
              <a:rPr dirty="0" sz="1000" spc="55">
                <a:latin typeface="Times New Roman"/>
                <a:cs typeface="Times New Roman"/>
              </a:rPr>
              <a:t> </a:t>
            </a:r>
            <a:r>
              <a:rPr dirty="0" sz="1000">
                <a:latin typeface="Times New Roman"/>
                <a:cs typeface="Times New Roman"/>
              </a:rPr>
              <a:t>clips</a:t>
            </a:r>
            <a:r>
              <a:rPr dirty="0" sz="1000" spc="60">
                <a:latin typeface="Times New Roman"/>
                <a:cs typeface="Times New Roman"/>
              </a:rPr>
              <a:t> </a:t>
            </a:r>
            <a:r>
              <a:rPr dirty="0" sz="1000">
                <a:latin typeface="Times New Roman"/>
                <a:cs typeface="Times New Roman"/>
              </a:rPr>
              <a:t>(15k</a:t>
            </a:r>
            <a:r>
              <a:rPr dirty="0" sz="1000" spc="60">
                <a:latin typeface="Times New Roman"/>
                <a:cs typeface="Times New Roman"/>
              </a:rPr>
              <a:t> </a:t>
            </a:r>
            <a:r>
              <a:rPr dirty="0" sz="1000">
                <a:latin typeface="Times New Roman"/>
                <a:cs typeface="Times New Roman"/>
              </a:rPr>
              <a:t>training,</a:t>
            </a:r>
            <a:r>
              <a:rPr dirty="0" sz="1000" spc="55">
                <a:latin typeface="Times New Roman"/>
                <a:cs typeface="Times New Roman"/>
              </a:rPr>
              <a:t> </a:t>
            </a:r>
            <a:r>
              <a:rPr dirty="0" sz="1000">
                <a:latin typeface="Times New Roman"/>
                <a:cs typeface="Times New Roman"/>
              </a:rPr>
              <a:t>1.9k</a:t>
            </a:r>
            <a:r>
              <a:rPr dirty="0" sz="1000" spc="60">
                <a:latin typeface="Times New Roman"/>
                <a:cs typeface="Times New Roman"/>
              </a:rPr>
              <a:t> </a:t>
            </a:r>
            <a:r>
              <a:rPr dirty="0" sz="1000">
                <a:latin typeface="Times New Roman"/>
                <a:cs typeface="Times New Roman"/>
              </a:rPr>
              <a:t>validation,</a:t>
            </a:r>
            <a:r>
              <a:rPr dirty="0" sz="1000" spc="60">
                <a:latin typeface="Times New Roman"/>
                <a:cs typeface="Times New Roman"/>
              </a:rPr>
              <a:t> </a:t>
            </a:r>
            <a:r>
              <a:rPr dirty="0" sz="1000">
                <a:latin typeface="Times New Roman"/>
                <a:cs typeface="Times New Roman"/>
              </a:rPr>
              <a:t>1.9k</a:t>
            </a:r>
            <a:r>
              <a:rPr dirty="0" sz="1000" spc="60">
                <a:latin typeface="Times New Roman"/>
                <a:cs typeface="Times New Roman"/>
              </a:rPr>
              <a:t> </a:t>
            </a:r>
            <a:r>
              <a:rPr dirty="0" sz="1000" spc="-10">
                <a:latin typeface="Times New Roman"/>
                <a:cs typeface="Times New Roman"/>
              </a:rPr>
              <a:t>test).</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a:lnSpc>
                <a:spcPct val="129500"/>
              </a:lnSpc>
            </a:pPr>
            <a:r>
              <a:rPr dirty="0" sz="1000" spc="5">
                <a:latin typeface="Times New Roman"/>
                <a:cs typeface="Times New Roman"/>
              </a:rPr>
              <a:t>Kinetics-</a:t>
            </a:r>
            <a:r>
              <a:rPr dirty="0" sz="1000">
                <a:latin typeface="Times New Roman"/>
                <a:cs typeface="Times New Roman"/>
              </a:rPr>
              <a:t>Sounds(KS)[2]</a:t>
            </a:r>
            <a:r>
              <a:rPr dirty="0" sz="1000" spc="-15">
                <a:latin typeface="Times New Roman"/>
                <a:cs typeface="Times New Roman"/>
              </a:rPr>
              <a:t> </a:t>
            </a:r>
            <a:r>
              <a:rPr dirty="0" sz="1000" spc="30">
                <a:latin typeface="SimSun"/>
                <a:cs typeface="SimSun"/>
              </a:rPr>
              <a:t>是一个通过对</a:t>
            </a:r>
            <a:r>
              <a:rPr dirty="0" sz="1000" spc="10">
                <a:latin typeface="Times New Roman"/>
                <a:cs typeface="Times New Roman"/>
              </a:rPr>
              <a:t>Kinetics</a:t>
            </a:r>
            <a:r>
              <a:rPr dirty="0" sz="1000" spc="-15">
                <a:latin typeface="Times New Roman"/>
                <a:cs typeface="Times New Roman"/>
              </a:rPr>
              <a:t> </a:t>
            </a:r>
            <a:r>
              <a:rPr dirty="0" sz="1000" spc="-25">
                <a:latin typeface="SimSun"/>
                <a:cs typeface="SimSun"/>
              </a:rPr>
              <a:t>数据集进行筛选而形成的数据集，针对 </a:t>
            </a:r>
            <a:r>
              <a:rPr dirty="0" sz="1000" spc="-10">
                <a:latin typeface="Times New Roman"/>
                <a:cs typeface="Times New Roman"/>
              </a:rPr>
              <a:t>34</a:t>
            </a:r>
            <a:r>
              <a:rPr dirty="0" sz="1000" spc="-15">
                <a:latin typeface="Times New Roman"/>
                <a:cs typeface="Times New Roman"/>
              </a:rPr>
              <a:t> </a:t>
            </a:r>
            <a:r>
              <a:rPr dirty="0" sz="1000" spc="-10">
                <a:latin typeface="SimSun"/>
                <a:cs typeface="SimSun"/>
              </a:rPr>
              <a:t>种人类动</a:t>
            </a:r>
            <a:r>
              <a:rPr dirty="0" sz="1000" spc="-20">
                <a:latin typeface="SimSun"/>
                <a:cs typeface="SimSun"/>
              </a:rPr>
              <a:t>作类别，这些动作类别被选择为可能在视觉和听觉上表现出来。该数据集包含 </a:t>
            </a:r>
            <a:r>
              <a:rPr dirty="0" sz="1000" spc="5">
                <a:latin typeface="Times New Roman"/>
                <a:cs typeface="Times New Roman"/>
              </a:rPr>
              <a:t>19k</a:t>
            </a:r>
            <a:r>
              <a:rPr dirty="0" sz="1000" spc="-5">
                <a:latin typeface="Times New Roman"/>
                <a:cs typeface="Times New Roman"/>
              </a:rPr>
              <a:t> </a:t>
            </a:r>
            <a:r>
              <a:rPr dirty="0" sz="1000" spc="-135">
                <a:latin typeface="SimSun"/>
                <a:cs typeface="SimSun"/>
              </a:rPr>
              <a:t>个 </a:t>
            </a:r>
            <a:r>
              <a:rPr dirty="0" sz="1000" spc="-10">
                <a:latin typeface="Times New Roman"/>
                <a:cs typeface="Times New Roman"/>
              </a:rPr>
              <a:t>10</a:t>
            </a:r>
            <a:r>
              <a:rPr dirty="0" sz="1000" spc="-5">
                <a:latin typeface="Times New Roman"/>
                <a:cs typeface="Times New Roman"/>
              </a:rPr>
              <a:t> </a:t>
            </a:r>
            <a:r>
              <a:rPr dirty="0" sz="1000" spc="-10">
                <a:latin typeface="SimSun"/>
                <a:cs typeface="SimSun"/>
              </a:rPr>
              <a:t>秒的视频</a:t>
            </a:r>
            <a:r>
              <a:rPr dirty="0" sz="1000" spc="105">
                <a:latin typeface="SimSun"/>
                <a:cs typeface="SimSun"/>
              </a:rPr>
              <a:t>片段</a:t>
            </a:r>
            <a:r>
              <a:rPr dirty="0" sz="1000">
                <a:latin typeface="Times New Roman"/>
                <a:cs typeface="Times New Roman"/>
              </a:rPr>
              <a:t>(15k</a:t>
            </a:r>
            <a:r>
              <a:rPr dirty="0" sz="1000" spc="-20">
                <a:latin typeface="Times New Roman"/>
                <a:cs typeface="Times New Roman"/>
              </a:rPr>
              <a:t> </a:t>
            </a:r>
            <a:r>
              <a:rPr dirty="0" sz="1000" spc="-10">
                <a:latin typeface="SimSun"/>
                <a:cs typeface="SimSun"/>
              </a:rPr>
              <a:t>个用于训练，</a:t>
            </a:r>
            <a:r>
              <a:rPr dirty="0" sz="1000">
                <a:latin typeface="Times New Roman"/>
                <a:cs typeface="Times New Roman"/>
              </a:rPr>
              <a:t>1.9k</a:t>
            </a:r>
            <a:r>
              <a:rPr dirty="0" sz="1000" spc="-20">
                <a:latin typeface="Times New Roman"/>
                <a:cs typeface="Times New Roman"/>
              </a:rPr>
              <a:t> </a:t>
            </a:r>
            <a:r>
              <a:rPr dirty="0" sz="1000" spc="-10">
                <a:latin typeface="SimSun"/>
                <a:cs typeface="SimSun"/>
              </a:rPr>
              <a:t>个用于验证，</a:t>
            </a:r>
            <a:r>
              <a:rPr dirty="0" sz="1000">
                <a:latin typeface="Times New Roman"/>
                <a:cs typeface="Times New Roman"/>
              </a:rPr>
              <a:t>1.9k</a:t>
            </a:r>
            <a:r>
              <a:rPr dirty="0" sz="1000" spc="-20">
                <a:latin typeface="Times New Roman"/>
                <a:cs typeface="Times New Roman"/>
              </a:rPr>
              <a:t> </a:t>
            </a:r>
            <a:r>
              <a:rPr dirty="0" sz="1000" spc="-10">
                <a:latin typeface="SimSun"/>
                <a:cs typeface="SimSun"/>
              </a:rPr>
              <a:t>个用于测试</a:t>
            </a:r>
            <a:r>
              <a:rPr dirty="0" sz="1000">
                <a:latin typeface="Times New Roman"/>
                <a:cs typeface="Times New Roman"/>
              </a:rPr>
              <a:t>)</a:t>
            </a:r>
            <a:r>
              <a:rPr dirty="0" sz="1000" spc="-10">
                <a:latin typeface="SimSun"/>
                <a:cs typeface="SimSun"/>
              </a:rPr>
              <a:t>。</a:t>
            </a:r>
            <a:endParaRPr sz="1000">
              <a:latin typeface="SimSun"/>
              <a:cs typeface="SimSun"/>
            </a:endParaRPr>
          </a:p>
          <a:p>
            <a:pPr>
              <a:lnSpc>
                <a:spcPct val="100000"/>
              </a:lnSpc>
              <a:spcBef>
                <a:spcPts val="75"/>
              </a:spcBef>
            </a:pPr>
            <a:endParaRPr sz="1000">
              <a:latin typeface="SimSun"/>
              <a:cs typeface="SimSun"/>
            </a:endParaRPr>
          </a:p>
          <a:p>
            <a:pPr algn="just" marL="12700" marR="5080" indent="252729">
              <a:lnSpc>
                <a:spcPct val="129500"/>
              </a:lnSpc>
              <a:spcBef>
                <a:spcPts val="5"/>
              </a:spcBef>
            </a:pPr>
            <a:r>
              <a:rPr dirty="0" sz="1000" spc="10">
                <a:latin typeface="Times New Roman"/>
                <a:cs typeface="Times New Roman"/>
              </a:rPr>
              <a:t>VGGSound</a:t>
            </a:r>
            <a:r>
              <a:rPr dirty="0" sz="1000" spc="20">
                <a:latin typeface="Times New Roman"/>
                <a:cs typeface="Times New Roman"/>
              </a:rPr>
              <a:t> </a:t>
            </a:r>
            <a:r>
              <a:rPr dirty="0" sz="1000" spc="10">
                <a:latin typeface="Times New Roman"/>
                <a:cs typeface="Times New Roman"/>
              </a:rPr>
              <a:t>[5]</a:t>
            </a:r>
            <a:r>
              <a:rPr dirty="0" sz="1000" spc="20">
                <a:latin typeface="Times New Roman"/>
                <a:cs typeface="Times New Roman"/>
              </a:rPr>
              <a:t> </a:t>
            </a:r>
            <a:r>
              <a:rPr dirty="0" sz="1000" spc="10">
                <a:latin typeface="Times New Roman"/>
                <a:cs typeface="Times New Roman"/>
              </a:rPr>
              <a:t>is</a:t>
            </a:r>
            <a:r>
              <a:rPr dirty="0" sz="1000" spc="25">
                <a:latin typeface="Times New Roman"/>
                <a:cs typeface="Times New Roman"/>
              </a:rPr>
              <a:t> </a:t>
            </a:r>
            <a:r>
              <a:rPr dirty="0" sz="1000" spc="10">
                <a:latin typeface="Times New Roman"/>
                <a:cs typeface="Times New Roman"/>
              </a:rPr>
              <a:t>a</a:t>
            </a:r>
            <a:r>
              <a:rPr dirty="0" sz="1000" spc="20">
                <a:latin typeface="Times New Roman"/>
                <a:cs typeface="Times New Roman"/>
              </a:rPr>
              <a:t> </a:t>
            </a:r>
            <a:r>
              <a:rPr dirty="0" sz="1000">
                <a:latin typeface="Times New Roman"/>
                <a:cs typeface="Times New Roman"/>
              </a:rPr>
              <a:t>large-</a:t>
            </a:r>
            <a:r>
              <a:rPr dirty="0" sz="1000" spc="10">
                <a:latin typeface="Times New Roman"/>
                <a:cs typeface="Times New Roman"/>
              </a:rPr>
              <a:t>scale</a:t>
            </a:r>
            <a:r>
              <a:rPr dirty="0" sz="1000" spc="20">
                <a:latin typeface="Times New Roman"/>
                <a:cs typeface="Times New Roman"/>
              </a:rPr>
              <a:t> </a:t>
            </a:r>
            <a:r>
              <a:rPr dirty="0" sz="1000" spc="10">
                <a:latin typeface="Times New Roman"/>
                <a:cs typeface="Times New Roman"/>
              </a:rPr>
              <a:t>video</a:t>
            </a:r>
            <a:r>
              <a:rPr dirty="0" sz="1000" spc="25">
                <a:latin typeface="Times New Roman"/>
                <a:cs typeface="Times New Roman"/>
              </a:rPr>
              <a:t> </a:t>
            </a:r>
            <a:r>
              <a:rPr dirty="0" sz="1000" spc="10">
                <a:latin typeface="Times New Roman"/>
                <a:cs typeface="Times New Roman"/>
              </a:rPr>
              <a:t>dataset</a:t>
            </a:r>
            <a:r>
              <a:rPr dirty="0" sz="1000" spc="20">
                <a:latin typeface="Times New Roman"/>
                <a:cs typeface="Times New Roman"/>
              </a:rPr>
              <a:t> </a:t>
            </a:r>
            <a:r>
              <a:rPr dirty="0" sz="1000" spc="10">
                <a:latin typeface="Times New Roman"/>
                <a:cs typeface="Times New Roman"/>
              </a:rPr>
              <a:t>with</a:t>
            </a:r>
            <a:r>
              <a:rPr dirty="0" sz="1000" spc="20">
                <a:latin typeface="Times New Roman"/>
                <a:cs typeface="Times New Roman"/>
              </a:rPr>
              <a:t> </a:t>
            </a:r>
            <a:r>
              <a:rPr dirty="0" sz="1000">
                <a:latin typeface="Times New Roman"/>
                <a:cs typeface="Times New Roman"/>
              </a:rPr>
              <a:t>309</a:t>
            </a:r>
            <a:r>
              <a:rPr dirty="0" sz="1000" spc="25">
                <a:latin typeface="Times New Roman"/>
                <a:cs typeface="Times New Roman"/>
              </a:rPr>
              <a:t> </a:t>
            </a:r>
            <a:r>
              <a:rPr dirty="0" sz="1000" spc="10">
                <a:latin typeface="Times New Roman"/>
                <a:cs typeface="Times New Roman"/>
              </a:rPr>
              <a:t>categories,</a:t>
            </a:r>
            <a:r>
              <a:rPr dirty="0" sz="1000" spc="20">
                <a:latin typeface="Times New Roman"/>
                <a:cs typeface="Times New Roman"/>
              </a:rPr>
              <a:t> </a:t>
            </a:r>
            <a:r>
              <a:rPr dirty="0" sz="1000" spc="10">
                <a:latin typeface="Times New Roman"/>
                <a:cs typeface="Times New Roman"/>
              </a:rPr>
              <a:t>capturing</a:t>
            </a:r>
            <a:r>
              <a:rPr dirty="0" sz="1000" spc="20">
                <a:latin typeface="Times New Roman"/>
                <a:cs typeface="Times New Roman"/>
              </a:rPr>
              <a:t> </a:t>
            </a:r>
            <a:r>
              <a:rPr dirty="0" sz="1000" spc="10">
                <a:latin typeface="Times New Roman"/>
                <a:cs typeface="Times New Roman"/>
              </a:rPr>
              <a:t>various</a:t>
            </a:r>
            <a:r>
              <a:rPr dirty="0" sz="1000" spc="25">
                <a:latin typeface="Times New Roman"/>
                <a:cs typeface="Times New Roman"/>
              </a:rPr>
              <a:t> </a:t>
            </a:r>
            <a:r>
              <a:rPr dirty="0" sz="1000" spc="10">
                <a:latin typeface="Times New Roman"/>
                <a:cs typeface="Times New Roman"/>
              </a:rPr>
              <a:t>audio</a:t>
            </a:r>
            <a:r>
              <a:rPr dirty="0" sz="1000" spc="20">
                <a:latin typeface="Times New Roman"/>
                <a:cs typeface="Times New Roman"/>
              </a:rPr>
              <a:t> </a:t>
            </a:r>
            <a:r>
              <a:rPr dirty="0" sz="1000" spc="10">
                <a:latin typeface="Times New Roman"/>
                <a:cs typeface="Times New Roman"/>
              </a:rPr>
              <a:t>events</a:t>
            </a:r>
            <a:r>
              <a:rPr dirty="0" sz="1000" spc="20">
                <a:latin typeface="Times New Roman"/>
                <a:cs typeface="Times New Roman"/>
              </a:rPr>
              <a:t> </a:t>
            </a:r>
            <a:r>
              <a:rPr dirty="0" sz="1000" spc="10">
                <a:latin typeface="Times New Roman"/>
                <a:cs typeface="Times New Roman"/>
              </a:rPr>
              <a:t>in</a:t>
            </a:r>
            <a:r>
              <a:rPr dirty="0" sz="1000" spc="25">
                <a:latin typeface="Times New Roman"/>
                <a:cs typeface="Times New Roman"/>
              </a:rPr>
              <a:t> </a:t>
            </a:r>
            <a:r>
              <a:rPr dirty="0" sz="1000" spc="-10">
                <a:latin typeface="Times New Roman"/>
                <a:cs typeface="Times New Roman"/>
              </a:rPr>
              <a:t>daily </a:t>
            </a:r>
            <a:r>
              <a:rPr dirty="0" sz="1000">
                <a:latin typeface="Times New Roman"/>
                <a:cs typeface="Times New Roman"/>
              </a:rPr>
              <a:t>life.</a:t>
            </a:r>
            <a:r>
              <a:rPr dirty="0" sz="1000" spc="175">
                <a:latin typeface="Times New Roman"/>
                <a:cs typeface="Times New Roman"/>
              </a:rPr>
              <a:t> </a:t>
            </a:r>
            <a:r>
              <a:rPr dirty="0" sz="1000">
                <a:latin typeface="Times New Roman"/>
                <a:cs typeface="Times New Roman"/>
              </a:rPr>
              <a:t>For our experiment,</a:t>
            </a:r>
            <a:r>
              <a:rPr dirty="0" sz="1000" spc="20">
                <a:latin typeface="Times New Roman"/>
                <a:cs typeface="Times New Roman"/>
              </a:rPr>
              <a:t> </a:t>
            </a:r>
            <a:r>
              <a:rPr dirty="0" sz="1000">
                <a:latin typeface="Times New Roman"/>
                <a:cs typeface="Times New Roman"/>
              </a:rPr>
              <a:t>we employed</a:t>
            </a:r>
            <a:r>
              <a:rPr dirty="0" sz="1000" spc="-5">
                <a:latin typeface="Times New Roman"/>
                <a:cs typeface="Times New Roman"/>
              </a:rPr>
              <a:t> </a:t>
            </a:r>
            <a:r>
              <a:rPr dirty="0" sz="1000" spc="-10">
                <a:latin typeface="Times New Roman"/>
                <a:cs typeface="Times New Roman"/>
              </a:rPr>
              <a:t>168,618</a:t>
            </a:r>
            <a:r>
              <a:rPr dirty="0" sz="1000">
                <a:latin typeface="Times New Roman"/>
                <a:cs typeface="Times New Roman"/>
              </a:rPr>
              <a:t> videos for</a:t>
            </a:r>
            <a:r>
              <a:rPr dirty="0" sz="1000" spc="-5">
                <a:latin typeface="Times New Roman"/>
                <a:cs typeface="Times New Roman"/>
              </a:rPr>
              <a:t> </a:t>
            </a:r>
            <a:r>
              <a:rPr dirty="0" sz="1000">
                <a:latin typeface="Times New Roman"/>
                <a:cs typeface="Times New Roman"/>
              </a:rPr>
              <a:t>training and validation,</a:t>
            </a:r>
            <a:r>
              <a:rPr dirty="0" sz="1000" spc="20">
                <a:latin typeface="Times New Roman"/>
                <a:cs typeface="Times New Roman"/>
              </a:rPr>
              <a:t> </a:t>
            </a:r>
            <a:r>
              <a:rPr dirty="0" sz="1000">
                <a:latin typeface="Times New Roman"/>
                <a:cs typeface="Times New Roman"/>
              </a:rPr>
              <a:t>and</a:t>
            </a:r>
            <a:r>
              <a:rPr dirty="0" sz="1000" spc="-5">
                <a:latin typeface="Times New Roman"/>
                <a:cs typeface="Times New Roman"/>
              </a:rPr>
              <a:t> </a:t>
            </a:r>
            <a:r>
              <a:rPr dirty="0" sz="1000" spc="-10">
                <a:latin typeface="Times New Roman"/>
                <a:cs typeface="Times New Roman"/>
              </a:rPr>
              <a:t>13,954</a:t>
            </a:r>
            <a:r>
              <a:rPr dirty="0" sz="1000">
                <a:latin typeface="Times New Roman"/>
                <a:cs typeface="Times New Roman"/>
              </a:rPr>
              <a:t> videos for </a:t>
            </a:r>
            <a:r>
              <a:rPr dirty="0" sz="1000" spc="-10">
                <a:latin typeface="Times New Roman"/>
                <a:cs typeface="Times New Roman"/>
              </a:rPr>
              <a:t>testing.</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a:lnSpc>
                <a:spcPct val="129500"/>
              </a:lnSpc>
            </a:pPr>
            <a:r>
              <a:rPr dirty="0" sz="1000">
                <a:latin typeface="Times New Roman"/>
                <a:cs typeface="Times New Roman"/>
              </a:rPr>
              <a:t>VGGSound [5]</a:t>
            </a:r>
            <a:r>
              <a:rPr dirty="0" sz="1000" spc="5">
                <a:latin typeface="Times New Roman"/>
                <a:cs typeface="Times New Roman"/>
              </a:rPr>
              <a:t> </a:t>
            </a:r>
            <a:r>
              <a:rPr dirty="0" sz="1000" spc="-50">
                <a:latin typeface="SimSun"/>
                <a:cs typeface="SimSun"/>
              </a:rPr>
              <a:t>是一个具有 </a:t>
            </a:r>
            <a:r>
              <a:rPr dirty="0" sz="1000" spc="-10">
                <a:latin typeface="Times New Roman"/>
                <a:cs typeface="Times New Roman"/>
              </a:rPr>
              <a:t>309</a:t>
            </a:r>
            <a:r>
              <a:rPr dirty="0" sz="1000" spc="5">
                <a:latin typeface="Times New Roman"/>
                <a:cs typeface="Times New Roman"/>
              </a:rPr>
              <a:t> </a:t>
            </a:r>
            <a:r>
              <a:rPr dirty="0" sz="1000" spc="-10">
                <a:latin typeface="SimSun"/>
                <a:cs typeface="SimSun"/>
              </a:rPr>
              <a:t>个类别的大规模视频数据集，捕捉日常生活中的各种音频事件。在</a:t>
            </a:r>
            <a:r>
              <a:rPr dirty="0" sz="1000" spc="-35">
                <a:latin typeface="SimSun"/>
                <a:cs typeface="SimSun"/>
              </a:rPr>
              <a:t>我们的实验中，我们使用 </a:t>
            </a:r>
            <a:r>
              <a:rPr dirty="0" sz="1000" spc="-10">
                <a:latin typeface="Times New Roman"/>
                <a:cs typeface="Times New Roman"/>
              </a:rPr>
              <a:t>168,618</a:t>
            </a:r>
            <a:r>
              <a:rPr dirty="0" sz="1000" spc="-20">
                <a:latin typeface="Times New Roman"/>
                <a:cs typeface="Times New Roman"/>
              </a:rPr>
              <a:t> </a:t>
            </a:r>
            <a:r>
              <a:rPr dirty="0" sz="1000" spc="-10">
                <a:latin typeface="SimSun"/>
                <a:cs typeface="SimSun"/>
              </a:rPr>
              <a:t>个视频进行训练和验证，</a:t>
            </a:r>
            <a:r>
              <a:rPr dirty="0" sz="1000" spc="-10">
                <a:latin typeface="Times New Roman"/>
                <a:cs typeface="Times New Roman"/>
              </a:rPr>
              <a:t>13,954</a:t>
            </a:r>
            <a:r>
              <a:rPr dirty="0" sz="1000" spc="-20">
                <a:latin typeface="Times New Roman"/>
                <a:cs typeface="Times New Roman"/>
              </a:rPr>
              <a:t> </a:t>
            </a:r>
            <a:r>
              <a:rPr dirty="0" sz="1000" spc="-10">
                <a:latin typeface="SimSun"/>
                <a:cs typeface="SimSun"/>
              </a:rPr>
              <a:t>个视频进行测试。</a:t>
            </a:r>
            <a:endParaRPr sz="1000">
              <a:latin typeface="SimSun"/>
              <a:cs typeface="SimSun"/>
            </a:endParaRPr>
          </a:p>
          <a:p>
            <a:pPr>
              <a:lnSpc>
                <a:spcPct val="100000"/>
              </a:lnSpc>
              <a:spcBef>
                <a:spcPts val="75"/>
              </a:spcBef>
            </a:pPr>
            <a:endParaRPr sz="1000">
              <a:latin typeface="SimSun"/>
              <a:cs typeface="SimSun"/>
            </a:endParaRPr>
          </a:p>
          <a:p>
            <a:pPr algn="just" marL="12700" marR="5080" indent="252729">
              <a:lnSpc>
                <a:spcPct val="129500"/>
              </a:lnSpc>
            </a:pPr>
            <a:r>
              <a:rPr dirty="0" sz="1000">
                <a:latin typeface="Times New Roman"/>
                <a:cs typeface="Times New Roman"/>
              </a:rPr>
              <a:t>MOSI</a:t>
            </a:r>
            <a:r>
              <a:rPr dirty="0" sz="1000" spc="80">
                <a:latin typeface="Times New Roman"/>
                <a:cs typeface="Times New Roman"/>
              </a:rPr>
              <a:t> </a:t>
            </a:r>
            <a:r>
              <a:rPr dirty="0" sz="1000">
                <a:latin typeface="Times New Roman"/>
                <a:cs typeface="Times New Roman"/>
              </a:rPr>
              <a:t>[38]</a:t>
            </a:r>
            <a:r>
              <a:rPr dirty="0" sz="1000" spc="85">
                <a:latin typeface="Times New Roman"/>
                <a:cs typeface="Times New Roman"/>
              </a:rPr>
              <a:t> </a:t>
            </a:r>
            <a:r>
              <a:rPr dirty="0" sz="1000">
                <a:latin typeface="Times New Roman"/>
                <a:cs typeface="Times New Roman"/>
              </a:rPr>
              <a:t>is</a:t>
            </a:r>
            <a:r>
              <a:rPr dirty="0" sz="1000" spc="80">
                <a:latin typeface="Times New Roman"/>
                <a:cs typeface="Times New Roman"/>
              </a:rPr>
              <a:t> </a:t>
            </a:r>
            <a:r>
              <a:rPr dirty="0" sz="1000">
                <a:latin typeface="Times New Roman"/>
                <a:cs typeface="Times New Roman"/>
              </a:rPr>
              <a:t>a</a:t>
            </a:r>
            <a:r>
              <a:rPr dirty="0" sz="1000" spc="85">
                <a:latin typeface="Times New Roman"/>
                <a:cs typeface="Times New Roman"/>
              </a:rPr>
              <a:t> </a:t>
            </a:r>
            <a:r>
              <a:rPr dirty="0" sz="1000">
                <a:latin typeface="Times New Roman"/>
                <a:cs typeface="Times New Roman"/>
              </a:rPr>
              <a:t>popular</a:t>
            </a:r>
            <a:r>
              <a:rPr dirty="0" sz="1000" spc="85">
                <a:latin typeface="Times New Roman"/>
                <a:cs typeface="Times New Roman"/>
              </a:rPr>
              <a:t> </a:t>
            </a:r>
            <a:r>
              <a:rPr dirty="0" sz="1000">
                <a:latin typeface="Times New Roman"/>
                <a:cs typeface="Times New Roman"/>
              </a:rPr>
              <a:t>Audio-</a:t>
            </a:r>
            <a:r>
              <a:rPr dirty="0" sz="1000" spc="-10">
                <a:latin typeface="Times New Roman"/>
                <a:cs typeface="Times New Roman"/>
              </a:rPr>
              <a:t>Visual-Text</a:t>
            </a:r>
            <a:r>
              <a:rPr dirty="0" sz="1000" spc="80">
                <a:latin typeface="Times New Roman"/>
                <a:cs typeface="Times New Roman"/>
              </a:rPr>
              <a:t> </a:t>
            </a:r>
            <a:r>
              <a:rPr dirty="0" sz="1000">
                <a:latin typeface="Times New Roman"/>
                <a:cs typeface="Times New Roman"/>
              </a:rPr>
              <a:t>dataset</a:t>
            </a:r>
            <a:r>
              <a:rPr dirty="0" sz="1000" spc="85">
                <a:latin typeface="Times New Roman"/>
                <a:cs typeface="Times New Roman"/>
              </a:rPr>
              <a:t> </a:t>
            </a:r>
            <a:r>
              <a:rPr dirty="0" sz="1000">
                <a:latin typeface="Times New Roman"/>
                <a:cs typeface="Times New Roman"/>
              </a:rPr>
              <a:t>for</a:t>
            </a:r>
            <a:r>
              <a:rPr dirty="0" sz="1000" spc="8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multimodal</a:t>
            </a:r>
            <a:r>
              <a:rPr dirty="0" sz="1000" spc="85">
                <a:latin typeface="Times New Roman"/>
                <a:cs typeface="Times New Roman"/>
              </a:rPr>
              <a:t> </a:t>
            </a:r>
            <a:r>
              <a:rPr dirty="0" sz="1000">
                <a:latin typeface="Times New Roman"/>
                <a:cs typeface="Times New Roman"/>
              </a:rPr>
              <a:t>sentiment</a:t>
            </a:r>
            <a:r>
              <a:rPr dirty="0" sz="1000" spc="85">
                <a:latin typeface="Times New Roman"/>
                <a:cs typeface="Times New Roman"/>
              </a:rPr>
              <a:t> </a:t>
            </a:r>
            <a:r>
              <a:rPr dirty="0" sz="1000">
                <a:latin typeface="Times New Roman"/>
                <a:cs typeface="Times New Roman"/>
              </a:rPr>
              <a:t>analysis</a:t>
            </a:r>
            <a:r>
              <a:rPr dirty="0" sz="1000" spc="80">
                <a:latin typeface="Times New Roman"/>
                <a:cs typeface="Times New Roman"/>
              </a:rPr>
              <a:t> </a:t>
            </a:r>
            <a:r>
              <a:rPr dirty="0" sz="1000">
                <a:latin typeface="Times New Roman"/>
                <a:cs typeface="Times New Roman"/>
              </a:rPr>
              <a:t>task.</a:t>
            </a:r>
            <a:r>
              <a:rPr dirty="0" sz="1000" spc="200">
                <a:latin typeface="Times New Roman"/>
                <a:cs typeface="Times New Roman"/>
              </a:rPr>
              <a:t> </a:t>
            </a:r>
            <a:r>
              <a:rPr dirty="0" sz="1000">
                <a:latin typeface="Times New Roman"/>
                <a:cs typeface="Times New Roman"/>
              </a:rPr>
              <a:t>It</a:t>
            </a:r>
            <a:r>
              <a:rPr dirty="0" sz="1000" spc="85">
                <a:latin typeface="Times New Roman"/>
                <a:cs typeface="Times New Roman"/>
              </a:rPr>
              <a:t> </a:t>
            </a:r>
            <a:r>
              <a:rPr dirty="0" sz="1000" spc="-10">
                <a:latin typeface="Times New Roman"/>
                <a:cs typeface="Times New Roman"/>
              </a:rPr>
              <a:t>collects 2,199</a:t>
            </a:r>
            <a:r>
              <a:rPr dirty="0" sz="1000" spc="25">
                <a:latin typeface="Times New Roman"/>
                <a:cs typeface="Times New Roman"/>
              </a:rPr>
              <a:t> </a:t>
            </a:r>
            <a:r>
              <a:rPr dirty="0" sz="1000">
                <a:latin typeface="Times New Roman"/>
                <a:cs typeface="Times New Roman"/>
              </a:rPr>
              <a:t>utterance-video</a:t>
            </a:r>
            <a:r>
              <a:rPr dirty="0" sz="1000" spc="25">
                <a:latin typeface="Times New Roman"/>
                <a:cs typeface="Times New Roman"/>
              </a:rPr>
              <a:t> </a:t>
            </a:r>
            <a:r>
              <a:rPr dirty="0" sz="1000">
                <a:latin typeface="Times New Roman"/>
                <a:cs typeface="Times New Roman"/>
              </a:rPr>
              <a:t>clips</a:t>
            </a:r>
            <a:r>
              <a:rPr dirty="0" sz="1000" spc="25">
                <a:latin typeface="Times New Roman"/>
                <a:cs typeface="Times New Roman"/>
              </a:rPr>
              <a:t> </a:t>
            </a:r>
            <a:r>
              <a:rPr dirty="0" sz="1000" spc="-20">
                <a:latin typeface="Times New Roman"/>
                <a:cs typeface="Times New Roman"/>
              </a:rPr>
              <a:t>of</a:t>
            </a:r>
            <a:r>
              <a:rPr dirty="0" sz="1000" spc="25">
                <a:latin typeface="Times New Roman"/>
                <a:cs typeface="Times New Roman"/>
              </a:rPr>
              <a:t> </a:t>
            </a:r>
            <a:r>
              <a:rPr dirty="0" sz="1000" spc="-20">
                <a:latin typeface="Times New Roman"/>
                <a:cs typeface="Times New Roman"/>
              </a:rPr>
              <a:t>93</a:t>
            </a:r>
            <a:r>
              <a:rPr dirty="0" sz="1000" spc="25">
                <a:latin typeface="Times New Roman"/>
                <a:cs typeface="Times New Roman"/>
              </a:rPr>
              <a:t> </a:t>
            </a:r>
            <a:r>
              <a:rPr dirty="0" sz="1000">
                <a:latin typeface="Times New Roman"/>
                <a:cs typeface="Times New Roman"/>
              </a:rPr>
              <a:t>monologue</a:t>
            </a:r>
            <a:r>
              <a:rPr dirty="0" sz="1000" spc="25">
                <a:latin typeface="Times New Roman"/>
                <a:cs typeface="Times New Roman"/>
              </a:rPr>
              <a:t> </a:t>
            </a:r>
            <a:r>
              <a:rPr dirty="0" sz="1000">
                <a:latin typeface="Times New Roman"/>
                <a:cs typeface="Times New Roman"/>
              </a:rPr>
              <a:t>videos</a:t>
            </a:r>
            <a:r>
              <a:rPr dirty="0" sz="1000" spc="25">
                <a:latin typeface="Times New Roman"/>
                <a:cs typeface="Times New Roman"/>
              </a:rPr>
              <a:t> </a:t>
            </a:r>
            <a:r>
              <a:rPr dirty="0" sz="1000">
                <a:latin typeface="Times New Roman"/>
                <a:cs typeface="Times New Roman"/>
              </a:rPr>
              <a:t>from</a:t>
            </a:r>
            <a:r>
              <a:rPr dirty="0" sz="1000" spc="20">
                <a:latin typeface="Times New Roman"/>
                <a:cs typeface="Times New Roman"/>
              </a:rPr>
              <a:t> </a:t>
            </a:r>
            <a:r>
              <a:rPr dirty="0" sz="1000" spc="-10">
                <a:latin typeface="Times New Roman"/>
                <a:cs typeface="Times New Roman"/>
              </a:rPr>
              <a:t>YouTube,</a:t>
            </a:r>
            <a:r>
              <a:rPr dirty="0" sz="1000" spc="35">
                <a:latin typeface="Times New Roman"/>
                <a:cs typeface="Times New Roman"/>
              </a:rPr>
              <a:t> </a:t>
            </a:r>
            <a:r>
              <a:rPr dirty="0" sz="1000">
                <a:latin typeface="Times New Roman"/>
                <a:cs typeface="Times New Roman"/>
              </a:rPr>
              <a:t>each</a:t>
            </a:r>
            <a:r>
              <a:rPr dirty="0" sz="1000" spc="25">
                <a:latin typeface="Times New Roman"/>
                <a:cs typeface="Times New Roman"/>
              </a:rPr>
              <a:t> </a:t>
            </a:r>
            <a:r>
              <a:rPr dirty="0" sz="1000" spc="-20">
                <a:latin typeface="Times New Roman"/>
                <a:cs typeface="Times New Roman"/>
              </a:rPr>
              <a:t>of</a:t>
            </a:r>
            <a:r>
              <a:rPr dirty="0" sz="1000" spc="25">
                <a:latin typeface="Times New Roman"/>
                <a:cs typeface="Times New Roman"/>
              </a:rPr>
              <a:t> </a:t>
            </a:r>
            <a:r>
              <a:rPr dirty="0" sz="1000">
                <a:latin typeface="Times New Roman"/>
                <a:cs typeface="Times New Roman"/>
              </a:rPr>
              <a:t>which</a:t>
            </a:r>
            <a:r>
              <a:rPr dirty="0" sz="1000" spc="25">
                <a:latin typeface="Times New Roman"/>
                <a:cs typeface="Times New Roman"/>
              </a:rPr>
              <a:t> </a:t>
            </a:r>
            <a:r>
              <a:rPr dirty="0" sz="1000">
                <a:latin typeface="Times New Roman"/>
                <a:cs typeface="Times New Roman"/>
              </a:rPr>
              <a:t>is</a:t>
            </a:r>
            <a:r>
              <a:rPr dirty="0" sz="1000" spc="25">
                <a:latin typeface="Times New Roman"/>
                <a:cs typeface="Times New Roman"/>
              </a:rPr>
              <a:t> </a:t>
            </a:r>
            <a:r>
              <a:rPr dirty="0" sz="1000">
                <a:latin typeface="Times New Roman"/>
                <a:cs typeface="Times New Roman"/>
              </a:rPr>
              <a:t>labeled</a:t>
            </a:r>
            <a:r>
              <a:rPr dirty="0" sz="1000" spc="25">
                <a:latin typeface="Times New Roman"/>
                <a:cs typeface="Times New Roman"/>
              </a:rPr>
              <a:t> </a:t>
            </a:r>
            <a:r>
              <a:rPr dirty="0" sz="1000">
                <a:latin typeface="Times New Roman"/>
                <a:cs typeface="Times New Roman"/>
              </a:rPr>
              <a:t>with</a:t>
            </a:r>
            <a:r>
              <a:rPr dirty="0" sz="1000" spc="25">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spc="-10">
                <a:latin typeface="Times New Roman"/>
                <a:cs typeface="Times New Roman"/>
              </a:rPr>
              <a:t>continuous </a:t>
            </a:r>
            <a:r>
              <a:rPr dirty="0" sz="1000">
                <a:latin typeface="Times New Roman"/>
                <a:cs typeface="Times New Roman"/>
              </a:rPr>
              <a:t>sentiment</a:t>
            </a:r>
            <a:r>
              <a:rPr dirty="0" sz="1000" spc="135">
                <a:latin typeface="Times New Roman"/>
                <a:cs typeface="Times New Roman"/>
              </a:rPr>
              <a:t> </a:t>
            </a:r>
            <a:r>
              <a:rPr dirty="0" sz="1000">
                <a:latin typeface="Times New Roman"/>
                <a:cs typeface="Times New Roman"/>
              </a:rPr>
              <a:t>score</a:t>
            </a:r>
            <a:r>
              <a:rPr dirty="0" sz="1000" spc="135">
                <a:latin typeface="Times New Roman"/>
                <a:cs typeface="Times New Roman"/>
              </a:rPr>
              <a:t> </a:t>
            </a:r>
            <a:r>
              <a:rPr dirty="0" sz="1000">
                <a:latin typeface="Times New Roman"/>
                <a:cs typeface="Times New Roman"/>
              </a:rPr>
              <a:t>ranging</a:t>
            </a:r>
            <a:r>
              <a:rPr dirty="0" sz="1000" spc="135">
                <a:latin typeface="Times New Roman"/>
                <a:cs typeface="Times New Roman"/>
              </a:rPr>
              <a:t> </a:t>
            </a:r>
            <a:r>
              <a:rPr dirty="0" sz="1000">
                <a:latin typeface="Times New Roman"/>
                <a:cs typeface="Times New Roman"/>
              </a:rPr>
              <a:t>from</a:t>
            </a:r>
            <a:r>
              <a:rPr dirty="0" sz="1000" spc="135">
                <a:latin typeface="Times New Roman"/>
                <a:cs typeface="Times New Roman"/>
              </a:rPr>
              <a:t> </a:t>
            </a:r>
            <a:r>
              <a:rPr dirty="0" sz="1000" spc="-20">
                <a:latin typeface="Times New Roman"/>
                <a:cs typeface="Times New Roman"/>
              </a:rPr>
              <a:t>-</a:t>
            </a:r>
            <a:r>
              <a:rPr dirty="0" sz="1000">
                <a:latin typeface="Times New Roman"/>
                <a:cs typeface="Times New Roman"/>
              </a:rPr>
              <a:t>3</a:t>
            </a:r>
            <a:r>
              <a:rPr dirty="0" sz="1000" spc="135">
                <a:latin typeface="Times New Roman"/>
                <a:cs typeface="Times New Roman"/>
              </a:rPr>
              <a:t> </a:t>
            </a:r>
            <a:r>
              <a:rPr dirty="0" sz="1000">
                <a:latin typeface="Times New Roman"/>
                <a:cs typeface="Times New Roman"/>
              </a:rPr>
              <a:t>(strongly</a:t>
            </a:r>
            <a:r>
              <a:rPr dirty="0" sz="1000" spc="135">
                <a:latin typeface="Times New Roman"/>
                <a:cs typeface="Times New Roman"/>
              </a:rPr>
              <a:t> </a:t>
            </a:r>
            <a:r>
              <a:rPr dirty="0" sz="1000">
                <a:latin typeface="Times New Roman"/>
                <a:cs typeface="Times New Roman"/>
              </a:rPr>
              <a:t>negative)</a:t>
            </a:r>
            <a:r>
              <a:rPr dirty="0" sz="1000" spc="135">
                <a:latin typeface="Times New Roman"/>
                <a:cs typeface="Times New Roman"/>
              </a:rPr>
              <a:t> </a:t>
            </a:r>
            <a:r>
              <a:rPr dirty="0" sz="1000">
                <a:latin typeface="Times New Roman"/>
                <a:cs typeface="Times New Roman"/>
              </a:rPr>
              <a:t>to</a:t>
            </a:r>
            <a:r>
              <a:rPr dirty="0" sz="1000" spc="135">
                <a:latin typeface="Times New Roman"/>
                <a:cs typeface="Times New Roman"/>
              </a:rPr>
              <a:t> </a:t>
            </a:r>
            <a:r>
              <a:rPr dirty="0" sz="1000">
                <a:latin typeface="Times New Roman"/>
                <a:cs typeface="Times New Roman"/>
              </a:rPr>
              <a:t>3</a:t>
            </a:r>
            <a:r>
              <a:rPr dirty="0" sz="1000" spc="135">
                <a:latin typeface="Times New Roman"/>
                <a:cs typeface="Times New Roman"/>
              </a:rPr>
              <a:t> </a:t>
            </a:r>
            <a:r>
              <a:rPr dirty="0" sz="1000">
                <a:latin typeface="Times New Roman"/>
                <a:cs typeface="Times New Roman"/>
              </a:rPr>
              <a:t>(strongly</a:t>
            </a:r>
            <a:r>
              <a:rPr dirty="0" sz="1000" spc="135">
                <a:latin typeface="Times New Roman"/>
                <a:cs typeface="Times New Roman"/>
              </a:rPr>
              <a:t> </a:t>
            </a:r>
            <a:r>
              <a:rPr dirty="0" sz="1000">
                <a:latin typeface="Times New Roman"/>
                <a:cs typeface="Times New Roman"/>
              </a:rPr>
              <a:t>positive).</a:t>
            </a:r>
            <a:r>
              <a:rPr dirty="0" sz="1000" spc="420">
                <a:latin typeface="Times New Roman"/>
                <a:cs typeface="Times New Roman"/>
              </a:rPr>
              <a:t> </a:t>
            </a:r>
            <a:r>
              <a:rPr dirty="0" sz="1000">
                <a:latin typeface="Times New Roman"/>
                <a:cs typeface="Times New Roman"/>
              </a:rPr>
              <a:t>In</a:t>
            </a:r>
            <a:r>
              <a:rPr dirty="0" sz="1000" spc="135">
                <a:latin typeface="Times New Roman"/>
                <a:cs typeface="Times New Roman"/>
              </a:rPr>
              <a:t> </a:t>
            </a:r>
            <a:r>
              <a:rPr dirty="0" sz="1000">
                <a:latin typeface="Times New Roman"/>
                <a:cs typeface="Times New Roman"/>
              </a:rPr>
              <a:t>this</a:t>
            </a:r>
            <a:r>
              <a:rPr dirty="0" sz="1000" spc="135">
                <a:latin typeface="Times New Roman"/>
                <a:cs typeface="Times New Roman"/>
              </a:rPr>
              <a:t> </a:t>
            </a:r>
            <a:r>
              <a:rPr dirty="0" sz="1000">
                <a:latin typeface="Times New Roman"/>
                <a:cs typeface="Times New Roman"/>
              </a:rPr>
              <a:t>paper,</a:t>
            </a:r>
            <a:r>
              <a:rPr dirty="0" sz="1000" spc="160">
                <a:latin typeface="Times New Roman"/>
                <a:cs typeface="Times New Roman"/>
              </a:rPr>
              <a:t> </a:t>
            </a:r>
            <a:r>
              <a:rPr dirty="0" sz="1000">
                <a:latin typeface="Times New Roman"/>
                <a:cs typeface="Times New Roman"/>
              </a:rPr>
              <a:t>we</a:t>
            </a:r>
            <a:r>
              <a:rPr dirty="0" sz="1000" spc="135">
                <a:latin typeface="Times New Roman"/>
                <a:cs typeface="Times New Roman"/>
              </a:rPr>
              <a:t> </a:t>
            </a:r>
            <a:r>
              <a:rPr dirty="0" sz="1000">
                <a:latin typeface="Times New Roman"/>
                <a:cs typeface="Times New Roman"/>
              </a:rPr>
              <a:t>use</a:t>
            </a:r>
            <a:r>
              <a:rPr dirty="0" sz="1000" spc="135">
                <a:latin typeface="Times New Roman"/>
                <a:cs typeface="Times New Roman"/>
              </a:rPr>
              <a:t> </a:t>
            </a:r>
            <a:r>
              <a:rPr dirty="0" sz="1000">
                <a:latin typeface="Times New Roman"/>
                <a:cs typeface="Times New Roman"/>
              </a:rPr>
              <a:t>the</a:t>
            </a:r>
            <a:r>
              <a:rPr dirty="0" sz="1000" spc="135">
                <a:latin typeface="Times New Roman"/>
                <a:cs typeface="Times New Roman"/>
              </a:rPr>
              <a:t> </a:t>
            </a:r>
            <a:r>
              <a:rPr dirty="0" sz="1000" spc="-20">
                <a:latin typeface="Times New Roman"/>
                <a:cs typeface="Times New Roman"/>
              </a:rPr>
              <a:t>two- </a:t>
            </a:r>
            <a:r>
              <a:rPr dirty="0" sz="1000">
                <a:latin typeface="Times New Roman"/>
                <a:cs typeface="Times New Roman"/>
              </a:rPr>
              <a:t>class</a:t>
            </a:r>
            <a:r>
              <a:rPr dirty="0" sz="1000" spc="170">
                <a:latin typeface="Times New Roman"/>
                <a:cs typeface="Times New Roman"/>
              </a:rPr>
              <a:t> </a:t>
            </a:r>
            <a:r>
              <a:rPr dirty="0" sz="1000">
                <a:latin typeface="Times New Roman"/>
                <a:cs typeface="Times New Roman"/>
              </a:rPr>
              <a:t>label</a:t>
            </a:r>
            <a:r>
              <a:rPr dirty="0" sz="1000" spc="180">
                <a:latin typeface="Times New Roman"/>
                <a:cs typeface="Times New Roman"/>
              </a:rPr>
              <a:t> </a:t>
            </a:r>
            <a:r>
              <a:rPr dirty="0" sz="1000">
                <a:latin typeface="Times New Roman"/>
                <a:cs typeface="Times New Roman"/>
              </a:rPr>
              <a:t>setting</a:t>
            </a:r>
            <a:r>
              <a:rPr dirty="0" sz="1000" spc="170">
                <a:latin typeface="Times New Roman"/>
                <a:cs typeface="Times New Roman"/>
              </a:rPr>
              <a:t> </a:t>
            </a:r>
            <a:r>
              <a:rPr dirty="0" sz="1000">
                <a:latin typeface="Times New Roman"/>
                <a:cs typeface="Times New Roman"/>
              </a:rPr>
              <a:t>that</a:t>
            </a:r>
            <a:r>
              <a:rPr dirty="0" sz="1000" spc="180">
                <a:latin typeface="Times New Roman"/>
                <a:cs typeface="Times New Roman"/>
              </a:rPr>
              <a:t> </a:t>
            </a:r>
            <a:r>
              <a:rPr dirty="0" sz="1000">
                <a:latin typeface="Times New Roman"/>
                <a:cs typeface="Times New Roman"/>
              </a:rPr>
              <a:t>considers</a:t>
            </a:r>
            <a:r>
              <a:rPr dirty="0" sz="1000" spc="180">
                <a:latin typeface="Times New Roman"/>
                <a:cs typeface="Times New Roman"/>
              </a:rPr>
              <a:t> </a:t>
            </a:r>
            <a:r>
              <a:rPr dirty="0" sz="1000">
                <a:latin typeface="Times New Roman"/>
                <a:cs typeface="Times New Roman"/>
              </a:rPr>
              <a:t>positive/negative</a:t>
            </a:r>
            <a:r>
              <a:rPr dirty="0" sz="1000" spc="175">
                <a:latin typeface="Times New Roman"/>
                <a:cs typeface="Times New Roman"/>
              </a:rPr>
              <a:t> </a:t>
            </a:r>
            <a:r>
              <a:rPr dirty="0" sz="1000">
                <a:latin typeface="Times New Roman"/>
                <a:cs typeface="Times New Roman"/>
              </a:rPr>
              <a:t>results</a:t>
            </a:r>
            <a:r>
              <a:rPr dirty="0" sz="1000" spc="170">
                <a:latin typeface="Times New Roman"/>
                <a:cs typeface="Times New Roman"/>
              </a:rPr>
              <a:t> </a:t>
            </a:r>
            <a:r>
              <a:rPr dirty="0" sz="1000">
                <a:latin typeface="Times New Roman"/>
                <a:cs typeface="Times New Roman"/>
              </a:rPr>
              <a:t>only.</a:t>
            </a:r>
            <a:r>
              <a:rPr dirty="0" sz="1000" spc="140">
                <a:latin typeface="Times New Roman"/>
                <a:cs typeface="Times New Roman"/>
              </a:rPr>
              <a:t>  </a:t>
            </a:r>
            <a:r>
              <a:rPr dirty="0" sz="1000">
                <a:latin typeface="Times New Roman"/>
                <a:cs typeface="Times New Roman"/>
              </a:rPr>
              <a:t>We</a:t>
            </a:r>
            <a:r>
              <a:rPr dirty="0" sz="1000" spc="175">
                <a:latin typeface="Times New Roman"/>
                <a:cs typeface="Times New Roman"/>
              </a:rPr>
              <a:t> </a:t>
            </a:r>
            <a:r>
              <a:rPr dirty="0" sz="1000">
                <a:latin typeface="Times New Roman"/>
                <a:cs typeface="Times New Roman"/>
              </a:rPr>
              <a:t>use</a:t>
            </a:r>
            <a:r>
              <a:rPr dirty="0" sz="1000" spc="180">
                <a:latin typeface="Times New Roman"/>
                <a:cs typeface="Times New Roman"/>
              </a:rPr>
              <a:t> </a:t>
            </a:r>
            <a:r>
              <a:rPr dirty="0" sz="1000">
                <a:latin typeface="Times New Roman"/>
                <a:cs typeface="Times New Roman"/>
              </a:rPr>
              <a:t>this</a:t>
            </a:r>
            <a:r>
              <a:rPr dirty="0" sz="1000" spc="180">
                <a:latin typeface="Times New Roman"/>
                <a:cs typeface="Times New Roman"/>
              </a:rPr>
              <a:t> </a:t>
            </a:r>
            <a:r>
              <a:rPr dirty="0" sz="1000">
                <a:latin typeface="Times New Roman"/>
                <a:cs typeface="Times New Roman"/>
              </a:rPr>
              <a:t>dataset</a:t>
            </a:r>
            <a:r>
              <a:rPr dirty="0" sz="1000" spc="170">
                <a:latin typeface="Times New Roman"/>
                <a:cs typeface="Times New Roman"/>
              </a:rPr>
              <a:t> </a:t>
            </a:r>
            <a:r>
              <a:rPr dirty="0" sz="1000">
                <a:latin typeface="Times New Roman"/>
                <a:cs typeface="Times New Roman"/>
              </a:rPr>
              <a:t>to</a:t>
            </a:r>
            <a:r>
              <a:rPr dirty="0" sz="1000" spc="175">
                <a:latin typeface="Times New Roman"/>
                <a:cs typeface="Times New Roman"/>
              </a:rPr>
              <a:t> </a:t>
            </a:r>
            <a:r>
              <a:rPr dirty="0" sz="1000">
                <a:latin typeface="Times New Roman"/>
                <a:cs typeface="Times New Roman"/>
              </a:rPr>
              <a:t>prove</a:t>
            </a:r>
            <a:r>
              <a:rPr dirty="0" sz="1000" spc="170">
                <a:latin typeface="Times New Roman"/>
                <a:cs typeface="Times New Roman"/>
              </a:rPr>
              <a:t> </a:t>
            </a:r>
            <a:r>
              <a:rPr dirty="0" sz="1000">
                <a:latin typeface="Times New Roman"/>
                <a:cs typeface="Times New Roman"/>
              </a:rPr>
              <a:t>the</a:t>
            </a:r>
            <a:r>
              <a:rPr dirty="0" sz="1000" spc="180">
                <a:latin typeface="Times New Roman"/>
                <a:cs typeface="Times New Roman"/>
              </a:rPr>
              <a:t> </a:t>
            </a:r>
            <a:r>
              <a:rPr dirty="0" sz="1000" spc="-10">
                <a:latin typeface="Times New Roman"/>
                <a:cs typeface="Times New Roman"/>
              </a:rPr>
              <a:t>method’s </a:t>
            </a:r>
            <a:r>
              <a:rPr dirty="0" sz="1000" spc="10">
                <a:latin typeface="Times New Roman"/>
                <a:cs typeface="Times New Roman"/>
              </a:rPr>
              <a:t>generalization</a:t>
            </a:r>
            <a:r>
              <a:rPr dirty="0" sz="1000" spc="75">
                <a:latin typeface="Times New Roman"/>
                <a:cs typeface="Times New Roman"/>
              </a:rPr>
              <a:t> </a:t>
            </a:r>
            <a:r>
              <a:rPr dirty="0" sz="1000" spc="10">
                <a:latin typeface="Times New Roman"/>
                <a:cs typeface="Times New Roman"/>
              </a:rPr>
              <a:t>to</a:t>
            </a:r>
            <a:r>
              <a:rPr dirty="0" sz="1000" spc="80">
                <a:latin typeface="Times New Roman"/>
                <a:cs typeface="Times New Roman"/>
              </a:rPr>
              <a:t> </a:t>
            </a:r>
            <a:r>
              <a:rPr dirty="0" sz="1000" spc="10">
                <a:latin typeface="Times New Roman"/>
                <a:cs typeface="Times New Roman"/>
              </a:rPr>
              <a:t>the</a:t>
            </a:r>
            <a:r>
              <a:rPr dirty="0" sz="1000" spc="75">
                <a:latin typeface="Times New Roman"/>
                <a:cs typeface="Times New Roman"/>
              </a:rPr>
              <a:t> </a:t>
            </a:r>
            <a:r>
              <a:rPr dirty="0" sz="1000" spc="10">
                <a:latin typeface="Times New Roman"/>
                <a:cs typeface="Times New Roman"/>
              </a:rPr>
              <a:t>scene</a:t>
            </a:r>
            <a:r>
              <a:rPr dirty="0" sz="1000" spc="80">
                <a:latin typeface="Times New Roman"/>
                <a:cs typeface="Times New Roman"/>
              </a:rPr>
              <a:t> </a:t>
            </a:r>
            <a:r>
              <a:rPr dirty="0" sz="1000" spc="10">
                <a:latin typeface="Times New Roman"/>
                <a:cs typeface="Times New Roman"/>
              </a:rPr>
              <a:t>with</a:t>
            </a:r>
            <a:r>
              <a:rPr dirty="0" sz="1000" spc="75">
                <a:latin typeface="Times New Roman"/>
                <a:cs typeface="Times New Roman"/>
              </a:rPr>
              <a:t> </a:t>
            </a:r>
            <a:r>
              <a:rPr dirty="0" sz="1000" spc="10">
                <a:latin typeface="Times New Roman"/>
                <a:cs typeface="Times New Roman"/>
              </a:rPr>
              <a:t>multiple</a:t>
            </a:r>
            <a:r>
              <a:rPr dirty="0" sz="1000" spc="80">
                <a:latin typeface="Times New Roman"/>
                <a:cs typeface="Times New Roman"/>
              </a:rPr>
              <a:t> </a:t>
            </a:r>
            <a:r>
              <a:rPr dirty="0" sz="1000" spc="-10">
                <a:latin typeface="Times New Roman"/>
                <a:cs typeface="Times New Roman"/>
              </a:rPr>
              <a:t>modalities.</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spc="-10">
                <a:latin typeface="Times New Roman"/>
                <a:cs typeface="Times New Roman"/>
              </a:rPr>
              <a:t>MOSI</a:t>
            </a:r>
            <a:r>
              <a:rPr dirty="0" sz="1000" spc="5">
                <a:latin typeface="Times New Roman"/>
                <a:cs typeface="Times New Roman"/>
              </a:rPr>
              <a:t> </a:t>
            </a:r>
            <a:r>
              <a:rPr dirty="0" sz="1000">
                <a:latin typeface="Times New Roman"/>
                <a:cs typeface="Times New Roman"/>
              </a:rPr>
              <a:t>[38]</a:t>
            </a:r>
            <a:r>
              <a:rPr dirty="0" sz="1000" spc="5">
                <a:latin typeface="Times New Roman"/>
                <a:cs typeface="Times New Roman"/>
              </a:rPr>
              <a:t> </a:t>
            </a:r>
            <a:r>
              <a:rPr dirty="0" sz="1000" spc="-20">
                <a:latin typeface="SimSun"/>
                <a:cs typeface="SimSun"/>
              </a:rPr>
              <a:t>是一个用于多模态情感分析任务的流行视听文本数据集。它从 </a:t>
            </a:r>
            <a:r>
              <a:rPr dirty="0" sz="1000" spc="-10">
                <a:latin typeface="Times New Roman"/>
                <a:cs typeface="Times New Roman"/>
              </a:rPr>
              <a:t>YouTube</a:t>
            </a:r>
            <a:r>
              <a:rPr dirty="0" sz="1000" spc="5">
                <a:latin typeface="Times New Roman"/>
                <a:cs typeface="Times New Roman"/>
              </a:rPr>
              <a:t> </a:t>
            </a:r>
            <a:r>
              <a:rPr dirty="0" sz="1000" spc="-70">
                <a:latin typeface="SimSun"/>
                <a:cs typeface="SimSun"/>
              </a:rPr>
              <a:t>收集了 </a:t>
            </a:r>
            <a:r>
              <a:rPr dirty="0" sz="1000" spc="-10">
                <a:latin typeface="Times New Roman"/>
                <a:cs typeface="Times New Roman"/>
              </a:rPr>
              <a:t>93</a:t>
            </a:r>
            <a:r>
              <a:rPr dirty="0" sz="1000" spc="5">
                <a:latin typeface="Times New Roman"/>
                <a:cs typeface="Times New Roman"/>
              </a:rPr>
              <a:t> </a:t>
            </a:r>
            <a:r>
              <a:rPr dirty="0" sz="1000" spc="-10">
                <a:latin typeface="SimSun"/>
                <a:cs typeface="SimSun"/>
              </a:rPr>
              <a:t>个独</a:t>
            </a:r>
            <a:r>
              <a:rPr dirty="0" sz="1000" spc="-70">
                <a:latin typeface="SimSun"/>
                <a:cs typeface="SimSun"/>
              </a:rPr>
              <a:t>白视频的 </a:t>
            </a:r>
            <a:r>
              <a:rPr dirty="0" sz="1000" spc="-10">
                <a:latin typeface="Times New Roman"/>
                <a:cs typeface="Times New Roman"/>
              </a:rPr>
              <a:t>2199</a:t>
            </a:r>
            <a:r>
              <a:rPr dirty="0" sz="1000" spc="-40">
                <a:latin typeface="Times New Roman"/>
                <a:cs typeface="Times New Roman"/>
              </a:rPr>
              <a:t> </a:t>
            </a:r>
            <a:r>
              <a:rPr dirty="0" sz="1000" spc="60">
                <a:latin typeface="SimSun"/>
                <a:cs typeface="SimSun"/>
              </a:rPr>
              <a:t>个话语</a:t>
            </a:r>
            <a:r>
              <a:rPr dirty="0" sz="1000" spc="-35">
                <a:latin typeface="Times New Roman"/>
                <a:cs typeface="Times New Roman"/>
              </a:rPr>
              <a:t>- </a:t>
            </a:r>
            <a:r>
              <a:rPr dirty="0" sz="1000" spc="-65">
                <a:latin typeface="SimSun"/>
                <a:cs typeface="SimSun"/>
              </a:rPr>
              <a:t>视频片段，每个片段都用从 </a:t>
            </a:r>
            <a:r>
              <a:rPr dirty="0" sz="1000" spc="-35">
                <a:latin typeface="Times New Roman"/>
                <a:cs typeface="Times New Roman"/>
              </a:rPr>
              <a:t>- </a:t>
            </a:r>
            <a:r>
              <a:rPr dirty="0" sz="1000" spc="-5">
                <a:latin typeface="Times New Roman"/>
                <a:cs typeface="Times New Roman"/>
              </a:rPr>
              <a:t>3(</a:t>
            </a:r>
            <a:r>
              <a:rPr dirty="0" sz="1000" spc="-10">
                <a:latin typeface="SimSun"/>
                <a:cs typeface="SimSun"/>
              </a:rPr>
              <a:t>强烈负面</a:t>
            </a:r>
            <a:r>
              <a:rPr dirty="0" sz="1000" spc="-20">
                <a:latin typeface="Times New Roman"/>
                <a:cs typeface="Times New Roman"/>
              </a:rPr>
              <a:t>) </a:t>
            </a:r>
            <a:r>
              <a:rPr dirty="0" sz="1000" spc="-150">
                <a:latin typeface="SimSun"/>
                <a:cs typeface="SimSun"/>
              </a:rPr>
              <a:t>到 </a:t>
            </a:r>
            <a:r>
              <a:rPr dirty="0" sz="1000" spc="-10">
                <a:latin typeface="Times New Roman"/>
                <a:cs typeface="Times New Roman"/>
              </a:rPr>
              <a:t>3(</a:t>
            </a:r>
            <a:r>
              <a:rPr dirty="0" sz="1000" spc="-10">
                <a:latin typeface="SimSun"/>
                <a:cs typeface="SimSun"/>
              </a:rPr>
              <a:t>强烈正面</a:t>
            </a:r>
            <a:r>
              <a:rPr dirty="0" sz="1000" spc="-20">
                <a:latin typeface="Times New Roman"/>
                <a:cs typeface="Times New Roman"/>
              </a:rPr>
              <a:t>) </a:t>
            </a:r>
            <a:r>
              <a:rPr dirty="0" sz="1000" spc="-10">
                <a:latin typeface="SimSun"/>
                <a:cs typeface="SimSun"/>
              </a:rPr>
              <a:t>的连续情感分数进行标注。在本文中，我们使用仅考虑正</a:t>
            </a:r>
            <a:r>
              <a:rPr dirty="0" sz="1000" spc="110">
                <a:latin typeface="Times New Roman"/>
                <a:cs typeface="Times New Roman"/>
              </a:rPr>
              <a:t>/</a:t>
            </a:r>
            <a:r>
              <a:rPr dirty="0" sz="1000" spc="-10">
                <a:latin typeface="SimSun"/>
                <a:cs typeface="SimSun"/>
              </a:rPr>
              <a:t>负结果的二分类标签设置。我们使用这个数据集来证明该方法对多模态场景的泛化能力。</a:t>
            </a:r>
            <a:endParaRPr sz="1000">
              <a:latin typeface="SimSun"/>
              <a:cs typeface="SimSun"/>
            </a:endParaRPr>
          </a:p>
          <a:p>
            <a:pPr>
              <a:lnSpc>
                <a:spcPct val="100000"/>
              </a:lnSpc>
              <a:spcBef>
                <a:spcPts val="5"/>
              </a:spcBef>
            </a:pPr>
            <a:endParaRPr sz="1000">
              <a:latin typeface="SimSun"/>
              <a:cs typeface="SimSun"/>
            </a:endParaRPr>
          </a:p>
          <a:p>
            <a:pPr algn="just" marL="12700" marR="5080" indent="252729">
              <a:lnSpc>
                <a:spcPct val="129500"/>
              </a:lnSpc>
            </a:pPr>
            <a:r>
              <a:rPr dirty="0" sz="1000" spc="-20">
                <a:latin typeface="Times New Roman"/>
                <a:cs typeface="Times New Roman"/>
              </a:rPr>
              <a:t>NYUv2</a:t>
            </a:r>
            <a:r>
              <a:rPr dirty="0" sz="1000" spc="-60">
                <a:latin typeface="Times New Roman"/>
                <a:cs typeface="Times New Roman"/>
              </a:rPr>
              <a:t> </a:t>
            </a:r>
            <a:r>
              <a:rPr dirty="0" sz="1000">
                <a:latin typeface="Times New Roman"/>
                <a:cs typeface="Times New Roman"/>
              </a:rPr>
              <a:t>[24]</a:t>
            </a:r>
            <a:r>
              <a:rPr dirty="0" sz="1000" spc="-60">
                <a:latin typeface="Times New Roman"/>
                <a:cs typeface="Times New Roman"/>
              </a:rPr>
              <a:t> </a:t>
            </a:r>
            <a:r>
              <a:rPr dirty="0" sz="1000" spc="5">
                <a:latin typeface="Times New Roman"/>
                <a:cs typeface="Times New Roman"/>
              </a:rPr>
              <a:t>is</a:t>
            </a:r>
            <a:r>
              <a:rPr dirty="0" sz="1000" spc="-60">
                <a:latin typeface="Times New Roman"/>
                <a:cs typeface="Times New Roman"/>
              </a:rPr>
              <a:t> </a:t>
            </a:r>
            <a:r>
              <a:rPr dirty="0" sz="1000" spc="25">
                <a:latin typeface="Times New Roman"/>
                <a:cs typeface="Times New Roman"/>
              </a:rPr>
              <a:t>a</a:t>
            </a:r>
            <a:r>
              <a:rPr dirty="0" sz="1000" spc="-60">
                <a:latin typeface="Times New Roman"/>
                <a:cs typeface="Times New Roman"/>
              </a:rPr>
              <a:t> </a:t>
            </a:r>
            <a:r>
              <a:rPr dirty="0" sz="1000" spc="-20">
                <a:latin typeface="Times New Roman"/>
                <a:cs typeface="Times New Roman"/>
              </a:rPr>
              <a:t>RGB-</a:t>
            </a:r>
            <a:r>
              <a:rPr dirty="0" sz="1000" spc="-25">
                <a:latin typeface="Times New Roman"/>
                <a:cs typeface="Times New Roman"/>
              </a:rPr>
              <a:t>D</a:t>
            </a:r>
            <a:r>
              <a:rPr dirty="0" sz="1000" spc="-60">
                <a:latin typeface="Times New Roman"/>
                <a:cs typeface="Times New Roman"/>
              </a:rPr>
              <a:t> </a:t>
            </a:r>
            <a:r>
              <a:rPr dirty="0" sz="1000" spc="20">
                <a:latin typeface="Times New Roman"/>
                <a:cs typeface="Times New Roman"/>
              </a:rPr>
              <a:t>dataset</a:t>
            </a:r>
            <a:r>
              <a:rPr dirty="0" sz="1000" spc="-60">
                <a:latin typeface="Times New Roman"/>
                <a:cs typeface="Times New Roman"/>
              </a:rPr>
              <a:t> </a:t>
            </a:r>
            <a:r>
              <a:rPr dirty="0" sz="1000">
                <a:latin typeface="Times New Roman"/>
                <a:cs typeface="Times New Roman"/>
              </a:rPr>
              <a:t>for</a:t>
            </a:r>
            <a:r>
              <a:rPr dirty="0" sz="1000" spc="-60">
                <a:latin typeface="Times New Roman"/>
                <a:cs typeface="Times New Roman"/>
              </a:rPr>
              <a:t> </a:t>
            </a:r>
            <a:r>
              <a:rPr dirty="0" sz="1000" spc="30">
                <a:latin typeface="Times New Roman"/>
                <a:cs typeface="Times New Roman"/>
              </a:rPr>
              <a:t>indoor</a:t>
            </a:r>
            <a:r>
              <a:rPr dirty="0" sz="1000" spc="-60">
                <a:latin typeface="Times New Roman"/>
                <a:cs typeface="Times New Roman"/>
              </a:rPr>
              <a:t> </a:t>
            </a:r>
            <a:r>
              <a:rPr dirty="0" sz="1000" spc="25">
                <a:latin typeface="Times New Roman"/>
                <a:cs typeface="Times New Roman"/>
              </a:rPr>
              <a:t>semantic</a:t>
            </a:r>
            <a:r>
              <a:rPr dirty="0" sz="1000" spc="-60">
                <a:latin typeface="Times New Roman"/>
                <a:cs typeface="Times New Roman"/>
              </a:rPr>
              <a:t> </a:t>
            </a:r>
            <a:r>
              <a:rPr dirty="0" sz="1000" spc="25">
                <a:latin typeface="Times New Roman"/>
                <a:cs typeface="Times New Roman"/>
              </a:rPr>
              <a:t>segmentation</a:t>
            </a:r>
            <a:r>
              <a:rPr dirty="0" sz="1000" spc="-60">
                <a:latin typeface="Times New Roman"/>
                <a:cs typeface="Times New Roman"/>
              </a:rPr>
              <a:t> </a:t>
            </a:r>
            <a:r>
              <a:rPr dirty="0" sz="1000" spc="15">
                <a:latin typeface="Times New Roman"/>
                <a:cs typeface="Times New Roman"/>
              </a:rPr>
              <a:t>task.</a:t>
            </a:r>
            <a:r>
              <a:rPr dirty="0" sz="1000" spc="45">
                <a:latin typeface="Times New Roman"/>
                <a:cs typeface="Times New Roman"/>
              </a:rPr>
              <a:t> </a:t>
            </a:r>
            <a:r>
              <a:rPr dirty="0" sz="1000" spc="25">
                <a:latin typeface="Times New Roman"/>
                <a:cs typeface="Times New Roman"/>
              </a:rPr>
              <a:t>It</a:t>
            </a:r>
            <a:r>
              <a:rPr dirty="0" sz="1000" spc="-60">
                <a:latin typeface="Times New Roman"/>
                <a:cs typeface="Times New Roman"/>
              </a:rPr>
              <a:t> </a:t>
            </a:r>
            <a:r>
              <a:rPr dirty="0" sz="1000" spc="15">
                <a:latin typeface="Times New Roman"/>
                <a:cs typeface="Times New Roman"/>
              </a:rPr>
              <a:t>comprises</a:t>
            </a:r>
            <a:r>
              <a:rPr dirty="0" sz="1000" spc="-60">
                <a:latin typeface="Times New Roman"/>
                <a:cs typeface="Times New Roman"/>
              </a:rPr>
              <a:t> </a:t>
            </a:r>
            <a:r>
              <a:rPr dirty="0" sz="1000" spc="-10">
                <a:latin typeface="Times New Roman"/>
                <a:cs typeface="Times New Roman"/>
              </a:rPr>
              <a:t>1,449</a:t>
            </a:r>
            <a:r>
              <a:rPr dirty="0" sz="1000" spc="-60">
                <a:latin typeface="Times New Roman"/>
                <a:cs typeface="Times New Roman"/>
              </a:rPr>
              <a:t> </a:t>
            </a:r>
            <a:r>
              <a:rPr dirty="0" sz="1000" spc="30">
                <a:latin typeface="Times New Roman"/>
                <a:cs typeface="Times New Roman"/>
              </a:rPr>
              <a:t>indoor</a:t>
            </a:r>
            <a:r>
              <a:rPr dirty="0" sz="1000" spc="-60">
                <a:latin typeface="Times New Roman"/>
                <a:cs typeface="Times New Roman"/>
              </a:rPr>
              <a:t> </a:t>
            </a:r>
            <a:r>
              <a:rPr dirty="0" sz="1000" spc="-20">
                <a:latin typeface="Times New Roman"/>
                <a:cs typeface="Times New Roman"/>
              </a:rPr>
              <a:t>RGB-</a:t>
            </a:r>
            <a:r>
              <a:rPr dirty="0" sz="1000" spc="-25">
                <a:latin typeface="Times New Roman"/>
                <a:cs typeface="Times New Roman"/>
              </a:rPr>
              <a:t>D</a:t>
            </a:r>
            <a:r>
              <a:rPr dirty="0" sz="1000" spc="-10">
                <a:latin typeface="Times New Roman"/>
                <a:cs typeface="Times New Roman"/>
              </a:rPr>
              <a:t> </a:t>
            </a:r>
            <a:r>
              <a:rPr dirty="0" sz="1000" spc="10">
                <a:latin typeface="Times New Roman"/>
                <a:cs typeface="Times New Roman"/>
              </a:rPr>
              <a:t>images,</a:t>
            </a:r>
            <a:r>
              <a:rPr dirty="0" sz="1000" spc="-45">
                <a:latin typeface="Times New Roman"/>
                <a:cs typeface="Times New Roman"/>
              </a:rPr>
              <a:t> </a:t>
            </a:r>
            <a:r>
              <a:rPr dirty="0" sz="1000" spc="-15">
                <a:latin typeface="Times New Roman"/>
                <a:cs typeface="Times New Roman"/>
              </a:rPr>
              <a:t>of</a:t>
            </a:r>
            <a:r>
              <a:rPr dirty="0" sz="1000" spc="-55">
                <a:latin typeface="Times New Roman"/>
                <a:cs typeface="Times New Roman"/>
              </a:rPr>
              <a:t> </a:t>
            </a:r>
            <a:r>
              <a:rPr dirty="0" sz="1000" spc="30">
                <a:latin typeface="Times New Roman"/>
                <a:cs typeface="Times New Roman"/>
              </a:rPr>
              <a:t>which</a:t>
            </a:r>
            <a:r>
              <a:rPr dirty="0" sz="1000" spc="-50">
                <a:latin typeface="Times New Roman"/>
                <a:cs typeface="Times New Roman"/>
              </a:rPr>
              <a:t> </a:t>
            </a:r>
            <a:r>
              <a:rPr dirty="0" sz="1000" spc="-10">
                <a:latin typeface="Times New Roman"/>
                <a:cs typeface="Times New Roman"/>
              </a:rPr>
              <a:t>795</a:t>
            </a:r>
            <a:r>
              <a:rPr dirty="0" sz="1000" spc="-55">
                <a:latin typeface="Times New Roman"/>
                <a:cs typeface="Times New Roman"/>
              </a:rPr>
              <a:t> </a:t>
            </a:r>
            <a:r>
              <a:rPr dirty="0" sz="1000" spc="20">
                <a:latin typeface="Times New Roman"/>
                <a:cs typeface="Times New Roman"/>
              </a:rPr>
              <a:t>are</a:t>
            </a:r>
            <a:r>
              <a:rPr dirty="0" sz="1000" spc="-55">
                <a:latin typeface="Times New Roman"/>
                <a:cs typeface="Times New Roman"/>
              </a:rPr>
              <a:t> </a:t>
            </a:r>
            <a:r>
              <a:rPr dirty="0" sz="1000" spc="25">
                <a:latin typeface="Times New Roman"/>
                <a:cs typeface="Times New Roman"/>
              </a:rPr>
              <a:t>used</a:t>
            </a:r>
            <a:r>
              <a:rPr dirty="0" sz="1000" spc="-50">
                <a:latin typeface="Times New Roman"/>
                <a:cs typeface="Times New Roman"/>
              </a:rPr>
              <a:t> </a:t>
            </a:r>
            <a:r>
              <a:rPr dirty="0" sz="1000">
                <a:latin typeface="Times New Roman"/>
                <a:cs typeface="Times New Roman"/>
              </a:rPr>
              <a:t>for</a:t>
            </a:r>
            <a:r>
              <a:rPr dirty="0" sz="1000" spc="-55">
                <a:latin typeface="Times New Roman"/>
                <a:cs typeface="Times New Roman"/>
              </a:rPr>
              <a:t> </a:t>
            </a:r>
            <a:r>
              <a:rPr dirty="0" sz="1000" spc="30">
                <a:latin typeface="Times New Roman"/>
                <a:cs typeface="Times New Roman"/>
              </a:rPr>
              <a:t>training</a:t>
            </a:r>
            <a:r>
              <a:rPr dirty="0" sz="1000" spc="-55">
                <a:latin typeface="Times New Roman"/>
                <a:cs typeface="Times New Roman"/>
              </a:rPr>
              <a:t> </a:t>
            </a:r>
            <a:r>
              <a:rPr dirty="0" sz="1000" spc="40">
                <a:latin typeface="Times New Roman"/>
                <a:cs typeface="Times New Roman"/>
              </a:rPr>
              <a:t>and</a:t>
            </a:r>
            <a:r>
              <a:rPr dirty="0" sz="1000" spc="-50">
                <a:latin typeface="Times New Roman"/>
                <a:cs typeface="Times New Roman"/>
              </a:rPr>
              <a:t> </a:t>
            </a:r>
            <a:r>
              <a:rPr dirty="0" sz="1000" spc="-10">
                <a:latin typeface="Times New Roman"/>
                <a:cs typeface="Times New Roman"/>
              </a:rPr>
              <a:t>654</a:t>
            </a:r>
            <a:r>
              <a:rPr dirty="0" sz="1000" spc="-55">
                <a:latin typeface="Times New Roman"/>
                <a:cs typeface="Times New Roman"/>
              </a:rPr>
              <a:t> </a:t>
            </a:r>
            <a:r>
              <a:rPr dirty="0" sz="1000">
                <a:latin typeface="Times New Roman"/>
                <a:cs typeface="Times New Roman"/>
              </a:rPr>
              <a:t>for</a:t>
            </a:r>
            <a:r>
              <a:rPr dirty="0" sz="1000" spc="-55">
                <a:latin typeface="Times New Roman"/>
                <a:cs typeface="Times New Roman"/>
              </a:rPr>
              <a:t> </a:t>
            </a:r>
            <a:r>
              <a:rPr dirty="0" sz="1000" spc="15">
                <a:latin typeface="Times New Roman"/>
                <a:cs typeface="Times New Roman"/>
              </a:rPr>
              <a:t>testing.</a:t>
            </a:r>
            <a:r>
              <a:rPr dirty="0" sz="1000" spc="45">
                <a:latin typeface="Times New Roman"/>
                <a:cs typeface="Times New Roman"/>
              </a:rPr>
              <a:t> </a:t>
            </a:r>
            <a:r>
              <a:rPr dirty="0" sz="1000" spc="-40">
                <a:latin typeface="Times New Roman"/>
                <a:cs typeface="Times New Roman"/>
              </a:rPr>
              <a:t>We</a:t>
            </a:r>
            <a:r>
              <a:rPr dirty="0" sz="1000" spc="-55">
                <a:latin typeface="Times New Roman"/>
                <a:cs typeface="Times New Roman"/>
              </a:rPr>
              <a:t> </a:t>
            </a:r>
            <a:r>
              <a:rPr dirty="0" sz="1000" spc="25">
                <a:latin typeface="Times New Roman"/>
                <a:cs typeface="Times New Roman"/>
              </a:rPr>
              <a:t>used</a:t>
            </a:r>
            <a:r>
              <a:rPr dirty="0" sz="1000" spc="-50">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35">
                <a:latin typeface="Times New Roman"/>
                <a:cs typeface="Times New Roman"/>
              </a:rPr>
              <a:t>common</a:t>
            </a:r>
            <a:r>
              <a:rPr dirty="0" sz="1000" spc="-55">
                <a:latin typeface="Times New Roman"/>
                <a:cs typeface="Times New Roman"/>
              </a:rPr>
              <a:t> </a:t>
            </a:r>
            <a:r>
              <a:rPr dirty="0" sz="1000" spc="-10">
                <a:latin typeface="Times New Roman"/>
                <a:cs typeface="Times New Roman"/>
              </a:rPr>
              <a:t>40-</a:t>
            </a:r>
            <a:r>
              <a:rPr dirty="0" sz="1000" spc="5">
                <a:latin typeface="Times New Roman"/>
                <a:cs typeface="Times New Roman"/>
              </a:rPr>
              <a:t>class</a:t>
            </a:r>
            <a:r>
              <a:rPr dirty="0" sz="1000" spc="-50">
                <a:latin typeface="Times New Roman"/>
                <a:cs typeface="Times New Roman"/>
              </a:rPr>
              <a:t> </a:t>
            </a:r>
            <a:r>
              <a:rPr dirty="0" sz="1000" spc="10">
                <a:latin typeface="Times New Roman"/>
                <a:cs typeface="Times New Roman"/>
              </a:rPr>
              <a:t>label</a:t>
            </a:r>
            <a:r>
              <a:rPr dirty="0" sz="1000" spc="-55">
                <a:latin typeface="Times New Roman"/>
                <a:cs typeface="Times New Roman"/>
              </a:rPr>
              <a:t> </a:t>
            </a:r>
            <a:r>
              <a:rPr dirty="0" sz="1000" spc="10">
                <a:latin typeface="Times New Roman"/>
                <a:cs typeface="Times New Roman"/>
              </a:rPr>
              <a:t>setting.</a:t>
            </a:r>
            <a:r>
              <a:rPr dirty="0" sz="1000" spc="45">
                <a:latin typeface="Times New Roman"/>
                <a:cs typeface="Times New Roman"/>
              </a:rPr>
              <a:t> </a:t>
            </a:r>
            <a:r>
              <a:rPr dirty="0" sz="1000" spc="-40">
                <a:latin typeface="Times New Roman"/>
                <a:cs typeface="Times New Roman"/>
              </a:rPr>
              <a:t>We</a:t>
            </a:r>
            <a:r>
              <a:rPr dirty="0" sz="1000" spc="5">
                <a:latin typeface="Times New Roman"/>
                <a:cs typeface="Times New Roman"/>
              </a:rPr>
              <a:t> </a:t>
            </a:r>
            <a:r>
              <a:rPr dirty="0" sz="1000" spc="25">
                <a:latin typeface="Times New Roman"/>
                <a:cs typeface="Times New Roman"/>
              </a:rPr>
              <a:t>use</a:t>
            </a:r>
            <a:r>
              <a:rPr dirty="0" sz="1000" spc="-20">
                <a:latin typeface="Times New Roman"/>
                <a:cs typeface="Times New Roman"/>
              </a:rPr>
              <a:t> </a:t>
            </a:r>
            <a:r>
              <a:rPr dirty="0" sz="1000" spc="25">
                <a:latin typeface="Times New Roman"/>
                <a:cs typeface="Times New Roman"/>
              </a:rPr>
              <a:t>this</a:t>
            </a:r>
            <a:r>
              <a:rPr dirty="0" sz="1000" spc="-20">
                <a:latin typeface="Times New Roman"/>
                <a:cs typeface="Times New Roman"/>
              </a:rPr>
              <a:t> </a:t>
            </a:r>
            <a:r>
              <a:rPr dirty="0" sz="1000" spc="20">
                <a:latin typeface="Times New Roman"/>
                <a:cs typeface="Times New Roman"/>
              </a:rPr>
              <a:t>dataset</a:t>
            </a:r>
            <a:r>
              <a:rPr dirty="0" sz="1000" spc="-20">
                <a:latin typeface="Times New Roman"/>
                <a:cs typeface="Times New Roman"/>
              </a:rPr>
              <a:t> </a:t>
            </a:r>
            <a:r>
              <a:rPr dirty="0" sz="1000" spc="20">
                <a:latin typeface="Times New Roman"/>
                <a:cs typeface="Times New Roman"/>
              </a:rPr>
              <a:t>to</a:t>
            </a:r>
            <a:r>
              <a:rPr dirty="0" sz="1000" spc="-20">
                <a:latin typeface="Times New Roman"/>
                <a:cs typeface="Times New Roman"/>
              </a:rPr>
              <a:t> </a:t>
            </a:r>
            <a:r>
              <a:rPr dirty="0" sz="1000" spc="10">
                <a:latin typeface="Times New Roman"/>
                <a:cs typeface="Times New Roman"/>
              </a:rPr>
              <a:t>prove</a:t>
            </a:r>
            <a:r>
              <a:rPr dirty="0" sz="1000" spc="-20">
                <a:latin typeface="Times New Roman"/>
                <a:cs typeface="Times New Roman"/>
              </a:rPr>
              <a:t> </a:t>
            </a:r>
            <a:r>
              <a:rPr dirty="0" sz="1000" spc="40">
                <a:latin typeface="Times New Roman"/>
                <a:cs typeface="Times New Roman"/>
              </a:rPr>
              <a:t>the</a:t>
            </a:r>
            <a:r>
              <a:rPr dirty="0" sz="1000" spc="-20">
                <a:latin typeface="Times New Roman"/>
                <a:cs typeface="Times New Roman"/>
              </a:rPr>
              <a:t> </a:t>
            </a:r>
            <a:r>
              <a:rPr dirty="0" sz="1000" spc="10">
                <a:latin typeface="Times New Roman"/>
                <a:cs typeface="Times New Roman"/>
              </a:rPr>
              <a:t>method’s</a:t>
            </a:r>
            <a:r>
              <a:rPr dirty="0" sz="1000" spc="-20">
                <a:latin typeface="Times New Roman"/>
                <a:cs typeface="Times New Roman"/>
              </a:rPr>
              <a:t> </a:t>
            </a:r>
            <a:r>
              <a:rPr dirty="0" sz="1000" spc="5">
                <a:latin typeface="Times New Roman"/>
                <a:cs typeface="Times New Roman"/>
              </a:rPr>
              <a:t>effectiveness</a:t>
            </a:r>
            <a:r>
              <a:rPr dirty="0" sz="1000" spc="-20">
                <a:latin typeface="Times New Roman"/>
                <a:cs typeface="Times New Roman"/>
              </a:rPr>
              <a:t> </a:t>
            </a:r>
            <a:r>
              <a:rPr dirty="0" sz="1000" spc="15">
                <a:latin typeface="Times New Roman"/>
                <a:cs typeface="Times New Roman"/>
              </a:rPr>
              <a:t>beyond</a:t>
            </a:r>
            <a:r>
              <a:rPr dirty="0" sz="1000" spc="-20">
                <a:latin typeface="Times New Roman"/>
                <a:cs typeface="Times New Roman"/>
              </a:rPr>
              <a:t> </a:t>
            </a:r>
            <a:r>
              <a:rPr dirty="0" sz="1000" spc="40">
                <a:latin typeface="Times New Roman"/>
                <a:cs typeface="Times New Roman"/>
              </a:rPr>
              <a:t>the</a:t>
            </a:r>
            <a:r>
              <a:rPr dirty="0" sz="1000" spc="-20">
                <a:latin typeface="Times New Roman"/>
                <a:cs typeface="Times New Roman"/>
              </a:rPr>
              <a:t> </a:t>
            </a:r>
            <a:r>
              <a:rPr dirty="0" sz="1000" spc="15">
                <a:latin typeface="Times New Roman"/>
                <a:cs typeface="Times New Roman"/>
              </a:rPr>
              <a:t>audio-visual</a:t>
            </a:r>
            <a:r>
              <a:rPr dirty="0" sz="1000" spc="-20">
                <a:latin typeface="Times New Roman"/>
                <a:cs typeface="Times New Roman"/>
              </a:rPr>
              <a:t> </a:t>
            </a:r>
            <a:r>
              <a:rPr dirty="0" sz="1000" spc="20">
                <a:latin typeface="Times New Roman"/>
                <a:cs typeface="Times New Roman"/>
              </a:rPr>
              <a:t>dataset</a:t>
            </a:r>
            <a:r>
              <a:rPr dirty="0" sz="1000" spc="-20">
                <a:latin typeface="Times New Roman"/>
                <a:cs typeface="Times New Roman"/>
              </a:rPr>
              <a:t> </a:t>
            </a:r>
            <a:r>
              <a:rPr dirty="0" sz="1000" spc="40">
                <a:latin typeface="Times New Roman"/>
                <a:cs typeface="Times New Roman"/>
              </a:rPr>
              <a:t>and</a:t>
            </a:r>
            <a:r>
              <a:rPr dirty="0" sz="1000" spc="-20">
                <a:latin typeface="Times New Roman"/>
                <a:cs typeface="Times New Roman"/>
              </a:rPr>
              <a:t> </a:t>
            </a:r>
            <a:r>
              <a:rPr dirty="0" sz="1000" spc="10">
                <a:latin typeface="Times New Roman"/>
                <a:cs typeface="Times New Roman"/>
              </a:rPr>
              <a:t>classification</a:t>
            </a:r>
            <a:r>
              <a:rPr dirty="0" sz="1000" spc="-20">
                <a:latin typeface="Times New Roman"/>
                <a:cs typeface="Times New Roman"/>
              </a:rPr>
              <a:t> </a:t>
            </a:r>
            <a:r>
              <a:rPr dirty="0" sz="1000" spc="15">
                <a:latin typeface="Times New Roman"/>
                <a:cs typeface="Times New Roman"/>
              </a:rPr>
              <a:t>task.</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192405" marR="86995">
              <a:lnSpc>
                <a:spcPct val="129500"/>
              </a:lnSpc>
            </a:pPr>
            <a:r>
              <a:rPr dirty="0" sz="1000" spc="-20">
                <a:latin typeface="Times New Roman"/>
                <a:cs typeface="Times New Roman"/>
              </a:rPr>
              <a:t>NYUv2</a:t>
            </a:r>
            <a:r>
              <a:rPr dirty="0" sz="1000" spc="-30">
                <a:latin typeface="Times New Roman"/>
                <a:cs typeface="Times New Roman"/>
              </a:rPr>
              <a:t> </a:t>
            </a:r>
            <a:r>
              <a:rPr dirty="0" sz="1000">
                <a:latin typeface="Times New Roman"/>
                <a:cs typeface="Times New Roman"/>
              </a:rPr>
              <a:t>[24]</a:t>
            </a:r>
            <a:r>
              <a:rPr dirty="0" sz="1000" spc="-25">
                <a:latin typeface="Times New Roman"/>
                <a:cs typeface="Times New Roman"/>
              </a:rPr>
              <a:t> </a:t>
            </a:r>
            <a:r>
              <a:rPr dirty="0" sz="1000" spc="5">
                <a:latin typeface="SimSun"/>
                <a:cs typeface="SimSun"/>
              </a:rPr>
              <a:t>是一个用于室内语义分割任务的</a:t>
            </a:r>
            <a:r>
              <a:rPr dirty="0" sz="1000" spc="-30">
                <a:latin typeface="Times New Roman"/>
                <a:cs typeface="Times New Roman"/>
              </a:rPr>
              <a:t>RGB - </a:t>
            </a:r>
            <a:r>
              <a:rPr dirty="0" sz="1000">
                <a:latin typeface="Times New Roman"/>
                <a:cs typeface="Times New Roman"/>
              </a:rPr>
              <a:t>D</a:t>
            </a:r>
            <a:r>
              <a:rPr dirty="0" sz="1000" spc="-25">
                <a:latin typeface="Times New Roman"/>
                <a:cs typeface="Times New Roman"/>
              </a:rPr>
              <a:t> </a:t>
            </a:r>
            <a:r>
              <a:rPr dirty="0" sz="1000" spc="-70">
                <a:latin typeface="SimSun"/>
                <a:cs typeface="SimSun"/>
              </a:rPr>
              <a:t>数据集。它由 </a:t>
            </a:r>
            <a:r>
              <a:rPr dirty="0" sz="1000" spc="-10">
                <a:latin typeface="Times New Roman"/>
                <a:cs typeface="Times New Roman"/>
              </a:rPr>
              <a:t>1449</a:t>
            </a:r>
            <a:r>
              <a:rPr dirty="0" sz="1000" spc="-25">
                <a:latin typeface="Times New Roman"/>
                <a:cs typeface="Times New Roman"/>
              </a:rPr>
              <a:t> </a:t>
            </a:r>
            <a:r>
              <a:rPr dirty="0" sz="1000" spc="60">
                <a:latin typeface="SimSun"/>
                <a:cs typeface="SimSun"/>
              </a:rPr>
              <a:t>张室内</a:t>
            </a:r>
            <a:r>
              <a:rPr dirty="0" sz="1000" spc="-30">
                <a:latin typeface="Times New Roman"/>
                <a:cs typeface="Times New Roman"/>
              </a:rPr>
              <a:t>RGB - </a:t>
            </a:r>
            <a:r>
              <a:rPr dirty="0" sz="1000">
                <a:latin typeface="Times New Roman"/>
                <a:cs typeface="Times New Roman"/>
              </a:rPr>
              <a:t>D</a:t>
            </a:r>
            <a:r>
              <a:rPr dirty="0" sz="1000" spc="-25">
                <a:latin typeface="Times New Roman"/>
                <a:cs typeface="Times New Roman"/>
              </a:rPr>
              <a:t> </a:t>
            </a:r>
            <a:r>
              <a:rPr dirty="0" sz="1000" spc="-10">
                <a:latin typeface="SimSun"/>
                <a:cs typeface="SimSun"/>
              </a:rPr>
              <a:t>图像组成，</a:t>
            </a:r>
            <a:r>
              <a:rPr dirty="0" sz="1000" spc="-105">
                <a:latin typeface="SimSun"/>
                <a:cs typeface="SimSun"/>
              </a:rPr>
              <a:t>其中 </a:t>
            </a:r>
            <a:r>
              <a:rPr dirty="0" sz="1000" spc="-10">
                <a:latin typeface="Times New Roman"/>
                <a:cs typeface="Times New Roman"/>
              </a:rPr>
              <a:t>795</a:t>
            </a:r>
            <a:r>
              <a:rPr dirty="0" sz="1000" spc="-35">
                <a:latin typeface="Times New Roman"/>
                <a:cs typeface="Times New Roman"/>
              </a:rPr>
              <a:t> </a:t>
            </a:r>
            <a:r>
              <a:rPr dirty="0" sz="1000" spc="-20">
                <a:latin typeface="SimSun"/>
                <a:cs typeface="SimSun"/>
              </a:rPr>
              <a:t>张用于训练，</a:t>
            </a:r>
            <a:r>
              <a:rPr dirty="0" sz="1000" spc="-45">
                <a:latin typeface="Times New Roman"/>
                <a:cs typeface="Times New Roman"/>
              </a:rPr>
              <a:t>654</a:t>
            </a:r>
            <a:r>
              <a:rPr dirty="0" sz="1000" spc="-35">
                <a:latin typeface="Times New Roman"/>
                <a:cs typeface="Times New Roman"/>
              </a:rPr>
              <a:t> </a:t>
            </a:r>
            <a:r>
              <a:rPr dirty="0" sz="1000" spc="-55">
                <a:latin typeface="SimSun"/>
                <a:cs typeface="SimSun"/>
              </a:rPr>
              <a:t>张用于测试。我们使用常见的 </a:t>
            </a:r>
            <a:r>
              <a:rPr dirty="0" sz="1000" spc="-10">
                <a:latin typeface="Times New Roman"/>
                <a:cs typeface="Times New Roman"/>
              </a:rPr>
              <a:t>40</a:t>
            </a:r>
            <a:r>
              <a:rPr dirty="0" sz="1000" spc="-35">
                <a:latin typeface="Times New Roman"/>
                <a:cs typeface="Times New Roman"/>
              </a:rPr>
              <a:t> </a:t>
            </a:r>
            <a:r>
              <a:rPr dirty="0" sz="1000" spc="-35">
                <a:latin typeface="SimSun"/>
                <a:cs typeface="SimSun"/>
              </a:rPr>
              <a:t>类标签设置。我们使用这个数据集来证明</a:t>
            </a:r>
            <a:r>
              <a:rPr dirty="0" sz="1000" spc="-10">
                <a:latin typeface="SimSun"/>
                <a:cs typeface="SimSun"/>
              </a:rPr>
              <a:t>该方法在视听数据集和分类任务之外的有效性。</a:t>
            </a:r>
            <a:endParaRPr sz="1000">
              <a:latin typeface="SimSun"/>
              <a:cs typeface="SimSun"/>
            </a:endParaRPr>
          </a:p>
        </p:txBody>
      </p:sp>
      <p:sp>
        <p:nvSpPr>
          <p:cNvPr id="21" name="object 21"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219005"/>
            <a:ext cx="5760085" cy="388620"/>
            <a:chOff x="899998" y="1219005"/>
            <a:chExt cx="5760085" cy="388620"/>
          </a:xfrm>
        </p:grpSpPr>
        <p:sp>
          <p:nvSpPr>
            <p:cNvPr id="3" name="object 3" descr=""/>
            <p:cNvSpPr/>
            <p:nvPr/>
          </p:nvSpPr>
          <p:spPr>
            <a:xfrm>
              <a:off x="899998" y="1219005"/>
              <a:ext cx="5760085" cy="388620"/>
            </a:xfrm>
            <a:custGeom>
              <a:avLst/>
              <a:gdLst/>
              <a:ahLst/>
              <a:cxnLst/>
              <a:rect l="l" t="t" r="r" b="b"/>
              <a:pathLst>
                <a:path w="5760084" h="388619">
                  <a:moveTo>
                    <a:pt x="5724074" y="0"/>
                  </a:moveTo>
                  <a:lnTo>
                    <a:pt x="36000" y="0"/>
                  </a:lnTo>
                  <a:lnTo>
                    <a:pt x="21987" y="2829"/>
                  </a:lnTo>
                  <a:lnTo>
                    <a:pt x="10544" y="10544"/>
                  </a:lnTo>
                  <a:lnTo>
                    <a:pt x="2829" y="21987"/>
                  </a:lnTo>
                  <a:lnTo>
                    <a:pt x="0" y="36000"/>
                  </a:lnTo>
                  <a:lnTo>
                    <a:pt x="0" y="352179"/>
                  </a:lnTo>
                  <a:lnTo>
                    <a:pt x="2829" y="366192"/>
                  </a:lnTo>
                  <a:lnTo>
                    <a:pt x="10544" y="377635"/>
                  </a:lnTo>
                  <a:lnTo>
                    <a:pt x="21987" y="385350"/>
                  </a:lnTo>
                  <a:lnTo>
                    <a:pt x="36000" y="388179"/>
                  </a:lnTo>
                  <a:lnTo>
                    <a:pt x="5724074" y="388179"/>
                  </a:lnTo>
                  <a:lnTo>
                    <a:pt x="5738087" y="385350"/>
                  </a:lnTo>
                  <a:lnTo>
                    <a:pt x="5749530" y="377635"/>
                  </a:lnTo>
                  <a:lnTo>
                    <a:pt x="5757245" y="366192"/>
                  </a:lnTo>
                  <a:lnTo>
                    <a:pt x="5760074" y="35217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219005"/>
              <a:ext cx="5760085" cy="388620"/>
            </a:xfrm>
            <a:custGeom>
              <a:avLst/>
              <a:gdLst/>
              <a:ahLst/>
              <a:cxnLst/>
              <a:rect l="l" t="t" r="r" b="b"/>
              <a:pathLst>
                <a:path w="5760084" h="388619">
                  <a:moveTo>
                    <a:pt x="5724074" y="0"/>
                  </a:moveTo>
                  <a:lnTo>
                    <a:pt x="36000" y="0"/>
                  </a:lnTo>
                  <a:lnTo>
                    <a:pt x="21987" y="2829"/>
                  </a:lnTo>
                  <a:lnTo>
                    <a:pt x="10544" y="10544"/>
                  </a:lnTo>
                  <a:lnTo>
                    <a:pt x="2829" y="21987"/>
                  </a:lnTo>
                  <a:lnTo>
                    <a:pt x="0" y="36000"/>
                  </a:lnTo>
                  <a:lnTo>
                    <a:pt x="0" y="352179"/>
                  </a:lnTo>
                  <a:lnTo>
                    <a:pt x="2829" y="366192"/>
                  </a:lnTo>
                  <a:lnTo>
                    <a:pt x="10544" y="377635"/>
                  </a:lnTo>
                  <a:lnTo>
                    <a:pt x="21987" y="385350"/>
                  </a:lnTo>
                  <a:lnTo>
                    <a:pt x="36000" y="388179"/>
                  </a:lnTo>
                  <a:lnTo>
                    <a:pt x="5724074" y="388179"/>
                  </a:lnTo>
                  <a:lnTo>
                    <a:pt x="5738087" y="385350"/>
                  </a:lnTo>
                  <a:lnTo>
                    <a:pt x="5749530" y="377635"/>
                  </a:lnTo>
                  <a:lnTo>
                    <a:pt x="5757245" y="366192"/>
                  </a:lnTo>
                  <a:lnTo>
                    <a:pt x="5760074" y="35217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3580968"/>
            <a:ext cx="5760085" cy="1535430"/>
            <a:chOff x="899998" y="3580968"/>
            <a:chExt cx="5760085" cy="1535430"/>
          </a:xfrm>
        </p:grpSpPr>
        <p:sp>
          <p:nvSpPr>
            <p:cNvPr id="6" name="object 6" descr=""/>
            <p:cNvSpPr/>
            <p:nvPr/>
          </p:nvSpPr>
          <p:spPr>
            <a:xfrm>
              <a:off x="899998" y="3580968"/>
              <a:ext cx="5760085" cy="1535430"/>
            </a:xfrm>
            <a:custGeom>
              <a:avLst/>
              <a:gdLst/>
              <a:ahLst/>
              <a:cxnLst/>
              <a:rect l="l" t="t" r="r" b="b"/>
              <a:pathLst>
                <a:path w="5760084" h="1535429">
                  <a:moveTo>
                    <a:pt x="5724074" y="0"/>
                  </a:moveTo>
                  <a:lnTo>
                    <a:pt x="36000" y="0"/>
                  </a:lnTo>
                  <a:lnTo>
                    <a:pt x="21987" y="2829"/>
                  </a:lnTo>
                  <a:lnTo>
                    <a:pt x="10544" y="10544"/>
                  </a:lnTo>
                  <a:lnTo>
                    <a:pt x="2829" y="21987"/>
                  </a:lnTo>
                  <a:lnTo>
                    <a:pt x="0" y="36000"/>
                  </a:lnTo>
                  <a:lnTo>
                    <a:pt x="0" y="1499302"/>
                  </a:lnTo>
                  <a:lnTo>
                    <a:pt x="2829" y="1513315"/>
                  </a:lnTo>
                  <a:lnTo>
                    <a:pt x="10544" y="1524759"/>
                  </a:lnTo>
                  <a:lnTo>
                    <a:pt x="21987" y="1532474"/>
                  </a:lnTo>
                  <a:lnTo>
                    <a:pt x="36000" y="1535303"/>
                  </a:lnTo>
                  <a:lnTo>
                    <a:pt x="5724074" y="1535303"/>
                  </a:lnTo>
                  <a:lnTo>
                    <a:pt x="5738087" y="1532474"/>
                  </a:lnTo>
                  <a:lnTo>
                    <a:pt x="5749530" y="1524759"/>
                  </a:lnTo>
                  <a:lnTo>
                    <a:pt x="5757245" y="1513315"/>
                  </a:lnTo>
                  <a:lnTo>
                    <a:pt x="5760074" y="149930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3580968"/>
              <a:ext cx="5760085" cy="1535430"/>
            </a:xfrm>
            <a:custGeom>
              <a:avLst/>
              <a:gdLst/>
              <a:ahLst/>
              <a:cxnLst/>
              <a:rect l="l" t="t" r="r" b="b"/>
              <a:pathLst>
                <a:path w="5760084" h="1535429">
                  <a:moveTo>
                    <a:pt x="5724074" y="0"/>
                  </a:moveTo>
                  <a:lnTo>
                    <a:pt x="36000" y="0"/>
                  </a:lnTo>
                  <a:lnTo>
                    <a:pt x="21987" y="2829"/>
                  </a:lnTo>
                  <a:lnTo>
                    <a:pt x="10544" y="10544"/>
                  </a:lnTo>
                  <a:lnTo>
                    <a:pt x="2829" y="21987"/>
                  </a:lnTo>
                  <a:lnTo>
                    <a:pt x="0" y="36000"/>
                  </a:lnTo>
                  <a:lnTo>
                    <a:pt x="0" y="1499302"/>
                  </a:lnTo>
                  <a:lnTo>
                    <a:pt x="2829" y="1513315"/>
                  </a:lnTo>
                  <a:lnTo>
                    <a:pt x="10544" y="1524759"/>
                  </a:lnTo>
                  <a:lnTo>
                    <a:pt x="21987" y="1532474"/>
                  </a:lnTo>
                  <a:lnTo>
                    <a:pt x="36000" y="1535303"/>
                  </a:lnTo>
                  <a:lnTo>
                    <a:pt x="5724074" y="1535303"/>
                  </a:lnTo>
                  <a:lnTo>
                    <a:pt x="5738087" y="1532474"/>
                  </a:lnTo>
                  <a:lnTo>
                    <a:pt x="5749530" y="1524759"/>
                  </a:lnTo>
                  <a:lnTo>
                    <a:pt x="5757245" y="1513315"/>
                  </a:lnTo>
                  <a:lnTo>
                    <a:pt x="5760074" y="149930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6497928"/>
            <a:ext cx="5760085" cy="1123950"/>
            <a:chOff x="899998" y="6497928"/>
            <a:chExt cx="5760085" cy="1123950"/>
          </a:xfrm>
        </p:grpSpPr>
        <p:sp>
          <p:nvSpPr>
            <p:cNvPr id="9" name="object 9" descr=""/>
            <p:cNvSpPr/>
            <p:nvPr/>
          </p:nvSpPr>
          <p:spPr>
            <a:xfrm>
              <a:off x="899998" y="6497928"/>
              <a:ext cx="5760085" cy="1123950"/>
            </a:xfrm>
            <a:custGeom>
              <a:avLst/>
              <a:gdLst/>
              <a:ahLst/>
              <a:cxnLst/>
              <a:rect l="l" t="t" r="r" b="b"/>
              <a:pathLst>
                <a:path w="5760084" h="1123950">
                  <a:moveTo>
                    <a:pt x="5724074" y="0"/>
                  </a:moveTo>
                  <a:lnTo>
                    <a:pt x="36000" y="0"/>
                  </a:lnTo>
                  <a:lnTo>
                    <a:pt x="21987" y="2829"/>
                  </a:lnTo>
                  <a:lnTo>
                    <a:pt x="10544" y="10544"/>
                  </a:lnTo>
                  <a:lnTo>
                    <a:pt x="2829" y="21987"/>
                  </a:lnTo>
                  <a:lnTo>
                    <a:pt x="0" y="36000"/>
                  </a:lnTo>
                  <a:lnTo>
                    <a:pt x="0" y="1087582"/>
                  </a:lnTo>
                  <a:lnTo>
                    <a:pt x="2829" y="1101595"/>
                  </a:lnTo>
                  <a:lnTo>
                    <a:pt x="10544" y="1113038"/>
                  </a:lnTo>
                  <a:lnTo>
                    <a:pt x="21987" y="1120753"/>
                  </a:lnTo>
                  <a:lnTo>
                    <a:pt x="36000" y="1123582"/>
                  </a:lnTo>
                  <a:lnTo>
                    <a:pt x="5724074" y="1123582"/>
                  </a:lnTo>
                  <a:lnTo>
                    <a:pt x="5738087" y="1120753"/>
                  </a:lnTo>
                  <a:lnTo>
                    <a:pt x="5749530" y="1113038"/>
                  </a:lnTo>
                  <a:lnTo>
                    <a:pt x="5757245" y="1101595"/>
                  </a:lnTo>
                  <a:lnTo>
                    <a:pt x="5760074" y="108758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6497928"/>
              <a:ext cx="5760085" cy="1123950"/>
            </a:xfrm>
            <a:custGeom>
              <a:avLst/>
              <a:gdLst/>
              <a:ahLst/>
              <a:cxnLst/>
              <a:rect l="l" t="t" r="r" b="b"/>
              <a:pathLst>
                <a:path w="5760084" h="1123950">
                  <a:moveTo>
                    <a:pt x="5724074" y="0"/>
                  </a:moveTo>
                  <a:lnTo>
                    <a:pt x="36000" y="0"/>
                  </a:lnTo>
                  <a:lnTo>
                    <a:pt x="21987" y="2829"/>
                  </a:lnTo>
                  <a:lnTo>
                    <a:pt x="10544" y="10544"/>
                  </a:lnTo>
                  <a:lnTo>
                    <a:pt x="2829" y="21987"/>
                  </a:lnTo>
                  <a:lnTo>
                    <a:pt x="0" y="36000"/>
                  </a:lnTo>
                  <a:lnTo>
                    <a:pt x="0" y="1087582"/>
                  </a:lnTo>
                  <a:lnTo>
                    <a:pt x="2829" y="1101595"/>
                  </a:lnTo>
                  <a:lnTo>
                    <a:pt x="10544" y="1113038"/>
                  </a:lnTo>
                  <a:lnTo>
                    <a:pt x="21987" y="1120753"/>
                  </a:lnTo>
                  <a:lnTo>
                    <a:pt x="36000" y="1123582"/>
                  </a:lnTo>
                  <a:lnTo>
                    <a:pt x="5724074" y="1123582"/>
                  </a:lnTo>
                  <a:lnTo>
                    <a:pt x="5738087" y="1120753"/>
                  </a:lnTo>
                  <a:lnTo>
                    <a:pt x="5749530" y="1113038"/>
                  </a:lnTo>
                  <a:lnTo>
                    <a:pt x="5757245" y="1101595"/>
                  </a:lnTo>
                  <a:lnTo>
                    <a:pt x="5760074" y="108758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8608399"/>
            <a:ext cx="5760085" cy="728980"/>
            <a:chOff x="899998" y="8608399"/>
            <a:chExt cx="5760085" cy="728980"/>
          </a:xfrm>
        </p:grpSpPr>
        <p:sp>
          <p:nvSpPr>
            <p:cNvPr id="12" name="object 12" descr=""/>
            <p:cNvSpPr/>
            <p:nvPr/>
          </p:nvSpPr>
          <p:spPr>
            <a:xfrm>
              <a:off x="899998" y="8608399"/>
              <a:ext cx="5760085" cy="728980"/>
            </a:xfrm>
            <a:custGeom>
              <a:avLst/>
              <a:gdLst/>
              <a:ahLst/>
              <a:cxnLst/>
              <a:rect l="l" t="t" r="r" b="b"/>
              <a:pathLst>
                <a:path w="5760084" h="728979">
                  <a:moveTo>
                    <a:pt x="5724074" y="0"/>
                  </a:moveTo>
                  <a:lnTo>
                    <a:pt x="36000" y="0"/>
                  </a:lnTo>
                  <a:lnTo>
                    <a:pt x="21987" y="2829"/>
                  </a:lnTo>
                  <a:lnTo>
                    <a:pt x="10544" y="10544"/>
                  </a:lnTo>
                  <a:lnTo>
                    <a:pt x="2829" y="21987"/>
                  </a:lnTo>
                  <a:lnTo>
                    <a:pt x="0" y="36000"/>
                  </a:lnTo>
                  <a:lnTo>
                    <a:pt x="0" y="692564"/>
                  </a:lnTo>
                  <a:lnTo>
                    <a:pt x="2829" y="706577"/>
                  </a:lnTo>
                  <a:lnTo>
                    <a:pt x="10544" y="718020"/>
                  </a:lnTo>
                  <a:lnTo>
                    <a:pt x="21987" y="725735"/>
                  </a:lnTo>
                  <a:lnTo>
                    <a:pt x="36000" y="728564"/>
                  </a:lnTo>
                  <a:lnTo>
                    <a:pt x="5724074" y="728564"/>
                  </a:lnTo>
                  <a:lnTo>
                    <a:pt x="5738087" y="725735"/>
                  </a:lnTo>
                  <a:lnTo>
                    <a:pt x="5749530" y="718020"/>
                  </a:lnTo>
                  <a:lnTo>
                    <a:pt x="5757245" y="706577"/>
                  </a:lnTo>
                  <a:lnTo>
                    <a:pt x="5760074" y="69256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8608399"/>
              <a:ext cx="5760085" cy="728980"/>
            </a:xfrm>
            <a:custGeom>
              <a:avLst/>
              <a:gdLst/>
              <a:ahLst/>
              <a:cxnLst/>
              <a:rect l="l" t="t" r="r" b="b"/>
              <a:pathLst>
                <a:path w="5760084" h="728979">
                  <a:moveTo>
                    <a:pt x="5724074" y="0"/>
                  </a:moveTo>
                  <a:lnTo>
                    <a:pt x="36000" y="0"/>
                  </a:lnTo>
                  <a:lnTo>
                    <a:pt x="21987" y="2829"/>
                  </a:lnTo>
                  <a:lnTo>
                    <a:pt x="10544" y="10544"/>
                  </a:lnTo>
                  <a:lnTo>
                    <a:pt x="2829" y="21987"/>
                  </a:lnTo>
                  <a:lnTo>
                    <a:pt x="0" y="36000"/>
                  </a:lnTo>
                  <a:lnTo>
                    <a:pt x="0" y="692564"/>
                  </a:lnTo>
                  <a:lnTo>
                    <a:pt x="2829" y="706577"/>
                  </a:lnTo>
                  <a:lnTo>
                    <a:pt x="10544" y="718020"/>
                  </a:lnTo>
                  <a:lnTo>
                    <a:pt x="21987" y="725735"/>
                  </a:lnTo>
                  <a:lnTo>
                    <a:pt x="36000" y="728564"/>
                  </a:lnTo>
                  <a:lnTo>
                    <a:pt x="5724074" y="728564"/>
                  </a:lnTo>
                  <a:lnTo>
                    <a:pt x="5738087" y="725735"/>
                  </a:lnTo>
                  <a:lnTo>
                    <a:pt x="5749530" y="718020"/>
                  </a:lnTo>
                  <a:lnTo>
                    <a:pt x="5757245" y="706577"/>
                  </a:lnTo>
                  <a:lnTo>
                    <a:pt x="5760074" y="69256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4" name="object 14" descr=""/>
          <p:cNvSpPr txBox="1"/>
          <p:nvPr/>
        </p:nvSpPr>
        <p:spPr>
          <a:xfrm>
            <a:off x="887298" y="833739"/>
            <a:ext cx="5785485" cy="8975725"/>
          </a:xfrm>
          <a:prstGeom prst="rect">
            <a:avLst/>
          </a:prstGeom>
        </p:spPr>
        <p:txBody>
          <a:bodyPr wrap="square" lIns="0" tIns="17145" rIns="0" bIns="0" rtlCol="0" vert="horz">
            <a:spAutoFit/>
          </a:bodyPr>
          <a:lstStyle/>
          <a:p>
            <a:pPr marL="12700">
              <a:lnSpc>
                <a:spcPct val="100000"/>
              </a:lnSpc>
              <a:spcBef>
                <a:spcPts val="135"/>
              </a:spcBef>
            </a:pPr>
            <a:r>
              <a:rPr dirty="0" sz="1400" b="1">
                <a:latin typeface="Times New Roman"/>
                <a:cs typeface="Times New Roman"/>
              </a:rPr>
              <a:t>4.2.</a:t>
            </a:r>
            <a:r>
              <a:rPr dirty="0" sz="1400" spc="114" b="1">
                <a:latin typeface="Times New Roman"/>
                <a:cs typeface="Times New Roman"/>
              </a:rPr>
              <a:t> </a:t>
            </a:r>
            <a:r>
              <a:rPr dirty="0" sz="1400" spc="50" b="1">
                <a:latin typeface="Times New Roman"/>
                <a:cs typeface="Times New Roman"/>
              </a:rPr>
              <a:t>Comparison</a:t>
            </a:r>
            <a:r>
              <a:rPr dirty="0" sz="1400" spc="5" b="1">
                <a:latin typeface="Times New Roman"/>
                <a:cs typeface="Times New Roman"/>
              </a:rPr>
              <a:t> </a:t>
            </a:r>
            <a:r>
              <a:rPr dirty="0" sz="1400" spc="85" b="1">
                <a:latin typeface="Times New Roman"/>
                <a:cs typeface="Times New Roman"/>
              </a:rPr>
              <a:t>on</a:t>
            </a:r>
            <a:r>
              <a:rPr dirty="0" sz="1400" spc="5" b="1">
                <a:latin typeface="Times New Roman"/>
                <a:cs typeface="Times New Roman"/>
              </a:rPr>
              <a:t> </a:t>
            </a:r>
            <a:r>
              <a:rPr dirty="0" sz="1400" spc="80" b="1">
                <a:latin typeface="Times New Roman"/>
                <a:cs typeface="Times New Roman"/>
              </a:rPr>
              <a:t>the</a:t>
            </a:r>
            <a:r>
              <a:rPr dirty="0" sz="1400" b="1">
                <a:latin typeface="Times New Roman"/>
                <a:cs typeface="Times New Roman"/>
              </a:rPr>
              <a:t> </a:t>
            </a:r>
            <a:r>
              <a:rPr dirty="0" sz="1400" spc="75" b="1">
                <a:latin typeface="Times New Roman"/>
                <a:cs typeface="Times New Roman"/>
              </a:rPr>
              <a:t>multimodal</a:t>
            </a:r>
            <a:r>
              <a:rPr dirty="0" sz="1400" spc="5" b="1">
                <a:latin typeface="Times New Roman"/>
                <a:cs typeface="Times New Roman"/>
              </a:rPr>
              <a:t> </a:t>
            </a:r>
            <a:r>
              <a:rPr dirty="0" sz="1400" spc="-20" b="1">
                <a:latin typeface="Times New Roman"/>
                <a:cs typeface="Times New Roman"/>
              </a:rPr>
              <a:t>task</a:t>
            </a:r>
            <a:endParaRPr sz="1400">
              <a:latin typeface="Times New Roman"/>
              <a:cs typeface="Times New Roman"/>
            </a:endParaRPr>
          </a:p>
          <a:p>
            <a:pPr>
              <a:lnSpc>
                <a:spcPct val="100000"/>
              </a:lnSpc>
              <a:spcBef>
                <a:spcPts val="280"/>
              </a:spcBef>
            </a:pPr>
            <a:endParaRPr sz="1400">
              <a:latin typeface="Times New Roman"/>
              <a:cs typeface="Times New Roman"/>
            </a:endParaRPr>
          </a:p>
          <a:p>
            <a:pPr marL="192405">
              <a:lnSpc>
                <a:spcPct val="100000"/>
              </a:lnSpc>
              <a:spcBef>
                <a:spcPts val="5"/>
              </a:spcBef>
            </a:pPr>
            <a:r>
              <a:rPr dirty="0" sz="1400" b="1">
                <a:latin typeface="Times New Roman"/>
                <a:cs typeface="Times New Roman"/>
              </a:rPr>
              <a:t>4.2.</a:t>
            </a:r>
            <a:r>
              <a:rPr dirty="0" sz="1400" spc="325" b="1">
                <a:latin typeface="Times New Roman"/>
                <a:cs typeface="Times New Roman"/>
              </a:rPr>
              <a:t> </a:t>
            </a:r>
            <a:r>
              <a:rPr dirty="0" sz="1400" spc="-10" b="1">
                <a:latin typeface="Microsoft JhengHei"/>
                <a:cs typeface="Microsoft JhengHei"/>
              </a:rPr>
              <a:t>多模态任务比较</a:t>
            </a:r>
            <a:endParaRPr sz="1400">
              <a:latin typeface="Microsoft JhengHei"/>
              <a:cs typeface="Microsoft JhengHei"/>
            </a:endParaRPr>
          </a:p>
          <a:p>
            <a:pPr algn="just" marL="12700" marR="5080" indent="252729">
              <a:lnSpc>
                <a:spcPct val="129500"/>
              </a:lnSpc>
              <a:spcBef>
                <a:spcPts val="1210"/>
              </a:spcBef>
            </a:pPr>
            <a:r>
              <a:rPr dirty="0" sz="1000" spc="20">
                <a:latin typeface="Times New Roman"/>
                <a:cs typeface="Times New Roman"/>
              </a:rPr>
              <a:t>Implementation</a:t>
            </a:r>
            <a:r>
              <a:rPr dirty="0" sz="1000" spc="40">
                <a:latin typeface="Times New Roman"/>
                <a:cs typeface="Times New Roman"/>
              </a:rPr>
              <a:t> </a:t>
            </a:r>
            <a:r>
              <a:rPr dirty="0" sz="1000" spc="20">
                <a:latin typeface="Times New Roman"/>
                <a:cs typeface="Times New Roman"/>
              </a:rPr>
              <a:t>details.</a:t>
            </a:r>
            <a:r>
              <a:rPr dirty="0" sz="1000" spc="215">
                <a:latin typeface="Times New Roman"/>
                <a:cs typeface="Times New Roman"/>
              </a:rPr>
              <a:t> </a:t>
            </a:r>
            <a:r>
              <a:rPr dirty="0" sz="1000" spc="20">
                <a:latin typeface="Times New Roman"/>
                <a:cs typeface="Times New Roman"/>
              </a:rPr>
              <a:t>For</a:t>
            </a:r>
            <a:r>
              <a:rPr dirty="0" sz="1000" spc="40">
                <a:latin typeface="Times New Roman"/>
                <a:cs typeface="Times New Roman"/>
              </a:rPr>
              <a:t> </a:t>
            </a:r>
            <a:r>
              <a:rPr dirty="0" sz="1000" spc="20">
                <a:latin typeface="Times New Roman"/>
                <a:cs typeface="Times New Roman"/>
              </a:rPr>
              <a:t>a</a:t>
            </a:r>
            <a:r>
              <a:rPr dirty="0" sz="1000" spc="45">
                <a:latin typeface="Times New Roman"/>
                <a:cs typeface="Times New Roman"/>
              </a:rPr>
              <a:t> </a:t>
            </a:r>
            <a:r>
              <a:rPr dirty="0" sz="1000" spc="20">
                <a:latin typeface="Times New Roman"/>
                <a:cs typeface="Times New Roman"/>
              </a:rPr>
              <a:t>fair</a:t>
            </a:r>
            <a:r>
              <a:rPr dirty="0" sz="1000" spc="40">
                <a:latin typeface="Times New Roman"/>
                <a:cs typeface="Times New Roman"/>
              </a:rPr>
              <a:t> </a:t>
            </a:r>
            <a:r>
              <a:rPr dirty="0" sz="1000" spc="20">
                <a:latin typeface="Times New Roman"/>
                <a:cs typeface="Times New Roman"/>
              </a:rPr>
              <a:t>comparison,</a:t>
            </a:r>
            <a:r>
              <a:rPr dirty="0" sz="1000" spc="55">
                <a:latin typeface="Times New Roman"/>
                <a:cs typeface="Times New Roman"/>
              </a:rPr>
              <a:t> </a:t>
            </a:r>
            <a:r>
              <a:rPr dirty="0" sz="1000" spc="20">
                <a:latin typeface="Times New Roman"/>
                <a:cs typeface="Times New Roman"/>
              </a:rPr>
              <a:t>we</a:t>
            </a:r>
            <a:r>
              <a:rPr dirty="0" sz="1000" spc="40">
                <a:latin typeface="Times New Roman"/>
                <a:cs typeface="Times New Roman"/>
              </a:rPr>
              <a:t> </a:t>
            </a:r>
            <a:r>
              <a:rPr dirty="0" sz="1000" spc="20">
                <a:latin typeface="Times New Roman"/>
                <a:cs typeface="Times New Roman"/>
              </a:rPr>
              <a:t>adopt</a:t>
            </a:r>
            <a:r>
              <a:rPr dirty="0" sz="1000" spc="50">
                <a:latin typeface="Times New Roman"/>
                <a:cs typeface="Times New Roman"/>
              </a:rPr>
              <a:t> </a:t>
            </a:r>
            <a:r>
              <a:rPr dirty="0" sz="1000" spc="20">
                <a:latin typeface="Times New Roman"/>
                <a:cs typeface="Times New Roman"/>
              </a:rPr>
              <a:t>the</a:t>
            </a:r>
            <a:r>
              <a:rPr dirty="0" sz="1000" spc="40">
                <a:latin typeface="Times New Roman"/>
                <a:cs typeface="Times New Roman"/>
              </a:rPr>
              <a:t> </a:t>
            </a:r>
            <a:r>
              <a:rPr dirty="0" sz="1000" spc="20">
                <a:latin typeface="Times New Roman"/>
                <a:cs typeface="Times New Roman"/>
              </a:rPr>
              <a:t>same</a:t>
            </a:r>
            <a:r>
              <a:rPr dirty="0" sz="1000" spc="45">
                <a:latin typeface="Times New Roman"/>
                <a:cs typeface="Times New Roman"/>
              </a:rPr>
              <a:t> </a:t>
            </a:r>
            <a:r>
              <a:rPr dirty="0" sz="1000" spc="20">
                <a:latin typeface="Times New Roman"/>
                <a:cs typeface="Times New Roman"/>
              </a:rPr>
              <a:t>setting</a:t>
            </a:r>
            <a:r>
              <a:rPr dirty="0" sz="1000" spc="40">
                <a:latin typeface="Times New Roman"/>
                <a:cs typeface="Times New Roman"/>
              </a:rPr>
              <a:t> </a:t>
            </a:r>
            <a:r>
              <a:rPr dirty="0" sz="1000" spc="20">
                <a:latin typeface="Times New Roman"/>
                <a:cs typeface="Times New Roman"/>
              </a:rPr>
              <a:t>as</a:t>
            </a:r>
            <a:r>
              <a:rPr dirty="0" sz="1000" spc="45">
                <a:latin typeface="Times New Roman"/>
                <a:cs typeface="Times New Roman"/>
              </a:rPr>
              <a:t> </a:t>
            </a:r>
            <a:r>
              <a:rPr dirty="0" sz="1000" spc="20">
                <a:latin typeface="Times New Roman"/>
                <a:cs typeface="Times New Roman"/>
              </a:rPr>
              <a:t>the</a:t>
            </a:r>
            <a:r>
              <a:rPr dirty="0" sz="1000" spc="40">
                <a:latin typeface="Times New Roman"/>
                <a:cs typeface="Times New Roman"/>
              </a:rPr>
              <a:t> </a:t>
            </a:r>
            <a:r>
              <a:rPr dirty="0" sz="1000" spc="20">
                <a:latin typeface="Times New Roman"/>
                <a:cs typeface="Times New Roman"/>
              </a:rPr>
              <a:t>previous</a:t>
            </a:r>
            <a:r>
              <a:rPr dirty="0" sz="1000" spc="45">
                <a:latin typeface="Times New Roman"/>
                <a:cs typeface="Times New Roman"/>
              </a:rPr>
              <a:t> </a:t>
            </a:r>
            <a:r>
              <a:rPr dirty="0" sz="1000" spc="20">
                <a:latin typeface="Times New Roman"/>
                <a:cs typeface="Times New Roman"/>
              </a:rPr>
              <a:t>method</a:t>
            </a:r>
            <a:r>
              <a:rPr dirty="0" sz="1000" spc="40">
                <a:latin typeface="Times New Roman"/>
                <a:cs typeface="Times New Roman"/>
              </a:rPr>
              <a:t> </a:t>
            </a:r>
            <a:r>
              <a:rPr dirty="0" sz="1000" spc="-20">
                <a:latin typeface="Times New Roman"/>
                <a:cs typeface="Times New Roman"/>
              </a:rPr>
              <a:t>[21] </a:t>
            </a:r>
            <a:r>
              <a:rPr dirty="0" sz="1000">
                <a:latin typeface="Times New Roman"/>
                <a:cs typeface="Times New Roman"/>
              </a:rPr>
              <a:t>for</a:t>
            </a:r>
            <a:r>
              <a:rPr dirty="0" sz="1000" spc="55">
                <a:latin typeface="Times New Roman"/>
                <a:cs typeface="Times New Roman"/>
              </a:rPr>
              <a:t> </a:t>
            </a:r>
            <a:r>
              <a:rPr dirty="0" sz="1000">
                <a:latin typeface="Times New Roman"/>
                <a:cs typeface="Times New Roman"/>
              </a:rPr>
              <a:t>the</a:t>
            </a:r>
            <a:r>
              <a:rPr dirty="0" sz="1000" spc="60">
                <a:latin typeface="Times New Roman"/>
                <a:cs typeface="Times New Roman"/>
              </a:rPr>
              <a:t> </a:t>
            </a:r>
            <a:r>
              <a:rPr dirty="0" sz="1000">
                <a:latin typeface="Times New Roman"/>
                <a:cs typeface="Times New Roman"/>
              </a:rPr>
              <a:t>audiovisual</a:t>
            </a:r>
            <a:r>
              <a:rPr dirty="0" sz="1000" spc="65">
                <a:latin typeface="Times New Roman"/>
                <a:cs typeface="Times New Roman"/>
              </a:rPr>
              <a:t> </a:t>
            </a:r>
            <a:r>
              <a:rPr dirty="0" sz="1000">
                <a:latin typeface="Times New Roman"/>
                <a:cs typeface="Times New Roman"/>
              </a:rPr>
              <a:t>task.</a:t>
            </a:r>
            <a:r>
              <a:rPr dirty="0" sz="1000" spc="165">
                <a:latin typeface="Times New Roman"/>
                <a:cs typeface="Times New Roman"/>
              </a:rPr>
              <a:t> </a:t>
            </a:r>
            <a:r>
              <a:rPr dirty="0" sz="1000">
                <a:latin typeface="Times New Roman"/>
                <a:cs typeface="Times New Roman"/>
              </a:rPr>
              <a:t>For</a:t>
            </a:r>
            <a:r>
              <a:rPr dirty="0" sz="1000" spc="60">
                <a:latin typeface="Times New Roman"/>
                <a:cs typeface="Times New Roman"/>
              </a:rPr>
              <a:t> </a:t>
            </a:r>
            <a:r>
              <a:rPr dirty="0" sz="1000">
                <a:latin typeface="Times New Roman"/>
                <a:cs typeface="Times New Roman"/>
              </a:rPr>
              <a:t>datasets</a:t>
            </a:r>
            <a:r>
              <a:rPr dirty="0" sz="1000" spc="65">
                <a:latin typeface="Times New Roman"/>
                <a:cs typeface="Times New Roman"/>
              </a:rPr>
              <a:t> </a:t>
            </a:r>
            <a:r>
              <a:rPr dirty="0" sz="1000" spc="-10">
                <a:latin typeface="Times New Roman"/>
                <a:cs typeface="Times New Roman"/>
              </a:rPr>
              <a:t>CREMA-</a:t>
            </a:r>
            <a:r>
              <a:rPr dirty="0" sz="1000" spc="-35">
                <a:latin typeface="Times New Roman"/>
                <a:cs typeface="Times New Roman"/>
              </a:rPr>
              <a:t>D,</a:t>
            </a:r>
            <a:r>
              <a:rPr dirty="0" sz="1000" spc="60">
                <a:latin typeface="Times New Roman"/>
                <a:cs typeface="Times New Roman"/>
              </a:rPr>
              <a:t> </a:t>
            </a:r>
            <a:r>
              <a:rPr dirty="0" sz="1000" spc="-25">
                <a:latin typeface="Times New Roman"/>
                <a:cs typeface="Times New Roman"/>
              </a:rPr>
              <a:t>KS,</a:t>
            </a:r>
            <a:r>
              <a:rPr dirty="0" sz="1000" spc="60">
                <a:latin typeface="Times New Roman"/>
                <a:cs typeface="Times New Roman"/>
              </a:rPr>
              <a:t> </a:t>
            </a:r>
            <a:r>
              <a:rPr dirty="0" sz="1000">
                <a:latin typeface="Times New Roman"/>
                <a:cs typeface="Times New Roman"/>
              </a:rPr>
              <a:t>and</a:t>
            </a:r>
            <a:r>
              <a:rPr dirty="0" sz="1000" spc="65">
                <a:latin typeface="Times New Roman"/>
                <a:cs typeface="Times New Roman"/>
              </a:rPr>
              <a:t> </a:t>
            </a:r>
            <a:r>
              <a:rPr dirty="0" sz="1000">
                <a:latin typeface="Times New Roman"/>
                <a:cs typeface="Times New Roman"/>
              </a:rPr>
              <a:t>VGGSound,</a:t>
            </a:r>
            <a:r>
              <a:rPr dirty="0" sz="1000" spc="55">
                <a:latin typeface="Times New Roman"/>
                <a:cs typeface="Times New Roman"/>
              </a:rPr>
              <a:t> </a:t>
            </a:r>
            <a:r>
              <a:rPr dirty="0" sz="1000">
                <a:latin typeface="Times New Roman"/>
                <a:cs typeface="Times New Roman"/>
              </a:rPr>
              <a:t>we</a:t>
            </a:r>
            <a:r>
              <a:rPr dirty="0" sz="1000" spc="60">
                <a:latin typeface="Times New Roman"/>
                <a:cs typeface="Times New Roman"/>
              </a:rPr>
              <a:t> </a:t>
            </a:r>
            <a:r>
              <a:rPr dirty="0" sz="1000">
                <a:latin typeface="Times New Roman"/>
                <a:cs typeface="Times New Roman"/>
              </a:rPr>
              <a:t>adopt</a:t>
            </a:r>
            <a:r>
              <a:rPr dirty="0" sz="1000" spc="65">
                <a:latin typeface="Times New Roman"/>
                <a:cs typeface="Times New Roman"/>
              </a:rPr>
              <a:t> </a:t>
            </a:r>
            <a:r>
              <a:rPr dirty="0" sz="1000">
                <a:latin typeface="Times New Roman"/>
                <a:cs typeface="Times New Roman"/>
              </a:rPr>
              <a:t>the</a:t>
            </a:r>
            <a:r>
              <a:rPr dirty="0" sz="1000" spc="60">
                <a:latin typeface="Times New Roman"/>
                <a:cs typeface="Times New Roman"/>
              </a:rPr>
              <a:t> </a:t>
            </a:r>
            <a:r>
              <a:rPr dirty="0" sz="1000">
                <a:latin typeface="Times New Roman"/>
                <a:cs typeface="Times New Roman"/>
              </a:rPr>
              <a:t>ResNet18</a:t>
            </a:r>
            <a:r>
              <a:rPr dirty="0" sz="1000" spc="60">
                <a:latin typeface="Times New Roman"/>
                <a:cs typeface="Times New Roman"/>
              </a:rPr>
              <a:t> </a:t>
            </a:r>
            <a:r>
              <a:rPr dirty="0" sz="1000">
                <a:latin typeface="Times New Roman"/>
                <a:cs typeface="Times New Roman"/>
              </a:rPr>
              <a:t>as</a:t>
            </a:r>
            <a:r>
              <a:rPr dirty="0" sz="1000" spc="65">
                <a:latin typeface="Times New Roman"/>
                <a:cs typeface="Times New Roman"/>
              </a:rPr>
              <a:t> </a:t>
            </a:r>
            <a:r>
              <a:rPr dirty="0" sz="1000">
                <a:latin typeface="Times New Roman"/>
                <a:cs typeface="Times New Roman"/>
              </a:rPr>
              <a:t>the</a:t>
            </a:r>
            <a:r>
              <a:rPr dirty="0" sz="1000" spc="60">
                <a:latin typeface="Times New Roman"/>
                <a:cs typeface="Times New Roman"/>
              </a:rPr>
              <a:t> </a:t>
            </a:r>
            <a:r>
              <a:rPr dirty="0" sz="1000" spc="-10">
                <a:latin typeface="Times New Roman"/>
                <a:cs typeface="Times New Roman"/>
              </a:rPr>
              <a:t>encoder </a:t>
            </a:r>
            <a:r>
              <a:rPr dirty="0" sz="1000">
                <a:latin typeface="Times New Roman"/>
                <a:cs typeface="Times New Roman"/>
              </a:rPr>
              <a:t>backbone,</a:t>
            </a:r>
            <a:r>
              <a:rPr dirty="0" sz="1000" spc="85">
                <a:latin typeface="Times New Roman"/>
                <a:cs typeface="Times New Roman"/>
              </a:rPr>
              <a:t> </a:t>
            </a:r>
            <a:r>
              <a:rPr dirty="0" sz="1000">
                <a:latin typeface="Times New Roman"/>
                <a:cs typeface="Times New Roman"/>
              </a:rPr>
              <a:t>mapping</a:t>
            </a:r>
            <a:r>
              <a:rPr dirty="0" sz="1000" spc="9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input</a:t>
            </a:r>
            <a:r>
              <a:rPr dirty="0" sz="1000" spc="85">
                <a:latin typeface="Times New Roman"/>
                <a:cs typeface="Times New Roman"/>
              </a:rPr>
              <a:t> </a:t>
            </a:r>
            <a:r>
              <a:rPr dirty="0" sz="1000">
                <a:latin typeface="Times New Roman"/>
                <a:cs typeface="Times New Roman"/>
              </a:rPr>
              <a:t>data</a:t>
            </a:r>
            <a:r>
              <a:rPr dirty="0" sz="1000" spc="90">
                <a:latin typeface="Times New Roman"/>
                <a:cs typeface="Times New Roman"/>
              </a:rPr>
              <a:t> </a:t>
            </a:r>
            <a:r>
              <a:rPr dirty="0" sz="1000">
                <a:latin typeface="Times New Roman"/>
                <a:cs typeface="Times New Roman"/>
              </a:rPr>
              <a:t>to</a:t>
            </a:r>
            <a:r>
              <a:rPr dirty="0" sz="1000" spc="80">
                <a:latin typeface="Times New Roman"/>
                <a:cs typeface="Times New Roman"/>
              </a:rPr>
              <a:t> </a:t>
            </a:r>
            <a:r>
              <a:rPr dirty="0" sz="1000" spc="-20">
                <a:latin typeface="Times New Roman"/>
                <a:cs typeface="Times New Roman"/>
              </a:rPr>
              <a:t>512-</a:t>
            </a:r>
            <a:r>
              <a:rPr dirty="0" sz="1000">
                <a:latin typeface="Times New Roman"/>
                <a:cs typeface="Times New Roman"/>
              </a:rPr>
              <a:t>dimensional</a:t>
            </a:r>
            <a:r>
              <a:rPr dirty="0" sz="1000" spc="90">
                <a:latin typeface="Times New Roman"/>
                <a:cs typeface="Times New Roman"/>
              </a:rPr>
              <a:t> </a:t>
            </a:r>
            <a:r>
              <a:rPr dirty="0" sz="1000">
                <a:latin typeface="Times New Roman"/>
                <a:cs typeface="Times New Roman"/>
              </a:rPr>
              <a:t>vectors.</a:t>
            </a:r>
            <a:r>
              <a:rPr dirty="0" sz="1000" spc="204">
                <a:latin typeface="Times New Roman"/>
                <a:cs typeface="Times New Roman"/>
              </a:rPr>
              <a:t> </a:t>
            </a:r>
            <a:r>
              <a:rPr dirty="0" sz="1000">
                <a:latin typeface="Times New Roman"/>
                <a:cs typeface="Times New Roman"/>
              </a:rPr>
              <a:t>For</a:t>
            </a:r>
            <a:r>
              <a:rPr dirty="0" sz="1000" spc="80">
                <a:latin typeface="Times New Roman"/>
                <a:cs typeface="Times New Roman"/>
              </a:rPr>
              <a:t> </a:t>
            </a:r>
            <a:r>
              <a:rPr dirty="0" sz="1000" spc="-10">
                <a:latin typeface="Times New Roman"/>
                <a:cs typeface="Times New Roman"/>
              </a:rPr>
              <a:t>CREMA-</a:t>
            </a:r>
            <a:r>
              <a:rPr dirty="0" sz="1000" spc="-35">
                <a:latin typeface="Times New Roman"/>
                <a:cs typeface="Times New Roman"/>
              </a:rPr>
              <a:t>D,</a:t>
            </a:r>
            <a:r>
              <a:rPr dirty="0" sz="1000" spc="80">
                <a:latin typeface="Times New Roman"/>
                <a:cs typeface="Times New Roman"/>
              </a:rPr>
              <a:t> </a:t>
            </a:r>
            <a:r>
              <a:rPr dirty="0" sz="1000">
                <a:latin typeface="Times New Roman"/>
                <a:cs typeface="Times New Roman"/>
              </a:rPr>
              <a:t>we</a:t>
            </a:r>
            <a:r>
              <a:rPr dirty="0" sz="1000" spc="90">
                <a:latin typeface="Times New Roman"/>
                <a:cs typeface="Times New Roman"/>
              </a:rPr>
              <a:t> </a:t>
            </a:r>
            <a:r>
              <a:rPr dirty="0" sz="1000">
                <a:latin typeface="Times New Roman"/>
                <a:cs typeface="Times New Roman"/>
              </a:rPr>
              <a:t>extract</a:t>
            </a:r>
            <a:r>
              <a:rPr dirty="0" sz="1000" spc="80">
                <a:latin typeface="Times New Roman"/>
                <a:cs typeface="Times New Roman"/>
              </a:rPr>
              <a:t> </a:t>
            </a:r>
            <a:r>
              <a:rPr dirty="0" sz="1000">
                <a:latin typeface="Times New Roman"/>
                <a:cs typeface="Times New Roman"/>
              </a:rPr>
              <a:t>1</a:t>
            </a:r>
            <a:r>
              <a:rPr dirty="0" sz="1000" spc="90">
                <a:latin typeface="Times New Roman"/>
                <a:cs typeface="Times New Roman"/>
              </a:rPr>
              <a:t> </a:t>
            </a:r>
            <a:r>
              <a:rPr dirty="0" sz="1000">
                <a:latin typeface="Times New Roman"/>
                <a:cs typeface="Times New Roman"/>
              </a:rPr>
              <a:t>frame</a:t>
            </a:r>
            <a:r>
              <a:rPr dirty="0" sz="1000" spc="85">
                <a:latin typeface="Times New Roman"/>
                <a:cs typeface="Times New Roman"/>
              </a:rPr>
              <a:t> </a:t>
            </a:r>
            <a:r>
              <a:rPr dirty="0" sz="1000">
                <a:latin typeface="Times New Roman"/>
                <a:cs typeface="Times New Roman"/>
              </a:rPr>
              <a:t>from</a:t>
            </a:r>
            <a:r>
              <a:rPr dirty="0" sz="1000" spc="85">
                <a:latin typeface="Times New Roman"/>
                <a:cs typeface="Times New Roman"/>
              </a:rPr>
              <a:t> </a:t>
            </a:r>
            <a:r>
              <a:rPr dirty="0" sz="1000" spc="-20">
                <a:latin typeface="Times New Roman"/>
                <a:cs typeface="Times New Roman"/>
              </a:rPr>
              <a:t>each </a:t>
            </a:r>
            <a:r>
              <a:rPr dirty="0" sz="1000">
                <a:latin typeface="Times New Roman"/>
                <a:cs typeface="Times New Roman"/>
              </a:rPr>
              <a:t>of</a:t>
            </a:r>
            <a:r>
              <a:rPr dirty="0" sz="1000" spc="70">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clips</a:t>
            </a:r>
            <a:r>
              <a:rPr dirty="0" sz="1000" spc="70">
                <a:latin typeface="Times New Roman"/>
                <a:cs typeface="Times New Roman"/>
              </a:rPr>
              <a:t> </a:t>
            </a:r>
            <a:r>
              <a:rPr dirty="0" sz="1000">
                <a:latin typeface="Times New Roman"/>
                <a:cs typeface="Times New Roman"/>
              </a:rPr>
              <a:t>as</a:t>
            </a:r>
            <a:r>
              <a:rPr dirty="0" sz="1000" spc="80">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visual</a:t>
            </a:r>
            <a:r>
              <a:rPr dirty="0" sz="1000" spc="80">
                <a:latin typeface="Times New Roman"/>
                <a:cs typeface="Times New Roman"/>
              </a:rPr>
              <a:t> </a:t>
            </a:r>
            <a:r>
              <a:rPr dirty="0" sz="1000">
                <a:latin typeface="Times New Roman"/>
                <a:cs typeface="Times New Roman"/>
              </a:rPr>
              <a:t>input.</a:t>
            </a:r>
            <a:r>
              <a:rPr dirty="0" sz="1000" spc="21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whole</a:t>
            </a:r>
            <a:r>
              <a:rPr dirty="0" sz="1000" spc="80">
                <a:latin typeface="Times New Roman"/>
                <a:cs typeface="Times New Roman"/>
              </a:rPr>
              <a:t> </a:t>
            </a:r>
            <a:r>
              <a:rPr dirty="0" sz="1000">
                <a:latin typeface="Times New Roman"/>
                <a:cs typeface="Times New Roman"/>
              </a:rPr>
              <a:t>audio</a:t>
            </a:r>
            <a:r>
              <a:rPr dirty="0" sz="1000" spc="75">
                <a:latin typeface="Times New Roman"/>
                <a:cs typeface="Times New Roman"/>
              </a:rPr>
              <a:t> </a:t>
            </a:r>
            <a:r>
              <a:rPr dirty="0" sz="1000">
                <a:latin typeface="Times New Roman"/>
                <a:cs typeface="Times New Roman"/>
              </a:rPr>
              <a:t>data</a:t>
            </a:r>
            <a:r>
              <a:rPr dirty="0" sz="1000" spc="75">
                <a:latin typeface="Times New Roman"/>
                <a:cs typeface="Times New Roman"/>
              </a:rPr>
              <a:t> </a:t>
            </a:r>
            <a:r>
              <a:rPr dirty="0" sz="1000">
                <a:latin typeface="Times New Roman"/>
                <a:cs typeface="Times New Roman"/>
              </a:rPr>
              <a:t>is</a:t>
            </a:r>
            <a:r>
              <a:rPr dirty="0" sz="1000" spc="75">
                <a:latin typeface="Times New Roman"/>
                <a:cs typeface="Times New Roman"/>
              </a:rPr>
              <a:t> </a:t>
            </a:r>
            <a:r>
              <a:rPr dirty="0" sz="1000">
                <a:latin typeface="Times New Roman"/>
                <a:cs typeface="Times New Roman"/>
              </a:rPr>
              <a:t>transformed</a:t>
            </a:r>
            <a:r>
              <a:rPr dirty="0" sz="1000" spc="70">
                <a:latin typeface="Times New Roman"/>
                <a:cs typeface="Times New Roman"/>
              </a:rPr>
              <a:t> </a:t>
            </a:r>
            <a:r>
              <a:rPr dirty="0" sz="1000">
                <a:latin typeface="Times New Roman"/>
                <a:cs typeface="Times New Roman"/>
              </a:rPr>
              <a:t>into</a:t>
            </a:r>
            <a:r>
              <a:rPr dirty="0" sz="1000" spc="70">
                <a:latin typeface="Times New Roman"/>
                <a:cs typeface="Times New Roman"/>
              </a:rPr>
              <a:t> </a:t>
            </a:r>
            <a:r>
              <a:rPr dirty="0" sz="1000">
                <a:latin typeface="Times New Roman"/>
                <a:cs typeface="Times New Roman"/>
              </a:rPr>
              <a:t>a</a:t>
            </a:r>
            <a:r>
              <a:rPr dirty="0" sz="1000" spc="80">
                <a:latin typeface="Times New Roman"/>
                <a:cs typeface="Times New Roman"/>
              </a:rPr>
              <a:t> </a:t>
            </a:r>
            <a:r>
              <a:rPr dirty="0" sz="1000">
                <a:latin typeface="Times New Roman"/>
                <a:cs typeface="Times New Roman"/>
              </a:rPr>
              <a:t>spectrogram</a:t>
            </a:r>
            <a:r>
              <a:rPr dirty="0" sz="1000" spc="70">
                <a:latin typeface="Times New Roman"/>
                <a:cs typeface="Times New Roman"/>
              </a:rPr>
              <a:t> </a:t>
            </a:r>
            <a:r>
              <a:rPr dirty="0" sz="1000">
                <a:latin typeface="Times New Roman"/>
                <a:cs typeface="Times New Roman"/>
              </a:rPr>
              <a:t>of</a:t>
            </a:r>
            <a:r>
              <a:rPr dirty="0" sz="1000" spc="75">
                <a:latin typeface="Times New Roman"/>
                <a:cs typeface="Times New Roman"/>
              </a:rPr>
              <a:t> </a:t>
            </a:r>
            <a:r>
              <a:rPr dirty="0" sz="1000">
                <a:latin typeface="Times New Roman"/>
                <a:cs typeface="Times New Roman"/>
              </a:rPr>
              <a:t>size</a:t>
            </a:r>
            <a:r>
              <a:rPr dirty="0" sz="1000" spc="80">
                <a:latin typeface="Times New Roman"/>
                <a:cs typeface="Times New Roman"/>
              </a:rPr>
              <a:t> </a:t>
            </a:r>
            <a:r>
              <a:rPr dirty="0" sz="1000" spc="-60">
                <a:latin typeface="Cambria"/>
                <a:cs typeface="Cambria"/>
              </a:rPr>
              <a:t>257</a:t>
            </a:r>
            <a:r>
              <a:rPr dirty="0" sz="1000" spc="80">
                <a:latin typeface="Cambria"/>
                <a:cs typeface="Cambria"/>
              </a:rPr>
              <a:t> </a:t>
            </a:r>
            <a:r>
              <a:rPr dirty="0" sz="1000" spc="165">
                <a:latin typeface="Cambria"/>
                <a:cs typeface="Cambria"/>
              </a:rPr>
              <a:t>×</a:t>
            </a:r>
            <a:r>
              <a:rPr dirty="0" sz="1000" spc="90">
                <a:latin typeface="Cambria"/>
                <a:cs typeface="Cambria"/>
              </a:rPr>
              <a:t> </a:t>
            </a:r>
            <a:r>
              <a:rPr dirty="0" sz="1000" spc="-50">
                <a:latin typeface="Cambria"/>
                <a:cs typeface="Cambria"/>
              </a:rPr>
              <a:t>299</a:t>
            </a:r>
            <a:r>
              <a:rPr dirty="0" sz="1000" spc="110">
                <a:latin typeface="Cambria"/>
                <a:cs typeface="Cambria"/>
              </a:rPr>
              <a:t> </a:t>
            </a:r>
            <a:r>
              <a:rPr dirty="0" sz="1000" spc="-25">
                <a:latin typeface="Times New Roman"/>
                <a:cs typeface="Times New Roman"/>
              </a:rPr>
              <a:t>by </a:t>
            </a:r>
            <a:r>
              <a:rPr dirty="0" sz="1000">
                <a:latin typeface="Times New Roman"/>
                <a:cs typeface="Times New Roman"/>
              </a:rPr>
              <a:t>librosa</a:t>
            </a:r>
            <a:r>
              <a:rPr dirty="0" sz="1000" spc="50">
                <a:latin typeface="Times New Roman"/>
                <a:cs typeface="Times New Roman"/>
              </a:rPr>
              <a:t> </a:t>
            </a:r>
            <a:r>
              <a:rPr dirty="0" sz="1000">
                <a:latin typeface="Times New Roman"/>
                <a:cs typeface="Times New Roman"/>
              </a:rPr>
              <a:t>[20]</a:t>
            </a:r>
            <a:r>
              <a:rPr dirty="0" sz="1000" spc="55">
                <a:latin typeface="Times New Roman"/>
                <a:cs typeface="Times New Roman"/>
              </a:rPr>
              <a:t> </a:t>
            </a:r>
            <a:r>
              <a:rPr dirty="0" sz="1000">
                <a:latin typeface="Times New Roman"/>
                <a:cs typeface="Times New Roman"/>
              </a:rPr>
              <a:t>using</a:t>
            </a:r>
            <a:r>
              <a:rPr dirty="0" sz="1000" spc="60">
                <a:latin typeface="Times New Roman"/>
                <a:cs typeface="Times New Roman"/>
              </a:rPr>
              <a:t> </a:t>
            </a:r>
            <a:r>
              <a:rPr dirty="0" sz="1000">
                <a:latin typeface="Times New Roman"/>
                <a:cs typeface="Times New Roman"/>
              </a:rPr>
              <a:t>a</a:t>
            </a:r>
            <a:r>
              <a:rPr dirty="0" sz="1000" spc="55">
                <a:latin typeface="Times New Roman"/>
                <a:cs typeface="Times New Roman"/>
              </a:rPr>
              <a:t> </a:t>
            </a:r>
            <a:r>
              <a:rPr dirty="0" sz="1000">
                <a:latin typeface="Times New Roman"/>
                <a:cs typeface="Times New Roman"/>
              </a:rPr>
              <a:t>window</a:t>
            </a:r>
            <a:r>
              <a:rPr dirty="0" sz="1000" spc="60">
                <a:latin typeface="Times New Roman"/>
                <a:cs typeface="Times New Roman"/>
              </a:rPr>
              <a:t> </a:t>
            </a:r>
            <a:r>
              <a:rPr dirty="0" sz="1000">
                <a:latin typeface="Times New Roman"/>
                <a:cs typeface="Times New Roman"/>
              </a:rPr>
              <a:t>with</a:t>
            </a:r>
            <a:r>
              <a:rPr dirty="0" sz="1000" spc="55">
                <a:latin typeface="Times New Roman"/>
                <a:cs typeface="Times New Roman"/>
              </a:rPr>
              <a:t> </a:t>
            </a:r>
            <a:r>
              <a:rPr dirty="0" sz="1000">
                <a:latin typeface="Times New Roman"/>
                <a:cs typeface="Times New Roman"/>
              </a:rPr>
              <a:t>a</a:t>
            </a:r>
            <a:r>
              <a:rPr dirty="0" sz="1000" spc="60">
                <a:latin typeface="Times New Roman"/>
                <a:cs typeface="Times New Roman"/>
              </a:rPr>
              <a:t> </a:t>
            </a:r>
            <a:r>
              <a:rPr dirty="0" sz="1000">
                <a:latin typeface="Times New Roman"/>
                <a:cs typeface="Times New Roman"/>
              </a:rPr>
              <a:t>length</a:t>
            </a:r>
            <a:r>
              <a:rPr dirty="0" sz="1000" spc="55">
                <a:latin typeface="Times New Roman"/>
                <a:cs typeface="Times New Roman"/>
              </a:rPr>
              <a:t> </a:t>
            </a:r>
            <a:r>
              <a:rPr dirty="0" sz="1000">
                <a:latin typeface="Times New Roman"/>
                <a:cs typeface="Times New Roman"/>
              </a:rPr>
              <a:t>of</a:t>
            </a:r>
            <a:r>
              <a:rPr dirty="0" sz="1000" spc="60">
                <a:latin typeface="Times New Roman"/>
                <a:cs typeface="Times New Roman"/>
              </a:rPr>
              <a:t> </a:t>
            </a:r>
            <a:r>
              <a:rPr dirty="0" sz="1000">
                <a:latin typeface="Times New Roman"/>
                <a:cs typeface="Times New Roman"/>
              </a:rPr>
              <a:t>512</a:t>
            </a:r>
            <a:r>
              <a:rPr dirty="0" sz="1000" spc="55">
                <a:latin typeface="Times New Roman"/>
                <a:cs typeface="Times New Roman"/>
              </a:rPr>
              <a:t> </a:t>
            </a:r>
            <a:r>
              <a:rPr dirty="0" sz="1000">
                <a:latin typeface="Times New Roman"/>
                <a:cs typeface="Times New Roman"/>
              </a:rPr>
              <a:t>and</a:t>
            </a:r>
            <a:r>
              <a:rPr dirty="0" sz="1000" spc="60">
                <a:latin typeface="Times New Roman"/>
                <a:cs typeface="Times New Roman"/>
              </a:rPr>
              <a:t> </a:t>
            </a:r>
            <a:r>
              <a:rPr dirty="0" sz="1000">
                <a:latin typeface="Times New Roman"/>
                <a:cs typeface="Times New Roman"/>
              </a:rPr>
              <a:t>an</a:t>
            </a:r>
            <a:r>
              <a:rPr dirty="0" sz="1000" spc="55">
                <a:latin typeface="Times New Roman"/>
                <a:cs typeface="Times New Roman"/>
              </a:rPr>
              <a:t> </a:t>
            </a:r>
            <a:r>
              <a:rPr dirty="0" sz="1000">
                <a:latin typeface="Times New Roman"/>
                <a:cs typeface="Times New Roman"/>
              </a:rPr>
              <a:t>overlap</a:t>
            </a:r>
            <a:r>
              <a:rPr dirty="0" sz="1000" spc="60">
                <a:latin typeface="Times New Roman"/>
                <a:cs typeface="Times New Roman"/>
              </a:rPr>
              <a:t> </a:t>
            </a:r>
            <a:r>
              <a:rPr dirty="0" sz="1000">
                <a:latin typeface="Times New Roman"/>
                <a:cs typeface="Times New Roman"/>
              </a:rPr>
              <a:t>of</a:t>
            </a:r>
            <a:r>
              <a:rPr dirty="0" sz="1000" spc="55">
                <a:latin typeface="Times New Roman"/>
                <a:cs typeface="Times New Roman"/>
              </a:rPr>
              <a:t> </a:t>
            </a:r>
            <a:r>
              <a:rPr dirty="0" sz="1000">
                <a:latin typeface="Times New Roman"/>
                <a:cs typeface="Times New Roman"/>
              </a:rPr>
              <a:t>353.</a:t>
            </a:r>
            <a:r>
              <a:rPr dirty="0" sz="1000" spc="185">
                <a:latin typeface="Times New Roman"/>
                <a:cs typeface="Times New Roman"/>
              </a:rPr>
              <a:t> </a:t>
            </a:r>
            <a:r>
              <a:rPr dirty="0" sz="1000">
                <a:latin typeface="Times New Roman"/>
                <a:cs typeface="Times New Roman"/>
              </a:rPr>
              <a:t>For</a:t>
            </a:r>
            <a:r>
              <a:rPr dirty="0" sz="1000" spc="55">
                <a:latin typeface="Times New Roman"/>
                <a:cs typeface="Times New Roman"/>
              </a:rPr>
              <a:t> </a:t>
            </a:r>
            <a:r>
              <a:rPr dirty="0" sz="1000">
                <a:latin typeface="Times New Roman"/>
                <a:cs typeface="Times New Roman"/>
              </a:rPr>
              <a:t>the</a:t>
            </a:r>
            <a:r>
              <a:rPr dirty="0" sz="1000" spc="60">
                <a:latin typeface="Times New Roman"/>
                <a:cs typeface="Times New Roman"/>
              </a:rPr>
              <a:t> </a:t>
            </a:r>
            <a:r>
              <a:rPr dirty="0" sz="1000" spc="-20">
                <a:latin typeface="Times New Roman"/>
                <a:cs typeface="Times New Roman"/>
              </a:rPr>
              <a:t>KS</a:t>
            </a:r>
            <a:r>
              <a:rPr dirty="0" sz="1000" spc="55">
                <a:latin typeface="Times New Roman"/>
                <a:cs typeface="Times New Roman"/>
              </a:rPr>
              <a:t> </a:t>
            </a:r>
            <a:r>
              <a:rPr dirty="0" sz="1000">
                <a:latin typeface="Times New Roman"/>
                <a:cs typeface="Times New Roman"/>
              </a:rPr>
              <a:t>and</a:t>
            </a:r>
            <a:r>
              <a:rPr dirty="0" sz="1000" spc="60">
                <a:latin typeface="Times New Roman"/>
                <a:cs typeface="Times New Roman"/>
              </a:rPr>
              <a:t> </a:t>
            </a:r>
            <a:r>
              <a:rPr dirty="0" sz="1000">
                <a:latin typeface="Times New Roman"/>
                <a:cs typeface="Times New Roman"/>
              </a:rPr>
              <a:t>VGGSound</a:t>
            </a:r>
            <a:r>
              <a:rPr dirty="0" sz="1000" spc="50">
                <a:latin typeface="Times New Roman"/>
                <a:cs typeface="Times New Roman"/>
              </a:rPr>
              <a:t> </a:t>
            </a:r>
            <a:r>
              <a:rPr dirty="0" sz="1000" spc="-10">
                <a:latin typeface="Times New Roman"/>
                <a:cs typeface="Times New Roman"/>
              </a:rPr>
              <a:t>datasets, </a:t>
            </a:r>
            <a:r>
              <a:rPr dirty="0" sz="1000">
                <a:latin typeface="Times New Roman"/>
                <a:cs typeface="Times New Roman"/>
              </a:rPr>
              <a:t>we</a:t>
            </a:r>
            <a:r>
              <a:rPr dirty="0" sz="1000" spc="75">
                <a:latin typeface="Times New Roman"/>
                <a:cs typeface="Times New Roman"/>
              </a:rPr>
              <a:t> </a:t>
            </a:r>
            <a:r>
              <a:rPr dirty="0" sz="1000">
                <a:latin typeface="Times New Roman"/>
                <a:cs typeface="Times New Roman"/>
              </a:rPr>
              <a:t>extract</a:t>
            </a:r>
            <a:r>
              <a:rPr dirty="0" sz="1000" spc="75">
                <a:latin typeface="Times New Roman"/>
                <a:cs typeface="Times New Roman"/>
              </a:rPr>
              <a:t> </a:t>
            </a:r>
            <a:r>
              <a:rPr dirty="0" sz="1000">
                <a:latin typeface="Times New Roman"/>
                <a:cs typeface="Times New Roman"/>
              </a:rPr>
              <a:t>3</a:t>
            </a:r>
            <a:r>
              <a:rPr dirty="0" sz="1000" spc="75">
                <a:latin typeface="Times New Roman"/>
                <a:cs typeface="Times New Roman"/>
              </a:rPr>
              <a:t> </a:t>
            </a:r>
            <a:r>
              <a:rPr dirty="0" sz="1000">
                <a:latin typeface="Times New Roman"/>
                <a:cs typeface="Times New Roman"/>
              </a:rPr>
              <a:t>frames</a:t>
            </a:r>
            <a:r>
              <a:rPr dirty="0" sz="1000" spc="75">
                <a:latin typeface="Times New Roman"/>
                <a:cs typeface="Times New Roman"/>
              </a:rPr>
              <a:t> </a:t>
            </a:r>
            <a:r>
              <a:rPr dirty="0" sz="1000">
                <a:latin typeface="Times New Roman"/>
                <a:cs typeface="Times New Roman"/>
              </a:rPr>
              <a:t>from</a:t>
            </a:r>
            <a:r>
              <a:rPr dirty="0" sz="1000" spc="75">
                <a:latin typeface="Times New Roman"/>
                <a:cs typeface="Times New Roman"/>
              </a:rPr>
              <a:t> </a:t>
            </a:r>
            <a:r>
              <a:rPr dirty="0" sz="1000">
                <a:latin typeface="Times New Roman"/>
                <a:cs typeface="Times New Roman"/>
              </a:rPr>
              <a:t>each</a:t>
            </a:r>
            <a:r>
              <a:rPr dirty="0" sz="1000" spc="75">
                <a:latin typeface="Times New Roman"/>
                <a:cs typeface="Times New Roman"/>
              </a:rPr>
              <a:t> </a:t>
            </a:r>
            <a:r>
              <a:rPr dirty="0" sz="1000">
                <a:latin typeface="Times New Roman"/>
                <a:cs typeface="Times New Roman"/>
              </a:rPr>
              <a:t>clip</a:t>
            </a:r>
            <a:r>
              <a:rPr dirty="0" sz="1000" spc="75">
                <a:latin typeface="Times New Roman"/>
                <a:cs typeface="Times New Roman"/>
              </a:rPr>
              <a:t> </a:t>
            </a:r>
            <a:r>
              <a:rPr dirty="0" sz="1000">
                <a:latin typeface="Times New Roman"/>
                <a:cs typeface="Times New Roman"/>
              </a:rPr>
              <a:t>as</a:t>
            </a:r>
            <a:r>
              <a:rPr dirty="0" sz="1000" spc="75">
                <a:latin typeface="Times New Roman"/>
                <a:cs typeface="Times New Roman"/>
              </a:rPr>
              <a:t> </a:t>
            </a:r>
            <a:r>
              <a:rPr dirty="0" sz="1000">
                <a:latin typeface="Times New Roman"/>
                <a:cs typeface="Times New Roman"/>
              </a:rPr>
              <a:t>visual</a:t>
            </a:r>
            <a:r>
              <a:rPr dirty="0" sz="1000" spc="75">
                <a:latin typeface="Times New Roman"/>
                <a:cs typeface="Times New Roman"/>
              </a:rPr>
              <a:t> </a:t>
            </a:r>
            <a:r>
              <a:rPr dirty="0" sz="1000">
                <a:latin typeface="Times New Roman"/>
                <a:cs typeface="Times New Roman"/>
              </a:rPr>
              <a:t>inputs</a:t>
            </a:r>
            <a:r>
              <a:rPr dirty="0" sz="1000" spc="75">
                <a:latin typeface="Times New Roman"/>
                <a:cs typeface="Times New Roman"/>
              </a:rPr>
              <a:t> </a:t>
            </a:r>
            <a:r>
              <a:rPr dirty="0" sz="1000">
                <a:latin typeface="Times New Roman"/>
                <a:cs typeface="Times New Roman"/>
              </a:rPr>
              <a:t>as</a:t>
            </a:r>
            <a:r>
              <a:rPr dirty="0" sz="1000" spc="75">
                <a:latin typeface="Times New Roman"/>
                <a:cs typeface="Times New Roman"/>
              </a:rPr>
              <a:t> </a:t>
            </a:r>
            <a:r>
              <a:rPr dirty="0" sz="1000">
                <a:latin typeface="Times New Roman"/>
                <a:cs typeface="Times New Roman"/>
              </a:rPr>
              <a:t>visual</a:t>
            </a:r>
            <a:r>
              <a:rPr dirty="0" sz="1000" spc="75">
                <a:latin typeface="Times New Roman"/>
                <a:cs typeface="Times New Roman"/>
              </a:rPr>
              <a:t> </a:t>
            </a:r>
            <a:r>
              <a:rPr dirty="0" sz="1000">
                <a:latin typeface="Times New Roman"/>
                <a:cs typeface="Times New Roman"/>
              </a:rPr>
              <a:t>input</a:t>
            </a:r>
            <a:r>
              <a:rPr dirty="0" sz="1000" spc="75">
                <a:latin typeface="Times New Roman"/>
                <a:cs typeface="Times New Roman"/>
              </a:rPr>
              <a:t> </a:t>
            </a:r>
            <a:r>
              <a:rPr dirty="0" sz="1000">
                <a:latin typeface="Times New Roman"/>
                <a:cs typeface="Times New Roman"/>
              </a:rPr>
              <a:t>and</a:t>
            </a:r>
            <a:r>
              <a:rPr dirty="0" sz="1000" spc="75">
                <a:latin typeface="Times New Roman"/>
                <a:cs typeface="Times New Roman"/>
              </a:rPr>
              <a:t> </a:t>
            </a:r>
            <a:r>
              <a:rPr dirty="0" sz="1000">
                <a:latin typeface="Times New Roman"/>
                <a:cs typeface="Times New Roman"/>
              </a:rPr>
              <a:t>process</a:t>
            </a:r>
            <a:r>
              <a:rPr dirty="0" sz="1000" spc="75">
                <a:latin typeface="Times New Roman"/>
                <a:cs typeface="Times New Roman"/>
              </a:rPr>
              <a:t> </a:t>
            </a:r>
            <a:r>
              <a:rPr dirty="0" sz="1000">
                <a:latin typeface="Times New Roman"/>
                <a:cs typeface="Times New Roman"/>
              </a:rPr>
              <a:t>audio</a:t>
            </a:r>
            <a:r>
              <a:rPr dirty="0" sz="1000" spc="75">
                <a:latin typeface="Times New Roman"/>
                <a:cs typeface="Times New Roman"/>
              </a:rPr>
              <a:t> </a:t>
            </a:r>
            <a:r>
              <a:rPr dirty="0" sz="1000">
                <a:latin typeface="Times New Roman"/>
                <a:cs typeface="Times New Roman"/>
              </a:rPr>
              <a:t>data</a:t>
            </a:r>
            <a:r>
              <a:rPr dirty="0" sz="1000" spc="75">
                <a:latin typeface="Times New Roman"/>
                <a:cs typeface="Times New Roman"/>
              </a:rPr>
              <a:t> </a:t>
            </a:r>
            <a:r>
              <a:rPr dirty="0" sz="1000">
                <a:latin typeface="Times New Roman"/>
                <a:cs typeface="Times New Roman"/>
              </a:rPr>
              <a:t>into</a:t>
            </a:r>
            <a:r>
              <a:rPr dirty="0" sz="1000" spc="75">
                <a:latin typeface="Times New Roman"/>
                <a:cs typeface="Times New Roman"/>
              </a:rPr>
              <a:t> </a:t>
            </a:r>
            <a:r>
              <a:rPr dirty="0" sz="1000">
                <a:latin typeface="Times New Roman"/>
                <a:cs typeface="Times New Roman"/>
              </a:rPr>
              <a:t>a</a:t>
            </a:r>
            <a:r>
              <a:rPr dirty="0" sz="1000" spc="75">
                <a:latin typeface="Times New Roman"/>
                <a:cs typeface="Times New Roman"/>
              </a:rPr>
              <a:t> </a:t>
            </a:r>
            <a:r>
              <a:rPr dirty="0" sz="1000" spc="-10">
                <a:latin typeface="Times New Roman"/>
                <a:cs typeface="Times New Roman"/>
              </a:rPr>
              <a:t>spectrogram </a:t>
            </a:r>
            <a:r>
              <a:rPr dirty="0" sz="1000">
                <a:latin typeface="Times New Roman"/>
                <a:cs typeface="Times New Roman"/>
              </a:rPr>
              <a:t>of</a:t>
            </a:r>
            <a:r>
              <a:rPr dirty="0" sz="1000" spc="70">
                <a:latin typeface="Times New Roman"/>
                <a:cs typeface="Times New Roman"/>
              </a:rPr>
              <a:t> </a:t>
            </a:r>
            <a:r>
              <a:rPr dirty="0" sz="1000">
                <a:latin typeface="Times New Roman"/>
                <a:cs typeface="Times New Roman"/>
              </a:rPr>
              <a:t>size</a:t>
            </a:r>
            <a:r>
              <a:rPr dirty="0" sz="1000" spc="70">
                <a:latin typeface="Times New Roman"/>
                <a:cs typeface="Times New Roman"/>
              </a:rPr>
              <a:t> </a:t>
            </a:r>
            <a:r>
              <a:rPr dirty="0" sz="1000">
                <a:latin typeface="Times New Roman"/>
                <a:cs typeface="Times New Roman"/>
              </a:rPr>
              <a:t>257×1004.</a:t>
            </a:r>
            <a:r>
              <a:rPr dirty="0" sz="1000" spc="270">
                <a:latin typeface="Times New Roman"/>
                <a:cs typeface="Times New Roman"/>
              </a:rPr>
              <a:t> </a:t>
            </a:r>
            <a:r>
              <a:rPr dirty="0" sz="1000">
                <a:latin typeface="Times New Roman"/>
                <a:cs typeface="Times New Roman"/>
              </a:rPr>
              <a:t>We</a:t>
            </a:r>
            <a:r>
              <a:rPr dirty="0" sz="1000" spc="70">
                <a:latin typeface="Times New Roman"/>
                <a:cs typeface="Times New Roman"/>
              </a:rPr>
              <a:t> </a:t>
            </a:r>
            <a:r>
              <a:rPr dirty="0" sz="1000">
                <a:latin typeface="Times New Roman"/>
                <a:cs typeface="Times New Roman"/>
              </a:rPr>
              <a:t>use</a:t>
            </a:r>
            <a:r>
              <a:rPr dirty="0" sz="1000" spc="70">
                <a:latin typeface="Times New Roman"/>
                <a:cs typeface="Times New Roman"/>
              </a:rPr>
              <a:t> </a:t>
            </a:r>
            <a:r>
              <a:rPr dirty="0" sz="1000">
                <a:latin typeface="Times New Roman"/>
                <a:cs typeface="Times New Roman"/>
              </a:rPr>
              <a:t>SGD</a:t>
            </a:r>
            <a:r>
              <a:rPr dirty="0" sz="1000" spc="75">
                <a:latin typeface="Times New Roman"/>
                <a:cs typeface="Times New Roman"/>
              </a:rPr>
              <a:t> </a:t>
            </a:r>
            <a:r>
              <a:rPr dirty="0" sz="1000">
                <a:latin typeface="Times New Roman"/>
                <a:cs typeface="Times New Roman"/>
              </a:rPr>
              <a:t>with</a:t>
            </a:r>
            <a:r>
              <a:rPr dirty="0" sz="1000" spc="70">
                <a:latin typeface="Times New Roman"/>
                <a:cs typeface="Times New Roman"/>
              </a:rPr>
              <a:t> </a:t>
            </a:r>
            <a:r>
              <a:rPr dirty="0" sz="1000">
                <a:latin typeface="Times New Roman"/>
                <a:cs typeface="Times New Roman"/>
              </a:rPr>
              <a:t>0.9</a:t>
            </a:r>
            <a:r>
              <a:rPr dirty="0" sz="1000" spc="70">
                <a:latin typeface="Times New Roman"/>
                <a:cs typeface="Times New Roman"/>
              </a:rPr>
              <a:t> </a:t>
            </a:r>
            <a:r>
              <a:rPr dirty="0" sz="1000" spc="50">
                <a:latin typeface="Times New Roman"/>
                <a:cs typeface="Times New Roman"/>
              </a:rPr>
              <a:t>momentum</a:t>
            </a:r>
            <a:r>
              <a:rPr dirty="0" sz="1000" spc="70">
                <a:latin typeface="Times New Roman"/>
                <a:cs typeface="Times New Roman"/>
              </a:rPr>
              <a:t> </a:t>
            </a:r>
            <a:r>
              <a:rPr dirty="0" sz="1000">
                <a:latin typeface="Times New Roman"/>
                <a:cs typeface="Times New Roman"/>
              </a:rPr>
              <a:t>and</a:t>
            </a:r>
            <a:r>
              <a:rPr dirty="0" sz="1000" spc="70">
                <a:latin typeface="Times New Roman"/>
                <a:cs typeface="Times New Roman"/>
              </a:rPr>
              <a:t> </a:t>
            </a:r>
            <a:r>
              <a:rPr dirty="0" sz="1000">
                <a:latin typeface="Times New Roman"/>
                <a:cs typeface="Times New Roman"/>
              </a:rPr>
              <a:t>1e-</a:t>
            </a:r>
            <a:r>
              <a:rPr dirty="0" sz="1000" spc="70">
                <a:latin typeface="Times New Roman"/>
                <a:cs typeface="Times New Roman"/>
              </a:rPr>
              <a:t> </a:t>
            </a:r>
            <a:r>
              <a:rPr dirty="0" sz="1000">
                <a:latin typeface="Times New Roman"/>
                <a:cs typeface="Times New Roman"/>
              </a:rPr>
              <a:t>4</a:t>
            </a:r>
            <a:r>
              <a:rPr dirty="0" sz="1000" spc="70">
                <a:latin typeface="Times New Roman"/>
                <a:cs typeface="Times New Roman"/>
              </a:rPr>
              <a:t> </a:t>
            </a:r>
            <a:r>
              <a:rPr dirty="0" sz="1000">
                <a:latin typeface="Times New Roman"/>
                <a:cs typeface="Times New Roman"/>
              </a:rPr>
              <a:t>weight</a:t>
            </a:r>
            <a:r>
              <a:rPr dirty="0" sz="1000" spc="65">
                <a:latin typeface="Times New Roman"/>
                <a:cs typeface="Times New Roman"/>
              </a:rPr>
              <a:t> </a:t>
            </a:r>
            <a:r>
              <a:rPr dirty="0" sz="1000">
                <a:latin typeface="Times New Roman"/>
                <a:cs typeface="Times New Roman"/>
              </a:rPr>
              <a:t>decay</a:t>
            </a:r>
            <a:r>
              <a:rPr dirty="0" sz="1000" spc="70">
                <a:latin typeface="Times New Roman"/>
                <a:cs typeface="Times New Roman"/>
              </a:rPr>
              <a:t> </a:t>
            </a:r>
            <a:r>
              <a:rPr dirty="0" sz="1000">
                <a:latin typeface="Times New Roman"/>
                <a:cs typeface="Times New Roman"/>
              </a:rPr>
              <a:t>as</a:t>
            </a:r>
            <a:r>
              <a:rPr dirty="0" sz="1000" spc="70">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optimizer.</a:t>
            </a:r>
            <a:r>
              <a:rPr dirty="0" sz="1000" spc="27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spc="-10">
                <a:latin typeface="Times New Roman"/>
                <a:cs typeface="Times New Roman"/>
              </a:rPr>
              <a:t>learning </a:t>
            </a:r>
            <a:r>
              <a:rPr dirty="0" sz="1000">
                <a:latin typeface="Times New Roman"/>
                <a:cs typeface="Times New Roman"/>
              </a:rPr>
              <a:t>rate</a:t>
            </a:r>
            <a:r>
              <a:rPr dirty="0" sz="1000" spc="125">
                <a:latin typeface="Times New Roman"/>
                <a:cs typeface="Times New Roman"/>
              </a:rPr>
              <a:t> </a:t>
            </a:r>
            <a:r>
              <a:rPr dirty="0" sz="1000">
                <a:latin typeface="Times New Roman"/>
                <a:cs typeface="Times New Roman"/>
              </a:rPr>
              <a:t>is</a:t>
            </a:r>
            <a:r>
              <a:rPr dirty="0" sz="1000" spc="125">
                <a:latin typeface="Times New Roman"/>
                <a:cs typeface="Times New Roman"/>
              </a:rPr>
              <a:t> </a:t>
            </a:r>
            <a:r>
              <a:rPr dirty="0" sz="1000" spc="-10">
                <a:latin typeface="Times New Roman"/>
                <a:cs typeface="Times New Roman"/>
              </a:rPr>
              <a:t>2e-</a:t>
            </a:r>
            <a:r>
              <a:rPr dirty="0" sz="1000">
                <a:latin typeface="Times New Roman"/>
                <a:cs typeface="Times New Roman"/>
              </a:rPr>
              <a:t>3</a:t>
            </a:r>
            <a:r>
              <a:rPr dirty="0" sz="1000" spc="130">
                <a:latin typeface="Times New Roman"/>
                <a:cs typeface="Times New Roman"/>
              </a:rPr>
              <a:t> </a:t>
            </a:r>
            <a:r>
              <a:rPr dirty="0" sz="1000">
                <a:latin typeface="Times New Roman"/>
                <a:cs typeface="Times New Roman"/>
              </a:rPr>
              <a:t>initially</a:t>
            </a:r>
            <a:r>
              <a:rPr dirty="0" sz="1000" spc="125">
                <a:latin typeface="Times New Roman"/>
                <a:cs typeface="Times New Roman"/>
              </a:rPr>
              <a:t> </a:t>
            </a:r>
            <a:r>
              <a:rPr dirty="0" sz="1000">
                <a:latin typeface="Times New Roman"/>
                <a:cs typeface="Times New Roman"/>
              </a:rPr>
              <a:t>and</a:t>
            </a:r>
            <a:r>
              <a:rPr dirty="0" sz="1000" spc="130">
                <a:latin typeface="Times New Roman"/>
                <a:cs typeface="Times New Roman"/>
              </a:rPr>
              <a:t> </a:t>
            </a:r>
            <a:r>
              <a:rPr dirty="0" sz="1000">
                <a:latin typeface="Times New Roman"/>
                <a:cs typeface="Times New Roman"/>
              </a:rPr>
              <a:t>multiplies</a:t>
            </a:r>
            <a:r>
              <a:rPr dirty="0" sz="1000" spc="125">
                <a:latin typeface="Times New Roman"/>
                <a:cs typeface="Times New Roman"/>
              </a:rPr>
              <a:t> </a:t>
            </a:r>
            <a:r>
              <a:rPr dirty="0" sz="1000">
                <a:latin typeface="Times New Roman"/>
                <a:cs typeface="Times New Roman"/>
              </a:rPr>
              <a:t>0.1</a:t>
            </a:r>
            <a:r>
              <a:rPr dirty="0" sz="1000" spc="130">
                <a:latin typeface="Times New Roman"/>
                <a:cs typeface="Times New Roman"/>
              </a:rPr>
              <a:t> </a:t>
            </a:r>
            <a:r>
              <a:rPr dirty="0" sz="1000">
                <a:latin typeface="Times New Roman"/>
                <a:cs typeface="Times New Roman"/>
              </a:rPr>
              <a:t>every</a:t>
            </a:r>
            <a:r>
              <a:rPr dirty="0" sz="1000" spc="125">
                <a:latin typeface="Times New Roman"/>
                <a:cs typeface="Times New Roman"/>
              </a:rPr>
              <a:t> </a:t>
            </a:r>
            <a:r>
              <a:rPr dirty="0" sz="1000">
                <a:latin typeface="Times New Roman"/>
                <a:cs typeface="Times New Roman"/>
              </a:rPr>
              <a:t>70</a:t>
            </a:r>
            <a:r>
              <a:rPr dirty="0" sz="1000" spc="125">
                <a:latin typeface="Times New Roman"/>
                <a:cs typeface="Times New Roman"/>
              </a:rPr>
              <a:t> </a:t>
            </a:r>
            <a:r>
              <a:rPr dirty="0" sz="1000">
                <a:latin typeface="Times New Roman"/>
                <a:cs typeface="Times New Roman"/>
              </a:rPr>
              <a:t>epochs.</a:t>
            </a:r>
            <a:r>
              <a:rPr dirty="0" sz="1000" spc="400">
                <a:latin typeface="Times New Roman"/>
                <a:cs typeface="Times New Roman"/>
              </a:rPr>
              <a:t> </a:t>
            </a:r>
            <a:r>
              <a:rPr dirty="0" sz="1000">
                <a:latin typeface="Times New Roman"/>
                <a:cs typeface="Times New Roman"/>
              </a:rPr>
              <a:t>The</a:t>
            </a:r>
            <a:r>
              <a:rPr dirty="0" sz="1000" spc="125">
                <a:latin typeface="Times New Roman"/>
                <a:cs typeface="Times New Roman"/>
              </a:rPr>
              <a:t> </a:t>
            </a:r>
            <a:r>
              <a:rPr dirty="0" sz="1000">
                <a:latin typeface="Times New Roman"/>
                <a:cs typeface="Times New Roman"/>
              </a:rPr>
              <a:t>training</a:t>
            </a:r>
            <a:r>
              <a:rPr dirty="0" sz="1000" spc="130">
                <a:latin typeface="Times New Roman"/>
                <a:cs typeface="Times New Roman"/>
              </a:rPr>
              <a:t> </a:t>
            </a:r>
            <a:r>
              <a:rPr dirty="0" sz="1000">
                <a:latin typeface="Times New Roman"/>
                <a:cs typeface="Times New Roman"/>
              </a:rPr>
              <a:t>batch</a:t>
            </a:r>
            <a:r>
              <a:rPr dirty="0" sz="1000" spc="125">
                <a:latin typeface="Times New Roman"/>
                <a:cs typeface="Times New Roman"/>
              </a:rPr>
              <a:t> </a:t>
            </a:r>
            <a:r>
              <a:rPr dirty="0" sz="1000">
                <a:latin typeface="Times New Roman"/>
                <a:cs typeface="Times New Roman"/>
              </a:rPr>
              <a:t>size</a:t>
            </a:r>
            <a:r>
              <a:rPr dirty="0" sz="1000" spc="125">
                <a:latin typeface="Times New Roman"/>
                <a:cs typeface="Times New Roman"/>
              </a:rPr>
              <a:t> </a:t>
            </a:r>
            <a:r>
              <a:rPr dirty="0" sz="1000">
                <a:latin typeface="Times New Roman"/>
                <a:cs typeface="Times New Roman"/>
              </a:rPr>
              <a:t>and</a:t>
            </a:r>
            <a:r>
              <a:rPr dirty="0" sz="1000" spc="130">
                <a:latin typeface="Times New Roman"/>
                <a:cs typeface="Times New Roman"/>
              </a:rPr>
              <a:t> </a:t>
            </a:r>
            <a:r>
              <a:rPr dirty="0" sz="1000">
                <a:latin typeface="Times New Roman"/>
                <a:cs typeface="Times New Roman"/>
              </a:rPr>
              <a:t>epoch</a:t>
            </a:r>
            <a:r>
              <a:rPr dirty="0" sz="1000" spc="125">
                <a:latin typeface="Times New Roman"/>
                <a:cs typeface="Times New Roman"/>
              </a:rPr>
              <a:t> </a:t>
            </a:r>
            <a:r>
              <a:rPr dirty="0" sz="1000">
                <a:latin typeface="Times New Roman"/>
                <a:cs typeface="Times New Roman"/>
              </a:rPr>
              <a:t>are</a:t>
            </a:r>
            <a:r>
              <a:rPr dirty="0" sz="1000" spc="130">
                <a:latin typeface="Times New Roman"/>
                <a:cs typeface="Times New Roman"/>
              </a:rPr>
              <a:t> </a:t>
            </a:r>
            <a:r>
              <a:rPr dirty="0" sz="1000">
                <a:latin typeface="Times New Roman"/>
                <a:cs typeface="Times New Roman"/>
              </a:rPr>
              <a:t>100</a:t>
            </a:r>
            <a:r>
              <a:rPr dirty="0" sz="1000" spc="125">
                <a:latin typeface="Times New Roman"/>
                <a:cs typeface="Times New Roman"/>
              </a:rPr>
              <a:t> </a:t>
            </a:r>
            <a:r>
              <a:rPr dirty="0" sz="1000">
                <a:latin typeface="Times New Roman"/>
                <a:cs typeface="Times New Roman"/>
              </a:rPr>
              <a:t>and</a:t>
            </a:r>
            <a:r>
              <a:rPr dirty="0" sz="1000" spc="130">
                <a:latin typeface="Times New Roman"/>
                <a:cs typeface="Times New Roman"/>
              </a:rPr>
              <a:t> </a:t>
            </a:r>
            <a:r>
              <a:rPr dirty="0" sz="1000" spc="-25">
                <a:latin typeface="Times New Roman"/>
                <a:cs typeface="Times New Roman"/>
              </a:rPr>
              <a:t>64, </a:t>
            </a:r>
            <a:r>
              <a:rPr dirty="0" sz="1000" spc="-10">
                <a:latin typeface="Times New Roman"/>
                <a:cs typeface="Times New Roman"/>
              </a:rPr>
              <a:t>respectively.</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192405" marR="95250">
              <a:lnSpc>
                <a:spcPct val="129500"/>
              </a:lnSpc>
            </a:pPr>
            <a:r>
              <a:rPr dirty="0" sz="1000" spc="-80">
                <a:latin typeface="SimSun"/>
                <a:cs typeface="SimSun"/>
              </a:rPr>
              <a:t>实现细节。为了进行公平比较，我们在视听任务中采用与先前方法</a:t>
            </a:r>
            <a:r>
              <a:rPr dirty="0" sz="1000">
                <a:latin typeface="Times New Roman"/>
                <a:cs typeface="Times New Roman"/>
              </a:rPr>
              <a:t>[21]</a:t>
            </a:r>
            <a:r>
              <a:rPr dirty="0" sz="1000" spc="-75">
                <a:latin typeface="Times New Roman"/>
                <a:cs typeface="Times New Roman"/>
              </a:rPr>
              <a:t> </a:t>
            </a:r>
            <a:r>
              <a:rPr dirty="0" sz="1000" spc="-50">
                <a:latin typeface="SimSun"/>
                <a:cs typeface="SimSun"/>
              </a:rPr>
              <a:t>相同的设置。对于</a:t>
            </a:r>
            <a:r>
              <a:rPr dirty="0" sz="1000" spc="-5">
                <a:latin typeface="Times New Roman"/>
                <a:cs typeface="Times New Roman"/>
              </a:rPr>
              <a:t>CREMA-</a:t>
            </a:r>
            <a:r>
              <a:rPr dirty="0" sz="1000" spc="-30">
                <a:latin typeface="Times New Roman"/>
                <a:cs typeface="Times New Roman"/>
              </a:rPr>
              <a:t>D</a:t>
            </a:r>
            <a:r>
              <a:rPr dirty="0" sz="1000" spc="-10">
                <a:latin typeface="SimSun"/>
                <a:cs typeface="SimSun"/>
              </a:rPr>
              <a:t>、</a:t>
            </a:r>
            <a:r>
              <a:rPr dirty="0" sz="1000" spc="-5">
                <a:latin typeface="SimSun"/>
                <a:cs typeface="SimSun"/>
              </a:rPr>
              <a:t> </a:t>
            </a:r>
            <a:r>
              <a:rPr dirty="0" sz="1000" spc="-40">
                <a:latin typeface="Times New Roman"/>
                <a:cs typeface="Times New Roman"/>
              </a:rPr>
              <a:t>KS</a:t>
            </a:r>
            <a:r>
              <a:rPr dirty="0" sz="1000" spc="-30">
                <a:latin typeface="Times New Roman"/>
                <a:cs typeface="Times New Roman"/>
              </a:rPr>
              <a:t> </a:t>
            </a:r>
            <a:r>
              <a:rPr dirty="0" sz="1000" spc="210">
                <a:latin typeface="SimSun"/>
                <a:cs typeface="SimSun"/>
              </a:rPr>
              <a:t>和</a:t>
            </a:r>
            <a:r>
              <a:rPr dirty="0" sz="1000">
                <a:latin typeface="Times New Roman"/>
                <a:cs typeface="Times New Roman"/>
              </a:rPr>
              <a:t>VGGSound</a:t>
            </a:r>
            <a:r>
              <a:rPr dirty="0" sz="1000" spc="-30">
                <a:latin typeface="Times New Roman"/>
                <a:cs typeface="Times New Roman"/>
              </a:rPr>
              <a:t> </a:t>
            </a:r>
            <a:r>
              <a:rPr dirty="0" sz="1000" spc="-65">
                <a:latin typeface="SimSun"/>
                <a:cs typeface="SimSun"/>
              </a:rPr>
              <a:t>数据集，我们采用 </a:t>
            </a:r>
            <a:r>
              <a:rPr dirty="0" sz="1000">
                <a:latin typeface="Times New Roman"/>
                <a:cs typeface="Times New Roman"/>
              </a:rPr>
              <a:t>ResNet18</a:t>
            </a:r>
            <a:r>
              <a:rPr dirty="0" sz="1000" spc="-35">
                <a:latin typeface="Times New Roman"/>
                <a:cs typeface="Times New Roman"/>
              </a:rPr>
              <a:t> </a:t>
            </a:r>
            <a:r>
              <a:rPr dirty="0" sz="1000" spc="-45">
                <a:latin typeface="SimSun"/>
                <a:cs typeface="SimSun"/>
              </a:rPr>
              <a:t>作为编码器主干，将输入数据映射到 </a:t>
            </a:r>
            <a:r>
              <a:rPr dirty="0" sz="1000" spc="-10">
                <a:latin typeface="Times New Roman"/>
                <a:cs typeface="Times New Roman"/>
              </a:rPr>
              <a:t>512</a:t>
            </a:r>
            <a:r>
              <a:rPr dirty="0" sz="1000" spc="-30">
                <a:latin typeface="Times New Roman"/>
                <a:cs typeface="Times New Roman"/>
              </a:rPr>
              <a:t> </a:t>
            </a:r>
            <a:r>
              <a:rPr dirty="0" sz="1000" spc="-35">
                <a:latin typeface="SimSun"/>
                <a:cs typeface="SimSun"/>
              </a:rPr>
              <a:t>维向量。对</a:t>
            </a:r>
            <a:r>
              <a:rPr dirty="0" sz="1000" spc="220">
                <a:latin typeface="SimSun"/>
                <a:cs typeface="SimSun"/>
              </a:rPr>
              <a:t>于</a:t>
            </a:r>
            <a:r>
              <a:rPr dirty="0" sz="1000" spc="-5">
                <a:latin typeface="Times New Roman"/>
                <a:cs typeface="Times New Roman"/>
              </a:rPr>
              <a:t>CREMA-</a:t>
            </a:r>
            <a:r>
              <a:rPr dirty="0" sz="1000" spc="-30">
                <a:latin typeface="Times New Roman"/>
                <a:cs typeface="Times New Roman"/>
              </a:rPr>
              <a:t>D</a:t>
            </a:r>
            <a:r>
              <a:rPr dirty="0" sz="1000" spc="-45">
                <a:latin typeface="SimSun"/>
                <a:cs typeface="SimSun"/>
              </a:rPr>
              <a:t>，我们从每个片段中提取 </a:t>
            </a:r>
            <a:r>
              <a:rPr dirty="0" sz="1000" spc="-10">
                <a:latin typeface="Times New Roman"/>
                <a:cs typeface="Times New Roman"/>
              </a:rPr>
              <a:t>1</a:t>
            </a:r>
            <a:r>
              <a:rPr dirty="0" sz="1000" spc="-20">
                <a:latin typeface="Times New Roman"/>
                <a:cs typeface="Times New Roman"/>
              </a:rPr>
              <a:t> </a:t>
            </a:r>
            <a:r>
              <a:rPr dirty="0" sz="1000" spc="5">
                <a:latin typeface="SimSun"/>
                <a:cs typeface="SimSun"/>
              </a:rPr>
              <a:t>帧作为视觉输入。使用</a:t>
            </a:r>
            <a:r>
              <a:rPr dirty="0" sz="1000" spc="10">
                <a:latin typeface="Times New Roman"/>
                <a:cs typeface="Times New Roman"/>
              </a:rPr>
              <a:t>librosa</a:t>
            </a:r>
            <a:r>
              <a:rPr dirty="0" sz="1000" spc="-20">
                <a:latin typeface="Times New Roman"/>
                <a:cs typeface="Times New Roman"/>
              </a:rPr>
              <a:t> </a:t>
            </a:r>
            <a:r>
              <a:rPr dirty="0" sz="1000" spc="-10">
                <a:latin typeface="Times New Roman"/>
                <a:cs typeface="Times New Roman"/>
              </a:rPr>
              <a:t>[20]</a:t>
            </a:r>
            <a:r>
              <a:rPr dirty="0" sz="1000" spc="-50">
                <a:latin typeface="SimSun"/>
                <a:cs typeface="SimSun"/>
              </a:rPr>
              <a:t>，通过长度为 </a:t>
            </a:r>
            <a:r>
              <a:rPr dirty="0" sz="1000" spc="-10">
                <a:latin typeface="Times New Roman"/>
                <a:cs typeface="Times New Roman"/>
              </a:rPr>
              <a:t>512</a:t>
            </a:r>
            <a:r>
              <a:rPr dirty="0" sz="1000" spc="-20">
                <a:latin typeface="Times New Roman"/>
                <a:cs typeface="Times New Roman"/>
              </a:rPr>
              <a:t> </a:t>
            </a:r>
            <a:r>
              <a:rPr dirty="0" sz="1000" spc="-10">
                <a:latin typeface="SimSun"/>
                <a:cs typeface="SimSun"/>
              </a:rPr>
              <a:t>且重叠</a:t>
            </a:r>
            <a:r>
              <a:rPr dirty="0" sz="1000" spc="-135">
                <a:latin typeface="SimSun"/>
                <a:cs typeface="SimSun"/>
              </a:rPr>
              <a:t>为 </a:t>
            </a:r>
            <a:r>
              <a:rPr dirty="0" sz="1000" spc="-10">
                <a:latin typeface="Times New Roman"/>
                <a:cs typeface="Times New Roman"/>
              </a:rPr>
              <a:t>353</a:t>
            </a:r>
            <a:r>
              <a:rPr dirty="0" sz="1000" spc="-5">
                <a:latin typeface="Times New Roman"/>
                <a:cs typeface="Times New Roman"/>
              </a:rPr>
              <a:t> </a:t>
            </a:r>
            <a:r>
              <a:rPr dirty="0" sz="1000" spc="-25">
                <a:latin typeface="SimSun"/>
                <a:cs typeface="SimSun"/>
              </a:rPr>
              <a:t>的窗口，将整个音频数据转换为大小为 </a:t>
            </a:r>
            <a:r>
              <a:rPr dirty="0" sz="1000" spc="-65">
                <a:latin typeface="Cambria"/>
                <a:cs typeface="Cambria"/>
              </a:rPr>
              <a:t>257</a:t>
            </a:r>
            <a:r>
              <a:rPr dirty="0" sz="1000" spc="60">
                <a:latin typeface="Cambria"/>
                <a:cs typeface="Cambria"/>
              </a:rPr>
              <a:t> × </a:t>
            </a:r>
            <a:r>
              <a:rPr dirty="0" sz="1000" spc="-65">
                <a:latin typeface="Cambria"/>
                <a:cs typeface="Cambria"/>
              </a:rPr>
              <a:t>299</a:t>
            </a:r>
            <a:r>
              <a:rPr dirty="0" sz="1000" spc="25">
                <a:latin typeface="Cambria"/>
                <a:cs typeface="Cambria"/>
              </a:rPr>
              <a:t> </a:t>
            </a:r>
            <a:r>
              <a:rPr dirty="0" sz="1000" spc="25">
                <a:latin typeface="SimSun"/>
                <a:cs typeface="SimSun"/>
              </a:rPr>
              <a:t>的频谱图。对于</a:t>
            </a:r>
            <a:r>
              <a:rPr dirty="0" sz="1000" spc="-40">
                <a:latin typeface="Times New Roman"/>
                <a:cs typeface="Times New Roman"/>
              </a:rPr>
              <a:t>KS</a:t>
            </a:r>
            <a:r>
              <a:rPr dirty="0" sz="1000" spc="-5">
                <a:latin typeface="Times New Roman"/>
                <a:cs typeface="Times New Roman"/>
              </a:rPr>
              <a:t> </a:t>
            </a:r>
            <a:r>
              <a:rPr dirty="0" sz="1000" spc="235">
                <a:latin typeface="SimSun"/>
                <a:cs typeface="SimSun"/>
              </a:rPr>
              <a:t>和</a:t>
            </a:r>
            <a:r>
              <a:rPr dirty="0" sz="1000">
                <a:latin typeface="Times New Roman"/>
                <a:cs typeface="Times New Roman"/>
              </a:rPr>
              <a:t>VGGSound</a:t>
            </a:r>
            <a:r>
              <a:rPr dirty="0" sz="1000" spc="-5">
                <a:latin typeface="Times New Roman"/>
                <a:cs typeface="Times New Roman"/>
              </a:rPr>
              <a:t> </a:t>
            </a:r>
            <a:r>
              <a:rPr dirty="0" sz="1000" spc="-75">
                <a:latin typeface="SimSun"/>
                <a:cs typeface="SimSun"/>
              </a:rPr>
              <a:t>数据集，</a:t>
            </a:r>
            <a:r>
              <a:rPr dirty="0" sz="1000" spc="-40">
                <a:latin typeface="SimSun"/>
                <a:cs typeface="SimSun"/>
              </a:rPr>
              <a:t>我们从每个片段中提取 </a:t>
            </a:r>
            <a:r>
              <a:rPr dirty="0" sz="1000" spc="-10">
                <a:latin typeface="Times New Roman"/>
                <a:cs typeface="Times New Roman"/>
              </a:rPr>
              <a:t>3</a:t>
            </a:r>
            <a:r>
              <a:rPr dirty="0" sz="1000" spc="-45">
                <a:latin typeface="Times New Roman"/>
                <a:cs typeface="Times New Roman"/>
              </a:rPr>
              <a:t> </a:t>
            </a:r>
            <a:r>
              <a:rPr dirty="0" sz="1000" spc="-60">
                <a:latin typeface="SimSun"/>
                <a:cs typeface="SimSun"/>
              </a:rPr>
              <a:t>帧作为视觉输入，并将音频数据处理为大小为 </a:t>
            </a:r>
            <a:r>
              <a:rPr dirty="0" sz="1000" spc="5">
                <a:latin typeface="Times New Roman"/>
                <a:cs typeface="Times New Roman"/>
              </a:rPr>
              <a:t>257×1004</a:t>
            </a:r>
            <a:r>
              <a:rPr dirty="0" sz="1000" spc="-50">
                <a:latin typeface="Times New Roman"/>
                <a:cs typeface="Times New Roman"/>
              </a:rPr>
              <a:t> </a:t>
            </a:r>
            <a:r>
              <a:rPr dirty="0" sz="1000" spc="-45">
                <a:latin typeface="SimSun"/>
                <a:cs typeface="SimSun"/>
              </a:rPr>
              <a:t>的频谱图。我们使</a:t>
            </a:r>
            <a:r>
              <a:rPr dirty="0" sz="1000" spc="-65">
                <a:latin typeface="SimSun"/>
                <a:cs typeface="SimSun"/>
              </a:rPr>
              <a:t>用动量为 </a:t>
            </a:r>
            <a:r>
              <a:rPr dirty="0" sz="1000" spc="-10">
                <a:latin typeface="Times New Roman"/>
                <a:cs typeface="Times New Roman"/>
              </a:rPr>
              <a:t>0.9</a:t>
            </a:r>
            <a:r>
              <a:rPr dirty="0" sz="1000" spc="-20">
                <a:latin typeface="Times New Roman"/>
                <a:cs typeface="Times New Roman"/>
              </a:rPr>
              <a:t> </a:t>
            </a:r>
            <a:r>
              <a:rPr dirty="0" sz="1000" spc="-50">
                <a:latin typeface="SimSun"/>
                <a:cs typeface="SimSun"/>
              </a:rPr>
              <a:t>且权重衰减为 </a:t>
            </a:r>
            <a:r>
              <a:rPr dirty="0" sz="1000">
                <a:latin typeface="Times New Roman"/>
                <a:cs typeface="Times New Roman"/>
              </a:rPr>
              <a:t>1e</a:t>
            </a:r>
            <a:r>
              <a:rPr dirty="0" sz="1000" spc="-25">
                <a:latin typeface="Times New Roman"/>
                <a:cs typeface="Times New Roman"/>
              </a:rPr>
              <a:t> - </a:t>
            </a:r>
            <a:r>
              <a:rPr dirty="0" sz="1000" spc="-10">
                <a:latin typeface="Times New Roman"/>
                <a:cs typeface="Times New Roman"/>
              </a:rPr>
              <a:t>4</a:t>
            </a:r>
            <a:r>
              <a:rPr dirty="0" sz="1000" spc="-20">
                <a:latin typeface="Times New Roman"/>
                <a:cs typeface="Times New Roman"/>
              </a:rPr>
              <a:t> </a:t>
            </a:r>
            <a:r>
              <a:rPr dirty="0" sz="1000" spc="220">
                <a:latin typeface="SimSun"/>
                <a:cs typeface="SimSun"/>
              </a:rPr>
              <a:t>的</a:t>
            </a:r>
            <a:r>
              <a:rPr dirty="0" sz="1000" spc="-20">
                <a:latin typeface="Times New Roman"/>
                <a:cs typeface="Times New Roman"/>
              </a:rPr>
              <a:t>SGD </a:t>
            </a:r>
            <a:r>
              <a:rPr dirty="0" sz="1000" spc="-35">
                <a:latin typeface="SimSun"/>
                <a:cs typeface="SimSun"/>
              </a:rPr>
              <a:t>作为优化器。初始学习率为 </a:t>
            </a:r>
            <a:r>
              <a:rPr dirty="0" sz="1000">
                <a:latin typeface="Times New Roman"/>
                <a:cs typeface="Times New Roman"/>
              </a:rPr>
              <a:t>2e</a:t>
            </a:r>
            <a:r>
              <a:rPr dirty="0" sz="1000" spc="-25">
                <a:latin typeface="Times New Roman"/>
                <a:cs typeface="Times New Roman"/>
              </a:rPr>
              <a:t> - 3</a:t>
            </a:r>
            <a:r>
              <a:rPr dirty="0" sz="1000" spc="-105">
                <a:latin typeface="SimSun"/>
                <a:cs typeface="SimSun"/>
              </a:rPr>
              <a:t>，每 </a:t>
            </a:r>
            <a:r>
              <a:rPr dirty="0" sz="1000" spc="-10">
                <a:latin typeface="Times New Roman"/>
                <a:cs typeface="Times New Roman"/>
              </a:rPr>
              <a:t>70</a:t>
            </a:r>
            <a:r>
              <a:rPr dirty="0" sz="1000" spc="-20">
                <a:latin typeface="Times New Roman"/>
                <a:cs typeface="Times New Roman"/>
              </a:rPr>
              <a:t> </a:t>
            </a:r>
            <a:r>
              <a:rPr dirty="0" sz="1000" spc="220">
                <a:latin typeface="SimSun"/>
                <a:cs typeface="SimSun"/>
              </a:rPr>
              <a:t>个</a:t>
            </a:r>
            <a:r>
              <a:rPr dirty="0" sz="1000" spc="20">
                <a:latin typeface="Times New Roman"/>
                <a:cs typeface="Times New Roman"/>
              </a:rPr>
              <a:t>epoch</a:t>
            </a:r>
            <a:r>
              <a:rPr dirty="0" sz="1000" spc="-20">
                <a:latin typeface="Times New Roman"/>
                <a:cs typeface="Times New Roman"/>
              </a:rPr>
              <a:t> </a:t>
            </a:r>
            <a:r>
              <a:rPr dirty="0" sz="1000" spc="-100">
                <a:latin typeface="SimSun"/>
                <a:cs typeface="SimSun"/>
              </a:rPr>
              <a:t>乘以 </a:t>
            </a:r>
            <a:r>
              <a:rPr dirty="0" sz="1000" spc="-10">
                <a:latin typeface="Times New Roman"/>
                <a:cs typeface="Times New Roman"/>
              </a:rPr>
              <a:t>0.1</a:t>
            </a:r>
            <a:r>
              <a:rPr dirty="0" sz="1000" spc="15">
                <a:latin typeface="SimSun"/>
                <a:cs typeface="SimSun"/>
              </a:rPr>
              <a:t>。训练批次大小和</a:t>
            </a:r>
            <a:r>
              <a:rPr dirty="0" sz="1000" spc="20">
                <a:latin typeface="Times New Roman"/>
                <a:cs typeface="Times New Roman"/>
              </a:rPr>
              <a:t>epoch</a:t>
            </a:r>
            <a:r>
              <a:rPr dirty="0" sz="1000" spc="-20">
                <a:latin typeface="Times New Roman"/>
                <a:cs typeface="Times New Roman"/>
              </a:rPr>
              <a:t> </a:t>
            </a:r>
            <a:r>
              <a:rPr dirty="0" sz="1000" spc="-75">
                <a:latin typeface="SimSun"/>
                <a:cs typeface="SimSun"/>
              </a:rPr>
              <a:t>分别为 </a:t>
            </a:r>
            <a:r>
              <a:rPr dirty="0" sz="1000" spc="-10">
                <a:latin typeface="Times New Roman"/>
                <a:cs typeface="Times New Roman"/>
              </a:rPr>
              <a:t>100</a:t>
            </a:r>
            <a:r>
              <a:rPr dirty="0" sz="1000" spc="-20">
                <a:latin typeface="Times New Roman"/>
                <a:cs typeface="Times New Roman"/>
              </a:rPr>
              <a:t> </a:t>
            </a:r>
            <a:r>
              <a:rPr dirty="0" sz="1000" spc="-140">
                <a:latin typeface="SimSun"/>
                <a:cs typeface="SimSun"/>
              </a:rPr>
              <a:t>和 </a:t>
            </a:r>
            <a:r>
              <a:rPr dirty="0" sz="1000" spc="-10">
                <a:latin typeface="Times New Roman"/>
                <a:cs typeface="Times New Roman"/>
              </a:rPr>
              <a:t>64</a:t>
            </a:r>
            <a:r>
              <a:rPr dirty="0" sz="1000" spc="-10">
                <a:latin typeface="SimSun"/>
                <a:cs typeface="SimSun"/>
              </a:rPr>
              <a:t>。</a:t>
            </a:r>
            <a:endParaRPr sz="1000">
              <a:latin typeface="SimSun"/>
              <a:cs typeface="SimSun"/>
            </a:endParaRPr>
          </a:p>
          <a:p>
            <a:pPr>
              <a:lnSpc>
                <a:spcPct val="100000"/>
              </a:lnSpc>
              <a:spcBef>
                <a:spcPts val="95"/>
              </a:spcBef>
            </a:pPr>
            <a:endParaRPr sz="1000">
              <a:latin typeface="SimSun"/>
              <a:cs typeface="SimSun"/>
            </a:endParaRPr>
          </a:p>
          <a:p>
            <a:pPr algn="just" marL="12700" marR="5080" indent="252729">
              <a:lnSpc>
                <a:spcPct val="129500"/>
              </a:lnSpc>
              <a:spcBef>
                <a:spcPts val="5"/>
              </a:spcBef>
            </a:pPr>
            <a:r>
              <a:rPr dirty="0" sz="1000">
                <a:latin typeface="Times New Roman"/>
                <a:cs typeface="Times New Roman"/>
              </a:rPr>
              <a:t>Comparison</a:t>
            </a:r>
            <a:r>
              <a:rPr dirty="0" sz="1000" spc="190">
                <a:latin typeface="Times New Roman"/>
                <a:cs typeface="Times New Roman"/>
              </a:rPr>
              <a:t> </a:t>
            </a:r>
            <a:r>
              <a:rPr dirty="0" sz="1000">
                <a:latin typeface="Times New Roman"/>
                <a:cs typeface="Times New Roman"/>
              </a:rPr>
              <a:t>settings.</a:t>
            </a:r>
            <a:r>
              <a:rPr dirty="0" sz="1000" spc="165">
                <a:latin typeface="Times New Roman"/>
                <a:cs typeface="Times New Roman"/>
              </a:rPr>
              <a:t>  </a:t>
            </a:r>
            <a:r>
              <a:rPr dirty="0" sz="1000">
                <a:latin typeface="Times New Roman"/>
                <a:cs typeface="Times New Roman"/>
              </a:rPr>
              <a:t>To</a:t>
            </a:r>
            <a:r>
              <a:rPr dirty="0" sz="1000" spc="200">
                <a:latin typeface="Times New Roman"/>
                <a:cs typeface="Times New Roman"/>
              </a:rPr>
              <a:t> </a:t>
            </a:r>
            <a:r>
              <a:rPr dirty="0" sz="1000">
                <a:latin typeface="Times New Roman"/>
                <a:cs typeface="Times New Roman"/>
              </a:rPr>
              <a:t>study</a:t>
            </a:r>
            <a:r>
              <a:rPr dirty="0" sz="1000" spc="195">
                <a:latin typeface="Times New Roman"/>
                <a:cs typeface="Times New Roman"/>
              </a:rPr>
              <a:t> </a:t>
            </a:r>
            <a:r>
              <a:rPr dirty="0" sz="1000">
                <a:latin typeface="Times New Roman"/>
                <a:cs typeface="Times New Roman"/>
              </a:rPr>
              <a:t>the</a:t>
            </a:r>
            <a:r>
              <a:rPr dirty="0" sz="1000" spc="195">
                <a:latin typeface="Times New Roman"/>
                <a:cs typeface="Times New Roman"/>
              </a:rPr>
              <a:t> </a:t>
            </a:r>
            <a:r>
              <a:rPr dirty="0" sz="1000">
                <a:latin typeface="Times New Roman"/>
                <a:cs typeface="Times New Roman"/>
              </a:rPr>
              <a:t>advantage</a:t>
            </a:r>
            <a:r>
              <a:rPr dirty="0" sz="1000" spc="195">
                <a:latin typeface="Times New Roman"/>
                <a:cs typeface="Times New Roman"/>
              </a:rPr>
              <a:t> </a:t>
            </a:r>
            <a:r>
              <a:rPr dirty="0" sz="1000">
                <a:latin typeface="Times New Roman"/>
                <a:cs typeface="Times New Roman"/>
              </a:rPr>
              <a:t>of</a:t>
            </a:r>
            <a:r>
              <a:rPr dirty="0" sz="1000" spc="195">
                <a:latin typeface="Times New Roman"/>
                <a:cs typeface="Times New Roman"/>
              </a:rPr>
              <a:t> </a:t>
            </a:r>
            <a:r>
              <a:rPr dirty="0" sz="1000">
                <a:latin typeface="Times New Roman"/>
                <a:cs typeface="Times New Roman"/>
              </a:rPr>
              <a:t>DGL,</a:t>
            </a:r>
            <a:r>
              <a:rPr dirty="0" sz="1000" spc="195">
                <a:latin typeface="Times New Roman"/>
                <a:cs typeface="Times New Roman"/>
              </a:rPr>
              <a:t> </a:t>
            </a:r>
            <a:r>
              <a:rPr dirty="0" sz="1000">
                <a:latin typeface="Times New Roman"/>
                <a:cs typeface="Times New Roman"/>
              </a:rPr>
              <a:t>we</a:t>
            </a:r>
            <a:r>
              <a:rPr dirty="0" sz="1000" spc="195">
                <a:latin typeface="Times New Roman"/>
                <a:cs typeface="Times New Roman"/>
              </a:rPr>
              <a:t> </a:t>
            </a:r>
            <a:r>
              <a:rPr dirty="0" sz="1000">
                <a:latin typeface="Times New Roman"/>
                <a:cs typeface="Times New Roman"/>
              </a:rPr>
              <a:t>make</a:t>
            </a:r>
            <a:r>
              <a:rPr dirty="0" sz="1000" spc="195">
                <a:latin typeface="Times New Roman"/>
                <a:cs typeface="Times New Roman"/>
              </a:rPr>
              <a:t> </a:t>
            </a:r>
            <a:r>
              <a:rPr dirty="0" sz="1000">
                <a:latin typeface="Times New Roman"/>
                <a:cs typeface="Times New Roman"/>
              </a:rPr>
              <a:t>comparisons</a:t>
            </a:r>
            <a:r>
              <a:rPr dirty="0" sz="1000" spc="195">
                <a:latin typeface="Times New Roman"/>
                <a:cs typeface="Times New Roman"/>
              </a:rPr>
              <a:t> </a:t>
            </a:r>
            <a:r>
              <a:rPr dirty="0" sz="1000">
                <a:latin typeface="Times New Roman"/>
                <a:cs typeface="Times New Roman"/>
              </a:rPr>
              <a:t>with</a:t>
            </a:r>
            <a:r>
              <a:rPr dirty="0" sz="1000" spc="195">
                <a:latin typeface="Times New Roman"/>
                <a:cs typeface="Times New Roman"/>
              </a:rPr>
              <a:t> </a:t>
            </a:r>
            <a:r>
              <a:rPr dirty="0" sz="1000">
                <a:latin typeface="Times New Roman"/>
                <a:cs typeface="Times New Roman"/>
              </a:rPr>
              <a:t>three</a:t>
            </a:r>
            <a:r>
              <a:rPr dirty="0" sz="1000" spc="195">
                <a:latin typeface="Times New Roman"/>
                <a:cs typeface="Times New Roman"/>
              </a:rPr>
              <a:t> </a:t>
            </a:r>
            <a:r>
              <a:rPr dirty="0" sz="1000" spc="-10">
                <a:latin typeface="Times New Roman"/>
                <a:cs typeface="Times New Roman"/>
              </a:rPr>
              <a:t>modulation </a:t>
            </a:r>
            <a:r>
              <a:rPr dirty="0" sz="1000">
                <a:latin typeface="Times New Roman"/>
                <a:cs typeface="Times New Roman"/>
              </a:rPr>
              <a:t>approaches,</a:t>
            </a:r>
            <a:r>
              <a:rPr dirty="0" sz="1000" spc="185">
                <a:latin typeface="Times New Roman"/>
                <a:cs typeface="Times New Roman"/>
              </a:rPr>
              <a:t> </a:t>
            </a:r>
            <a:r>
              <a:rPr dirty="0" sz="1000">
                <a:latin typeface="Times New Roman"/>
                <a:cs typeface="Times New Roman"/>
              </a:rPr>
              <a:t>OGM</a:t>
            </a:r>
            <a:r>
              <a:rPr dirty="0" sz="1000" spc="165">
                <a:latin typeface="Times New Roman"/>
                <a:cs typeface="Times New Roman"/>
              </a:rPr>
              <a:t> </a:t>
            </a:r>
            <a:r>
              <a:rPr dirty="0" sz="1000">
                <a:latin typeface="Times New Roman"/>
                <a:cs typeface="Times New Roman"/>
              </a:rPr>
              <a:t>[21],</a:t>
            </a:r>
            <a:r>
              <a:rPr dirty="0" sz="1000" spc="190">
                <a:latin typeface="Times New Roman"/>
                <a:cs typeface="Times New Roman"/>
              </a:rPr>
              <a:t> </a:t>
            </a:r>
            <a:r>
              <a:rPr dirty="0" sz="1000">
                <a:latin typeface="Times New Roman"/>
                <a:cs typeface="Times New Roman"/>
              </a:rPr>
              <a:t>AGM</a:t>
            </a:r>
            <a:r>
              <a:rPr dirty="0" sz="1000" spc="165">
                <a:latin typeface="Times New Roman"/>
                <a:cs typeface="Times New Roman"/>
              </a:rPr>
              <a:t> </a:t>
            </a:r>
            <a:r>
              <a:rPr dirty="0" sz="1000">
                <a:latin typeface="Times New Roman"/>
                <a:cs typeface="Times New Roman"/>
              </a:rPr>
              <a:t>[17],</a:t>
            </a:r>
            <a:r>
              <a:rPr dirty="0" sz="1000" spc="190">
                <a:latin typeface="Times New Roman"/>
                <a:cs typeface="Times New Roman"/>
              </a:rPr>
              <a:t> </a:t>
            </a:r>
            <a:r>
              <a:rPr dirty="0" sz="1000">
                <a:latin typeface="Times New Roman"/>
                <a:cs typeface="Times New Roman"/>
              </a:rPr>
              <a:t>PMR</a:t>
            </a:r>
            <a:r>
              <a:rPr dirty="0" sz="1000" spc="165">
                <a:latin typeface="Times New Roman"/>
                <a:cs typeface="Times New Roman"/>
              </a:rPr>
              <a:t> </a:t>
            </a:r>
            <a:r>
              <a:rPr dirty="0" sz="1000">
                <a:latin typeface="Times New Roman"/>
                <a:cs typeface="Times New Roman"/>
              </a:rPr>
              <a:t>[9],</a:t>
            </a:r>
            <a:r>
              <a:rPr dirty="0" sz="1000" spc="190">
                <a:latin typeface="Times New Roman"/>
                <a:cs typeface="Times New Roman"/>
              </a:rPr>
              <a:t> </a:t>
            </a:r>
            <a:r>
              <a:rPr dirty="0" sz="1000">
                <a:latin typeface="Times New Roman"/>
                <a:cs typeface="Times New Roman"/>
              </a:rPr>
              <a:t>and</a:t>
            </a:r>
            <a:r>
              <a:rPr dirty="0" sz="1000" spc="165">
                <a:latin typeface="Times New Roman"/>
                <a:cs typeface="Times New Roman"/>
              </a:rPr>
              <a:t> </a:t>
            </a:r>
            <a:r>
              <a:rPr dirty="0" sz="1000">
                <a:latin typeface="Times New Roman"/>
                <a:cs typeface="Times New Roman"/>
              </a:rPr>
              <a:t>four</a:t>
            </a:r>
            <a:r>
              <a:rPr dirty="0" sz="1000" spc="160">
                <a:latin typeface="Times New Roman"/>
                <a:cs typeface="Times New Roman"/>
              </a:rPr>
              <a:t> </a:t>
            </a:r>
            <a:r>
              <a:rPr dirty="0" sz="1000">
                <a:latin typeface="Times New Roman"/>
                <a:cs typeface="Times New Roman"/>
              </a:rPr>
              <a:t>alternating</a:t>
            </a:r>
            <a:r>
              <a:rPr dirty="0" sz="1000" spc="165">
                <a:latin typeface="Times New Roman"/>
                <a:cs typeface="Times New Roman"/>
              </a:rPr>
              <a:t> </a:t>
            </a:r>
            <a:r>
              <a:rPr dirty="0" sz="1000">
                <a:latin typeface="Times New Roman"/>
                <a:cs typeface="Times New Roman"/>
              </a:rPr>
              <a:t>optimization</a:t>
            </a:r>
            <a:r>
              <a:rPr dirty="0" sz="1000" spc="165">
                <a:latin typeface="Times New Roman"/>
                <a:cs typeface="Times New Roman"/>
              </a:rPr>
              <a:t> </a:t>
            </a:r>
            <a:r>
              <a:rPr dirty="0" sz="1000">
                <a:latin typeface="Times New Roman"/>
                <a:cs typeface="Times New Roman"/>
              </a:rPr>
              <a:t>methods,</a:t>
            </a:r>
            <a:r>
              <a:rPr dirty="0" sz="1000" spc="190">
                <a:latin typeface="Times New Roman"/>
                <a:cs typeface="Times New Roman"/>
              </a:rPr>
              <a:t> </a:t>
            </a:r>
            <a:r>
              <a:rPr dirty="0" sz="1000">
                <a:latin typeface="Times New Roman"/>
                <a:cs typeface="Times New Roman"/>
              </a:rPr>
              <a:t>G-Blending</a:t>
            </a:r>
            <a:r>
              <a:rPr dirty="0" sz="1000" spc="165">
                <a:latin typeface="Times New Roman"/>
                <a:cs typeface="Times New Roman"/>
              </a:rPr>
              <a:t> </a:t>
            </a:r>
            <a:r>
              <a:rPr dirty="0" sz="1000" spc="-10">
                <a:latin typeface="Times New Roman"/>
                <a:cs typeface="Times New Roman"/>
              </a:rPr>
              <a:t>[28], MLA</a:t>
            </a:r>
            <a:r>
              <a:rPr dirty="0" sz="1000" spc="25">
                <a:latin typeface="Times New Roman"/>
                <a:cs typeface="Times New Roman"/>
              </a:rPr>
              <a:t> </a:t>
            </a:r>
            <a:r>
              <a:rPr dirty="0" sz="1000">
                <a:latin typeface="Times New Roman"/>
                <a:cs typeface="Times New Roman"/>
              </a:rPr>
              <a:t>[39],</a:t>
            </a:r>
            <a:r>
              <a:rPr dirty="0" sz="1000" spc="30">
                <a:latin typeface="Times New Roman"/>
                <a:cs typeface="Times New Roman"/>
              </a:rPr>
              <a:t> </a:t>
            </a:r>
            <a:r>
              <a:rPr dirty="0" sz="1000">
                <a:latin typeface="Times New Roman"/>
                <a:cs typeface="Times New Roman"/>
              </a:rPr>
              <a:t>MM-Pareto</a:t>
            </a:r>
            <a:r>
              <a:rPr dirty="0" sz="1000" spc="20">
                <a:latin typeface="Times New Roman"/>
                <a:cs typeface="Times New Roman"/>
              </a:rPr>
              <a:t> </a:t>
            </a:r>
            <a:r>
              <a:rPr dirty="0" sz="1000">
                <a:latin typeface="Times New Roman"/>
                <a:cs typeface="Times New Roman"/>
              </a:rPr>
              <a:t>[32]</a:t>
            </a:r>
            <a:r>
              <a:rPr dirty="0" sz="1000" spc="30">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spc="-20">
                <a:latin typeface="Times New Roman"/>
                <a:cs typeface="Times New Roman"/>
              </a:rPr>
              <a:t>D&amp;R</a:t>
            </a:r>
            <a:r>
              <a:rPr dirty="0" sz="1000" spc="25">
                <a:latin typeface="Times New Roman"/>
                <a:cs typeface="Times New Roman"/>
              </a:rPr>
              <a:t> </a:t>
            </a:r>
            <a:r>
              <a:rPr dirty="0" sz="1000">
                <a:latin typeface="Times New Roman"/>
                <a:cs typeface="Times New Roman"/>
              </a:rPr>
              <a:t>[33].</a:t>
            </a:r>
            <a:r>
              <a:rPr dirty="0" sz="1000" spc="145">
                <a:latin typeface="Times New Roman"/>
                <a:cs typeface="Times New Roman"/>
              </a:rPr>
              <a:t> </a:t>
            </a:r>
            <a:r>
              <a:rPr dirty="0" sz="1000">
                <a:latin typeface="Times New Roman"/>
                <a:cs typeface="Times New Roman"/>
              </a:rPr>
              <a:t>For</a:t>
            </a:r>
            <a:r>
              <a:rPr dirty="0" sz="1000" spc="20">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a:latin typeface="Times New Roman"/>
                <a:cs typeface="Times New Roman"/>
              </a:rPr>
              <a:t>fair</a:t>
            </a:r>
            <a:r>
              <a:rPr dirty="0" sz="1000" spc="25">
                <a:latin typeface="Times New Roman"/>
                <a:cs typeface="Times New Roman"/>
              </a:rPr>
              <a:t> </a:t>
            </a:r>
            <a:r>
              <a:rPr dirty="0" sz="1000">
                <a:latin typeface="Times New Roman"/>
                <a:cs typeface="Times New Roman"/>
              </a:rPr>
              <a:t>comparison,</a:t>
            </a:r>
            <a:r>
              <a:rPr dirty="0" sz="1000" spc="30">
                <a:latin typeface="Times New Roman"/>
                <a:cs typeface="Times New Roman"/>
              </a:rPr>
              <a:t> </a:t>
            </a:r>
            <a:r>
              <a:rPr dirty="0" sz="1000">
                <a:latin typeface="Times New Roman"/>
                <a:cs typeface="Times New Roman"/>
              </a:rPr>
              <a:t>we</a:t>
            </a:r>
            <a:r>
              <a:rPr dirty="0" sz="1000" spc="25">
                <a:latin typeface="Times New Roman"/>
                <a:cs typeface="Times New Roman"/>
              </a:rPr>
              <a:t> </a:t>
            </a:r>
            <a:r>
              <a:rPr dirty="0" sz="1000">
                <a:latin typeface="Times New Roman"/>
                <a:cs typeface="Times New Roman"/>
              </a:rPr>
              <a:t>unify</a:t>
            </a:r>
            <a:r>
              <a:rPr dirty="0" sz="1000" spc="2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backbone</a:t>
            </a:r>
            <a:r>
              <a:rPr dirty="0" sz="1000" spc="25">
                <a:latin typeface="Times New Roman"/>
                <a:cs typeface="Times New Roman"/>
              </a:rPr>
              <a:t> </a:t>
            </a:r>
            <a:r>
              <a:rPr dirty="0" sz="1000">
                <a:latin typeface="Times New Roman"/>
                <a:cs typeface="Times New Roman"/>
              </a:rPr>
              <a:t>as</a:t>
            </a:r>
            <a:r>
              <a:rPr dirty="0" sz="1000" spc="25">
                <a:latin typeface="Times New Roman"/>
                <a:cs typeface="Times New Roman"/>
              </a:rPr>
              <a:t> </a:t>
            </a:r>
            <a:r>
              <a:rPr dirty="0" sz="1000">
                <a:latin typeface="Times New Roman"/>
                <a:cs typeface="Times New Roman"/>
              </a:rPr>
              <a:t>ResNet18</a:t>
            </a:r>
            <a:r>
              <a:rPr dirty="0" sz="1000" spc="2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25">
                <a:latin typeface="Times New Roman"/>
                <a:cs typeface="Times New Roman"/>
              </a:rPr>
              <a:t>the </a:t>
            </a:r>
            <a:r>
              <a:rPr dirty="0" sz="1000" spc="10">
                <a:latin typeface="Times New Roman"/>
                <a:cs typeface="Times New Roman"/>
              </a:rPr>
              <a:t>fusion</a:t>
            </a:r>
            <a:r>
              <a:rPr dirty="0" sz="1000" spc="55">
                <a:latin typeface="Times New Roman"/>
                <a:cs typeface="Times New Roman"/>
              </a:rPr>
              <a:t> </a:t>
            </a:r>
            <a:r>
              <a:rPr dirty="0" sz="1000" spc="10">
                <a:latin typeface="Times New Roman"/>
                <a:cs typeface="Times New Roman"/>
              </a:rPr>
              <a:t>method</a:t>
            </a:r>
            <a:r>
              <a:rPr dirty="0" sz="1000" spc="55">
                <a:latin typeface="Times New Roman"/>
                <a:cs typeface="Times New Roman"/>
              </a:rPr>
              <a:t> </a:t>
            </a:r>
            <a:r>
              <a:rPr dirty="0" sz="1000" spc="10">
                <a:latin typeface="Times New Roman"/>
                <a:cs typeface="Times New Roman"/>
              </a:rPr>
              <a:t>as</a:t>
            </a:r>
            <a:r>
              <a:rPr dirty="0" sz="1000" spc="55">
                <a:latin typeface="Times New Roman"/>
                <a:cs typeface="Times New Roman"/>
              </a:rPr>
              <a:t> </a:t>
            </a:r>
            <a:r>
              <a:rPr dirty="0" sz="1000" spc="10">
                <a:latin typeface="Times New Roman"/>
                <a:cs typeface="Times New Roman"/>
              </a:rPr>
              <a:t>concatenation</a:t>
            </a:r>
            <a:r>
              <a:rPr dirty="0" sz="1000" spc="55">
                <a:latin typeface="Times New Roman"/>
                <a:cs typeface="Times New Roman"/>
              </a:rPr>
              <a:t> </a:t>
            </a:r>
            <a:r>
              <a:rPr dirty="0" sz="1000" spc="10">
                <a:latin typeface="Times New Roman"/>
                <a:cs typeface="Times New Roman"/>
              </a:rPr>
              <a:t>in</a:t>
            </a:r>
            <a:r>
              <a:rPr dirty="0" sz="1000" spc="55">
                <a:latin typeface="Times New Roman"/>
                <a:cs typeface="Times New Roman"/>
              </a:rPr>
              <a:t> </a:t>
            </a:r>
            <a:r>
              <a:rPr dirty="0" sz="1000" spc="10">
                <a:latin typeface="Times New Roman"/>
                <a:cs typeface="Times New Roman"/>
              </a:rPr>
              <a:t>all</a:t>
            </a:r>
            <a:r>
              <a:rPr dirty="0" sz="1000" spc="60">
                <a:latin typeface="Times New Roman"/>
                <a:cs typeface="Times New Roman"/>
              </a:rPr>
              <a:t> </a:t>
            </a:r>
            <a:r>
              <a:rPr dirty="0" sz="1000" spc="10">
                <a:latin typeface="Times New Roman"/>
                <a:cs typeface="Times New Roman"/>
              </a:rPr>
              <a:t>experiments.</a:t>
            </a:r>
            <a:r>
              <a:rPr dirty="0" sz="1000" spc="170">
                <a:latin typeface="Times New Roman"/>
                <a:cs typeface="Times New Roman"/>
              </a:rPr>
              <a:t> </a:t>
            </a:r>
            <a:r>
              <a:rPr dirty="0" sz="1000" spc="10">
                <a:latin typeface="Times New Roman"/>
                <a:cs typeface="Times New Roman"/>
              </a:rPr>
              <a:t>Note</a:t>
            </a:r>
            <a:r>
              <a:rPr dirty="0" sz="1000" spc="55">
                <a:latin typeface="Times New Roman"/>
                <a:cs typeface="Times New Roman"/>
              </a:rPr>
              <a:t> </a:t>
            </a:r>
            <a:r>
              <a:rPr dirty="0" sz="1000" spc="10">
                <a:latin typeface="Times New Roman"/>
                <a:cs typeface="Times New Roman"/>
              </a:rPr>
              <a:t>that</a:t>
            </a:r>
            <a:r>
              <a:rPr dirty="0" sz="1000" spc="55">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original</a:t>
            </a:r>
            <a:r>
              <a:rPr dirty="0" sz="1000" spc="55">
                <a:latin typeface="Times New Roman"/>
                <a:cs typeface="Times New Roman"/>
              </a:rPr>
              <a:t> </a:t>
            </a:r>
            <a:r>
              <a:rPr dirty="0" sz="1000">
                <a:latin typeface="Times New Roman"/>
                <a:cs typeface="Times New Roman"/>
              </a:rPr>
              <a:t>MLA</a:t>
            </a:r>
            <a:r>
              <a:rPr dirty="0" sz="1000" spc="55">
                <a:latin typeface="Times New Roman"/>
                <a:cs typeface="Times New Roman"/>
              </a:rPr>
              <a:t> </a:t>
            </a:r>
            <a:r>
              <a:rPr dirty="0" sz="1000" spc="10">
                <a:latin typeface="Times New Roman"/>
                <a:cs typeface="Times New Roman"/>
              </a:rPr>
              <a:t>uses</a:t>
            </a:r>
            <a:r>
              <a:rPr dirty="0" sz="1000" spc="60">
                <a:latin typeface="Times New Roman"/>
                <a:cs typeface="Times New Roman"/>
              </a:rPr>
              <a:t> </a:t>
            </a:r>
            <a:r>
              <a:rPr dirty="0" sz="1000" spc="10">
                <a:latin typeface="Times New Roman"/>
                <a:cs typeface="Times New Roman"/>
              </a:rPr>
              <a:t>epoch</a:t>
            </a:r>
            <a:r>
              <a:rPr dirty="0" sz="1000" spc="55">
                <a:latin typeface="Times New Roman"/>
                <a:cs typeface="Times New Roman"/>
              </a:rPr>
              <a:t> </a:t>
            </a:r>
            <a:r>
              <a:rPr dirty="0" sz="1000" spc="10">
                <a:latin typeface="Times New Roman"/>
                <a:cs typeface="Times New Roman"/>
              </a:rPr>
              <a:t>as</a:t>
            </a:r>
            <a:r>
              <a:rPr dirty="0" sz="1000" spc="55">
                <a:latin typeface="Times New Roman"/>
                <a:cs typeface="Times New Roman"/>
              </a:rPr>
              <a:t> </a:t>
            </a:r>
            <a:r>
              <a:rPr dirty="0" sz="1000">
                <a:latin typeface="Times New Roman"/>
                <a:cs typeface="Times New Roman"/>
              </a:rPr>
              <a:t>150</a:t>
            </a:r>
            <a:r>
              <a:rPr dirty="0" sz="1000" spc="55">
                <a:latin typeface="Times New Roman"/>
                <a:cs typeface="Times New Roman"/>
              </a:rPr>
              <a:t> </a:t>
            </a:r>
            <a:r>
              <a:rPr dirty="0" sz="1000" spc="10">
                <a:latin typeface="Times New Roman"/>
                <a:cs typeface="Times New Roman"/>
              </a:rPr>
              <a:t>and</a:t>
            </a:r>
            <a:r>
              <a:rPr dirty="0" sz="1000" spc="55">
                <a:latin typeface="Times New Roman"/>
                <a:cs typeface="Times New Roman"/>
              </a:rPr>
              <a:t> </a:t>
            </a:r>
            <a:r>
              <a:rPr dirty="0" sz="1000" spc="-10">
                <a:latin typeface="Times New Roman"/>
                <a:cs typeface="Times New Roman"/>
              </a:rPr>
              <a:t>batch </a:t>
            </a:r>
            <a:r>
              <a:rPr dirty="0" sz="1000" spc="10">
                <a:latin typeface="Times New Roman"/>
                <a:cs typeface="Times New Roman"/>
              </a:rPr>
              <a:t>size</a:t>
            </a:r>
            <a:r>
              <a:rPr dirty="0" sz="1000" spc="25">
                <a:latin typeface="Times New Roman"/>
                <a:cs typeface="Times New Roman"/>
              </a:rPr>
              <a:t> </a:t>
            </a:r>
            <a:r>
              <a:rPr dirty="0" sz="1000" spc="10">
                <a:latin typeface="Times New Roman"/>
                <a:cs typeface="Times New Roman"/>
              </a:rPr>
              <a:t>as</a:t>
            </a:r>
            <a:r>
              <a:rPr dirty="0" sz="1000" spc="25">
                <a:latin typeface="Times New Roman"/>
                <a:cs typeface="Times New Roman"/>
              </a:rPr>
              <a:t> </a:t>
            </a:r>
            <a:r>
              <a:rPr dirty="0" sz="1000" spc="10">
                <a:latin typeface="Times New Roman"/>
                <a:cs typeface="Times New Roman"/>
              </a:rPr>
              <a:t>16.</a:t>
            </a:r>
            <a:r>
              <a:rPr dirty="0" sz="1000" spc="135">
                <a:latin typeface="Times New Roman"/>
                <a:cs typeface="Times New Roman"/>
              </a:rPr>
              <a:t> </a:t>
            </a:r>
            <a:r>
              <a:rPr dirty="0" sz="1000" spc="10">
                <a:latin typeface="Times New Roman"/>
                <a:cs typeface="Times New Roman"/>
              </a:rPr>
              <a:t>For</a:t>
            </a:r>
            <a:r>
              <a:rPr dirty="0" sz="1000" spc="30">
                <a:latin typeface="Times New Roman"/>
                <a:cs typeface="Times New Roman"/>
              </a:rPr>
              <a:t> </a:t>
            </a:r>
            <a:r>
              <a:rPr dirty="0" sz="1000" spc="10">
                <a:latin typeface="Times New Roman"/>
                <a:cs typeface="Times New Roman"/>
              </a:rPr>
              <a:t>a</a:t>
            </a:r>
            <a:r>
              <a:rPr dirty="0" sz="1000" spc="25">
                <a:latin typeface="Times New Roman"/>
                <a:cs typeface="Times New Roman"/>
              </a:rPr>
              <a:t> </a:t>
            </a:r>
            <a:r>
              <a:rPr dirty="0" sz="1000" spc="10">
                <a:latin typeface="Times New Roman"/>
                <a:cs typeface="Times New Roman"/>
              </a:rPr>
              <a:t>fair</a:t>
            </a:r>
            <a:r>
              <a:rPr dirty="0" sz="1000" spc="25">
                <a:latin typeface="Times New Roman"/>
                <a:cs typeface="Times New Roman"/>
              </a:rPr>
              <a:t> </a:t>
            </a:r>
            <a:r>
              <a:rPr dirty="0" sz="1000" spc="10">
                <a:latin typeface="Times New Roman"/>
                <a:cs typeface="Times New Roman"/>
              </a:rPr>
              <a:t>comparison,</a:t>
            </a:r>
            <a:r>
              <a:rPr dirty="0" sz="1000" spc="35">
                <a:latin typeface="Times New Roman"/>
                <a:cs typeface="Times New Roman"/>
              </a:rPr>
              <a:t> </a:t>
            </a:r>
            <a:r>
              <a:rPr dirty="0" sz="1000" spc="10">
                <a:latin typeface="Times New Roman"/>
                <a:cs typeface="Times New Roman"/>
              </a:rPr>
              <a:t>we</a:t>
            </a:r>
            <a:r>
              <a:rPr dirty="0" sz="1000" spc="25">
                <a:latin typeface="Times New Roman"/>
                <a:cs typeface="Times New Roman"/>
              </a:rPr>
              <a:t> </a:t>
            </a:r>
            <a:r>
              <a:rPr dirty="0" sz="1000" spc="10">
                <a:latin typeface="Times New Roman"/>
                <a:cs typeface="Times New Roman"/>
              </a:rPr>
              <a:t>unify</a:t>
            </a:r>
            <a:r>
              <a:rPr dirty="0" sz="1000" spc="30">
                <a:latin typeface="Times New Roman"/>
                <a:cs typeface="Times New Roman"/>
              </a:rPr>
              <a:t> </a:t>
            </a:r>
            <a:r>
              <a:rPr dirty="0" sz="1000" spc="10">
                <a:latin typeface="Times New Roman"/>
                <a:cs typeface="Times New Roman"/>
              </a:rPr>
              <a:t>them</a:t>
            </a:r>
            <a:r>
              <a:rPr dirty="0" sz="1000" spc="25">
                <a:latin typeface="Times New Roman"/>
                <a:cs typeface="Times New Roman"/>
              </a:rPr>
              <a:t> </a:t>
            </a:r>
            <a:r>
              <a:rPr dirty="0" sz="1000" spc="10">
                <a:latin typeface="Times New Roman"/>
                <a:cs typeface="Times New Roman"/>
              </a:rPr>
              <a:t>with</a:t>
            </a:r>
            <a:r>
              <a:rPr dirty="0" sz="1000" spc="30">
                <a:latin typeface="Times New Roman"/>
                <a:cs typeface="Times New Roman"/>
              </a:rPr>
              <a:t> </a:t>
            </a:r>
            <a:r>
              <a:rPr dirty="0" sz="1000" spc="10">
                <a:latin typeface="Times New Roman"/>
                <a:cs typeface="Times New Roman"/>
              </a:rPr>
              <a:t>other</a:t>
            </a:r>
            <a:r>
              <a:rPr dirty="0" sz="1000" spc="25">
                <a:latin typeface="Times New Roman"/>
                <a:cs typeface="Times New Roman"/>
              </a:rPr>
              <a:t> </a:t>
            </a:r>
            <a:r>
              <a:rPr dirty="0" sz="1000" spc="10">
                <a:latin typeface="Times New Roman"/>
                <a:cs typeface="Times New Roman"/>
              </a:rPr>
              <a:t>comparison</a:t>
            </a:r>
            <a:r>
              <a:rPr dirty="0" sz="1000" spc="25">
                <a:latin typeface="Times New Roman"/>
                <a:cs typeface="Times New Roman"/>
              </a:rPr>
              <a:t> </a:t>
            </a:r>
            <a:r>
              <a:rPr dirty="0" sz="1000" spc="10">
                <a:latin typeface="Times New Roman"/>
                <a:cs typeface="Times New Roman"/>
              </a:rPr>
              <a:t>methods</a:t>
            </a:r>
            <a:r>
              <a:rPr dirty="0" sz="1000" spc="30">
                <a:latin typeface="Times New Roman"/>
                <a:cs typeface="Times New Roman"/>
              </a:rPr>
              <a:t> </a:t>
            </a:r>
            <a:r>
              <a:rPr dirty="0" sz="1000" spc="10">
                <a:latin typeface="Times New Roman"/>
                <a:cs typeface="Times New Roman"/>
              </a:rPr>
              <a:t>as</a:t>
            </a:r>
            <a:r>
              <a:rPr dirty="0" sz="1000" spc="25">
                <a:latin typeface="Times New Roman"/>
                <a:cs typeface="Times New Roman"/>
              </a:rPr>
              <a:t> </a:t>
            </a:r>
            <a:r>
              <a:rPr dirty="0" sz="1000" spc="10">
                <a:latin typeface="Times New Roman"/>
                <a:cs typeface="Times New Roman"/>
              </a:rPr>
              <a:t>epoch</a:t>
            </a:r>
            <a:r>
              <a:rPr dirty="0" sz="1000" spc="30">
                <a:latin typeface="Times New Roman"/>
                <a:cs typeface="Times New Roman"/>
              </a:rPr>
              <a:t> </a:t>
            </a:r>
            <a:r>
              <a:rPr dirty="0" sz="1000">
                <a:latin typeface="Times New Roman"/>
                <a:cs typeface="Times New Roman"/>
              </a:rPr>
              <a:t>100</a:t>
            </a:r>
            <a:r>
              <a:rPr dirty="0" sz="1000" spc="25">
                <a:latin typeface="Times New Roman"/>
                <a:cs typeface="Times New Roman"/>
              </a:rPr>
              <a:t> </a:t>
            </a:r>
            <a:r>
              <a:rPr dirty="0" sz="1000" spc="10">
                <a:latin typeface="Times New Roman"/>
                <a:cs typeface="Times New Roman"/>
              </a:rPr>
              <a:t>and</a:t>
            </a:r>
            <a:r>
              <a:rPr dirty="0" sz="1000" spc="30">
                <a:latin typeface="Times New Roman"/>
                <a:cs typeface="Times New Roman"/>
              </a:rPr>
              <a:t> </a:t>
            </a:r>
            <a:r>
              <a:rPr dirty="0" sz="1000" spc="10">
                <a:latin typeface="Times New Roman"/>
                <a:cs typeface="Times New Roman"/>
              </a:rPr>
              <a:t>batch</a:t>
            </a:r>
            <a:r>
              <a:rPr dirty="0" sz="1000" spc="25">
                <a:latin typeface="Times New Roman"/>
                <a:cs typeface="Times New Roman"/>
              </a:rPr>
              <a:t> </a:t>
            </a:r>
            <a:r>
              <a:rPr dirty="0" sz="1000" spc="-20">
                <a:latin typeface="Times New Roman"/>
                <a:cs typeface="Times New Roman"/>
              </a:rPr>
              <a:t>size </a:t>
            </a:r>
            <a:r>
              <a:rPr dirty="0" sz="1000" spc="-25">
                <a:latin typeface="Times New Roman"/>
                <a:cs typeface="Times New Roman"/>
              </a:rPr>
              <a:t>64.</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a:latin typeface="SimSun"/>
                <a:cs typeface="SimSun"/>
              </a:rPr>
              <a:t>比较设置。为了研究</a:t>
            </a:r>
            <a:r>
              <a:rPr dirty="0" sz="1000" spc="-15">
                <a:latin typeface="Times New Roman"/>
                <a:cs typeface="Times New Roman"/>
              </a:rPr>
              <a:t>DGL</a:t>
            </a:r>
            <a:r>
              <a:rPr dirty="0" sz="1000" spc="-25">
                <a:latin typeface="Times New Roman"/>
                <a:cs typeface="Times New Roman"/>
              </a:rPr>
              <a:t> </a:t>
            </a:r>
            <a:r>
              <a:rPr dirty="0" sz="1000" spc="-15">
                <a:latin typeface="SimSun"/>
                <a:cs typeface="SimSun"/>
              </a:rPr>
              <a:t>的优势，我们与三种调制方法</a:t>
            </a:r>
            <a:r>
              <a:rPr dirty="0" sz="1000">
                <a:latin typeface="Times New Roman"/>
                <a:cs typeface="Times New Roman"/>
              </a:rPr>
              <a:t>OGM</a:t>
            </a:r>
            <a:r>
              <a:rPr dirty="0" sz="1000" spc="-25">
                <a:latin typeface="Times New Roman"/>
                <a:cs typeface="Times New Roman"/>
              </a:rPr>
              <a:t> </a:t>
            </a:r>
            <a:r>
              <a:rPr dirty="0" sz="1000">
                <a:latin typeface="Times New Roman"/>
                <a:cs typeface="Times New Roman"/>
              </a:rPr>
              <a:t>[21]</a:t>
            </a:r>
            <a:r>
              <a:rPr dirty="0" sz="1000" spc="-80">
                <a:latin typeface="SimSun"/>
                <a:cs typeface="SimSun"/>
              </a:rPr>
              <a:t>、</a:t>
            </a:r>
            <a:r>
              <a:rPr dirty="0" sz="1000" spc="-25">
                <a:latin typeface="Times New Roman"/>
                <a:cs typeface="Times New Roman"/>
              </a:rPr>
              <a:t>AGM </a:t>
            </a:r>
            <a:r>
              <a:rPr dirty="0" sz="1000">
                <a:latin typeface="Times New Roman"/>
                <a:cs typeface="Times New Roman"/>
              </a:rPr>
              <a:t>[17]</a:t>
            </a:r>
            <a:r>
              <a:rPr dirty="0" sz="1000" spc="-80">
                <a:latin typeface="SimSun"/>
                <a:cs typeface="SimSun"/>
              </a:rPr>
              <a:t>、</a:t>
            </a:r>
            <a:r>
              <a:rPr dirty="0" sz="1000">
                <a:latin typeface="Times New Roman"/>
                <a:cs typeface="Times New Roman"/>
              </a:rPr>
              <a:t>PMR</a:t>
            </a:r>
            <a:r>
              <a:rPr dirty="0" sz="1000" spc="-25">
                <a:latin typeface="Times New Roman"/>
                <a:cs typeface="Times New Roman"/>
              </a:rPr>
              <a:t> </a:t>
            </a:r>
            <a:r>
              <a:rPr dirty="0" sz="1000">
                <a:latin typeface="Times New Roman"/>
                <a:cs typeface="Times New Roman"/>
              </a:rPr>
              <a:t>[9]</a:t>
            </a:r>
            <a:r>
              <a:rPr dirty="0" sz="1000" spc="-25">
                <a:latin typeface="Times New Roman"/>
                <a:cs typeface="Times New Roman"/>
              </a:rPr>
              <a:t> </a:t>
            </a:r>
            <a:r>
              <a:rPr dirty="0" sz="1000" spc="-10">
                <a:latin typeface="SimSun"/>
                <a:cs typeface="SimSun"/>
              </a:rPr>
              <a:t>以及四种</a:t>
            </a:r>
            <a:r>
              <a:rPr dirty="0" sz="1000" spc="30">
                <a:latin typeface="SimSun"/>
                <a:cs typeface="SimSun"/>
              </a:rPr>
              <a:t>交替优化方法</a:t>
            </a:r>
            <a:r>
              <a:rPr dirty="0" sz="1000" spc="-15">
                <a:latin typeface="Times New Roman"/>
                <a:cs typeface="Times New Roman"/>
              </a:rPr>
              <a:t>G</a:t>
            </a:r>
            <a:r>
              <a:rPr dirty="0" sz="1000" spc="-20">
                <a:latin typeface="Times New Roman"/>
                <a:cs typeface="Times New Roman"/>
              </a:rPr>
              <a:t> - </a:t>
            </a:r>
            <a:r>
              <a:rPr dirty="0" sz="1000" spc="15">
                <a:latin typeface="Times New Roman"/>
                <a:cs typeface="Times New Roman"/>
              </a:rPr>
              <a:t>Blending</a:t>
            </a:r>
            <a:r>
              <a:rPr dirty="0" sz="1000" spc="-10">
                <a:latin typeface="Times New Roman"/>
                <a:cs typeface="Times New Roman"/>
              </a:rPr>
              <a:t> </a:t>
            </a:r>
            <a:r>
              <a:rPr dirty="0" sz="1000">
                <a:latin typeface="Times New Roman"/>
                <a:cs typeface="Times New Roman"/>
              </a:rPr>
              <a:t>[28]</a:t>
            </a:r>
            <a:r>
              <a:rPr dirty="0" sz="1000" spc="-10">
                <a:latin typeface="SimSun"/>
                <a:cs typeface="SimSun"/>
              </a:rPr>
              <a:t>、</a:t>
            </a:r>
            <a:r>
              <a:rPr dirty="0" sz="1000" spc="-15">
                <a:latin typeface="Times New Roman"/>
                <a:cs typeface="Times New Roman"/>
              </a:rPr>
              <a:t>MLA</a:t>
            </a:r>
            <a:r>
              <a:rPr dirty="0" sz="1000" spc="-10">
                <a:latin typeface="Times New Roman"/>
                <a:cs typeface="Times New Roman"/>
              </a:rPr>
              <a:t> </a:t>
            </a:r>
            <a:r>
              <a:rPr dirty="0" sz="1000">
                <a:latin typeface="Times New Roman"/>
                <a:cs typeface="Times New Roman"/>
              </a:rPr>
              <a:t>[39]</a:t>
            </a:r>
            <a:r>
              <a:rPr dirty="0" sz="1000" spc="-15">
                <a:latin typeface="SimSun"/>
                <a:cs typeface="SimSun"/>
              </a:rPr>
              <a:t>、</a:t>
            </a:r>
            <a:r>
              <a:rPr dirty="0" sz="1000">
                <a:latin typeface="Times New Roman"/>
                <a:cs typeface="Times New Roman"/>
              </a:rPr>
              <a:t>MM</a:t>
            </a:r>
            <a:r>
              <a:rPr dirty="0" sz="1000" spc="-20">
                <a:latin typeface="Times New Roman"/>
                <a:cs typeface="Times New Roman"/>
              </a:rPr>
              <a:t> - </a:t>
            </a:r>
            <a:r>
              <a:rPr dirty="0" sz="1000" spc="15">
                <a:latin typeface="Times New Roman"/>
                <a:cs typeface="Times New Roman"/>
              </a:rPr>
              <a:t>Pareto</a:t>
            </a:r>
            <a:r>
              <a:rPr dirty="0" sz="1000" spc="-10">
                <a:latin typeface="Times New Roman"/>
                <a:cs typeface="Times New Roman"/>
              </a:rPr>
              <a:t> </a:t>
            </a:r>
            <a:r>
              <a:rPr dirty="0" sz="1000">
                <a:latin typeface="Times New Roman"/>
                <a:cs typeface="Times New Roman"/>
              </a:rPr>
              <a:t>[32]</a:t>
            </a:r>
            <a:r>
              <a:rPr dirty="0" sz="1000" spc="-10">
                <a:latin typeface="Times New Roman"/>
                <a:cs typeface="Times New Roman"/>
              </a:rPr>
              <a:t> </a:t>
            </a:r>
            <a:r>
              <a:rPr dirty="0" sz="1000" spc="229">
                <a:latin typeface="SimSun"/>
                <a:cs typeface="SimSun"/>
              </a:rPr>
              <a:t>和</a:t>
            </a:r>
            <a:r>
              <a:rPr dirty="0" sz="1000" spc="-25">
                <a:latin typeface="Times New Roman"/>
                <a:cs typeface="Times New Roman"/>
              </a:rPr>
              <a:t>D&amp;R</a:t>
            </a:r>
            <a:r>
              <a:rPr dirty="0" sz="1000" spc="-10">
                <a:latin typeface="Times New Roman"/>
                <a:cs typeface="Times New Roman"/>
              </a:rPr>
              <a:t> </a:t>
            </a:r>
            <a:r>
              <a:rPr dirty="0" sz="1000">
                <a:latin typeface="Times New Roman"/>
                <a:cs typeface="Times New Roman"/>
              </a:rPr>
              <a:t>[33]</a:t>
            </a:r>
            <a:r>
              <a:rPr dirty="0" sz="1000" spc="-10">
                <a:latin typeface="Times New Roman"/>
                <a:cs typeface="Times New Roman"/>
              </a:rPr>
              <a:t> </a:t>
            </a:r>
            <a:r>
              <a:rPr dirty="0" sz="1000" spc="-10">
                <a:latin typeface="SimSun"/>
                <a:cs typeface="SimSun"/>
              </a:rPr>
              <a:t>进行比较。为了进行公</a:t>
            </a:r>
            <a:r>
              <a:rPr dirty="0" sz="1000">
                <a:latin typeface="SimSun"/>
                <a:cs typeface="SimSun"/>
              </a:rPr>
              <a:t>平比较，我们在所有实验中将主干统一为</a:t>
            </a:r>
            <a:r>
              <a:rPr dirty="0" sz="1000">
                <a:latin typeface="Times New Roman"/>
                <a:cs typeface="Times New Roman"/>
              </a:rPr>
              <a:t>ResNet18</a:t>
            </a:r>
            <a:r>
              <a:rPr dirty="0" sz="1000">
                <a:latin typeface="SimSun"/>
                <a:cs typeface="SimSun"/>
              </a:rPr>
              <a:t>，融合方法统一为拼接。请注意，原始的</a:t>
            </a:r>
            <a:r>
              <a:rPr dirty="0" sz="1000" spc="-15">
                <a:latin typeface="Times New Roman"/>
                <a:cs typeface="Times New Roman"/>
              </a:rPr>
              <a:t>MLA</a:t>
            </a:r>
            <a:r>
              <a:rPr dirty="0" sz="1000" spc="100">
                <a:latin typeface="SimSun"/>
                <a:cs typeface="SimSun"/>
              </a:rPr>
              <a:t>使用</a:t>
            </a:r>
            <a:r>
              <a:rPr dirty="0" sz="1000" spc="20">
                <a:latin typeface="Times New Roman"/>
                <a:cs typeface="Times New Roman"/>
              </a:rPr>
              <a:t>epoch</a:t>
            </a:r>
            <a:r>
              <a:rPr dirty="0" sz="1000" spc="-30">
                <a:latin typeface="Times New Roman"/>
                <a:cs typeface="Times New Roman"/>
              </a:rPr>
              <a:t> </a:t>
            </a:r>
            <a:r>
              <a:rPr dirty="0" sz="1000" spc="-145">
                <a:latin typeface="SimSun"/>
                <a:cs typeface="SimSun"/>
              </a:rPr>
              <a:t>为 </a:t>
            </a:r>
            <a:r>
              <a:rPr dirty="0" sz="1000" spc="-10">
                <a:latin typeface="Times New Roman"/>
                <a:cs typeface="Times New Roman"/>
              </a:rPr>
              <a:t>150</a:t>
            </a:r>
            <a:r>
              <a:rPr dirty="0" sz="1000" spc="-30">
                <a:latin typeface="Times New Roman"/>
                <a:cs typeface="Times New Roman"/>
              </a:rPr>
              <a:t> </a:t>
            </a:r>
            <a:r>
              <a:rPr dirty="0" sz="1000" spc="-50">
                <a:latin typeface="SimSun"/>
                <a:cs typeface="SimSun"/>
              </a:rPr>
              <a:t>且批次大小为 </a:t>
            </a:r>
            <a:r>
              <a:rPr dirty="0" sz="1000" spc="-10">
                <a:latin typeface="Times New Roman"/>
                <a:cs typeface="Times New Roman"/>
              </a:rPr>
              <a:t>16</a:t>
            </a:r>
            <a:r>
              <a:rPr dirty="0" sz="1000" spc="-55">
                <a:latin typeface="SimSun"/>
                <a:cs typeface="SimSun"/>
              </a:rPr>
              <a:t>。为了进行公平比较，我们将它们与其他比较方法统一为 </a:t>
            </a:r>
            <a:r>
              <a:rPr dirty="0" sz="1000" spc="20">
                <a:latin typeface="Times New Roman"/>
                <a:cs typeface="Times New Roman"/>
              </a:rPr>
              <a:t>epoch</a:t>
            </a:r>
            <a:r>
              <a:rPr dirty="0" sz="1000" spc="-145">
                <a:latin typeface="SimSun"/>
                <a:cs typeface="SimSun"/>
              </a:rPr>
              <a:t>为 </a:t>
            </a:r>
            <a:r>
              <a:rPr dirty="0" sz="1000" spc="-10">
                <a:latin typeface="Times New Roman"/>
                <a:cs typeface="Times New Roman"/>
              </a:rPr>
              <a:t>100</a:t>
            </a:r>
            <a:r>
              <a:rPr dirty="0" sz="1000" spc="-20">
                <a:latin typeface="Times New Roman"/>
                <a:cs typeface="Times New Roman"/>
              </a:rPr>
              <a:t> </a:t>
            </a:r>
            <a:r>
              <a:rPr dirty="0" sz="1000" spc="-50">
                <a:latin typeface="SimSun"/>
                <a:cs typeface="SimSun"/>
              </a:rPr>
              <a:t>且批次大小为 </a:t>
            </a:r>
            <a:r>
              <a:rPr dirty="0" sz="1000" spc="-10">
                <a:latin typeface="Times New Roman"/>
                <a:cs typeface="Times New Roman"/>
              </a:rPr>
              <a:t>64</a:t>
            </a:r>
            <a:r>
              <a:rPr dirty="0" sz="1000" spc="-10">
                <a:latin typeface="SimSun"/>
                <a:cs typeface="SimSun"/>
              </a:rPr>
              <a:t>。</a:t>
            </a:r>
            <a:endParaRPr sz="1000">
              <a:latin typeface="SimSun"/>
              <a:cs typeface="SimSun"/>
            </a:endParaRPr>
          </a:p>
          <a:p>
            <a:pPr algn="just" marL="12700" marR="5080" indent="252729">
              <a:lnSpc>
                <a:spcPct val="129500"/>
              </a:lnSpc>
              <a:spcBef>
                <a:spcPts val="1245"/>
              </a:spcBef>
            </a:pPr>
            <a:r>
              <a:rPr dirty="0" sz="1000">
                <a:latin typeface="Times New Roman"/>
                <a:cs typeface="Times New Roman"/>
              </a:rPr>
              <a:t>Results.</a:t>
            </a:r>
            <a:r>
              <a:rPr dirty="0" sz="1000" spc="210">
                <a:latin typeface="Times New Roman"/>
                <a:cs typeface="Times New Roman"/>
              </a:rPr>
              <a:t> </a:t>
            </a:r>
            <a:r>
              <a:rPr dirty="0" sz="1000" spc="-30">
                <a:latin typeface="Times New Roman"/>
                <a:cs typeface="Times New Roman"/>
              </a:rPr>
              <a:t>As</a:t>
            </a:r>
            <a:r>
              <a:rPr dirty="0" sz="1000" spc="20">
                <a:latin typeface="Times New Roman"/>
                <a:cs typeface="Times New Roman"/>
              </a:rPr>
              <a:t> </a:t>
            </a:r>
            <a:r>
              <a:rPr dirty="0" sz="1000">
                <a:latin typeface="Times New Roman"/>
                <a:cs typeface="Times New Roman"/>
              </a:rPr>
              <a:t>shown</a:t>
            </a:r>
            <a:r>
              <a:rPr dirty="0" sz="1000" spc="20">
                <a:latin typeface="Times New Roman"/>
                <a:cs typeface="Times New Roman"/>
              </a:rPr>
              <a:t> </a:t>
            </a:r>
            <a:r>
              <a:rPr dirty="0" sz="1000">
                <a:latin typeface="Times New Roman"/>
                <a:cs typeface="Times New Roman"/>
              </a:rPr>
              <a:t>in</a:t>
            </a:r>
            <a:r>
              <a:rPr dirty="0" sz="1000" spc="20">
                <a:latin typeface="Times New Roman"/>
                <a:cs typeface="Times New Roman"/>
              </a:rPr>
              <a:t> </a:t>
            </a:r>
            <a:r>
              <a:rPr dirty="0" sz="1000" spc="-10">
                <a:latin typeface="Times New Roman"/>
                <a:cs typeface="Times New Roman"/>
              </a:rPr>
              <a:t>Table</a:t>
            </a:r>
            <a:r>
              <a:rPr dirty="0" sz="1000" spc="20">
                <a:latin typeface="Times New Roman"/>
                <a:cs typeface="Times New Roman"/>
              </a:rPr>
              <a:t> </a:t>
            </a:r>
            <a:r>
              <a:rPr dirty="0" sz="1000" spc="-20">
                <a:latin typeface="Times New Roman"/>
                <a:cs typeface="Times New Roman"/>
              </a:rPr>
              <a:t>1,</a:t>
            </a:r>
            <a:r>
              <a:rPr dirty="0" sz="1000" spc="4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proposed</a:t>
            </a:r>
            <a:r>
              <a:rPr dirty="0" sz="1000" spc="20">
                <a:latin typeface="Times New Roman"/>
                <a:cs typeface="Times New Roman"/>
              </a:rPr>
              <a:t> </a:t>
            </a:r>
            <a:r>
              <a:rPr dirty="0" sz="1000" spc="-35">
                <a:latin typeface="Times New Roman"/>
                <a:cs typeface="Times New Roman"/>
              </a:rPr>
              <a:t>DGL</a:t>
            </a:r>
            <a:r>
              <a:rPr dirty="0" sz="1000" spc="20">
                <a:latin typeface="Times New Roman"/>
                <a:cs typeface="Times New Roman"/>
              </a:rPr>
              <a:t> </a:t>
            </a:r>
            <a:r>
              <a:rPr dirty="0" sz="1000">
                <a:latin typeface="Times New Roman"/>
                <a:cs typeface="Times New Roman"/>
              </a:rPr>
              <a:t>framework</a:t>
            </a:r>
            <a:r>
              <a:rPr dirty="0" sz="1000" spc="20">
                <a:latin typeface="Times New Roman"/>
                <a:cs typeface="Times New Roman"/>
              </a:rPr>
              <a:t> </a:t>
            </a:r>
            <a:r>
              <a:rPr dirty="0" sz="1000">
                <a:latin typeface="Times New Roman"/>
                <a:cs typeface="Times New Roman"/>
              </a:rPr>
              <a:t>achieves</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best</a:t>
            </a:r>
            <a:r>
              <a:rPr dirty="0" sz="1000" spc="20">
                <a:latin typeface="Times New Roman"/>
                <a:cs typeface="Times New Roman"/>
              </a:rPr>
              <a:t> </a:t>
            </a:r>
            <a:r>
              <a:rPr dirty="0" sz="1000">
                <a:latin typeface="Times New Roman"/>
                <a:cs typeface="Times New Roman"/>
              </a:rPr>
              <a:t>performance</a:t>
            </a:r>
            <a:r>
              <a:rPr dirty="0" sz="1000" spc="20">
                <a:latin typeface="Times New Roman"/>
                <a:cs typeface="Times New Roman"/>
              </a:rPr>
              <a:t> </a:t>
            </a:r>
            <a:r>
              <a:rPr dirty="0" sz="1000">
                <a:latin typeface="Times New Roman"/>
                <a:cs typeface="Times New Roman"/>
              </a:rPr>
              <a:t>on</a:t>
            </a:r>
            <a:r>
              <a:rPr dirty="0" sz="1000" spc="20">
                <a:latin typeface="Times New Roman"/>
                <a:cs typeface="Times New Roman"/>
              </a:rPr>
              <a:t> </a:t>
            </a:r>
            <a:r>
              <a:rPr dirty="0" sz="1000">
                <a:latin typeface="Times New Roman"/>
                <a:cs typeface="Times New Roman"/>
              </a:rPr>
              <a:t>all</a:t>
            </a:r>
            <a:r>
              <a:rPr dirty="0" sz="1000" spc="20">
                <a:latin typeface="Times New Roman"/>
                <a:cs typeface="Times New Roman"/>
              </a:rPr>
              <a:t> </a:t>
            </a:r>
            <a:r>
              <a:rPr dirty="0" sz="1000" spc="-10">
                <a:latin typeface="Times New Roman"/>
                <a:cs typeface="Times New Roman"/>
              </a:rPr>
              <a:t>datasets </a:t>
            </a:r>
            <a:r>
              <a:rPr dirty="0" sz="1000" spc="10">
                <a:latin typeface="Times New Roman"/>
                <a:cs typeface="Times New Roman"/>
              </a:rPr>
              <a:t>with</a:t>
            </a:r>
            <a:r>
              <a:rPr dirty="0" sz="1000" spc="60">
                <a:latin typeface="Times New Roman"/>
                <a:cs typeface="Times New Roman"/>
              </a:rPr>
              <a:t> </a:t>
            </a:r>
            <a:r>
              <a:rPr dirty="0" sz="1000" spc="10">
                <a:latin typeface="Times New Roman"/>
                <a:cs typeface="Times New Roman"/>
              </a:rPr>
              <a:t>a</a:t>
            </a:r>
            <a:r>
              <a:rPr dirty="0" sz="1000" spc="65">
                <a:latin typeface="Times New Roman"/>
                <a:cs typeface="Times New Roman"/>
              </a:rPr>
              <a:t> </a:t>
            </a:r>
            <a:r>
              <a:rPr dirty="0" sz="1000" spc="10">
                <a:latin typeface="Times New Roman"/>
                <a:cs typeface="Times New Roman"/>
              </a:rPr>
              <a:t>significant</a:t>
            </a:r>
            <a:r>
              <a:rPr dirty="0" sz="1000" spc="65">
                <a:latin typeface="Times New Roman"/>
                <a:cs typeface="Times New Roman"/>
              </a:rPr>
              <a:t> </a:t>
            </a:r>
            <a:r>
              <a:rPr dirty="0" sz="1000" spc="10">
                <a:latin typeface="Times New Roman"/>
                <a:cs typeface="Times New Roman"/>
              </a:rPr>
              <a:t>improvement</a:t>
            </a:r>
            <a:r>
              <a:rPr dirty="0" sz="1000" spc="65">
                <a:latin typeface="Times New Roman"/>
                <a:cs typeface="Times New Roman"/>
              </a:rPr>
              <a:t> </a:t>
            </a:r>
            <a:r>
              <a:rPr dirty="0" sz="1000" spc="10">
                <a:latin typeface="Times New Roman"/>
                <a:cs typeface="Times New Roman"/>
              </a:rPr>
              <a:t>compared</a:t>
            </a:r>
            <a:r>
              <a:rPr dirty="0" sz="1000" spc="65">
                <a:latin typeface="Times New Roman"/>
                <a:cs typeface="Times New Roman"/>
              </a:rPr>
              <a:t> </a:t>
            </a:r>
            <a:r>
              <a:rPr dirty="0" sz="1000" spc="10">
                <a:latin typeface="Times New Roman"/>
                <a:cs typeface="Times New Roman"/>
              </a:rPr>
              <a:t>to</a:t>
            </a:r>
            <a:r>
              <a:rPr dirty="0" sz="1000" spc="65">
                <a:latin typeface="Times New Roman"/>
                <a:cs typeface="Times New Roman"/>
              </a:rPr>
              <a:t> </a:t>
            </a:r>
            <a:r>
              <a:rPr dirty="0" sz="1000" spc="10">
                <a:latin typeface="Times New Roman"/>
                <a:cs typeface="Times New Roman"/>
              </a:rPr>
              <a:t>existing</a:t>
            </a:r>
            <a:r>
              <a:rPr dirty="0" sz="1000" spc="65">
                <a:latin typeface="Times New Roman"/>
                <a:cs typeface="Times New Roman"/>
              </a:rPr>
              <a:t> </a:t>
            </a:r>
            <a:r>
              <a:rPr dirty="0" sz="1000" spc="10">
                <a:latin typeface="Times New Roman"/>
                <a:cs typeface="Times New Roman"/>
              </a:rPr>
              <a:t>methods.</a:t>
            </a:r>
            <a:r>
              <a:rPr dirty="0" sz="1000" spc="175">
                <a:latin typeface="Times New Roman"/>
                <a:cs typeface="Times New Roman"/>
              </a:rPr>
              <a:t> </a:t>
            </a:r>
            <a:r>
              <a:rPr dirty="0" sz="1000" spc="10">
                <a:latin typeface="Times New Roman"/>
                <a:cs typeface="Times New Roman"/>
              </a:rPr>
              <a:t>Compared</a:t>
            </a:r>
            <a:r>
              <a:rPr dirty="0" sz="1000" spc="60">
                <a:latin typeface="Times New Roman"/>
                <a:cs typeface="Times New Roman"/>
              </a:rPr>
              <a:t> </a:t>
            </a:r>
            <a:r>
              <a:rPr dirty="0" sz="1000" spc="10">
                <a:latin typeface="Times New Roman"/>
                <a:cs typeface="Times New Roman"/>
              </a:rPr>
              <a:t>to</a:t>
            </a:r>
            <a:r>
              <a:rPr dirty="0" sz="1000" spc="6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second-best</a:t>
            </a:r>
            <a:r>
              <a:rPr dirty="0" sz="1000" spc="65">
                <a:latin typeface="Times New Roman"/>
                <a:cs typeface="Times New Roman"/>
              </a:rPr>
              <a:t> </a:t>
            </a:r>
            <a:r>
              <a:rPr dirty="0" sz="1000" spc="10">
                <a:latin typeface="Times New Roman"/>
                <a:cs typeface="Times New Roman"/>
              </a:rPr>
              <a:t>methods,</a:t>
            </a:r>
            <a:r>
              <a:rPr dirty="0" sz="1000" spc="65">
                <a:latin typeface="Times New Roman"/>
                <a:cs typeface="Times New Roman"/>
              </a:rPr>
              <a:t> </a:t>
            </a:r>
            <a:r>
              <a:rPr dirty="0" sz="1000" spc="-25">
                <a:latin typeface="Times New Roman"/>
                <a:cs typeface="Times New Roman"/>
              </a:rPr>
              <a:t>MLA </a:t>
            </a:r>
            <a:r>
              <a:rPr dirty="0" sz="1000">
                <a:latin typeface="Times New Roman"/>
                <a:cs typeface="Times New Roman"/>
              </a:rPr>
              <a:t>and</a:t>
            </a:r>
            <a:r>
              <a:rPr dirty="0" sz="1000" spc="80">
                <a:latin typeface="Times New Roman"/>
                <a:cs typeface="Times New Roman"/>
              </a:rPr>
              <a:t> </a:t>
            </a:r>
            <a:r>
              <a:rPr dirty="0" sz="1000">
                <a:latin typeface="Times New Roman"/>
                <a:cs typeface="Times New Roman"/>
              </a:rPr>
              <a:t>D&amp;R,</a:t>
            </a:r>
            <a:r>
              <a:rPr dirty="0" sz="1000" spc="85">
                <a:latin typeface="Times New Roman"/>
                <a:cs typeface="Times New Roman"/>
              </a:rPr>
              <a:t> </a:t>
            </a:r>
            <a:r>
              <a:rPr dirty="0" sz="1000">
                <a:latin typeface="Times New Roman"/>
                <a:cs typeface="Times New Roman"/>
              </a:rPr>
              <a:t>it</a:t>
            </a:r>
            <a:r>
              <a:rPr dirty="0" sz="1000" spc="85">
                <a:latin typeface="Times New Roman"/>
                <a:cs typeface="Times New Roman"/>
              </a:rPr>
              <a:t> </a:t>
            </a:r>
            <a:r>
              <a:rPr dirty="0" sz="1000">
                <a:latin typeface="Times New Roman"/>
                <a:cs typeface="Times New Roman"/>
              </a:rPr>
              <a:t>improves</a:t>
            </a:r>
            <a:r>
              <a:rPr dirty="0" sz="1000" spc="8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multimodal</a:t>
            </a:r>
            <a:r>
              <a:rPr dirty="0" sz="1000" spc="85">
                <a:latin typeface="Times New Roman"/>
                <a:cs typeface="Times New Roman"/>
              </a:rPr>
              <a:t> </a:t>
            </a:r>
            <a:r>
              <a:rPr dirty="0" sz="1000">
                <a:latin typeface="Times New Roman"/>
                <a:cs typeface="Times New Roman"/>
              </a:rPr>
              <a:t>performance</a:t>
            </a:r>
            <a:r>
              <a:rPr dirty="0" sz="1000" spc="85">
                <a:latin typeface="Times New Roman"/>
                <a:cs typeface="Times New Roman"/>
              </a:rPr>
              <a:t> </a:t>
            </a:r>
            <a:r>
              <a:rPr dirty="0" sz="1000">
                <a:latin typeface="Times New Roman"/>
                <a:cs typeface="Times New Roman"/>
              </a:rPr>
              <a:t>by</a:t>
            </a:r>
            <a:r>
              <a:rPr dirty="0" sz="1000" spc="85">
                <a:latin typeface="Times New Roman"/>
                <a:cs typeface="Times New Roman"/>
              </a:rPr>
              <a:t> </a:t>
            </a:r>
            <a:r>
              <a:rPr dirty="0" sz="1000" spc="-25">
                <a:latin typeface="Times New Roman"/>
                <a:cs typeface="Times New Roman"/>
              </a:rPr>
              <a:t>3.15%,</a:t>
            </a:r>
            <a:r>
              <a:rPr dirty="0" sz="1000" spc="95">
                <a:latin typeface="Times New Roman"/>
                <a:cs typeface="Times New Roman"/>
              </a:rPr>
              <a:t> </a:t>
            </a:r>
            <a:r>
              <a:rPr dirty="0" sz="1000" spc="-25">
                <a:latin typeface="Times New Roman"/>
                <a:cs typeface="Times New Roman"/>
              </a:rPr>
              <a:t>3.66%,</a:t>
            </a:r>
            <a:r>
              <a:rPr dirty="0" sz="1000" spc="90">
                <a:latin typeface="Times New Roman"/>
                <a:cs typeface="Times New Roman"/>
              </a:rPr>
              <a:t> </a:t>
            </a:r>
            <a:r>
              <a:rPr dirty="0" sz="1000">
                <a:latin typeface="Times New Roman"/>
                <a:cs typeface="Times New Roman"/>
              </a:rPr>
              <a:t>and</a:t>
            </a:r>
            <a:r>
              <a:rPr dirty="0" sz="1000" spc="85">
                <a:latin typeface="Times New Roman"/>
                <a:cs typeface="Times New Roman"/>
              </a:rPr>
              <a:t> </a:t>
            </a:r>
            <a:r>
              <a:rPr dirty="0" sz="1000" spc="-25">
                <a:latin typeface="Times New Roman"/>
                <a:cs typeface="Times New Roman"/>
              </a:rPr>
              <a:t>1.34%</a:t>
            </a:r>
            <a:r>
              <a:rPr dirty="0" sz="1000" spc="85">
                <a:latin typeface="Times New Roman"/>
                <a:cs typeface="Times New Roman"/>
              </a:rPr>
              <a:t> </a:t>
            </a:r>
            <a:r>
              <a:rPr dirty="0" sz="1000">
                <a:latin typeface="Times New Roman"/>
                <a:cs typeface="Times New Roman"/>
              </a:rPr>
              <a:t>on</a:t>
            </a:r>
            <a:r>
              <a:rPr dirty="0" sz="1000" spc="80">
                <a:latin typeface="Times New Roman"/>
                <a:cs typeface="Times New Roman"/>
              </a:rPr>
              <a:t> </a:t>
            </a:r>
            <a:r>
              <a:rPr dirty="0" sz="1000" spc="-10">
                <a:latin typeface="Times New Roman"/>
                <a:cs typeface="Times New Roman"/>
              </a:rPr>
              <a:t>CREMA-</a:t>
            </a:r>
            <a:r>
              <a:rPr dirty="0" sz="1000">
                <a:latin typeface="Times New Roman"/>
                <a:cs typeface="Times New Roman"/>
              </a:rPr>
              <a:t>D,</a:t>
            </a:r>
            <a:r>
              <a:rPr dirty="0" sz="1000" spc="85">
                <a:latin typeface="Times New Roman"/>
                <a:cs typeface="Times New Roman"/>
              </a:rPr>
              <a:t> </a:t>
            </a:r>
            <a:r>
              <a:rPr dirty="0" sz="1000" spc="-10">
                <a:latin typeface="Times New Roman"/>
                <a:cs typeface="Times New Roman"/>
              </a:rPr>
              <a:t>KS,</a:t>
            </a:r>
            <a:r>
              <a:rPr dirty="0" sz="1000" spc="85">
                <a:latin typeface="Times New Roman"/>
                <a:cs typeface="Times New Roman"/>
              </a:rPr>
              <a:t> </a:t>
            </a:r>
            <a:r>
              <a:rPr dirty="0" sz="1000">
                <a:latin typeface="Times New Roman"/>
                <a:cs typeface="Times New Roman"/>
              </a:rPr>
              <a:t>and</a:t>
            </a:r>
            <a:r>
              <a:rPr dirty="0" sz="1000" spc="85">
                <a:latin typeface="Times New Roman"/>
                <a:cs typeface="Times New Roman"/>
              </a:rPr>
              <a:t> </a:t>
            </a:r>
            <a:r>
              <a:rPr dirty="0" sz="1000" spc="-25">
                <a:latin typeface="Times New Roman"/>
                <a:cs typeface="Times New Roman"/>
              </a:rPr>
              <a:t>VG- </a:t>
            </a:r>
            <a:r>
              <a:rPr dirty="0" sz="1000" spc="10">
                <a:latin typeface="Times New Roman"/>
                <a:cs typeface="Times New Roman"/>
              </a:rPr>
              <a:t>GSound</a:t>
            </a:r>
            <a:r>
              <a:rPr dirty="0" sz="1000" spc="45">
                <a:latin typeface="Times New Roman"/>
                <a:cs typeface="Times New Roman"/>
              </a:rPr>
              <a:t> </a:t>
            </a:r>
            <a:r>
              <a:rPr dirty="0" sz="1000" spc="10">
                <a:latin typeface="Times New Roman"/>
                <a:cs typeface="Times New Roman"/>
              </a:rPr>
              <a:t>datasets,</a:t>
            </a:r>
            <a:r>
              <a:rPr dirty="0" sz="1000" spc="45">
                <a:latin typeface="Times New Roman"/>
                <a:cs typeface="Times New Roman"/>
              </a:rPr>
              <a:t> </a:t>
            </a:r>
            <a:r>
              <a:rPr dirty="0" sz="1000">
                <a:latin typeface="Times New Roman"/>
                <a:cs typeface="Times New Roman"/>
              </a:rPr>
              <a:t>respectively.</a:t>
            </a:r>
            <a:r>
              <a:rPr dirty="0" sz="1000" spc="145">
                <a:latin typeface="Times New Roman"/>
                <a:cs typeface="Times New Roman"/>
              </a:rPr>
              <a:t> </a:t>
            </a:r>
            <a:r>
              <a:rPr dirty="0" sz="1000" spc="10">
                <a:latin typeface="Times New Roman"/>
                <a:cs typeface="Times New Roman"/>
              </a:rPr>
              <a:t>These</a:t>
            </a:r>
            <a:r>
              <a:rPr dirty="0" sz="1000" spc="50">
                <a:latin typeface="Times New Roman"/>
                <a:cs typeface="Times New Roman"/>
              </a:rPr>
              <a:t> </a:t>
            </a:r>
            <a:r>
              <a:rPr dirty="0" sz="1000" spc="10">
                <a:latin typeface="Times New Roman"/>
                <a:cs typeface="Times New Roman"/>
              </a:rPr>
              <a:t>results</a:t>
            </a:r>
            <a:r>
              <a:rPr dirty="0" sz="1000" spc="45">
                <a:latin typeface="Times New Roman"/>
                <a:cs typeface="Times New Roman"/>
              </a:rPr>
              <a:t> </a:t>
            </a:r>
            <a:r>
              <a:rPr dirty="0" sz="1000" spc="10">
                <a:latin typeface="Times New Roman"/>
                <a:cs typeface="Times New Roman"/>
              </a:rPr>
              <a:t>demonstrate</a:t>
            </a:r>
            <a:r>
              <a:rPr dirty="0" sz="1000" spc="45">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superiority</a:t>
            </a:r>
            <a:r>
              <a:rPr dirty="0" sz="1000" spc="45">
                <a:latin typeface="Times New Roman"/>
                <a:cs typeface="Times New Roman"/>
              </a:rPr>
              <a:t> </a:t>
            </a:r>
            <a:r>
              <a:rPr dirty="0" sz="1000">
                <a:latin typeface="Times New Roman"/>
                <a:cs typeface="Times New Roman"/>
              </a:rPr>
              <a:t>of</a:t>
            </a:r>
            <a:r>
              <a:rPr dirty="0" sz="1000" spc="45">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proposed</a:t>
            </a:r>
            <a:r>
              <a:rPr dirty="0" sz="1000" spc="45">
                <a:latin typeface="Times New Roman"/>
                <a:cs typeface="Times New Roman"/>
              </a:rPr>
              <a:t> </a:t>
            </a:r>
            <a:r>
              <a:rPr dirty="0" sz="1000">
                <a:latin typeface="Times New Roman"/>
                <a:cs typeface="Times New Roman"/>
              </a:rPr>
              <a:t>DGL</a:t>
            </a:r>
            <a:r>
              <a:rPr dirty="0" sz="1000" spc="45">
                <a:latin typeface="Times New Roman"/>
                <a:cs typeface="Times New Roman"/>
              </a:rPr>
              <a:t> </a:t>
            </a:r>
            <a:r>
              <a:rPr dirty="0" sz="1000" spc="-10">
                <a:latin typeface="Times New Roman"/>
                <a:cs typeface="Times New Roman"/>
              </a:rPr>
              <a:t>technique.</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spc="-55">
                <a:latin typeface="SimSun"/>
                <a:cs typeface="SimSun"/>
              </a:rPr>
              <a:t>结果。如表 </a:t>
            </a:r>
            <a:r>
              <a:rPr dirty="0" sz="1000" spc="-10">
                <a:latin typeface="Times New Roman"/>
                <a:cs typeface="Times New Roman"/>
              </a:rPr>
              <a:t>1</a:t>
            </a:r>
            <a:r>
              <a:rPr dirty="0" sz="1000" spc="-5">
                <a:latin typeface="Times New Roman"/>
                <a:cs typeface="Times New Roman"/>
              </a:rPr>
              <a:t> </a:t>
            </a:r>
            <a:r>
              <a:rPr dirty="0" sz="1000" spc="-45">
                <a:latin typeface="SimSun"/>
                <a:cs typeface="SimSun"/>
              </a:rPr>
              <a:t>所示，所提出的 </a:t>
            </a:r>
            <a:r>
              <a:rPr dirty="0" sz="1000" spc="-15">
                <a:latin typeface="Times New Roman"/>
                <a:cs typeface="Times New Roman"/>
              </a:rPr>
              <a:t>DGL</a:t>
            </a:r>
            <a:r>
              <a:rPr dirty="0" sz="1000" spc="-5">
                <a:latin typeface="Times New Roman"/>
                <a:cs typeface="Times New Roman"/>
              </a:rPr>
              <a:t> </a:t>
            </a:r>
            <a:r>
              <a:rPr dirty="0" sz="1000" spc="-10">
                <a:latin typeface="SimSun"/>
                <a:cs typeface="SimSun"/>
              </a:rPr>
              <a:t>框架在所有数据集上均取得了最佳性能，与现有方法相比有显</a:t>
            </a:r>
            <a:r>
              <a:rPr dirty="0" sz="1000" spc="5">
                <a:latin typeface="SimSun"/>
                <a:cs typeface="SimSun"/>
              </a:rPr>
              <a:t>著提升。与次佳方法</a:t>
            </a:r>
            <a:r>
              <a:rPr dirty="0" sz="1000" spc="-15">
                <a:latin typeface="Times New Roman"/>
                <a:cs typeface="Times New Roman"/>
              </a:rPr>
              <a:t>MLA</a:t>
            </a:r>
            <a:r>
              <a:rPr dirty="0" sz="1000" spc="-20">
                <a:latin typeface="Times New Roman"/>
                <a:cs typeface="Times New Roman"/>
              </a:rPr>
              <a:t> </a:t>
            </a:r>
            <a:r>
              <a:rPr dirty="0" sz="1000" spc="220">
                <a:latin typeface="SimSun"/>
                <a:cs typeface="SimSun"/>
              </a:rPr>
              <a:t>和</a:t>
            </a:r>
            <a:r>
              <a:rPr dirty="0" sz="1000" spc="-25">
                <a:latin typeface="Times New Roman"/>
                <a:cs typeface="Times New Roman"/>
              </a:rPr>
              <a:t>D&amp;R</a:t>
            </a:r>
            <a:r>
              <a:rPr dirty="0" sz="1000" spc="-20">
                <a:latin typeface="Times New Roman"/>
                <a:cs typeface="Times New Roman"/>
              </a:rPr>
              <a:t> </a:t>
            </a:r>
            <a:r>
              <a:rPr dirty="0" sz="1000" spc="25">
                <a:latin typeface="SimSun"/>
                <a:cs typeface="SimSun"/>
              </a:rPr>
              <a:t>相比，它在</a:t>
            </a:r>
            <a:r>
              <a:rPr dirty="0" sz="1000" spc="-5">
                <a:latin typeface="Times New Roman"/>
                <a:cs typeface="Times New Roman"/>
              </a:rPr>
              <a:t>CREMA-</a:t>
            </a:r>
            <a:r>
              <a:rPr dirty="0" sz="1000" spc="-25">
                <a:latin typeface="Times New Roman"/>
                <a:cs typeface="Times New Roman"/>
              </a:rPr>
              <a:t>D</a:t>
            </a:r>
            <a:r>
              <a:rPr dirty="0" sz="1000" spc="-40">
                <a:latin typeface="SimSun"/>
                <a:cs typeface="SimSun"/>
              </a:rPr>
              <a:t>、</a:t>
            </a:r>
            <a:r>
              <a:rPr dirty="0" sz="1000" spc="-40">
                <a:latin typeface="Times New Roman"/>
                <a:cs typeface="Times New Roman"/>
              </a:rPr>
              <a:t>KS</a:t>
            </a:r>
            <a:r>
              <a:rPr dirty="0" sz="1000" spc="-20">
                <a:latin typeface="Times New Roman"/>
                <a:cs typeface="Times New Roman"/>
              </a:rPr>
              <a:t> </a:t>
            </a:r>
            <a:r>
              <a:rPr dirty="0" sz="1000" spc="220">
                <a:latin typeface="SimSun"/>
                <a:cs typeface="SimSun"/>
              </a:rPr>
              <a:t>和</a:t>
            </a:r>
            <a:r>
              <a:rPr dirty="0" sz="1000">
                <a:latin typeface="Times New Roman"/>
                <a:cs typeface="Times New Roman"/>
              </a:rPr>
              <a:t>VGGSound</a:t>
            </a:r>
            <a:r>
              <a:rPr dirty="0" sz="1000" spc="-20">
                <a:latin typeface="Times New Roman"/>
                <a:cs typeface="Times New Roman"/>
              </a:rPr>
              <a:t> </a:t>
            </a:r>
            <a:r>
              <a:rPr dirty="0" sz="1000" spc="-10">
                <a:latin typeface="SimSun"/>
                <a:cs typeface="SimSun"/>
              </a:rPr>
              <a:t>数据集上分别将多模</a:t>
            </a:r>
            <a:r>
              <a:rPr dirty="0" sz="1000" spc="-50">
                <a:latin typeface="SimSun"/>
                <a:cs typeface="SimSun"/>
              </a:rPr>
              <a:t>态性能提高了 </a:t>
            </a:r>
            <a:r>
              <a:rPr dirty="0" sz="1000" spc="-40">
                <a:latin typeface="Times New Roman"/>
                <a:cs typeface="Times New Roman"/>
              </a:rPr>
              <a:t>3.15%</a:t>
            </a:r>
            <a:r>
              <a:rPr dirty="0" sz="1000" spc="-15">
                <a:latin typeface="SimSun"/>
                <a:cs typeface="SimSun"/>
              </a:rPr>
              <a:t>、</a:t>
            </a:r>
            <a:r>
              <a:rPr dirty="0" sz="1000" spc="-40">
                <a:latin typeface="Times New Roman"/>
                <a:cs typeface="Times New Roman"/>
              </a:rPr>
              <a:t>3.66%</a:t>
            </a:r>
            <a:r>
              <a:rPr dirty="0" sz="1000" spc="-20">
                <a:latin typeface="Times New Roman"/>
                <a:cs typeface="Times New Roman"/>
              </a:rPr>
              <a:t> </a:t>
            </a:r>
            <a:r>
              <a:rPr dirty="0" sz="1000" spc="-140">
                <a:latin typeface="SimSun"/>
                <a:cs typeface="SimSun"/>
              </a:rPr>
              <a:t>和 </a:t>
            </a:r>
            <a:r>
              <a:rPr dirty="0" sz="1000" spc="-40">
                <a:latin typeface="Times New Roman"/>
                <a:cs typeface="Times New Roman"/>
              </a:rPr>
              <a:t>1.34%</a:t>
            </a:r>
            <a:r>
              <a:rPr dirty="0" sz="1000" spc="5">
                <a:latin typeface="SimSun"/>
                <a:cs typeface="SimSun"/>
              </a:rPr>
              <a:t>。这些结果证明了所提出的</a:t>
            </a:r>
            <a:r>
              <a:rPr dirty="0" sz="1000" spc="-15">
                <a:latin typeface="Times New Roman"/>
                <a:cs typeface="Times New Roman"/>
              </a:rPr>
              <a:t>DGL</a:t>
            </a:r>
            <a:r>
              <a:rPr dirty="0" sz="1000" spc="-20">
                <a:latin typeface="Times New Roman"/>
                <a:cs typeface="Times New Roman"/>
              </a:rPr>
              <a:t> </a:t>
            </a:r>
            <a:r>
              <a:rPr dirty="0" sz="1000" spc="-10">
                <a:latin typeface="SimSun"/>
                <a:cs typeface="SimSun"/>
              </a:rPr>
              <a:t>技术的优越性。</a:t>
            </a:r>
            <a:endParaRPr sz="1000">
              <a:latin typeface="SimSun"/>
              <a:cs typeface="SimSun"/>
            </a:endParaRPr>
          </a:p>
          <a:p>
            <a:pPr algn="just" marL="12700" marR="5080" indent="252729">
              <a:lnSpc>
                <a:spcPct val="129500"/>
              </a:lnSpc>
              <a:spcBef>
                <a:spcPts val="1240"/>
              </a:spcBef>
            </a:pPr>
            <a:r>
              <a:rPr dirty="0" sz="1000">
                <a:latin typeface="Times New Roman"/>
                <a:cs typeface="Times New Roman"/>
              </a:rPr>
              <a:t>More</a:t>
            </a:r>
            <a:r>
              <a:rPr dirty="0" sz="1000" spc="65">
                <a:latin typeface="Times New Roman"/>
                <a:cs typeface="Times New Roman"/>
              </a:rPr>
              <a:t> </a:t>
            </a:r>
            <a:r>
              <a:rPr dirty="0" sz="1000">
                <a:latin typeface="Times New Roman"/>
                <a:cs typeface="Times New Roman"/>
              </a:rPr>
              <a:t>importantly,</a:t>
            </a:r>
            <a:r>
              <a:rPr dirty="0" sz="1000" spc="100">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unimodal</a:t>
            </a:r>
            <a:r>
              <a:rPr dirty="0" sz="1000" spc="70">
                <a:latin typeface="Times New Roman"/>
                <a:cs typeface="Times New Roman"/>
              </a:rPr>
              <a:t> </a:t>
            </a:r>
            <a:r>
              <a:rPr dirty="0" sz="1000">
                <a:latin typeface="Times New Roman"/>
                <a:cs typeface="Times New Roman"/>
              </a:rPr>
              <a:t>performance</a:t>
            </a:r>
            <a:r>
              <a:rPr dirty="0" sz="1000" spc="70">
                <a:latin typeface="Times New Roman"/>
                <a:cs typeface="Times New Roman"/>
              </a:rPr>
              <a:t> </a:t>
            </a:r>
            <a:r>
              <a:rPr dirty="0" sz="1000">
                <a:latin typeface="Times New Roman"/>
                <a:cs typeface="Times New Roman"/>
              </a:rPr>
              <a:t>in</a:t>
            </a:r>
            <a:r>
              <a:rPr dirty="0" sz="1000" spc="6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multimodal</a:t>
            </a:r>
            <a:r>
              <a:rPr dirty="0" sz="1000" spc="70">
                <a:latin typeface="Times New Roman"/>
                <a:cs typeface="Times New Roman"/>
              </a:rPr>
              <a:t> </a:t>
            </a:r>
            <a:r>
              <a:rPr dirty="0" sz="1000">
                <a:latin typeface="Times New Roman"/>
                <a:cs typeface="Times New Roman"/>
              </a:rPr>
              <a:t>model</a:t>
            </a:r>
            <a:r>
              <a:rPr dirty="0" sz="1000" spc="65">
                <a:latin typeface="Times New Roman"/>
                <a:cs typeface="Times New Roman"/>
              </a:rPr>
              <a:t> </a:t>
            </a:r>
            <a:r>
              <a:rPr dirty="0" sz="1000">
                <a:latin typeface="Times New Roman"/>
                <a:cs typeface="Times New Roman"/>
              </a:rPr>
              <a:t>trained</a:t>
            </a:r>
            <a:r>
              <a:rPr dirty="0" sz="1000" spc="70">
                <a:latin typeface="Times New Roman"/>
                <a:cs typeface="Times New Roman"/>
              </a:rPr>
              <a:t> </a:t>
            </a:r>
            <a:r>
              <a:rPr dirty="0" sz="1000">
                <a:latin typeface="Times New Roman"/>
                <a:cs typeface="Times New Roman"/>
              </a:rPr>
              <a:t>with</a:t>
            </a:r>
            <a:r>
              <a:rPr dirty="0" sz="1000" spc="6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spc="-40">
                <a:latin typeface="Times New Roman"/>
                <a:cs typeface="Times New Roman"/>
              </a:rPr>
              <a:t>DGL</a:t>
            </a:r>
            <a:r>
              <a:rPr dirty="0" sz="1000" spc="70">
                <a:latin typeface="Times New Roman"/>
                <a:cs typeface="Times New Roman"/>
              </a:rPr>
              <a:t> </a:t>
            </a:r>
            <a:r>
              <a:rPr dirty="0" sz="1000">
                <a:latin typeface="Times New Roman"/>
                <a:cs typeface="Times New Roman"/>
              </a:rPr>
              <a:t>also</a:t>
            </a:r>
            <a:r>
              <a:rPr dirty="0" sz="1000" spc="65">
                <a:latin typeface="Times New Roman"/>
                <a:cs typeface="Times New Roman"/>
              </a:rPr>
              <a:t> </a:t>
            </a:r>
            <a:r>
              <a:rPr dirty="0" sz="1000" spc="-10">
                <a:latin typeface="Times New Roman"/>
                <a:cs typeface="Times New Roman"/>
              </a:rPr>
              <a:t>outper- </a:t>
            </a:r>
            <a:r>
              <a:rPr dirty="0" sz="1000" spc="10">
                <a:latin typeface="Times New Roman"/>
                <a:cs typeface="Times New Roman"/>
              </a:rPr>
              <a:t>forms</a:t>
            </a:r>
            <a:r>
              <a:rPr dirty="0" sz="1000" spc="60">
                <a:latin typeface="Times New Roman"/>
                <a:cs typeface="Times New Roman"/>
              </a:rPr>
              <a:t> </a:t>
            </a:r>
            <a:r>
              <a:rPr dirty="0" sz="1000" spc="10">
                <a:latin typeface="Times New Roman"/>
                <a:cs typeface="Times New Roman"/>
              </a:rPr>
              <a:t>that</a:t>
            </a:r>
            <a:r>
              <a:rPr dirty="0" sz="1000" spc="65">
                <a:latin typeface="Times New Roman"/>
                <a:cs typeface="Times New Roman"/>
              </a:rPr>
              <a:t> </a:t>
            </a:r>
            <a:r>
              <a:rPr dirty="0" sz="1000" spc="10">
                <a:latin typeface="Times New Roman"/>
                <a:cs typeface="Times New Roman"/>
              </a:rPr>
              <a:t>in</a:t>
            </a:r>
            <a:r>
              <a:rPr dirty="0" sz="1000" spc="6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unimodal</a:t>
            </a:r>
            <a:r>
              <a:rPr dirty="0" sz="1000" spc="65">
                <a:latin typeface="Times New Roman"/>
                <a:cs typeface="Times New Roman"/>
              </a:rPr>
              <a:t> </a:t>
            </a:r>
            <a:r>
              <a:rPr dirty="0" sz="1000" spc="10">
                <a:latin typeface="Times New Roman"/>
                <a:cs typeface="Times New Roman"/>
              </a:rPr>
              <a:t>model.</a:t>
            </a:r>
            <a:r>
              <a:rPr dirty="0" sz="1000" spc="180">
                <a:latin typeface="Times New Roman"/>
                <a:cs typeface="Times New Roman"/>
              </a:rPr>
              <a:t> </a:t>
            </a:r>
            <a:r>
              <a:rPr dirty="0" sz="1000" spc="10">
                <a:latin typeface="Times New Roman"/>
                <a:cs typeface="Times New Roman"/>
              </a:rPr>
              <a:t>This</a:t>
            </a:r>
            <a:r>
              <a:rPr dirty="0" sz="1000" spc="65">
                <a:latin typeface="Times New Roman"/>
                <a:cs typeface="Times New Roman"/>
              </a:rPr>
              <a:t> </a:t>
            </a:r>
            <a:r>
              <a:rPr dirty="0" sz="1000">
                <a:latin typeface="Times New Roman"/>
                <a:cs typeface="Times New Roman"/>
              </a:rPr>
              <a:t>verifies</a:t>
            </a:r>
            <a:r>
              <a:rPr dirty="0" sz="1000" spc="6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a:latin typeface="Times New Roman"/>
                <a:cs typeface="Times New Roman"/>
              </a:rPr>
              <a:t>effectiveness</a:t>
            </a:r>
            <a:r>
              <a:rPr dirty="0" sz="1000" spc="65">
                <a:latin typeface="Times New Roman"/>
                <a:cs typeface="Times New Roman"/>
              </a:rPr>
              <a:t> </a:t>
            </a:r>
            <a:r>
              <a:rPr dirty="0" sz="1000" spc="10">
                <a:latin typeface="Times New Roman"/>
                <a:cs typeface="Times New Roman"/>
              </a:rPr>
              <a:t>of</a:t>
            </a:r>
            <a:r>
              <a:rPr dirty="0" sz="1000" spc="65">
                <a:latin typeface="Times New Roman"/>
                <a:cs typeface="Times New Roman"/>
              </a:rPr>
              <a:t> </a:t>
            </a:r>
            <a:r>
              <a:rPr dirty="0" sz="1000">
                <a:latin typeface="Times New Roman"/>
                <a:cs typeface="Times New Roman"/>
              </a:rPr>
              <a:t>DGL</a:t>
            </a:r>
            <a:r>
              <a:rPr dirty="0" sz="1000" spc="65">
                <a:latin typeface="Times New Roman"/>
                <a:cs typeface="Times New Roman"/>
              </a:rPr>
              <a:t> </a:t>
            </a:r>
            <a:r>
              <a:rPr dirty="0" sz="1000" spc="10">
                <a:latin typeface="Times New Roman"/>
                <a:cs typeface="Times New Roman"/>
              </a:rPr>
              <a:t>in</a:t>
            </a:r>
            <a:r>
              <a:rPr dirty="0" sz="1000" spc="65">
                <a:latin typeface="Times New Roman"/>
                <a:cs typeface="Times New Roman"/>
              </a:rPr>
              <a:t> </a:t>
            </a:r>
            <a:r>
              <a:rPr dirty="0" sz="1000" spc="10">
                <a:latin typeface="Times New Roman"/>
                <a:cs typeface="Times New Roman"/>
              </a:rPr>
              <a:t>promoting</a:t>
            </a:r>
            <a:r>
              <a:rPr dirty="0" sz="1000" spc="65">
                <a:latin typeface="Times New Roman"/>
                <a:cs typeface="Times New Roman"/>
              </a:rPr>
              <a:t> </a:t>
            </a:r>
            <a:r>
              <a:rPr dirty="0" sz="1000" spc="10">
                <a:latin typeface="Times New Roman"/>
                <a:cs typeface="Times New Roman"/>
              </a:rPr>
              <a:t>unimodal</a:t>
            </a:r>
            <a:r>
              <a:rPr dirty="0" sz="1000" spc="65">
                <a:latin typeface="Times New Roman"/>
                <a:cs typeface="Times New Roman"/>
              </a:rPr>
              <a:t> </a:t>
            </a:r>
            <a:r>
              <a:rPr dirty="0" sz="1000" spc="10">
                <a:latin typeface="Times New Roman"/>
                <a:cs typeface="Times New Roman"/>
              </a:rPr>
              <a:t>learning</a:t>
            </a:r>
            <a:r>
              <a:rPr dirty="0" sz="1000" spc="65">
                <a:latin typeface="Times New Roman"/>
                <a:cs typeface="Times New Roman"/>
              </a:rPr>
              <a:t> </a:t>
            </a:r>
            <a:r>
              <a:rPr dirty="0" sz="1000" spc="-25">
                <a:latin typeface="Times New Roman"/>
                <a:cs typeface="Times New Roman"/>
              </a:rPr>
              <a:t>in</a:t>
            </a:r>
            <a:endParaRPr sz="1000">
              <a:latin typeface="Times New Roman"/>
              <a:cs typeface="Times New Roman"/>
            </a:endParaRPr>
          </a:p>
        </p:txBody>
      </p:sp>
      <p:sp>
        <p:nvSpPr>
          <p:cNvPr id="15" name="object 15"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2960826"/>
            <a:ext cx="5760085" cy="1715770"/>
            <a:chOff x="899998" y="2960826"/>
            <a:chExt cx="5760085" cy="1715770"/>
          </a:xfrm>
        </p:grpSpPr>
        <p:sp>
          <p:nvSpPr>
            <p:cNvPr id="3" name="object 3" descr=""/>
            <p:cNvSpPr/>
            <p:nvPr/>
          </p:nvSpPr>
          <p:spPr>
            <a:xfrm>
              <a:off x="899998" y="2960826"/>
              <a:ext cx="5760085" cy="1715770"/>
            </a:xfrm>
            <a:custGeom>
              <a:avLst/>
              <a:gdLst/>
              <a:ahLst/>
              <a:cxnLst/>
              <a:rect l="l" t="t" r="r" b="b"/>
              <a:pathLst>
                <a:path w="5760084" h="1715770">
                  <a:moveTo>
                    <a:pt x="5724074" y="0"/>
                  </a:moveTo>
                  <a:lnTo>
                    <a:pt x="36000" y="0"/>
                  </a:lnTo>
                  <a:lnTo>
                    <a:pt x="21987" y="2829"/>
                  </a:lnTo>
                  <a:lnTo>
                    <a:pt x="10544" y="10544"/>
                  </a:lnTo>
                  <a:lnTo>
                    <a:pt x="2829" y="21987"/>
                  </a:lnTo>
                  <a:lnTo>
                    <a:pt x="0" y="36000"/>
                  </a:lnTo>
                  <a:lnTo>
                    <a:pt x="0" y="1679478"/>
                  </a:lnTo>
                  <a:lnTo>
                    <a:pt x="2829" y="1693491"/>
                  </a:lnTo>
                  <a:lnTo>
                    <a:pt x="10544" y="1704934"/>
                  </a:lnTo>
                  <a:lnTo>
                    <a:pt x="21987" y="1712649"/>
                  </a:lnTo>
                  <a:lnTo>
                    <a:pt x="36000" y="1715478"/>
                  </a:lnTo>
                  <a:lnTo>
                    <a:pt x="5724074" y="1715478"/>
                  </a:lnTo>
                  <a:lnTo>
                    <a:pt x="5738087" y="1712649"/>
                  </a:lnTo>
                  <a:lnTo>
                    <a:pt x="5749530" y="1704934"/>
                  </a:lnTo>
                  <a:lnTo>
                    <a:pt x="5757245" y="1693491"/>
                  </a:lnTo>
                  <a:lnTo>
                    <a:pt x="5760074" y="167947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2960826"/>
              <a:ext cx="5760085" cy="1715770"/>
            </a:xfrm>
            <a:custGeom>
              <a:avLst/>
              <a:gdLst/>
              <a:ahLst/>
              <a:cxnLst/>
              <a:rect l="l" t="t" r="r" b="b"/>
              <a:pathLst>
                <a:path w="5760084" h="1715770">
                  <a:moveTo>
                    <a:pt x="5724074" y="0"/>
                  </a:moveTo>
                  <a:lnTo>
                    <a:pt x="36000" y="0"/>
                  </a:lnTo>
                  <a:lnTo>
                    <a:pt x="21987" y="2829"/>
                  </a:lnTo>
                  <a:lnTo>
                    <a:pt x="10544" y="10544"/>
                  </a:lnTo>
                  <a:lnTo>
                    <a:pt x="2829" y="21987"/>
                  </a:lnTo>
                  <a:lnTo>
                    <a:pt x="0" y="36000"/>
                  </a:lnTo>
                  <a:lnTo>
                    <a:pt x="0" y="1679478"/>
                  </a:lnTo>
                  <a:lnTo>
                    <a:pt x="2829" y="1693491"/>
                  </a:lnTo>
                  <a:lnTo>
                    <a:pt x="10544" y="1704934"/>
                  </a:lnTo>
                  <a:lnTo>
                    <a:pt x="21987" y="1712649"/>
                  </a:lnTo>
                  <a:lnTo>
                    <a:pt x="36000" y="1715478"/>
                  </a:lnTo>
                  <a:lnTo>
                    <a:pt x="5724074" y="1715478"/>
                  </a:lnTo>
                  <a:lnTo>
                    <a:pt x="5738087" y="1712649"/>
                  </a:lnTo>
                  <a:lnTo>
                    <a:pt x="5749530" y="1704934"/>
                  </a:lnTo>
                  <a:lnTo>
                    <a:pt x="5757245" y="1693491"/>
                  </a:lnTo>
                  <a:lnTo>
                    <a:pt x="5760074" y="167947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 name="object 5" descr=""/>
          <p:cNvSpPr txBox="1"/>
          <p:nvPr/>
        </p:nvSpPr>
        <p:spPr>
          <a:xfrm>
            <a:off x="887298" y="841750"/>
            <a:ext cx="5785485" cy="3754754"/>
          </a:xfrm>
          <a:prstGeom prst="rect">
            <a:avLst/>
          </a:prstGeom>
        </p:spPr>
        <p:txBody>
          <a:bodyPr wrap="square" lIns="0" tIns="12700" rIns="0" bIns="0" rtlCol="0" vert="horz">
            <a:spAutoFit/>
          </a:bodyPr>
          <a:lstStyle/>
          <a:p>
            <a:pPr algn="just" marL="12700" marR="5080">
              <a:lnSpc>
                <a:spcPct val="129500"/>
              </a:lnSpc>
              <a:spcBef>
                <a:spcPts val="100"/>
              </a:spcBef>
            </a:pPr>
            <a:r>
              <a:rPr dirty="0" sz="1000" spc="10">
                <a:latin typeface="Times New Roman"/>
                <a:cs typeface="Times New Roman"/>
              </a:rPr>
              <a:t>multimodal</a:t>
            </a:r>
            <a:r>
              <a:rPr dirty="0" sz="1000" spc="65">
                <a:latin typeface="Times New Roman"/>
                <a:cs typeface="Times New Roman"/>
              </a:rPr>
              <a:t> </a:t>
            </a:r>
            <a:r>
              <a:rPr dirty="0" sz="1000" spc="10">
                <a:latin typeface="Times New Roman"/>
                <a:cs typeface="Times New Roman"/>
              </a:rPr>
              <a:t>learning.</a:t>
            </a:r>
            <a:r>
              <a:rPr dirty="0" sz="1000" spc="175">
                <a:latin typeface="Times New Roman"/>
                <a:cs typeface="Times New Roman"/>
              </a:rPr>
              <a:t> </a:t>
            </a:r>
            <a:r>
              <a:rPr dirty="0" sz="1000" spc="10">
                <a:latin typeface="Times New Roman"/>
                <a:cs typeface="Times New Roman"/>
              </a:rPr>
              <a:t>As</a:t>
            </a:r>
            <a:r>
              <a:rPr dirty="0" sz="1000" spc="65">
                <a:latin typeface="Times New Roman"/>
                <a:cs typeface="Times New Roman"/>
              </a:rPr>
              <a:t> </a:t>
            </a:r>
            <a:r>
              <a:rPr dirty="0" sz="1000" spc="10">
                <a:latin typeface="Times New Roman"/>
                <a:cs typeface="Times New Roman"/>
              </a:rPr>
              <a:t>a</a:t>
            </a:r>
            <a:r>
              <a:rPr dirty="0" sz="1000" spc="70">
                <a:latin typeface="Times New Roman"/>
                <a:cs typeface="Times New Roman"/>
              </a:rPr>
              <a:t> </a:t>
            </a:r>
            <a:r>
              <a:rPr dirty="0" sz="1000" spc="10">
                <a:latin typeface="Times New Roman"/>
                <a:cs typeface="Times New Roman"/>
              </a:rPr>
              <a:t>comparison,</a:t>
            </a:r>
            <a:r>
              <a:rPr dirty="0" sz="1000" spc="65">
                <a:latin typeface="Times New Roman"/>
                <a:cs typeface="Times New Roman"/>
              </a:rPr>
              <a:t> </a:t>
            </a:r>
            <a:r>
              <a:rPr dirty="0" sz="1000" spc="10">
                <a:latin typeface="Times New Roman"/>
                <a:cs typeface="Times New Roman"/>
              </a:rPr>
              <a:t>while</a:t>
            </a:r>
            <a:r>
              <a:rPr dirty="0" sz="1000" spc="65">
                <a:latin typeface="Times New Roman"/>
                <a:cs typeface="Times New Roman"/>
              </a:rPr>
              <a:t> </a:t>
            </a:r>
            <a:r>
              <a:rPr dirty="0" sz="1000" spc="10">
                <a:latin typeface="Times New Roman"/>
                <a:cs typeface="Times New Roman"/>
              </a:rPr>
              <a:t>existing</a:t>
            </a:r>
            <a:r>
              <a:rPr dirty="0" sz="1000" spc="65">
                <a:latin typeface="Times New Roman"/>
                <a:cs typeface="Times New Roman"/>
              </a:rPr>
              <a:t> </a:t>
            </a:r>
            <a:r>
              <a:rPr dirty="0" sz="1000" spc="10">
                <a:latin typeface="Times New Roman"/>
                <a:cs typeface="Times New Roman"/>
              </a:rPr>
              <a:t>gradient</a:t>
            </a:r>
            <a:r>
              <a:rPr dirty="0" sz="1000" spc="65">
                <a:latin typeface="Times New Roman"/>
                <a:cs typeface="Times New Roman"/>
              </a:rPr>
              <a:t> </a:t>
            </a:r>
            <a:r>
              <a:rPr dirty="0" sz="1000" spc="10">
                <a:latin typeface="Times New Roman"/>
                <a:cs typeface="Times New Roman"/>
              </a:rPr>
              <a:t>modulation</a:t>
            </a:r>
            <a:r>
              <a:rPr dirty="0" sz="1000" spc="65">
                <a:latin typeface="Times New Roman"/>
                <a:cs typeface="Times New Roman"/>
              </a:rPr>
              <a:t> </a:t>
            </a:r>
            <a:r>
              <a:rPr dirty="0" sz="1000" spc="10">
                <a:latin typeface="Times New Roman"/>
                <a:cs typeface="Times New Roman"/>
              </a:rPr>
              <a:t>methods,</a:t>
            </a:r>
            <a:r>
              <a:rPr dirty="0" sz="1000" spc="65">
                <a:latin typeface="Times New Roman"/>
                <a:cs typeface="Times New Roman"/>
              </a:rPr>
              <a:t> </a:t>
            </a:r>
            <a:r>
              <a:rPr dirty="0" sz="1000" spc="10">
                <a:latin typeface="Times New Roman"/>
                <a:cs typeface="Times New Roman"/>
              </a:rPr>
              <a:t>such</a:t>
            </a:r>
            <a:r>
              <a:rPr dirty="0" sz="1000" spc="65">
                <a:latin typeface="Times New Roman"/>
                <a:cs typeface="Times New Roman"/>
              </a:rPr>
              <a:t> </a:t>
            </a:r>
            <a:r>
              <a:rPr dirty="0" sz="1000" spc="10">
                <a:latin typeface="Times New Roman"/>
                <a:cs typeface="Times New Roman"/>
              </a:rPr>
              <a:t>as</a:t>
            </a:r>
            <a:r>
              <a:rPr dirty="0" sz="1000" spc="65">
                <a:latin typeface="Times New Roman"/>
                <a:cs typeface="Times New Roman"/>
              </a:rPr>
              <a:t> </a:t>
            </a:r>
            <a:r>
              <a:rPr dirty="0" sz="1000">
                <a:latin typeface="Times New Roman"/>
                <a:cs typeface="Times New Roman"/>
              </a:rPr>
              <a:t>OGM_GE,</a:t>
            </a:r>
            <a:r>
              <a:rPr dirty="0" sz="1000" spc="65">
                <a:latin typeface="Times New Roman"/>
                <a:cs typeface="Times New Roman"/>
              </a:rPr>
              <a:t> </a:t>
            </a:r>
            <a:r>
              <a:rPr dirty="0" sz="1000" spc="-25">
                <a:latin typeface="Times New Roman"/>
                <a:cs typeface="Times New Roman"/>
              </a:rPr>
              <a:t>can </a:t>
            </a:r>
            <a:r>
              <a:rPr dirty="0" sz="1000">
                <a:latin typeface="Times New Roman"/>
                <a:cs typeface="Times New Roman"/>
              </a:rPr>
              <a:t>boost</a:t>
            </a:r>
            <a:r>
              <a:rPr dirty="0" sz="1000" spc="90">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weaker</a:t>
            </a:r>
            <a:r>
              <a:rPr dirty="0" sz="1000" spc="85">
                <a:latin typeface="Times New Roman"/>
                <a:cs typeface="Times New Roman"/>
              </a:rPr>
              <a:t> </a:t>
            </a:r>
            <a:r>
              <a:rPr dirty="0" sz="1000">
                <a:latin typeface="Times New Roman"/>
                <a:cs typeface="Times New Roman"/>
              </a:rPr>
              <a:t>visual</a:t>
            </a:r>
            <a:r>
              <a:rPr dirty="0" sz="1000" spc="95">
                <a:latin typeface="Times New Roman"/>
                <a:cs typeface="Times New Roman"/>
              </a:rPr>
              <a:t> </a:t>
            </a:r>
            <a:r>
              <a:rPr dirty="0" sz="1000">
                <a:latin typeface="Times New Roman"/>
                <a:cs typeface="Times New Roman"/>
              </a:rPr>
              <a:t>modality’s</a:t>
            </a:r>
            <a:r>
              <a:rPr dirty="0" sz="1000" spc="95">
                <a:latin typeface="Times New Roman"/>
                <a:cs typeface="Times New Roman"/>
              </a:rPr>
              <a:t> </a:t>
            </a:r>
            <a:r>
              <a:rPr dirty="0" sz="1000">
                <a:latin typeface="Times New Roman"/>
                <a:cs typeface="Times New Roman"/>
              </a:rPr>
              <a:t>performance</a:t>
            </a:r>
            <a:r>
              <a:rPr dirty="0" sz="1000" spc="90">
                <a:latin typeface="Times New Roman"/>
                <a:cs typeface="Times New Roman"/>
              </a:rPr>
              <a:t> </a:t>
            </a:r>
            <a:r>
              <a:rPr dirty="0" sz="1000">
                <a:latin typeface="Times New Roman"/>
                <a:cs typeface="Times New Roman"/>
              </a:rPr>
              <a:t>in</a:t>
            </a:r>
            <a:r>
              <a:rPr dirty="0" sz="1000" spc="95">
                <a:latin typeface="Times New Roman"/>
                <a:cs typeface="Times New Roman"/>
              </a:rPr>
              <a:t> </a:t>
            </a:r>
            <a:r>
              <a:rPr dirty="0" sz="1000" spc="-10">
                <a:latin typeface="Times New Roman"/>
                <a:cs typeface="Times New Roman"/>
              </a:rPr>
              <a:t>CREMA-</a:t>
            </a:r>
            <a:r>
              <a:rPr dirty="0" sz="1000">
                <a:latin typeface="Times New Roman"/>
                <a:cs typeface="Times New Roman"/>
              </a:rPr>
              <a:t>D</a:t>
            </a:r>
            <a:r>
              <a:rPr dirty="0" sz="1000" spc="95">
                <a:latin typeface="Times New Roman"/>
                <a:cs typeface="Times New Roman"/>
              </a:rPr>
              <a:t> </a:t>
            </a:r>
            <a:r>
              <a:rPr dirty="0" sz="1000">
                <a:latin typeface="Times New Roman"/>
                <a:cs typeface="Times New Roman"/>
              </a:rPr>
              <a:t>above</a:t>
            </a:r>
            <a:r>
              <a:rPr dirty="0" sz="1000" spc="85">
                <a:latin typeface="Times New Roman"/>
                <a:cs typeface="Times New Roman"/>
              </a:rPr>
              <a:t> </a:t>
            </a:r>
            <a:r>
              <a:rPr dirty="0" sz="1000" spc="-30">
                <a:latin typeface="Times New Roman"/>
                <a:cs typeface="Times New Roman"/>
              </a:rPr>
              <a:t>36.71%</a:t>
            </a:r>
            <a:r>
              <a:rPr dirty="0" sz="1000" spc="95">
                <a:latin typeface="Times New Roman"/>
                <a:cs typeface="Times New Roman"/>
              </a:rPr>
              <a:t> </a:t>
            </a:r>
            <a:r>
              <a:rPr dirty="0" sz="1000">
                <a:latin typeface="Times New Roman"/>
                <a:cs typeface="Times New Roman"/>
              </a:rPr>
              <a:t>compared</a:t>
            </a:r>
            <a:r>
              <a:rPr dirty="0" sz="1000" spc="95">
                <a:latin typeface="Times New Roman"/>
                <a:cs typeface="Times New Roman"/>
              </a:rPr>
              <a:t> </a:t>
            </a:r>
            <a:r>
              <a:rPr dirty="0" sz="1000">
                <a:latin typeface="Times New Roman"/>
                <a:cs typeface="Times New Roman"/>
              </a:rPr>
              <a:t>to</a:t>
            </a:r>
            <a:r>
              <a:rPr dirty="0" sz="1000" spc="85">
                <a:latin typeface="Times New Roman"/>
                <a:cs typeface="Times New Roman"/>
              </a:rPr>
              <a:t> </a:t>
            </a:r>
            <a:r>
              <a:rPr dirty="0" sz="1000">
                <a:latin typeface="Times New Roman"/>
                <a:cs typeface="Times New Roman"/>
              </a:rPr>
              <a:t>vanilla</a:t>
            </a:r>
            <a:r>
              <a:rPr dirty="0" sz="1000" spc="95">
                <a:latin typeface="Times New Roman"/>
                <a:cs typeface="Times New Roman"/>
              </a:rPr>
              <a:t> </a:t>
            </a:r>
            <a:r>
              <a:rPr dirty="0" sz="1000" spc="-10">
                <a:latin typeface="Times New Roman"/>
                <a:cs typeface="Times New Roman"/>
              </a:rPr>
              <a:t>concatena- </a:t>
            </a:r>
            <a:r>
              <a:rPr dirty="0" sz="1000">
                <a:latin typeface="Times New Roman"/>
                <a:cs typeface="Times New Roman"/>
              </a:rPr>
              <a:t>tion</a:t>
            </a:r>
            <a:r>
              <a:rPr dirty="0" sz="1000" spc="50">
                <a:latin typeface="Times New Roman"/>
                <a:cs typeface="Times New Roman"/>
              </a:rPr>
              <a:t> </a:t>
            </a:r>
            <a:r>
              <a:rPr dirty="0" sz="1000">
                <a:latin typeface="Times New Roman"/>
                <a:cs typeface="Times New Roman"/>
              </a:rPr>
              <a:t>fusion,</a:t>
            </a:r>
            <a:r>
              <a:rPr dirty="0" sz="1000" spc="65">
                <a:latin typeface="Times New Roman"/>
                <a:cs typeface="Times New Roman"/>
              </a:rPr>
              <a:t> </a:t>
            </a:r>
            <a:r>
              <a:rPr dirty="0" sz="1000">
                <a:latin typeface="Times New Roman"/>
                <a:cs typeface="Times New Roman"/>
              </a:rPr>
              <a:t>they</a:t>
            </a:r>
            <a:r>
              <a:rPr dirty="0" sz="1000" spc="50">
                <a:latin typeface="Times New Roman"/>
                <a:cs typeface="Times New Roman"/>
              </a:rPr>
              <a:t> </a:t>
            </a:r>
            <a:r>
              <a:rPr dirty="0" sz="1000">
                <a:latin typeface="Times New Roman"/>
                <a:cs typeface="Times New Roman"/>
              </a:rPr>
              <a:t>also</a:t>
            </a:r>
            <a:r>
              <a:rPr dirty="0" sz="1000" spc="55">
                <a:latin typeface="Times New Roman"/>
                <a:cs typeface="Times New Roman"/>
              </a:rPr>
              <a:t> </a:t>
            </a:r>
            <a:r>
              <a:rPr dirty="0" sz="1000">
                <a:latin typeface="Times New Roman"/>
                <a:cs typeface="Times New Roman"/>
              </a:rPr>
              <a:t>reduce</a:t>
            </a:r>
            <a:r>
              <a:rPr dirty="0" sz="1000" spc="50">
                <a:latin typeface="Times New Roman"/>
                <a:cs typeface="Times New Roman"/>
              </a:rPr>
              <a:t> </a:t>
            </a:r>
            <a:r>
              <a:rPr dirty="0" sz="1000">
                <a:latin typeface="Times New Roman"/>
                <a:cs typeface="Times New Roman"/>
              </a:rPr>
              <a:t>the</a:t>
            </a:r>
            <a:r>
              <a:rPr dirty="0" sz="1000" spc="50">
                <a:latin typeface="Times New Roman"/>
                <a:cs typeface="Times New Roman"/>
              </a:rPr>
              <a:t> </a:t>
            </a:r>
            <a:r>
              <a:rPr dirty="0" sz="1000">
                <a:latin typeface="Times New Roman"/>
                <a:cs typeface="Times New Roman"/>
              </a:rPr>
              <a:t>dominant</a:t>
            </a:r>
            <a:r>
              <a:rPr dirty="0" sz="1000" spc="50">
                <a:latin typeface="Times New Roman"/>
                <a:cs typeface="Times New Roman"/>
              </a:rPr>
              <a:t> </a:t>
            </a:r>
            <a:r>
              <a:rPr dirty="0" sz="1000">
                <a:latin typeface="Times New Roman"/>
                <a:cs typeface="Times New Roman"/>
              </a:rPr>
              <a:t>audio</a:t>
            </a:r>
            <a:r>
              <a:rPr dirty="0" sz="1000" spc="50">
                <a:latin typeface="Times New Roman"/>
                <a:cs typeface="Times New Roman"/>
              </a:rPr>
              <a:t> </a:t>
            </a:r>
            <a:r>
              <a:rPr dirty="0" sz="1000">
                <a:latin typeface="Times New Roman"/>
                <a:cs typeface="Times New Roman"/>
              </a:rPr>
              <a:t>modality’s</a:t>
            </a:r>
            <a:r>
              <a:rPr dirty="0" sz="1000" spc="50">
                <a:latin typeface="Times New Roman"/>
                <a:cs typeface="Times New Roman"/>
              </a:rPr>
              <a:t> </a:t>
            </a:r>
            <a:r>
              <a:rPr dirty="0" sz="1000">
                <a:latin typeface="Times New Roman"/>
                <a:cs typeface="Times New Roman"/>
              </a:rPr>
              <a:t>performance</a:t>
            </a:r>
            <a:r>
              <a:rPr dirty="0" sz="1000" spc="55">
                <a:latin typeface="Times New Roman"/>
                <a:cs typeface="Times New Roman"/>
              </a:rPr>
              <a:t> </a:t>
            </a:r>
            <a:r>
              <a:rPr dirty="0" sz="1000">
                <a:latin typeface="Times New Roman"/>
                <a:cs typeface="Times New Roman"/>
              </a:rPr>
              <a:t>below</a:t>
            </a:r>
            <a:r>
              <a:rPr dirty="0" sz="1000" spc="50">
                <a:latin typeface="Times New Roman"/>
                <a:cs typeface="Times New Roman"/>
              </a:rPr>
              <a:t> </a:t>
            </a:r>
            <a:r>
              <a:rPr dirty="0" sz="1000" spc="-20">
                <a:latin typeface="Times New Roman"/>
                <a:cs typeface="Times New Roman"/>
              </a:rPr>
              <a:t>59.62%.</a:t>
            </a:r>
            <a:r>
              <a:rPr dirty="0" sz="1000" spc="229">
                <a:latin typeface="Times New Roman"/>
                <a:cs typeface="Times New Roman"/>
              </a:rPr>
              <a:t> </a:t>
            </a:r>
            <a:r>
              <a:rPr dirty="0" sz="1000">
                <a:latin typeface="Times New Roman"/>
                <a:cs typeface="Times New Roman"/>
              </a:rPr>
              <a:t>Then,</a:t>
            </a:r>
            <a:r>
              <a:rPr dirty="0" sz="1000" spc="65">
                <a:latin typeface="Times New Roman"/>
                <a:cs typeface="Times New Roman"/>
              </a:rPr>
              <a:t> </a:t>
            </a:r>
            <a:r>
              <a:rPr dirty="0" sz="1000">
                <a:latin typeface="Times New Roman"/>
                <a:cs typeface="Times New Roman"/>
              </a:rPr>
              <a:t>the</a:t>
            </a:r>
            <a:r>
              <a:rPr dirty="0" sz="1000" spc="50">
                <a:latin typeface="Times New Roman"/>
                <a:cs typeface="Times New Roman"/>
              </a:rPr>
              <a:t> </a:t>
            </a:r>
            <a:r>
              <a:rPr dirty="0" sz="1000" spc="-10">
                <a:latin typeface="Times New Roman"/>
                <a:cs typeface="Times New Roman"/>
              </a:rPr>
              <a:t>alternating </a:t>
            </a:r>
            <a:r>
              <a:rPr dirty="0" sz="1000">
                <a:latin typeface="Times New Roman"/>
                <a:cs typeface="Times New Roman"/>
              </a:rPr>
              <a:t>optimization</a:t>
            </a:r>
            <a:r>
              <a:rPr dirty="0" sz="1000" spc="125">
                <a:latin typeface="Times New Roman"/>
                <a:cs typeface="Times New Roman"/>
              </a:rPr>
              <a:t> </a:t>
            </a:r>
            <a:r>
              <a:rPr dirty="0" sz="1000">
                <a:latin typeface="Times New Roman"/>
                <a:cs typeface="Times New Roman"/>
              </a:rPr>
              <a:t>methods</a:t>
            </a:r>
            <a:r>
              <a:rPr dirty="0" sz="1000" spc="125">
                <a:latin typeface="Times New Roman"/>
                <a:cs typeface="Times New Roman"/>
              </a:rPr>
              <a:t> </a:t>
            </a:r>
            <a:r>
              <a:rPr dirty="0" sz="1000">
                <a:latin typeface="Times New Roman"/>
                <a:cs typeface="Times New Roman"/>
              </a:rPr>
              <a:t>introduce</a:t>
            </a:r>
            <a:r>
              <a:rPr dirty="0" sz="1000" spc="114">
                <a:latin typeface="Times New Roman"/>
                <a:cs typeface="Times New Roman"/>
              </a:rPr>
              <a:t> </a:t>
            </a:r>
            <a:r>
              <a:rPr dirty="0" sz="1000">
                <a:latin typeface="Times New Roman"/>
                <a:cs typeface="Times New Roman"/>
              </a:rPr>
              <a:t>unimodal</a:t>
            </a:r>
            <a:r>
              <a:rPr dirty="0" sz="1000" spc="130">
                <a:latin typeface="Times New Roman"/>
                <a:cs typeface="Times New Roman"/>
              </a:rPr>
              <a:t> </a:t>
            </a:r>
            <a:r>
              <a:rPr dirty="0" sz="1000">
                <a:latin typeface="Times New Roman"/>
                <a:cs typeface="Times New Roman"/>
              </a:rPr>
              <a:t>assistance</a:t>
            </a:r>
            <a:r>
              <a:rPr dirty="0" sz="1000" spc="125">
                <a:latin typeface="Times New Roman"/>
                <a:cs typeface="Times New Roman"/>
              </a:rPr>
              <a:t> </a:t>
            </a:r>
            <a:r>
              <a:rPr dirty="0" sz="1000">
                <a:latin typeface="Times New Roman"/>
                <a:cs typeface="Times New Roman"/>
              </a:rPr>
              <a:t>to</a:t>
            </a:r>
            <a:r>
              <a:rPr dirty="0" sz="1000" spc="125">
                <a:latin typeface="Times New Roman"/>
                <a:cs typeface="Times New Roman"/>
              </a:rPr>
              <a:t> </a:t>
            </a:r>
            <a:r>
              <a:rPr dirty="0" sz="1000">
                <a:latin typeface="Times New Roman"/>
                <a:cs typeface="Times New Roman"/>
              </a:rPr>
              <a:t>improve</a:t>
            </a:r>
            <a:r>
              <a:rPr dirty="0" sz="1000" spc="120">
                <a:latin typeface="Times New Roman"/>
                <a:cs typeface="Times New Roman"/>
              </a:rPr>
              <a:t> </a:t>
            </a:r>
            <a:r>
              <a:rPr dirty="0" sz="1000">
                <a:latin typeface="Times New Roman"/>
                <a:cs typeface="Times New Roman"/>
              </a:rPr>
              <a:t>the</a:t>
            </a:r>
            <a:r>
              <a:rPr dirty="0" sz="1000" spc="125">
                <a:latin typeface="Times New Roman"/>
                <a:cs typeface="Times New Roman"/>
              </a:rPr>
              <a:t> </a:t>
            </a:r>
            <a:r>
              <a:rPr dirty="0" sz="1000">
                <a:latin typeface="Times New Roman"/>
                <a:cs typeface="Times New Roman"/>
              </a:rPr>
              <a:t>performance</a:t>
            </a:r>
            <a:r>
              <a:rPr dirty="0" sz="1000" spc="125">
                <a:latin typeface="Times New Roman"/>
                <a:cs typeface="Times New Roman"/>
              </a:rPr>
              <a:t> </a:t>
            </a:r>
            <a:r>
              <a:rPr dirty="0" sz="1000" spc="-10">
                <a:latin typeface="Times New Roman"/>
                <a:cs typeface="Times New Roman"/>
              </a:rPr>
              <a:t>of</a:t>
            </a:r>
            <a:r>
              <a:rPr dirty="0" sz="1000" spc="125">
                <a:latin typeface="Times New Roman"/>
                <a:cs typeface="Times New Roman"/>
              </a:rPr>
              <a:t> </a:t>
            </a:r>
            <a:r>
              <a:rPr dirty="0" sz="1000">
                <a:latin typeface="Times New Roman"/>
                <a:cs typeface="Times New Roman"/>
              </a:rPr>
              <a:t>audio</a:t>
            </a:r>
            <a:r>
              <a:rPr dirty="0" sz="1000" spc="125">
                <a:latin typeface="Times New Roman"/>
                <a:cs typeface="Times New Roman"/>
              </a:rPr>
              <a:t> </a:t>
            </a:r>
            <a:r>
              <a:rPr dirty="0" sz="1000">
                <a:latin typeface="Times New Roman"/>
                <a:cs typeface="Times New Roman"/>
              </a:rPr>
              <a:t>and</a:t>
            </a:r>
            <a:r>
              <a:rPr dirty="0" sz="1000" spc="130">
                <a:latin typeface="Times New Roman"/>
                <a:cs typeface="Times New Roman"/>
              </a:rPr>
              <a:t> </a:t>
            </a:r>
            <a:r>
              <a:rPr dirty="0" sz="1000">
                <a:latin typeface="Times New Roman"/>
                <a:cs typeface="Times New Roman"/>
              </a:rPr>
              <a:t>visual</a:t>
            </a:r>
            <a:r>
              <a:rPr dirty="0" sz="1000" spc="125">
                <a:latin typeface="Times New Roman"/>
                <a:cs typeface="Times New Roman"/>
              </a:rPr>
              <a:t> </a:t>
            </a:r>
            <a:r>
              <a:rPr dirty="0" sz="1000" spc="-10">
                <a:latin typeface="Times New Roman"/>
                <a:cs typeface="Times New Roman"/>
              </a:rPr>
              <a:t>modal- </a:t>
            </a:r>
            <a:r>
              <a:rPr dirty="0" sz="1000" spc="10">
                <a:latin typeface="Times New Roman"/>
                <a:cs typeface="Times New Roman"/>
              </a:rPr>
              <a:t>ities</a:t>
            </a:r>
            <a:r>
              <a:rPr dirty="0" sz="1000" spc="120">
                <a:latin typeface="Times New Roman"/>
                <a:cs typeface="Times New Roman"/>
              </a:rPr>
              <a:t> </a:t>
            </a:r>
            <a:r>
              <a:rPr dirty="0" sz="1000" spc="10">
                <a:latin typeface="Times New Roman"/>
                <a:cs typeface="Times New Roman"/>
              </a:rPr>
              <a:t>in</a:t>
            </a:r>
            <a:r>
              <a:rPr dirty="0" sz="1000" spc="120">
                <a:latin typeface="Times New Roman"/>
                <a:cs typeface="Times New Roman"/>
              </a:rPr>
              <a:t> </a:t>
            </a:r>
            <a:r>
              <a:rPr dirty="0" sz="1000" spc="10">
                <a:latin typeface="Times New Roman"/>
                <a:cs typeface="Times New Roman"/>
              </a:rPr>
              <a:t>the</a:t>
            </a:r>
            <a:r>
              <a:rPr dirty="0" sz="1000" spc="120">
                <a:latin typeface="Times New Roman"/>
                <a:cs typeface="Times New Roman"/>
              </a:rPr>
              <a:t> </a:t>
            </a:r>
            <a:r>
              <a:rPr dirty="0" sz="1000" spc="10">
                <a:latin typeface="Times New Roman"/>
                <a:cs typeface="Times New Roman"/>
              </a:rPr>
              <a:t>multimodal</a:t>
            </a:r>
            <a:r>
              <a:rPr dirty="0" sz="1000" spc="120">
                <a:latin typeface="Times New Roman"/>
                <a:cs typeface="Times New Roman"/>
              </a:rPr>
              <a:t> </a:t>
            </a:r>
            <a:r>
              <a:rPr dirty="0" sz="1000" spc="10">
                <a:latin typeface="Times New Roman"/>
                <a:cs typeface="Times New Roman"/>
              </a:rPr>
              <a:t>model</a:t>
            </a:r>
            <a:r>
              <a:rPr dirty="0" sz="1000" spc="125">
                <a:latin typeface="Times New Roman"/>
                <a:cs typeface="Times New Roman"/>
              </a:rPr>
              <a:t> </a:t>
            </a:r>
            <a:r>
              <a:rPr dirty="0" sz="1000" spc="10">
                <a:latin typeface="Times New Roman"/>
                <a:cs typeface="Times New Roman"/>
              </a:rPr>
              <a:t>simultaneously.</a:t>
            </a:r>
            <a:r>
              <a:rPr dirty="0" sz="1000" spc="385">
                <a:latin typeface="Times New Roman"/>
                <a:cs typeface="Times New Roman"/>
              </a:rPr>
              <a:t> </a:t>
            </a:r>
            <a:r>
              <a:rPr dirty="0" sz="1000" spc="10">
                <a:latin typeface="Times New Roman"/>
                <a:cs typeface="Times New Roman"/>
              </a:rPr>
              <a:t>However,</a:t>
            </a:r>
            <a:r>
              <a:rPr dirty="0" sz="1000" spc="140">
                <a:latin typeface="Times New Roman"/>
                <a:cs typeface="Times New Roman"/>
              </a:rPr>
              <a:t> </a:t>
            </a:r>
            <a:r>
              <a:rPr dirty="0" sz="1000" spc="10">
                <a:latin typeface="Times New Roman"/>
                <a:cs typeface="Times New Roman"/>
              </a:rPr>
              <a:t>they</a:t>
            </a:r>
            <a:r>
              <a:rPr dirty="0" sz="1000" spc="120">
                <a:latin typeface="Times New Roman"/>
                <a:cs typeface="Times New Roman"/>
              </a:rPr>
              <a:t> </a:t>
            </a:r>
            <a:r>
              <a:rPr dirty="0" sz="1000" spc="10">
                <a:latin typeface="Times New Roman"/>
                <a:cs typeface="Times New Roman"/>
              </a:rPr>
              <a:t>overlook</a:t>
            </a:r>
            <a:r>
              <a:rPr dirty="0" sz="1000" spc="120">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optimization</a:t>
            </a:r>
            <a:r>
              <a:rPr dirty="0" sz="1000" spc="120">
                <a:latin typeface="Times New Roman"/>
                <a:cs typeface="Times New Roman"/>
              </a:rPr>
              <a:t> </a:t>
            </a:r>
            <a:r>
              <a:rPr dirty="0" sz="1000" spc="10">
                <a:latin typeface="Times New Roman"/>
                <a:cs typeface="Times New Roman"/>
              </a:rPr>
              <a:t>conflicts</a:t>
            </a:r>
            <a:r>
              <a:rPr dirty="0" sz="1000" spc="120">
                <a:latin typeface="Times New Roman"/>
                <a:cs typeface="Times New Roman"/>
              </a:rPr>
              <a:t> </a:t>
            </a:r>
            <a:r>
              <a:rPr dirty="0" sz="1000" spc="-10">
                <a:latin typeface="Times New Roman"/>
                <a:cs typeface="Times New Roman"/>
              </a:rPr>
              <a:t>between </a:t>
            </a:r>
            <a:r>
              <a:rPr dirty="0" sz="1000" spc="10">
                <a:latin typeface="Times New Roman"/>
                <a:cs typeface="Times New Roman"/>
              </a:rPr>
              <a:t>the</a:t>
            </a:r>
            <a:r>
              <a:rPr dirty="0" sz="1000" spc="110">
                <a:latin typeface="Times New Roman"/>
                <a:cs typeface="Times New Roman"/>
              </a:rPr>
              <a:t> </a:t>
            </a:r>
            <a:r>
              <a:rPr dirty="0" sz="1000" spc="10">
                <a:latin typeface="Times New Roman"/>
                <a:cs typeface="Times New Roman"/>
              </a:rPr>
              <a:t>fusion</a:t>
            </a:r>
            <a:r>
              <a:rPr dirty="0" sz="1000" spc="114">
                <a:latin typeface="Times New Roman"/>
                <a:cs typeface="Times New Roman"/>
              </a:rPr>
              <a:t> </a:t>
            </a:r>
            <a:r>
              <a:rPr dirty="0" sz="1000" spc="10">
                <a:latin typeface="Times New Roman"/>
                <a:cs typeface="Times New Roman"/>
              </a:rPr>
              <a:t>module</a:t>
            </a:r>
            <a:r>
              <a:rPr dirty="0" sz="1000" spc="114">
                <a:latin typeface="Times New Roman"/>
                <a:cs typeface="Times New Roman"/>
              </a:rPr>
              <a:t> </a:t>
            </a:r>
            <a:r>
              <a:rPr dirty="0" sz="1000" spc="10">
                <a:latin typeface="Times New Roman"/>
                <a:cs typeface="Times New Roman"/>
              </a:rPr>
              <a:t>and</a:t>
            </a:r>
            <a:r>
              <a:rPr dirty="0" sz="1000" spc="114">
                <a:latin typeface="Times New Roman"/>
                <a:cs typeface="Times New Roman"/>
              </a:rPr>
              <a:t> </a:t>
            </a:r>
            <a:r>
              <a:rPr dirty="0" sz="1000" spc="10">
                <a:latin typeface="Times New Roman"/>
                <a:cs typeface="Times New Roman"/>
              </a:rPr>
              <a:t>encoders,</a:t>
            </a:r>
            <a:r>
              <a:rPr dirty="0" sz="1000" spc="125">
                <a:latin typeface="Times New Roman"/>
                <a:cs typeface="Times New Roman"/>
              </a:rPr>
              <a:t> </a:t>
            </a:r>
            <a:r>
              <a:rPr dirty="0" sz="1000" spc="10">
                <a:latin typeface="Times New Roman"/>
                <a:cs typeface="Times New Roman"/>
              </a:rPr>
              <a:t>failing</a:t>
            </a:r>
            <a:r>
              <a:rPr dirty="0" sz="1000" spc="114">
                <a:latin typeface="Times New Roman"/>
                <a:cs typeface="Times New Roman"/>
              </a:rPr>
              <a:t> </a:t>
            </a:r>
            <a:r>
              <a:rPr dirty="0" sz="1000" spc="10">
                <a:latin typeface="Times New Roman"/>
                <a:cs typeface="Times New Roman"/>
              </a:rPr>
              <a:t>to</a:t>
            </a:r>
            <a:r>
              <a:rPr dirty="0" sz="1000" spc="114">
                <a:latin typeface="Times New Roman"/>
                <a:cs typeface="Times New Roman"/>
              </a:rPr>
              <a:t> </a:t>
            </a:r>
            <a:r>
              <a:rPr dirty="0" sz="1000" spc="10">
                <a:latin typeface="Times New Roman"/>
                <a:cs typeface="Times New Roman"/>
              </a:rPr>
              <a:t>improve</a:t>
            </a:r>
            <a:r>
              <a:rPr dirty="0" sz="1000" spc="114">
                <a:latin typeface="Times New Roman"/>
                <a:cs typeface="Times New Roman"/>
              </a:rPr>
              <a:t> </a:t>
            </a:r>
            <a:r>
              <a:rPr dirty="0" sz="1000" spc="10">
                <a:latin typeface="Times New Roman"/>
                <a:cs typeface="Times New Roman"/>
              </a:rPr>
              <a:t>the</a:t>
            </a:r>
            <a:r>
              <a:rPr dirty="0" sz="1000" spc="120">
                <a:latin typeface="Times New Roman"/>
                <a:cs typeface="Times New Roman"/>
              </a:rPr>
              <a:t> </a:t>
            </a:r>
            <a:r>
              <a:rPr dirty="0" sz="1000" spc="10">
                <a:latin typeface="Times New Roman"/>
                <a:cs typeface="Times New Roman"/>
              </a:rPr>
              <a:t>unimodal</a:t>
            </a:r>
            <a:r>
              <a:rPr dirty="0" sz="1000" spc="114">
                <a:latin typeface="Times New Roman"/>
                <a:cs typeface="Times New Roman"/>
              </a:rPr>
              <a:t> </a:t>
            </a:r>
            <a:r>
              <a:rPr dirty="0" sz="1000" spc="10">
                <a:latin typeface="Times New Roman"/>
                <a:cs typeface="Times New Roman"/>
              </a:rPr>
              <a:t>performance</a:t>
            </a:r>
            <a:r>
              <a:rPr dirty="0" sz="1000" spc="110">
                <a:latin typeface="Times New Roman"/>
                <a:cs typeface="Times New Roman"/>
              </a:rPr>
              <a:t> </a:t>
            </a:r>
            <a:r>
              <a:rPr dirty="0" sz="1000" spc="10">
                <a:latin typeface="Times New Roman"/>
                <a:cs typeface="Times New Roman"/>
              </a:rPr>
              <a:t>in</a:t>
            </a:r>
            <a:r>
              <a:rPr dirty="0" sz="1000" spc="114">
                <a:latin typeface="Times New Roman"/>
                <a:cs typeface="Times New Roman"/>
              </a:rPr>
              <a:t> </a:t>
            </a:r>
            <a:r>
              <a:rPr dirty="0" sz="1000" spc="10">
                <a:latin typeface="Times New Roman"/>
                <a:cs typeface="Times New Roman"/>
              </a:rPr>
              <a:t>the</a:t>
            </a:r>
            <a:r>
              <a:rPr dirty="0" sz="1000" spc="120">
                <a:latin typeface="Times New Roman"/>
                <a:cs typeface="Times New Roman"/>
              </a:rPr>
              <a:t> </a:t>
            </a:r>
            <a:r>
              <a:rPr dirty="0" sz="1000" spc="10">
                <a:latin typeface="Times New Roman"/>
                <a:cs typeface="Times New Roman"/>
              </a:rPr>
              <a:t>multimodal</a:t>
            </a:r>
            <a:r>
              <a:rPr dirty="0" sz="1000" spc="114">
                <a:latin typeface="Times New Roman"/>
                <a:cs typeface="Times New Roman"/>
              </a:rPr>
              <a:t> </a:t>
            </a:r>
            <a:r>
              <a:rPr dirty="0" sz="1000" spc="10">
                <a:latin typeface="Times New Roman"/>
                <a:cs typeface="Times New Roman"/>
              </a:rPr>
              <a:t>model</a:t>
            </a:r>
            <a:r>
              <a:rPr dirty="0" sz="1000" spc="114">
                <a:latin typeface="Times New Roman"/>
                <a:cs typeface="Times New Roman"/>
              </a:rPr>
              <a:t> </a:t>
            </a:r>
            <a:r>
              <a:rPr dirty="0" sz="1000" spc="-25">
                <a:latin typeface="Times New Roman"/>
                <a:cs typeface="Times New Roman"/>
              </a:rPr>
              <a:t>to </a:t>
            </a:r>
            <a:r>
              <a:rPr dirty="0" sz="1000" spc="10">
                <a:latin typeface="Times New Roman"/>
                <a:cs typeface="Times New Roman"/>
              </a:rPr>
              <a:t>be</a:t>
            </a:r>
            <a:r>
              <a:rPr dirty="0" sz="1000" spc="135">
                <a:latin typeface="Times New Roman"/>
                <a:cs typeface="Times New Roman"/>
              </a:rPr>
              <a:t> </a:t>
            </a:r>
            <a:r>
              <a:rPr dirty="0" sz="1000" spc="10">
                <a:latin typeface="Times New Roman"/>
                <a:cs typeface="Times New Roman"/>
              </a:rPr>
              <a:t>similar</a:t>
            </a:r>
            <a:r>
              <a:rPr dirty="0" sz="1000" spc="140">
                <a:latin typeface="Times New Roman"/>
                <a:cs typeface="Times New Roman"/>
              </a:rPr>
              <a:t> </a:t>
            </a:r>
            <a:r>
              <a:rPr dirty="0" sz="1000" spc="10">
                <a:latin typeface="Times New Roman"/>
                <a:cs typeface="Times New Roman"/>
              </a:rPr>
              <a:t>as</a:t>
            </a:r>
            <a:r>
              <a:rPr dirty="0" sz="1000" spc="135">
                <a:latin typeface="Times New Roman"/>
                <a:cs typeface="Times New Roman"/>
              </a:rPr>
              <a:t> </a:t>
            </a:r>
            <a:r>
              <a:rPr dirty="0" sz="1000" spc="10">
                <a:latin typeface="Times New Roman"/>
                <a:cs typeface="Times New Roman"/>
              </a:rPr>
              <a:t>that</a:t>
            </a:r>
            <a:r>
              <a:rPr dirty="0" sz="1000" spc="140">
                <a:latin typeface="Times New Roman"/>
                <a:cs typeface="Times New Roman"/>
              </a:rPr>
              <a:t> </a:t>
            </a:r>
            <a:r>
              <a:rPr dirty="0" sz="1000" spc="10">
                <a:latin typeface="Times New Roman"/>
                <a:cs typeface="Times New Roman"/>
              </a:rPr>
              <a:t>in</a:t>
            </a:r>
            <a:r>
              <a:rPr dirty="0" sz="1000" spc="135">
                <a:latin typeface="Times New Roman"/>
                <a:cs typeface="Times New Roman"/>
              </a:rPr>
              <a:t> </a:t>
            </a:r>
            <a:r>
              <a:rPr dirty="0" sz="1000" spc="10">
                <a:latin typeface="Times New Roman"/>
                <a:cs typeface="Times New Roman"/>
              </a:rPr>
              <a:t>the</a:t>
            </a:r>
            <a:r>
              <a:rPr dirty="0" sz="1000" spc="140">
                <a:latin typeface="Times New Roman"/>
                <a:cs typeface="Times New Roman"/>
              </a:rPr>
              <a:t> </a:t>
            </a:r>
            <a:r>
              <a:rPr dirty="0" sz="1000" spc="10">
                <a:latin typeface="Times New Roman"/>
                <a:cs typeface="Times New Roman"/>
              </a:rPr>
              <a:t>unimodal</a:t>
            </a:r>
            <a:r>
              <a:rPr dirty="0" sz="1000" spc="140">
                <a:latin typeface="Times New Roman"/>
                <a:cs typeface="Times New Roman"/>
              </a:rPr>
              <a:t> </a:t>
            </a:r>
            <a:r>
              <a:rPr dirty="0" sz="1000" spc="10">
                <a:latin typeface="Times New Roman"/>
                <a:cs typeface="Times New Roman"/>
              </a:rPr>
              <a:t>model.</a:t>
            </a:r>
            <a:r>
              <a:rPr dirty="0" sz="1000" spc="445">
                <a:latin typeface="Times New Roman"/>
                <a:cs typeface="Times New Roman"/>
              </a:rPr>
              <a:t> </a:t>
            </a:r>
            <a:r>
              <a:rPr dirty="0" sz="1000" spc="10">
                <a:latin typeface="Times New Roman"/>
                <a:cs typeface="Times New Roman"/>
              </a:rPr>
              <a:t>In</a:t>
            </a:r>
            <a:r>
              <a:rPr dirty="0" sz="1000" spc="140">
                <a:latin typeface="Times New Roman"/>
                <a:cs typeface="Times New Roman"/>
              </a:rPr>
              <a:t> </a:t>
            </a:r>
            <a:r>
              <a:rPr dirty="0" sz="1000" spc="10">
                <a:latin typeface="Times New Roman"/>
                <a:cs typeface="Times New Roman"/>
              </a:rPr>
              <a:t>contrast,</a:t>
            </a:r>
            <a:r>
              <a:rPr dirty="0" sz="1000" spc="160">
                <a:latin typeface="Times New Roman"/>
                <a:cs typeface="Times New Roman"/>
              </a:rPr>
              <a:t> </a:t>
            </a:r>
            <a:r>
              <a:rPr dirty="0" sz="1000" spc="10">
                <a:latin typeface="Times New Roman"/>
                <a:cs typeface="Times New Roman"/>
              </a:rPr>
              <a:t>DGL</a:t>
            </a:r>
            <a:r>
              <a:rPr dirty="0" sz="1000" spc="140">
                <a:latin typeface="Times New Roman"/>
                <a:cs typeface="Times New Roman"/>
              </a:rPr>
              <a:t> </a:t>
            </a:r>
            <a:r>
              <a:rPr dirty="0" sz="1000" spc="10">
                <a:latin typeface="Times New Roman"/>
                <a:cs typeface="Times New Roman"/>
              </a:rPr>
              <a:t>addresses</a:t>
            </a:r>
            <a:r>
              <a:rPr dirty="0" sz="1000" spc="135">
                <a:latin typeface="Times New Roman"/>
                <a:cs typeface="Times New Roman"/>
              </a:rPr>
              <a:t> </a:t>
            </a:r>
            <a:r>
              <a:rPr dirty="0" sz="1000" spc="10">
                <a:latin typeface="Times New Roman"/>
                <a:cs typeface="Times New Roman"/>
              </a:rPr>
              <a:t>this</a:t>
            </a:r>
            <a:r>
              <a:rPr dirty="0" sz="1000" spc="140">
                <a:latin typeface="Times New Roman"/>
                <a:cs typeface="Times New Roman"/>
              </a:rPr>
              <a:t> </a:t>
            </a:r>
            <a:r>
              <a:rPr dirty="0" sz="1000" spc="10">
                <a:latin typeface="Times New Roman"/>
                <a:cs typeface="Times New Roman"/>
              </a:rPr>
              <a:t>defect</a:t>
            </a:r>
            <a:r>
              <a:rPr dirty="0" sz="1000" spc="135">
                <a:latin typeface="Times New Roman"/>
                <a:cs typeface="Times New Roman"/>
              </a:rPr>
              <a:t> </a:t>
            </a:r>
            <a:r>
              <a:rPr dirty="0" sz="1000" spc="10">
                <a:latin typeface="Times New Roman"/>
                <a:cs typeface="Times New Roman"/>
              </a:rPr>
              <a:t>by</a:t>
            </a:r>
            <a:r>
              <a:rPr dirty="0" sz="1000" spc="140">
                <a:latin typeface="Times New Roman"/>
                <a:cs typeface="Times New Roman"/>
              </a:rPr>
              <a:t> </a:t>
            </a:r>
            <a:r>
              <a:rPr dirty="0" sz="1000" spc="10">
                <a:latin typeface="Times New Roman"/>
                <a:cs typeface="Times New Roman"/>
              </a:rPr>
              <a:t>truncating</a:t>
            </a:r>
            <a:r>
              <a:rPr dirty="0" sz="1000" spc="140">
                <a:latin typeface="Times New Roman"/>
                <a:cs typeface="Times New Roman"/>
              </a:rPr>
              <a:t> </a:t>
            </a:r>
            <a:r>
              <a:rPr dirty="0" sz="1000" spc="10">
                <a:latin typeface="Times New Roman"/>
                <a:cs typeface="Times New Roman"/>
              </a:rPr>
              <a:t>the</a:t>
            </a:r>
            <a:r>
              <a:rPr dirty="0" sz="1000" spc="135">
                <a:latin typeface="Times New Roman"/>
                <a:cs typeface="Times New Roman"/>
              </a:rPr>
              <a:t> </a:t>
            </a:r>
            <a:r>
              <a:rPr dirty="0" sz="1000" spc="-10">
                <a:latin typeface="Times New Roman"/>
                <a:cs typeface="Times New Roman"/>
              </a:rPr>
              <a:t>gradi- </a:t>
            </a:r>
            <a:r>
              <a:rPr dirty="0" sz="1000">
                <a:latin typeface="Times New Roman"/>
                <a:cs typeface="Times New Roman"/>
              </a:rPr>
              <a:t>ent</a:t>
            </a:r>
            <a:r>
              <a:rPr dirty="0" sz="1000" spc="150">
                <a:latin typeface="Times New Roman"/>
                <a:cs typeface="Times New Roman"/>
              </a:rPr>
              <a:t> </a:t>
            </a:r>
            <a:r>
              <a:rPr dirty="0" sz="1000">
                <a:latin typeface="Times New Roman"/>
                <a:cs typeface="Times New Roman"/>
              </a:rPr>
              <a:t>from</a:t>
            </a:r>
            <a:r>
              <a:rPr dirty="0" sz="1000" spc="150">
                <a:latin typeface="Times New Roman"/>
                <a:cs typeface="Times New Roman"/>
              </a:rPr>
              <a:t> </a:t>
            </a:r>
            <a:r>
              <a:rPr dirty="0" sz="1000">
                <a:latin typeface="Times New Roman"/>
                <a:cs typeface="Times New Roman"/>
              </a:rPr>
              <a:t>the</a:t>
            </a:r>
            <a:r>
              <a:rPr dirty="0" sz="1000" spc="150">
                <a:latin typeface="Times New Roman"/>
                <a:cs typeface="Times New Roman"/>
              </a:rPr>
              <a:t> </a:t>
            </a:r>
            <a:r>
              <a:rPr dirty="0" sz="1000">
                <a:latin typeface="Times New Roman"/>
                <a:cs typeface="Times New Roman"/>
              </a:rPr>
              <a:t>modality</a:t>
            </a:r>
            <a:r>
              <a:rPr dirty="0" sz="1000" spc="155">
                <a:latin typeface="Times New Roman"/>
                <a:cs typeface="Times New Roman"/>
              </a:rPr>
              <a:t> </a:t>
            </a:r>
            <a:r>
              <a:rPr dirty="0" sz="1000">
                <a:latin typeface="Times New Roman"/>
                <a:cs typeface="Times New Roman"/>
              </a:rPr>
              <a:t>fusion</a:t>
            </a:r>
            <a:r>
              <a:rPr dirty="0" sz="1000" spc="155">
                <a:latin typeface="Times New Roman"/>
                <a:cs typeface="Times New Roman"/>
              </a:rPr>
              <a:t> </a:t>
            </a:r>
            <a:r>
              <a:rPr dirty="0" sz="1000">
                <a:latin typeface="Times New Roman"/>
                <a:cs typeface="Times New Roman"/>
              </a:rPr>
              <a:t>module</a:t>
            </a:r>
            <a:r>
              <a:rPr dirty="0" sz="1000" spc="155">
                <a:latin typeface="Times New Roman"/>
                <a:cs typeface="Times New Roman"/>
              </a:rPr>
              <a:t> </a:t>
            </a:r>
            <a:r>
              <a:rPr dirty="0" sz="1000">
                <a:latin typeface="Times New Roman"/>
                <a:cs typeface="Times New Roman"/>
              </a:rPr>
              <a:t>propagating</a:t>
            </a:r>
            <a:r>
              <a:rPr dirty="0" sz="1000" spc="145">
                <a:latin typeface="Times New Roman"/>
                <a:cs typeface="Times New Roman"/>
              </a:rPr>
              <a:t> </a:t>
            </a:r>
            <a:r>
              <a:rPr dirty="0" sz="1000">
                <a:latin typeface="Times New Roman"/>
                <a:cs typeface="Times New Roman"/>
              </a:rPr>
              <a:t>to</a:t>
            </a:r>
            <a:r>
              <a:rPr dirty="0" sz="1000" spc="155">
                <a:latin typeface="Times New Roman"/>
                <a:cs typeface="Times New Roman"/>
              </a:rPr>
              <a:t> </a:t>
            </a:r>
            <a:r>
              <a:rPr dirty="0" sz="1000">
                <a:latin typeface="Times New Roman"/>
                <a:cs typeface="Times New Roman"/>
              </a:rPr>
              <a:t>the</a:t>
            </a:r>
            <a:r>
              <a:rPr dirty="0" sz="1000" spc="150">
                <a:latin typeface="Times New Roman"/>
                <a:cs typeface="Times New Roman"/>
              </a:rPr>
              <a:t> </a:t>
            </a:r>
            <a:r>
              <a:rPr dirty="0" sz="1000">
                <a:latin typeface="Times New Roman"/>
                <a:cs typeface="Times New Roman"/>
              </a:rPr>
              <a:t>modality</a:t>
            </a:r>
            <a:r>
              <a:rPr dirty="0" sz="1000" spc="155">
                <a:latin typeface="Times New Roman"/>
                <a:cs typeface="Times New Roman"/>
              </a:rPr>
              <a:t> </a:t>
            </a:r>
            <a:r>
              <a:rPr dirty="0" sz="1000">
                <a:latin typeface="Times New Roman"/>
                <a:cs typeface="Times New Roman"/>
              </a:rPr>
              <a:t>encoder.</a:t>
            </a:r>
            <a:r>
              <a:rPr dirty="0" sz="1000" spc="409">
                <a:latin typeface="Times New Roman"/>
                <a:cs typeface="Times New Roman"/>
              </a:rPr>
              <a:t> </a:t>
            </a:r>
            <a:r>
              <a:rPr dirty="0" sz="1000">
                <a:latin typeface="Times New Roman"/>
                <a:cs typeface="Times New Roman"/>
              </a:rPr>
              <a:t>As</a:t>
            </a:r>
            <a:r>
              <a:rPr dirty="0" sz="1000" spc="155">
                <a:latin typeface="Times New Roman"/>
                <a:cs typeface="Times New Roman"/>
              </a:rPr>
              <a:t> </a:t>
            </a:r>
            <a:r>
              <a:rPr dirty="0" sz="1000">
                <a:latin typeface="Times New Roman"/>
                <a:cs typeface="Times New Roman"/>
              </a:rPr>
              <a:t>a</a:t>
            </a:r>
            <a:r>
              <a:rPr dirty="0" sz="1000" spc="155">
                <a:latin typeface="Times New Roman"/>
                <a:cs typeface="Times New Roman"/>
              </a:rPr>
              <a:t> </a:t>
            </a:r>
            <a:r>
              <a:rPr dirty="0" sz="1000">
                <a:latin typeface="Times New Roman"/>
                <a:cs typeface="Times New Roman"/>
              </a:rPr>
              <a:t>result,</a:t>
            </a:r>
            <a:r>
              <a:rPr dirty="0" sz="1000" spc="165">
                <a:latin typeface="Times New Roman"/>
                <a:cs typeface="Times New Roman"/>
              </a:rPr>
              <a:t> </a:t>
            </a:r>
            <a:r>
              <a:rPr dirty="0" sz="1000">
                <a:latin typeface="Times New Roman"/>
                <a:cs typeface="Times New Roman"/>
              </a:rPr>
              <a:t>the</a:t>
            </a:r>
            <a:r>
              <a:rPr dirty="0" sz="1000" spc="155">
                <a:latin typeface="Times New Roman"/>
                <a:cs typeface="Times New Roman"/>
              </a:rPr>
              <a:t> </a:t>
            </a:r>
            <a:r>
              <a:rPr dirty="0" sz="1000">
                <a:latin typeface="Times New Roman"/>
                <a:cs typeface="Times New Roman"/>
              </a:rPr>
              <a:t>performance</a:t>
            </a:r>
            <a:r>
              <a:rPr dirty="0" sz="1000" spc="155">
                <a:latin typeface="Times New Roman"/>
                <a:cs typeface="Times New Roman"/>
              </a:rPr>
              <a:t> </a:t>
            </a:r>
            <a:r>
              <a:rPr dirty="0" sz="1000" spc="-25">
                <a:latin typeface="Times New Roman"/>
                <a:cs typeface="Times New Roman"/>
              </a:rPr>
              <a:t>of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unimodal</a:t>
            </a:r>
            <a:r>
              <a:rPr dirty="0" sz="1000" spc="85">
                <a:latin typeface="Times New Roman"/>
                <a:cs typeface="Times New Roman"/>
              </a:rPr>
              <a:t> </a:t>
            </a:r>
            <a:r>
              <a:rPr dirty="0" sz="1000" spc="10">
                <a:latin typeface="Times New Roman"/>
                <a:cs typeface="Times New Roman"/>
              </a:rPr>
              <a:t>branch</a:t>
            </a:r>
            <a:r>
              <a:rPr dirty="0" sz="1000" spc="80">
                <a:latin typeface="Times New Roman"/>
                <a:cs typeface="Times New Roman"/>
              </a:rPr>
              <a:t> </a:t>
            </a:r>
            <a:r>
              <a:rPr dirty="0" sz="1000" spc="10">
                <a:latin typeface="Times New Roman"/>
                <a:cs typeface="Times New Roman"/>
              </a:rPr>
              <a:t>within</a:t>
            </a:r>
            <a:r>
              <a:rPr dirty="0" sz="1000" spc="85">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multimodal</a:t>
            </a:r>
            <a:r>
              <a:rPr dirty="0" sz="1000" spc="85">
                <a:latin typeface="Times New Roman"/>
                <a:cs typeface="Times New Roman"/>
              </a:rPr>
              <a:t> </a:t>
            </a:r>
            <a:r>
              <a:rPr dirty="0" sz="1000" spc="10">
                <a:latin typeface="Times New Roman"/>
                <a:cs typeface="Times New Roman"/>
              </a:rPr>
              <a:t>model</a:t>
            </a:r>
            <a:r>
              <a:rPr dirty="0" sz="1000" spc="80">
                <a:latin typeface="Times New Roman"/>
                <a:cs typeface="Times New Roman"/>
              </a:rPr>
              <a:t> </a:t>
            </a:r>
            <a:r>
              <a:rPr dirty="0" sz="1000" spc="10">
                <a:latin typeface="Times New Roman"/>
                <a:cs typeface="Times New Roman"/>
              </a:rPr>
              <a:t>trained</a:t>
            </a:r>
            <a:r>
              <a:rPr dirty="0" sz="1000" spc="85">
                <a:latin typeface="Times New Roman"/>
                <a:cs typeface="Times New Roman"/>
              </a:rPr>
              <a:t> </a:t>
            </a:r>
            <a:r>
              <a:rPr dirty="0" sz="1000" spc="10">
                <a:latin typeface="Times New Roman"/>
                <a:cs typeface="Times New Roman"/>
              </a:rPr>
              <a:t>with</a:t>
            </a:r>
            <a:r>
              <a:rPr dirty="0" sz="1000" spc="80">
                <a:latin typeface="Times New Roman"/>
                <a:cs typeface="Times New Roman"/>
              </a:rPr>
              <a:t> </a:t>
            </a:r>
            <a:r>
              <a:rPr dirty="0" sz="1000">
                <a:latin typeface="Times New Roman"/>
                <a:cs typeface="Times New Roman"/>
              </a:rPr>
              <a:t>DGL</a:t>
            </a:r>
            <a:r>
              <a:rPr dirty="0" sz="1000" spc="85">
                <a:latin typeface="Times New Roman"/>
                <a:cs typeface="Times New Roman"/>
              </a:rPr>
              <a:t> </a:t>
            </a:r>
            <a:r>
              <a:rPr dirty="0" sz="1000" spc="10">
                <a:latin typeface="Times New Roman"/>
                <a:cs typeface="Times New Roman"/>
              </a:rPr>
              <a:t>surpasses</a:t>
            </a:r>
            <a:r>
              <a:rPr dirty="0" sz="1000" spc="80">
                <a:latin typeface="Times New Roman"/>
                <a:cs typeface="Times New Roman"/>
              </a:rPr>
              <a:t> </a:t>
            </a:r>
            <a:r>
              <a:rPr dirty="0" sz="1000" spc="10">
                <a:latin typeface="Times New Roman"/>
                <a:cs typeface="Times New Roman"/>
              </a:rPr>
              <a:t>that</a:t>
            </a:r>
            <a:r>
              <a:rPr dirty="0" sz="1000" spc="85">
                <a:latin typeface="Times New Roman"/>
                <a:cs typeface="Times New Roman"/>
              </a:rPr>
              <a:t> </a:t>
            </a:r>
            <a:r>
              <a:rPr dirty="0" sz="1000">
                <a:latin typeface="Times New Roman"/>
                <a:cs typeface="Times New Roman"/>
              </a:rPr>
              <a:t>of</a:t>
            </a:r>
            <a:r>
              <a:rPr dirty="0" sz="1000" spc="85">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vanilla</a:t>
            </a:r>
            <a:r>
              <a:rPr dirty="0" sz="1000" spc="85">
                <a:latin typeface="Times New Roman"/>
                <a:cs typeface="Times New Roman"/>
              </a:rPr>
              <a:t> </a:t>
            </a:r>
            <a:r>
              <a:rPr dirty="0" sz="1000" spc="-10">
                <a:latin typeface="Times New Roman"/>
                <a:cs typeface="Times New Roman"/>
              </a:rPr>
              <a:t>unimodal model.</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192405" marR="86995">
              <a:lnSpc>
                <a:spcPct val="129500"/>
              </a:lnSpc>
            </a:pPr>
            <a:r>
              <a:rPr dirty="0" sz="1000" spc="20">
                <a:latin typeface="SimSun"/>
                <a:cs typeface="SimSun"/>
              </a:rPr>
              <a:t>更重要的是，使用</a:t>
            </a:r>
            <a:r>
              <a:rPr dirty="0" sz="1000" spc="-15">
                <a:latin typeface="Times New Roman"/>
                <a:cs typeface="Times New Roman"/>
              </a:rPr>
              <a:t>DGL</a:t>
            </a:r>
            <a:r>
              <a:rPr dirty="0" sz="1000" spc="-5">
                <a:latin typeface="Times New Roman"/>
                <a:cs typeface="Times New Roman"/>
              </a:rPr>
              <a:t> </a:t>
            </a:r>
            <a:r>
              <a:rPr dirty="0" sz="1000" spc="-10">
                <a:latin typeface="SimSun"/>
                <a:cs typeface="SimSun"/>
              </a:rPr>
              <a:t>训练的多模态模型中的单模态性能也优于单模态模型中的性能。这验证了</a:t>
            </a:r>
            <a:r>
              <a:rPr dirty="0" sz="1000" spc="-5">
                <a:latin typeface="SimSun"/>
                <a:cs typeface="SimSun"/>
              </a:rPr>
              <a:t> </a:t>
            </a:r>
            <a:r>
              <a:rPr dirty="0" sz="1000" spc="-15">
                <a:latin typeface="Times New Roman"/>
                <a:cs typeface="Times New Roman"/>
              </a:rPr>
              <a:t>DGL</a:t>
            </a:r>
            <a:r>
              <a:rPr dirty="0" sz="1000" spc="15">
                <a:latin typeface="Times New Roman"/>
                <a:cs typeface="Times New Roman"/>
              </a:rPr>
              <a:t> </a:t>
            </a:r>
            <a:r>
              <a:rPr dirty="0" sz="1000" spc="-10">
                <a:latin typeface="SimSun"/>
                <a:cs typeface="SimSun"/>
              </a:rPr>
              <a:t>在促进多模态学习中的单模态学习方面的有效性。作为比较，虽然现有的梯度调制方法，如</a:t>
            </a:r>
            <a:r>
              <a:rPr dirty="0" sz="1000" spc="-5">
                <a:latin typeface="SimSun"/>
                <a:cs typeface="SimSun"/>
              </a:rPr>
              <a:t> </a:t>
            </a:r>
            <a:r>
              <a:rPr dirty="0" sz="1000" spc="-15">
                <a:latin typeface="Times New Roman"/>
                <a:cs typeface="Times New Roman"/>
              </a:rPr>
              <a:t>OGM_GE</a:t>
            </a:r>
            <a:r>
              <a:rPr dirty="0" sz="1000" spc="-10">
                <a:latin typeface="SimSun"/>
                <a:cs typeface="SimSun"/>
              </a:rPr>
              <a:t>，与普通拼接融合相比，可以将</a:t>
            </a:r>
            <a:r>
              <a:rPr dirty="0" sz="1000" spc="-5">
                <a:latin typeface="Times New Roman"/>
                <a:cs typeface="Times New Roman"/>
              </a:rPr>
              <a:t>CREMA-</a:t>
            </a:r>
            <a:r>
              <a:rPr dirty="0" sz="1000" spc="-25">
                <a:latin typeface="Times New Roman"/>
                <a:cs typeface="Times New Roman"/>
              </a:rPr>
              <a:t>D</a:t>
            </a:r>
            <a:r>
              <a:rPr dirty="0" sz="1000" spc="-30">
                <a:latin typeface="Times New Roman"/>
                <a:cs typeface="Times New Roman"/>
              </a:rPr>
              <a:t> </a:t>
            </a:r>
            <a:r>
              <a:rPr dirty="0" sz="1000" spc="-30">
                <a:latin typeface="SimSun"/>
                <a:cs typeface="SimSun"/>
              </a:rPr>
              <a:t>中较弱的视觉模态的性能提高到 </a:t>
            </a:r>
            <a:r>
              <a:rPr dirty="0" sz="1000" spc="-35">
                <a:latin typeface="Times New Roman"/>
                <a:cs typeface="Times New Roman"/>
              </a:rPr>
              <a:t>36.71%</a:t>
            </a:r>
            <a:r>
              <a:rPr dirty="0" sz="1000" spc="-30">
                <a:latin typeface="Times New Roman"/>
                <a:cs typeface="Times New Roman"/>
              </a:rPr>
              <a:t> </a:t>
            </a:r>
            <a:r>
              <a:rPr dirty="0" sz="1000" spc="-10">
                <a:latin typeface="SimSun"/>
                <a:cs typeface="SimSun"/>
              </a:rPr>
              <a:t>以上，</a:t>
            </a:r>
            <a:r>
              <a:rPr dirty="0" sz="1000" spc="-25">
                <a:latin typeface="SimSun"/>
                <a:cs typeface="SimSun"/>
              </a:rPr>
              <a:t>但它们也会将占主导地位的音频模态的性能降低到 </a:t>
            </a:r>
            <a:r>
              <a:rPr dirty="0" sz="1000" spc="-35">
                <a:latin typeface="Times New Roman"/>
                <a:cs typeface="Times New Roman"/>
              </a:rPr>
              <a:t>59.62%</a:t>
            </a:r>
            <a:r>
              <a:rPr dirty="0" sz="1000" spc="-55">
                <a:latin typeface="Times New Roman"/>
                <a:cs typeface="Times New Roman"/>
              </a:rPr>
              <a:t> </a:t>
            </a:r>
            <a:r>
              <a:rPr dirty="0" sz="1000" spc="-70">
                <a:latin typeface="SimSun"/>
                <a:cs typeface="SimSun"/>
              </a:rPr>
              <a:t>以下。然后，交替优化方法引入单模态辅助</a:t>
            </a:r>
            <a:r>
              <a:rPr dirty="0" sz="1000" spc="-45">
                <a:latin typeface="SimSun"/>
                <a:cs typeface="SimSun"/>
              </a:rPr>
              <a:t>，以同时提高多模态模型中音频和视觉模态的性能。然而，它们忽略了融合模块和编码器之间的优化冲突，未能将多模态模型中的单模态性能提高到与单模态模型中相似的水平。相比之下，</a:t>
            </a:r>
            <a:r>
              <a:rPr dirty="0" sz="1000" spc="-45">
                <a:latin typeface="Times New Roman"/>
                <a:cs typeface="Times New Roman"/>
              </a:rPr>
              <a:t>DGL</a:t>
            </a:r>
            <a:r>
              <a:rPr dirty="0" sz="1000" spc="-10">
                <a:latin typeface="SimSun"/>
                <a:cs typeface="SimSun"/>
              </a:rPr>
              <a:t>通过截</a:t>
            </a:r>
            <a:r>
              <a:rPr dirty="0" sz="1000" spc="-5">
                <a:latin typeface="SimSun"/>
                <a:cs typeface="SimSun"/>
              </a:rPr>
              <a:t>断从模态融合模块传播到模态编码器的梯度来解决这一缺陷。因此，使用</a:t>
            </a:r>
            <a:r>
              <a:rPr dirty="0" sz="1000" spc="-15">
                <a:latin typeface="Times New Roman"/>
                <a:cs typeface="Times New Roman"/>
              </a:rPr>
              <a:t>DGL</a:t>
            </a:r>
            <a:r>
              <a:rPr dirty="0" sz="1000" spc="-5">
                <a:latin typeface="Times New Roman"/>
                <a:cs typeface="Times New Roman"/>
              </a:rPr>
              <a:t> </a:t>
            </a:r>
            <a:r>
              <a:rPr dirty="0" sz="1000" spc="-10">
                <a:latin typeface="SimSun"/>
                <a:cs typeface="SimSun"/>
              </a:rPr>
              <a:t>训练的多模态模型中的单模态分支的性能超过了普通单模态模型的性能。</a:t>
            </a:r>
            <a:endParaRPr sz="1000">
              <a:latin typeface="SimSun"/>
              <a:cs typeface="SimSun"/>
            </a:endParaRPr>
          </a:p>
        </p:txBody>
      </p:sp>
      <p:sp>
        <p:nvSpPr>
          <p:cNvPr id="7" name="object 7"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graphicFrame>
        <p:nvGraphicFramePr>
          <p:cNvPr id="6" name="object 6" descr=""/>
          <p:cNvGraphicFramePr>
            <a:graphicFrameLocks noGrp="1"/>
          </p:cNvGraphicFramePr>
          <p:nvPr/>
        </p:nvGraphicFramePr>
        <p:xfrm>
          <a:off x="1483877" y="4815481"/>
          <a:ext cx="4668520" cy="2760980"/>
        </p:xfrm>
        <a:graphic>
          <a:graphicData uri="http://schemas.openxmlformats.org/drawingml/2006/table">
            <a:tbl>
              <a:tblPr firstRow="1" bandRow="1">
                <a:tableStyleId>{2D5ABB26-0587-4C30-8999-92F81FD0307C}</a:tableStyleId>
              </a:tblPr>
              <a:tblGrid>
                <a:gridCol w="1275080"/>
                <a:gridCol w="484505"/>
                <a:gridCol w="497839"/>
                <a:gridCol w="456564"/>
                <a:gridCol w="483869"/>
                <a:gridCol w="497205"/>
                <a:gridCol w="438150"/>
                <a:gridCol w="453389"/>
              </a:tblGrid>
              <a:tr h="201930">
                <a:tc rowSpan="3">
                  <a:txBody>
                    <a:bodyPr/>
                    <a:lstStyle/>
                    <a:p>
                      <a:pPr>
                        <a:lnSpc>
                          <a:spcPct val="100000"/>
                        </a:lnSpc>
                        <a:spcBef>
                          <a:spcPts val="509"/>
                        </a:spcBef>
                      </a:pPr>
                      <a:endParaRPr sz="1000">
                        <a:latin typeface="Times New Roman"/>
                        <a:cs typeface="Times New Roman"/>
                      </a:endParaRPr>
                    </a:p>
                    <a:p>
                      <a:pPr algn="ctr">
                        <a:lnSpc>
                          <a:spcPct val="100000"/>
                        </a:lnSpc>
                      </a:pPr>
                      <a:r>
                        <a:rPr dirty="0" sz="1000" spc="-10">
                          <a:latin typeface="Times New Roman"/>
                          <a:cs typeface="Times New Roman"/>
                        </a:rPr>
                        <a:t>Method</a:t>
                      </a:r>
                      <a:endParaRPr sz="1000">
                        <a:latin typeface="Times New Roman"/>
                        <a:cs typeface="Times New Roman"/>
                      </a:endParaRPr>
                    </a:p>
                  </a:txBody>
                  <a:tcPr marL="0" marR="0" marB="0" marT="64769">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27990">
                        <a:lnSpc>
                          <a:spcPct val="100000"/>
                        </a:lnSpc>
                        <a:spcBef>
                          <a:spcPts val="105"/>
                        </a:spcBef>
                      </a:pPr>
                      <a:r>
                        <a:rPr dirty="0" sz="1000" spc="-10">
                          <a:latin typeface="Times New Roman"/>
                          <a:cs typeface="Times New Roman"/>
                        </a:rPr>
                        <a:t>CREMA-</a:t>
                      </a:r>
                      <a:r>
                        <a:rPr dirty="0" sz="1000" spc="-50">
                          <a:latin typeface="Times New Roman"/>
                          <a:cs typeface="Times New Roman"/>
                        </a:rPr>
                        <a:t>D</a:t>
                      </a:r>
                      <a:endParaRPr sz="1000">
                        <a:latin typeface="Times New Roman"/>
                        <a:cs typeface="Times New Roman"/>
                      </a:endParaRPr>
                    </a:p>
                  </a:txBody>
                  <a:tcPr marL="0" marR="0" marB="0" marT="13335">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algn="ctr" marL="1905">
                        <a:lnSpc>
                          <a:spcPct val="100000"/>
                        </a:lnSpc>
                        <a:spcBef>
                          <a:spcPts val="105"/>
                        </a:spcBef>
                      </a:pPr>
                      <a:r>
                        <a:rPr dirty="0" sz="1000" spc="-20">
                          <a:latin typeface="Times New Roman"/>
                          <a:cs typeface="Times New Roman"/>
                        </a:rPr>
                        <a:t>MOSI</a:t>
                      </a:r>
                      <a:endParaRPr sz="1000">
                        <a:latin typeface="Times New Roman"/>
                        <a:cs typeface="Times New Roman"/>
                      </a:endParaRPr>
                    </a:p>
                  </a:txBody>
                  <a:tcPr marL="0" marR="0" marB="0" marT="13335">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96850">
                <a:tc vMerge="1">
                  <a:txBody>
                    <a:bodyPr/>
                    <a:lstStyle/>
                    <a:p>
                      <a:pPr/>
                    </a:p>
                  </a:txBody>
                  <a:tcPr marL="0" marR="0" marB="0" marT="64769">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Audio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Visual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Multi</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Audio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Visual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0">
                          <a:latin typeface="Times New Roman"/>
                          <a:cs typeface="Times New Roman"/>
                        </a:rPr>
                        <a:t>Text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Multi</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vMerge="1">
                  <a:txBody>
                    <a:bodyPr/>
                    <a:lstStyle/>
                    <a:p>
                      <a:pPr/>
                    </a:p>
                  </a:txBody>
                  <a:tcPr marL="0" marR="0" marB="0" marT="64769">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305435">
                        <a:lnSpc>
                          <a:spcPct val="100000"/>
                        </a:lnSpc>
                        <a:spcBef>
                          <a:spcPts val="65"/>
                        </a:spcBef>
                      </a:pPr>
                      <a:r>
                        <a:rPr dirty="0" sz="1000">
                          <a:latin typeface="Times New Roman"/>
                          <a:cs typeface="Times New Roman"/>
                        </a:rPr>
                        <a:t>MMTM-</a:t>
                      </a:r>
                      <a:r>
                        <a:rPr dirty="0" sz="1000" spc="-10">
                          <a:latin typeface="Times New Roman"/>
                          <a:cs typeface="Times New Roman"/>
                        </a:rPr>
                        <a:t>Fusion</a:t>
                      </a:r>
                      <a:endParaRPr sz="1000">
                        <a:latin typeface="Times New Roman"/>
                        <a:cs typeface="Times New Roman"/>
                      </a:endParaRPr>
                    </a:p>
                  </a:txBody>
                  <a:tcPr marL="0" marR="0" marB="0" marT="8255">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marL="604520">
                        <a:lnSpc>
                          <a:spcPct val="100000"/>
                        </a:lnSpc>
                        <a:spcBef>
                          <a:spcPts val="65"/>
                        </a:spcBef>
                      </a:pPr>
                      <a:r>
                        <a:rPr dirty="0" sz="1000" spc="-10">
                          <a:latin typeface="Times New Roman"/>
                          <a:cs typeface="Times New Roman"/>
                        </a:rPr>
                        <a:t>MLP-Fusion</a:t>
                      </a:r>
                      <a:endParaRPr sz="1000">
                        <a:latin typeface="Times New Roman"/>
                        <a:cs typeface="Times New Roman"/>
                      </a:endParaRPr>
                    </a:p>
                  </a:txBody>
                  <a:tcPr marL="0" marR="0" marB="0" marT="8255">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96850">
                <a:tc>
                  <a:txBody>
                    <a:bodyPr/>
                    <a:lstStyle/>
                    <a:p>
                      <a:pPr algn="ctr">
                        <a:lnSpc>
                          <a:spcPct val="100000"/>
                        </a:lnSpc>
                        <a:spcBef>
                          <a:spcPts val="65"/>
                        </a:spcBef>
                      </a:pPr>
                      <a:r>
                        <a:rPr dirty="0" sz="1000">
                          <a:latin typeface="Times New Roman"/>
                          <a:cs typeface="Times New Roman"/>
                        </a:rPr>
                        <a:t>Audio-</a:t>
                      </a:r>
                      <a:r>
                        <a:rPr dirty="0" sz="1000" spc="-20">
                          <a:latin typeface="Times New Roman"/>
                          <a:cs typeface="Times New Roman"/>
                        </a:rPr>
                        <a:t>only</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59.18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44.25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a:latin typeface="Times New Roman"/>
                          <a:cs typeface="Times New Roman"/>
                        </a:rPr>
                        <a:t>Visual-</a:t>
                      </a:r>
                      <a:r>
                        <a:rPr dirty="0" sz="1000" spc="-20">
                          <a:latin typeface="Times New Roman"/>
                          <a:cs typeface="Times New Roman"/>
                        </a:rPr>
                        <a:t>only</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68.34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54.28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30">
                          <a:latin typeface="Times New Roman"/>
                          <a:cs typeface="Times New Roman"/>
                        </a:rPr>
                        <a:t>Text-</a:t>
                      </a:r>
                      <a:r>
                        <a:rPr dirty="0" sz="1000" spc="-20">
                          <a:latin typeface="Times New Roman"/>
                          <a:cs typeface="Times New Roman"/>
                        </a:rPr>
                        <a:t>only</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Multimodal</a:t>
                      </a:r>
                      <a:r>
                        <a:rPr dirty="0" sz="1000" spc="160">
                          <a:latin typeface="Times New Roman"/>
                          <a:cs typeface="Times New Roman"/>
                        </a:rPr>
                        <a:t> </a:t>
                      </a:r>
                      <a:r>
                        <a:rPr dirty="0" sz="1000" spc="-10">
                          <a:latin typeface="Times New Roman"/>
                          <a:cs typeface="Times New Roman"/>
                        </a:rPr>
                        <a:t>Baseline</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56.11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23.43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60.12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40.65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51.33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76.33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76.83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G-</a:t>
                      </a:r>
                      <a:r>
                        <a:rPr dirty="0" sz="1000" spc="-10">
                          <a:latin typeface="Times New Roman"/>
                          <a:cs typeface="Times New Roman"/>
                        </a:rPr>
                        <a:t>Blending</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57.72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62.11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69.99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42.39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53.03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76.97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78.04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OGM_GE</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55.61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40.61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65.31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42.09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52.68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75.87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77.97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PMR</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54.71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39.21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64.89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41.89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52.43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75.67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77.54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AGM</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55.29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66.65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42.24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52.97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76.04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77.95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MMPareto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56.79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63.21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69.88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42.92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53.08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78.15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D&amp;R</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58.67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66.32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72.28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43.65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53.81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77.01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78.81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DGL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60.30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69.50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75.00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55.11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77.39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79.78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57"/>
            <a:ext cx="5760085" cy="2989580"/>
            <a:chOff x="899998" y="899957"/>
            <a:chExt cx="5760085" cy="2989580"/>
          </a:xfrm>
        </p:grpSpPr>
        <p:sp>
          <p:nvSpPr>
            <p:cNvPr id="3" name="object 3" descr=""/>
            <p:cNvSpPr/>
            <p:nvPr/>
          </p:nvSpPr>
          <p:spPr>
            <a:xfrm>
              <a:off x="899998" y="899957"/>
              <a:ext cx="5760085" cy="2989580"/>
            </a:xfrm>
            <a:custGeom>
              <a:avLst/>
              <a:gdLst/>
              <a:ahLst/>
              <a:cxnLst/>
              <a:rect l="l" t="t" r="r" b="b"/>
              <a:pathLst>
                <a:path w="5760084" h="2989579">
                  <a:moveTo>
                    <a:pt x="5724074" y="0"/>
                  </a:moveTo>
                  <a:lnTo>
                    <a:pt x="36000" y="0"/>
                  </a:lnTo>
                  <a:lnTo>
                    <a:pt x="21987" y="2829"/>
                  </a:lnTo>
                  <a:lnTo>
                    <a:pt x="10544" y="10544"/>
                  </a:lnTo>
                  <a:lnTo>
                    <a:pt x="2829" y="21987"/>
                  </a:lnTo>
                  <a:lnTo>
                    <a:pt x="0" y="36000"/>
                  </a:lnTo>
                  <a:lnTo>
                    <a:pt x="0" y="2953480"/>
                  </a:lnTo>
                  <a:lnTo>
                    <a:pt x="2829" y="2967493"/>
                  </a:lnTo>
                  <a:lnTo>
                    <a:pt x="10544" y="2978936"/>
                  </a:lnTo>
                  <a:lnTo>
                    <a:pt x="21987" y="2986651"/>
                  </a:lnTo>
                  <a:lnTo>
                    <a:pt x="36000" y="2989480"/>
                  </a:lnTo>
                  <a:lnTo>
                    <a:pt x="5724074" y="2989480"/>
                  </a:lnTo>
                  <a:lnTo>
                    <a:pt x="5738087" y="2986651"/>
                  </a:lnTo>
                  <a:lnTo>
                    <a:pt x="5749530" y="2978936"/>
                  </a:lnTo>
                  <a:lnTo>
                    <a:pt x="5757245" y="2967493"/>
                  </a:lnTo>
                  <a:lnTo>
                    <a:pt x="5760074" y="295348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57"/>
              <a:ext cx="5760085" cy="2989580"/>
            </a:xfrm>
            <a:custGeom>
              <a:avLst/>
              <a:gdLst/>
              <a:ahLst/>
              <a:cxnLst/>
              <a:rect l="l" t="t" r="r" b="b"/>
              <a:pathLst>
                <a:path w="5760084" h="2989579">
                  <a:moveTo>
                    <a:pt x="5724074" y="0"/>
                  </a:moveTo>
                  <a:lnTo>
                    <a:pt x="36000" y="0"/>
                  </a:lnTo>
                  <a:lnTo>
                    <a:pt x="21987" y="2829"/>
                  </a:lnTo>
                  <a:lnTo>
                    <a:pt x="10544" y="10544"/>
                  </a:lnTo>
                  <a:lnTo>
                    <a:pt x="2829" y="21987"/>
                  </a:lnTo>
                  <a:lnTo>
                    <a:pt x="0" y="36000"/>
                  </a:lnTo>
                  <a:lnTo>
                    <a:pt x="0" y="2953480"/>
                  </a:lnTo>
                  <a:lnTo>
                    <a:pt x="2829" y="2967493"/>
                  </a:lnTo>
                  <a:lnTo>
                    <a:pt x="10544" y="2978936"/>
                  </a:lnTo>
                  <a:lnTo>
                    <a:pt x="21987" y="2986651"/>
                  </a:lnTo>
                  <a:lnTo>
                    <a:pt x="36000" y="2989480"/>
                  </a:lnTo>
                  <a:lnTo>
                    <a:pt x="5724074" y="2989480"/>
                  </a:lnTo>
                  <a:lnTo>
                    <a:pt x="5738087" y="2986651"/>
                  </a:lnTo>
                  <a:lnTo>
                    <a:pt x="5749530" y="2978936"/>
                  </a:lnTo>
                  <a:lnTo>
                    <a:pt x="5757245" y="2967493"/>
                  </a:lnTo>
                  <a:lnTo>
                    <a:pt x="5760074" y="295348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aphicFrame>
        <p:nvGraphicFramePr>
          <p:cNvPr id="5" name="object 5" descr=""/>
          <p:cNvGraphicFramePr>
            <a:graphicFrameLocks noGrp="1"/>
          </p:cNvGraphicFramePr>
          <p:nvPr/>
        </p:nvGraphicFramePr>
        <p:xfrm>
          <a:off x="1750209" y="1007983"/>
          <a:ext cx="4136390" cy="2760980"/>
        </p:xfrm>
        <a:graphic>
          <a:graphicData uri="http://schemas.openxmlformats.org/drawingml/2006/table">
            <a:tbl>
              <a:tblPr firstRow="1" bandRow="1">
                <a:tableStyleId>{2D5ABB26-0587-4C30-8999-92F81FD0307C}</a:tableStyleId>
              </a:tblPr>
              <a:tblGrid>
                <a:gridCol w="791845"/>
                <a:gridCol w="435610"/>
                <a:gridCol w="438150"/>
                <a:gridCol w="538480"/>
                <a:gridCol w="435610"/>
                <a:gridCol w="438150"/>
                <a:gridCol w="438150"/>
                <a:gridCol w="535939"/>
              </a:tblGrid>
              <a:tr h="201930">
                <a:tc rowSpan="3">
                  <a:txBody>
                    <a:bodyPr/>
                    <a:lstStyle/>
                    <a:p>
                      <a:pPr>
                        <a:lnSpc>
                          <a:spcPct val="100000"/>
                        </a:lnSpc>
                        <a:spcBef>
                          <a:spcPts val="509"/>
                        </a:spcBef>
                      </a:pPr>
                      <a:endParaRPr sz="1000">
                        <a:latin typeface="Times New Roman"/>
                        <a:cs typeface="Times New Roman"/>
                      </a:endParaRPr>
                    </a:p>
                    <a:p>
                      <a:pPr algn="ctr">
                        <a:lnSpc>
                          <a:spcPct val="100000"/>
                        </a:lnSpc>
                      </a:pPr>
                      <a:r>
                        <a:rPr dirty="0" sz="1000" spc="-30">
                          <a:latin typeface="SimSun"/>
                          <a:cs typeface="SimSun"/>
                        </a:rPr>
                        <a:t>方法</a:t>
                      </a:r>
                      <a:endParaRPr sz="1000">
                        <a:latin typeface="SimSun"/>
                        <a:cs typeface="SimSun"/>
                      </a:endParaRPr>
                    </a:p>
                  </a:txBody>
                  <a:tcPr marL="0" marR="0" marB="0" marT="64769">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15925">
                        <a:lnSpc>
                          <a:spcPct val="100000"/>
                        </a:lnSpc>
                        <a:spcBef>
                          <a:spcPts val="105"/>
                        </a:spcBef>
                      </a:pPr>
                      <a:r>
                        <a:rPr dirty="0" sz="1000" spc="-10">
                          <a:latin typeface="Times New Roman"/>
                          <a:cs typeface="Times New Roman"/>
                        </a:rPr>
                        <a:t>CREMA-</a:t>
                      </a:r>
                      <a:r>
                        <a:rPr dirty="0" sz="1000" spc="-50">
                          <a:latin typeface="Times New Roman"/>
                          <a:cs typeface="Times New Roman"/>
                        </a:rPr>
                        <a:t>D</a:t>
                      </a:r>
                      <a:endParaRPr sz="1000">
                        <a:latin typeface="Times New Roman"/>
                        <a:cs typeface="Times New Roman"/>
                      </a:endParaRPr>
                    </a:p>
                  </a:txBody>
                  <a:tcPr marL="0" marR="0" marB="0" marT="13335">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algn="ctr" marL="1905">
                        <a:lnSpc>
                          <a:spcPct val="100000"/>
                        </a:lnSpc>
                        <a:spcBef>
                          <a:spcPts val="105"/>
                        </a:spcBef>
                      </a:pPr>
                      <a:r>
                        <a:rPr dirty="0" sz="1000" spc="-20">
                          <a:latin typeface="Times New Roman"/>
                          <a:cs typeface="Times New Roman"/>
                        </a:rPr>
                        <a:t>MOSI</a:t>
                      </a:r>
                      <a:endParaRPr sz="1000">
                        <a:latin typeface="Times New Roman"/>
                        <a:cs typeface="Times New Roman"/>
                      </a:endParaRPr>
                    </a:p>
                  </a:txBody>
                  <a:tcPr marL="0" marR="0" marB="0" marT="13335">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96850">
                <a:tc vMerge="1">
                  <a:txBody>
                    <a:bodyPr/>
                    <a:lstStyle/>
                    <a:p>
                      <a:pPr/>
                    </a:p>
                  </a:txBody>
                  <a:tcPr marL="0" marR="0" marB="0" marT="64769">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音频</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视觉</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5">
                          <a:latin typeface="SimSun"/>
                          <a:cs typeface="SimSun"/>
                        </a:rPr>
                        <a:t>多模态</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音频</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视觉</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30">
                          <a:latin typeface="SimSun"/>
                          <a:cs typeface="SimSun"/>
                        </a:rPr>
                        <a:t>文本</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5">
                          <a:latin typeface="SimSun"/>
                          <a:cs typeface="SimSun"/>
                        </a:rPr>
                        <a:t>多模态</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vMerge="1">
                  <a:txBody>
                    <a:bodyPr/>
                    <a:lstStyle/>
                    <a:p>
                      <a:pPr/>
                    </a:p>
                  </a:txBody>
                  <a:tcPr marL="0" marR="0" marB="0" marT="64769">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356870">
                        <a:lnSpc>
                          <a:spcPct val="100000"/>
                        </a:lnSpc>
                        <a:spcBef>
                          <a:spcPts val="65"/>
                        </a:spcBef>
                      </a:pPr>
                      <a:r>
                        <a:rPr dirty="0" sz="1000">
                          <a:latin typeface="Times New Roman"/>
                          <a:cs typeface="Times New Roman"/>
                        </a:rPr>
                        <a:t>MMTM</a:t>
                      </a:r>
                      <a:r>
                        <a:rPr dirty="0" sz="1000" spc="-20">
                          <a:latin typeface="Times New Roman"/>
                          <a:cs typeface="Times New Roman"/>
                        </a:rPr>
                        <a:t> </a:t>
                      </a:r>
                      <a:r>
                        <a:rPr dirty="0" sz="1000" spc="-30">
                          <a:latin typeface="SimSun"/>
                          <a:cs typeface="SimSun"/>
                        </a:rPr>
                        <a:t>融合</a:t>
                      </a:r>
                      <a:endParaRPr sz="1000">
                        <a:latin typeface="SimSun"/>
                        <a:cs typeface="SimSun"/>
                      </a:endParaRPr>
                    </a:p>
                  </a:txBody>
                  <a:tcPr marL="0" marR="0" marB="0" marT="8255">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algn="ctr" marL="1905">
                        <a:lnSpc>
                          <a:spcPct val="100000"/>
                        </a:lnSpc>
                        <a:spcBef>
                          <a:spcPts val="65"/>
                        </a:spcBef>
                      </a:pPr>
                      <a:r>
                        <a:rPr dirty="0" sz="1000">
                          <a:latin typeface="Times New Roman"/>
                          <a:cs typeface="Times New Roman"/>
                        </a:rPr>
                        <a:t>MLP</a:t>
                      </a:r>
                      <a:r>
                        <a:rPr dirty="0" sz="1000" spc="-45">
                          <a:latin typeface="Times New Roman"/>
                          <a:cs typeface="Times New Roman"/>
                        </a:rPr>
                        <a:t> </a:t>
                      </a:r>
                      <a:r>
                        <a:rPr dirty="0" sz="1000" spc="-30">
                          <a:latin typeface="SimSun"/>
                          <a:cs typeface="SimSun"/>
                        </a:rPr>
                        <a:t>融合</a:t>
                      </a:r>
                      <a:endParaRPr sz="1000">
                        <a:latin typeface="SimSun"/>
                        <a:cs typeface="SimSun"/>
                      </a:endParaRPr>
                    </a:p>
                  </a:txBody>
                  <a:tcPr marL="0" marR="0" marB="0" marT="8255">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96850">
                <a:tc>
                  <a:txBody>
                    <a:bodyPr/>
                    <a:lstStyle/>
                    <a:p>
                      <a:pPr algn="ctr">
                        <a:lnSpc>
                          <a:spcPct val="100000"/>
                        </a:lnSpc>
                        <a:spcBef>
                          <a:spcPts val="65"/>
                        </a:spcBef>
                      </a:pPr>
                      <a:r>
                        <a:rPr dirty="0" sz="1000" spc="-25">
                          <a:latin typeface="SimSun"/>
                          <a:cs typeface="SimSun"/>
                        </a:rPr>
                        <a:t>仅音频</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59.18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44.25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SimSun"/>
                          <a:cs typeface="SimSun"/>
                        </a:rPr>
                        <a:t>仅视觉</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68.34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54.28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SimSun"/>
                          <a:cs typeface="SimSun"/>
                        </a:rPr>
                        <a:t>仅文本</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50">
                          <a:latin typeface="Times New Roman"/>
                          <a:cs typeface="Times New Roman"/>
                        </a:rPr>
                        <a: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0">
                          <a:latin typeface="SimSun"/>
                          <a:cs typeface="SimSun"/>
                        </a:rPr>
                        <a:t>多模态基线</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56.11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23.43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60.12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40.65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51.33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76.33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76.83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a:latin typeface="Times New Roman"/>
                          <a:cs typeface="Times New Roman"/>
                        </a:rPr>
                        <a:t>G</a:t>
                      </a:r>
                      <a:r>
                        <a:rPr dirty="0" sz="1000" spc="-35">
                          <a:latin typeface="Times New Roman"/>
                          <a:cs typeface="Times New Roman"/>
                        </a:rPr>
                        <a:t> </a:t>
                      </a:r>
                      <a:r>
                        <a:rPr dirty="0" sz="1000" spc="-30">
                          <a:latin typeface="SimSun"/>
                          <a:cs typeface="SimSun"/>
                        </a:rPr>
                        <a:t>混合</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57.72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62.11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69.99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42.39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53.03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76.97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78.04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OGM_GE</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55.61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40.61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65.31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42.09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52.68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75.87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77.97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PMR</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54.71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39.21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64.89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41.89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52.43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75.67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77.54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AGM</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55.29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44.18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66.65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42.24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52.97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76.04</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77.95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10">
                          <a:latin typeface="Times New Roman"/>
                          <a:cs typeface="Times New Roman"/>
                        </a:rPr>
                        <a:t>MMPareto</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56.79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63.21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69.88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42.92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53.08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76.87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78.15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D&amp;R</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58.67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66.32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72.28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43.65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53.81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77.01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78.81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DGL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60.30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69.50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75.00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44.78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55.11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77.39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79.78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6" name="object 6" descr=""/>
          <p:cNvGrpSpPr/>
          <p:nvPr/>
        </p:nvGrpSpPr>
        <p:grpSpPr>
          <a:xfrm>
            <a:off x="899998" y="4678962"/>
            <a:ext cx="5760085" cy="536575"/>
            <a:chOff x="899998" y="4678962"/>
            <a:chExt cx="5760085" cy="536575"/>
          </a:xfrm>
        </p:grpSpPr>
        <p:sp>
          <p:nvSpPr>
            <p:cNvPr id="7" name="object 7" descr=""/>
            <p:cNvSpPr/>
            <p:nvPr/>
          </p:nvSpPr>
          <p:spPr>
            <a:xfrm>
              <a:off x="899998" y="4678962"/>
              <a:ext cx="5760085" cy="536575"/>
            </a:xfrm>
            <a:custGeom>
              <a:avLst/>
              <a:gdLst/>
              <a:ahLst/>
              <a:cxnLst/>
              <a:rect l="l" t="t" r="r" b="b"/>
              <a:pathLst>
                <a:path w="5760084" h="536575">
                  <a:moveTo>
                    <a:pt x="5724074" y="0"/>
                  </a:moveTo>
                  <a:lnTo>
                    <a:pt x="36000" y="0"/>
                  </a:lnTo>
                  <a:lnTo>
                    <a:pt x="21987" y="2829"/>
                  </a:lnTo>
                  <a:lnTo>
                    <a:pt x="10544" y="10544"/>
                  </a:lnTo>
                  <a:lnTo>
                    <a:pt x="2829" y="21987"/>
                  </a:lnTo>
                  <a:lnTo>
                    <a:pt x="0" y="36000"/>
                  </a:lnTo>
                  <a:lnTo>
                    <a:pt x="0" y="500368"/>
                  </a:lnTo>
                  <a:lnTo>
                    <a:pt x="2829" y="514381"/>
                  </a:lnTo>
                  <a:lnTo>
                    <a:pt x="10544" y="525824"/>
                  </a:lnTo>
                  <a:lnTo>
                    <a:pt x="21987" y="533539"/>
                  </a:lnTo>
                  <a:lnTo>
                    <a:pt x="36000" y="536369"/>
                  </a:lnTo>
                  <a:lnTo>
                    <a:pt x="5724074" y="536369"/>
                  </a:lnTo>
                  <a:lnTo>
                    <a:pt x="5738087" y="533539"/>
                  </a:lnTo>
                  <a:lnTo>
                    <a:pt x="5749530" y="525824"/>
                  </a:lnTo>
                  <a:lnTo>
                    <a:pt x="5757245" y="514381"/>
                  </a:lnTo>
                  <a:lnTo>
                    <a:pt x="5760074" y="50036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8" name="object 8" descr=""/>
            <p:cNvSpPr/>
            <p:nvPr/>
          </p:nvSpPr>
          <p:spPr>
            <a:xfrm>
              <a:off x="899998" y="4678962"/>
              <a:ext cx="5760085" cy="536575"/>
            </a:xfrm>
            <a:custGeom>
              <a:avLst/>
              <a:gdLst/>
              <a:ahLst/>
              <a:cxnLst/>
              <a:rect l="l" t="t" r="r" b="b"/>
              <a:pathLst>
                <a:path w="5760084" h="536575">
                  <a:moveTo>
                    <a:pt x="5724074" y="0"/>
                  </a:moveTo>
                  <a:lnTo>
                    <a:pt x="36000" y="0"/>
                  </a:lnTo>
                  <a:lnTo>
                    <a:pt x="21987" y="2829"/>
                  </a:lnTo>
                  <a:lnTo>
                    <a:pt x="10544" y="10544"/>
                  </a:lnTo>
                  <a:lnTo>
                    <a:pt x="2829" y="21987"/>
                  </a:lnTo>
                  <a:lnTo>
                    <a:pt x="0" y="36000"/>
                  </a:lnTo>
                  <a:lnTo>
                    <a:pt x="0" y="500368"/>
                  </a:lnTo>
                  <a:lnTo>
                    <a:pt x="2829" y="514381"/>
                  </a:lnTo>
                  <a:lnTo>
                    <a:pt x="10544" y="525824"/>
                  </a:lnTo>
                  <a:lnTo>
                    <a:pt x="21987" y="533539"/>
                  </a:lnTo>
                  <a:lnTo>
                    <a:pt x="36000" y="536369"/>
                  </a:lnTo>
                  <a:lnTo>
                    <a:pt x="5724074" y="536369"/>
                  </a:lnTo>
                  <a:lnTo>
                    <a:pt x="5738087" y="533539"/>
                  </a:lnTo>
                  <a:lnTo>
                    <a:pt x="5749530" y="525824"/>
                  </a:lnTo>
                  <a:lnTo>
                    <a:pt x="5757245" y="514381"/>
                  </a:lnTo>
                  <a:lnTo>
                    <a:pt x="5760074" y="50036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9" name="object 9" descr=""/>
          <p:cNvGrpSpPr/>
          <p:nvPr/>
        </p:nvGrpSpPr>
        <p:grpSpPr>
          <a:xfrm>
            <a:off x="899998" y="5854758"/>
            <a:ext cx="5760085" cy="398780"/>
            <a:chOff x="899998" y="5854758"/>
            <a:chExt cx="5760085" cy="398780"/>
          </a:xfrm>
        </p:grpSpPr>
        <p:sp>
          <p:nvSpPr>
            <p:cNvPr id="10" name="object 10" descr=""/>
            <p:cNvSpPr/>
            <p:nvPr/>
          </p:nvSpPr>
          <p:spPr>
            <a:xfrm>
              <a:off x="899998" y="5854758"/>
              <a:ext cx="5760085" cy="398780"/>
            </a:xfrm>
            <a:custGeom>
              <a:avLst/>
              <a:gdLst/>
              <a:ahLst/>
              <a:cxnLst/>
              <a:rect l="l" t="t" r="r" b="b"/>
              <a:pathLst>
                <a:path w="5760084" h="398779">
                  <a:moveTo>
                    <a:pt x="5724074" y="0"/>
                  </a:moveTo>
                  <a:lnTo>
                    <a:pt x="36000" y="0"/>
                  </a:lnTo>
                  <a:lnTo>
                    <a:pt x="21987" y="2829"/>
                  </a:lnTo>
                  <a:lnTo>
                    <a:pt x="10544" y="10544"/>
                  </a:lnTo>
                  <a:lnTo>
                    <a:pt x="2829" y="21987"/>
                  </a:lnTo>
                  <a:lnTo>
                    <a:pt x="0" y="36000"/>
                  </a:lnTo>
                  <a:lnTo>
                    <a:pt x="0" y="362200"/>
                  </a:lnTo>
                  <a:lnTo>
                    <a:pt x="2829" y="376213"/>
                  </a:lnTo>
                  <a:lnTo>
                    <a:pt x="10544" y="387656"/>
                  </a:lnTo>
                  <a:lnTo>
                    <a:pt x="21987" y="395371"/>
                  </a:lnTo>
                  <a:lnTo>
                    <a:pt x="36000" y="398200"/>
                  </a:lnTo>
                  <a:lnTo>
                    <a:pt x="5724074" y="398200"/>
                  </a:lnTo>
                  <a:lnTo>
                    <a:pt x="5738087" y="395371"/>
                  </a:lnTo>
                  <a:lnTo>
                    <a:pt x="5749530" y="387656"/>
                  </a:lnTo>
                  <a:lnTo>
                    <a:pt x="5757245" y="376213"/>
                  </a:lnTo>
                  <a:lnTo>
                    <a:pt x="5760074" y="36220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1" name="object 11" descr=""/>
            <p:cNvSpPr/>
            <p:nvPr/>
          </p:nvSpPr>
          <p:spPr>
            <a:xfrm>
              <a:off x="899998" y="5854758"/>
              <a:ext cx="5760085" cy="398780"/>
            </a:xfrm>
            <a:custGeom>
              <a:avLst/>
              <a:gdLst/>
              <a:ahLst/>
              <a:cxnLst/>
              <a:rect l="l" t="t" r="r" b="b"/>
              <a:pathLst>
                <a:path w="5760084" h="398779">
                  <a:moveTo>
                    <a:pt x="5724074" y="0"/>
                  </a:moveTo>
                  <a:lnTo>
                    <a:pt x="36000" y="0"/>
                  </a:lnTo>
                  <a:lnTo>
                    <a:pt x="21987" y="2829"/>
                  </a:lnTo>
                  <a:lnTo>
                    <a:pt x="10544" y="10544"/>
                  </a:lnTo>
                  <a:lnTo>
                    <a:pt x="2829" y="21987"/>
                  </a:lnTo>
                  <a:lnTo>
                    <a:pt x="0" y="36000"/>
                  </a:lnTo>
                  <a:lnTo>
                    <a:pt x="0" y="362200"/>
                  </a:lnTo>
                  <a:lnTo>
                    <a:pt x="2829" y="376213"/>
                  </a:lnTo>
                  <a:lnTo>
                    <a:pt x="10544" y="387656"/>
                  </a:lnTo>
                  <a:lnTo>
                    <a:pt x="21987" y="395371"/>
                  </a:lnTo>
                  <a:lnTo>
                    <a:pt x="36000" y="398200"/>
                  </a:lnTo>
                  <a:lnTo>
                    <a:pt x="5724074" y="398200"/>
                  </a:lnTo>
                  <a:lnTo>
                    <a:pt x="5738087" y="395371"/>
                  </a:lnTo>
                  <a:lnTo>
                    <a:pt x="5749530" y="387656"/>
                  </a:lnTo>
                  <a:lnTo>
                    <a:pt x="5757245" y="376213"/>
                  </a:lnTo>
                  <a:lnTo>
                    <a:pt x="5760074" y="36220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2" name="object 12" descr=""/>
          <p:cNvGrpSpPr/>
          <p:nvPr/>
        </p:nvGrpSpPr>
        <p:grpSpPr>
          <a:xfrm>
            <a:off x="899998" y="7239851"/>
            <a:ext cx="5760085" cy="546100"/>
            <a:chOff x="899998" y="7239851"/>
            <a:chExt cx="5760085" cy="546100"/>
          </a:xfrm>
        </p:grpSpPr>
        <p:sp>
          <p:nvSpPr>
            <p:cNvPr id="13" name="object 13" descr=""/>
            <p:cNvSpPr/>
            <p:nvPr/>
          </p:nvSpPr>
          <p:spPr>
            <a:xfrm>
              <a:off x="899998" y="7239851"/>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4" name="object 14" descr=""/>
            <p:cNvSpPr/>
            <p:nvPr/>
          </p:nvSpPr>
          <p:spPr>
            <a:xfrm>
              <a:off x="899998" y="7239851"/>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5" name="object 15" descr=""/>
          <p:cNvSpPr txBox="1"/>
          <p:nvPr/>
        </p:nvSpPr>
        <p:spPr>
          <a:xfrm>
            <a:off x="887298" y="3941515"/>
            <a:ext cx="5785485" cy="5106035"/>
          </a:xfrm>
          <a:prstGeom prst="rect">
            <a:avLst/>
          </a:prstGeom>
        </p:spPr>
        <p:txBody>
          <a:bodyPr wrap="square" lIns="0" tIns="12700" rIns="0" bIns="0" rtlCol="0" vert="horz">
            <a:spAutoFit/>
          </a:bodyPr>
          <a:lstStyle/>
          <a:p>
            <a:pPr algn="just" marL="12700" marR="5080" indent="252729">
              <a:lnSpc>
                <a:spcPct val="129500"/>
              </a:lnSpc>
              <a:spcBef>
                <a:spcPts val="100"/>
              </a:spcBef>
            </a:pPr>
            <a:r>
              <a:rPr dirty="0" sz="1000" spc="10">
                <a:latin typeface="Times New Roman"/>
                <a:cs typeface="Times New Roman"/>
              </a:rPr>
              <a:t>Table</a:t>
            </a:r>
            <a:r>
              <a:rPr dirty="0" sz="1000" spc="110">
                <a:latin typeface="Times New Roman"/>
                <a:cs typeface="Times New Roman"/>
              </a:rPr>
              <a:t> </a:t>
            </a:r>
            <a:r>
              <a:rPr dirty="0" sz="1000" spc="10">
                <a:latin typeface="Times New Roman"/>
                <a:cs typeface="Times New Roman"/>
              </a:rPr>
              <a:t>2.</a:t>
            </a:r>
            <a:r>
              <a:rPr dirty="0" sz="1000" spc="335">
                <a:latin typeface="Times New Roman"/>
                <a:cs typeface="Times New Roman"/>
              </a:rPr>
              <a:t> </a:t>
            </a:r>
            <a:r>
              <a:rPr dirty="0" sz="1000" spc="10">
                <a:latin typeface="Times New Roman"/>
                <a:cs typeface="Times New Roman"/>
              </a:rPr>
              <a:t>Left:</a:t>
            </a:r>
            <a:r>
              <a:rPr dirty="0" sz="1000" spc="280">
                <a:latin typeface="Times New Roman"/>
                <a:cs typeface="Times New Roman"/>
              </a:rPr>
              <a:t> </a:t>
            </a:r>
            <a:r>
              <a:rPr dirty="0" sz="1000" spc="10">
                <a:latin typeface="Times New Roman"/>
                <a:cs typeface="Times New Roman"/>
              </a:rPr>
              <a:t>Comparison</a:t>
            </a:r>
            <a:r>
              <a:rPr dirty="0" sz="1000" spc="114">
                <a:latin typeface="Times New Roman"/>
                <a:cs typeface="Times New Roman"/>
              </a:rPr>
              <a:t> </a:t>
            </a:r>
            <a:r>
              <a:rPr dirty="0" sz="1000" spc="10">
                <a:latin typeface="Times New Roman"/>
                <a:cs typeface="Times New Roman"/>
              </a:rPr>
              <a:t>with</a:t>
            </a:r>
            <a:r>
              <a:rPr dirty="0" sz="1000" spc="110">
                <a:latin typeface="Times New Roman"/>
                <a:cs typeface="Times New Roman"/>
              </a:rPr>
              <a:t> </a:t>
            </a:r>
            <a:r>
              <a:rPr dirty="0" sz="1000" spc="10">
                <a:latin typeface="Times New Roman"/>
                <a:cs typeface="Times New Roman"/>
              </a:rPr>
              <a:t>imbalanced</a:t>
            </a:r>
            <a:r>
              <a:rPr dirty="0" sz="1000" spc="110">
                <a:latin typeface="Times New Roman"/>
                <a:cs typeface="Times New Roman"/>
              </a:rPr>
              <a:t> </a:t>
            </a:r>
            <a:r>
              <a:rPr dirty="0" sz="1000" spc="10">
                <a:latin typeface="Times New Roman"/>
                <a:cs typeface="Times New Roman"/>
              </a:rPr>
              <a:t>multimodal</a:t>
            </a:r>
            <a:r>
              <a:rPr dirty="0" sz="1000" spc="110">
                <a:latin typeface="Times New Roman"/>
                <a:cs typeface="Times New Roman"/>
              </a:rPr>
              <a:t> </a:t>
            </a:r>
            <a:r>
              <a:rPr dirty="0" sz="1000" spc="10">
                <a:latin typeface="Times New Roman"/>
                <a:cs typeface="Times New Roman"/>
              </a:rPr>
              <a:t>learning</a:t>
            </a:r>
            <a:r>
              <a:rPr dirty="0" sz="1000" spc="114">
                <a:latin typeface="Times New Roman"/>
                <a:cs typeface="Times New Roman"/>
              </a:rPr>
              <a:t> </a:t>
            </a:r>
            <a:r>
              <a:rPr dirty="0" sz="1000" spc="10">
                <a:latin typeface="Times New Roman"/>
                <a:cs typeface="Times New Roman"/>
              </a:rPr>
              <a:t>methods</a:t>
            </a:r>
            <a:r>
              <a:rPr dirty="0" sz="1000" spc="110">
                <a:latin typeface="Times New Roman"/>
                <a:cs typeface="Times New Roman"/>
              </a:rPr>
              <a:t> </a:t>
            </a:r>
            <a:r>
              <a:rPr dirty="0" sz="1000" spc="10">
                <a:latin typeface="Times New Roman"/>
                <a:cs typeface="Times New Roman"/>
              </a:rPr>
              <a:t>with</a:t>
            </a:r>
            <a:r>
              <a:rPr dirty="0" sz="1000" spc="110">
                <a:latin typeface="Times New Roman"/>
                <a:cs typeface="Times New Roman"/>
              </a:rPr>
              <a:t> </a:t>
            </a:r>
            <a:r>
              <a:rPr dirty="0" sz="1000" spc="10">
                <a:latin typeface="Times New Roman"/>
                <a:cs typeface="Times New Roman"/>
              </a:rPr>
              <a:t>dense</a:t>
            </a:r>
            <a:r>
              <a:rPr dirty="0" sz="1000" spc="114">
                <a:latin typeface="Times New Roman"/>
                <a:cs typeface="Times New Roman"/>
              </a:rPr>
              <a:t> </a:t>
            </a:r>
            <a:r>
              <a:rPr dirty="0" sz="1000">
                <a:latin typeface="Times New Roman"/>
                <a:cs typeface="Times New Roman"/>
              </a:rPr>
              <a:t>cross-</a:t>
            </a:r>
            <a:r>
              <a:rPr dirty="0" sz="1000" spc="10">
                <a:latin typeface="Times New Roman"/>
                <a:cs typeface="Times New Roman"/>
              </a:rPr>
              <a:t>modal</a:t>
            </a:r>
            <a:r>
              <a:rPr dirty="0" sz="1000" spc="110">
                <a:latin typeface="Times New Roman"/>
                <a:cs typeface="Times New Roman"/>
              </a:rPr>
              <a:t> </a:t>
            </a:r>
            <a:r>
              <a:rPr dirty="0" sz="1000" spc="-25">
                <a:latin typeface="Times New Roman"/>
                <a:cs typeface="Times New Roman"/>
              </a:rPr>
              <a:t>in- </a:t>
            </a:r>
            <a:r>
              <a:rPr dirty="0" sz="1000">
                <a:latin typeface="Times New Roman"/>
                <a:cs typeface="Times New Roman"/>
              </a:rPr>
              <a:t>teraction</a:t>
            </a:r>
            <a:r>
              <a:rPr dirty="0" sz="1000" spc="185">
                <a:latin typeface="Times New Roman"/>
                <a:cs typeface="Times New Roman"/>
              </a:rPr>
              <a:t> </a:t>
            </a:r>
            <a:r>
              <a:rPr dirty="0" sz="1000">
                <a:latin typeface="Times New Roman"/>
                <a:cs typeface="Times New Roman"/>
              </a:rPr>
              <a:t>on</a:t>
            </a:r>
            <a:r>
              <a:rPr dirty="0" sz="1000" spc="190">
                <a:latin typeface="Times New Roman"/>
                <a:cs typeface="Times New Roman"/>
              </a:rPr>
              <a:t> </a:t>
            </a:r>
            <a:r>
              <a:rPr dirty="0" sz="1000">
                <a:latin typeface="Times New Roman"/>
                <a:cs typeface="Times New Roman"/>
              </a:rPr>
              <a:t>the</a:t>
            </a:r>
            <a:r>
              <a:rPr dirty="0" sz="1000" spc="185">
                <a:latin typeface="Times New Roman"/>
                <a:cs typeface="Times New Roman"/>
              </a:rPr>
              <a:t> </a:t>
            </a:r>
            <a:r>
              <a:rPr dirty="0" sz="1000" spc="-10">
                <a:latin typeface="Times New Roman"/>
                <a:cs typeface="Times New Roman"/>
              </a:rPr>
              <a:t>CREMA-</a:t>
            </a:r>
            <a:r>
              <a:rPr dirty="0" sz="1000">
                <a:latin typeface="Times New Roman"/>
                <a:cs typeface="Times New Roman"/>
              </a:rPr>
              <a:t>D</a:t>
            </a:r>
            <a:r>
              <a:rPr dirty="0" sz="1000" spc="190">
                <a:latin typeface="Times New Roman"/>
                <a:cs typeface="Times New Roman"/>
              </a:rPr>
              <a:t> </a:t>
            </a:r>
            <a:r>
              <a:rPr dirty="0" sz="1000">
                <a:latin typeface="Times New Roman"/>
                <a:cs typeface="Times New Roman"/>
              </a:rPr>
              <a:t>dataset.</a:t>
            </a:r>
            <a:r>
              <a:rPr dirty="0" sz="1000" spc="450">
                <a:latin typeface="Times New Roman"/>
                <a:cs typeface="Times New Roman"/>
              </a:rPr>
              <a:t> </a:t>
            </a:r>
            <a:r>
              <a:rPr dirty="0" sz="1000">
                <a:latin typeface="Times New Roman"/>
                <a:cs typeface="Times New Roman"/>
              </a:rPr>
              <a:t>Right:</a:t>
            </a:r>
            <a:r>
              <a:rPr dirty="0" sz="1000" spc="380">
                <a:latin typeface="Times New Roman"/>
                <a:cs typeface="Times New Roman"/>
              </a:rPr>
              <a:t> </a:t>
            </a:r>
            <a:r>
              <a:rPr dirty="0" sz="1000">
                <a:latin typeface="Times New Roman"/>
                <a:cs typeface="Times New Roman"/>
              </a:rPr>
              <a:t>Comparison</a:t>
            </a:r>
            <a:r>
              <a:rPr dirty="0" sz="1000" spc="185">
                <a:latin typeface="Times New Roman"/>
                <a:cs typeface="Times New Roman"/>
              </a:rPr>
              <a:t> </a:t>
            </a:r>
            <a:r>
              <a:rPr dirty="0" sz="1000">
                <a:latin typeface="Times New Roman"/>
                <a:cs typeface="Times New Roman"/>
              </a:rPr>
              <a:t>with</a:t>
            </a:r>
            <a:r>
              <a:rPr dirty="0" sz="1000" spc="190">
                <a:latin typeface="Times New Roman"/>
                <a:cs typeface="Times New Roman"/>
              </a:rPr>
              <a:t> </a:t>
            </a:r>
            <a:r>
              <a:rPr dirty="0" sz="1000">
                <a:latin typeface="Times New Roman"/>
                <a:cs typeface="Times New Roman"/>
              </a:rPr>
              <a:t>imbalanced</a:t>
            </a:r>
            <a:r>
              <a:rPr dirty="0" sz="1000" spc="190">
                <a:latin typeface="Times New Roman"/>
                <a:cs typeface="Times New Roman"/>
              </a:rPr>
              <a:t> </a:t>
            </a:r>
            <a:r>
              <a:rPr dirty="0" sz="1000">
                <a:latin typeface="Times New Roman"/>
                <a:cs typeface="Times New Roman"/>
              </a:rPr>
              <a:t>multimodal</a:t>
            </a:r>
            <a:r>
              <a:rPr dirty="0" sz="1000" spc="185">
                <a:latin typeface="Times New Roman"/>
                <a:cs typeface="Times New Roman"/>
              </a:rPr>
              <a:t> </a:t>
            </a:r>
            <a:r>
              <a:rPr dirty="0" sz="1000">
                <a:latin typeface="Times New Roman"/>
                <a:cs typeface="Times New Roman"/>
              </a:rPr>
              <a:t>learning</a:t>
            </a:r>
            <a:r>
              <a:rPr dirty="0" sz="1000" spc="190">
                <a:latin typeface="Times New Roman"/>
                <a:cs typeface="Times New Roman"/>
              </a:rPr>
              <a:t> </a:t>
            </a:r>
            <a:r>
              <a:rPr dirty="0" sz="1000">
                <a:latin typeface="Times New Roman"/>
                <a:cs typeface="Times New Roman"/>
              </a:rPr>
              <a:t>methods</a:t>
            </a:r>
            <a:r>
              <a:rPr dirty="0" sz="1000" spc="185">
                <a:latin typeface="Times New Roman"/>
                <a:cs typeface="Times New Roman"/>
              </a:rPr>
              <a:t> </a:t>
            </a:r>
            <a:r>
              <a:rPr dirty="0" sz="1000" spc="-25">
                <a:latin typeface="Times New Roman"/>
                <a:cs typeface="Times New Roman"/>
              </a:rPr>
              <a:t>on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MOSI</a:t>
            </a:r>
            <a:r>
              <a:rPr dirty="0" sz="1000" spc="90">
                <a:latin typeface="Times New Roman"/>
                <a:cs typeface="Times New Roman"/>
              </a:rPr>
              <a:t> </a:t>
            </a:r>
            <a:r>
              <a:rPr dirty="0" sz="1000">
                <a:latin typeface="Times New Roman"/>
                <a:cs typeface="Times New Roman"/>
              </a:rPr>
              <a:t>dataset</a:t>
            </a:r>
            <a:r>
              <a:rPr dirty="0" sz="1000" spc="95">
                <a:latin typeface="Times New Roman"/>
                <a:cs typeface="Times New Roman"/>
              </a:rPr>
              <a:t> </a:t>
            </a:r>
            <a:r>
              <a:rPr dirty="0" sz="1000">
                <a:latin typeface="Times New Roman"/>
                <a:cs typeface="Times New Roman"/>
              </a:rPr>
              <a:t>with</a:t>
            </a:r>
            <a:r>
              <a:rPr dirty="0" sz="1000" spc="90">
                <a:latin typeface="Times New Roman"/>
                <a:cs typeface="Times New Roman"/>
              </a:rPr>
              <a:t> </a:t>
            </a:r>
            <a:r>
              <a:rPr dirty="0" sz="1000">
                <a:latin typeface="Times New Roman"/>
                <a:cs typeface="Times New Roman"/>
              </a:rPr>
              <a:t>three</a:t>
            </a:r>
            <a:r>
              <a:rPr dirty="0" sz="1000" spc="90">
                <a:latin typeface="Times New Roman"/>
                <a:cs typeface="Times New Roman"/>
              </a:rPr>
              <a:t> </a:t>
            </a:r>
            <a:r>
              <a:rPr dirty="0" sz="1000" spc="-10">
                <a:latin typeface="Times New Roman"/>
                <a:cs typeface="Times New Roman"/>
              </a:rPr>
              <a:t>modalities.</a:t>
            </a:r>
            <a:endParaRPr sz="1000">
              <a:latin typeface="Times New Roman"/>
              <a:cs typeface="Times New Roman"/>
            </a:endParaRPr>
          </a:p>
          <a:p>
            <a:pPr>
              <a:lnSpc>
                <a:spcPct val="100000"/>
              </a:lnSpc>
              <a:spcBef>
                <a:spcPts val="229"/>
              </a:spcBef>
            </a:pPr>
            <a:endParaRPr sz="1000">
              <a:latin typeface="Times New Roman"/>
              <a:cs typeface="Times New Roman"/>
            </a:endParaRPr>
          </a:p>
          <a:p>
            <a:pPr marL="192405" marR="184785">
              <a:lnSpc>
                <a:spcPct val="129500"/>
              </a:lnSpc>
              <a:spcBef>
                <a:spcPts val="5"/>
              </a:spcBef>
            </a:pPr>
            <a:r>
              <a:rPr dirty="0" sz="1000" spc="-145">
                <a:latin typeface="SimSun"/>
                <a:cs typeface="SimSun"/>
              </a:rPr>
              <a:t>表 </a:t>
            </a:r>
            <a:r>
              <a:rPr dirty="0" sz="1000" spc="-10">
                <a:latin typeface="Times New Roman"/>
                <a:cs typeface="Times New Roman"/>
              </a:rPr>
              <a:t>2</a:t>
            </a:r>
            <a:r>
              <a:rPr dirty="0" sz="1000" spc="-30">
                <a:latin typeface="SimSun"/>
                <a:cs typeface="SimSun"/>
              </a:rPr>
              <a:t>。左</a:t>
            </a:r>
            <a:r>
              <a:rPr dirty="0" sz="1000" spc="-25">
                <a:latin typeface="Times New Roman"/>
                <a:cs typeface="Times New Roman"/>
              </a:rPr>
              <a:t>: </a:t>
            </a:r>
            <a:r>
              <a:rPr dirty="0" sz="1000" spc="220">
                <a:latin typeface="SimSun"/>
                <a:cs typeface="SimSun"/>
              </a:rPr>
              <a:t>在</a:t>
            </a:r>
            <a:r>
              <a:rPr dirty="0" sz="1000" spc="-10">
                <a:latin typeface="Times New Roman"/>
                <a:cs typeface="Times New Roman"/>
              </a:rPr>
              <a:t>CREMA-</a:t>
            </a:r>
            <a:r>
              <a:rPr dirty="0" sz="1000">
                <a:latin typeface="Times New Roman"/>
                <a:cs typeface="Times New Roman"/>
              </a:rPr>
              <a:t>D</a:t>
            </a:r>
            <a:r>
              <a:rPr dirty="0" sz="1000" spc="-40">
                <a:latin typeface="Times New Roman"/>
                <a:cs typeface="Times New Roman"/>
              </a:rPr>
              <a:t> </a:t>
            </a:r>
            <a:r>
              <a:rPr dirty="0" sz="1000" spc="-15">
                <a:latin typeface="SimSun"/>
                <a:cs typeface="SimSun"/>
              </a:rPr>
              <a:t>数据集上与具有密集跨模态交互的不平衡多模态学习方法的比较。右</a:t>
            </a:r>
            <a:r>
              <a:rPr dirty="0" sz="1000" spc="-20">
                <a:latin typeface="Times New Roman"/>
                <a:cs typeface="Times New Roman"/>
              </a:rPr>
              <a:t>: </a:t>
            </a:r>
            <a:r>
              <a:rPr dirty="0" sz="1000" spc="-30">
                <a:latin typeface="SimSun"/>
                <a:cs typeface="SimSun"/>
              </a:rPr>
              <a:t>在具</a:t>
            </a:r>
            <a:r>
              <a:rPr dirty="0" sz="1000" spc="25">
                <a:latin typeface="SimSun"/>
                <a:cs typeface="SimSun"/>
              </a:rPr>
              <a:t>有三种模态的</a:t>
            </a:r>
            <a:r>
              <a:rPr dirty="0" sz="1000">
                <a:latin typeface="Times New Roman"/>
                <a:cs typeface="Times New Roman"/>
              </a:rPr>
              <a:t>MOSI</a:t>
            </a:r>
            <a:r>
              <a:rPr dirty="0" sz="1000" spc="-45">
                <a:latin typeface="Times New Roman"/>
                <a:cs typeface="Times New Roman"/>
              </a:rPr>
              <a:t> </a:t>
            </a:r>
            <a:r>
              <a:rPr dirty="0" sz="1000" spc="-15">
                <a:latin typeface="SimSun"/>
                <a:cs typeface="SimSun"/>
              </a:rPr>
              <a:t>数据集上与不平衡多模态学习方法的比较。</a:t>
            </a:r>
            <a:endParaRPr sz="1000">
              <a:latin typeface="SimSun"/>
              <a:cs typeface="SimSun"/>
            </a:endParaRPr>
          </a:p>
          <a:p>
            <a:pPr>
              <a:lnSpc>
                <a:spcPct val="100000"/>
              </a:lnSpc>
            </a:pPr>
            <a:endParaRPr sz="1000">
              <a:latin typeface="SimSun"/>
              <a:cs typeface="SimSun"/>
            </a:endParaRPr>
          </a:p>
          <a:p>
            <a:pPr>
              <a:lnSpc>
                <a:spcPct val="100000"/>
              </a:lnSpc>
              <a:spcBef>
                <a:spcPts val="325"/>
              </a:spcBef>
            </a:pPr>
            <a:endParaRPr sz="1000">
              <a:latin typeface="SimSun"/>
              <a:cs typeface="SimSun"/>
            </a:endParaRPr>
          </a:p>
          <a:p>
            <a:pPr marL="12700">
              <a:lnSpc>
                <a:spcPct val="100000"/>
              </a:lnSpc>
            </a:pPr>
            <a:r>
              <a:rPr dirty="0" sz="1400" b="1">
                <a:latin typeface="Times New Roman"/>
                <a:cs typeface="Times New Roman"/>
              </a:rPr>
              <a:t>4.3.</a:t>
            </a:r>
            <a:r>
              <a:rPr dirty="0" sz="1400" spc="140" b="1">
                <a:latin typeface="Times New Roman"/>
                <a:cs typeface="Times New Roman"/>
              </a:rPr>
              <a:t> </a:t>
            </a:r>
            <a:r>
              <a:rPr dirty="0" sz="1400" spc="50" b="1">
                <a:latin typeface="Times New Roman"/>
                <a:cs typeface="Times New Roman"/>
              </a:rPr>
              <a:t>Ablation</a:t>
            </a:r>
            <a:r>
              <a:rPr dirty="0" sz="1400" spc="15" b="1">
                <a:latin typeface="Times New Roman"/>
                <a:cs typeface="Times New Roman"/>
              </a:rPr>
              <a:t> </a:t>
            </a:r>
            <a:r>
              <a:rPr dirty="0" sz="1400" spc="-10" b="1">
                <a:latin typeface="Times New Roman"/>
                <a:cs typeface="Times New Roman"/>
              </a:rPr>
              <a:t>Study</a:t>
            </a:r>
            <a:endParaRPr sz="1400">
              <a:latin typeface="Times New Roman"/>
              <a:cs typeface="Times New Roman"/>
            </a:endParaRPr>
          </a:p>
          <a:p>
            <a:pPr>
              <a:lnSpc>
                <a:spcPct val="100000"/>
              </a:lnSpc>
              <a:spcBef>
                <a:spcPts val="310"/>
              </a:spcBef>
            </a:pPr>
            <a:endParaRPr sz="1400">
              <a:latin typeface="Times New Roman"/>
              <a:cs typeface="Times New Roman"/>
            </a:endParaRPr>
          </a:p>
          <a:p>
            <a:pPr marL="192405">
              <a:lnSpc>
                <a:spcPct val="100000"/>
              </a:lnSpc>
            </a:pPr>
            <a:r>
              <a:rPr dirty="0" sz="1400" b="1">
                <a:latin typeface="Times New Roman"/>
                <a:cs typeface="Times New Roman"/>
              </a:rPr>
              <a:t>4.3.</a:t>
            </a:r>
            <a:r>
              <a:rPr dirty="0" sz="1400" spc="240" b="1">
                <a:latin typeface="Times New Roman"/>
                <a:cs typeface="Times New Roman"/>
              </a:rPr>
              <a:t> </a:t>
            </a:r>
            <a:r>
              <a:rPr dirty="0" sz="1400" spc="-15" b="1">
                <a:latin typeface="Microsoft JhengHei"/>
                <a:cs typeface="Microsoft JhengHei"/>
              </a:rPr>
              <a:t>消融研究</a:t>
            </a:r>
            <a:endParaRPr sz="1400">
              <a:latin typeface="Microsoft JhengHei"/>
              <a:cs typeface="Microsoft JhengHei"/>
            </a:endParaRPr>
          </a:p>
          <a:p>
            <a:pPr marL="265430">
              <a:lnSpc>
                <a:spcPct val="100000"/>
              </a:lnSpc>
              <a:spcBef>
                <a:spcPts val="1639"/>
              </a:spcBef>
            </a:pPr>
            <a:r>
              <a:rPr dirty="0" sz="1000" spc="10">
                <a:latin typeface="Times New Roman"/>
                <a:cs typeface="Times New Roman"/>
              </a:rPr>
              <a:t>We</a:t>
            </a:r>
            <a:r>
              <a:rPr dirty="0" sz="1000" spc="155">
                <a:latin typeface="Times New Roman"/>
                <a:cs typeface="Times New Roman"/>
              </a:rPr>
              <a:t> </a:t>
            </a:r>
            <a:r>
              <a:rPr dirty="0" sz="1000" spc="10">
                <a:latin typeface="Times New Roman"/>
                <a:cs typeface="Times New Roman"/>
              </a:rPr>
              <a:t>first</a:t>
            </a:r>
            <a:r>
              <a:rPr dirty="0" sz="1000" spc="160">
                <a:latin typeface="Times New Roman"/>
                <a:cs typeface="Times New Roman"/>
              </a:rPr>
              <a:t> </a:t>
            </a:r>
            <a:r>
              <a:rPr dirty="0" sz="1000" spc="10">
                <a:latin typeface="Times New Roman"/>
                <a:cs typeface="Times New Roman"/>
              </a:rPr>
              <a:t>conduct</a:t>
            </a:r>
            <a:r>
              <a:rPr dirty="0" sz="1000" spc="155">
                <a:latin typeface="Times New Roman"/>
                <a:cs typeface="Times New Roman"/>
              </a:rPr>
              <a:t> </a:t>
            </a:r>
            <a:r>
              <a:rPr dirty="0" sz="1000" spc="10">
                <a:latin typeface="Times New Roman"/>
                <a:cs typeface="Times New Roman"/>
              </a:rPr>
              <a:t>experiments</a:t>
            </a:r>
            <a:r>
              <a:rPr dirty="0" sz="1000" spc="160">
                <a:latin typeface="Times New Roman"/>
                <a:cs typeface="Times New Roman"/>
              </a:rPr>
              <a:t> </a:t>
            </a:r>
            <a:r>
              <a:rPr dirty="0" sz="1000" spc="10">
                <a:latin typeface="Times New Roman"/>
                <a:cs typeface="Times New Roman"/>
              </a:rPr>
              <a:t>to</a:t>
            </a:r>
            <a:r>
              <a:rPr dirty="0" sz="1000" spc="155">
                <a:latin typeface="Times New Roman"/>
                <a:cs typeface="Times New Roman"/>
              </a:rPr>
              <a:t> </a:t>
            </a:r>
            <a:r>
              <a:rPr dirty="0" sz="1000" spc="10">
                <a:latin typeface="Times New Roman"/>
                <a:cs typeface="Times New Roman"/>
              </a:rPr>
              <a:t>discuss</a:t>
            </a:r>
            <a:r>
              <a:rPr dirty="0" sz="1000" spc="160">
                <a:latin typeface="Times New Roman"/>
                <a:cs typeface="Times New Roman"/>
              </a:rPr>
              <a:t> </a:t>
            </a:r>
            <a:r>
              <a:rPr dirty="0" sz="1000" spc="10">
                <a:latin typeface="Times New Roman"/>
                <a:cs typeface="Times New Roman"/>
              </a:rPr>
              <a:t>the</a:t>
            </a:r>
            <a:r>
              <a:rPr dirty="0" sz="1000" spc="155">
                <a:latin typeface="Times New Roman"/>
                <a:cs typeface="Times New Roman"/>
              </a:rPr>
              <a:t> </a:t>
            </a:r>
            <a:r>
              <a:rPr dirty="0" sz="1000" spc="10">
                <a:latin typeface="Times New Roman"/>
                <a:cs typeface="Times New Roman"/>
              </a:rPr>
              <a:t>influence</a:t>
            </a:r>
            <a:r>
              <a:rPr dirty="0" sz="1000" spc="160">
                <a:latin typeface="Times New Roman"/>
                <a:cs typeface="Times New Roman"/>
              </a:rPr>
              <a:t> </a:t>
            </a:r>
            <a:r>
              <a:rPr dirty="0" sz="1000" spc="10">
                <a:latin typeface="Times New Roman"/>
                <a:cs typeface="Times New Roman"/>
              </a:rPr>
              <a:t>of</a:t>
            </a:r>
            <a:r>
              <a:rPr dirty="0" sz="1000" spc="155">
                <a:latin typeface="Times New Roman"/>
                <a:cs typeface="Times New Roman"/>
              </a:rPr>
              <a:t> </a:t>
            </a:r>
            <a:r>
              <a:rPr dirty="0" sz="1000" spc="10">
                <a:latin typeface="Times New Roman"/>
                <a:cs typeface="Times New Roman"/>
              </a:rPr>
              <a:t>gradient</a:t>
            </a:r>
            <a:r>
              <a:rPr dirty="0" sz="1000" spc="160">
                <a:latin typeface="Times New Roman"/>
                <a:cs typeface="Times New Roman"/>
              </a:rPr>
              <a:t> </a:t>
            </a:r>
            <a:r>
              <a:rPr dirty="0" sz="1000" spc="10">
                <a:latin typeface="Times New Roman"/>
                <a:cs typeface="Times New Roman"/>
              </a:rPr>
              <a:t>truncation</a:t>
            </a:r>
            <a:r>
              <a:rPr dirty="0" sz="1000" spc="155">
                <a:latin typeface="Times New Roman"/>
                <a:cs typeface="Times New Roman"/>
              </a:rPr>
              <a:t> </a:t>
            </a:r>
            <a:r>
              <a:rPr dirty="0" sz="1000" spc="10">
                <a:latin typeface="Times New Roman"/>
                <a:cs typeface="Times New Roman"/>
              </a:rPr>
              <a:t>and</a:t>
            </a:r>
            <a:r>
              <a:rPr dirty="0" sz="1000" spc="160">
                <a:latin typeface="Times New Roman"/>
                <a:cs typeface="Times New Roman"/>
              </a:rPr>
              <a:t> </a:t>
            </a:r>
            <a:r>
              <a:rPr dirty="0" sz="1000" spc="10">
                <a:latin typeface="Times New Roman"/>
                <a:cs typeface="Times New Roman"/>
              </a:rPr>
              <a:t>hyper-parameters</a:t>
            </a:r>
            <a:r>
              <a:rPr dirty="0" sz="1000" spc="155">
                <a:latin typeface="Times New Roman"/>
                <a:cs typeface="Times New Roman"/>
              </a:rPr>
              <a:t> </a:t>
            </a:r>
            <a:r>
              <a:rPr dirty="0" sz="1000" spc="-50">
                <a:latin typeface="Cambria"/>
                <a:cs typeface="Cambria"/>
              </a:rPr>
              <a:t>𝛼</a:t>
            </a:r>
            <a:endParaRPr sz="1000">
              <a:latin typeface="Cambria"/>
              <a:cs typeface="Cambria"/>
            </a:endParaRPr>
          </a:p>
          <a:p>
            <a:pPr algn="just" marL="12700" marR="5080">
              <a:lnSpc>
                <a:spcPct val="129500"/>
              </a:lnSpc>
            </a:pPr>
            <a:r>
              <a:rPr dirty="0" sz="1000" spc="10">
                <a:latin typeface="Times New Roman"/>
                <a:cs typeface="Times New Roman"/>
              </a:rPr>
              <a:t>,</a:t>
            </a:r>
            <a:r>
              <a:rPr dirty="0" sz="1000" spc="125">
                <a:latin typeface="Times New Roman"/>
                <a:cs typeface="Times New Roman"/>
              </a:rPr>
              <a:t> </a:t>
            </a:r>
            <a:r>
              <a:rPr dirty="0" sz="1000" spc="10">
                <a:latin typeface="Times New Roman"/>
                <a:cs typeface="Times New Roman"/>
              </a:rPr>
              <a:t>then</a:t>
            </a:r>
            <a:r>
              <a:rPr dirty="0" sz="1000" spc="110">
                <a:latin typeface="Times New Roman"/>
                <a:cs typeface="Times New Roman"/>
              </a:rPr>
              <a:t> </a:t>
            </a:r>
            <a:r>
              <a:rPr dirty="0" sz="1000" spc="10">
                <a:latin typeface="Times New Roman"/>
                <a:cs typeface="Times New Roman"/>
              </a:rPr>
              <a:t>we</a:t>
            </a:r>
            <a:r>
              <a:rPr dirty="0" sz="1000" spc="100">
                <a:latin typeface="Times New Roman"/>
                <a:cs typeface="Times New Roman"/>
              </a:rPr>
              <a:t> </a:t>
            </a:r>
            <a:r>
              <a:rPr dirty="0" sz="1000" spc="10">
                <a:latin typeface="Times New Roman"/>
                <a:cs typeface="Times New Roman"/>
              </a:rPr>
              <a:t>study</a:t>
            </a:r>
            <a:r>
              <a:rPr dirty="0" sz="1000" spc="110">
                <a:latin typeface="Times New Roman"/>
                <a:cs typeface="Times New Roman"/>
              </a:rPr>
              <a:t> </a:t>
            </a:r>
            <a:r>
              <a:rPr dirty="0" sz="1000" spc="10">
                <a:latin typeface="Times New Roman"/>
                <a:cs typeface="Times New Roman"/>
              </a:rPr>
              <a:t>the</a:t>
            </a:r>
            <a:r>
              <a:rPr dirty="0" sz="1000" spc="105">
                <a:latin typeface="Times New Roman"/>
                <a:cs typeface="Times New Roman"/>
              </a:rPr>
              <a:t> </a:t>
            </a:r>
            <a:r>
              <a:rPr dirty="0" sz="1000" spc="10">
                <a:latin typeface="Times New Roman"/>
                <a:cs typeface="Times New Roman"/>
              </a:rPr>
              <a:t>generalization</a:t>
            </a:r>
            <a:r>
              <a:rPr dirty="0" sz="1000" spc="105">
                <a:latin typeface="Times New Roman"/>
                <a:cs typeface="Times New Roman"/>
              </a:rPr>
              <a:t> </a:t>
            </a:r>
            <a:r>
              <a:rPr dirty="0" sz="1000" spc="10">
                <a:latin typeface="Times New Roman"/>
                <a:cs typeface="Times New Roman"/>
              </a:rPr>
              <a:t>of</a:t>
            </a:r>
            <a:r>
              <a:rPr dirty="0" sz="1000" spc="105">
                <a:latin typeface="Times New Roman"/>
                <a:cs typeface="Times New Roman"/>
              </a:rPr>
              <a:t> </a:t>
            </a:r>
            <a:r>
              <a:rPr dirty="0" sz="1000" spc="10">
                <a:latin typeface="Times New Roman"/>
                <a:cs typeface="Times New Roman"/>
              </a:rPr>
              <a:t>DGL</a:t>
            </a:r>
            <a:r>
              <a:rPr dirty="0" sz="1000" spc="105">
                <a:latin typeface="Times New Roman"/>
                <a:cs typeface="Times New Roman"/>
              </a:rPr>
              <a:t> </a:t>
            </a:r>
            <a:r>
              <a:rPr dirty="0" sz="1000" spc="10">
                <a:latin typeface="Times New Roman"/>
                <a:cs typeface="Times New Roman"/>
              </a:rPr>
              <a:t>to</a:t>
            </a:r>
            <a:r>
              <a:rPr dirty="0" sz="1000" spc="105">
                <a:latin typeface="Times New Roman"/>
                <a:cs typeface="Times New Roman"/>
              </a:rPr>
              <a:t> </a:t>
            </a:r>
            <a:r>
              <a:rPr dirty="0" sz="1000" spc="10">
                <a:latin typeface="Times New Roman"/>
                <a:cs typeface="Times New Roman"/>
              </a:rPr>
              <a:t>different</a:t>
            </a:r>
            <a:r>
              <a:rPr dirty="0" sz="1000" spc="100">
                <a:latin typeface="Times New Roman"/>
                <a:cs typeface="Times New Roman"/>
              </a:rPr>
              <a:t> </a:t>
            </a:r>
            <a:r>
              <a:rPr dirty="0" sz="1000" spc="10">
                <a:latin typeface="Times New Roman"/>
                <a:cs typeface="Times New Roman"/>
              </a:rPr>
              <a:t>fusion</a:t>
            </a:r>
            <a:r>
              <a:rPr dirty="0" sz="1000" spc="110">
                <a:latin typeface="Times New Roman"/>
                <a:cs typeface="Times New Roman"/>
              </a:rPr>
              <a:t> </a:t>
            </a:r>
            <a:r>
              <a:rPr dirty="0" sz="1000" spc="10">
                <a:latin typeface="Times New Roman"/>
                <a:cs typeface="Times New Roman"/>
              </a:rPr>
              <a:t>methods,</a:t>
            </a:r>
            <a:r>
              <a:rPr dirty="0" sz="1000" spc="130">
                <a:latin typeface="Times New Roman"/>
                <a:cs typeface="Times New Roman"/>
              </a:rPr>
              <a:t> </a:t>
            </a:r>
            <a:r>
              <a:rPr dirty="0" sz="1000" spc="10">
                <a:latin typeface="Times New Roman"/>
                <a:cs typeface="Times New Roman"/>
              </a:rPr>
              <a:t>modality</a:t>
            </a:r>
            <a:r>
              <a:rPr dirty="0" sz="1000" spc="110">
                <a:latin typeface="Times New Roman"/>
                <a:cs typeface="Times New Roman"/>
              </a:rPr>
              <a:t> </a:t>
            </a:r>
            <a:r>
              <a:rPr dirty="0" sz="1000" spc="10">
                <a:latin typeface="Times New Roman"/>
                <a:cs typeface="Times New Roman"/>
              </a:rPr>
              <a:t>types,</a:t>
            </a:r>
            <a:r>
              <a:rPr dirty="0" sz="1000" spc="125">
                <a:latin typeface="Times New Roman"/>
                <a:cs typeface="Times New Roman"/>
              </a:rPr>
              <a:t> </a:t>
            </a:r>
            <a:r>
              <a:rPr dirty="0" sz="1000" spc="10">
                <a:latin typeface="Times New Roman"/>
                <a:cs typeface="Times New Roman"/>
              </a:rPr>
              <a:t>modality</a:t>
            </a:r>
            <a:r>
              <a:rPr dirty="0" sz="1000" spc="110">
                <a:latin typeface="Times New Roman"/>
                <a:cs typeface="Times New Roman"/>
              </a:rPr>
              <a:t> </a:t>
            </a:r>
            <a:r>
              <a:rPr dirty="0" sz="1000" spc="-10">
                <a:latin typeface="Times New Roman"/>
                <a:cs typeface="Times New Roman"/>
              </a:rPr>
              <a:t>numbers, </a:t>
            </a:r>
            <a:r>
              <a:rPr dirty="0" sz="1000" spc="10">
                <a:latin typeface="Times New Roman"/>
                <a:cs typeface="Times New Roman"/>
              </a:rPr>
              <a:t>and</a:t>
            </a:r>
            <a:r>
              <a:rPr dirty="0" sz="1000" spc="50">
                <a:latin typeface="Times New Roman"/>
                <a:cs typeface="Times New Roman"/>
              </a:rPr>
              <a:t> </a:t>
            </a:r>
            <a:r>
              <a:rPr dirty="0" sz="1000" spc="10">
                <a:latin typeface="Times New Roman"/>
                <a:cs typeface="Times New Roman"/>
              </a:rPr>
              <a:t>tasks.</a:t>
            </a:r>
            <a:r>
              <a:rPr dirty="0" sz="1000" spc="155">
                <a:latin typeface="Times New Roman"/>
                <a:cs typeface="Times New Roman"/>
              </a:rPr>
              <a:t> </a:t>
            </a:r>
            <a:r>
              <a:rPr dirty="0" sz="1000" spc="10">
                <a:latin typeface="Times New Roman"/>
                <a:cs typeface="Times New Roman"/>
              </a:rPr>
              <a:t>Limited</a:t>
            </a:r>
            <a:r>
              <a:rPr dirty="0" sz="1000" spc="50">
                <a:latin typeface="Times New Roman"/>
                <a:cs typeface="Times New Roman"/>
              </a:rPr>
              <a:t> </a:t>
            </a:r>
            <a:r>
              <a:rPr dirty="0" sz="1000" spc="10">
                <a:latin typeface="Times New Roman"/>
                <a:cs typeface="Times New Roman"/>
              </a:rPr>
              <a:t>by</a:t>
            </a:r>
            <a:r>
              <a:rPr dirty="0" sz="1000" spc="55">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spc="10">
                <a:latin typeface="Times New Roman"/>
                <a:cs typeface="Times New Roman"/>
              </a:rPr>
              <a:t>page,</a:t>
            </a:r>
            <a:r>
              <a:rPr dirty="0" sz="1000" spc="55">
                <a:latin typeface="Times New Roman"/>
                <a:cs typeface="Times New Roman"/>
              </a:rPr>
              <a:t> </a:t>
            </a:r>
            <a:r>
              <a:rPr dirty="0" sz="1000" spc="10">
                <a:latin typeface="Times New Roman"/>
                <a:cs typeface="Times New Roman"/>
              </a:rPr>
              <a:t>more</a:t>
            </a:r>
            <a:r>
              <a:rPr dirty="0" sz="1000" spc="50">
                <a:latin typeface="Times New Roman"/>
                <a:cs typeface="Times New Roman"/>
              </a:rPr>
              <a:t> </a:t>
            </a:r>
            <a:r>
              <a:rPr dirty="0" sz="1000" spc="10">
                <a:latin typeface="Times New Roman"/>
                <a:cs typeface="Times New Roman"/>
              </a:rPr>
              <a:t>ablation</a:t>
            </a:r>
            <a:r>
              <a:rPr dirty="0" sz="1000" spc="50">
                <a:latin typeface="Times New Roman"/>
                <a:cs typeface="Times New Roman"/>
              </a:rPr>
              <a:t> </a:t>
            </a:r>
            <a:r>
              <a:rPr dirty="0" sz="1000" spc="10">
                <a:latin typeface="Times New Roman"/>
                <a:cs typeface="Times New Roman"/>
              </a:rPr>
              <a:t>experiments</a:t>
            </a:r>
            <a:r>
              <a:rPr dirty="0" sz="1000" spc="55">
                <a:latin typeface="Times New Roman"/>
                <a:cs typeface="Times New Roman"/>
              </a:rPr>
              <a:t> </a:t>
            </a:r>
            <a:r>
              <a:rPr dirty="0" sz="1000" spc="10">
                <a:latin typeface="Times New Roman"/>
                <a:cs typeface="Times New Roman"/>
              </a:rPr>
              <a:t>and</a:t>
            </a:r>
            <a:r>
              <a:rPr dirty="0" sz="1000" spc="50">
                <a:latin typeface="Times New Roman"/>
                <a:cs typeface="Times New Roman"/>
              </a:rPr>
              <a:t> </a:t>
            </a:r>
            <a:r>
              <a:rPr dirty="0" sz="1000" spc="10">
                <a:latin typeface="Times New Roman"/>
                <a:cs typeface="Times New Roman"/>
              </a:rPr>
              <a:t>discussion</a:t>
            </a:r>
            <a:r>
              <a:rPr dirty="0" sz="1000" spc="55">
                <a:latin typeface="Times New Roman"/>
                <a:cs typeface="Times New Roman"/>
              </a:rPr>
              <a:t> </a:t>
            </a:r>
            <a:r>
              <a:rPr dirty="0" sz="1000" spc="10">
                <a:latin typeface="Times New Roman"/>
                <a:cs typeface="Times New Roman"/>
              </a:rPr>
              <a:t>can</a:t>
            </a:r>
            <a:r>
              <a:rPr dirty="0" sz="1000" spc="50">
                <a:latin typeface="Times New Roman"/>
                <a:cs typeface="Times New Roman"/>
              </a:rPr>
              <a:t> </a:t>
            </a:r>
            <a:r>
              <a:rPr dirty="0" sz="1000" spc="10">
                <a:latin typeface="Times New Roman"/>
                <a:cs typeface="Times New Roman"/>
              </a:rPr>
              <a:t>be</a:t>
            </a:r>
            <a:r>
              <a:rPr dirty="0" sz="1000" spc="55">
                <a:latin typeface="Times New Roman"/>
                <a:cs typeface="Times New Roman"/>
              </a:rPr>
              <a:t> </a:t>
            </a:r>
            <a:r>
              <a:rPr dirty="0" sz="1000" spc="10">
                <a:latin typeface="Times New Roman"/>
                <a:cs typeface="Times New Roman"/>
              </a:rPr>
              <a:t>seen</a:t>
            </a:r>
            <a:r>
              <a:rPr dirty="0" sz="1000" spc="50">
                <a:latin typeface="Times New Roman"/>
                <a:cs typeface="Times New Roman"/>
              </a:rPr>
              <a:t> </a:t>
            </a:r>
            <a:r>
              <a:rPr dirty="0" sz="1000" spc="10">
                <a:latin typeface="Times New Roman"/>
                <a:cs typeface="Times New Roman"/>
              </a:rPr>
              <a:t>in</a:t>
            </a:r>
            <a:r>
              <a:rPr dirty="0" sz="1000" spc="50">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supplementary materials.</a:t>
            </a:r>
            <a:endParaRPr sz="1000">
              <a:latin typeface="Times New Roman"/>
              <a:cs typeface="Times New Roman"/>
            </a:endParaRPr>
          </a:p>
          <a:p>
            <a:pPr>
              <a:lnSpc>
                <a:spcPct val="100000"/>
              </a:lnSpc>
              <a:spcBef>
                <a:spcPts val="240"/>
              </a:spcBef>
            </a:pPr>
            <a:endParaRPr sz="1000">
              <a:latin typeface="Times New Roman"/>
              <a:cs typeface="Times New Roman"/>
            </a:endParaRPr>
          </a:p>
          <a:p>
            <a:pPr marL="192405" marR="95250">
              <a:lnSpc>
                <a:spcPct val="129500"/>
              </a:lnSpc>
            </a:pPr>
            <a:r>
              <a:rPr dirty="0" sz="1000">
                <a:latin typeface="SimSun"/>
                <a:cs typeface="SimSun"/>
              </a:rPr>
              <a:t>我们首先进行实验来讨论梯度截断和超参数</a:t>
            </a:r>
            <a:r>
              <a:rPr dirty="0" sz="1000">
                <a:latin typeface="Cambria"/>
                <a:cs typeface="Cambria"/>
              </a:rPr>
              <a:t>𝛼</a:t>
            </a:r>
            <a:r>
              <a:rPr dirty="0" sz="1000" spc="-15">
                <a:latin typeface="Cambria"/>
                <a:cs typeface="Cambria"/>
              </a:rPr>
              <a:t> </a:t>
            </a:r>
            <a:r>
              <a:rPr dirty="0" sz="1000">
                <a:latin typeface="SimSun"/>
                <a:cs typeface="SimSun"/>
              </a:rPr>
              <a:t>的影响，然后研究</a:t>
            </a:r>
            <a:r>
              <a:rPr dirty="0" sz="1000" spc="-10">
                <a:latin typeface="Times New Roman"/>
                <a:cs typeface="Times New Roman"/>
              </a:rPr>
              <a:t>DGL</a:t>
            </a:r>
            <a:r>
              <a:rPr dirty="0" sz="1000" spc="-40">
                <a:latin typeface="Times New Roman"/>
                <a:cs typeface="Times New Roman"/>
              </a:rPr>
              <a:t> </a:t>
            </a:r>
            <a:r>
              <a:rPr dirty="0" sz="1000" spc="-25">
                <a:latin typeface="SimSun"/>
                <a:cs typeface="SimSun"/>
              </a:rPr>
              <a:t>对不同融合方法、模态类型、</a:t>
            </a:r>
            <a:r>
              <a:rPr dirty="0" sz="1000" spc="-15">
                <a:latin typeface="SimSun"/>
                <a:cs typeface="SimSun"/>
              </a:rPr>
              <a:t>模态数量和任务的泛化能力。由于篇幅限制，更多消融实验和讨论可在补充材料中查看。</a:t>
            </a:r>
            <a:endParaRPr sz="1000">
              <a:latin typeface="SimSun"/>
              <a:cs typeface="SimSun"/>
            </a:endParaRPr>
          </a:p>
          <a:p>
            <a:pPr>
              <a:lnSpc>
                <a:spcPct val="100000"/>
              </a:lnSpc>
              <a:spcBef>
                <a:spcPts val="75"/>
              </a:spcBef>
            </a:pPr>
            <a:endParaRPr sz="1000">
              <a:latin typeface="SimSun"/>
              <a:cs typeface="SimSun"/>
            </a:endParaRPr>
          </a:p>
          <a:p>
            <a:pPr algn="just" marL="12700" marR="5080" indent="252729">
              <a:lnSpc>
                <a:spcPct val="129500"/>
              </a:lnSpc>
            </a:pPr>
            <a:r>
              <a:rPr dirty="0" sz="1000">
                <a:latin typeface="Times New Roman"/>
                <a:cs typeface="Times New Roman"/>
              </a:rPr>
              <a:t>The</a:t>
            </a:r>
            <a:r>
              <a:rPr dirty="0" sz="1000" spc="100">
                <a:latin typeface="Times New Roman"/>
                <a:cs typeface="Times New Roman"/>
              </a:rPr>
              <a:t> </a:t>
            </a:r>
            <a:r>
              <a:rPr dirty="0" sz="1000">
                <a:latin typeface="Times New Roman"/>
                <a:cs typeface="Times New Roman"/>
              </a:rPr>
              <a:t>effect</a:t>
            </a:r>
            <a:r>
              <a:rPr dirty="0" sz="1000" spc="105">
                <a:latin typeface="Times New Roman"/>
                <a:cs typeface="Times New Roman"/>
              </a:rPr>
              <a:t> </a:t>
            </a:r>
            <a:r>
              <a:rPr dirty="0" sz="1000">
                <a:latin typeface="Times New Roman"/>
                <a:cs typeface="Times New Roman"/>
              </a:rPr>
              <a:t>of</a:t>
            </a:r>
            <a:r>
              <a:rPr dirty="0" sz="1000" spc="105">
                <a:latin typeface="Times New Roman"/>
                <a:cs typeface="Times New Roman"/>
              </a:rPr>
              <a:t> </a:t>
            </a:r>
            <a:r>
              <a:rPr dirty="0" sz="1000">
                <a:latin typeface="Times New Roman"/>
                <a:cs typeface="Times New Roman"/>
              </a:rPr>
              <a:t>gradient</a:t>
            </a:r>
            <a:r>
              <a:rPr dirty="0" sz="1000" spc="105">
                <a:latin typeface="Times New Roman"/>
                <a:cs typeface="Times New Roman"/>
              </a:rPr>
              <a:t> </a:t>
            </a:r>
            <a:r>
              <a:rPr dirty="0" sz="1000">
                <a:latin typeface="Times New Roman"/>
                <a:cs typeface="Times New Roman"/>
              </a:rPr>
              <a:t>truncation.</a:t>
            </a:r>
            <a:r>
              <a:rPr dirty="0" sz="1000" spc="245">
                <a:latin typeface="Times New Roman"/>
                <a:cs typeface="Times New Roman"/>
              </a:rPr>
              <a:t> </a:t>
            </a:r>
            <a:r>
              <a:rPr dirty="0" sz="1000" spc="-30">
                <a:latin typeface="Times New Roman"/>
                <a:cs typeface="Times New Roman"/>
              </a:rPr>
              <a:t>We</a:t>
            </a:r>
            <a:r>
              <a:rPr dirty="0" sz="1000" spc="100">
                <a:latin typeface="Times New Roman"/>
                <a:cs typeface="Times New Roman"/>
              </a:rPr>
              <a:t> </a:t>
            </a:r>
            <a:r>
              <a:rPr dirty="0" sz="1000">
                <a:latin typeface="Times New Roman"/>
                <a:cs typeface="Times New Roman"/>
              </a:rPr>
              <a:t>conduct</a:t>
            </a:r>
            <a:r>
              <a:rPr dirty="0" sz="1000" spc="105">
                <a:latin typeface="Times New Roman"/>
                <a:cs typeface="Times New Roman"/>
              </a:rPr>
              <a:t> </a:t>
            </a:r>
            <a:r>
              <a:rPr dirty="0" sz="1000">
                <a:latin typeface="Times New Roman"/>
                <a:cs typeface="Times New Roman"/>
              </a:rPr>
              <a:t>experiments</a:t>
            </a:r>
            <a:r>
              <a:rPr dirty="0" sz="1000" spc="95">
                <a:latin typeface="Times New Roman"/>
                <a:cs typeface="Times New Roman"/>
              </a:rPr>
              <a:t> </a:t>
            </a:r>
            <a:r>
              <a:rPr dirty="0" sz="1000">
                <a:latin typeface="Times New Roman"/>
                <a:cs typeface="Times New Roman"/>
              </a:rPr>
              <a:t>on</a:t>
            </a:r>
            <a:r>
              <a:rPr dirty="0" sz="1000" spc="105">
                <a:latin typeface="Times New Roman"/>
                <a:cs typeface="Times New Roman"/>
              </a:rPr>
              <a:t> </a:t>
            </a:r>
            <a:r>
              <a:rPr dirty="0" sz="1000">
                <a:latin typeface="Times New Roman"/>
                <a:cs typeface="Times New Roman"/>
              </a:rPr>
              <a:t>the</a:t>
            </a:r>
            <a:r>
              <a:rPr dirty="0" sz="1000" spc="100">
                <a:latin typeface="Times New Roman"/>
                <a:cs typeface="Times New Roman"/>
              </a:rPr>
              <a:t> </a:t>
            </a:r>
            <a:r>
              <a:rPr dirty="0" sz="1000" spc="-10">
                <a:latin typeface="Times New Roman"/>
                <a:cs typeface="Times New Roman"/>
              </a:rPr>
              <a:t>CREMA-</a:t>
            </a:r>
            <a:r>
              <a:rPr dirty="0" sz="1000">
                <a:latin typeface="Times New Roman"/>
                <a:cs typeface="Times New Roman"/>
              </a:rPr>
              <a:t>D</a:t>
            </a:r>
            <a:r>
              <a:rPr dirty="0" sz="1000" spc="100">
                <a:latin typeface="Times New Roman"/>
                <a:cs typeface="Times New Roman"/>
              </a:rPr>
              <a:t> </a:t>
            </a:r>
            <a:r>
              <a:rPr dirty="0" sz="1000">
                <a:latin typeface="Times New Roman"/>
                <a:cs typeface="Times New Roman"/>
              </a:rPr>
              <a:t>dataset</a:t>
            </a:r>
            <a:r>
              <a:rPr dirty="0" sz="1000" spc="105">
                <a:latin typeface="Times New Roman"/>
                <a:cs typeface="Times New Roman"/>
              </a:rPr>
              <a:t> </a:t>
            </a:r>
            <a:r>
              <a:rPr dirty="0" sz="1000">
                <a:latin typeface="Times New Roman"/>
                <a:cs typeface="Times New Roman"/>
              </a:rPr>
              <a:t>to</a:t>
            </a:r>
            <a:r>
              <a:rPr dirty="0" sz="1000" spc="100">
                <a:latin typeface="Times New Roman"/>
                <a:cs typeface="Times New Roman"/>
              </a:rPr>
              <a:t> </a:t>
            </a:r>
            <a:r>
              <a:rPr dirty="0" sz="1000">
                <a:latin typeface="Times New Roman"/>
                <a:cs typeface="Times New Roman"/>
              </a:rPr>
              <a:t>study</a:t>
            </a:r>
            <a:r>
              <a:rPr dirty="0" sz="1000" spc="105">
                <a:latin typeface="Times New Roman"/>
                <a:cs typeface="Times New Roman"/>
              </a:rPr>
              <a:t> </a:t>
            </a:r>
            <a:r>
              <a:rPr dirty="0" sz="1000">
                <a:latin typeface="Times New Roman"/>
                <a:cs typeface="Times New Roman"/>
              </a:rPr>
              <a:t>the</a:t>
            </a:r>
            <a:r>
              <a:rPr dirty="0" sz="1000" spc="105">
                <a:latin typeface="Times New Roman"/>
                <a:cs typeface="Times New Roman"/>
              </a:rPr>
              <a:t> </a:t>
            </a:r>
            <a:r>
              <a:rPr dirty="0" sz="1000" spc="-10">
                <a:latin typeface="Times New Roman"/>
                <a:cs typeface="Times New Roman"/>
              </a:rPr>
              <a:t>effec- </a:t>
            </a:r>
            <a:r>
              <a:rPr dirty="0" sz="1000">
                <a:latin typeface="Times New Roman"/>
                <a:cs typeface="Times New Roman"/>
              </a:rPr>
              <a:t>tiveness</a:t>
            </a:r>
            <a:r>
              <a:rPr dirty="0" sz="1000" spc="95">
                <a:latin typeface="Times New Roman"/>
                <a:cs typeface="Times New Roman"/>
              </a:rPr>
              <a:t> </a:t>
            </a:r>
            <a:r>
              <a:rPr dirty="0" sz="1000" spc="-50">
                <a:latin typeface="Times New Roman"/>
                <a:cs typeface="Times New Roman"/>
              </a:rPr>
              <a:t>of</a:t>
            </a:r>
            <a:r>
              <a:rPr dirty="0" sz="1000" spc="100">
                <a:latin typeface="Times New Roman"/>
                <a:cs typeface="Times New Roman"/>
              </a:rPr>
              <a:t> </a:t>
            </a:r>
            <a:r>
              <a:rPr dirty="0" sz="1000">
                <a:latin typeface="Times New Roman"/>
                <a:cs typeface="Times New Roman"/>
              </a:rPr>
              <a:t>multimodal</a:t>
            </a:r>
            <a:r>
              <a:rPr dirty="0" sz="1000" spc="95">
                <a:latin typeface="Times New Roman"/>
                <a:cs typeface="Times New Roman"/>
              </a:rPr>
              <a:t> </a:t>
            </a:r>
            <a:r>
              <a:rPr dirty="0" sz="1000">
                <a:latin typeface="Times New Roman"/>
                <a:cs typeface="Times New Roman"/>
              </a:rPr>
              <a:t>gradient</a:t>
            </a:r>
            <a:r>
              <a:rPr dirty="0" sz="1000" spc="100">
                <a:latin typeface="Times New Roman"/>
                <a:cs typeface="Times New Roman"/>
              </a:rPr>
              <a:t> </a:t>
            </a:r>
            <a:r>
              <a:rPr dirty="0" sz="1000">
                <a:latin typeface="Times New Roman"/>
                <a:cs typeface="Times New Roman"/>
              </a:rPr>
              <a:t>truncation</a:t>
            </a:r>
            <a:r>
              <a:rPr dirty="0" sz="1000" spc="95">
                <a:latin typeface="Times New Roman"/>
                <a:cs typeface="Times New Roman"/>
              </a:rPr>
              <a:t> </a:t>
            </a:r>
            <a:r>
              <a:rPr dirty="0" sz="1000" spc="-10">
                <a:latin typeface="Times New Roman"/>
                <a:cs typeface="Times New Roman"/>
              </a:rPr>
              <a:t>(MT)</a:t>
            </a:r>
            <a:r>
              <a:rPr dirty="0" sz="1000" spc="100">
                <a:latin typeface="Times New Roman"/>
                <a:cs typeface="Times New Roman"/>
              </a:rPr>
              <a:t> </a:t>
            </a:r>
            <a:r>
              <a:rPr dirty="0" sz="1000">
                <a:latin typeface="Times New Roman"/>
                <a:cs typeface="Times New Roman"/>
              </a:rPr>
              <a:t>and</a:t>
            </a:r>
            <a:r>
              <a:rPr dirty="0" sz="1000" spc="95">
                <a:latin typeface="Times New Roman"/>
                <a:cs typeface="Times New Roman"/>
              </a:rPr>
              <a:t> </a:t>
            </a:r>
            <a:r>
              <a:rPr dirty="0" sz="1000">
                <a:latin typeface="Times New Roman"/>
                <a:cs typeface="Times New Roman"/>
              </a:rPr>
              <a:t>unimodal</a:t>
            </a:r>
            <a:r>
              <a:rPr dirty="0" sz="1000" spc="100">
                <a:latin typeface="Times New Roman"/>
                <a:cs typeface="Times New Roman"/>
              </a:rPr>
              <a:t> </a:t>
            </a:r>
            <a:r>
              <a:rPr dirty="0" sz="1000">
                <a:latin typeface="Times New Roman"/>
                <a:cs typeface="Times New Roman"/>
              </a:rPr>
              <a:t>gradient</a:t>
            </a:r>
            <a:r>
              <a:rPr dirty="0" sz="1000" spc="95">
                <a:latin typeface="Times New Roman"/>
                <a:cs typeface="Times New Roman"/>
              </a:rPr>
              <a:t> </a:t>
            </a:r>
            <a:r>
              <a:rPr dirty="0" sz="1000">
                <a:latin typeface="Times New Roman"/>
                <a:cs typeface="Times New Roman"/>
              </a:rPr>
              <a:t>truncation(UT).</a:t>
            </a:r>
            <a:r>
              <a:rPr dirty="0" sz="1000" spc="100">
                <a:latin typeface="Times New Roman"/>
                <a:cs typeface="Times New Roman"/>
              </a:rPr>
              <a:t> </a:t>
            </a:r>
            <a:r>
              <a:rPr dirty="0" sz="1000" spc="-30">
                <a:latin typeface="Times New Roman"/>
                <a:cs typeface="Times New Roman"/>
              </a:rPr>
              <a:t>As</a:t>
            </a:r>
            <a:r>
              <a:rPr dirty="0" sz="1000" spc="100">
                <a:latin typeface="Times New Roman"/>
                <a:cs typeface="Times New Roman"/>
              </a:rPr>
              <a:t> </a:t>
            </a:r>
            <a:r>
              <a:rPr dirty="0" sz="1000">
                <a:latin typeface="Times New Roman"/>
                <a:cs typeface="Times New Roman"/>
              </a:rPr>
              <a:t>shown</a:t>
            </a:r>
            <a:r>
              <a:rPr dirty="0" sz="1000" spc="95">
                <a:latin typeface="Times New Roman"/>
                <a:cs typeface="Times New Roman"/>
              </a:rPr>
              <a:t> </a:t>
            </a:r>
            <a:r>
              <a:rPr dirty="0" sz="1000">
                <a:latin typeface="Times New Roman"/>
                <a:cs typeface="Times New Roman"/>
              </a:rPr>
              <a:t>in</a:t>
            </a:r>
            <a:r>
              <a:rPr dirty="0" sz="1000" spc="100">
                <a:latin typeface="Times New Roman"/>
                <a:cs typeface="Times New Roman"/>
              </a:rPr>
              <a:t> </a:t>
            </a:r>
            <a:r>
              <a:rPr dirty="0" sz="1000" spc="-10">
                <a:latin typeface="Times New Roman"/>
                <a:cs typeface="Times New Roman"/>
              </a:rPr>
              <a:t>Table</a:t>
            </a:r>
            <a:r>
              <a:rPr dirty="0" sz="1000" spc="95">
                <a:latin typeface="Times New Roman"/>
                <a:cs typeface="Times New Roman"/>
              </a:rPr>
              <a:t> </a:t>
            </a:r>
            <a:r>
              <a:rPr dirty="0" sz="1000" spc="-25">
                <a:latin typeface="Times New Roman"/>
                <a:cs typeface="Times New Roman"/>
              </a:rPr>
              <a:t>3, </a:t>
            </a:r>
            <a:r>
              <a:rPr dirty="0" sz="1000" spc="10">
                <a:latin typeface="Times New Roman"/>
                <a:cs typeface="Times New Roman"/>
              </a:rPr>
              <a:t>both</a:t>
            </a:r>
            <a:r>
              <a:rPr dirty="0" sz="1000" spc="50">
                <a:latin typeface="Times New Roman"/>
                <a:cs typeface="Times New Roman"/>
              </a:rPr>
              <a:t> </a:t>
            </a:r>
            <a:r>
              <a:rPr dirty="0" sz="1000" spc="10">
                <a:latin typeface="Times New Roman"/>
                <a:cs typeface="Times New Roman"/>
              </a:rPr>
              <a:t>MT</a:t>
            </a:r>
            <a:r>
              <a:rPr dirty="0" sz="1000" spc="55">
                <a:latin typeface="Times New Roman"/>
                <a:cs typeface="Times New Roman"/>
              </a:rPr>
              <a:t> </a:t>
            </a:r>
            <a:r>
              <a:rPr dirty="0" sz="1000" spc="10">
                <a:latin typeface="Times New Roman"/>
                <a:cs typeface="Times New Roman"/>
              </a:rPr>
              <a:t>and</a:t>
            </a:r>
            <a:r>
              <a:rPr dirty="0" sz="1000" spc="50">
                <a:latin typeface="Times New Roman"/>
                <a:cs typeface="Times New Roman"/>
              </a:rPr>
              <a:t> </a:t>
            </a:r>
            <a:r>
              <a:rPr dirty="0" sz="1000" spc="10">
                <a:latin typeface="Times New Roman"/>
                <a:cs typeface="Times New Roman"/>
              </a:rPr>
              <a:t>UT</a:t>
            </a:r>
            <a:r>
              <a:rPr dirty="0" sz="1000" spc="55">
                <a:latin typeface="Times New Roman"/>
                <a:cs typeface="Times New Roman"/>
              </a:rPr>
              <a:t> </a:t>
            </a:r>
            <a:r>
              <a:rPr dirty="0" sz="1000" spc="10">
                <a:latin typeface="Times New Roman"/>
                <a:cs typeface="Times New Roman"/>
              </a:rPr>
              <a:t>improve</a:t>
            </a:r>
            <a:r>
              <a:rPr dirty="0" sz="1000" spc="50">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performance</a:t>
            </a:r>
            <a:r>
              <a:rPr dirty="0" sz="1000" spc="50">
                <a:latin typeface="Times New Roman"/>
                <a:cs typeface="Times New Roman"/>
              </a:rPr>
              <a:t> </a:t>
            </a:r>
            <a:r>
              <a:rPr dirty="0" sz="1000" spc="10">
                <a:latin typeface="Times New Roman"/>
                <a:cs typeface="Times New Roman"/>
              </a:rPr>
              <a:t>significantly</a:t>
            </a:r>
            <a:r>
              <a:rPr dirty="0" sz="1000" spc="55">
                <a:latin typeface="Times New Roman"/>
                <a:cs typeface="Times New Roman"/>
              </a:rPr>
              <a:t> </a:t>
            </a:r>
            <a:r>
              <a:rPr dirty="0" sz="1000" spc="10">
                <a:latin typeface="Times New Roman"/>
                <a:cs typeface="Times New Roman"/>
              </a:rPr>
              <a:t>compared</a:t>
            </a:r>
            <a:r>
              <a:rPr dirty="0" sz="1000" spc="55">
                <a:latin typeface="Times New Roman"/>
                <a:cs typeface="Times New Roman"/>
              </a:rPr>
              <a:t> </a:t>
            </a:r>
            <a:r>
              <a:rPr dirty="0" sz="1000" spc="10">
                <a:latin typeface="Times New Roman"/>
                <a:cs typeface="Times New Roman"/>
              </a:rPr>
              <a:t>to</a:t>
            </a:r>
            <a:r>
              <a:rPr dirty="0" sz="1000" spc="50">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spc="10">
                <a:latin typeface="Times New Roman"/>
                <a:cs typeface="Times New Roman"/>
              </a:rPr>
              <a:t>baseline</a:t>
            </a:r>
            <a:r>
              <a:rPr dirty="0" sz="1000" spc="50">
                <a:latin typeface="Times New Roman"/>
                <a:cs typeface="Times New Roman"/>
              </a:rPr>
              <a:t> </a:t>
            </a:r>
            <a:r>
              <a:rPr dirty="0" sz="1000" spc="10">
                <a:latin typeface="Times New Roman"/>
                <a:cs typeface="Times New Roman"/>
              </a:rPr>
              <a:t>model.</a:t>
            </a:r>
            <a:r>
              <a:rPr dirty="0" sz="1000" spc="175">
                <a:latin typeface="Times New Roman"/>
                <a:cs typeface="Times New Roman"/>
              </a:rPr>
              <a:t> </a:t>
            </a:r>
            <a:r>
              <a:rPr dirty="0" sz="1000" spc="10">
                <a:latin typeface="Times New Roman"/>
                <a:cs typeface="Times New Roman"/>
              </a:rPr>
              <a:t>The</a:t>
            </a:r>
            <a:r>
              <a:rPr dirty="0" sz="1000" spc="50">
                <a:latin typeface="Times New Roman"/>
                <a:cs typeface="Times New Roman"/>
              </a:rPr>
              <a:t> </a:t>
            </a:r>
            <a:r>
              <a:rPr dirty="0" sz="1000" spc="10">
                <a:latin typeface="Times New Roman"/>
                <a:cs typeface="Times New Roman"/>
              </a:rPr>
              <a:t>former</a:t>
            </a:r>
            <a:r>
              <a:rPr dirty="0" sz="1000" spc="55">
                <a:latin typeface="Times New Roman"/>
                <a:cs typeface="Times New Roman"/>
              </a:rPr>
              <a:t> </a:t>
            </a:r>
            <a:r>
              <a:rPr dirty="0" sz="1000" spc="-10">
                <a:latin typeface="Times New Roman"/>
                <a:cs typeface="Times New Roman"/>
              </a:rPr>
              <a:t>avoids </a:t>
            </a:r>
            <a:r>
              <a:rPr dirty="0" sz="1000">
                <a:latin typeface="Times New Roman"/>
                <a:cs typeface="Times New Roman"/>
              </a:rPr>
              <a:t>the</a:t>
            </a:r>
            <a:r>
              <a:rPr dirty="0" sz="1000" spc="220">
                <a:latin typeface="Times New Roman"/>
                <a:cs typeface="Times New Roman"/>
              </a:rPr>
              <a:t> </a:t>
            </a:r>
            <a:r>
              <a:rPr dirty="0" sz="1000">
                <a:latin typeface="Times New Roman"/>
                <a:cs typeface="Times New Roman"/>
              </a:rPr>
              <a:t>gradient</a:t>
            </a:r>
            <a:r>
              <a:rPr dirty="0" sz="1000" spc="220">
                <a:latin typeface="Times New Roman"/>
                <a:cs typeface="Times New Roman"/>
              </a:rPr>
              <a:t> </a:t>
            </a:r>
            <a:r>
              <a:rPr dirty="0" sz="1000">
                <a:latin typeface="Times New Roman"/>
                <a:cs typeface="Times New Roman"/>
              </a:rPr>
              <a:t>suppression</a:t>
            </a:r>
            <a:r>
              <a:rPr dirty="0" sz="1000" spc="220">
                <a:latin typeface="Times New Roman"/>
                <a:cs typeface="Times New Roman"/>
              </a:rPr>
              <a:t> </a:t>
            </a:r>
            <a:r>
              <a:rPr dirty="0" sz="1000">
                <a:latin typeface="Times New Roman"/>
                <a:cs typeface="Times New Roman"/>
              </a:rPr>
              <a:t>from</a:t>
            </a:r>
            <a:r>
              <a:rPr dirty="0" sz="1000" spc="220">
                <a:latin typeface="Times New Roman"/>
                <a:cs typeface="Times New Roman"/>
              </a:rPr>
              <a:t> </a:t>
            </a:r>
            <a:r>
              <a:rPr dirty="0" sz="1000">
                <a:latin typeface="Times New Roman"/>
                <a:cs typeface="Times New Roman"/>
              </a:rPr>
              <a:t>multimodal</a:t>
            </a:r>
            <a:r>
              <a:rPr dirty="0" sz="1000" spc="220">
                <a:latin typeface="Times New Roman"/>
                <a:cs typeface="Times New Roman"/>
              </a:rPr>
              <a:t> </a:t>
            </a:r>
            <a:r>
              <a:rPr dirty="0" sz="1000">
                <a:latin typeface="Times New Roman"/>
                <a:cs typeface="Times New Roman"/>
              </a:rPr>
              <a:t>fusion</a:t>
            </a:r>
            <a:r>
              <a:rPr dirty="0" sz="1000" spc="220">
                <a:latin typeface="Times New Roman"/>
                <a:cs typeface="Times New Roman"/>
              </a:rPr>
              <a:t> </a:t>
            </a:r>
            <a:r>
              <a:rPr dirty="0" sz="1000">
                <a:latin typeface="Times New Roman"/>
                <a:cs typeface="Times New Roman"/>
              </a:rPr>
              <a:t>to</a:t>
            </a:r>
            <a:r>
              <a:rPr dirty="0" sz="1000" spc="220">
                <a:latin typeface="Times New Roman"/>
                <a:cs typeface="Times New Roman"/>
              </a:rPr>
              <a:t> </a:t>
            </a:r>
            <a:r>
              <a:rPr dirty="0" sz="1000">
                <a:latin typeface="Times New Roman"/>
                <a:cs typeface="Times New Roman"/>
              </a:rPr>
              <a:t>the</a:t>
            </a:r>
            <a:r>
              <a:rPr dirty="0" sz="1000" spc="225">
                <a:latin typeface="Times New Roman"/>
                <a:cs typeface="Times New Roman"/>
              </a:rPr>
              <a:t> </a:t>
            </a:r>
            <a:r>
              <a:rPr dirty="0" sz="1000">
                <a:latin typeface="Times New Roman"/>
                <a:cs typeface="Times New Roman"/>
              </a:rPr>
              <a:t>unimodal</a:t>
            </a:r>
            <a:r>
              <a:rPr dirty="0" sz="1000" spc="220">
                <a:latin typeface="Times New Roman"/>
                <a:cs typeface="Times New Roman"/>
              </a:rPr>
              <a:t> </a:t>
            </a:r>
            <a:r>
              <a:rPr dirty="0" sz="1000">
                <a:latin typeface="Times New Roman"/>
                <a:cs typeface="Times New Roman"/>
              </a:rPr>
              <a:t>encoder,</a:t>
            </a:r>
            <a:r>
              <a:rPr dirty="0" sz="1000" spc="254">
                <a:latin typeface="Times New Roman"/>
                <a:cs typeface="Times New Roman"/>
              </a:rPr>
              <a:t> </a:t>
            </a:r>
            <a:r>
              <a:rPr dirty="0" sz="1000">
                <a:latin typeface="Times New Roman"/>
                <a:cs typeface="Times New Roman"/>
              </a:rPr>
              <a:t>and</a:t>
            </a:r>
            <a:r>
              <a:rPr dirty="0" sz="1000" spc="220">
                <a:latin typeface="Times New Roman"/>
                <a:cs typeface="Times New Roman"/>
              </a:rPr>
              <a:t> </a:t>
            </a:r>
            <a:r>
              <a:rPr dirty="0" sz="1000">
                <a:latin typeface="Times New Roman"/>
                <a:cs typeface="Times New Roman"/>
              </a:rPr>
              <a:t>the</a:t>
            </a:r>
            <a:r>
              <a:rPr dirty="0" sz="1000" spc="220">
                <a:latin typeface="Times New Roman"/>
                <a:cs typeface="Times New Roman"/>
              </a:rPr>
              <a:t> </a:t>
            </a:r>
            <a:r>
              <a:rPr dirty="0" sz="1000">
                <a:latin typeface="Times New Roman"/>
                <a:cs typeface="Times New Roman"/>
              </a:rPr>
              <a:t>latter</a:t>
            </a:r>
            <a:r>
              <a:rPr dirty="0" sz="1000" spc="225">
                <a:latin typeface="Times New Roman"/>
                <a:cs typeface="Times New Roman"/>
              </a:rPr>
              <a:t> </a:t>
            </a:r>
            <a:r>
              <a:rPr dirty="0" sz="1000">
                <a:latin typeface="Times New Roman"/>
                <a:cs typeface="Times New Roman"/>
              </a:rPr>
              <a:t>avoids</a:t>
            </a:r>
            <a:r>
              <a:rPr dirty="0" sz="1000" spc="220">
                <a:latin typeface="Times New Roman"/>
                <a:cs typeface="Times New Roman"/>
              </a:rPr>
              <a:t> </a:t>
            </a:r>
            <a:r>
              <a:rPr dirty="0" sz="1000">
                <a:latin typeface="Times New Roman"/>
                <a:cs typeface="Times New Roman"/>
              </a:rPr>
              <a:t>the</a:t>
            </a:r>
            <a:r>
              <a:rPr dirty="0" sz="1000" spc="220">
                <a:latin typeface="Times New Roman"/>
                <a:cs typeface="Times New Roman"/>
              </a:rPr>
              <a:t> </a:t>
            </a:r>
            <a:r>
              <a:rPr dirty="0" sz="1000" spc="-10">
                <a:latin typeface="Times New Roman"/>
                <a:cs typeface="Times New Roman"/>
              </a:rPr>
              <a:t>opti- </a:t>
            </a:r>
            <a:r>
              <a:rPr dirty="0" sz="1000" spc="10">
                <a:latin typeface="Times New Roman"/>
                <a:cs typeface="Times New Roman"/>
              </a:rPr>
              <a:t>mization</a:t>
            </a:r>
            <a:r>
              <a:rPr dirty="0" sz="1000" spc="125">
                <a:latin typeface="Times New Roman"/>
                <a:cs typeface="Times New Roman"/>
              </a:rPr>
              <a:t> </a:t>
            </a:r>
            <a:r>
              <a:rPr dirty="0" sz="1000" spc="10">
                <a:latin typeface="Times New Roman"/>
                <a:cs typeface="Times New Roman"/>
              </a:rPr>
              <a:t>conflict</a:t>
            </a:r>
            <a:r>
              <a:rPr dirty="0" sz="1000" spc="125">
                <a:latin typeface="Times New Roman"/>
                <a:cs typeface="Times New Roman"/>
              </a:rPr>
              <a:t> </a:t>
            </a:r>
            <a:r>
              <a:rPr dirty="0" sz="1000" spc="10">
                <a:latin typeface="Times New Roman"/>
                <a:cs typeface="Times New Roman"/>
              </a:rPr>
              <a:t>between</a:t>
            </a:r>
            <a:r>
              <a:rPr dirty="0" sz="1000" spc="125">
                <a:latin typeface="Times New Roman"/>
                <a:cs typeface="Times New Roman"/>
              </a:rPr>
              <a:t> </a:t>
            </a:r>
            <a:r>
              <a:rPr dirty="0" sz="1000" spc="10">
                <a:latin typeface="Times New Roman"/>
                <a:cs typeface="Times New Roman"/>
              </a:rPr>
              <a:t>multimodal</a:t>
            </a:r>
            <a:r>
              <a:rPr dirty="0" sz="1000" spc="125">
                <a:latin typeface="Times New Roman"/>
                <a:cs typeface="Times New Roman"/>
              </a:rPr>
              <a:t> </a:t>
            </a:r>
            <a:r>
              <a:rPr dirty="0" sz="1000" spc="10">
                <a:latin typeface="Times New Roman"/>
                <a:cs typeface="Times New Roman"/>
              </a:rPr>
              <a:t>and</a:t>
            </a:r>
            <a:r>
              <a:rPr dirty="0" sz="1000" spc="125">
                <a:latin typeface="Times New Roman"/>
                <a:cs typeface="Times New Roman"/>
              </a:rPr>
              <a:t> </a:t>
            </a:r>
            <a:r>
              <a:rPr dirty="0" sz="1000" spc="10">
                <a:latin typeface="Times New Roman"/>
                <a:cs typeface="Times New Roman"/>
              </a:rPr>
              <a:t>unimodal</a:t>
            </a:r>
            <a:r>
              <a:rPr dirty="0" sz="1000" spc="125">
                <a:latin typeface="Times New Roman"/>
                <a:cs typeface="Times New Roman"/>
              </a:rPr>
              <a:t> </a:t>
            </a:r>
            <a:r>
              <a:rPr dirty="0" sz="1000" spc="10">
                <a:latin typeface="Times New Roman"/>
                <a:cs typeface="Times New Roman"/>
              </a:rPr>
              <a:t>loss.</a:t>
            </a:r>
            <a:r>
              <a:rPr dirty="0" sz="1000" spc="380">
                <a:latin typeface="Times New Roman"/>
                <a:cs typeface="Times New Roman"/>
              </a:rPr>
              <a:t> </a:t>
            </a:r>
            <a:r>
              <a:rPr dirty="0" sz="1000" spc="10">
                <a:latin typeface="Times New Roman"/>
                <a:cs typeface="Times New Roman"/>
              </a:rPr>
              <a:t>Moreover,</a:t>
            </a:r>
            <a:r>
              <a:rPr dirty="0" sz="1000" spc="145">
                <a:latin typeface="Times New Roman"/>
                <a:cs typeface="Times New Roman"/>
              </a:rPr>
              <a:t> </a:t>
            </a:r>
            <a:r>
              <a:rPr dirty="0" sz="1000" spc="10">
                <a:latin typeface="Times New Roman"/>
                <a:cs typeface="Times New Roman"/>
              </a:rPr>
              <a:t>their</a:t>
            </a:r>
            <a:r>
              <a:rPr dirty="0" sz="1000" spc="125">
                <a:latin typeface="Times New Roman"/>
                <a:cs typeface="Times New Roman"/>
              </a:rPr>
              <a:t> </a:t>
            </a:r>
            <a:r>
              <a:rPr dirty="0" sz="1000" spc="10">
                <a:latin typeface="Times New Roman"/>
                <a:cs typeface="Times New Roman"/>
              </a:rPr>
              <a:t>combination</a:t>
            </a:r>
            <a:r>
              <a:rPr dirty="0" sz="1000" spc="125">
                <a:latin typeface="Times New Roman"/>
                <a:cs typeface="Times New Roman"/>
              </a:rPr>
              <a:t> </a:t>
            </a:r>
            <a:r>
              <a:rPr dirty="0" sz="1000" spc="10">
                <a:latin typeface="Times New Roman"/>
                <a:cs typeface="Times New Roman"/>
              </a:rPr>
              <a:t>can</a:t>
            </a:r>
            <a:r>
              <a:rPr dirty="0" sz="1000" spc="125">
                <a:latin typeface="Times New Roman"/>
                <a:cs typeface="Times New Roman"/>
              </a:rPr>
              <a:t> </a:t>
            </a:r>
            <a:r>
              <a:rPr dirty="0" sz="1000" spc="10">
                <a:latin typeface="Times New Roman"/>
                <a:cs typeface="Times New Roman"/>
              </a:rPr>
              <a:t>achieve</a:t>
            </a:r>
            <a:r>
              <a:rPr dirty="0" sz="1000" spc="125">
                <a:latin typeface="Times New Roman"/>
                <a:cs typeface="Times New Roman"/>
              </a:rPr>
              <a:t> </a:t>
            </a:r>
            <a:r>
              <a:rPr dirty="0" sz="1000" spc="-10">
                <a:latin typeface="Times New Roman"/>
                <a:cs typeface="Times New Roman"/>
              </a:rPr>
              <a:t>better performance.</a:t>
            </a:r>
            <a:endParaRPr sz="1000">
              <a:latin typeface="Times New Roman"/>
              <a:cs typeface="Times New Roman"/>
            </a:endParaRPr>
          </a:p>
        </p:txBody>
      </p:sp>
      <p:sp>
        <p:nvSpPr>
          <p:cNvPr id="16" name="object 16"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86"/>
            <a:ext cx="5760085" cy="941069"/>
            <a:chOff x="899998" y="899986"/>
            <a:chExt cx="5760085" cy="941069"/>
          </a:xfrm>
        </p:grpSpPr>
        <p:sp>
          <p:nvSpPr>
            <p:cNvPr id="3" name="object 3" descr=""/>
            <p:cNvSpPr/>
            <p:nvPr/>
          </p:nvSpPr>
          <p:spPr>
            <a:xfrm>
              <a:off x="899998" y="899986"/>
              <a:ext cx="5760085" cy="941069"/>
            </a:xfrm>
            <a:custGeom>
              <a:avLst/>
              <a:gdLst/>
              <a:ahLst/>
              <a:cxnLst/>
              <a:rect l="l" t="t" r="r" b="b"/>
              <a:pathLst>
                <a:path w="5760084" h="941069">
                  <a:moveTo>
                    <a:pt x="5724074" y="0"/>
                  </a:moveTo>
                  <a:lnTo>
                    <a:pt x="36000" y="0"/>
                  </a:lnTo>
                  <a:lnTo>
                    <a:pt x="21987" y="2829"/>
                  </a:lnTo>
                  <a:lnTo>
                    <a:pt x="10544" y="10544"/>
                  </a:lnTo>
                  <a:lnTo>
                    <a:pt x="2829" y="21987"/>
                  </a:lnTo>
                  <a:lnTo>
                    <a:pt x="0" y="36000"/>
                  </a:lnTo>
                  <a:lnTo>
                    <a:pt x="0" y="904624"/>
                  </a:lnTo>
                  <a:lnTo>
                    <a:pt x="2829" y="918637"/>
                  </a:lnTo>
                  <a:lnTo>
                    <a:pt x="10544" y="930080"/>
                  </a:lnTo>
                  <a:lnTo>
                    <a:pt x="21987" y="937795"/>
                  </a:lnTo>
                  <a:lnTo>
                    <a:pt x="36000" y="940624"/>
                  </a:lnTo>
                  <a:lnTo>
                    <a:pt x="5724074" y="940624"/>
                  </a:lnTo>
                  <a:lnTo>
                    <a:pt x="5738087" y="937795"/>
                  </a:lnTo>
                  <a:lnTo>
                    <a:pt x="5749530" y="930080"/>
                  </a:lnTo>
                  <a:lnTo>
                    <a:pt x="5757245" y="918637"/>
                  </a:lnTo>
                  <a:lnTo>
                    <a:pt x="5760074" y="90462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86"/>
              <a:ext cx="5760085" cy="941069"/>
            </a:xfrm>
            <a:custGeom>
              <a:avLst/>
              <a:gdLst/>
              <a:ahLst/>
              <a:cxnLst/>
              <a:rect l="l" t="t" r="r" b="b"/>
              <a:pathLst>
                <a:path w="5760084" h="941069">
                  <a:moveTo>
                    <a:pt x="5724074" y="0"/>
                  </a:moveTo>
                  <a:lnTo>
                    <a:pt x="36000" y="0"/>
                  </a:lnTo>
                  <a:lnTo>
                    <a:pt x="21987" y="2829"/>
                  </a:lnTo>
                  <a:lnTo>
                    <a:pt x="10544" y="10544"/>
                  </a:lnTo>
                  <a:lnTo>
                    <a:pt x="2829" y="21987"/>
                  </a:lnTo>
                  <a:lnTo>
                    <a:pt x="0" y="36000"/>
                  </a:lnTo>
                  <a:lnTo>
                    <a:pt x="0" y="904624"/>
                  </a:lnTo>
                  <a:lnTo>
                    <a:pt x="2829" y="918637"/>
                  </a:lnTo>
                  <a:lnTo>
                    <a:pt x="10544" y="930080"/>
                  </a:lnTo>
                  <a:lnTo>
                    <a:pt x="21987" y="937795"/>
                  </a:lnTo>
                  <a:lnTo>
                    <a:pt x="36000" y="940624"/>
                  </a:lnTo>
                  <a:lnTo>
                    <a:pt x="5724074" y="940624"/>
                  </a:lnTo>
                  <a:lnTo>
                    <a:pt x="5738087" y="937795"/>
                  </a:lnTo>
                  <a:lnTo>
                    <a:pt x="5749530" y="930080"/>
                  </a:lnTo>
                  <a:lnTo>
                    <a:pt x="5757245" y="918637"/>
                  </a:lnTo>
                  <a:lnTo>
                    <a:pt x="5760074" y="90462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 name="object 5" descr=""/>
          <p:cNvSpPr txBox="1"/>
          <p:nvPr/>
        </p:nvSpPr>
        <p:spPr>
          <a:xfrm>
            <a:off x="1067295" y="930891"/>
            <a:ext cx="5426075" cy="815340"/>
          </a:xfrm>
          <a:prstGeom prst="rect">
            <a:avLst/>
          </a:prstGeom>
        </p:spPr>
        <p:txBody>
          <a:bodyPr wrap="square" lIns="0" tIns="12700" rIns="0" bIns="0" rtlCol="0" vert="horz">
            <a:spAutoFit/>
          </a:bodyPr>
          <a:lstStyle/>
          <a:p>
            <a:pPr algn="just" marL="12700" marR="5080">
              <a:lnSpc>
                <a:spcPct val="129500"/>
              </a:lnSpc>
              <a:spcBef>
                <a:spcPts val="100"/>
              </a:spcBef>
            </a:pPr>
            <a:r>
              <a:rPr dirty="0" sz="1000" spc="5">
                <a:latin typeface="SimSun"/>
                <a:cs typeface="SimSun"/>
              </a:rPr>
              <a:t>梯度截断的效果。我们在</a:t>
            </a:r>
            <a:r>
              <a:rPr dirty="0" sz="1000" spc="-5">
                <a:latin typeface="Times New Roman"/>
                <a:cs typeface="Times New Roman"/>
              </a:rPr>
              <a:t>CREMA-</a:t>
            </a:r>
            <a:r>
              <a:rPr dirty="0" sz="1000" spc="-25">
                <a:latin typeface="Times New Roman"/>
                <a:cs typeface="Times New Roman"/>
              </a:rPr>
              <a:t>D</a:t>
            </a:r>
            <a:r>
              <a:rPr dirty="0" sz="1000" spc="-20">
                <a:latin typeface="Times New Roman"/>
                <a:cs typeface="Times New Roman"/>
              </a:rPr>
              <a:t> </a:t>
            </a:r>
            <a:r>
              <a:rPr dirty="0" sz="1000" spc="-5">
                <a:latin typeface="SimSun"/>
                <a:cs typeface="SimSun"/>
              </a:rPr>
              <a:t>数据集上进行实验，以研究多模态梯度截断</a:t>
            </a:r>
            <a:r>
              <a:rPr dirty="0" sz="1000">
                <a:latin typeface="Times New Roman"/>
                <a:cs typeface="Times New Roman"/>
              </a:rPr>
              <a:t>(MT)</a:t>
            </a:r>
            <a:r>
              <a:rPr dirty="0" sz="1000" spc="-20">
                <a:latin typeface="Times New Roman"/>
                <a:cs typeface="Times New Roman"/>
              </a:rPr>
              <a:t> </a:t>
            </a:r>
            <a:r>
              <a:rPr dirty="0" sz="1000" spc="-10">
                <a:latin typeface="SimSun"/>
                <a:cs typeface="SimSun"/>
              </a:rPr>
              <a:t>和单模态梯</a:t>
            </a:r>
            <a:r>
              <a:rPr dirty="0" sz="1000" spc="-60">
                <a:latin typeface="SimSun"/>
                <a:cs typeface="SimSun"/>
              </a:rPr>
              <a:t>度截断 </a:t>
            </a:r>
            <a:r>
              <a:rPr dirty="0" sz="1000" spc="5">
                <a:latin typeface="Times New Roman"/>
                <a:cs typeface="Times New Roman"/>
              </a:rPr>
              <a:t>(UT)</a:t>
            </a:r>
            <a:r>
              <a:rPr dirty="0" sz="1000" spc="25">
                <a:latin typeface="Times New Roman"/>
                <a:cs typeface="Times New Roman"/>
              </a:rPr>
              <a:t> </a:t>
            </a:r>
            <a:r>
              <a:rPr dirty="0" sz="1000" spc="-40">
                <a:latin typeface="SimSun"/>
                <a:cs typeface="SimSun"/>
              </a:rPr>
              <a:t>的有效性。如表 </a:t>
            </a:r>
            <a:r>
              <a:rPr dirty="0" sz="1000" spc="-10">
                <a:latin typeface="Times New Roman"/>
                <a:cs typeface="Times New Roman"/>
              </a:rPr>
              <a:t>3</a:t>
            </a:r>
            <a:r>
              <a:rPr dirty="0" sz="1000" spc="25">
                <a:latin typeface="Times New Roman"/>
                <a:cs typeface="Times New Roman"/>
              </a:rPr>
              <a:t> </a:t>
            </a:r>
            <a:r>
              <a:rPr dirty="0" sz="1000" spc="-10">
                <a:latin typeface="SimSun"/>
                <a:cs typeface="SimSun"/>
              </a:rPr>
              <a:t>所示，与基线模型相比，</a:t>
            </a:r>
            <a:r>
              <a:rPr dirty="0" sz="1000" spc="-10">
                <a:latin typeface="Times New Roman"/>
                <a:cs typeface="Times New Roman"/>
              </a:rPr>
              <a:t>MT</a:t>
            </a:r>
            <a:r>
              <a:rPr dirty="0" sz="1000" spc="25">
                <a:latin typeface="Times New Roman"/>
                <a:cs typeface="Times New Roman"/>
              </a:rPr>
              <a:t> </a:t>
            </a:r>
            <a:r>
              <a:rPr dirty="0" sz="1000" spc="-120">
                <a:latin typeface="SimSun"/>
                <a:cs typeface="SimSun"/>
              </a:rPr>
              <a:t>和 </a:t>
            </a:r>
            <a:r>
              <a:rPr dirty="0" sz="1000">
                <a:latin typeface="Times New Roman"/>
                <a:cs typeface="Times New Roman"/>
              </a:rPr>
              <a:t>UT</a:t>
            </a:r>
            <a:r>
              <a:rPr dirty="0" sz="1000" spc="25">
                <a:latin typeface="Times New Roman"/>
                <a:cs typeface="Times New Roman"/>
              </a:rPr>
              <a:t> </a:t>
            </a:r>
            <a:r>
              <a:rPr dirty="0" sz="1000" spc="-10">
                <a:latin typeface="SimSun"/>
                <a:cs typeface="SimSun"/>
              </a:rPr>
              <a:t>均显著提高了性能。前者避免</a:t>
            </a:r>
            <a:r>
              <a:rPr dirty="0" sz="1000" spc="-25">
                <a:latin typeface="SimSun"/>
                <a:cs typeface="SimSun"/>
              </a:rPr>
              <a:t>了从多模态融合到单模态编码器的梯度抑制，后者避免了多模态和单模态损失之间的优化冲突。此</a:t>
            </a:r>
            <a:r>
              <a:rPr dirty="0" sz="1000" spc="-10">
                <a:latin typeface="SimSun"/>
                <a:cs typeface="SimSun"/>
              </a:rPr>
              <a:t>外，它们的组合可以实现更好的性能。</a:t>
            </a:r>
            <a:endParaRPr sz="1000">
              <a:latin typeface="SimSun"/>
              <a:cs typeface="SimSun"/>
            </a:endParaRPr>
          </a:p>
        </p:txBody>
      </p:sp>
      <p:graphicFrame>
        <p:nvGraphicFramePr>
          <p:cNvPr id="6" name="object 6" descr=""/>
          <p:cNvGraphicFramePr>
            <a:graphicFrameLocks noGrp="1"/>
          </p:cNvGraphicFramePr>
          <p:nvPr/>
        </p:nvGraphicFramePr>
        <p:xfrm>
          <a:off x="2294785" y="1966414"/>
          <a:ext cx="3046730" cy="398780"/>
        </p:xfrm>
        <a:graphic>
          <a:graphicData uri="http://schemas.openxmlformats.org/drawingml/2006/table">
            <a:tbl>
              <a:tblPr firstRow="1" bandRow="1">
                <a:tableStyleId>{2D5ABB26-0587-4C30-8999-92F81FD0307C}</a:tableStyleId>
              </a:tblPr>
              <a:tblGrid>
                <a:gridCol w="527050"/>
                <a:gridCol w="607694"/>
                <a:gridCol w="438150"/>
                <a:gridCol w="438150"/>
                <a:gridCol w="953134"/>
              </a:tblGrid>
              <a:tr h="201930">
                <a:tc>
                  <a:txBody>
                    <a:bodyPr/>
                    <a:lstStyle/>
                    <a:p>
                      <a:pPr algn="ctr">
                        <a:lnSpc>
                          <a:spcPct val="100000"/>
                        </a:lnSpc>
                        <a:spcBef>
                          <a:spcPts val="105"/>
                        </a:spcBef>
                      </a:pPr>
                      <a:r>
                        <a:rPr dirty="0" sz="1000" spc="-10">
                          <a:latin typeface="Times New Roman"/>
                          <a:cs typeface="Times New Roman"/>
                        </a:rPr>
                        <a:t>Setting</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10">
                          <a:latin typeface="Times New Roman"/>
                          <a:cs typeface="Times New Roman"/>
                        </a:rPr>
                        <a:t>Baseline</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25">
                          <a:latin typeface="Times New Roman"/>
                          <a:cs typeface="Times New Roman"/>
                        </a:rPr>
                        <a:t>+MT</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25">
                          <a:latin typeface="Times New Roman"/>
                          <a:cs typeface="Times New Roman"/>
                        </a:rPr>
                        <a:t>+UT</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10">
                          <a:latin typeface="Times New Roman"/>
                          <a:cs typeface="Times New Roman"/>
                        </a:rPr>
                        <a:t>DGL(MT+UT)</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Times New Roman"/>
                          <a:cs typeface="Times New Roman"/>
                        </a:rPr>
                        <a:t>ACC</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65.10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73.31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74.22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77.48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7" name="object 7" descr=""/>
          <p:cNvGrpSpPr/>
          <p:nvPr/>
        </p:nvGrpSpPr>
        <p:grpSpPr>
          <a:xfrm>
            <a:off x="899998" y="2484451"/>
            <a:ext cx="5760085" cy="621030"/>
            <a:chOff x="899998" y="2484451"/>
            <a:chExt cx="5760085" cy="621030"/>
          </a:xfrm>
        </p:grpSpPr>
        <p:sp>
          <p:nvSpPr>
            <p:cNvPr id="8" name="object 8" descr=""/>
            <p:cNvSpPr/>
            <p:nvPr/>
          </p:nvSpPr>
          <p:spPr>
            <a:xfrm>
              <a:off x="899998" y="2484451"/>
              <a:ext cx="5760085" cy="621030"/>
            </a:xfrm>
            <a:custGeom>
              <a:avLst/>
              <a:gdLst/>
              <a:ahLst/>
              <a:cxnLst/>
              <a:rect l="l" t="t" r="r" b="b"/>
              <a:pathLst>
                <a:path w="5760084" h="621030">
                  <a:moveTo>
                    <a:pt x="5724074" y="0"/>
                  </a:moveTo>
                  <a:lnTo>
                    <a:pt x="36000" y="0"/>
                  </a:lnTo>
                  <a:lnTo>
                    <a:pt x="21987" y="2829"/>
                  </a:lnTo>
                  <a:lnTo>
                    <a:pt x="10544" y="10544"/>
                  </a:lnTo>
                  <a:lnTo>
                    <a:pt x="2829" y="21987"/>
                  </a:lnTo>
                  <a:lnTo>
                    <a:pt x="0" y="36000"/>
                  </a:lnTo>
                  <a:lnTo>
                    <a:pt x="0" y="584889"/>
                  </a:lnTo>
                  <a:lnTo>
                    <a:pt x="2829" y="598902"/>
                  </a:lnTo>
                  <a:lnTo>
                    <a:pt x="10544" y="610345"/>
                  </a:lnTo>
                  <a:lnTo>
                    <a:pt x="21987" y="618060"/>
                  </a:lnTo>
                  <a:lnTo>
                    <a:pt x="36000" y="620889"/>
                  </a:lnTo>
                  <a:lnTo>
                    <a:pt x="5724074" y="620889"/>
                  </a:lnTo>
                  <a:lnTo>
                    <a:pt x="5738087" y="618060"/>
                  </a:lnTo>
                  <a:lnTo>
                    <a:pt x="5749530" y="610345"/>
                  </a:lnTo>
                  <a:lnTo>
                    <a:pt x="5757245" y="598902"/>
                  </a:lnTo>
                  <a:lnTo>
                    <a:pt x="5760074" y="58488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9" name="object 9" descr=""/>
            <p:cNvSpPr/>
            <p:nvPr/>
          </p:nvSpPr>
          <p:spPr>
            <a:xfrm>
              <a:off x="899998" y="2484451"/>
              <a:ext cx="5760085" cy="621030"/>
            </a:xfrm>
            <a:custGeom>
              <a:avLst/>
              <a:gdLst/>
              <a:ahLst/>
              <a:cxnLst/>
              <a:rect l="l" t="t" r="r" b="b"/>
              <a:pathLst>
                <a:path w="5760084" h="621030">
                  <a:moveTo>
                    <a:pt x="5724074" y="0"/>
                  </a:moveTo>
                  <a:lnTo>
                    <a:pt x="36000" y="0"/>
                  </a:lnTo>
                  <a:lnTo>
                    <a:pt x="21987" y="2829"/>
                  </a:lnTo>
                  <a:lnTo>
                    <a:pt x="10544" y="10544"/>
                  </a:lnTo>
                  <a:lnTo>
                    <a:pt x="2829" y="21987"/>
                  </a:lnTo>
                  <a:lnTo>
                    <a:pt x="0" y="36000"/>
                  </a:lnTo>
                  <a:lnTo>
                    <a:pt x="0" y="584889"/>
                  </a:lnTo>
                  <a:lnTo>
                    <a:pt x="2829" y="598902"/>
                  </a:lnTo>
                  <a:lnTo>
                    <a:pt x="10544" y="610345"/>
                  </a:lnTo>
                  <a:lnTo>
                    <a:pt x="21987" y="618060"/>
                  </a:lnTo>
                  <a:lnTo>
                    <a:pt x="36000" y="620889"/>
                  </a:lnTo>
                  <a:lnTo>
                    <a:pt x="5724074" y="620889"/>
                  </a:lnTo>
                  <a:lnTo>
                    <a:pt x="5738087" y="618060"/>
                  </a:lnTo>
                  <a:lnTo>
                    <a:pt x="5749530" y="610345"/>
                  </a:lnTo>
                  <a:lnTo>
                    <a:pt x="5757245" y="598902"/>
                  </a:lnTo>
                  <a:lnTo>
                    <a:pt x="5760074" y="58488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aphicFrame>
        <p:nvGraphicFramePr>
          <p:cNvPr id="10" name="object 10" descr=""/>
          <p:cNvGraphicFramePr>
            <a:graphicFrameLocks noGrp="1"/>
          </p:cNvGraphicFramePr>
          <p:nvPr/>
        </p:nvGraphicFramePr>
        <p:xfrm>
          <a:off x="1218739" y="2592447"/>
          <a:ext cx="5198745" cy="398780"/>
        </p:xfrm>
        <a:graphic>
          <a:graphicData uri="http://schemas.openxmlformats.org/drawingml/2006/table">
            <a:tbl>
              <a:tblPr firstRow="1" bandRow="1">
                <a:tableStyleId>{2D5ABB26-0587-4C30-8999-92F81FD0307C}</a:tableStyleId>
              </a:tblPr>
              <a:tblGrid>
                <a:gridCol w="536575"/>
                <a:gridCol w="438784"/>
                <a:gridCol w="784225"/>
                <a:gridCol w="784225"/>
                <a:gridCol w="2575560"/>
              </a:tblGrid>
              <a:tr h="201930">
                <a:tc>
                  <a:txBody>
                    <a:bodyPr/>
                    <a:lstStyle/>
                    <a:p>
                      <a:pPr algn="ctr">
                        <a:lnSpc>
                          <a:spcPct val="100000"/>
                        </a:lnSpc>
                        <a:spcBef>
                          <a:spcPts val="105"/>
                        </a:spcBef>
                      </a:pPr>
                      <a:r>
                        <a:rPr dirty="0" sz="1000" spc="-30">
                          <a:latin typeface="SimSun"/>
                          <a:cs typeface="SimSun"/>
                        </a:rPr>
                        <a:t>设置</a:t>
                      </a:r>
                      <a:endParaRPr sz="1000">
                        <a:latin typeface="SimSun"/>
                        <a:cs typeface="SimSu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30">
                          <a:latin typeface="SimSun"/>
                          <a:cs typeface="SimSun"/>
                        </a:rPr>
                        <a:t>基线</a:t>
                      </a:r>
                      <a:endParaRPr sz="1000">
                        <a:latin typeface="SimSun"/>
                        <a:cs typeface="SimSu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65">
                          <a:latin typeface="Times New Roman"/>
                          <a:cs typeface="Times New Roman"/>
                        </a:rPr>
                        <a:t>+ </a:t>
                      </a:r>
                      <a:r>
                        <a:rPr dirty="0" sz="1000" spc="-20">
                          <a:latin typeface="SimSun"/>
                          <a:cs typeface="SimSun"/>
                        </a:rPr>
                        <a:t>机器翻译</a:t>
                      </a:r>
                      <a:endParaRPr sz="1000">
                        <a:latin typeface="SimSun"/>
                        <a:cs typeface="SimSu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65">
                          <a:latin typeface="Times New Roman"/>
                          <a:cs typeface="Times New Roman"/>
                        </a:rPr>
                        <a:t>+ </a:t>
                      </a:r>
                      <a:r>
                        <a:rPr dirty="0" sz="1000" spc="-20">
                          <a:latin typeface="SimSun"/>
                          <a:cs typeface="SimSun"/>
                        </a:rPr>
                        <a:t>人工翻译</a:t>
                      </a:r>
                      <a:endParaRPr sz="1000">
                        <a:latin typeface="SimSun"/>
                        <a:cs typeface="SimSu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15">
                          <a:latin typeface="SimSun"/>
                          <a:cs typeface="SimSun"/>
                        </a:rPr>
                        <a:t>深度生成式语言模型</a:t>
                      </a:r>
                      <a:r>
                        <a:rPr dirty="0" sz="1000">
                          <a:latin typeface="Times New Roman"/>
                          <a:cs typeface="Times New Roman"/>
                        </a:rPr>
                        <a:t>(</a:t>
                      </a:r>
                      <a:r>
                        <a:rPr dirty="0" sz="1000" spc="45">
                          <a:latin typeface="SimSun"/>
                          <a:cs typeface="SimSun"/>
                        </a:rPr>
                        <a:t>机器翻译</a:t>
                      </a:r>
                      <a:r>
                        <a:rPr dirty="0" sz="1000" spc="65">
                          <a:latin typeface="Times New Roman"/>
                          <a:cs typeface="Times New Roman"/>
                        </a:rPr>
                        <a:t>+ </a:t>
                      </a:r>
                      <a:r>
                        <a:rPr dirty="0" sz="1000" spc="-10">
                          <a:latin typeface="SimSun"/>
                          <a:cs typeface="SimSun"/>
                        </a:rPr>
                        <a:t>人工翻译</a:t>
                      </a:r>
                      <a:r>
                        <a:rPr dirty="0" sz="1000" spc="-50">
                          <a:latin typeface="Times New Roman"/>
                          <a:cs typeface="Times New Roman"/>
                        </a:rPr>
                        <a:t>)</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5">
                          <a:latin typeface="SimSun"/>
                          <a:cs typeface="SimSun"/>
                        </a:rPr>
                        <a:t>准确率</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65.10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73.31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74.22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77.48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11" name="object 11" descr=""/>
          <p:cNvGrpSpPr/>
          <p:nvPr/>
        </p:nvGrpSpPr>
        <p:grpSpPr>
          <a:xfrm>
            <a:off x="899998" y="3500096"/>
            <a:ext cx="5760085" cy="339090"/>
            <a:chOff x="899998" y="3500096"/>
            <a:chExt cx="5760085" cy="339090"/>
          </a:xfrm>
        </p:grpSpPr>
        <p:sp>
          <p:nvSpPr>
            <p:cNvPr id="12" name="object 12" descr=""/>
            <p:cNvSpPr/>
            <p:nvPr/>
          </p:nvSpPr>
          <p:spPr>
            <a:xfrm>
              <a:off x="899998" y="3500096"/>
              <a:ext cx="5760085" cy="339090"/>
            </a:xfrm>
            <a:custGeom>
              <a:avLst/>
              <a:gdLst/>
              <a:ahLst/>
              <a:cxnLst/>
              <a:rect l="l" t="t" r="r" b="b"/>
              <a:pathLst>
                <a:path w="5760084" h="339089">
                  <a:moveTo>
                    <a:pt x="5724074" y="0"/>
                  </a:moveTo>
                  <a:lnTo>
                    <a:pt x="36000" y="0"/>
                  </a:lnTo>
                  <a:lnTo>
                    <a:pt x="21987" y="2829"/>
                  </a:lnTo>
                  <a:lnTo>
                    <a:pt x="10544" y="10544"/>
                  </a:lnTo>
                  <a:lnTo>
                    <a:pt x="2829" y="21987"/>
                  </a:lnTo>
                  <a:lnTo>
                    <a:pt x="0" y="36000"/>
                  </a:lnTo>
                  <a:lnTo>
                    <a:pt x="0" y="302732"/>
                  </a:lnTo>
                  <a:lnTo>
                    <a:pt x="2829" y="316745"/>
                  </a:lnTo>
                  <a:lnTo>
                    <a:pt x="10544" y="328188"/>
                  </a:lnTo>
                  <a:lnTo>
                    <a:pt x="21987" y="335903"/>
                  </a:lnTo>
                  <a:lnTo>
                    <a:pt x="36000" y="338733"/>
                  </a:lnTo>
                  <a:lnTo>
                    <a:pt x="5724074" y="338733"/>
                  </a:lnTo>
                  <a:lnTo>
                    <a:pt x="5738087" y="335903"/>
                  </a:lnTo>
                  <a:lnTo>
                    <a:pt x="5749530" y="328188"/>
                  </a:lnTo>
                  <a:lnTo>
                    <a:pt x="5757245" y="316745"/>
                  </a:lnTo>
                  <a:lnTo>
                    <a:pt x="5760074" y="30273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3500096"/>
              <a:ext cx="5760085" cy="339090"/>
            </a:xfrm>
            <a:custGeom>
              <a:avLst/>
              <a:gdLst/>
              <a:ahLst/>
              <a:cxnLst/>
              <a:rect l="l" t="t" r="r" b="b"/>
              <a:pathLst>
                <a:path w="5760084" h="339089">
                  <a:moveTo>
                    <a:pt x="5724074" y="0"/>
                  </a:moveTo>
                  <a:lnTo>
                    <a:pt x="36000" y="0"/>
                  </a:lnTo>
                  <a:lnTo>
                    <a:pt x="21987" y="2829"/>
                  </a:lnTo>
                  <a:lnTo>
                    <a:pt x="10544" y="10544"/>
                  </a:lnTo>
                  <a:lnTo>
                    <a:pt x="2829" y="21987"/>
                  </a:lnTo>
                  <a:lnTo>
                    <a:pt x="0" y="36000"/>
                  </a:lnTo>
                  <a:lnTo>
                    <a:pt x="0" y="302732"/>
                  </a:lnTo>
                  <a:lnTo>
                    <a:pt x="2829" y="316745"/>
                  </a:lnTo>
                  <a:lnTo>
                    <a:pt x="10544" y="328188"/>
                  </a:lnTo>
                  <a:lnTo>
                    <a:pt x="21987" y="335903"/>
                  </a:lnTo>
                  <a:lnTo>
                    <a:pt x="36000" y="338733"/>
                  </a:lnTo>
                  <a:lnTo>
                    <a:pt x="5724074" y="338733"/>
                  </a:lnTo>
                  <a:lnTo>
                    <a:pt x="5738087" y="335903"/>
                  </a:lnTo>
                  <a:lnTo>
                    <a:pt x="5749530" y="328188"/>
                  </a:lnTo>
                  <a:lnTo>
                    <a:pt x="5757245" y="316745"/>
                  </a:lnTo>
                  <a:lnTo>
                    <a:pt x="5760074" y="30273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4" name="object 14" descr=""/>
          <p:cNvSpPr txBox="1"/>
          <p:nvPr/>
        </p:nvSpPr>
        <p:spPr>
          <a:xfrm>
            <a:off x="1067295" y="3202970"/>
            <a:ext cx="3608704" cy="551180"/>
          </a:xfrm>
          <a:prstGeom prst="rect">
            <a:avLst/>
          </a:prstGeom>
        </p:spPr>
        <p:txBody>
          <a:bodyPr wrap="square" lIns="0" tIns="12065" rIns="0" bIns="0" rtlCol="0" vert="horz">
            <a:spAutoFit/>
          </a:bodyPr>
          <a:lstStyle/>
          <a:p>
            <a:pPr marL="85725">
              <a:lnSpc>
                <a:spcPct val="100000"/>
              </a:lnSpc>
              <a:spcBef>
                <a:spcPts val="95"/>
              </a:spcBef>
            </a:pPr>
            <a:r>
              <a:rPr dirty="0" sz="1000">
                <a:latin typeface="Times New Roman"/>
                <a:cs typeface="Times New Roman"/>
              </a:rPr>
              <a:t>Table</a:t>
            </a:r>
            <a:r>
              <a:rPr dirty="0" sz="1000" spc="95">
                <a:latin typeface="Times New Roman"/>
                <a:cs typeface="Times New Roman"/>
              </a:rPr>
              <a:t> </a:t>
            </a:r>
            <a:r>
              <a:rPr dirty="0" sz="1000">
                <a:latin typeface="Times New Roman"/>
                <a:cs typeface="Times New Roman"/>
              </a:rPr>
              <a:t>3.</a:t>
            </a:r>
            <a:r>
              <a:rPr dirty="0" sz="1000" spc="215">
                <a:latin typeface="Times New Roman"/>
                <a:cs typeface="Times New Roman"/>
              </a:rPr>
              <a:t> </a:t>
            </a:r>
            <a:r>
              <a:rPr dirty="0" sz="1000">
                <a:latin typeface="Times New Roman"/>
                <a:cs typeface="Times New Roman"/>
              </a:rPr>
              <a:t>Ablation</a:t>
            </a:r>
            <a:r>
              <a:rPr dirty="0" sz="1000" spc="100">
                <a:latin typeface="Times New Roman"/>
                <a:cs typeface="Times New Roman"/>
              </a:rPr>
              <a:t> </a:t>
            </a:r>
            <a:r>
              <a:rPr dirty="0" sz="1000">
                <a:latin typeface="Times New Roman"/>
                <a:cs typeface="Times New Roman"/>
              </a:rPr>
              <a:t>results</a:t>
            </a:r>
            <a:r>
              <a:rPr dirty="0" sz="1000" spc="95">
                <a:latin typeface="Times New Roman"/>
                <a:cs typeface="Times New Roman"/>
              </a:rPr>
              <a:t> </a:t>
            </a:r>
            <a:r>
              <a:rPr dirty="0" sz="1000">
                <a:latin typeface="Times New Roman"/>
                <a:cs typeface="Times New Roman"/>
              </a:rPr>
              <a:t>of</a:t>
            </a:r>
            <a:r>
              <a:rPr dirty="0" sz="1000" spc="95">
                <a:latin typeface="Times New Roman"/>
                <a:cs typeface="Times New Roman"/>
              </a:rPr>
              <a:t> </a:t>
            </a:r>
            <a:r>
              <a:rPr dirty="0" sz="1000">
                <a:latin typeface="Times New Roman"/>
                <a:cs typeface="Times New Roman"/>
              </a:rPr>
              <a:t>gradient</a:t>
            </a:r>
            <a:r>
              <a:rPr dirty="0" sz="1000" spc="100">
                <a:latin typeface="Times New Roman"/>
                <a:cs typeface="Times New Roman"/>
              </a:rPr>
              <a:t> </a:t>
            </a:r>
            <a:r>
              <a:rPr dirty="0" sz="1000">
                <a:latin typeface="Times New Roman"/>
                <a:cs typeface="Times New Roman"/>
              </a:rPr>
              <a:t>truncation</a:t>
            </a:r>
            <a:r>
              <a:rPr dirty="0" sz="1000" spc="95">
                <a:latin typeface="Times New Roman"/>
                <a:cs typeface="Times New Roman"/>
              </a:rPr>
              <a:t> </a:t>
            </a:r>
            <a:r>
              <a:rPr dirty="0" sz="1000">
                <a:latin typeface="Times New Roman"/>
                <a:cs typeface="Times New Roman"/>
              </a:rPr>
              <a:t>on</a:t>
            </a:r>
            <a:r>
              <a:rPr dirty="0" sz="1000" spc="100">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spc="-10">
                <a:latin typeface="Times New Roman"/>
                <a:cs typeface="Times New Roman"/>
              </a:rPr>
              <a:t>CREMA-</a:t>
            </a:r>
            <a:r>
              <a:rPr dirty="0" sz="1000" spc="-25">
                <a:latin typeface="Times New Roman"/>
                <a:cs typeface="Times New Roman"/>
              </a:rPr>
              <a:t>D.</a:t>
            </a:r>
            <a:endParaRPr sz="1000">
              <a:latin typeface="Times New Roman"/>
              <a:cs typeface="Times New Roman"/>
            </a:endParaRPr>
          </a:p>
          <a:p>
            <a:pPr>
              <a:lnSpc>
                <a:spcPct val="100000"/>
              </a:lnSpc>
              <a:spcBef>
                <a:spcPts val="590"/>
              </a:spcBef>
            </a:pPr>
            <a:endParaRPr sz="1000">
              <a:latin typeface="Times New Roman"/>
              <a:cs typeface="Times New Roman"/>
            </a:endParaRPr>
          </a:p>
          <a:p>
            <a:pPr marL="12700">
              <a:lnSpc>
                <a:spcPct val="100000"/>
              </a:lnSpc>
            </a:pPr>
            <a:r>
              <a:rPr dirty="0" sz="1000" spc="-145">
                <a:latin typeface="SimSun"/>
                <a:cs typeface="SimSun"/>
              </a:rPr>
              <a:t>表 </a:t>
            </a:r>
            <a:r>
              <a:rPr dirty="0" sz="1000">
                <a:latin typeface="Times New Roman"/>
                <a:cs typeface="Times New Roman"/>
              </a:rPr>
              <a:t>3.</a:t>
            </a:r>
            <a:r>
              <a:rPr dirty="0" sz="1000" spc="55">
                <a:latin typeface="Times New Roman"/>
                <a:cs typeface="Times New Roman"/>
              </a:rPr>
              <a:t> </a:t>
            </a:r>
            <a:r>
              <a:rPr dirty="0" sz="1000" spc="-10">
                <a:latin typeface="Times New Roman"/>
                <a:cs typeface="Times New Roman"/>
              </a:rPr>
              <a:t>CREMA-</a:t>
            </a:r>
            <a:r>
              <a:rPr dirty="0" sz="1000">
                <a:latin typeface="Times New Roman"/>
                <a:cs typeface="Times New Roman"/>
              </a:rPr>
              <a:t>D</a:t>
            </a:r>
            <a:r>
              <a:rPr dirty="0" sz="1000" spc="-25">
                <a:latin typeface="Times New Roman"/>
                <a:cs typeface="Times New Roman"/>
              </a:rPr>
              <a:t> </a:t>
            </a:r>
            <a:r>
              <a:rPr dirty="0" sz="1000" spc="-15">
                <a:latin typeface="SimSun"/>
                <a:cs typeface="SimSun"/>
              </a:rPr>
              <a:t>上梯度截断的消融结果。</a:t>
            </a:r>
            <a:endParaRPr sz="1000">
              <a:latin typeface="SimSun"/>
              <a:cs typeface="SimSun"/>
            </a:endParaRPr>
          </a:p>
        </p:txBody>
      </p:sp>
      <p:graphicFrame>
        <p:nvGraphicFramePr>
          <p:cNvPr id="15" name="object 15" descr=""/>
          <p:cNvGraphicFramePr>
            <a:graphicFrameLocks noGrp="1"/>
          </p:cNvGraphicFramePr>
          <p:nvPr/>
        </p:nvGraphicFramePr>
        <p:xfrm>
          <a:off x="2295534" y="3964632"/>
          <a:ext cx="3045460" cy="595630"/>
        </p:xfrm>
        <a:graphic>
          <a:graphicData uri="http://schemas.openxmlformats.org/drawingml/2006/table">
            <a:tbl>
              <a:tblPr firstRow="1" bandRow="1">
                <a:tableStyleId>{2D5ABB26-0587-4C30-8999-92F81FD0307C}</a:tableStyleId>
              </a:tblPr>
              <a:tblGrid>
                <a:gridCol w="771525"/>
                <a:gridCol w="438150"/>
                <a:gridCol w="438150"/>
                <a:gridCol w="438150"/>
                <a:gridCol w="438150"/>
                <a:gridCol w="438150"/>
              </a:tblGrid>
              <a:tr h="201930">
                <a:tc>
                  <a:txBody>
                    <a:bodyPr/>
                    <a:lstStyle/>
                    <a:p>
                      <a:pPr>
                        <a:lnSpc>
                          <a:spcPct val="100000"/>
                        </a:lnSpc>
                      </a:pPr>
                      <a:endParaRPr sz="9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1</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2</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3</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4</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5</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ts val="285"/>
                        </a:lnSpc>
                      </a:pPr>
                      <a:r>
                        <a:rPr dirty="0" sz="1000" spc="-50">
                          <a:latin typeface="Cambria"/>
                          <a:cs typeface="Cambria"/>
                        </a:rPr>
                        <a:t>𝛼</a:t>
                      </a:r>
                      <a:endParaRPr sz="1000">
                        <a:latin typeface="Cambria"/>
                        <a:cs typeface="Cambria"/>
                      </a:endParaRPr>
                    </a:p>
                    <a:p>
                      <a:pPr algn="ctr">
                        <a:lnSpc>
                          <a:spcPct val="100000"/>
                        </a:lnSpc>
                      </a:pPr>
                      <a:r>
                        <a:rPr dirty="0" sz="1000" spc="-25">
                          <a:latin typeface="Times New Roman"/>
                          <a:cs typeface="Times New Roman"/>
                        </a:rPr>
                        <a:t>G-</a:t>
                      </a:r>
                      <a:r>
                        <a:rPr dirty="0" sz="1000" spc="-10">
                          <a:latin typeface="Times New Roman"/>
                          <a:cs typeface="Times New Roman"/>
                        </a:rPr>
                        <a:t>Blending</a:t>
                      </a:r>
                      <a:endParaRPr sz="10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67.89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69.20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69.21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marL="256540">
                        <a:lnSpc>
                          <a:spcPct val="100000"/>
                        </a:lnSpc>
                        <a:spcBef>
                          <a:spcPts val="65"/>
                        </a:spcBef>
                      </a:pPr>
                      <a:r>
                        <a:rPr dirty="0" sz="1000" spc="-25">
                          <a:latin typeface="Times New Roman"/>
                          <a:cs typeface="Times New Roman"/>
                        </a:rPr>
                        <a:t>DGL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73.35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75.46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76.13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77.48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77.08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16" name="object 16" descr=""/>
          <p:cNvGrpSpPr/>
          <p:nvPr/>
        </p:nvGrpSpPr>
        <p:grpSpPr>
          <a:xfrm>
            <a:off x="899998" y="4680040"/>
            <a:ext cx="5760085" cy="818515"/>
            <a:chOff x="899998" y="4680040"/>
            <a:chExt cx="5760085" cy="818515"/>
          </a:xfrm>
        </p:grpSpPr>
        <p:sp>
          <p:nvSpPr>
            <p:cNvPr id="17" name="object 17" descr=""/>
            <p:cNvSpPr/>
            <p:nvPr/>
          </p:nvSpPr>
          <p:spPr>
            <a:xfrm>
              <a:off x="899998" y="4680040"/>
              <a:ext cx="5760085" cy="818515"/>
            </a:xfrm>
            <a:custGeom>
              <a:avLst/>
              <a:gdLst/>
              <a:ahLst/>
              <a:cxnLst/>
              <a:rect l="l" t="t" r="r" b="b"/>
              <a:pathLst>
                <a:path w="5760084" h="818514">
                  <a:moveTo>
                    <a:pt x="5724074" y="0"/>
                  </a:moveTo>
                  <a:lnTo>
                    <a:pt x="36000" y="0"/>
                  </a:lnTo>
                  <a:lnTo>
                    <a:pt x="21987" y="2829"/>
                  </a:lnTo>
                  <a:lnTo>
                    <a:pt x="10544" y="10544"/>
                  </a:lnTo>
                  <a:lnTo>
                    <a:pt x="2829" y="21987"/>
                  </a:lnTo>
                  <a:lnTo>
                    <a:pt x="0" y="36000"/>
                  </a:lnTo>
                  <a:lnTo>
                    <a:pt x="0" y="782271"/>
                  </a:lnTo>
                  <a:lnTo>
                    <a:pt x="2829" y="796284"/>
                  </a:lnTo>
                  <a:lnTo>
                    <a:pt x="10544" y="807727"/>
                  </a:lnTo>
                  <a:lnTo>
                    <a:pt x="21987" y="815442"/>
                  </a:lnTo>
                  <a:lnTo>
                    <a:pt x="36000" y="818271"/>
                  </a:lnTo>
                  <a:lnTo>
                    <a:pt x="5724074" y="818271"/>
                  </a:lnTo>
                  <a:lnTo>
                    <a:pt x="5738087" y="815442"/>
                  </a:lnTo>
                  <a:lnTo>
                    <a:pt x="5749530" y="807727"/>
                  </a:lnTo>
                  <a:lnTo>
                    <a:pt x="5757245" y="796284"/>
                  </a:lnTo>
                  <a:lnTo>
                    <a:pt x="5760074" y="78227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8" name="object 18" descr=""/>
            <p:cNvSpPr/>
            <p:nvPr/>
          </p:nvSpPr>
          <p:spPr>
            <a:xfrm>
              <a:off x="899998" y="4680040"/>
              <a:ext cx="5760085" cy="818515"/>
            </a:xfrm>
            <a:custGeom>
              <a:avLst/>
              <a:gdLst/>
              <a:ahLst/>
              <a:cxnLst/>
              <a:rect l="l" t="t" r="r" b="b"/>
              <a:pathLst>
                <a:path w="5760084" h="818514">
                  <a:moveTo>
                    <a:pt x="5724074" y="0"/>
                  </a:moveTo>
                  <a:lnTo>
                    <a:pt x="36000" y="0"/>
                  </a:lnTo>
                  <a:lnTo>
                    <a:pt x="21987" y="2829"/>
                  </a:lnTo>
                  <a:lnTo>
                    <a:pt x="10544" y="10544"/>
                  </a:lnTo>
                  <a:lnTo>
                    <a:pt x="2829" y="21987"/>
                  </a:lnTo>
                  <a:lnTo>
                    <a:pt x="0" y="36000"/>
                  </a:lnTo>
                  <a:lnTo>
                    <a:pt x="0" y="782271"/>
                  </a:lnTo>
                  <a:lnTo>
                    <a:pt x="2829" y="796284"/>
                  </a:lnTo>
                  <a:lnTo>
                    <a:pt x="10544" y="807727"/>
                  </a:lnTo>
                  <a:lnTo>
                    <a:pt x="21987" y="815442"/>
                  </a:lnTo>
                  <a:lnTo>
                    <a:pt x="36000" y="818271"/>
                  </a:lnTo>
                  <a:lnTo>
                    <a:pt x="5724074" y="818271"/>
                  </a:lnTo>
                  <a:lnTo>
                    <a:pt x="5738087" y="815442"/>
                  </a:lnTo>
                  <a:lnTo>
                    <a:pt x="5749530" y="807727"/>
                  </a:lnTo>
                  <a:lnTo>
                    <a:pt x="5757245" y="796284"/>
                  </a:lnTo>
                  <a:lnTo>
                    <a:pt x="5760074" y="78227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aphicFrame>
        <p:nvGraphicFramePr>
          <p:cNvPr id="19" name="object 19" descr=""/>
          <p:cNvGraphicFramePr>
            <a:graphicFrameLocks noGrp="1"/>
          </p:cNvGraphicFramePr>
          <p:nvPr/>
        </p:nvGraphicFramePr>
        <p:xfrm>
          <a:off x="2416057" y="4788036"/>
          <a:ext cx="2804160" cy="595630"/>
        </p:xfrm>
        <a:graphic>
          <a:graphicData uri="http://schemas.openxmlformats.org/drawingml/2006/table">
            <a:tbl>
              <a:tblPr firstRow="1" bandRow="1">
                <a:tableStyleId>{2D5ABB26-0587-4C30-8999-92F81FD0307C}</a:tableStyleId>
              </a:tblPr>
              <a:tblGrid>
                <a:gridCol w="530860"/>
                <a:gridCol w="438784"/>
                <a:gridCol w="438784"/>
                <a:gridCol w="438784"/>
                <a:gridCol w="438785"/>
                <a:gridCol w="438785"/>
              </a:tblGrid>
              <a:tr h="201930">
                <a:tc>
                  <a:txBody>
                    <a:bodyPr/>
                    <a:lstStyle/>
                    <a:p>
                      <a:pPr>
                        <a:lnSpc>
                          <a:spcPct val="100000"/>
                        </a:lnSpc>
                      </a:pPr>
                      <a:endParaRPr sz="9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1</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2</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3</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4</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05"/>
                        </a:spcBef>
                      </a:pPr>
                      <a:r>
                        <a:rPr dirty="0" sz="1000" spc="-50">
                          <a:latin typeface="Times New Roman"/>
                          <a:cs typeface="Times New Roman"/>
                        </a:rPr>
                        <a:t>5</a:t>
                      </a:r>
                      <a:endParaRPr sz="1000">
                        <a:latin typeface="Times New Roman"/>
                        <a:cs typeface="Times New Roman"/>
                      </a:endParaRPr>
                    </a:p>
                  </a:txBody>
                  <a:tcPr marL="0" marR="0" marB="0" marT="1333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ts val="285"/>
                        </a:lnSpc>
                      </a:pPr>
                      <a:r>
                        <a:rPr dirty="0" sz="1000" spc="-50">
                          <a:latin typeface="Cambria"/>
                          <a:cs typeface="Cambria"/>
                        </a:rPr>
                        <a:t>𝛼</a:t>
                      </a:r>
                      <a:endParaRPr sz="1000">
                        <a:latin typeface="Cambria"/>
                        <a:cs typeface="Cambria"/>
                      </a:endParaRPr>
                    </a:p>
                    <a:p>
                      <a:pPr algn="ctr">
                        <a:lnSpc>
                          <a:spcPct val="100000"/>
                        </a:lnSpc>
                      </a:pPr>
                      <a:r>
                        <a:rPr dirty="0" sz="1000">
                          <a:latin typeface="Times New Roman"/>
                          <a:cs typeface="Times New Roman"/>
                        </a:rPr>
                        <a:t>G</a:t>
                      </a:r>
                      <a:r>
                        <a:rPr dirty="0" sz="1000" spc="-35">
                          <a:latin typeface="Times New Roman"/>
                          <a:cs typeface="Times New Roman"/>
                        </a:rPr>
                        <a:t> </a:t>
                      </a:r>
                      <a:r>
                        <a:rPr dirty="0" sz="1000" spc="-30">
                          <a:latin typeface="SimSun"/>
                          <a:cs typeface="SimSun"/>
                        </a:rPr>
                        <a:t>混合</a:t>
                      </a:r>
                      <a:endParaRPr sz="1000">
                        <a:latin typeface="SimSun"/>
                        <a:cs typeface="SimSu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67.89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68.12</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69.20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69.21</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68.67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marL="136525">
                        <a:lnSpc>
                          <a:spcPct val="100000"/>
                        </a:lnSpc>
                        <a:spcBef>
                          <a:spcPts val="65"/>
                        </a:spcBef>
                      </a:pPr>
                      <a:r>
                        <a:rPr dirty="0" sz="1000" spc="-25">
                          <a:latin typeface="Times New Roman"/>
                          <a:cs typeface="Times New Roman"/>
                        </a:rPr>
                        <a:t>DGL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73.35</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75.46</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76.13</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77.48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77.08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20" name="object 20" descr=""/>
          <p:cNvGrpSpPr/>
          <p:nvPr/>
        </p:nvGrpSpPr>
        <p:grpSpPr>
          <a:xfrm>
            <a:off x="899998" y="6090441"/>
            <a:ext cx="5760085" cy="353060"/>
            <a:chOff x="899998" y="6090441"/>
            <a:chExt cx="5760085" cy="353060"/>
          </a:xfrm>
        </p:grpSpPr>
        <p:sp>
          <p:nvSpPr>
            <p:cNvPr id="21" name="object 21" descr=""/>
            <p:cNvSpPr/>
            <p:nvPr/>
          </p:nvSpPr>
          <p:spPr>
            <a:xfrm>
              <a:off x="899998" y="6090441"/>
              <a:ext cx="5760085" cy="353060"/>
            </a:xfrm>
            <a:custGeom>
              <a:avLst/>
              <a:gdLst/>
              <a:ahLst/>
              <a:cxnLst/>
              <a:rect l="l" t="t" r="r" b="b"/>
              <a:pathLst>
                <a:path w="5760084" h="353060">
                  <a:moveTo>
                    <a:pt x="5724074" y="0"/>
                  </a:moveTo>
                  <a:lnTo>
                    <a:pt x="36000" y="0"/>
                  </a:lnTo>
                  <a:lnTo>
                    <a:pt x="21987" y="2829"/>
                  </a:lnTo>
                  <a:lnTo>
                    <a:pt x="10544" y="10544"/>
                  </a:lnTo>
                  <a:lnTo>
                    <a:pt x="2829" y="21987"/>
                  </a:lnTo>
                  <a:lnTo>
                    <a:pt x="0" y="36000"/>
                  </a:lnTo>
                  <a:lnTo>
                    <a:pt x="0" y="316903"/>
                  </a:lnTo>
                  <a:lnTo>
                    <a:pt x="2829" y="330916"/>
                  </a:lnTo>
                  <a:lnTo>
                    <a:pt x="10544" y="342360"/>
                  </a:lnTo>
                  <a:lnTo>
                    <a:pt x="21987" y="350075"/>
                  </a:lnTo>
                  <a:lnTo>
                    <a:pt x="36000" y="352904"/>
                  </a:lnTo>
                  <a:lnTo>
                    <a:pt x="5724074" y="352904"/>
                  </a:lnTo>
                  <a:lnTo>
                    <a:pt x="5738087" y="350075"/>
                  </a:lnTo>
                  <a:lnTo>
                    <a:pt x="5749530" y="342360"/>
                  </a:lnTo>
                  <a:lnTo>
                    <a:pt x="5757245" y="330916"/>
                  </a:lnTo>
                  <a:lnTo>
                    <a:pt x="5760074" y="31690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2" name="object 22" descr=""/>
            <p:cNvSpPr/>
            <p:nvPr/>
          </p:nvSpPr>
          <p:spPr>
            <a:xfrm>
              <a:off x="899998" y="6090441"/>
              <a:ext cx="5760085" cy="353060"/>
            </a:xfrm>
            <a:custGeom>
              <a:avLst/>
              <a:gdLst/>
              <a:ahLst/>
              <a:cxnLst/>
              <a:rect l="l" t="t" r="r" b="b"/>
              <a:pathLst>
                <a:path w="5760084" h="353060">
                  <a:moveTo>
                    <a:pt x="5724074" y="0"/>
                  </a:moveTo>
                  <a:lnTo>
                    <a:pt x="36000" y="0"/>
                  </a:lnTo>
                  <a:lnTo>
                    <a:pt x="21987" y="2829"/>
                  </a:lnTo>
                  <a:lnTo>
                    <a:pt x="10544" y="10544"/>
                  </a:lnTo>
                  <a:lnTo>
                    <a:pt x="2829" y="21987"/>
                  </a:lnTo>
                  <a:lnTo>
                    <a:pt x="0" y="36000"/>
                  </a:lnTo>
                  <a:lnTo>
                    <a:pt x="0" y="316903"/>
                  </a:lnTo>
                  <a:lnTo>
                    <a:pt x="2829" y="330916"/>
                  </a:lnTo>
                  <a:lnTo>
                    <a:pt x="10544" y="342360"/>
                  </a:lnTo>
                  <a:lnTo>
                    <a:pt x="21987" y="350075"/>
                  </a:lnTo>
                  <a:lnTo>
                    <a:pt x="36000" y="352904"/>
                  </a:lnTo>
                  <a:lnTo>
                    <a:pt x="5724074" y="352904"/>
                  </a:lnTo>
                  <a:lnTo>
                    <a:pt x="5738087" y="350075"/>
                  </a:lnTo>
                  <a:lnTo>
                    <a:pt x="5749530" y="342360"/>
                  </a:lnTo>
                  <a:lnTo>
                    <a:pt x="5757245" y="330916"/>
                  </a:lnTo>
                  <a:lnTo>
                    <a:pt x="5760074" y="31690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23" name="object 23" descr=""/>
          <p:cNvGrpSpPr/>
          <p:nvPr/>
        </p:nvGrpSpPr>
        <p:grpSpPr>
          <a:xfrm>
            <a:off x="899998" y="8022376"/>
            <a:ext cx="5760085" cy="1138555"/>
            <a:chOff x="899998" y="8022376"/>
            <a:chExt cx="5760085" cy="1138555"/>
          </a:xfrm>
        </p:grpSpPr>
        <p:sp>
          <p:nvSpPr>
            <p:cNvPr id="24" name="object 24" descr=""/>
            <p:cNvSpPr/>
            <p:nvPr/>
          </p:nvSpPr>
          <p:spPr>
            <a:xfrm>
              <a:off x="899998" y="8022376"/>
              <a:ext cx="5760085" cy="1138555"/>
            </a:xfrm>
            <a:custGeom>
              <a:avLst/>
              <a:gdLst/>
              <a:ahLst/>
              <a:cxnLst/>
              <a:rect l="l" t="t" r="r" b="b"/>
              <a:pathLst>
                <a:path w="5760084" h="1138554">
                  <a:moveTo>
                    <a:pt x="5724074" y="0"/>
                  </a:moveTo>
                  <a:lnTo>
                    <a:pt x="36000" y="0"/>
                  </a:lnTo>
                  <a:lnTo>
                    <a:pt x="21987" y="2829"/>
                  </a:lnTo>
                  <a:lnTo>
                    <a:pt x="10544" y="10544"/>
                  </a:lnTo>
                  <a:lnTo>
                    <a:pt x="2829" y="21987"/>
                  </a:lnTo>
                  <a:lnTo>
                    <a:pt x="0" y="36000"/>
                  </a:lnTo>
                  <a:lnTo>
                    <a:pt x="0" y="1102006"/>
                  </a:lnTo>
                  <a:lnTo>
                    <a:pt x="2829" y="1116019"/>
                  </a:lnTo>
                  <a:lnTo>
                    <a:pt x="10544" y="1127463"/>
                  </a:lnTo>
                  <a:lnTo>
                    <a:pt x="21987" y="1135178"/>
                  </a:lnTo>
                  <a:lnTo>
                    <a:pt x="36000" y="1138007"/>
                  </a:lnTo>
                  <a:lnTo>
                    <a:pt x="5724074" y="1138007"/>
                  </a:lnTo>
                  <a:lnTo>
                    <a:pt x="5738087" y="1135178"/>
                  </a:lnTo>
                  <a:lnTo>
                    <a:pt x="5749530" y="1127463"/>
                  </a:lnTo>
                  <a:lnTo>
                    <a:pt x="5757245" y="1116019"/>
                  </a:lnTo>
                  <a:lnTo>
                    <a:pt x="5760074" y="110200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5" name="object 25" descr=""/>
            <p:cNvSpPr/>
            <p:nvPr/>
          </p:nvSpPr>
          <p:spPr>
            <a:xfrm>
              <a:off x="899998" y="8022376"/>
              <a:ext cx="5760085" cy="1138555"/>
            </a:xfrm>
            <a:custGeom>
              <a:avLst/>
              <a:gdLst/>
              <a:ahLst/>
              <a:cxnLst/>
              <a:rect l="l" t="t" r="r" b="b"/>
              <a:pathLst>
                <a:path w="5760084" h="1138554">
                  <a:moveTo>
                    <a:pt x="5724074" y="0"/>
                  </a:moveTo>
                  <a:lnTo>
                    <a:pt x="36000" y="0"/>
                  </a:lnTo>
                  <a:lnTo>
                    <a:pt x="21987" y="2829"/>
                  </a:lnTo>
                  <a:lnTo>
                    <a:pt x="10544" y="10544"/>
                  </a:lnTo>
                  <a:lnTo>
                    <a:pt x="2829" y="21987"/>
                  </a:lnTo>
                  <a:lnTo>
                    <a:pt x="0" y="36000"/>
                  </a:lnTo>
                  <a:lnTo>
                    <a:pt x="0" y="1102006"/>
                  </a:lnTo>
                  <a:lnTo>
                    <a:pt x="2829" y="1116019"/>
                  </a:lnTo>
                  <a:lnTo>
                    <a:pt x="10544" y="1127463"/>
                  </a:lnTo>
                  <a:lnTo>
                    <a:pt x="21987" y="1135178"/>
                  </a:lnTo>
                  <a:lnTo>
                    <a:pt x="36000" y="1138007"/>
                  </a:lnTo>
                  <a:lnTo>
                    <a:pt x="5724074" y="1138007"/>
                  </a:lnTo>
                  <a:lnTo>
                    <a:pt x="5738087" y="1135178"/>
                  </a:lnTo>
                  <a:lnTo>
                    <a:pt x="5749530" y="1127463"/>
                  </a:lnTo>
                  <a:lnTo>
                    <a:pt x="5757245" y="1116019"/>
                  </a:lnTo>
                  <a:lnTo>
                    <a:pt x="5760074" y="110200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6" name="object 26" descr=""/>
          <p:cNvSpPr txBox="1"/>
          <p:nvPr/>
        </p:nvSpPr>
        <p:spPr>
          <a:xfrm>
            <a:off x="887298" y="5550401"/>
            <a:ext cx="5785485" cy="4279900"/>
          </a:xfrm>
          <a:prstGeom prst="rect">
            <a:avLst/>
          </a:prstGeom>
        </p:spPr>
        <p:txBody>
          <a:bodyPr wrap="square" lIns="0" tIns="12700" rIns="0" bIns="0" rtlCol="0" vert="horz">
            <a:spAutoFit/>
          </a:bodyPr>
          <a:lstStyle/>
          <a:p>
            <a:pPr algn="just" marL="12700" marR="5080" indent="252729">
              <a:lnSpc>
                <a:spcPct val="129500"/>
              </a:lnSpc>
              <a:spcBef>
                <a:spcPts val="100"/>
              </a:spcBef>
            </a:pPr>
            <a:r>
              <a:rPr dirty="0" sz="1000">
                <a:latin typeface="Times New Roman"/>
                <a:cs typeface="Times New Roman"/>
              </a:rPr>
              <a:t>Table</a:t>
            </a:r>
            <a:r>
              <a:rPr dirty="0" sz="1000" spc="65">
                <a:latin typeface="Times New Roman"/>
                <a:cs typeface="Times New Roman"/>
              </a:rPr>
              <a:t> </a:t>
            </a:r>
            <a:r>
              <a:rPr dirty="0" sz="1000">
                <a:latin typeface="Times New Roman"/>
                <a:cs typeface="Times New Roman"/>
              </a:rPr>
              <a:t>4.</a:t>
            </a:r>
            <a:r>
              <a:rPr dirty="0" sz="1000" spc="225">
                <a:latin typeface="Times New Roman"/>
                <a:cs typeface="Times New Roman"/>
              </a:rPr>
              <a:t> </a:t>
            </a:r>
            <a:r>
              <a:rPr dirty="0" sz="1000">
                <a:latin typeface="Times New Roman"/>
                <a:cs typeface="Times New Roman"/>
              </a:rPr>
              <a:t>Results</a:t>
            </a:r>
            <a:r>
              <a:rPr dirty="0" sz="1000" spc="70">
                <a:latin typeface="Times New Roman"/>
                <a:cs typeface="Times New Roman"/>
              </a:rPr>
              <a:t> </a:t>
            </a:r>
            <a:r>
              <a:rPr dirty="0" sz="1000">
                <a:latin typeface="Times New Roman"/>
                <a:cs typeface="Times New Roman"/>
              </a:rPr>
              <a:t>of</a:t>
            </a:r>
            <a:r>
              <a:rPr dirty="0" sz="1000" spc="65">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DGL</a:t>
            </a:r>
            <a:r>
              <a:rPr dirty="0" sz="1000" spc="65">
                <a:latin typeface="Times New Roman"/>
                <a:cs typeface="Times New Roman"/>
              </a:rPr>
              <a:t> </a:t>
            </a:r>
            <a:r>
              <a:rPr dirty="0" sz="1000">
                <a:latin typeface="Times New Roman"/>
                <a:cs typeface="Times New Roman"/>
              </a:rPr>
              <a:t>and</a:t>
            </a:r>
            <a:r>
              <a:rPr dirty="0" sz="1000" spc="65">
                <a:latin typeface="Times New Roman"/>
                <a:cs typeface="Times New Roman"/>
              </a:rPr>
              <a:t> </a:t>
            </a:r>
            <a:r>
              <a:rPr dirty="0" sz="1000">
                <a:latin typeface="Times New Roman"/>
                <a:cs typeface="Times New Roman"/>
              </a:rPr>
              <a:t>G-Blending</a:t>
            </a:r>
            <a:r>
              <a:rPr dirty="0" sz="1000" spc="65">
                <a:latin typeface="Times New Roman"/>
                <a:cs typeface="Times New Roman"/>
              </a:rPr>
              <a:t> </a:t>
            </a:r>
            <a:r>
              <a:rPr dirty="0" sz="1000">
                <a:latin typeface="Times New Roman"/>
                <a:cs typeface="Times New Roman"/>
              </a:rPr>
              <a:t>with</a:t>
            </a:r>
            <a:r>
              <a:rPr dirty="0" sz="1000" spc="65">
                <a:latin typeface="Times New Roman"/>
                <a:cs typeface="Times New Roman"/>
              </a:rPr>
              <a:t> </a:t>
            </a:r>
            <a:r>
              <a:rPr dirty="0" sz="1000">
                <a:latin typeface="Times New Roman"/>
                <a:cs typeface="Times New Roman"/>
              </a:rPr>
              <a:t>different</a:t>
            </a:r>
            <a:r>
              <a:rPr dirty="0" sz="1000" spc="65">
                <a:latin typeface="Times New Roman"/>
                <a:cs typeface="Times New Roman"/>
              </a:rPr>
              <a:t> </a:t>
            </a:r>
            <a:r>
              <a:rPr dirty="0" sz="1000">
                <a:latin typeface="Cambria"/>
                <a:cs typeface="Cambria"/>
              </a:rPr>
              <a:t>𝛼</a:t>
            </a:r>
            <a:r>
              <a:rPr dirty="0" sz="1000" spc="95">
                <a:latin typeface="Cambria"/>
                <a:cs typeface="Cambria"/>
              </a:rPr>
              <a:t> </a:t>
            </a:r>
            <a:r>
              <a:rPr dirty="0" sz="1000">
                <a:latin typeface="Times New Roman"/>
                <a:cs typeface="Times New Roman"/>
              </a:rPr>
              <a:t>on</a:t>
            </a:r>
            <a:r>
              <a:rPr dirty="0" sz="1000" spc="70">
                <a:latin typeface="Times New Roman"/>
                <a:cs typeface="Times New Roman"/>
              </a:rPr>
              <a:t> </a:t>
            </a:r>
            <a:r>
              <a:rPr dirty="0" sz="1000" spc="-10">
                <a:latin typeface="Times New Roman"/>
                <a:cs typeface="Times New Roman"/>
              </a:rPr>
              <a:t>CREMA-</a:t>
            </a:r>
            <a:r>
              <a:rPr dirty="0" sz="1000">
                <a:latin typeface="Times New Roman"/>
                <a:cs typeface="Times New Roman"/>
              </a:rPr>
              <a:t>D.</a:t>
            </a:r>
            <a:r>
              <a:rPr dirty="0" sz="1000" spc="65">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fusion</a:t>
            </a:r>
            <a:r>
              <a:rPr dirty="0" sz="1000" spc="65">
                <a:latin typeface="Times New Roman"/>
                <a:cs typeface="Times New Roman"/>
              </a:rPr>
              <a:t> </a:t>
            </a:r>
            <a:r>
              <a:rPr dirty="0" sz="1000">
                <a:latin typeface="Times New Roman"/>
                <a:cs typeface="Times New Roman"/>
              </a:rPr>
              <a:t>strategy</a:t>
            </a:r>
            <a:r>
              <a:rPr dirty="0" sz="1000" spc="65">
                <a:latin typeface="Times New Roman"/>
                <a:cs typeface="Times New Roman"/>
              </a:rPr>
              <a:t> </a:t>
            </a:r>
            <a:r>
              <a:rPr dirty="0" sz="1000">
                <a:latin typeface="Times New Roman"/>
                <a:cs typeface="Times New Roman"/>
              </a:rPr>
              <a:t>is</a:t>
            </a:r>
            <a:r>
              <a:rPr dirty="0" sz="1000" spc="65">
                <a:latin typeface="Times New Roman"/>
                <a:cs typeface="Times New Roman"/>
              </a:rPr>
              <a:t> </a:t>
            </a:r>
            <a:r>
              <a:rPr dirty="0" sz="1000" spc="-20">
                <a:latin typeface="Times New Roman"/>
                <a:cs typeface="Times New Roman"/>
              </a:rPr>
              <a:t>con- </a:t>
            </a:r>
            <a:r>
              <a:rPr dirty="0" sz="1000" spc="-10">
                <a:latin typeface="Times New Roman"/>
                <a:cs typeface="Times New Roman"/>
              </a:rPr>
              <a:t>catenation.</a:t>
            </a:r>
            <a:endParaRPr sz="1000">
              <a:latin typeface="Times New Roman"/>
              <a:cs typeface="Times New Roman"/>
            </a:endParaRPr>
          </a:p>
          <a:p>
            <a:pPr>
              <a:lnSpc>
                <a:spcPct val="100000"/>
              </a:lnSpc>
              <a:spcBef>
                <a:spcPts val="585"/>
              </a:spcBef>
            </a:pPr>
            <a:endParaRPr sz="1000">
              <a:latin typeface="Times New Roman"/>
              <a:cs typeface="Times New Roman"/>
            </a:endParaRPr>
          </a:p>
          <a:p>
            <a:pPr marL="192405">
              <a:lnSpc>
                <a:spcPct val="100000"/>
              </a:lnSpc>
            </a:pPr>
            <a:r>
              <a:rPr dirty="0" sz="1000" spc="-145">
                <a:latin typeface="SimSun"/>
                <a:cs typeface="SimSun"/>
              </a:rPr>
              <a:t>表 </a:t>
            </a:r>
            <a:r>
              <a:rPr dirty="0" sz="1000">
                <a:latin typeface="Times New Roman"/>
                <a:cs typeface="Times New Roman"/>
              </a:rPr>
              <a:t>4.</a:t>
            </a:r>
            <a:r>
              <a:rPr dirty="0" sz="1000" spc="70">
                <a:latin typeface="Times New Roman"/>
                <a:cs typeface="Times New Roman"/>
              </a:rPr>
              <a:t> </a:t>
            </a:r>
            <a:r>
              <a:rPr dirty="0" sz="1000" spc="220">
                <a:latin typeface="SimSun"/>
                <a:cs typeface="SimSun"/>
              </a:rPr>
              <a:t>在</a:t>
            </a:r>
            <a:r>
              <a:rPr dirty="0" sz="1000" spc="-10">
                <a:latin typeface="Times New Roman"/>
                <a:cs typeface="Times New Roman"/>
              </a:rPr>
              <a:t>CREMA-</a:t>
            </a:r>
            <a:r>
              <a:rPr dirty="0" sz="1000">
                <a:latin typeface="Times New Roman"/>
                <a:cs typeface="Times New Roman"/>
              </a:rPr>
              <a:t>D</a:t>
            </a:r>
            <a:r>
              <a:rPr dirty="0" sz="1000" spc="-20">
                <a:latin typeface="Times New Roman"/>
                <a:cs typeface="Times New Roman"/>
              </a:rPr>
              <a:t> </a:t>
            </a:r>
            <a:r>
              <a:rPr dirty="0" sz="1000" spc="15">
                <a:latin typeface="SimSun"/>
                <a:cs typeface="SimSun"/>
              </a:rPr>
              <a:t>数据集上使用不同</a:t>
            </a:r>
            <a:r>
              <a:rPr dirty="0" sz="1000">
                <a:latin typeface="Cambria"/>
                <a:cs typeface="Cambria"/>
              </a:rPr>
              <a:t>𝛼</a:t>
            </a:r>
            <a:r>
              <a:rPr dirty="0" sz="1000" spc="15">
                <a:latin typeface="Cambria"/>
                <a:cs typeface="Cambria"/>
              </a:rPr>
              <a:t> </a:t>
            </a:r>
            <a:r>
              <a:rPr dirty="0" sz="1000" spc="220">
                <a:latin typeface="SimSun"/>
                <a:cs typeface="SimSun"/>
              </a:rPr>
              <a:t>的</a:t>
            </a:r>
            <a:r>
              <a:rPr dirty="0" sz="1000">
                <a:latin typeface="Times New Roman"/>
                <a:cs typeface="Times New Roman"/>
              </a:rPr>
              <a:t>DGL</a:t>
            </a:r>
            <a:r>
              <a:rPr dirty="0" sz="1000" spc="-15">
                <a:latin typeface="Times New Roman"/>
                <a:cs typeface="Times New Roman"/>
              </a:rPr>
              <a:t> </a:t>
            </a:r>
            <a:r>
              <a:rPr dirty="0" sz="1000" spc="220">
                <a:latin typeface="SimSun"/>
                <a:cs typeface="SimSun"/>
              </a:rPr>
              <a:t>和</a:t>
            </a:r>
            <a:r>
              <a:rPr dirty="0" sz="1000">
                <a:latin typeface="Times New Roman"/>
                <a:cs typeface="Times New Roman"/>
              </a:rPr>
              <a:t>G-Blending</a:t>
            </a:r>
            <a:r>
              <a:rPr dirty="0" sz="1000" spc="-15">
                <a:latin typeface="Times New Roman"/>
                <a:cs typeface="Times New Roman"/>
              </a:rPr>
              <a:t> </a:t>
            </a:r>
            <a:r>
              <a:rPr dirty="0" sz="1000" spc="-15">
                <a:latin typeface="SimSun"/>
                <a:cs typeface="SimSun"/>
              </a:rPr>
              <a:t>的结果。融合策略是拼接。</a:t>
            </a:r>
            <a:endParaRPr sz="1000">
              <a:latin typeface="SimSun"/>
              <a:cs typeface="SimSun"/>
            </a:endParaRPr>
          </a:p>
          <a:p>
            <a:pPr>
              <a:lnSpc>
                <a:spcPct val="100000"/>
              </a:lnSpc>
              <a:spcBef>
                <a:spcPts val="114"/>
              </a:spcBef>
            </a:pPr>
            <a:endParaRPr sz="1000">
              <a:latin typeface="SimSun"/>
              <a:cs typeface="SimSun"/>
            </a:endParaRPr>
          </a:p>
          <a:p>
            <a:pPr algn="just" marL="12700" marR="5080" indent="252729">
              <a:lnSpc>
                <a:spcPct val="129500"/>
              </a:lnSpc>
            </a:pPr>
            <a:r>
              <a:rPr dirty="0" sz="1000" spc="20">
                <a:latin typeface="Times New Roman"/>
                <a:cs typeface="Times New Roman"/>
              </a:rPr>
              <a:t>The</a:t>
            </a:r>
            <a:r>
              <a:rPr dirty="0" sz="1000" spc="-35">
                <a:latin typeface="Times New Roman"/>
                <a:cs typeface="Times New Roman"/>
              </a:rPr>
              <a:t> </a:t>
            </a:r>
            <a:r>
              <a:rPr dirty="0" sz="1000" spc="-5">
                <a:latin typeface="Times New Roman"/>
                <a:cs typeface="Times New Roman"/>
              </a:rPr>
              <a:t>effect</a:t>
            </a:r>
            <a:r>
              <a:rPr dirty="0" sz="1000" spc="-35">
                <a:latin typeface="Times New Roman"/>
                <a:cs typeface="Times New Roman"/>
              </a:rPr>
              <a:t> </a:t>
            </a:r>
            <a:r>
              <a:rPr dirty="0" sz="1000" spc="-15">
                <a:latin typeface="Times New Roman"/>
                <a:cs typeface="Times New Roman"/>
              </a:rPr>
              <a:t>of</a:t>
            </a:r>
            <a:r>
              <a:rPr dirty="0" sz="1000" spc="-35">
                <a:latin typeface="Times New Roman"/>
                <a:cs typeface="Times New Roman"/>
              </a:rPr>
              <a:t> </a:t>
            </a:r>
            <a:r>
              <a:rPr dirty="0" sz="1000" spc="-20">
                <a:latin typeface="Cambria"/>
                <a:cs typeface="Cambria"/>
              </a:rPr>
              <a:t>𝛼</a:t>
            </a:r>
            <a:r>
              <a:rPr dirty="0" sz="1000" spc="-5">
                <a:latin typeface="Cambria"/>
                <a:cs typeface="Cambria"/>
              </a:rPr>
              <a:t> </a:t>
            </a:r>
            <a:r>
              <a:rPr dirty="0" sz="1000" spc="-10">
                <a:latin typeface="Times New Roman"/>
                <a:cs typeface="Times New Roman"/>
              </a:rPr>
              <a:t>.</a:t>
            </a:r>
            <a:r>
              <a:rPr dirty="0" sz="1000" spc="55">
                <a:latin typeface="Times New Roman"/>
                <a:cs typeface="Times New Roman"/>
              </a:rPr>
              <a:t> </a:t>
            </a:r>
            <a:r>
              <a:rPr dirty="0" sz="1000" spc="-40">
                <a:latin typeface="Times New Roman"/>
                <a:cs typeface="Times New Roman"/>
              </a:rPr>
              <a:t>We </a:t>
            </a:r>
            <a:r>
              <a:rPr dirty="0" sz="1000" spc="10">
                <a:latin typeface="Times New Roman"/>
                <a:cs typeface="Times New Roman"/>
              </a:rPr>
              <a:t>investigate</a:t>
            </a:r>
            <a:r>
              <a:rPr dirty="0" sz="1000" spc="-40">
                <a:latin typeface="Times New Roman"/>
                <a:cs typeface="Times New Roman"/>
              </a:rPr>
              <a:t> </a:t>
            </a:r>
            <a:r>
              <a:rPr dirty="0" sz="1000" spc="40">
                <a:latin typeface="Times New Roman"/>
                <a:cs typeface="Times New Roman"/>
              </a:rPr>
              <a:t>the</a:t>
            </a:r>
            <a:r>
              <a:rPr dirty="0" sz="1000" spc="-35">
                <a:latin typeface="Times New Roman"/>
                <a:cs typeface="Times New Roman"/>
              </a:rPr>
              <a:t> </a:t>
            </a:r>
            <a:r>
              <a:rPr dirty="0" sz="1000" spc="20">
                <a:latin typeface="Times New Roman"/>
                <a:cs typeface="Times New Roman"/>
              </a:rPr>
              <a:t>influence</a:t>
            </a:r>
            <a:r>
              <a:rPr dirty="0" sz="1000" spc="-35">
                <a:latin typeface="Times New Roman"/>
                <a:cs typeface="Times New Roman"/>
              </a:rPr>
              <a:t> </a:t>
            </a:r>
            <a:r>
              <a:rPr dirty="0" sz="1000" spc="-15">
                <a:latin typeface="Times New Roman"/>
                <a:cs typeface="Times New Roman"/>
              </a:rPr>
              <a:t>of</a:t>
            </a:r>
            <a:r>
              <a:rPr dirty="0" sz="1000" spc="-35">
                <a:latin typeface="Times New Roman"/>
                <a:cs typeface="Times New Roman"/>
              </a:rPr>
              <a:t> </a:t>
            </a:r>
            <a:r>
              <a:rPr dirty="0" sz="1000" spc="15">
                <a:latin typeface="Times New Roman"/>
                <a:cs typeface="Times New Roman"/>
              </a:rPr>
              <a:t>different</a:t>
            </a:r>
            <a:r>
              <a:rPr dirty="0" sz="1000" spc="-40">
                <a:latin typeface="Times New Roman"/>
                <a:cs typeface="Times New Roman"/>
              </a:rPr>
              <a:t> </a:t>
            </a:r>
            <a:r>
              <a:rPr dirty="0" sz="1000" spc="-20">
                <a:latin typeface="Cambria"/>
                <a:cs typeface="Cambria"/>
              </a:rPr>
              <a:t>𝛼</a:t>
            </a:r>
            <a:r>
              <a:rPr dirty="0" sz="1000" spc="-5">
                <a:latin typeface="Cambria"/>
                <a:cs typeface="Cambria"/>
              </a:rPr>
              <a:t> </a:t>
            </a:r>
            <a:r>
              <a:rPr dirty="0" sz="1000">
                <a:latin typeface="Times New Roman"/>
                <a:cs typeface="Times New Roman"/>
              </a:rPr>
              <a:t>for</a:t>
            </a:r>
            <a:r>
              <a:rPr dirty="0" sz="1000" spc="-35">
                <a:latin typeface="Times New Roman"/>
                <a:cs typeface="Times New Roman"/>
              </a:rPr>
              <a:t> </a:t>
            </a:r>
            <a:r>
              <a:rPr dirty="0" sz="1000" spc="-15">
                <a:latin typeface="Times New Roman"/>
                <a:cs typeface="Times New Roman"/>
              </a:rPr>
              <a:t>DGL</a:t>
            </a:r>
            <a:r>
              <a:rPr dirty="0" sz="1000" spc="-35">
                <a:latin typeface="Times New Roman"/>
                <a:cs typeface="Times New Roman"/>
              </a:rPr>
              <a:t> </a:t>
            </a:r>
            <a:r>
              <a:rPr dirty="0" sz="1000" spc="40">
                <a:latin typeface="Times New Roman"/>
                <a:cs typeface="Times New Roman"/>
              </a:rPr>
              <a:t>on</a:t>
            </a:r>
            <a:r>
              <a:rPr dirty="0" sz="1000" spc="-35">
                <a:latin typeface="Times New Roman"/>
                <a:cs typeface="Times New Roman"/>
              </a:rPr>
              <a:t> </a:t>
            </a:r>
            <a:r>
              <a:rPr dirty="0" sz="1000" spc="40">
                <a:latin typeface="Times New Roman"/>
                <a:cs typeface="Times New Roman"/>
              </a:rPr>
              <a:t>the</a:t>
            </a:r>
            <a:r>
              <a:rPr dirty="0" sz="1000" spc="-35">
                <a:latin typeface="Times New Roman"/>
                <a:cs typeface="Times New Roman"/>
              </a:rPr>
              <a:t> </a:t>
            </a:r>
            <a:r>
              <a:rPr dirty="0" sz="1000" spc="-5">
                <a:latin typeface="Times New Roman"/>
                <a:cs typeface="Times New Roman"/>
              </a:rPr>
              <a:t>CREMA-</a:t>
            </a:r>
            <a:r>
              <a:rPr dirty="0" sz="1000" spc="-25">
                <a:latin typeface="Times New Roman"/>
                <a:cs typeface="Times New Roman"/>
              </a:rPr>
              <a:t>D</a:t>
            </a:r>
            <a:r>
              <a:rPr dirty="0" sz="1000" spc="-40">
                <a:latin typeface="Times New Roman"/>
                <a:cs typeface="Times New Roman"/>
              </a:rPr>
              <a:t> </a:t>
            </a:r>
            <a:r>
              <a:rPr dirty="0" sz="1000" spc="20">
                <a:latin typeface="Times New Roman"/>
                <a:cs typeface="Times New Roman"/>
              </a:rPr>
              <a:t>dataset.</a:t>
            </a:r>
            <a:r>
              <a:rPr dirty="0" sz="1000" spc="55">
                <a:latin typeface="Times New Roman"/>
                <a:cs typeface="Times New Roman"/>
              </a:rPr>
              <a:t> </a:t>
            </a:r>
            <a:r>
              <a:rPr dirty="0" sz="1000" spc="-10">
                <a:latin typeface="Times New Roman"/>
                <a:cs typeface="Times New Roman"/>
              </a:rPr>
              <a:t>As</a:t>
            </a:r>
            <a:r>
              <a:rPr dirty="0" sz="1000" spc="-35">
                <a:latin typeface="Times New Roman"/>
                <a:cs typeface="Times New Roman"/>
              </a:rPr>
              <a:t> </a:t>
            </a:r>
            <a:r>
              <a:rPr dirty="0" sz="1000" spc="35">
                <a:latin typeface="Times New Roman"/>
                <a:cs typeface="Times New Roman"/>
              </a:rPr>
              <a:t>shown</a:t>
            </a:r>
            <a:r>
              <a:rPr dirty="0" sz="1000" spc="15">
                <a:latin typeface="Times New Roman"/>
                <a:cs typeface="Times New Roman"/>
              </a:rPr>
              <a:t> </a:t>
            </a:r>
            <a:r>
              <a:rPr dirty="0" sz="1000" spc="35">
                <a:latin typeface="Times New Roman"/>
                <a:cs typeface="Times New Roman"/>
              </a:rPr>
              <a:t>in</a:t>
            </a:r>
            <a:r>
              <a:rPr dirty="0" sz="1000" spc="-75">
                <a:latin typeface="Times New Roman"/>
                <a:cs typeface="Times New Roman"/>
              </a:rPr>
              <a:t> </a:t>
            </a:r>
            <a:r>
              <a:rPr dirty="0" sz="1000" spc="-5">
                <a:latin typeface="Times New Roman"/>
                <a:cs typeface="Times New Roman"/>
              </a:rPr>
              <a:t>Table</a:t>
            </a:r>
            <a:r>
              <a:rPr dirty="0" sz="1000" spc="-75">
                <a:latin typeface="Times New Roman"/>
                <a:cs typeface="Times New Roman"/>
              </a:rPr>
              <a:t> </a:t>
            </a:r>
            <a:r>
              <a:rPr dirty="0" sz="1000" spc="-10">
                <a:latin typeface="Times New Roman"/>
                <a:cs typeface="Times New Roman"/>
              </a:rPr>
              <a:t>4,</a:t>
            </a:r>
            <a:r>
              <a:rPr dirty="0" sz="1000" spc="-65">
                <a:latin typeface="Times New Roman"/>
                <a:cs typeface="Times New Roman"/>
              </a:rPr>
              <a:t> </a:t>
            </a:r>
            <a:r>
              <a:rPr dirty="0" sz="1000" spc="40">
                <a:latin typeface="Times New Roman"/>
                <a:cs typeface="Times New Roman"/>
              </a:rPr>
              <a:t>the</a:t>
            </a:r>
            <a:r>
              <a:rPr dirty="0" sz="1000" spc="-75">
                <a:latin typeface="Times New Roman"/>
                <a:cs typeface="Times New Roman"/>
              </a:rPr>
              <a:t> </a:t>
            </a:r>
            <a:r>
              <a:rPr dirty="0" sz="1000" spc="20">
                <a:latin typeface="Times New Roman"/>
                <a:cs typeface="Times New Roman"/>
              </a:rPr>
              <a:t>performance</a:t>
            </a:r>
            <a:r>
              <a:rPr dirty="0" sz="1000" spc="-75">
                <a:latin typeface="Times New Roman"/>
                <a:cs typeface="Times New Roman"/>
              </a:rPr>
              <a:t> </a:t>
            </a:r>
            <a:r>
              <a:rPr dirty="0" sz="1000" spc="-15">
                <a:latin typeface="Times New Roman"/>
                <a:cs typeface="Times New Roman"/>
              </a:rPr>
              <a:t>of</a:t>
            </a:r>
            <a:r>
              <a:rPr dirty="0" sz="1000" spc="-75">
                <a:latin typeface="Times New Roman"/>
                <a:cs typeface="Times New Roman"/>
              </a:rPr>
              <a:t> </a:t>
            </a:r>
            <a:r>
              <a:rPr dirty="0" sz="1000" spc="-15">
                <a:latin typeface="Times New Roman"/>
                <a:cs typeface="Times New Roman"/>
              </a:rPr>
              <a:t>DGL</a:t>
            </a:r>
            <a:r>
              <a:rPr dirty="0" sz="1000" spc="-75">
                <a:latin typeface="Times New Roman"/>
                <a:cs typeface="Times New Roman"/>
              </a:rPr>
              <a:t> </a:t>
            </a:r>
            <a:r>
              <a:rPr dirty="0" sz="1000" spc="15">
                <a:latin typeface="Times New Roman"/>
                <a:cs typeface="Times New Roman"/>
              </a:rPr>
              <a:t>increases</a:t>
            </a:r>
            <a:r>
              <a:rPr dirty="0" sz="1000" spc="-75">
                <a:latin typeface="Times New Roman"/>
                <a:cs typeface="Times New Roman"/>
              </a:rPr>
              <a:t> </a:t>
            </a:r>
            <a:r>
              <a:rPr dirty="0" sz="1000" spc="35">
                <a:latin typeface="Times New Roman"/>
                <a:cs typeface="Times New Roman"/>
              </a:rPr>
              <a:t>with</a:t>
            </a:r>
            <a:r>
              <a:rPr dirty="0" sz="1000" spc="-75">
                <a:latin typeface="Times New Roman"/>
                <a:cs typeface="Times New Roman"/>
              </a:rPr>
              <a:t> </a:t>
            </a:r>
            <a:r>
              <a:rPr dirty="0" sz="1000" spc="25">
                <a:latin typeface="Times New Roman"/>
                <a:cs typeface="Times New Roman"/>
              </a:rPr>
              <a:t>parameter</a:t>
            </a:r>
            <a:r>
              <a:rPr dirty="0" sz="1000" spc="-75">
                <a:latin typeface="Times New Roman"/>
                <a:cs typeface="Times New Roman"/>
              </a:rPr>
              <a:t> </a:t>
            </a:r>
            <a:r>
              <a:rPr dirty="0" sz="1000" spc="-20">
                <a:latin typeface="Cambria"/>
                <a:cs typeface="Cambria"/>
              </a:rPr>
              <a:t>𝛼</a:t>
            </a:r>
            <a:r>
              <a:rPr dirty="0" sz="1000" spc="-45">
                <a:latin typeface="Cambria"/>
                <a:cs typeface="Cambria"/>
              </a:rPr>
              <a:t> </a:t>
            </a:r>
            <a:r>
              <a:rPr dirty="0" sz="1000" spc="-10">
                <a:latin typeface="Times New Roman"/>
                <a:cs typeface="Times New Roman"/>
              </a:rPr>
              <a:t>,</a:t>
            </a:r>
            <a:r>
              <a:rPr dirty="0" sz="1000" spc="-65">
                <a:latin typeface="Times New Roman"/>
                <a:cs typeface="Times New Roman"/>
              </a:rPr>
              <a:t> </a:t>
            </a:r>
            <a:r>
              <a:rPr dirty="0" sz="1000" spc="20">
                <a:latin typeface="Times New Roman"/>
                <a:cs typeface="Times New Roman"/>
              </a:rPr>
              <a:t>indicating</a:t>
            </a:r>
            <a:r>
              <a:rPr dirty="0" sz="1000" spc="-75">
                <a:latin typeface="Times New Roman"/>
                <a:cs typeface="Times New Roman"/>
              </a:rPr>
              <a:t> </a:t>
            </a:r>
            <a:r>
              <a:rPr dirty="0" sz="1000" spc="45">
                <a:latin typeface="Times New Roman"/>
                <a:cs typeface="Times New Roman"/>
              </a:rPr>
              <a:t>that</a:t>
            </a:r>
            <a:r>
              <a:rPr dirty="0" sz="1000" spc="-75">
                <a:latin typeface="Times New Roman"/>
                <a:cs typeface="Times New Roman"/>
              </a:rPr>
              <a:t> </a:t>
            </a:r>
            <a:r>
              <a:rPr dirty="0" sz="1000" spc="30">
                <a:latin typeface="Times New Roman"/>
                <a:cs typeface="Times New Roman"/>
              </a:rPr>
              <a:t>enhancing</a:t>
            </a:r>
            <a:r>
              <a:rPr dirty="0" sz="1000" spc="-75">
                <a:latin typeface="Times New Roman"/>
                <a:cs typeface="Times New Roman"/>
              </a:rPr>
              <a:t> </a:t>
            </a:r>
            <a:r>
              <a:rPr dirty="0" sz="1000" spc="40">
                <a:latin typeface="Times New Roman"/>
                <a:cs typeface="Times New Roman"/>
              </a:rPr>
              <a:t>the</a:t>
            </a:r>
            <a:r>
              <a:rPr dirty="0" sz="1000" spc="-75">
                <a:latin typeface="Times New Roman"/>
                <a:cs typeface="Times New Roman"/>
              </a:rPr>
              <a:t> </a:t>
            </a:r>
            <a:r>
              <a:rPr dirty="0" sz="1000" spc="25">
                <a:latin typeface="Times New Roman"/>
                <a:cs typeface="Times New Roman"/>
              </a:rPr>
              <a:t>optimization</a:t>
            </a:r>
            <a:r>
              <a:rPr dirty="0" sz="1000" spc="-75">
                <a:latin typeface="Times New Roman"/>
                <a:cs typeface="Times New Roman"/>
              </a:rPr>
              <a:t> </a:t>
            </a:r>
            <a:r>
              <a:rPr dirty="0" sz="1000" spc="-15">
                <a:latin typeface="Times New Roman"/>
                <a:cs typeface="Times New Roman"/>
              </a:rPr>
              <a:t>of</a:t>
            </a:r>
            <a:r>
              <a:rPr dirty="0" sz="1000" spc="-10">
                <a:latin typeface="Times New Roman"/>
                <a:cs typeface="Times New Roman"/>
              </a:rPr>
              <a:t> </a:t>
            </a:r>
            <a:r>
              <a:rPr dirty="0" sz="1000" spc="35">
                <a:latin typeface="Times New Roman"/>
                <a:cs typeface="Times New Roman"/>
              </a:rPr>
              <a:t>unimodal</a:t>
            </a:r>
            <a:r>
              <a:rPr dirty="0" sz="1000" spc="-45">
                <a:latin typeface="Times New Roman"/>
                <a:cs typeface="Times New Roman"/>
              </a:rPr>
              <a:t> </a:t>
            </a:r>
            <a:r>
              <a:rPr dirty="0" sz="1000" spc="20">
                <a:latin typeface="Times New Roman"/>
                <a:cs typeface="Times New Roman"/>
              </a:rPr>
              <a:t>learning</a:t>
            </a:r>
            <a:r>
              <a:rPr dirty="0" sz="1000" spc="-45">
                <a:latin typeface="Times New Roman"/>
                <a:cs typeface="Times New Roman"/>
              </a:rPr>
              <a:t> </a:t>
            </a:r>
            <a:r>
              <a:rPr dirty="0" sz="1000" spc="25">
                <a:latin typeface="Times New Roman"/>
                <a:cs typeface="Times New Roman"/>
              </a:rPr>
              <a:t>can</a:t>
            </a:r>
            <a:r>
              <a:rPr dirty="0" sz="1000" spc="-45">
                <a:latin typeface="Times New Roman"/>
                <a:cs typeface="Times New Roman"/>
              </a:rPr>
              <a:t> </a:t>
            </a:r>
            <a:r>
              <a:rPr dirty="0" sz="1000" spc="15">
                <a:latin typeface="Times New Roman"/>
                <a:cs typeface="Times New Roman"/>
              </a:rPr>
              <a:t>improve</a:t>
            </a:r>
            <a:r>
              <a:rPr dirty="0" sz="1000" spc="-45">
                <a:latin typeface="Times New Roman"/>
                <a:cs typeface="Times New Roman"/>
              </a:rPr>
              <a:t> </a:t>
            </a:r>
            <a:r>
              <a:rPr dirty="0" sz="1000" spc="30">
                <a:latin typeface="Times New Roman"/>
                <a:cs typeface="Times New Roman"/>
              </a:rPr>
              <a:t>multimodal</a:t>
            </a:r>
            <a:r>
              <a:rPr dirty="0" sz="1000" spc="-45">
                <a:latin typeface="Times New Roman"/>
                <a:cs typeface="Times New Roman"/>
              </a:rPr>
              <a:t> </a:t>
            </a:r>
            <a:r>
              <a:rPr dirty="0" sz="1000" spc="20">
                <a:latin typeface="Times New Roman"/>
                <a:cs typeface="Times New Roman"/>
              </a:rPr>
              <a:t>performance,</a:t>
            </a:r>
            <a:r>
              <a:rPr dirty="0" sz="1000" spc="-40">
                <a:latin typeface="Times New Roman"/>
                <a:cs typeface="Times New Roman"/>
              </a:rPr>
              <a:t> </a:t>
            </a:r>
            <a:r>
              <a:rPr dirty="0" sz="1000" spc="30">
                <a:latin typeface="Times New Roman"/>
                <a:cs typeface="Times New Roman"/>
              </a:rPr>
              <a:t>which</a:t>
            </a:r>
            <a:r>
              <a:rPr dirty="0" sz="1000" spc="-45">
                <a:latin typeface="Times New Roman"/>
                <a:cs typeface="Times New Roman"/>
              </a:rPr>
              <a:t> </a:t>
            </a:r>
            <a:r>
              <a:rPr dirty="0" sz="1000" spc="5">
                <a:latin typeface="Times New Roman"/>
                <a:cs typeface="Times New Roman"/>
              </a:rPr>
              <a:t>is</a:t>
            </a:r>
            <a:r>
              <a:rPr dirty="0" sz="1000" spc="-45">
                <a:latin typeface="Times New Roman"/>
                <a:cs typeface="Times New Roman"/>
              </a:rPr>
              <a:t> </a:t>
            </a:r>
            <a:r>
              <a:rPr dirty="0" sz="1000" spc="25">
                <a:latin typeface="Times New Roman"/>
                <a:cs typeface="Times New Roman"/>
              </a:rPr>
              <a:t>consistent</a:t>
            </a:r>
            <a:r>
              <a:rPr dirty="0" sz="1000" spc="-45">
                <a:latin typeface="Times New Roman"/>
                <a:cs typeface="Times New Roman"/>
              </a:rPr>
              <a:t> </a:t>
            </a:r>
            <a:r>
              <a:rPr dirty="0" sz="1000" spc="35">
                <a:latin typeface="Times New Roman"/>
                <a:cs typeface="Times New Roman"/>
              </a:rPr>
              <a:t>with</a:t>
            </a:r>
            <a:r>
              <a:rPr dirty="0" sz="1000" spc="-45">
                <a:latin typeface="Times New Roman"/>
                <a:cs typeface="Times New Roman"/>
              </a:rPr>
              <a:t> </a:t>
            </a:r>
            <a:r>
              <a:rPr dirty="0" sz="1000" spc="40">
                <a:latin typeface="Times New Roman"/>
                <a:cs typeface="Times New Roman"/>
              </a:rPr>
              <a:t>the</a:t>
            </a:r>
            <a:r>
              <a:rPr dirty="0" sz="1000" spc="-45">
                <a:latin typeface="Times New Roman"/>
                <a:cs typeface="Times New Roman"/>
              </a:rPr>
              <a:t> </a:t>
            </a:r>
            <a:r>
              <a:rPr dirty="0" sz="1000" spc="20">
                <a:latin typeface="Times New Roman"/>
                <a:cs typeface="Times New Roman"/>
              </a:rPr>
              <a:t>conclusion</a:t>
            </a:r>
            <a:r>
              <a:rPr dirty="0" sz="1000" spc="-45">
                <a:latin typeface="Times New Roman"/>
                <a:cs typeface="Times New Roman"/>
              </a:rPr>
              <a:t> </a:t>
            </a:r>
            <a:r>
              <a:rPr dirty="0" sz="1000" spc="-15">
                <a:latin typeface="Times New Roman"/>
                <a:cs typeface="Times New Roman"/>
              </a:rPr>
              <a:t>of</a:t>
            </a:r>
            <a:r>
              <a:rPr dirty="0" sz="1000" spc="-45">
                <a:latin typeface="Times New Roman"/>
                <a:cs typeface="Times New Roman"/>
              </a:rPr>
              <a:t> </a:t>
            </a:r>
            <a:r>
              <a:rPr dirty="0" sz="1000" spc="10">
                <a:latin typeface="Times New Roman"/>
                <a:cs typeface="Times New Roman"/>
              </a:rPr>
              <a:t>existing</a:t>
            </a:r>
            <a:r>
              <a:rPr dirty="0" sz="1000" spc="5">
                <a:latin typeface="Times New Roman"/>
                <a:cs typeface="Times New Roman"/>
              </a:rPr>
              <a:t> </a:t>
            </a:r>
            <a:r>
              <a:rPr dirty="0" sz="1000" spc="30">
                <a:latin typeface="Times New Roman"/>
                <a:cs typeface="Times New Roman"/>
              </a:rPr>
              <a:t>methods</a:t>
            </a:r>
            <a:r>
              <a:rPr dirty="0" sz="1000" spc="55">
                <a:latin typeface="Times New Roman"/>
                <a:cs typeface="Times New Roman"/>
              </a:rPr>
              <a:t> </a:t>
            </a:r>
            <a:r>
              <a:rPr dirty="0" sz="1000" spc="-5">
                <a:latin typeface="Times New Roman"/>
                <a:cs typeface="Times New Roman"/>
              </a:rPr>
              <a:t>[28,</a:t>
            </a:r>
            <a:r>
              <a:rPr dirty="0" sz="1000" spc="75">
                <a:latin typeface="Times New Roman"/>
                <a:cs typeface="Times New Roman"/>
              </a:rPr>
              <a:t> </a:t>
            </a:r>
            <a:r>
              <a:rPr dirty="0" sz="1000" spc="-5">
                <a:latin typeface="Times New Roman"/>
                <a:cs typeface="Times New Roman"/>
              </a:rPr>
              <a:t>32].</a:t>
            </a:r>
            <a:r>
              <a:rPr dirty="0" sz="1000" spc="285">
                <a:latin typeface="Times New Roman"/>
                <a:cs typeface="Times New Roman"/>
              </a:rPr>
              <a:t> </a:t>
            </a:r>
            <a:r>
              <a:rPr dirty="0" sz="1000">
                <a:latin typeface="Times New Roman"/>
                <a:cs typeface="Times New Roman"/>
              </a:rPr>
              <a:t>However,</a:t>
            </a:r>
            <a:r>
              <a:rPr dirty="0" sz="1000" spc="75">
                <a:latin typeface="Times New Roman"/>
                <a:cs typeface="Times New Roman"/>
              </a:rPr>
              <a:t> </a:t>
            </a:r>
            <a:r>
              <a:rPr dirty="0" sz="1000" spc="35">
                <a:latin typeface="Times New Roman"/>
                <a:cs typeface="Times New Roman"/>
              </a:rPr>
              <a:t>although</a:t>
            </a:r>
            <a:r>
              <a:rPr dirty="0" sz="1000" spc="55">
                <a:latin typeface="Times New Roman"/>
                <a:cs typeface="Times New Roman"/>
              </a:rPr>
              <a:t> </a:t>
            </a:r>
            <a:r>
              <a:rPr dirty="0" sz="1000" spc="10">
                <a:latin typeface="Times New Roman"/>
                <a:cs typeface="Times New Roman"/>
              </a:rPr>
              <a:t>existing</a:t>
            </a:r>
            <a:r>
              <a:rPr dirty="0" sz="1000" spc="55">
                <a:latin typeface="Times New Roman"/>
                <a:cs typeface="Times New Roman"/>
              </a:rPr>
              <a:t> </a:t>
            </a:r>
            <a:r>
              <a:rPr dirty="0" sz="1000" spc="25">
                <a:latin typeface="Times New Roman"/>
                <a:cs typeface="Times New Roman"/>
              </a:rPr>
              <a:t>methods,</a:t>
            </a:r>
            <a:r>
              <a:rPr dirty="0" sz="1000" spc="75">
                <a:latin typeface="Times New Roman"/>
                <a:cs typeface="Times New Roman"/>
              </a:rPr>
              <a:t> </a:t>
            </a:r>
            <a:r>
              <a:rPr dirty="0" sz="1000" spc="30">
                <a:latin typeface="Times New Roman"/>
                <a:cs typeface="Times New Roman"/>
              </a:rPr>
              <a:t>such</a:t>
            </a:r>
            <a:r>
              <a:rPr dirty="0" sz="1000" spc="55">
                <a:latin typeface="Times New Roman"/>
                <a:cs typeface="Times New Roman"/>
              </a:rPr>
              <a:t> </a:t>
            </a:r>
            <a:r>
              <a:rPr dirty="0" sz="1000" spc="15">
                <a:latin typeface="Times New Roman"/>
                <a:cs typeface="Times New Roman"/>
              </a:rPr>
              <a:t>as</a:t>
            </a:r>
            <a:r>
              <a:rPr dirty="0" sz="1000" spc="55">
                <a:latin typeface="Times New Roman"/>
                <a:cs typeface="Times New Roman"/>
              </a:rPr>
              <a:t> </a:t>
            </a:r>
            <a:r>
              <a:rPr dirty="0" sz="1000" spc="10">
                <a:latin typeface="Times New Roman"/>
                <a:cs typeface="Times New Roman"/>
              </a:rPr>
              <a:t>G-</a:t>
            </a:r>
            <a:r>
              <a:rPr dirty="0" sz="1000" spc="5">
                <a:latin typeface="Times New Roman"/>
                <a:cs typeface="Times New Roman"/>
              </a:rPr>
              <a:t>Blending,</a:t>
            </a:r>
            <a:r>
              <a:rPr dirty="0" sz="1000" spc="75">
                <a:latin typeface="Times New Roman"/>
                <a:cs typeface="Times New Roman"/>
              </a:rPr>
              <a:t> </a:t>
            </a:r>
            <a:r>
              <a:rPr dirty="0" sz="1000" spc="10">
                <a:latin typeface="Times New Roman"/>
                <a:cs typeface="Times New Roman"/>
              </a:rPr>
              <a:t>also</a:t>
            </a:r>
            <a:r>
              <a:rPr dirty="0" sz="1000" spc="55">
                <a:latin typeface="Times New Roman"/>
                <a:cs typeface="Times New Roman"/>
              </a:rPr>
              <a:t> </a:t>
            </a:r>
            <a:r>
              <a:rPr dirty="0" sz="1000" spc="25">
                <a:latin typeface="Times New Roman"/>
                <a:cs typeface="Times New Roman"/>
              </a:rPr>
              <a:t>introduce</a:t>
            </a:r>
            <a:r>
              <a:rPr dirty="0" sz="1000" spc="55">
                <a:latin typeface="Times New Roman"/>
                <a:cs typeface="Times New Roman"/>
              </a:rPr>
              <a:t> </a:t>
            </a:r>
            <a:r>
              <a:rPr dirty="0" sz="1000" spc="35">
                <a:latin typeface="Times New Roman"/>
                <a:cs typeface="Times New Roman"/>
              </a:rPr>
              <a:t>unimodal</a:t>
            </a:r>
            <a:r>
              <a:rPr dirty="0" sz="1000" spc="55">
                <a:latin typeface="Times New Roman"/>
                <a:cs typeface="Times New Roman"/>
              </a:rPr>
              <a:t> </a:t>
            </a:r>
            <a:r>
              <a:rPr dirty="0" sz="1000" spc="5">
                <a:latin typeface="Times New Roman"/>
                <a:cs typeface="Times New Roman"/>
              </a:rPr>
              <a:t>loss </a:t>
            </a:r>
            <a:r>
              <a:rPr dirty="0" sz="1000" spc="20">
                <a:latin typeface="Times New Roman"/>
                <a:cs typeface="Times New Roman"/>
              </a:rPr>
              <a:t>to</a:t>
            </a:r>
            <a:r>
              <a:rPr dirty="0" sz="1000" spc="85">
                <a:latin typeface="Times New Roman"/>
                <a:cs typeface="Times New Roman"/>
              </a:rPr>
              <a:t> </a:t>
            </a:r>
            <a:r>
              <a:rPr dirty="0" sz="1000" spc="15">
                <a:latin typeface="Times New Roman"/>
                <a:cs typeface="Times New Roman"/>
              </a:rPr>
              <a:t>boost</a:t>
            </a:r>
            <a:r>
              <a:rPr dirty="0" sz="1000" spc="90">
                <a:latin typeface="Times New Roman"/>
                <a:cs typeface="Times New Roman"/>
              </a:rPr>
              <a:t> </a:t>
            </a:r>
            <a:r>
              <a:rPr dirty="0" sz="1000" spc="35">
                <a:latin typeface="Times New Roman"/>
                <a:cs typeface="Times New Roman"/>
              </a:rPr>
              <a:t>unimodal</a:t>
            </a:r>
            <a:r>
              <a:rPr dirty="0" sz="1000" spc="90">
                <a:latin typeface="Times New Roman"/>
                <a:cs typeface="Times New Roman"/>
              </a:rPr>
              <a:t> </a:t>
            </a:r>
            <a:r>
              <a:rPr dirty="0" sz="1000" spc="20">
                <a:latin typeface="Times New Roman"/>
                <a:cs typeface="Times New Roman"/>
              </a:rPr>
              <a:t>learning</a:t>
            </a:r>
            <a:r>
              <a:rPr dirty="0" sz="1000" spc="90">
                <a:latin typeface="Times New Roman"/>
                <a:cs typeface="Times New Roman"/>
              </a:rPr>
              <a:t> </a:t>
            </a:r>
            <a:r>
              <a:rPr dirty="0" sz="1000" spc="35">
                <a:latin typeface="Times New Roman"/>
                <a:cs typeface="Times New Roman"/>
              </a:rPr>
              <a:t>in</a:t>
            </a:r>
            <a:r>
              <a:rPr dirty="0" sz="1000" spc="90">
                <a:latin typeface="Times New Roman"/>
                <a:cs typeface="Times New Roman"/>
              </a:rPr>
              <a:t> </a:t>
            </a:r>
            <a:r>
              <a:rPr dirty="0" sz="1000" spc="40">
                <a:latin typeface="Times New Roman"/>
                <a:cs typeface="Times New Roman"/>
              </a:rPr>
              <a:t>the</a:t>
            </a:r>
            <a:r>
              <a:rPr dirty="0" sz="1000" spc="90">
                <a:latin typeface="Times New Roman"/>
                <a:cs typeface="Times New Roman"/>
              </a:rPr>
              <a:t> </a:t>
            </a:r>
            <a:r>
              <a:rPr dirty="0" sz="1000" spc="30">
                <a:latin typeface="Times New Roman"/>
                <a:cs typeface="Times New Roman"/>
              </a:rPr>
              <a:t>multimodal</a:t>
            </a:r>
            <a:r>
              <a:rPr dirty="0" sz="1000" spc="90">
                <a:latin typeface="Times New Roman"/>
                <a:cs typeface="Times New Roman"/>
              </a:rPr>
              <a:t> </a:t>
            </a:r>
            <a:r>
              <a:rPr dirty="0" sz="1000" spc="15">
                <a:latin typeface="Times New Roman"/>
                <a:cs typeface="Times New Roman"/>
              </a:rPr>
              <a:t>model,</a:t>
            </a:r>
            <a:r>
              <a:rPr dirty="0" sz="1000" spc="114">
                <a:latin typeface="Times New Roman"/>
                <a:cs typeface="Times New Roman"/>
              </a:rPr>
              <a:t> </a:t>
            </a:r>
            <a:r>
              <a:rPr dirty="0" sz="1000" spc="30">
                <a:latin typeface="Times New Roman"/>
                <a:cs typeface="Times New Roman"/>
              </a:rPr>
              <a:t>their</a:t>
            </a:r>
            <a:r>
              <a:rPr dirty="0" sz="1000" spc="90">
                <a:latin typeface="Times New Roman"/>
                <a:cs typeface="Times New Roman"/>
              </a:rPr>
              <a:t> </a:t>
            </a:r>
            <a:r>
              <a:rPr dirty="0" sz="1000" spc="20">
                <a:latin typeface="Times New Roman"/>
                <a:cs typeface="Times New Roman"/>
              </a:rPr>
              <a:t>performance</a:t>
            </a:r>
            <a:r>
              <a:rPr dirty="0" sz="1000" spc="90">
                <a:latin typeface="Times New Roman"/>
                <a:cs typeface="Times New Roman"/>
              </a:rPr>
              <a:t> </a:t>
            </a:r>
            <a:r>
              <a:rPr dirty="0" sz="1000" spc="25">
                <a:latin typeface="Times New Roman"/>
                <a:cs typeface="Times New Roman"/>
              </a:rPr>
              <a:t>improvement</a:t>
            </a:r>
            <a:r>
              <a:rPr dirty="0" sz="1000" spc="85">
                <a:latin typeface="Times New Roman"/>
                <a:cs typeface="Times New Roman"/>
              </a:rPr>
              <a:t> </a:t>
            </a:r>
            <a:r>
              <a:rPr dirty="0" sz="1000" spc="5">
                <a:latin typeface="Times New Roman"/>
                <a:cs typeface="Times New Roman"/>
              </a:rPr>
              <a:t>is</a:t>
            </a:r>
            <a:r>
              <a:rPr dirty="0" sz="1000" spc="90">
                <a:latin typeface="Times New Roman"/>
                <a:cs typeface="Times New Roman"/>
              </a:rPr>
              <a:t> </a:t>
            </a:r>
            <a:r>
              <a:rPr dirty="0" sz="1000" spc="20">
                <a:latin typeface="Times New Roman"/>
                <a:cs typeface="Times New Roman"/>
              </a:rPr>
              <a:t>limited.</a:t>
            </a:r>
            <a:r>
              <a:rPr dirty="0" sz="1000" spc="380">
                <a:latin typeface="Times New Roman"/>
                <a:cs typeface="Times New Roman"/>
              </a:rPr>
              <a:t> </a:t>
            </a:r>
            <a:r>
              <a:rPr dirty="0" sz="1000" spc="15">
                <a:latin typeface="Times New Roman"/>
                <a:cs typeface="Times New Roman"/>
              </a:rPr>
              <a:t>This</a:t>
            </a:r>
            <a:r>
              <a:rPr dirty="0" sz="1000" spc="90">
                <a:latin typeface="Times New Roman"/>
                <a:cs typeface="Times New Roman"/>
              </a:rPr>
              <a:t> </a:t>
            </a:r>
            <a:r>
              <a:rPr dirty="0" sz="1000" spc="5">
                <a:latin typeface="Times New Roman"/>
                <a:cs typeface="Times New Roman"/>
              </a:rPr>
              <a:t>is </a:t>
            </a:r>
            <a:r>
              <a:rPr dirty="0" sz="1000" spc="15">
                <a:latin typeface="Times New Roman"/>
                <a:cs typeface="Times New Roman"/>
              </a:rPr>
              <a:t>because</a:t>
            </a:r>
            <a:r>
              <a:rPr dirty="0" sz="1000" spc="-50">
                <a:latin typeface="Times New Roman"/>
                <a:cs typeface="Times New Roman"/>
              </a:rPr>
              <a:t> </a:t>
            </a:r>
            <a:r>
              <a:rPr dirty="0" sz="1000" spc="25">
                <a:latin typeface="Times New Roman"/>
                <a:cs typeface="Times New Roman"/>
              </a:rPr>
              <a:t>they</a:t>
            </a:r>
            <a:r>
              <a:rPr dirty="0" sz="1000" spc="-50">
                <a:latin typeface="Times New Roman"/>
                <a:cs typeface="Times New Roman"/>
              </a:rPr>
              <a:t> </a:t>
            </a:r>
            <a:r>
              <a:rPr dirty="0" sz="1000" spc="15">
                <a:latin typeface="Times New Roman"/>
                <a:cs typeface="Times New Roman"/>
              </a:rPr>
              <a:t>ignore</a:t>
            </a:r>
            <a:r>
              <a:rPr dirty="0" sz="1000" spc="-50">
                <a:latin typeface="Times New Roman"/>
                <a:cs typeface="Times New Roman"/>
              </a:rPr>
              <a:t> </a:t>
            </a:r>
            <a:r>
              <a:rPr dirty="0" sz="1000" spc="40">
                <a:latin typeface="Times New Roman"/>
                <a:cs typeface="Times New Roman"/>
              </a:rPr>
              <a:t>the</a:t>
            </a:r>
            <a:r>
              <a:rPr dirty="0" sz="1000" spc="-50">
                <a:latin typeface="Times New Roman"/>
                <a:cs typeface="Times New Roman"/>
              </a:rPr>
              <a:t> </a:t>
            </a:r>
            <a:r>
              <a:rPr dirty="0" sz="1000" spc="25">
                <a:latin typeface="Times New Roman"/>
                <a:cs typeface="Times New Roman"/>
              </a:rPr>
              <a:t>optimization</a:t>
            </a:r>
            <a:r>
              <a:rPr dirty="0" sz="1000" spc="-50">
                <a:latin typeface="Times New Roman"/>
                <a:cs typeface="Times New Roman"/>
              </a:rPr>
              <a:t> </a:t>
            </a:r>
            <a:r>
              <a:rPr dirty="0" sz="1000" spc="10">
                <a:latin typeface="Times New Roman"/>
                <a:cs typeface="Times New Roman"/>
              </a:rPr>
              <a:t>conflict</a:t>
            </a:r>
            <a:r>
              <a:rPr dirty="0" sz="1000" spc="-50">
                <a:latin typeface="Times New Roman"/>
                <a:cs typeface="Times New Roman"/>
              </a:rPr>
              <a:t> </a:t>
            </a:r>
            <a:r>
              <a:rPr dirty="0" sz="1000" spc="20">
                <a:latin typeface="Times New Roman"/>
                <a:cs typeface="Times New Roman"/>
              </a:rPr>
              <a:t>between</a:t>
            </a:r>
            <a:r>
              <a:rPr dirty="0" sz="1000" spc="-50">
                <a:latin typeface="Times New Roman"/>
                <a:cs typeface="Times New Roman"/>
              </a:rPr>
              <a:t> </a:t>
            </a:r>
            <a:r>
              <a:rPr dirty="0" sz="1000" spc="40">
                <a:latin typeface="Times New Roman"/>
                <a:cs typeface="Times New Roman"/>
              </a:rPr>
              <a:t>the</a:t>
            </a:r>
            <a:r>
              <a:rPr dirty="0" sz="1000" spc="-50">
                <a:latin typeface="Times New Roman"/>
                <a:cs typeface="Times New Roman"/>
              </a:rPr>
              <a:t> </a:t>
            </a:r>
            <a:r>
              <a:rPr dirty="0" sz="1000" spc="20">
                <a:latin typeface="Times New Roman"/>
                <a:cs typeface="Times New Roman"/>
              </a:rPr>
              <a:t>modality</a:t>
            </a:r>
            <a:r>
              <a:rPr dirty="0" sz="1000" spc="-50">
                <a:latin typeface="Times New Roman"/>
                <a:cs typeface="Times New Roman"/>
              </a:rPr>
              <a:t> </a:t>
            </a:r>
            <a:r>
              <a:rPr dirty="0" sz="1000" spc="20">
                <a:latin typeface="Times New Roman"/>
                <a:cs typeface="Times New Roman"/>
              </a:rPr>
              <a:t>encoder</a:t>
            </a:r>
            <a:r>
              <a:rPr dirty="0" sz="1000" spc="-50">
                <a:latin typeface="Times New Roman"/>
                <a:cs typeface="Times New Roman"/>
              </a:rPr>
              <a:t> </a:t>
            </a:r>
            <a:r>
              <a:rPr dirty="0" sz="1000" spc="40">
                <a:latin typeface="Times New Roman"/>
                <a:cs typeface="Times New Roman"/>
              </a:rPr>
              <a:t>and</a:t>
            </a:r>
            <a:r>
              <a:rPr dirty="0" sz="1000" spc="-50">
                <a:latin typeface="Times New Roman"/>
                <a:cs typeface="Times New Roman"/>
              </a:rPr>
              <a:t> </a:t>
            </a:r>
            <a:r>
              <a:rPr dirty="0" sz="1000" spc="40">
                <a:latin typeface="Times New Roman"/>
                <a:cs typeface="Times New Roman"/>
              </a:rPr>
              <a:t>the</a:t>
            </a:r>
            <a:r>
              <a:rPr dirty="0" sz="1000" spc="-50">
                <a:latin typeface="Times New Roman"/>
                <a:cs typeface="Times New Roman"/>
              </a:rPr>
              <a:t> </a:t>
            </a:r>
            <a:r>
              <a:rPr dirty="0" sz="1000" spc="20">
                <a:latin typeface="Times New Roman"/>
                <a:cs typeface="Times New Roman"/>
              </a:rPr>
              <a:t>modality</a:t>
            </a:r>
            <a:r>
              <a:rPr dirty="0" sz="1000" spc="-50">
                <a:latin typeface="Times New Roman"/>
                <a:cs typeface="Times New Roman"/>
              </a:rPr>
              <a:t> </a:t>
            </a:r>
            <a:r>
              <a:rPr dirty="0" sz="1000" spc="20">
                <a:latin typeface="Times New Roman"/>
                <a:cs typeface="Times New Roman"/>
              </a:rPr>
              <a:t>fusion</a:t>
            </a:r>
            <a:r>
              <a:rPr dirty="0" sz="1000" spc="-50">
                <a:latin typeface="Times New Roman"/>
                <a:cs typeface="Times New Roman"/>
              </a:rPr>
              <a:t> </a:t>
            </a:r>
            <a:r>
              <a:rPr dirty="0" sz="1000" spc="25">
                <a:latin typeface="Times New Roman"/>
                <a:cs typeface="Times New Roman"/>
              </a:rPr>
              <a:t>module.</a:t>
            </a:r>
            <a:r>
              <a:rPr dirty="0" sz="1000" spc="15">
                <a:latin typeface="Times New Roman"/>
                <a:cs typeface="Times New Roman"/>
              </a:rPr>
              <a:t> </a:t>
            </a:r>
            <a:r>
              <a:rPr dirty="0" sz="1000" spc="40">
                <a:latin typeface="Times New Roman"/>
                <a:cs typeface="Times New Roman"/>
              </a:rPr>
              <a:t>In</a:t>
            </a:r>
            <a:r>
              <a:rPr dirty="0" sz="1000" spc="-20">
                <a:latin typeface="Times New Roman"/>
                <a:cs typeface="Times New Roman"/>
              </a:rPr>
              <a:t> </a:t>
            </a:r>
            <a:r>
              <a:rPr dirty="0" sz="1000" spc="20">
                <a:latin typeface="Times New Roman"/>
                <a:cs typeface="Times New Roman"/>
              </a:rPr>
              <a:t>contrast,</a:t>
            </a:r>
            <a:r>
              <a:rPr dirty="0" sz="1000" spc="-20">
                <a:latin typeface="Times New Roman"/>
                <a:cs typeface="Times New Roman"/>
              </a:rPr>
              <a:t> </a:t>
            </a:r>
            <a:r>
              <a:rPr dirty="0" sz="1000" spc="-15">
                <a:latin typeface="Times New Roman"/>
                <a:cs typeface="Times New Roman"/>
              </a:rPr>
              <a:t>DGL</a:t>
            </a:r>
            <a:r>
              <a:rPr dirty="0" sz="1000" spc="-20">
                <a:latin typeface="Times New Roman"/>
                <a:cs typeface="Times New Roman"/>
              </a:rPr>
              <a:t> </a:t>
            </a:r>
            <a:r>
              <a:rPr dirty="0" sz="1000" spc="20">
                <a:latin typeface="Times New Roman"/>
                <a:cs typeface="Times New Roman"/>
              </a:rPr>
              <a:t>eliminates</a:t>
            </a:r>
            <a:r>
              <a:rPr dirty="0" sz="1000" spc="-20">
                <a:latin typeface="Times New Roman"/>
                <a:cs typeface="Times New Roman"/>
              </a:rPr>
              <a:t> </a:t>
            </a:r>
            <a:r>
              <a:rPr dirty="0" sz="1000" spc="25">
                <a:latin typeface="Times New Roman"/>
                <a:cs typeface="Times New Roman"/>
              </a:rPr>
              <a:t>this</a:t>
            </a:r>
            <a:r>
              <a:rPr dirty="0" sz="1000" spc="-20">
                <a:latin typeface="Times New Roman"/>
                <a:cs typeface="Times New Roman"/>
              </a:rPr>
              <a:t> </a:t>
            </a:r>
            <a:r>
              <a:rPr dirty="0" sz="1000" spc="10">
                <a:latin typeface="Times New Roman"/>
                <a:cs typeface="Times New Roman"/>
              </a:rPr>
              <a:t>conflict</a:t>
            </a:r>
            <a:r>
              <a:rPr dirty="0" sz="1000" spc="-20">
                <a:latin typeface="Times New Roman"/>
                <a:cs typeface="Times New Roman"/>
              </a:rPr>
              <a:t> </a:t>
            </a:r>
            <a:r>
              <a:rPr dirty="0" sz="1000" spc="40">
                <a:latin typeface="Times New Roman"/>
                <a:cs typeface="Times New Roman"/>
              </a:rPr>
              <a:t>and</a:t>
            </a:r>
            <a:r>
              <a:rPr dirty="0" sz="1000" spc="-20">
                <a:latin typeface="Times New Roman"/>
                <a:cs typeface="Times New Roman"/>
              </a:rPr>
              <a:t> </a:t>
            </a:r>
            <a:r>
              <a:rPr dirty="0" sz="1000" spc="10">
                <a:latin typeface="Times New Roman"/>
                <a:cs typeface="Times New Roman"/>
              </a:rPr>
              <a:t>achieves</a:t>
            </a:r>
            <a:r>
              <a:rPr dirty="0" sz="1000" spc="-20">
                <a:latin typeface="Times New Roman"/>
                <a:cs typeface="Times New Roman"/>
              </a:rPr>
              <a:t> </a:t>
            </a:r>
            <a:r>
              <a:rPr dirty="0" sz="1000" spc="15">
                <a:latin typeface="Times New Roman"/>
                <a:cs typeface="Times New Roman"/>
              </a:rPr>
              <a:t>significant</a:t>
            </a:r>
            <a:r>
              <a:rPr dirty="0" sz="1000" spc="-20">
                <a:latin typeface="Times New Roman"/>
                <a:cs typeface="Times New Roman"/>
              </a:rPr>
              <a:t> </a:t>
            </a:r>
            <a:r>
              <a:rPr dirty="0" sz="1000" spc="25">
                <a:latin typeface="Times New Roman"/>
                <a:cs typeface="Times New Roman"/>
              </a:rPr>
              <a:t>improvement.</a:t>
            </a:r>
            <a:endParaRPr sz="1000">
              <a:latin typeface="Times New Roman"/>
              <a:cs typeface="Times New Roman"/>
            </a:endParaRPr>
          </a:p>
          <a:p>
            <a:pPr>
              <a:lnSpc>
                <a:spcPct val="100000"/>
              </a:lnSpc>
              <a:spcBef>
                <a:spcPts val="240"/>
              </a:spcBef>
            </a:pPr>
            <a:endParaRPr sz="1000">
              <a:latin typeface="Times New Roman"/>
              <a:cs typeface="Times New Roman"/>
            </a:endParaRPr>
          </a:p>
          <a:p>
            <a:pPr marL="192405" marR="99060">
              <a:lnSpc>
                <a:spcPct val="129500"/>
              </a:lnSpc>
            </a:pPr>
            <a:r>
              <a:rPr dirty="0" sz="1000" spc="-20">
                <a:latin typeface="Cambria"/>
                <a:cs typeface="Cambria"/>
              </a:rPr>
              <a:t>𝛼</a:t>
            </a:r>
            <a:r>
              <a:rPr dirty="0" sz="1000" spc="10">
                <a:latin typeface="Cambria"/>
                <a:cs typeface="Cambria"/>
              </a:rPr>
              <a:t> </a:t>
            </a:r>
            <a:r>
              <a:rPr dirty="0" sz="1000" spc="10">
                <a:latin typeface="SimSun"/>
                <a:cs typeface="SimSun"/>
              </a:rPr>
              <a:t>的影响。我们研究了不同</a:t>
            </a:r>
            <a:r>
              <a:rPr dirty="0" sz="1000" spc="-20">
                <a:latin typeface="Cambria"/>
                <a:cs typeface="Cambria"/>
              </a:rPr>
              <a:t>𝛼</a:t>
            </a:r>
            <a:r>
              <a:rPr dirty="0" sz="1000" spc="10">
                <a:latin typeface="Cambria"/>
                <a:cs typeface="Cambria"/>
              </a:rPr>
              <a:t> </a:t>
            </a:r>
            <a:r>
              <a:rPr dirty="0" sz="1000" spc="220">
                <a:latin typeface="SimSun"/>
                <a:cs typeface="SimSun"/>
              </a:rPr>
              <a:t>对</a:t>
            </a:r>
            <a:r>
              <a:rPr dirty="0" sz="1000" spc="-5">
                <a:latin typeface="Times New Roman"/>
                <a:cs typeface="Times New Roman"/>
              </a:rPr>
              <a:t>CREMA-</a:t>
            </a:r>
            <a:r>
              <a:rPr dirty="0" sz="1000" spc="-25">
                <a:latin typeface="Times New Roman"/>
                <a:cs typeface="Times New Roman"/>
              </a:rPr>
              <a:t>D</a:t>
            </a:r>
            <a:r>
              <a:rPr dirty="0" sz="1000" spc="-20">
                <a:latin typeface="Times New Roman"/>
                <a:cs typeface="Times New Roman"/>
              </a:rPr>
              <a:t> </a:t>
            </a:r>
            <a:r>
              <a:rPr dirty="0" sz="1000" spc="45">
                <a:latin typeface="SimSun"/>
                <a:cs typeface="SimSun"/>
              </a:rPr>
              <a:t>数据集上</a:t>
            </a:r>
            <a:r>
              <a:rPr dirty="0" sz="1000" spc="-15">
                <a:latin typeface="Times New Roman"/>
                <a:cs typeface="Times New Roman"/>
              </a:rPr>
              <a:t>DGL</a:t>
            </a:r>
            <a:r>
              <a:rPr dirty="0" sz="1000" spc="-20">
                <a:latin typeface="Times New Roman"/>
                <a:cs typeface="Times New Roman"/>
              </a:rPr>
              <a:t> </a:t>
            </a:r>
            <a:r>
              <a:rPr dirty="0" sz="1000" spc="-50">
                <a:latin typeface="SimSun"/>
                <a:cs typeface="SimSun"/>
              </a:rPr>
              <a:t>的影响。如表 </a:t>
            </a:r>
            <a:r>
              <a:rPr dirty="0" sz="1000" spc="-10">
                <a:latin typeface="Times New Roman"/>
                <a:cs typeface="Times New Roman"/>
              </a:rPr>
              <a:t>4</a:t>
            </a:r>
            <a:r>
              <a:rPr dirty="0" sz="1000" spc="-20">
                <a:latin typeface="Times New Roman"/>
                <a:cs typeface="Times New Roman"/>
              </a:rPr>
              <a:t> </a:t>
            </a:r>
            <a:r>
              <a:rPr dirty="0" sz="1000" spc="-15">
                <a:latin typeface="SimSun"/>
                <a:cs typeface="SimSun"/>
              </a:rPr>
              <a:t>所示，</a:t>
            </a:r>
            <a:r>
              <a:rPr dirty="0" sz="1000" spc="-15">
                <a:latin typeface="Times New Roman"/>
                <a:cs typeface="Times New Roman"/>
              </a:rPr>
              <a:t>DGL</a:t>
            </a:r>
            <a:r>
              <a:rPr dirty="0" sz="1000" spc="-20">
                <a:latin typeface="Times New Roman"/>
                <a:cs typeface="Times New Roman"/>
              </a:rPr>
              <a:t> </a:t>
            </a:r>
            <a:r>
              <a:rPr dirty="0" sz="1000" spc="-10">
                <a:latin typeface="SimSun"/>
                <a:cs typeface="SimSun"/>
              </a:rPr>
              <a:t>的性能随着</a:t>
            </a:r>
            <a:r>
              <a:rPr dirty="0" sz="1000" spc="-90">
                <a:latin typeface="SimSun"/>
                <a:cs typeface="SimSun"/>
              </a:rPr>
              <a:t>参数 </a:t>
            </a:r>
            <a:r>
              <a:rPr dirty="0" sz="1000" spc="-20">
                <a:latin typeface="Cambria"/>
                <a:cs typeface="Cambria"/>
              </a:rPr>
              <a:t>𝛼</a:t>
            </a:r>
            <a:r>
              <a:rPr dirty="0" sz="1000" spc="30">
                <a:latin typeface="Cambria"/>
                <a:cs typeface="Cambria"/>
              </a:rPr>
              <a:t> </a:t>
            </a:r>
            <a:r>
              <a:rPr dirty="0" sz="1000" spc="-20">
                <a:latin typeface="SimSun"/>
                <a:cs typeface="SimSun"/>
              </a:rPr>
              <a:t>的增加而提高，这表明增强单模态学习的优化可以提高多模态性能，这与现有方法 </a:t>
            </a:r>
            <a:r>
              <a:rPr dirty="0" sz="1000" spc="-5">
                <a:latin typeface="Times New Roman"/>
                <a:cs typeface="Times New Roman"/>
              </a:rPr>
              <a:t>[28,</a:t>
            </a:r>
            <a:r>
              <a:rPr dirty="0" sz="1000">
                <a:latin typeface="Times New Roman"/>
                <a:cs typeface="Times New Roman"/>
              </a:rPr>
              <a:t> </a:t>
            </a:r>
            <a:r>
              <a:rPr dirty="0" sz="1000" spc="-5">
                <a:latin typeface="Times New Roman"/>
                <a:cs typeface="Times New Roman"/>
              </a:rPr>
              <a:t>32]</a:t>
            </a:r>
            <a:r>
              <a:rPr dirty="0" sz="1000" spc="-60">
                <a:latin typeface="SimSun"/>
                <a:cs typeface="SimSun"/>
              </a:rPr>
              <a:t>的结论一致。然而，尽管现有方法，如 </a:t>
            </a:r>
            <a:r>
              <a:rPr dirty="0" sz="1000" spc="10">
                <a:latin typeface="Times New Roman"/>
                <a:cs typeface="Times New Roman"/>
              </a:rPr>
              <a:t>G-</a:t>
            </a:r>
            <a:r>
              <a:rPr dirty="0" sz="1000" spc="-5">
                <a:latin typeface="Times New Roman"/>
                <a:cs typeface="Times New Roman"/>
              </a:rPr>
              <a:t>Blending</a:t>
            </a:r>
            <a:r>
              <a:rPr dirty="0" sz="1000" spc="-10">
                <a:latin typeface="SimSun"/>
                <a:cs typeface="SimSun"/>
              </a:rPr>
              <a:t>，也引入了单模态损失来促进多模态模型中的单模态学习，但其性能提升有限。这是因为它们忽略了模态编码器和模态融合模块之间的优化冲突。</a:t>
            </a:r>
            <a:r>
              <a:rPr dirty="0" sz="1000" spc="-15">
                <a:latin typeface="SimSun"/>
                <a:cs typeface="SimSun"/>
              </a:rPr>
              <a:t>相比之下，</a:t>
            </a:r>
            <a:r>
              <a:rPr dirty="0" sz="1000" spc="-15">
                <a:latin typeface="Times New Roman"/>
                <a:cs typeface="Times New Roman"/>
              </a:rPr>
              <a:t>DGL</a:t>
            </a:r>
            <a:r>
              <a:rPr dirty="0" sz="1000" spc="-20">
                <a:latin typeface="Times New Roman"/>
                <a:cs typeface="Times New Roman"/>
              </a:rPr>
              <a:t> </a:t>
            </a:r>
            <a:r>
              <a:rPr dirty="0" sz="1000" spc="-10">
                <a:latin typeface="SimSun"/>
                <a:cs typeface="SimSun"/>
              </a:rPr>
              <a:t>消除了这种冲突并取得了显著的改进。</a:t>
            </a:r>
            <a:endParaRPr sz="1000">
              <a:latin typeface="SimSun"/>
              <a:cs typeface="SimSun"/>
            </a:endParaRPr>
          </a:p>
          <a:p>
            <a:pPr>
              <a:lnSpc>
                <a:spcPct val="100000"/>
              </a:lnSpc>
              <a:spcBef>
                <a:spcPts val="75"/>
              </a:spcBef>
            </a:pPr>
            <a:endParaRPr sz="1000">
              <a:latin typeface="SimSun"/>
              <a:cs typeface="SimSun"/>
            </a:endParaRPr>
          </a:p>
          <a:p>
            <a:pPr algn="just" marL="12700" marR="5080" indent="252729">
              <a:lnSpc>
                <a:spcPct val="129500"/>
              </a:lnSpc>
            </a:pPr>
            <a:r>
              <a:rPr dirty="0" sz="1000" spc="10">
                <a:latin typeface="Times New Roman"/>
                <a:cs typeface="Times New Roman"/>
              </a:rPr>
              <a:t>Generalization</a:t>
            </a:r>
            <a:r>
              <a:rPr dirty="0" sz="1000" spc="95">
                <a:latin typeface="Times New Roman"/>
                <a:cs typeface="Times New Roman"/>
              </a:rPr>
              <a:t> </a:t>
            </a:r>
            <a:r>
              <a:rPr dirty="0" sz="1000" spc="10">
                <a:latin typeface="Times New Roman"/>
                <a:cs typeface="Times New Roman"/>
              </a:rPr>
              <a:t>to</a:t>
            </a:r>
            <a:r>
              <a:rPr dirty="0" sz="1000" spc="100">
                <a:latin typeface="Times New Roman"/>
                <a:cs typeface="Times New Roman"/>
              </a:rPr>
              <a:t> </a:t>
            </a:r>
            <a:r>
              <a:rPr dirty="0" sz="1000" spc="10">
                <a:latin typeface="Times New Roman"/>
                <a:cs typeface="Times New Roman"/>
              </a:rPr>
              <a:t>dense</a:t>
            </a:r>
            <a:r>
              <a:rPr dirty="0" sz="1000" spc="100">
                <a:latin typeface="Times New Roman"/>
                <a:cs typeface="Times New Roman"/>
              </a:rPr>
              <a:t> </a:t>
            </a:r>
            <a:r>
              <a:rPr dirty="0" sz="1000">
                <a:latin typeface="Times New Roman"/>
                <a:cs typeface="Times New Roman"/>
              </a:rPr>
              <a:t>cross-</a:t>
            </a:r>
            <a:r>
              <a:rPr dirty="0" sz="1000" spc="10">
                <a:latin typeface="Times New Roman"/>
                <a:cs typeface="Times New Roman"/>
              </a:rPr>
              <a:t>modal</a:t>
            </a:r>
            <a:r>
              <a:rPr dirty="0" sz="1000" spc="95">
                <a:latin typeface="Times New Roman"/>
                <a:cs typeface="Times New Roman"/>
              </a:rPr>
              <a:t> </a:t>
            </a:r>
            <a:r>
              <a:rPr dirty="0" sz="1000" spc="10">
                <a:latin typeface="Times New Roman"/>
                <a:cs typeface="Times New Roman"/>
              </a:rPr>
              <a:t>interaction.</a:t>
            </a:r>
            <a:r>
              <a:rPr dirty="0" sz="1000" spc="280">
                <a:latin typeface="Times New Roman"/>
                <a:cs typeface="Times New Roman"/>
              </a:rPr>
              <a:t> </a:t>
            </a:r>
            <a:r>
              <a:rPr dirty="0" sz="1000" spc="10">
                <a:latin typeface="Times New Roman"/>
                <a:cs typeface="Times New Roman"/>
              </a:rPr>
              <a:t>Existing</a:t>
            </a:r>
            <a:r>
              <a:rPr dirty="0" sz="1000" spc="100">
                <a:latin typeface="Times New Roman"/>
                <a:cs typeface="Times New Roman"/>
              </a:rPr>
              <a:t> </a:t>
            </a:r>
            <a:r>
              <a:rPr dirty="0" sz="1000" spc="10">
                <a:latin typeface="Times New Roman"/>
                <a:cs typeface="Times New Roman"/>
              </a:rPr>
              <a:t>experiments</a:t>
            </a:r>
            <a:r>
              <a:rPr dirty="0" sz="1000" spc="95">
                <a:latin typeface="Times New Roman"/>
                <a:cs typeface="Times New Roman"/>
              </a:rPr>
              <a:t> </a:t>
            </a:r>
            <a:r>
              <a:rPr dirty="0" sz="1000" spc="10">
                <a:latin typeface="Times New Roman"/>
                <a:cs typeface="Times New Roman"/>
              </a:rPr>
              <a:t>are</a:t>
            </a:r>
            <a:r>
              <a:rPr dirty="0" sz="1000" spc="100">
                <a:latin typeface="Times New Roman"/>
                <a:cs typeface="Times New Roman"/>
              </a:rPr>
              <a:t> </a:t>
            </a:r>
            <a:r>
              <a:rPr dirty="0" sz="1000" spc="10">
                <a:latin typeface="Times New Roman"/>
                <a:cs typeface="Times New Roman"/>
              </a:rPr>
              <a:t>conducted</a:t>
            </a:r>
            <a:r>
              <a:rPr dirty="0" sz="1000" spc="100">
                <a:latin typeface="Times New Roman"/>
                <a:cs typeface="Times New Roman"/>
              </a:rPr>
              <a:t> </a:t>
            </a:r>
            <a:r>
              <a:rPr dirty="0" sz="1000" spc="10">
                <a:latin typeface="Times New Roman"/>
                <a:cs typeface="Times New Roman"/>
              </a:rPr>
              <a:t>with</a:t>
            </a:r>
            <a:r>
              <a:rPr dirty="0" sz="1000" spc="95">
                <a:latin typeface="Times New Roman"/>
                <a:cs typeface="Times New Roman"/>
              </a:rPr>
              <a:t> </a:t>
            </a:r>
            <a:r>
              <a:rPr dirty="0" sz="1000" spc="10">
                <a:latin typeface="Times New Roman"/>
                <a:cs typeface="Times New Roman"/>
              </a:rPr>
              <a:t>vanilla</a:t>
            </a:r>
            <a:r>
              <a:rPr dirty="0" sz="1000" spc="100">
                <a:latin typeface="Times New Roman"/>
                <a:cs typeface="Times New Roman"/>
              </a:rPr>
              <a:t> </a:t>
            </a:r>
            <a:r>
              <a:rPr dirty="0" sz="1000" spc="-20">
                <a:latin typeface="Times New Roman"/>
                <a:cs typeface="Times New Roman"/>
              </a:rPr>
              <a:t>con- </a:t>
            </a:r>
            <a:r>
              <a:rPr dirty="0" sz="1000">
                <a:latin typeface="Times New Roman"/>
                <a:cs typeface="Times New Roman"/>
              </a:rPr>
              <a:t>catenation</a:t>
            </a:r>
            <a:r>
              <a:rPr dirty="0" sz="1000" spc="195">
                <a:latin typeface="Times New Roman"/>
                <a:cs typeface="Times New Roman"/>
              </a:rPr>
              <a:t> </a:t>
            </a:r>
            <a:r>
              <a:rPr dirty="0" sz="1000">
                <a:latin typeface="Times New Roman"/>
                <a:cs typeface="Times New Roman"/>
              </a:rPr>
              <a:t>fusion.</a:t>
            </a:r>
            <a:r>
              <a:rPr dirty="0" sz="1000" spc="165">
                <a:latin typeface="Times New Roman"/>
                <a:cs typeface="Times New Roman"/>
              </a:rPr>
              <a:t>  </a:t>
            </a:r>
            <a:r>
              <a:rPr dirty="0" sz="1000">
                <a:latin typeface="Times New Roman"/>
                <a:cs typeface="Times New Roman"/>
              </a:rPr>
              <a:t>To</a:t>
            </a:r>
            <a:r>
              <a:rPr dirty="0" sz="1000" spc="200">
                <a:latin typeface="Times New Roman"/>
                <a:cs typeface="Times New Roman"/>
              </a:rPr>
              <a:t> </a:t>
            </a:r>
            <a:r>
              <a:rPr dirty="0" sz="1000">
                <a:latin typeface="Times New Roman"/>
                <a:cs typeface="Times New Roman"/>
              </a:rPr>
              <a:t>validate</a:t>
            </a:r>
            <a:r>
              <a:rPr dirty="0" sz="1000" spc="200">
                <a:latin typeface="Times New Roman"/>
                <a:cs typeface="Times New Roman"/>
              </a:rPr>
              <a:t> </a:t>
            </a:r>
            <a:r>
              <a:rPr dirty="0" sz="1000">
                <a:latin typeface="Times New Roman"/>
                <a:cs typeface="Times New Roman"/>
              </a:rPr>
              <a:t>the</a:t>
            </a:r>
            <a:r>
              <a:rPr dirty="0" sz="1000" spc="204">
                <a:latin typeface="Times New Roman"/>
                <a:cs typeface="Times New Roman"/>
              </a:rPr>
              <a:t> </a:t>
            </a:r>
            <a:r>
              <a:rPr dirty="0" sz="1000">
                <a:latin typeface="Times New Roman"/>
                <a:cs typeface="Times New Roman"/>
              </a:rPr>
              <a:t>applicability</a:t>
            </a:r>
            <a:r>
              <a:rPr dirty="0" sz="1000" spc="200">
                <a:latin typeface="Times New Roman"/>
                <a:cs typeface="Times New Roman"/>
              </a:rPr>
              <a:t> </a:t>
            </a:r>
            <a:r>
              <a:rPr dirty="0" sz="1000">
                <a:latin typeface="Times New Roman"/>
                <a:cs typeface="Times New Roman"/>
              </a:rPr>
              <a:t>of</a:t>
            </a:r>
            <a:r>
              <a:rPr dirty="0" sz="1000" spc="200">
                <a:latin typeface="Times New Roman"/>
                <a:cs typeface="Times New Roman"/>
              </a:rPr>
              <a:t> </a:t>
            </a:r>
            <a:r>
              <a:rPr dirty="0" sz="1000">
                <a:latin typeface="Times New Roman"/>
                <a:cs typeface="Times New Roman"/>
              </a:rPr>
              <a:t>DGL</a:t>
            </a:r>
            <a:r>
              <a:rPr dirty="0" sz="1000" spc="204">
                <a:latin typeface="Times New Roman"/>
                <a:cs typeface="Times New Roman"/>
              </a:rPr>
              <a:t> </a:t>
            </a:r>
            <a:r>
              <a:rPr dirty="0" sz="1000">
                <a:latin typeface="Times New Roman"/>
                <a:cs typeface="Times New Roman"/>
              </a:rPr>
              <a:t>in</a:t>
            </a:r>
            <a:r>
              <a:rPr dirty="0" sz="1000" spc="200">
                <a:latin typeface="Times New Roman"/>
                <a:cs typeface="Times New Roman"/>
              </a:rPr>
              <a:t> </a:t>
            </a:r>
            <a:r>
              <a:rPr dirty="0" sz="1000">
                <a:latin typeface="Times New Roman"/>
                <a:cs typeface="Times New Roman"/>
              </a:rPr>
              <a:t>the</a:t>
            </a:r>
            <a:r>
              <a:rPr dirty="0" sz="1000" spc="200">
                <a:latin typeface="Times New Roman"/>
                <a:cs typeface="Times New Roman"/>
              </a:rPr>
              <a:t> </a:t>
            </a:r>
            <a:r>
              <a:rPr dirty="0" sz="1000">
                <a:latin typeface="Times New Roman"/>
                <a:cs typeface="Times New Roman"/>
              </a:rPr>
              <a:t>multimodal</a:t>
            </a:r>
            <a:r>
              <a:rPr dirty="0" sz="1000" spc="204">
                <a:latin typeface="Times New Roman"/>
                <a:cs typeface="Times New Roman"/>
              </a:rPr>
              <a:t> </a:t>
            </a:r>
            <a:r>
              <a:rPr dirty="0" sz="1000">
                <a:latin typeface="Times New Roman"/>
                <a:cs typeface="Times New Roman"/>
              </a:rPr>
              <a:t>model</a:t>
            </a:r>
            <a:r>
              <a:rPr dirty="0" sz="1000" spc="200">
                <a:latin typeface="Times New Roman"/>
                <a:cs typeface="Times New Roman"/>
              </a:rPr>
              <a:t> </a:t>
            </a:r>
            <a:r>
              <a:rPr dirty="0" sz="1000">
                <a:latin typeface="Times New Roman"/>
                <a:cs typeface="Times New Roman"/>
              </a:rPr>
              <a:t>with</a:t>
            </a:r>
            <a:r>
              <a:rPr dirty="0" sz="1000" spc="200">
                <a:latin typeface="Times New Roman"/>
                <a:cs typeface="Times New Roman"/>
              </a:rPr>
              <a:t> </a:t>
            </a:r>
            <a:r>
              <a:rPr dirty="0" sz="1000">
                <a:latin typeface="Times New Roman"/>
                <a:cs typeface="Times New Roman"/>
              </a:rPr>
              <a:t>dense</a:t>
            </a:r>
            <a:r>
              <a:rPr dirty="0" sz="1000" spc="204">
                <a:latin typeface="Times New Roman"/>
                <a:cs typeface="Times New Roman"/>
              </a:rPr>
              <a:t> </a:t>
            </a:r>
            <a:r>
              <a:rPr dirty="0" sz="1000">
                <a:latin typeface="Times New Roman"/>
                <a:cs typeface="Times New Roman"/>
              </a:rPr>
              <a:t>cross-</a:t>
            </a:r>
            <a:r>
              <a:rPr dirty="0" sz="1000" spc="-10">
                <a:latin typeface="Times New Roman"/>
                <a:cs typeface="Times New Roman"/>
              </a:rPr>
              <a:t>modal </a:t>
            </a:r>
            <a:r>
              <a:rPr dirty="0" sz="1000">
                <a:latin typeface="Times New Roman"/>
                <a:cs typeface="Times New Roman"/>
              </a:rPr>
              <a:t>interaction,</a:t>
            </a:r>
            <a:r>
              <a:rPr dirty="0" sz="1000" spc="75">
                <a:latin typeface="Times New Roman"/>
                <a:cs typeface="Times New Roman"/>
              </a:rPr>
              <a:t> </a:t>
            </a:r>
            <a:r>
              <a:rPr dirty="0" sz="1000">
                <a:latin typeface="Times New Roman"/>
                <a:cs typeface="Times New Roman"/>
              </a:rPr>
              <a:t>we</a:t>
            </a:r>
            <a:r>
              <a:rPr dirty="0" sz="1000" spc="75">
                <a:latin typeface="Times New Roman"/>
                <a:cs typeface="Times New Roman"/>
              </a:rPr>
              <a:t> </a:t>
            </a:r>
            <a:r>
              <a:rPr dirty="0" sz="1000">
                <a:latin typeface="Times New Roman"/>
                <a:cs typeface="Times New Roman"/>
              </a:rPr>
              <a:t>apply</a:t>
            </a:r>
            <a:r>
              <a:rPr dirty="0" sz="1000" spc="80">
                <a:latin typeface="Times New Roman"/>
                <a:cs typeface="Times New Roman"/>
              </a:rPr>
              <a:t> </a:t>
            </a:r>
            <a:r>
              <a:rPr dirty="0" sz="1000">
                <a:latin typeface="Times New Roman"/>
                <a:cs typeface="Times New Roman"/>
              </a:rPr>
              <a:t>it</a:t>
            </a:r>
            <a:r>
              <a:rPr dirty="0" sz="1000" spc="80">
                <a:latin typeface="Times New Roman"/>
                <a:cs typeface="Times New Roman"/>
              </a:rPr>
              <a:t> </a:t>
            </a:r>
            <a:r>
              <a:rPr dirty="0" sz="1000">
                <a:latin typeface="Times New Roman"/>
                <a:cs typeface="Times New Roman"/>
              </a:rPr>
              <a:t>to</a:t>
            </a:r>
            <a:r>
              <a:rPr dirty="0" sz="1000" spc="75">
                <a:latin typeface="Times New Roman"/>
                <a:cs typeface="Times New Roman"/>
              </a:rPr>
              <a:t> </a:t>
            </a:r>
            <a:r>
              <a:rPr dirty="0" sz="1000">
                <a:latin typeface="Times New Roman"/>
                <a:cs typeface="Times New Roman"/>
              </a:rPr>
              <a:t>two</a:t>
            </a:r>
            <a:r>
              <a:rPr dirty="0" sz="1000" spc="75">
                <a:latin typeface="Times New Roman"/>
                <a:cs typeface="Times New Roman"/>
              </a:rPr>
              <a:t> </a:t>
            </a:r>
            <a:r>
              <a:rPr dirty="0" sz="1000">
                <a:latin typeface="Times New Roman"/>
                <a:cs typeface="Times New Roman"/>
              </a:rPr>
              <a:t>intermediate</a:t>
            </a:r>
            <a:r>
              <a:rPr dirty="0" sz="1000" spc="85">
                <a:latin typeface="Times New Roman"/>
                <a:cs typeface="Times New Roman"/>
              </a:rPr>
              <a:t> </a:t>
            </a:r>
            <a:r>
              <a:rPr dirty="0" sz="1000">
                <a:latin typeface="Times New Roman"/>
                <a:cs typeface="Times New Roman"/>
              </a:rPr>
              <a:t>fusion</a:t>
            </a:r>
            <a:r>
              <a:rPr dirty="0" sz="1000" spc="80">
                <a:latin typeface="Times New Roman"/>
                <a:cs typeface="Times New Roman"/>
              </a:rPr>
              <a:t> </a:t>
            </a:r>
            <a:r>
              <a:rPr dirty="0" sz="1000">
                <a:latin typeface="Times New Roman"/>
                <a:cs typeface="Times New Roman"/>
              </a:rPr>
              <a:t>methods</a:t>
            </a:r>
            <a:r>
              <a:rPr dirty="0" sz="1000" spc="85">
                <a:latin typeface="Times New Roman"/>
                <a:cs typeface="Times New Roman"/>
              </a:rPr>
              <a:t> </a:t>
            </a:r>
            <a:r>
              <a:rPr dirty="0" sz="1000">
                <a:latin typeface="Times New Roman"/>
                <a:cs typeface="Times New Roman"/>
              </a:rPr>
              <a:t>MMTM</a:t>
            </a:r>
            <a:r>
              <a:rPr dirty="0" sz="1000" spc="80">
                <a:latin typeface="Times New Roman"/>
                <a:cs typeface="Times New Roman"/>
              </a:rPr>
              <a:t> </a:t>
            </a:r>
            <a:r>
              <a:rPr dirty="0" sz="1000">
                <a:latin typeface="Times New Roman"/>
                <a:cs typeface="Times New Roman"/>
              </a:rPr>
              <a:t>[16]</a:t>
            </a:r>
            <a:r>
              <a:rPr dirty="0" sz="1000" spc="85">
                <a:latin typeface="Times New Roman"/>
                <a:cs typeface="Times New Roman"/>
              </a:rPr>
              <a:t> </a:t>
            </a:r>
            <a:r>
              <a:rPr dirty="0" sz="1000">
                <a:latin typeface="Times New Roman"/>
                <a:cs typeface="Times New Roman"/>
              </a:rPr>
              <a:t>and</a:t>
            </a:r>
            <a:r>
              <a:rPr dirty="0" sz="1000" spc="80">
                <a:latin typeface="Times New Roman"/>
                <a:cs typeface="Times New Roman"/>
              </a:rPr>
              <a:t> </a:t>
            </a:r>
            <a:r>
              <a:rPr dirty="0" sz="1000" spc="-20">
                <a:latin typeface="Times New Roman"/>
                <a:cs typeface="Times New Roman"/>
              </a:rPr>
              <a:t>MLP-</a:t>
            </a:r>
            <a:r>
              <a:rPr dirty="0" sz="1000">
                <a:latin typeface="Times New Roman"/>
                <a:cs typeface="Times New Roman"/>
              </a:rPr>
              <a:t>Mixer</a:t>
            </a:r>
            <a:r>
              <a:rPr dirty="0" sz="1000" spc="75">
                <a:latin typeface="Times New Roman"/>
                <a:cs typeface="Times New Roman"/>
              </a:rPr>
              <a:t> </a:t>
            </a:r>
            <a:r>
              <a:rPr dirty="0" sz="1000">
                <a:latin typeface="Times New Roman"/>
                <a:cs typeface="Times New Roman"/>
              </a:rPr>
              <a:t>[25]</a:t>
            </a:r>
            <a:r>
              <a:rPr dirty="0" sz="1000" spc="80">
                <a:latin typeface="Times New Roman"/>
                <a:cs typeface="Times New Roman"/>
              </a:rPr>
              <a:t> </a:t>
            </a:r>
            <a:r>
              <a:rPr dirty="0" sz="1000">
                <a:latin typeface="Times New Roman"/>
                <a:cs typeface="Times New Roman"/>
              </a:rPr>
              <a:t>for</a:t>
            </a:r>
            <a:r>
              <a:rPr dirty="0" sz="1000" spc="85">
                <a:latin typeface="Times New Roman"/>
                <a:cs typeface="Times New Roman"/>
              </a:rPr>
              <a:t> </a:t>
            </a:r>
            <a:r>
              <a:rPr dirty="0" sz="1000" spc="-10">
                <a:latin typeface="Times New Roman"/>
                <a:cs typeface="Times New Roman"/>
              </a:rPr>
              <a:t>CREMA-</a:t>
            </a:r>
            <a:r>
              <a:rPr dirty="0" sz="1000" spc="-50">
                <a:latin typeface="Times New Roman"/>
                <a:cs typeface="Times New Roman"/>
              </a:rPr>
              <a:t>D</a:t>
            </a:r>
            <a:endParaRPr sz="1000">
              <a:latin typeface="Times New Roman"/>
              <a:cs typeface="Times New Roman"/>
            </a:endParaRPr>
          </a:p>
        </p:txBody>
      </p:sp>
      <p:sp>
        <p:nvSpPr>
          <p:cNvPr id="27" name="object 27"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10</a:t>
            </a:fld>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776549"/>
            <a:ext cx="5760085" cy="1320800"/>
            <a:chOff x="899998" y="1776549"/>
            <a:chExt cx="5760085" cy="1320800"/>
          </a:xfrm>
        </p:grpSpPr>
        <p:sp>
          <p:nvSpPr>
            <p:cNvPr id="3" name="object 3" descr=""/>
            <p:cNvSpPr/>
            <p:nvPr/>
          </p:nvSpPr>
          <p:spPr>
            <a:xfrm>
              <a:off x="899998" y="1776549"/>
              <a:ext cx="5760085" cy="1320800"/>
            </a:xfrm>
            <a:custGeom>
              <a:avLst/>
              <a:gdLst/>
              <a:ahLst/>
              <a:cxnLst/>
              <a:rect l="l" t="t" r="r" b="b"/>
              <a:pathLst>
                <a:path w="5760084" h="1320800">
                  <a:moveTo>
                    <a:pt x="5724074" y="0"/>
                  </a:moveTo>
                  <a:lnTo>
                    <a:pt x="36000" y="0"/>
                  </a:lnTo>
                  <a:lnTo>
                    <a:pt x="21987" y="2829"/>
                  </a:lnTo>
                  <a:lnTo>
                    <a:pt x="10544" y="10544"/>
                  </a:lnTo>
                  <a:lnTo>
                    <a:pt x="2829" y="21987"/>
                  </a:lnTo>
                  <a:lnTo>
                    <a:pt x="0" y="36000"/>
                  </a:lnTo>
                  <a:lnTo>
                    <a:pt x="0" y="1284459"/>
                  </a:lnTo>
                  <a:lnTo>
                    <a:pt x="2829" y="1298472"/>
                  </a:lnTo>
                  <a:lnTo>
                    <a:pt x="10544" y="1309915"/>
                  </a:lnTo>
                  <a:lnTo>
                    <a:pt x="21987" y="1317630"/>
                  </a:lnTo>
                  <a:lnTo>
                    <a:pt x="36000" y="1320459"/>
                  </a:lnTo>
                  <a:lnTo>
                    <a:pt x="5724074" y="1320459"/>
                  </a:lnTo>
                  <a:lnTo>
                    <a:pt x="5738087" y="1317630"/>
                  </a:lnTo>
                  <a:lnTo>
                    <a:pt x="5749530" y="1309915"/>
                  </a:lnTo>
                  <a:lnTo>
                    <a:pt x="5757245" y="1298472"/>
                  </a:lnTo>
                  <a:lnTo>
                    <a:pt x="5760074" y="128445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776549"/>
              <a:ext cx="5760085" cy="1320800"/>
            </a:xfrm>
            <a:custGeom>
              <a:avLst/>
              <a:gdLst/>
              <a:ahLst/>
              <a:cxnLst/>
              <a:rect l="l" t="t" r="r" b="b"/>
              <a:pathLst>
                <a:path w="5760084" h="1320800">
                  <a:moveTo>
                    <a:pt x="5724074" y="0"/>
                  </a:moveTo>
                  <a:lnTo>
                    <a:pt x="36000" y="0"/>
                  </a:lnTo>
                  <a:lnTo>
                    <a:pt x="21987" y="2829"/>
                  </a:lnTo>
                  <a:lnTo>
                    <a:pt x="10544" y="10544"/>
                  </a:lnTo>
                  <a:lnTo>
                    <a:pt x="2829" y="21987"/>
                  </a:lnTo>
                  <a:lnTo>
                    <a:pt x="0" y="36000"/>
                  </a:lnTo>
                  <a:lnTo>
                    <a:pt x="0" y="1284459"/>
                  </a:lnTo>
                  <a:lnTo>
                    <a:pt x="2829" y="1298472"/>
                  </a:lnTo>
                  <a:lnTo>
                    <a:pt x="10544" y="1309915"/>
                  </a:lnTo>
                  <a:lnTo>
                    <a:pt x="21987" y="1317630"/>
                  </a:lnTo>
                  <a:lnTo>
                    <a:pt x="36000" y="1320459"/>
                  </a:lnTo>
                  <a:lnTo>
                    <a:pt x="5724074" y="1320459"/>
                  </a:lnTo>
                  <a:lnTo>
                    <a:pt x="5738087" y="1317630"/>
                  </a:lnTo>
                  <a:lnTo>
                    <a:pt x="5749530" y="1309915"/>
                  </a:lnTo>
                  <a:lnTo>
                    <a:pt x="5757245" y="1298472"/>
                  </a:lnTo>
                  <a:lnTo>
                    <a:pt x="5760074" y="128445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 name="object 5" descr=""/>
          <p:cNvSpPr txBox="1"/>
          <p:nvPr/>
        </p:nvSpPr>
        <p:spPr>
          <a:xfrm>
            <a:off x="887298" y="841750"/>
            <a:ext cx="5785485" cy="2175510"/>
          </a:xfrm>
          <a:prstGeom prst="rect">
            <a:avLst/>
          </a:prstGeom>
        </p:spPr>
        <p:txBody>
          <a:bodyPr wrap="square" lIns="0" tIns="12700" rIns="0" bIns="0" rtlCol="0" vert="horz">
            <a:spAutoFit/>
          </a:bodyPr>
          <a:lstStyle/>
          <a:p>
            <a:pPr algn="just" marL="12700" marR="5080">
              <a:lnSpc>
                <a:spcPct val="129500"/>
              </a:lnSpc>
              <a:spcBef>
                <a:spcPts val="100"/>
              </a:spcBef>
            </a:pPr>
            <a:r>
              <a:rPr dirty="0" sz="1000">
                <a:latin typeface="Times New Roman"/>
                <a:cs typeface="Times New Roman"/>
              </a:rPr>
              <a:t>and</a:t>
            </a:r>
            <a:r>
              <a:rPr dirty="0" sz="1000" spc="135">
                <a:latin typeface="Times New Roman"/>
                <a:cs typeface="Times New Roman"/>
              </a:rPr>
              <a:t> </a:t>
            </a:r>
            <a:r>
              <a:rPr dirty="0" sz="1000">
                <a:latin typeface="Times New Roman"/>
                <a:cs typeface="Times New Roman"/>
              </a:rPr>
              <a:t>MOSI</a:t>
            </a:r>
            <a:r>
              <a:rPr dirty="0" sz="1000" spc="140">
                <a:latin typeface="Times New Roman"/>
                <a:cs typeface="Times New Roman"/>
              </a:rPr>
              <a:t> </a:t>
            </a:r>
            <a:r>
              <a:rPr dirty="0" sz="1000">
                <a:latin typeface="Times New Roman"/>
                <a:cs typeface="Times New Roman"/>
              </a:rPr>
              <a:t>datasets.</a:t>
            </a:r>
            <a:r>
              <a:rPr dirty="0" sz="1000" spc="395">
                <a:latin typeface="Times New Roman"/>
                <a:cs typeface="Times New Roman"/>
              </a:rPr>
              <a:t> </a:t>
            </a:r>
            <a:r>
              <a:rPr dirty="0" sz="1000" spc="-10">
                <a:latin typeface="Times New Roman"/>
                <a:cs typeface="Times New Roman"/>
              </a:rPr>
              <a:t>Specifically,</a:t>
            </a:r>
            <a:r>
              <a:rPr dirty="0" sz="1000" spc="160">
                <a:latin typeface="Times New Roman"/>
                <a:cs typeface="Times New Roman"/>
              </a:rPr>
              <a:t> </a:t>
            </a:r>
            <a:r>
              <a:rPr dirty="0" sz="1000">
                <a:latin typeface="Times New Roman"/>
                <a:cs typeface="Times New Roman"/>
              </a:rPr>
              <a:t>MMTM</a:t>
            </a:r>
            <a:r>
              <a:rPr dirty="0" sz="1000" spc="140">
                <a:latin typeface="Times New Roman"/>
                <a:cs typeface="Times New Roman"/>
              </a:rPr>
              <a:t> </a:t>
            </a:r>
            <a:r>
              <a:rPr dirty="0" sz="1000">
                <a:latin typeface="Times New Roman"/>
                <a:cs typeface="Times New Roman"/>
              </a:rPr>
              <a:t>is</a:t>
            </a:r>
            <a:r>
              <a:rPr dirty="0" sz="1000" spc="135">
                <a:latin typeface="Times New Roman"/>
                <a:cs typeface="Times New Roman"/>
              </a:rPr>
              <a:t> </a:t>
            </a:r>
            <a:r>
              <a:rPr dirty="0" sz="1000">
                <a:latin typeface="Times New Roman"/>
                <a:cs typeface="Times New Roman"/>
              </a:rPr>
              <a:t>a</a:t>
            </a:r>
            <a:r>
              <a:rPr dirty="0" sz="1000" spc="140">
                <a:latin typeface="Times New Roman"/>
                <a:cs typeface="Times New Roman"/>
              </a:rPr>
              <a:t> </a:t>
            </a:r>
            <a:r>
              <a:rPr dirty="0" sz="1000">
                <a:latin typeface="Times New Roman"/>
                <a:cs typeface="Times New Roman"/>
              </a:rPr>
              <a:t>CNN-based</a:t>
            </a:r>
            <a:r>
              <a:rPr dirty="0" sz="1000" spc="140">
                <a:latin typeface="Times New Roman"/>
                <a:cs typeface="Times New Roman"/>
              </a:rPr>
              <a:t> </a:t>
            </a:r>
            <a:r>
              <a:rPr dirty="0" sz="1000">
                <a:latin typeface="Times New Roman"/>
                <a:cs typeface="Times New Roman"/>
              </a:rPr>
              <a:t>architecture</a:t>
            </a:r>
            <a:r>
              <a:rPr dirty="0" sz="1000" spc="140">
                <a:latin typeface="Times New Roman"/>
                <a:cs typeface="Times New Roman"/>
              </a:rPr>
              <a:t> </a:t>
            </a:r>
            <a:r>
              <a:rPr dirty="0" sz="1000">
                <a:latin typeface="Times New Roman"/>
                <a:cs typeface="Times New Roman"/>
              </a:rPr>
              <a:t>that</a:t>
            </a:r>
            <a:r>
              <a:rPr dirty="0" sz="1000" spc="140">
                <a:latin typeface="Times New Roman"/>
                <a:cs typeface="Times New Roman"/>
              </a:rPr>
              <a:t> </a:t>
            </a:r>
            <a:r>
              <a:rPr dirty="0" sz="1000">
                <a:latin typeface="Times New Roman"/>
                <a:cs typeface="Times New Roman"/>
              </a:rPr>
              <a:t>fuses</a:t>
            </a:r>
            <a:r>
              <a:rPr dirty="0" sz="1000" spc="140">
                <a:latin typeface="Times New Roman"/>
                <a:cs typeface="Times New Roman"/>
              </a:rPr>
              <a:t> </a:t>
            </a:r>
            <a:r>
              <a:rPr dirty="0" sz="1000">
                <a:latin typeface="Times New Roman"/>
                <a:cs typeface="Times New Roman"/>
              </a:rPr>
              <a:t>intermediate</a:t>
            </a:r>
            <a:r>
              <a:rPr dirty="0" sz="1000" spc="140">
                <a:latin typeface="Times New Roman"/>
                <a:cs typeface="Times New Roman"/>
              </a:rPr>
              <a:t> </a:t>
            </a:r>
            <a:r>
              <a:rPr dirty="0" sz="1000">
                <a:latin typeface="Times New Roman"/>
                <a:cs typeface="Times New Roman"/>
              </a:rPr>
              <a:t>feature</a:t>
            </a:r>
            <a:r>
              <a:rPr dirty="0" sz="1000" spc="140">
                <a:latin typeface="Times New Roman"/>
                <a:cs typeface="Times New Roman"/>
              </a:rPr>
              <a:t> </a:t>
            </a:r>
            <a:r>
              <a:rPr dirty="0" sz="1000" spc="-20">
                <a:latin typeface="Times New Roman"/>
                <a:cs typeface="Times New Roman"/>
              </a:rPr>
              <a:t>maps </a:t>
            </a:r>
            <a:r>
              <a:rPr dirty="0" sz="1000">
                <a:latin typeface="Times New Roman"/>
                <a:cs typeface="Times New Roman"/>
              </a:rPr>
              <a:t>from</a:t>
            </a:r>
            <a:r>
              <a:rPr dirty="0" sz="1000" spc="190">
                <a:latin typeface="Times New Roman"/>
                <a:cs typeface="Times New Roman"/>
              </a:rPr>
              <a:t> </a:t>
            </a:r>
            <a:r>
              <a:rPr dirty="0" sz="1000">
                <a:latin typeface="Times New Roman"/>
                <a:cs typeface="Times New Roman"/>
              </a:rPr>
              <a:t>different</a:t>
            </a:r>
            <a:r>
              <a:rPr dirty="0" sz="1000" spc="190">
                <a:latin typeface="Times New Roman"/>
                <a:cs typeface="Times New Roman"/>
              </a:rPr>
              <a:t> </a:t>
            </a:r>
            <a:r>
              <a:rPr dirty="0" sz="1000">
                <a:latin typeface="Times New Roman"/>
                <a:cs typeface="Times New Roman"/>
              </a:rPr>
              <a:t>modalities</a:t>
            </a:r>
            <a:r>
              <a:rPr dirty="0" sz="1000" spc="190">
                <a:latin typeface="Times New Roman"/>
                <a:cs typeface="Times New Roman"/>
              </a:rPr>
              <a:t> </a:t>
            </a:r>
            <a:r>
              <a:rPr dirty="0" sz="1000">
                <a:latin typeface="Times New Roman"/>
                <a:cs typeface="Times New Roman"/>
              </a:rPr>
              <a:t>via</a:t>
            </a:r>
            <a:r>
              <a:rPr dirty="0" sz="1000" spc="190">
                <a:latin typeface="Times New Roman"/>
                <a:cs typeface="Times New Roman"/>
              </a:rPr>
              <a:t> </a:t>
            </a:r>
            <a:r>
              <a:rPr dirty="0" sz="1000">
                <a:latin typeface="Times New Roman"/>
                <a:cs typeface="Times New Roman"/>
              </a:rPr>
              <a:t>multimodal</a:t>
            </a:r>
            <a:r>
              <a:rPr dirty="0" sz="1000" spc="190">
                <a:latin typeface="Times New Roman"/>
                <a:cs typeface="Times New Roman"/>
              </a:rPr>
              <a:t> </a:t>
            </a:r>
            <a:r>
              <a:rPr dirty="0" sz="1000">
                <a:latin typeface="Times New Roman"/>
                <a:cs typeface="Times New Roman"/>
              </a:rPr>
              <a:t>squeeze</a:t>
            </a:r>
            <a:r>
              <a:rPr dirty="0" sz="1000" spc="190">
                <a:latin typeface="Times New Roman"/>
                <a:cs typeface="Times New Roman"/>
              </a:rPr>
              <a:t> </a:t>
            </a:r>
            <a:r>
              <a:rPr dirty="0" sz="1000">
                <a:latin typeface="Times New Roman"/>
                <a:cs typeface="Times New Roman"/>
              </a:rPr>
              <a:t>and</a:t>
            </a:r>
            <a:r>
              <a:rPr dirty="0" sz="1000" spc="190">
                <a:latin typeface="Times New Roman"/>
                <a:cs typeface="Times New Roman"/>
              </a:rPr>
              <a:t> </a:t>
            </a:r>
            <a:r>
              <a:rPr dirty="0" sz="1000">
                <a:latin typeface="Times New Roman"/>
                <a:cs typeface="Times New Roman"/>
              </a:rPr>
              <a:t>excitation</a:t>
            </a:r>
            <a:r>
              <a:rPr dirty="0" sz="1000" spc="195">
                <a:latin typeface="Times New Roman"/>
                <a:cs typeface="Times New Roman"/>
              </a:rPr>
              <a:t> </a:t>
            </a:r>
            <a:r>
              <a:rPr dirty="0" sz="1000">
                <a:latin typeface="Times New Roman"/>
                <a:cs typeface="Times New Roman"/>
              </a:rPr>
              <a:t>operations,</a:t>
            </a:r>
            <a:r>
              <a:rPr dirty="0" sz="1000" spc="215">
                <a:latin typeface="Times New Roman"/>
                <a:cs typeface="Times New Roman"/>
              </a:rPr>
              <a:t> </a:t>
            </a:r>
            <a:r>
              <a:rPr dirty="0" sz="1000">
                <a:latin typeface="Times New Roman"/>
                <a:cs typeface="Times New Roman"/>
              </a:rPr>
              <a:t>while</a:t>
            </a:r>
            <a:r>
              <a:rPr dirty="0" sz="1000" spc="190">
                <a:latin typeface="Times New Roman"/>
                <a:cs typeface="Times New Roman"/>
              </a:rPr>
              <a:t> </a:t>
            </a:r>
            <a:r>
              <a:rPr dirty="0" sz="1000" spc="-20">
                <a:latin typeface="Times New Roman"/>
                <a:cs typeface="Times New Roman"/>
              </a:rPr>
              <a:t>MLP-</a:t>
            </a:r>
            <a:r>
              <a:rPr dirty="0" sz="1000">
                <a:latin typeface="Times New Roman"/>
                <a:cs typeface="Times New Roman"/>
              </a:rPr>
              <a:t>Mixer</a:t>
            </a:r>
            <a:r>
              <a:rPr dirty="0" sz="1000" spc="195">
                <a:latin typeface="Times New Roman"/>
                <a:cs typeface="Times New Roman"/>
              </a:rPr>
              <a:t> </a:t>
            </a:r>
            <a:r>
              <a:rPr dirty="0" sz="1000">
                <a:latin typeface="Times New Roman"/>
                <a:cs typeface="Times New Roman"/>
              </a:rPr>
              <a:t>is</a:t>
            </a:r>
            <a:r>
              <a:rPr dirty="0" sz="1000" spc="190">
                <a:latin typeface="Times New Roman"/>
                <a:cs typeface="Times New Roman"/>
              </a:rPr>
              <a:t> </a:t>
            </a:r>
            <a:r>
              <a:rPr dirty="0" sz="1000">
                <a:latin typeface="Times New Roman"/>
                <a:cs typeface="Times New Roman"/>
              </a:rPr>
              <a:t>an</a:t>
            </a:r>
            <a:r>
              <a:rPr dirty="0" sz="1000" spc="190">
                <a:latin typeface="Times New Roman"/>
                <a:cs typeface="Times New Roman"/>
              </a:rPr>
              <a:t> </a:t>
            </a:r>
            <a:r>
              <a:rPr dirty="0" sz="1000" spc="-20">
                <a:latin typeface="Times New Roman"/>
                <a:cs typeface="Times New Roman"/>
              </a:rPr>
              <a:t>MLP- </a:t>
            </a:r>
            <a:r>
              <a:rPr dirty="0" sz="1000" spc="20">
                <a:latin typeface="Times New Roman"/>
                <a:cs typeface="Times New Roman"/>
              </a:rPr>
              <a:t>based</a:t>
            </a:r>
            <a:r>
              <a:rPr dirty="0" sz="1000" spc="5">
                <a:latin typeface="Times New Roman"/>
                <a:cs typeface="Times New Roman"/>
              </a:rPr>
              <a:t> </a:t>
            </a:r>
            <a:r>
              <a:rPr dirty="0" sz="1000" spc="20">
                <a:latin typeface="Times New Roman"/>
                <a:cs typeface="Times New Roman"/>
              </a:rPr>
              <a:t>architecture</a:t>
            </a:r>
            <a:r>
              <a:rPr dirty="0" sz="1000" spc="10">
                <a:latin typeface="Times New Roman"/>
                <a:cs typeface="Times New Roman"/>
              </a:rPr>
              <a:t> </a:t>
            </a:r>
            <a:r>
              <a:rPr dirty="0" sz="1000" spc="20">
                <a:latin typeface="Times New Roman"/>
                <a:cs typeface="Times New Roman"/>
              </a:rPr>
              <a:t>that</a:t>
            </a:r>
            <a:r>
              <a:rPr dirty="0" sz="1000" spc="10">
                <a:latin typeface="Times New Roman"/>
                <a:cs typeface="Times New Roman"/>
              </a:rPr>
              <a:t> </a:t>
            </a:r>
            <a:r>
              <a:rPr dirty="0" sz="1000" spc="20">
                <a:latin typeface="Times New Roman"/>
                <a:cs typeface="Times New Roman"/>
              </a:rPr>
              <a:t>performs</a:t>
            </a:r>
            <a:r>
              <a:rPr dirty="0" sz="1000" spc="10">
                <a:latin typeface="Times New Roman"/>
                <a:cs typeface="Times New Roman"/>
              </a:rPr>
              <a:t> </a:t>
            </a:r>
            <a:r>
              <a:rPr dirty="0" sz="1000" spc="20">
                <a:latin typeface="Times New Roman"/>
                <a:cs typeface="Times New Roman"/>
              </a:rPr>
              <a:t>fusion</a:t>
            </a:r>
            <a:r>
              <a:rPr dirty="0" sz="1000" spc="10">
                <a:latin typeface="Times New Roman"/>
                <a:cs typeface="Times New Roman"/>
              </a:rPr>
              <a:t> </a:t>
            </a:r>
            <a:r>
              <a:rPr dirty="0" sz="1000" spc="20">
                <a:latin typeface="Times New Roman"/>
                <a:cs typeface="Times New Roman"/>
              </a:rPr>
              <a:t>using</a:t>
            </a:r>
            <a:r>
              <a:rPr dirty="0" sz="1000" spc="5">
                <a:latin typeface="Times New Roman"/>
                <a:cs typeface="Times New Roman"/>
              </a:rPr>
              <a:t> </a:t>
            </a:r>
            <a:r>
              <a:rPr dirty="0" sz="1000" spc="10">
                <a:latin typeface="Times New Roman"/>
                <a:cs typeface="Times New Roman"/>
              </a:rPr>
              <a:t>affine </a:t>
            </a:r>
            <a:r>
              <a:rPr dirty="0" sz="1000" spc="20">
                <a:latin typeface="Times New Roman"/>
                <a:cs typeface="Times New Roman"/>
              </a:rPr>
              <a:t>transformations</a:t>
            </a:r>
            <a:r>
              <a:rPr dirty="0" sz="1000" spc="10">
                <a:latin typeface="Times New Roman"/>
                <a:cs typeface="Times New Roman"/>
              </a:rPr>
              <a:t> </a:t>
            </a:r>
            <a:r>
              <a:rPr dirty="0" sz="1000" spc="20">
                <a:latin typeface="Times New Roman"/>
                <a:cs typeface="Times New Roman"/>
              </a:rPr>
              <a:t>on</a:t>
            </a:r>
            <a:r>
              <a:rPr dirty="0" sz="1000" spc="10">
                <a:latin typeface="Times New Roman"/>
                <a:cs typeface="Times New Roman"/>
              </a:rPr>
              <a:t> </a:t>
            </a:r>
            <a:r>
              <a:rPr dirty="0" sz="1000" spc="20">
                <a:latin typeface="Times New Roman"/>
                <a:cs typeface="Times New Roman"/>
              </a:rPr>
              <a:t>intermediate</a:t>
            </a:r>
            <a:r>
              <a:rPr dirty="0" sz="1000" spc="10">
                <a:latin typeface="Times New Roman"/>
                <a:cs typeface="Times New Roman"/>
              </a:rPr>
              <a:t> </a:t>
            </a:r>
            <a:r>
              <a:rPr dirty="0" sz="1000" spc="20">
                <a:latin typeface="Times New Roman"/>
                <a:cs typeface="Times New Roman"/>
              </a:rPr>
              <a:t>feature</a:t>
            </a:r>
            <a:r>
              <a:rPr dirty="0" sz="1000" spc="5">
                <a:latin typeface="Times New Roman"/>
                <a:cs typeface="Times New Roman"/>
              </a:rPr>
              <a:t> </a:t>
            </a:r>
            <a:r>
              <a:rPr dirty="0" sz="1000" spc="20">
                <a:latin typeface="Times New Roman"/>
                <a:cs typeface="Times New Roman"/>
              </a:rPr>
              <a:t>maps.</a:t>
            </a:r>
            <a:r>
              <a:rPr dirty="0" sz="1000" spc="105">
                <a:latin typeface="Times New Roman"/>
                <a:cs typeface="Times New Roman"/>
              </a:rPr>
              <a:t> </a:t>
            </a:r>
            <a:r>
              <a:rPr dirty="0" sz="1000" spc="20">
                <a:latin typeface="Times New Roman"/>
                <a:cs typeface="Times New Roman"/>
              </a:rPr>
              <a:t>For</a:t>
            </a:r>
            <a:r>
              <a:rPr dirty="0" sz="1000" spc="5">
                <a:latin typeface="Times New Roman"/>
                <a:cs typeface="Times New Roman"/>
              </a:rPr>
              <a:t> </a:t>
            </a:r>
            <a:r>
              <a:rPr dirty="0" sz="1000" spc="-20">
                <a:latin typeface="Times New Roman"/>
                <a:cs typeface="Times New Roman"/>
              </a:rPr>
              <a:t>both </a:t>
            </a:r>
            <a:r>
              <a:rPr dirty="0" sz="1000">
                <a:latin typeface="Times New Roman"/>
                <a:cs typeface="Times New Roman"/>
              </a:rPr>
              <a:t>methods,</a:t>
            </a:r>
            <a:r>
              <a:rPr dirty="0" sz="1000" spc="75">
                <a:latin typeface="Times New Roman"/>
                <a:cs typeface="Times New Roman"/>
              </a:rPr>
              <a:t> </a:t>
            </a:r>
            <a:r>
              <a:rPr dirty="0" sz="1000">
                <a:latin typeface="Times New Roman"/>
                <a:cs typeface="Times New Roman"/>
              </a:rPr>
              <a:t>we</a:t>
            </a:r>
            <a:r>
              <a:rPr dirty="0" sz="1000" spc="80">
                <a:latin typeface="Times New Roman"/>
                <a:cs typeface="Times New Roman"/>
              </a:rPr>
              <a:t> </a:t>
            </a:r>
            <a:r>
              <a:rPr dirty="0" sz="1000">
                <a:latin typeface="Times New Roman"/>
                <a:cs typeface="Times New Roman"/>
              </a:rPr>
              <a:t>use</a:t>
            </a:r>
            <a:r>
              <a:rPr dirty="0" sz="1000" spc="80">
                <a:latin typeface="Times New Roman"/>
                <a:cs typeface="Times New Roman"/>
              </a:rPr>
              <a:t> </a:t>
            </a:r>
            <a:r>
              <a:rPr dirty="0" sz="1000">
                <a:latin typeface="Times New Roman"/>
                <a:cs typeface="Times New Roman"/>
              </a:rPr>
              <a:t>only</a:t>
            </a:r>
            <a:r>
              <a:rPr dirty="0" sz="1000" spc="75">
                <a:latin typeface="Times New Roman"/>
                <a:cs typeface="Times New Roman"/>
              </a:rPr>
              <a:t> </a:t>
            </a:r>
            <a:r>
              <a:rPr dirty="0" sz="1000">
                <a:latin typeface="Times New Roman"/>
                <a:cs typeface="Times New Roman"/>
              </a:rPr>
              <a:t>one</a:t>
            </a:r>
            <a:r>
              <a:rPr dirty="0" sz="1000" spc="80">
                <a:latin typeface="Times New Roman"/>
                <a:cs typeface="Times New Roman"/>
              </a:rPr>
              <a:t> </a:t>
            </a:r>
            <a:r>
              <a:rPr dirty="0" sz="1000">
                <a:latin typeface="Times New Roman"/>
                <a:cs typeface="Times New Roman"/>
              </a:rPr>
              <a:t>frame</a:t>
            </a:r>
            <a:r>
              <a:rPr dirty="0" sz="1000" spc="80">
                <a:latin typeface="Times New Roman"/>
                <a:cs typeface="Times New Roman"/>
              </a:rPr>
              <a:t> </a:t>
            </a:r>
            <a:r>
              <a:rPr dirty="0" sz="1000">
                <a:latin typeface="Times New Roman"/>
                <a:cs typeface="Times New Roman"/>
              </a:rPr>
              <a:t>for</a:t>
            </a:r>
            <a:r>
              <a:rPr dirty="0" sz="1000" spc="75">
                <a:latin typeface="Times New Roman"/>
                <a:cs typeface="Times New Roman"/>
              </a:rPr>
              <a:t> </a:t>
            </a:r>
            <a:r>
              <a:rPr dirty="0" sz="1000">
                <a:latin typeface="Times New Roman"/>
                <a:cs typeface="Times New Roman"/>
              </a:rPr>
              <a:t>each</a:t>
            </a:r>
            <a:r>
              <a:rPr dirty="0" sz="1000" spc="80">
                <a:latin typeface="Times New Roman"/>
                <a:cs typeface="Times New Roman"/>
              </a:rPr>
              <a:t> </a:t>
            </a:r>
            <a:r>
              <a:rPr dirty="0" sz="1000">
                <a:latin typeface="Times New Roman"/>
                <a:cs typeface="Times New Roman"/>
              </a:rPr>
              <a:t>video</a:t>
            </a:r>
            <a:r>
              <a:rPr dirty="0" sz="1000" spc="80">
                <a:latin typeface="Times New Roman"/>
                <a:cs typeface="Times New Roman"/>
              </a:rPr>
              <a:t> </a:t>
            </a:r>
            <a:r>
              <a:rPr dirty="0" sz="1000">
                <a:latin typeface="Times New Roman"/>
                <a:cs typeface="Times New Roman"/>
              </a:rPr>
              <a:t>on</a:t>
            </a:r>
            <a:r>
              <a:rPr dirty="0" sz="1000" spc="75">
                <a:latin typeface="Times New Roman"/>
                <a:cs typeface="Times New Roman"/>
              </a:rPr>
              <a:t> </a:t>
            </a:r>
            <a:r>
              <a:rPr dirty="0" sz="1000">
                <a:latin typeface="Times New Roman"/>
                <a:cs typeface="Times New Roman"/>
              </a:rPr>
              <a:t>each</a:t>
            </a:r>
            <a:r>
              <a:rPr dirty="0" sz="1000" spc="80">
                <a:latin typeface="Times New Roman"/>
                <a:cs typeface="Times New Roman"/>
              </a:rPr>
              <a:t> </a:t>
            </a:r>
            <a:r>
              <a:rPr dirty="0" sz="1000">
                <a:latin typeface="Times New Roman"/>
                <a:cs typeface="Times New Roman"/>
              </a:rPr>
              <a:t>dataset</a:t>
            </a:r>
            <a:r>
              <a:rPr dirty="0" sz="1000" spc="80">
                <a:latin typeface="Times New Roman"/>
                <a:cs typeface="Times New Roman"/>
              </a:rPr>
              <a:t> </a:t>
            </a:r>
            <a:r>
              <a:rPr dirty="0" sz="1000">
                <a:latin typeface="Times New Roman"/>
                <a:cs typeface="Times New Roman"/>
              </a:rPr>
              <a:t>to</a:t>
            </a:r>
            <a:r>
              <a:rPr dirty="0" sz="1000" spc="75">
                <a:latin typeface="Times New Roman"/>
                <a:cs typeface="Times New Roman"/>
              </a:rPr>
              <a:t> </a:t>
            </a:r>
            <a:r>
              <a:rPr dirty="0" sz="1000">
                <a:latin typeface="Times New Roman"/>
                <a:cs typeface="Times New Roman"/>
              </a:rPr>
              <a:t>align</a:t>
            </a:r>
            <a:r>
              <a:rPr dirty="0" sz="1000" spc="80">
                <a:latin typeface="Times New Roman"/>
                <a:cs typeface="Times New Roman"/>
              </a:rPr>
              <a:t> </a:t>
            </a:r>
            <a:r>
              <a:rPr dirty="0" sz="1000">
                <a:latin typeface="Times New Roman"/>
                <a:cs typeface="Times New Roman"/>
              </a:rPr>
              <a:t>their</a:t>
            </a:r>
            <a:r>
              <a:rPr dirty="0" sz="1000" spc="80">
                <a:latin typeface="Times New Roman"/>
                <a:cs typeface="Times New Roman"/>
              </a:rPr>
              <a:t> </a:t>
            </a:r>
            <a:r>
              <a:rPr dirty="0" sz="1000">
                <a:latin typeface="Times New Roman"/>
                <a:cs typeface="Times New Roman"/>
              </a:rPr>
              <a:t>input</a:t>
            </a:r>
            <a:r>
              <a:rPr dirty="0" sz="1000" spc="80">
                <a:latin typeface="Times New Roman"/>
                <a:cs typeface="Times New Roman"/>
              </a:rPr>
              <a:t> </a:t>
            </a:r>
            <a:r>
              <a:rPr dirty="0" sz="1000">
                <a:latin typeface="Times New Roman"/>
                <a:cs typeface="Times New Roman"/>
              </a:rPr>
              <a:t>on</a:t>
            </a:r>
            <a:r>
              <a:rPr dirty="0" sz="1000" spc="7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spc="-10">
                <a:latin typeface="Times New Roman"/>
                <a:cs typeface="Times New Roman"/>
              </a:rPr>
              <a:t>benchmark.</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a:lnSpc>
                <a:spcPct val="129500"/>
              </a:lnSpc>
              <a:spcBef>
                <a:spcPts val="5"/>
              </a:spcBef>
            </a:pPr>
            <a:r>
              <a:rPr dirty="0" sz="1000" spc="-5">
                <a:latin typeface="SimSun"/>
                <a:cs typeface="SimSun"/>
              </a:rPr>
              <a:t>推广到密集跨模态交互。现有的实验是使用普通拼接融合进行的。为了验证</a:t>
            </a:r>
            <a:r>
              <a:rPr dirty="0" sz="1000" spc="-15">
                <a:latin typeface="Times New Roman"/>
                <a:cs typeface="Times New Roman"/>
              </a:rPr>
              <a:t>DGL</a:t>
            </a:r>
            <a:r>
              <a:rPr dirty="0" sz="1000" spc="-5">
                <a:latin typeface="Times New Roman"/>
                <a:cs typeface="Times New Roman"/>
              </a:rPr>
              <a:t> </a:t>
            </a:r>
            <a:r>
              <a:rPr dirty="0" sz="1000" spc="-10">
                <a:latin typeface="SimSun"/>
                <a:cs typeface="SimSun"/>
              </a:rPr>
              <a:t>在具有密集跨模</a:t>
            </a:r>
            <a:r>
              <a:rPr dirty="0" sz="1000" spc="-45">
                <a:latin typeface="SimSun"/>
                <a:cs typeface="SimSun"/>
              </a:rPr>
              <a:t>态交互的多模态模型中的适用性，我们将其应用于 </a:t>
            </a:r>
            <a:r>
              <a:rPr dirty="0" sz="1000" spc="-5">
                <a:latin typeface="Times New Roman"/>
                <a:cs typeface="Times New Roman"/>
              </a:rPr>
              <a:t>CREMA-</a:t>
            </a:r>
            <a:r>
              <a:rPr dirty="0" sz="1000" spc="-25">
                <a:latin typeface="Times New Roman"/>
                <a:cs typeface="Times New Roman"/>
              </a:rPr>
              <a:t>D</a:t>
            </a:r>
            <a:r>
              <a:rPr dirty="0" sz="1000" spc="-45">
                <a:latin typeface="Times New Roman"/>
                <a:cs typeface="Times New Roman"/>
              </a:rPr>
              <a:t> </a:t>
            </a:r>
            <a:r>
              <a:rPr dirty="0" sz="1000" spc="195">
                <a:latin typeface="SimSun"/>
                <a:cs typeface="SimSun"/>
              </a:rPr>
              <a:t>和</a:t>
            </a:r>
            <a:r>
              <a:rPr dirty="0" sz="1000" spc="-10">
                <a:latin typeface="Times New Roman"/>
                <a:cs typeface="Times New Roman"/>
              </a:rPr>
              <a:t>MOSI</a:t>
            </a:r>
            <a:r>
              <a:rPr dirty="0" sz="1000" spc="-45">
                <a:latin typeface="Times New Roman"/>
                <a:cs typeface="Times New Roman"/>
              </a:rPr>
              <a:t> </a:t>
            </a:r>
            <a:r>
              <a:rPr dirty="0" sz="1000" spc="-10">
                <a:latin typeface="SimSun"/>
                <a:cs typeface="SimSun"/>
              </a:rPr>
              <a:t>数据集的两种中间融合方法</a:t>
            </a:r>
            <a:r>
              <a:rPr dirty="0" sz="1000" spc="-5">
                <a:latin typeface="SimSun"/>
                <a:cs typeface="SimSun"/>
              </a:rPr>
              <a:t> </a:t>
            </a:r>
            <a:r>
              <a:rPr dirty="0" sz="1000">
                <a:latin typeface="Times New Roman"/>
                <a:cs typeface="Times New Roman"/>
              </a:rPr>
              <a:t>MMTM</a:t>
            </a:r>
            <a:r>
              <a:rPr dirty="0" sz="1000" spc="-10">
                <a:latin typeface="Times New Roman"/>
                <a:cs typeface="Times New Roman"/>
              </a:rPr>
              <a:t> </a:t>
            </a:r>
            <a:r>
              <a:rPr dirty="0" sz="1000">
                <a:latin typeface="Times New Roman"/>
                <a:cs typeface="Times New Roman"/>
              </a:rPr>
              <a:t>[16]</a:t>
            </a:r>
            <a:r>
              <a:rPr dirty="0" sz="1000" spc="-10">
                <a:latin typeface="Times New Roman"/>
                <a:cs typeface="Times New Roman"/>
              </a:rPr>
              <a:t> </a:t>
            </a:r>
            <a:r>
              <a:rPr dirty="0" sz="1000" spc="229">
                <a:latin typeface="SimSun"/>
                <a:cs typeface="SimSun"/>
              </a:rPr>
              <a:t>和</a:t>
            </a:r>
            <a:r>
              <a:rPr dirty="0" sz="1000" spc="-15">
                <a:latin typeface="Times New Roman"/>
                <a:cs typeface="Times New Roman"/>
              </a:rPr>
              <a:t>MLP-</a:t>
            </a:r>
            <a:r>
              <a:rPr dirty="0" sz="1000">
                <a:latin typeface="Times New Roman"/>
                <a:cs typeface="Times New Roman"/>
              </a:rPr>
              <a:t>Mixer</a:t>
            </a:r>
            <a:r>
              <a:rPr dirty="0" sz="1000" spc="-10">
                <a:latin typeface="Times New Roman"/>
                <a:cs typeface="Times New Roman"/>
              </a:rPr>
              <a:t> </a:t>
            </a:r>
            <a:r>
              <a:rPr dirty="0" sz="1000">
                <a:latin typeface="Times New Roman"/>
                <a:cs typeface="Times New Roman"/>
              </a:rPr>
              <a:t>[25]</a:t>
            </a:r>
            <a:r>
              <a:rPr dirty="0" sz="1000" spc="-10">
                <a:latin typeface="SimSun"/>
                <a:cs typeface="SimSun"/>
              </a:rPr>
              <a:t>。具体来说，</a:t>
            </a:r>
            <a:r>
              <a:rPr dirty="0" sz="1000" spc="-5">
                <a:latin typeface="Times New Roman"/>
                <a:cs typeface="Times New Roman"/>
              </a:rPr>
              <a:t>MMTM</a:t>
            </a:r>
            <a:r>
              <a:rPr dirty="0" sz="1000" spc="-10">
                <a:latin typeface="Times New Roman"/>
                <a:cs typeface="Times New Roman"/>
              </a:rPr>
              <a:t> </a:t>
            </a:r>
            <a:r>
              <a:rPr dirty="0" sz="1000" spc="35">
                <a:latin typeface="SimSun"/>
                <a:cs typeface="SimSun"/>
              </a:rPr>
              <a:t>是一种基于</a:t>
            </a:r>
            <a:r>
              <a:rPr dirty="0" sz="1000" spc="5">
                <a:latin typeface="Times New Roman"/>
                <a:cs typeface="Times New Roman"/>
              </a:rPr>
              <a:t>CNN</a:t>
            </a:r>
            <a:r>
              <a:rPr dirty="0" sz="1000" spc="-10">
                <a:latin typeface="Times New Roman"/>
                <a:cs typeface="Times New Roman"/>
              </a:rPr>
              <a:t> </a:t>
            </a:r>
            <a:r>
              <a:rPr dirty="0" sz="1000" spc="-10">
                <a:latin typeface="SimSun"/>
                <a:cs typeface="SimSun"/>
              </a:rPr>
              <a:t>的架构，它通过多模态挤压</a:t>
            </a:r>
            <a:r>
              <a:rPr dirty="0" sz="1000" spc="-5">
                <a:latin typeface="SimSun"/>
                <a:cs typeface="SimSun"/>
              </a:rPr>
              <a:t>和激励操作融合来自不同模态的中间特征图，而</a:t>
            </a:r>
            <a:r>
              <a:rPr dirty="0" sz="1000" spc="-15">
                <a:latin typeface="Times New Roman"/>
                <a:cs typeface="Times New Roman"/>
              </a:rPr>
              <a:t>MLP-</a:t>
            </a:r>
            <a:r>
              <a:rPr dirty="0" sz="1000">
                <a:latin typeface="Times New Roman"/>
                <a:cs typeface="Times New Roman"/>
              </a:rPr>
              <a:t>Mixer</a:t>
            </a:r>
            <a:r>
              <a:rPr dirty="0" sz="1000" spc="-25">
                <a:latin typeface="Times New Roman"/>
                <a:cs typeface="Times New Roman"/>
              </a:rPr>
              <a:t> </a:t>
            </a:r>
            <a:r>
              <a:rPr dirty="0" sz="1000" spc="35">
                <a:latin typeface="SimSun"/>
                <a:cs typeface="SimSun"/>
              </a:rPr>
              <a:t>是一种基于</a:t>
            </a:r>
            <a:r>
              <a:rPr dirty="0" sz="1000" spc="-10">
                <a:latin typeface="Times New Roman"/>
                <a:cs typeface="Times New Roman"/>
              </a:rPr>
              <a:t>MLP</a:t>
            </a:r>
            <a:r>
              <a:rPr dirty="0" sz="1000" spc="-25">
                <a:latin typeface="Times New Roman"/>
                <a:cs typeface="Times New Roman"/>
              </a:rPr>
              <a:t> </a:t>
            </a:r>
            <a:r>
              <a:rPr dirty="0" sz="1000" spc="-25">
                <a:latin typeface="SimSun"/>
                <a:cs typeface="SimSun"/>
              </a:rPr>
              <a:t>的架构，它对中间特</a:t>
            </a:r>
            <a:r>
              <a:rPr dirty="0" sz="1000" spc="-35">
                <a:latin typeface="SimSun"/>
                <a:cs typeface="SimSun"/>
              </a:rPr>
              <a:t>征图使用仿射变换进行融合。对于这两种方法，我们在每个数据集上的每个视频仅使用一帧来在基</a:t>
            </a:r>
            <a:r>
              <a:rPr dirty="0" sz="1000" spc="-10">
                <a:latin typeface="SimSun"/>
                <a:cs typeface="SimSun"/>
              </a:rPr>
              <a:t>准上对齐它们的输入。</a:t>
            </a:r>
            <a:endParaRPr sz="1000">
              <a:latin typeface="SimSun"/>
              <a:cs typeface="SimSun"/>
            </a:endParaRPr>
          </a:p>
        </p:txBody>
      </p:sp>
      <p:graphicFrame>
        <p:nvGraphicFramePr>
          <p:cNvPr id="6" name="object 6" descr=""/>
          <p:cNvGraphicFramePr>
            <a:graphicFrameLocks noGrp="1"/>
          </p:cNvGraphicFramePr>
          <p:nvPr/>
        </p:nvGraphicFramePr>
        <p:xfrm>
          <a:off x="2675048" y="3204600"/>
          <a:ext cx="2286635" cy="792480"/>
        </p:xfrm>
        <a:graphic>
          <a:graphicData uri="http://schemas.openxmlformats.org/drawingml/2006/table">
            <a:tbl>
              <a:tblPr firstRow="1" bandRow="1">
                <a:tableStyleId>{2D5ABB26-0587-4C30-8999-92F81FD0307C}</a:tableStyleId>
              </a:tblPr>
              <a:tblGrid>
                <a:gridCol w="1189355"/>
                <a:gridCol w="576580"/>
                <a:gridCol w="438150"/>
              </a:tblGrid>
              <a:tr h="201930">
                <a:tc rowSpan="2">
                  <a:txBody>
                    <a:bodyPr/>
                    <a:lstStyle/>
                    <a:p>
                      <a:pPr marL="245745">
                        <a:lnSpc>
                          <a:spcPct val="100000"/>
                        </a:lnSpc>
                        <a:spcBef>
                          <a:spcPts val="885"/>
                        </a:spcBef>
                      </a:pPr>
                      <a:r>
                        <a:rPr dirty="0" sz="1000" spc="-10">
                          <a:latin typeface="Times New Roman"/>
                          <a:cs typeface="Times New Roman"/>
                        </a:rPr>
                        <a:t>Initialization</a:t>
                      </a:r>
                      <a:endParaRPr sz="1000">
                        <a:latin typeface="Times New Roman"/>
                        <a:cs typeface="Times New Roman"/>
                      </a:endParaRPr>
                    </a:p>
                  </a:txBody>
                  <a:tcPr marL="0" marR="0" marB="0" marT="112395">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gridSpan="2">
                  <a:txBody>
                    <a:bodyPr/>
                    <a:lstStyle/>
                    <a:p>
                      <a:pPr marL="299720">
                        <a:lnSpc>
                          <a:spcPct val="100000"/>
                        </a:lnSpc>
                        <a:spcBef>
                          <a:spcPts val="105"/>
                        </a:spcBef>
                      </a:pPr>
                      <a:r>
                        <a:rPr dirty="0" sz="1000" spc="-10">
                          <a:latin typeface="Times New Roman"/>
                          <a:cs typeface="Times New Roman"/>
                        </a:rPr>
                        <a:t>Method</a:t>
                      </a:r>
                      <a:endParaRPr sz="1000">
                        <a:latin typeface="Times New Roman"/>
                        <a:cs typeface="Times New Roman"/>
                      </a:endParaRPr>
                    </a:p>
                  </a:txBody>
                  <a:tcPr marL="0" marR="0" marB="0" marT="13335">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r>
              <a:tr h="196850">
                <a:tc vMerge="1">
                  <a:txBody>
                    <a:bodyPr/>
                    <a:lstStyle/>
                    <a:p>
                      <a:pPr/>
                    </a:p>
                  </a:txBody>
                  <a:tcPr marL="0" marR="0" marB="0" marT="112395">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ESANet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5">
                          <a:latin typeface="Times New Roman"/>
                          <a:cs typeface="Times New Roman"/>
                        </a:rPr>
                        <a:t>DGL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a:latin typeface="Times New Roman"/>
                          <a:cs typeface="Times New Roman"/>
                        </a:rPr>
                        <a:t>From</a:t>
                      </a:r>
                      <a:r>
                        <a:rPr dirty="0" sz="1000" spc="95">
                          <a:latin typeface="Times New Roman"/>
                          <a:cs typeface="Times New Roman"/>
                        </a:rPr>
                        <a:t> </a:t>
                      </a:r>
                      <a:r>
                        <a:rPr dirty="0" sz="1000" spc="-10">
                          <a:latin typeface="Times New Roman"/>
                          <a:cs typeface="Times New Roman"/>
                        </a:rPr>
                        <a:t>Scratch</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38.59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41.67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a:latin typeface="Times New Roman"/>
                          <a:cs typeface="Times New Roman"/>
                        </a:rPr>
                        <a:t>ImageNet</a:t>
                      </a:r>
                      <a:r>
                        <a:rPr dirty="0" sz="1000" spc="210">
                          <a:latin typeface="Times New Roman"/>
                          <a:cs typeface="Times New Roman"/>
                        </a:rPr>
                        <a:t> </a:t>
                      </a:r>
                      <a:r>
                        <a:rPr dirty="0" sz="1000">
                          <a:latin typeface="Times New Roman"/>
                          <a:cs typeface="Times New Roman"/>
                        </a:rPr>
                        <a:t>Pre-</a:t>
                      </a:r>
                      <a:r>
                        <a:rPr dirty="0" sz="1000" spc="-10">
                          <a:latin typeface="Times New Roman"/>
                          <a:cs typeface="Times New Roman"/>
                        </a:rPr>
                        <a:t>train</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48.48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50.10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7" name="object 7" descr=""/>
          <p:cNvGrpSpPr/>
          <p:nvPr/>
        </p:nvGrpSpPr>
        <p:grpSpPr>
          <a:xfrm>
            <a:off x="899998" y="4099156"/>
            <a:ext cx="5760085" cy="1016000"/>
            <a:chOff x="899998" y="4099156"/>
            <a:chExt cx="5760085" cy="1016000"/>
          </a:xfrm>
        </p:grpSpPr>
        <p:sp>
          <p:nvSpPr>
            <p:cNvPr id="8" name="object 8" descr=""/>
            <p:cNvSpPr/>
            <p:nvPr/>
          </p:nvSpPr>
          <p:spPr>
            <a:xfrm>
              <a:off x="899998" y="4099156"/>
              <a:ext cx="5760085" cy="1016000"/>
            </a:xfrm>
            <a:custGeom>
              <a:avLst/>
              <a:gdLst/>
              <a:ahLst/>
              <a:cxnLst/>
              <a:rect l="l" t="t" r="r" b="b"/>
              <a:pathLst>
                <a:path w="5760084" h="1016000">
                  <a:moveTo>
                    <a:pt x="5724074" y="0"/>
                  </a:moveTo>
                  <a:lnTo>
                    <a:pt x="36000" y="0"/>
                  </a:lnTo>
                  <a:lnTo>
                    <a:pt x="21987" y="2829"/>
                  </a:lnTo>
                  <a:lnTo>
                    <a:pt x="10544" y="10544"/>
                  </a:lnTo>
                  <a:lnTo>
                    <a:pt x="2829" y="21987"/>
                  </a:lnTo>
                  <a:lnTo>
                    <a:pt x="0" y="36000"/>
                  </a:lnTo>
                  <a:lnTo>
                    <a:pt x="0" y="979654"/>
                  </a:lnTo>
                  <a:lnTo>
                    <a:pt x="2829" y="993667"/>
                  </a:lnTo>
                  <a:lnTo>
                    <a:pt x="10544" y="1005110"/>
                  </a:lnTo>
                  <a:lnTo>
                    <a:pt x="21987" y="1012825"/>
                  </a:lnTo>
                  <a:lnTo>
                    <a:pt x="36000" y="1015654"/>
                  </a:lnTo>
                  <a:lnTo>
                    <a:pt x="5724074" y="1015654"/>
                  </a:lnTo>
                  <a:lnTo>
                    <a:pt x="5738087" y="1012825"/>
                  </a:lnTo>
                  <a:lnTo>
                    <a:pt x="5749530" y="1005110"/>
                  </a:lnTo>
                  <a:lnTo>
                    <a:pt x="5757245" y="993667"/>
                  </a:lnTo>
                  <a:lnTo>
                    <a:pt x="5760074" y="97965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9" name="object 9" descr=""/>
            <p:cNvSpPr/>
            <p:nvPr/>
          </p:nvSpPr>
          <p:spPr>
            <a:xfrm>
              <a:off x="899998" y="4099156"/>
              <a:ext cx="5760085" cy="1016000"/>
            </a:xfrm>
            <a:custGeom>
              <a:avLst/>
              <a:gdLst/>
              <a:ahLst/>
              <a:cxnLst/>
              <a:rect l="l" t="t" r="r" b="b"/>
              <a:pathLst>
                <a:path w="5760084" h="1016000">
                  <a:moveTo>
                    <a:pt x="5724074" y="0"/>
                  </a:moveTo>
                  <a:lnTo>
                    <a:pt x="36000" y="0"/>
                  </a:lnTo>
                  <a:lnTo>
                    <a:pt x="21987" y="2829"/>
                  </a:lnTo>
                  <a:lnTo>
                    <a:pt x="10544" y="10544"/>
                  </a:lnTo>
                  <a:lnTo>
                    <a:pt x="2829" y="21987"/>
                  </a:lnTo>
                  <a:lnTo>
                    <a:pt x="0" y="36000"/>
                  </a:lnTo>
                  <a:lnTo>
                    <a:pt x="0" y="979654"/>
                  </a:lnTo>
                  <a:lnTo>
                    <a:pt x="2829" y="993667"/>
                  </a:lnTo>
                  <a:lnTo>
                    <a:pt x="10544" y="1005110"/>
                  </a:lnTo>
                  <a:lnTo>
                    <a:pt x="21987" y="1012825"/>
                  </a:lnTo>
                  <a:lnTo>
                    <a:pt x="36000" y="1015654"/>
                  </a:lnTo>
                  <a:lnTo>
                    <a:pt x="5724074" y="1015654"/>
                  </a:lnTo>
                  <a:lnTo>
                    <a:pt x="5738087" y="1012825"/>
                  </a:lnTo>
                  <a:lnTo>
                    <a:pt x="5749530" y="1005110"/>
                  </a:lnTo>
                  <a:lnTo>
                    <a:pt x="5757245" y="993667"/>
                  </a:lnTo>
                  <a:lnTo>
                    <a:pt x="5760074" y="97965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aphicFrame>
        <p:nvGraphicFramePr>
          <p:cNvPr id="10" name="object 10" descr=""/>
          <p:cNvGraphicFramePr>
            <a:graphicFrameLocks noGrp="1"/>
          </p:cNvGraphicFramePr>
          <p:nvPr/>
        </p:nvGraphicFramePr>
        <p:xfrm>
          <a:off x="2722749" y="4207151"/>
          <a:ext cx="2190750" cy="792480"/>
        </p:xfrm>
        <a:graphic>
          <a:graphicData uri="http://schemas.openxmlformats.org/drawingml/2006/table">
            <a:tbl>
              <a:tblPr firstRow="1" bandRow="1">
                <a:tableStyleId>{2D5ABB26-0587-4C30-8999-92F81FD0307C}</a:tableStyleId>
              </a:tblPr>
              <a:tblGrid>
                <a:gridCol w="1094105"/>
                <a:gridCol w="576580"/>
                <a:gridCol w="438150"/>
              </a:tblGrid>
              <a:tr h="201930">
                <a:tc rowSpan="2">
                  <a:txBody>
                    <a:bodyPr/>
                    <a:lstStyle/>
                    <a:p>
                      <a:pPr marL="355600">
                        <a:lnSpc>
                          <a:spcPct val="100000"/>
                        </a:lnSpc>
                        <a:spcBef>
                          <a:spcPts val="885"/>
                        </a:spcBef>
                      </a:pPr>
                      <a:r>
                        <a:rPr dirty="0" sz="1000" spc="-25">
                          <a:latin typeface="SimSun"/>
                          <a:cs typeface="SimSun"/>
                        </a:rPr>
                        <a:t>初始化</a:t>
                      </a:r>
                      <a:endParaRPr sz="1000">
                        <a:latin typeface="SimSun"/>
                        <a:cs typeface="SimSun"/>
                      </a:endParaRPr>
                    </a:p>
                  </a:txBody>
                  <a:tcPr marL="0" marR="0" marB="0" marT="112395">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gridSpan="2">
                  <a:txBody>
                    <a:bodyPr/>
                    <a:lstStyle/>
                    <a:p>
                      <a:pPr algn="ctr" marL="1905">
                        <a:lnSpc>
                          <a:spcPct val="100000"/>
                        </a:lnSpc>
                        <a:spcBef>
                          <a:spcPts val="105"/>
                        </a:spcBef>
                      </a:pPr>
                      <a:r>
                        <a:rPr dirty="0" sz="1000" spc="-30">
                          <a:latin typeface="SimSun"/>
                          <a:cs typeface="SimSun"/>
                        </a:rPr>
                        <a:t>方法</a:t>
                      </a:r>
                      <a:endParaRPr sz="1000">
                        <a:latin typeface="SimSun"/>
                        <a:cs typeface="SimSun"/>
                      </a:endParaRPr>
                    </a:p>
                  </a:txBody>
                  <a:tcPr marL="0" marR="0" marB="0" marT="13335">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r>
              <a:tr h="196850">
                <a:tc vMerge="1">
                  <a:txBody>
                    <a:bodyPr/>
                    <a:lstStyle/>
                    <a:p>
                      <a:pPr/>
                    </a:p>
                  </a:txBody>
                  <a:tcPr marL="0" marR="0" marB="0" marT="112395">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ESANet</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25">
                          <a:latin typeface="Times New Roman"/>
                          <a:cs typeface="Times New Roman"/>
                        </a:rPr>
                        <a:t>DGL</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spc="-20">
                          <a:latin typeface="SimSun"/>
                          <a:cs typeface="SimSun"/>
                        </a:rPr>
                        <a:t>从零开始</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38.59</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41.67</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196850">
                <a:tc>
                  <a:txBody>
                    <a:bodyPr/>
                    <a:lstStyle/>
                    <a:p>
                      <a:pPr algn="ctr">
                        <a:lnSpc>
                          <a:spcPct val="100000"/>
                        </a:lnSpc>
                        <a:spcBef>
                          <a:spcPts val="65"/>
                        </a:spcBef>
                      </a:pPr>
                      <a:r>
                        <a:rPr dirty="0" sz="1000">
                          <a:latin typeface="Times New Roman"/>
                          <a:cs typeface="Times New Roman"/>
                        </a:rPr>
                        <a:t>ImageNet</a:t>
                      </a:r>
                      <a:r>
                        <a:rPr dirty="0" sz="1000" spc="125">
                          <a:latin typeface="Times New Roman"/>
                          <a:cs typeface="Times New Roman"/>
                        </a:rPr>
                        <a:t> </a:t>
                      </a:r>
                      <a:r>
                        <a:rPr dirty="0" sz="1000" spc="-25">
                          <a:latin typeface="SimSun"/>
                          <a:cs typeface="SimSun"/>
                        </a:rPr>
                        <a:t>预训练</a:t>
                      </a:r>
                      <a:endParaRPr sz="1000">
                        <a:latin typeface="SimSun"/>
                        <a:cs typeface="SimSu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48.48</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dirty="0" sz="1000" spc="-10">
                          <a:latin typeface="Times New Roman"/>
                          <a:cs typeface="Times New Roman"/>
                        </a:rPr>
                        <a:t>50.10</a:t>
                      </a:r>
                      <a:endParaRPr sz="1000">
                        <a:latin typeface="Times New Roman"/>
                        <a:cs typeface="Times New Roman"/>
                      </a:endParaRPr>
                    </a:p>
                  </a:txBody>
                  <a:tcPr marL="0" marR="0" marB="0" marT="825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grpSp>
        <p:nvGrpSpPr>
          <p:cNvPr id="11" name="object 11" descr=""/>
          <p:cNvGrpSpPr/>
          <p:nvPr/>
        </p:nvGrpSpPr>
        <p:grpSpPr>
          <a:xfrm>
            <a:off x="899998" y="5706945"/>
            <a:ext cx="5760085" cy="351790"/>
            <a:chOff x="899998" y="5706945"/>
            <a:chExt cx="5760085" cy="351790"/>
          </a:xfrm>
        </p:grpSpPr>
        <p:sp>
          <p:nvSpPr>
            <p:cNvPr id="12" name="object 12" descr=""/>
            <p:cNvSpPr/>
            <p:nvPr/>
          </p:nvSpPr>
          <p:spPr>
            <a:xfrm>
              <a:off x="899998" y="5706945"/>
              <a:ext cx="5760085" cy="351790"/>
            </a:xfrm>
            <a:custGeom>
              <a:avLst/>
              <a:gdLst/>
              <a:ahLst/>
              <a:cxnLst/>
              <a:rect l="l" t="t" r="r" b="b"/>
              <a:pathLst>
                <a:path w="5760084" h="351789">
                  <a:moveTo>
                    <a:pt x="5724074" y="0"/>
                  </a:moveTo>
                  <a:lnTo>
                    <a:pt x="36000" y="0"/>
                  </a:lnTo>
                  <a:lnTo>
                    <a:pt x="21987" y="2829"/>
                  </a:lnTo>
                  <a:lnTo>
                    <a:pt x="10544" y="10544"/>
                  </a:lnTo>
                  <a:lnTo>
                    <a:pt x="2829" y="21987"/>
                  </a:lnTo>
                  <a:lnTo>
                    <a:pt x="0" y="36000"/>
                  </a:lnTo>
                  <a:lnTo>
                    <a:pt x="0" y="315259"/>
                  </a:lnTo>
                  <a:lnTo>
                    <a:pt x="2829" y="329272"/>
                  </a:lnTo>
                  <a:lnTo>
                    <a:pt x="10544" y="340715"/>
                  </a:lnTo>
                  <a:lnTo>
                    <a:pt x="21987" y="348430"/>
                  </a:lnTo>
                  <a:lnTo>
                    <a:pt x="36000" y="351259"/>
                  </a:lnTo>
                  <a:lnTo>
                    <a:pt x="5724074" y="351259"/>
                  </a:lnTo>
                  <a:lnTo>
                    <a:pt x="5738087" y="348430"/>
                  </a:lnTo>
                  <a:lnTo>
                    <a:pt x="5749530" y="340715"/>
                  </a:lnTo>
                  <a:lnTo>
                    <a:pt x="5757245" y="329272"/>
                  </a:lnTo>
                  <a:lnTo>
                    <a:pt x="5760074" y="31525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5706945"/>
              <a:ext cx="5760085" cy="351790"/>
            </a:xfrm>
            <a:custGeom>
              <a:avLst/>
              <a:gdLst/>
              <a:ahLst/>
              <a:cxnLst/>
              <a:rect l="l" t="t" r="r" b="b"/>
              <a:pathLst>
                <a:path w="5760084" h="351789">
                  <a:moveTo>
                    <a:pt x="5724074" y="0"/>
                  </a:moveTo>
                  <a:lnTo>
                    <a:pt x="36000" y="0"/>
                  </a:lnTo>
                  <a:lnTo>
                    <a:pt x="21987" y="2829"/>
                  </a:lnTo>
                  <a:lnTo>
                    <a:pt x="10544" y="10544"/>
                  </a:lnTo>
                  <a:lnTo>
                    <a:pt x="2829" y="21987"/>
                  </a:lnTo>
                  <a:lnTo>
                    <a:pt x="0" y="36000"/>
                  </a:lnTo>
                  <a:lnTo>
                    <a:pt x="0" y="315259"/>
                  </a:lnTo>
                  <a:lnTo>
                    <a:pt x="2829" y="329272"/>
                  </a:lnTo>
                  <a:lnTo>
                    <a:pt x="10544" y="340715"/>
                  </a:lnTo>
                  <a:lnTo>
                    <a:pt x="21987" y="348430"/>
                  </a:lnTo>
                  <a:lnTo>
                    <a:pt x="36000" y="351259"/>
                  </a:lnTo>
                  <a:lnTo>
                    <a:pt x="5724074" y="351259"/>
                  </a:lnTo>
                  <a:lnTo>
                    <a:pt x="5738087" y="348430"/>
                  </a:lnTo>
                  <a:lnTo>
                    <a:pt x="5749530" y="340715"/>
                  </a:lnTo>
                  <a:lnTo>
                    <a:pt x="5757245" y="329272"/>
                  </a:lnTo>
                  <a:lnTo>
                    <a:pt x="5760074" y="31525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7439854"/>
            <a:ext cx="5760085" cy="931544"/>
            <a:chOff x="899998" y="7439854"/>
            <a:chExt cx="5760085" cy="931544"/>
          </a:xfrm>
        </p:grpSpPr>
        <p:sp>
          <p:nvSpPr>
            <p:cNvPr id="15" name="object 15" descr=""/>
            <p:cNvSpPr/>
            <p:nvPr/>
          </p:nvSpPr>
          <p:spPr>
            <a:xfrm>
              <a:off x="899998" y="7439854"/>
              <a:ext cx="5760085" cy="931544"/>
            </a:xfrm>
            <a:custGeom>
              <a:avLst/>
              <a:gdLst/>
              <a:ahLst/>
              <a:cxnLst/>
              <a:rect l="l" t="t" r="r" b="b"/>
              <a:pathLst>
                <a:path w="5760084" h="931545">
                  <a:moveTo>
                    <a:pt x="5724074" y="0"/>
                  </a:moveTo>
                  <a:lnTo>
                    <a:pt x="36000" y="0"/>
                  </a:lnTo>
                  <a:lnTo>
                    <a:pt x="21987" y="2829"/>
                  </a:lnTo>
                  <a:lnTo>
                    <a:pt x="10544" y="10544"/>
                  </a:lnTo>
                  <a:lnTo>
                    <a:pt x="2829" y="21987"/>
                  </a:lnTo>
                  <a:lnTo>
                    <a:pt x="0" y="36000"/>
                  </a:lnTo>
                  <a:lnTo>
                    <a:pt x="0" y="895007"/>
                  </a:lnTo>
                  <a:lnTo>
                    <a:pt x="2829" y="909020"/>
                  </a:lnTo>
                  <a:lnTo>
                    <a:pt x="10544" y="920463"/>
                  </a:lnTo>
                  <a:lnTo>
                    <a:pt x="21987" y="928179"/>
                  </a:lnTo>
                  <a:lnTo>
                    <a:pt x="36000" y="931008"/>
                  </a:lnTo>
                  <a:lnTo>
                    <a:pt x="5724074" y="931008"/>
                  </a:lnTo>
                  <a:lnTo>
                    <a:pt x="5738087" y="928179"/>
                  </a:lnTo>
                  <a:lnTo>
                    <a:pt x="5749530" y="920463"/>
                  </a:lnTo>
                  <a:lnTo>
                    <a:pt x="5757245" y="909020"/>
                  </a:lnTo>
                  <a:lnTo>
                    <a:pt x="5760074" y="89500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7439854"/>
              <a:ext cx="5760085" cy="931544"/>
            </a:xfrm>
            <a:custGeom>
              <a:avLst/>
              <a:gdLst/>
              <a:ahLst/>
              <a:cxnLst/>
              <a:rect l="l" t="t" r="r" b="b"/>
              <a:pathLst>
                <a:path w="5760084" h="931545">
                  <a:moveTo>
                    <a:pt x="5724074" y="0"/>
                  </a:moveTo>
                  <a:lnTo>
                    <a:pt x="36000" y="0"/>
                  </a:lnTo>
                  <a:lnTo>
                    <a:pt x="21987" y="2829"/>
                  </a:lnTo>
                  <a:lnTo>
                    <a:pt x="10544" y="10544"/>
                  </a:lnTo>
                  <a:lnTo>
                    <a:pt x="2829" y="21987"/>
                  </a:lnTo>
                  <a:lnTo>
                    <a:pt x="0" y="36000"/>
                  </a:lnTo>
                  <a:lnTo>
                    <a:pt x="0" y="895007"/>
                  </a:lnTo>
                  <a:lnTo>
                    <a:pt x="2829" y="909020"/>
                  </a:lnTo>
                  <a:lnTo>
                    <a:pt x="10544" y="920463"/>
                  </a:lnTo>
                  <a:lnTo>
                    <a:pt x="21987" y="928179"/>
                  </a:lnTo>
                  <a:lnTo>
                    <a:pt x="36000" y="931008"/>
                  </a:lnTo>
                  <a:lnTo>
                    <a:pt x="5724074" y="931008"/>
                  </a:lnTo>
                  <a:lnTo>
                    <a:pt x="5738087" y="928179"/>
                  </a:lnTo>
                  <a:lnTo>
                    <a:pt x="5749530" y="920463"/>
                  </a:lnTo>
                  <a:lnTo>
                    <a:pt x="5757245" y="909020"/>
                  </a:lnTo>
                  <a:lnTo>
                    <a:pt x="5760074" y="89500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7" name="object 17" descr=""/>
          <p:cNvSpPr txBox="1"/>
          <p:nvPr/>
        </p:nvSpPr>
        <p:spPr>
          <a:xfrm>
            <a:off x="887298" y="5166887"/>
            <a:ext cx="5785485" cy="4663440"/>
          </a:xfrm>
          <a:prstGeom prst="rect">
            <a:avLst/>
          </a:prstGeom>
        </p:spPr>
        <p:txBody>
          <a:bodyPr wrap="square" lIns="0" tIns="57785" rIns="0" bIns="0" rtlCol="0" vert="horz">
            <a:spAutoFit/>
          </a:bodyPr>
          <a:lstStyle/>
          <a:p>
            <a:pPr algn="just" marL="265430">
              <a:lnSpc>
                <a:spcPct val="100000"/>
              </a:lnSpc>
              <a:spcBef>
                <a:spcPts val="455"/>
              </a:spcBef>
            </a:pPr>
            <a:r>
              <a:rPr dirty="0" sz="1000">
                <a:latin typeface="Times New Roman"/>
                <a:cs typeface="Times New Roman"/>
              </a:rPr>
              <a:t>Table</a:t>
            </a:r>
            <a:r>
              <a:rPr dirty="0" sz="1000" spc="95">
                <a:latin typeface="Times New Roman"/>
                <a:cs typeface="Times New Roman"/>
              </a:rPr>
              <a:t> </a:t>
            </a:r>
            <a:r>
              <a:rPr dirty="0" sz="1000">
                <a:latin typeface="Times New Roman"/>
                <a:cs typeface="Times New Roman"/>
              </a:rPr>
              <a:t>5.</a:t>
            </a:r>
            <a:r>
              <a:rPr dirty="0" sz="1000" spc="229">
                <a:latin typeface="Times New Roman"/>
                <a:cs typeface="Times New Roman"/>
              </a:rPr>
              <a:t> </a:t>
            </a:r>
            <a:r>
              <a:rPr dirty="0" sz="1000">
                <a:latin typeface="Times New Roman"/>
                <a:cs typeface="Times New Roman"/>
              </a:rPr>
              <a:t>Model</a:t>
            </a:r>
            <a:r>
              <a:rPr dirty="0" sz="1000" spc="95">
                <a:latin typeface="Times New Roman"/>
                <a:cs typeface="Times New Roman"/>
              </a:rPr>
              <a:t> </a:t>
            </a:r>
            <a:r>
              <a:rPr dirty="0" sz="1000">
                <a:latin typeface="Times New Roman"/>
                <a:cs typeface="Times New Roman"/>
              </a:rPr>
              <a:t>performance</a:t>
            </a:r>
            <a:r>
              <a:rPr dirty="0" sz="1000" spc="100">
                <a:latin typeface="Times New Roman"/>
                <a:cs typeface="Times New Roman"/>
              </a:rPr>
              <a:t> </a:t>
            </a:r>
            <a:r>
              <a:rPr dirty="0" sz="1000">
                <a:latin typeface="Times New Roman"/>
                <a:cs typeface="Times New Roman"/>
              </a:rPr>
              <a:t>comparison</a:t>
            </a:r>
            <a:r>
              <a:rPr dirty="0" sz="1000" spc="95">
                <a:latin typeface="Times New Roman"/>
                <a:cs typeface="Times New Roman"/>
              </a:rPr>
              <a:t> </a:t>
            </a:r>
            <a:r>
              <a:rPr dirty="0" sz="1000">
                <a:latin typeface="Times New Roman"/>
                <a:cs typeface="Times New Roman"/>
              </a:rPr>
              <a:t>of</a:t>
            </a:r>
            <a:r>
              <a:rPr dirty="0" sz="1000" spc="100">
                <a:latin typeface="Times New Roman"/>
                <a:cs typeface="Times New Roman"/>
              </a:rPr>
              <a:t> </a:t>
            </a:r>
            <a:r>
              <a:rPr dirty="0" sz="1000" spc="-20">
                <a:latin typeface="Times New Roman"/>
                <a:cs typeface="Times New Roman"/>
              </a:rPr>
              <a:t>RGB-</a:t>
            </a:r>
            <a:r>
              <a:rPr dirty="0" sz="1000">
                <a:latin typeface="Times New Roman"/>
                <a:cs typeface="Times New Roman"/>
              </a:rPr>
              <a:t>Depth</a:t>
            </a:r>
            <a:r>
              <a:rPr dirty="0" sz="1000" spc="95">
                <a:latin typeface="Times New Roman"/>
                <a:cs typeface="Times New Roman"/>
              </a:rPr>
              <a:t> </a:t>
            </a:r>
            <a:r>
              <a:rPr dirty="0" sz="1000">
                <a:latin typeface="Times New Roman"/>
                <a:cs typeface="Times New Roman"/>
              </a:rPr>
              <a:t>semantic</a:t>
            </a:r>
            <a:r>
              <a:rPr dirty="0" sz="1000" spc="95">
                <a:latin typeface="Times New Roman"/>
                <a:cs typeface="Times New Roman"/>
              </a:rPr>
              <a:t> </a:t>
            </a:r>
            <a:r>
              <a:rPr dirty="0" sz="1000">
                <a:latin typeface="Times New Roman"/>
                <a:cs typeface="Times New Roman"/>
              </a:rPr>
              <a:t>segmentation</a:t>
            </a:r>
            <a:r>
              <a:rPr dirty="0" sz="1000" spc="100">
                <a:latin typeface="Times New Roman"/>
                <a:cs typeface="Times New Roman"/>
              </a:rPr>
              <a:t> </a:t>
            </a:r>
            <a:r>
              <a:rPr dirty="0" sz="1000">
                <a:latin typeface="Times New Roman"/>
                <a:cs typeface="Times New Roman"/>
              </a:rPr>
              <a:t>task</a:t>
            </a:r>
            <a:r>
              <a:rPr dirty="0" sz="1000" spc="95">
                <a:latin typeface="Times New Roman"/>
                <a:cs typeface="Times New Roman"/>
              </a:rPr>
              <a:t> </a:t>
            </a:r>
            <a:r>
              <a:rPr dirty="0" sz="1000">
                <a:latin typeface="Times New Roman"/>
                <a:cs typeface="Times New Roman"/>
              </a:rPr>
              <a:t>on</a:t>
            </a:r>
            <a:r>
              <a:rPr dirty="0" sz="1000" spc="100">
                <a:latin typeface="Times New Roman"/>
                <a:cs typeface="Times New Roman"/>
              </a:rPr>
              <a:t> </a:t>
            </a:r>
            <a:r>
              <a:rPr dirty="0" sz="1000" spc="-10">
                <a:latin typeface="Times New Roman"/>
                <a:cs typeface="Times New Roman"/>
              </a:rPr>
              <a:t>NYUv2</a:t>
            </a:r>
            <a:r>
              <a:rPr dirty="0" sz="1000" spc="95">
                <a:latin typeface="Times New Roman"/>
                <a:cs typeface="Times New Roman"/>
              </a:rPr>
              <a:t> </a:t>
            </a:r>
            <a:r>
              <a:rPr dirty="0" sz="1000" spc="-10">
                <a:latin typeface="Times New Roman"/>
                <a:cs typeface="Times New Roman"/>
              </a:rPr>
              <a:t>dataset.</a:t>
            </a:r>
            <a:endParaRPr sz="1000">
              <a:latin typeface="Times New Roman"/>
              <a:cs typeface="Times New Roman"/>
            </a:endParaRPr>
          </a:p>
          <a:p>
            <a:pPr algn="just" marL="12700">
              <a:lnSpc>
                <a:spcPct val="100000"/>
              </a:lnSpc>
              <a:spcBef>
                <a:spcPts val="355"/>
              </a:spcBef>
            </a:pPr>
            <a:r>
              <a:rPr dirty="0" sz="1000">
                <a:latin typeface="Times New Roman"/>
                <a:cs typeface="Times New Roman"/>
              </a:rPr>
              <a:t>The</a:t>
            </a:r>
            <a:r>
              <a:rPr dirty="0" sz="1000" spc="55">
                <a:latin typeface="Times New Roman"/>
                <a:cs typeface="Times New Roman"/>
              </a:rPr>
              <a:t> </a:t>
            </a:r>
            <a:r>
              <a:rPr dirty="0" sz="1000">
                <a:latin typeface="Times New Roman"/>
                <a:cs typeface="Times New Roman"/>
              </a:rPr>
              <a:t>metric</a:t>
            </a:r>
            <a:r>
              <a:rPr dirty="0" sz="1000" spc="55">
                <a:latin typeface="Times New Roman"/>
                <a:cs typeface="Times New Roman"/>
              </a:rPr>
              <a:t> </a:t>
            </a:r>
            <a:r>
              <a:rPr dirty="0" sz="1000">
                <a:latin typeface="Times New Roman"/>
                <a:cs typeface="Times New Roman"/>
              </a:rPr>
              <a:t>is</a:t>
            </a:r>
            <a:r>
              <a:rPr dirty="0" sz="1000" spc="55">
                <a:latin typeface="Times New Roman"/>
                <a:cs typeface="Times New Roman"/>
              </a:rPr>
              <a:t> </a:t>
            </a:r>
            <a:r>
              <a:rPr dirty="0" sz="1000" spc="-20">
                <a:latin typeface="Times New Roman"/>
                <a:cs typeface="Times New Roman"/>
              </a:rPr>
              <a:t>mIOU.</a:t>
            </a:r>
            <a:endParaRPr sz="1000">
              <a:latin typeface="Times New Roman"/>
              <a:cs typeface="Times New Roman"/>
            </a:endParaRPr>
          </a:p>
          <a:p>
            <a:pPr algn="just" marL="265430" marR="5080" indent="-73660">
              <a:lnSpc>
                <a:spcPct val="244600"/>
              </a:lnSpc>
            </a:pPr>
            <a:r>
              <a:rPr dirty="0" sz="1000" spc="-150">
                <a:latin typeface="SimSun"/>
                <a:cs typeface="SimSun"/>
              </a:rPr>
              <a:t>表 </a:t>
            </a:r>
            <a:r>
              <a:rPr dirty="0" sz="1000" spc="-10">
                <a:latin typeface="Times New Roman"/>
                <a:cs typeface="Times New Roman"/>
              </a:rPr>
              <a:t>5.</a:t>
            </a:r>
            <a:r>
              <a:rPr dirty="0" sz="1000" spc="50">
                <a:latin typeface="Times New Roman"/>
                <a:cs typeface="Times New Roman"/>
              </a:rPr>
              <a:t> </a:t>
            </a:r>
            <a:r>
              <a:rPr dirty="0" sz="1000" spc="-20">
                <a:latin typeface="Times New Roman"/>
                <a:cs typeface="Times New Roman"/>
              </a:rPr>
              <a:t>NYUv2</a:t>
            </a:r>
            <a:r>
              <a:rPr dirty="0" sz="1000" spc="-40">
                <a:latin typeface="Times New Roman"/>
                <a:cs typeface="Times New Roman"/>
              </a:rPr>
              <a:t> </a:t>
            </a:r>
            <a:r>
              <a:rPr dirty="0" sz="1000" spc="40">
                <a:latin typeface="SimSun"/>
                <a:cs typeface="SimSun"/>
              </a:rPr>
              <a:t>数据集上</a:t>
            </a:r>
            <a:r>
              <a:rPr dirty="0" sz="1000" spc="-20">
                <a:latin typeface="Times New Roman"/>
                <a:cs typeface="Times New Roman"/>
              </a:rPr>
              <a:t>RGB-</a:t>
            </a:r>
            <a:r>
              <a:rPr dirty="0" sz="1000" spc="25">
                <a:latin typeface="Times New Roman"/>
                <a:cs typeface="Times New Roman"/>
              </a:rPr>
              <a:t>Depth</a:t>
            </a:r>
            <a:r>
              <a:rPr dirty="0" sz="1000" spc="-40">
                <a:latin typeface="Times New Roman"/>
                <a:cs typeface="Times New Roman"/>
              </a:rPr>
              <a:t> </a:t>
            </a:r>
            <a:r>
              <a:rPr dirty="0" sz="1000" spc="-40">
                <a:latin typeface="SimSun"/>
                <a:cs typeface="SimSun"/>
              </a:rPr>
              <a:t>语义分割任务的模型性能比较。评估指标是平均交并比 </a:t>
            </a:r>
            <a:r>
              <a:rPr dirty="0" sz="1000" spc="20">
                <a:latin typeface="Times New Roman"/>
                <a:cs typeface="Times New Roman"/>
              </a:rPr>
              <a:t>(mIOU)</a:t>
            </a:r>
            <a:r>
              <a:rPr dirty="0" sz="1000" spc="-10">
                <a:latin typeface="SimSun"/>
                <a:cs typeface="SimSun"/>
              </a:rPr>
              <a:t>。</a:t>
            </a:r>
            <a:r>
              <a:rPr dirty="0" sz="1000" spc="-5">
                <a:latin typeface="SimSun"/>
                <a:cs typeface="SimSun"/>
              </a:rPr>
              <a:t> </a:t>
            </a:r>
            <a:r>
              <a:rPr dirty="0" sz="1000">
                <a:latin typeface="Times New Roman"/>
                <a:cs typeface="Times New Roman"/>
              </a:rPr>
              <a:t>Since</a:t>
            </a:r>
            <a:r>
              <a:rPr dirty="0" sz="1000" spc="-35">
                <a:latin typeface="Times New Roman"/>
                <a:cs typeface="Times New Roman"/>
              </a:rPr>
              <a:t> </a:t>
            </a:r>
            <a:r>
              <a:rPr dirty="0" sz="1000" spc="-15">
                <a:latin typeface="Times New Roman"/>
                <a:cs typeface="Times New Roman"/>
              </a:rPr>
              <a:t>MLA</a:t>
            </a:r>
            <a:r>
              <a:rPr dirty="0" sz="1000" spc="-35">
                <a:latin typeface="Times New Roman"/>
                <a:cs typeface="Times New Roman"/>
              </a:rPr>
              <a:t> </a:t>
            </a:r>
            <a:r>
              <a:rPr dirty="0" sz="1000">
                <a:latin typeface="Times New Roman"/>
                <a:cs typeface="Times New Roman"/>
              </a:rPr>
              <a:t>[39]</a:t>
            </a:r>
            <a:r>
              <a:rPr dirty="0" sz="1000" spc="-35">
                <a:latin typeface="Times New Roman"/>
                <a:cs typeface="Times New Roman"/>
              </a:rPr>
              <a:t> </a:t>
            </a:r>
            <a:r>
              <a:rPr dirty="0" sz="1000" spc="15">
                <a:latin typeface="Times New Roman"/>
                <a:cs typeface="Times New Roman"/>
              </a:rPr>
              <a:t>only</a:t>
            </a:r>
            <a:r>
              <a:rPr dirty="0" sz="1000" spc="-35">
                <a:latin typeface="Times New Roman"/>
                <a:cs typeface="Times New Roman"/>
              </a:rPr>
              <a:t> </a:t>
            </a:r>
            <a:r>
              <a:rPr dirty="0" sz="1000" spc="15">
                <a:latin typeface="Times New Roman"/>
                <a:cs typeface="Times New Roman"/>
              </a:rPr>
              <a:t>works</a:t>
            </a:r>
            <a:r>
              <a:rPr dirty="0" sz="1000" spc="-35">
                <a:latin typeface="Times New Roman"/>
                <a:cs typeface="Times New Roman"/>
              </a:rPr>
              <a:t> </a:t>
            </a:r>
            <a:r>
              <a:rPr dirty="0" sz="1000" spc="35">
                <a:latin typeface="Times New Roman"/>
                <a:cs typeface="Times New Roman"/>
              </a:rPr>
              <a:t>with</a:t>
            </a:r>
            <a:r>
              <a:rPr dirty="0" sz="1000" spc="-35">
                <a:latin typeface="Times New Roman"/>
                <a:cs typeface="Times New Roman"/>
              </a:rPr>
              <a:t> </a:t>
            </a:r>
            <a:r>
              <a:rPr dirty="0" sz="1000" spc="20">
                <a:latin typeface="Times New Roman"/>
                <a:cs typeface="Times New Roman"/>
              </a:rPr>
              <a:t>parameter-</a:t>
            </a:r>
            <a:r>
              <a:rPr dirty="0" sz="1000" spc="25">
                <a:latin typeface="Times New Roman"/>
                <a:cs typeface="Times New Roman"/>
              </a:rPr>
              <a:t>shared</a:t>
            </a:r>
            <a:r>
              <a:rPr dirty="0" sz="1000" spc="-35">
                <a:latin typeface="Times New Roman"/>
                <a:cs typeface="Times New Roman"/>
              </a:rPr>
              <a:t> </a:t>
            </a:r>
            <a:r>
              <a:rPr dirty="0" sz="1000" spc="15">
                <a:latin typeface="Times New Roman"/>
                <a:cs typeface="Times New Roman"/>
              </a:rPr>
              <a:t>fusion,</a:t>
            </a:r>
            <a:r>
              <a:rPr dirty="0" sz="1000" spc="-30">
                <a:latin typeface="Times New Roman"/>
                <a:cs typeface="Times New Roman"/>
              </a:rPr>
              <a:t> </a:t>
            </a:r>
            <a:r>
              <a:rPr dirty="0" sz="1000" spc="20">
                <a:latin typeface="Times New Roman"/>
                <a:cs typeface="Times New Roman"/>
              </a:rPr>
              <a:t>it</a:t>
            </a:r>
            <a:r>
              <a:rPr dirty="0" sz="1000" spc="-35">
                <a:latin typeface="Times New Roman"/>
                <a:cs typeface="Times New Roman"/>
              </a:rPr>
              <a:t> </a:t>
            </a:r>
            <a:r>
              <a:rPr dirty="0" sz="1000" spc="5">
                <a:latin typeface="Times New Roman"/>
                <a:cs typeface="Times New Roman"/>
              </a:rPr>
              <a:t>is</a:t>
            </a:r>
            <a:r>
              <a:rPr dirty="0" sz="1000" spc="-35">
                <a:latin typeface="Times New Roman"/>
                <a:cs typeface="Times New Roman"/>
              </a:rPr>
              <a:t> </a:t>
            </a:r>
            <a:r>
              <a:rPr dirty="0" sz="1000" spc="10">
                <a:latin typeface="Times New Roman"/>
                <a:cs typeface="Times New Roman"/>
              </a:rPr>
              <a:t>excluded</a:t>
            </a:r>
            <a:r>
              <a:rPr dirty="0" sz="1000" spc="-35">
                <a:latin typeface="Times New Roman"/>
                <a:cs typeface="Times New Roman"/>
              </a:rPr>
              <a:t> </a:t>
            </a:r>
            <a:r>
              <a:rPr dirty="0" sz="1000" spc="15">
                <a:latin typeface="Times New Roman"/>
                <a:cs typeface="Times New Roman"/>
              </a:rPr>
              <a:t>from</a:t>
            </a:r>
            <a:r>
              <a:rPr dirty="0" sz="1000" spc="-35">
                <a:latin typeface="Times New Roman"/>
                <a:cs typeface="Times New Roman"/>
              </a:rPr>
              <a:t> </a:t>
            </a:r>
            <a:r>
              <a:rPr dirty="0" sz="1000" spc="25">
                <a:latin typeface="Times New Roman"/>
                <a:cs typeface="Times New Roman"/>
              </a:rPr>
              <a:t>this</a:t>
            </a:r>
            <a:r>
              <a:rPr dirty="0" sz="1000" spc="-35">
                <a:latin typeface="Times New Roman"/>
                <a:cs typeface="Times New Roman"/>
              </a:rPr>
              <a:t> </a:t>
            </a:r>
            <a:r>
              <a:rPr dirty="0" sz="1000" spc="20">
                <a:latin typeface="Times New Roman"/>
                <a:cs typeface="Times New Roman"/>
              </a:rPr>
              <a:t>experiment.</a:t>
            </a:r>
            <a:r>
              <a:rPr dirty="0" sz="1000" spc="50">
                <a:latin typeface="Times New Roman"/>
                <a:cs typeface="Times New Roman"/>
              </a:rPr>
              <a:t> </a:t>
            </a:r>
            <a:r>
              <a:rPr dirty="0" sz="1000" spc="10">
                <a:latin typeface="Times New Roman"/>
                <a:cs typeface="Times New Roman"/>
              </a:rPr>
              <a:t>For</a:t>
            </a:r>
            <a:r>
              <a:rPr dirty="0" sz="1000" spc="-35">
                <a:latin typeface="Times New Roman"/>
                <a:cs typeface="Times New Roman"/>
              </a:rPr>
              <a:t> </a:t>
            </a:r>
            <a:r>
              <a:rPr dirty="0" sz="1000" spc="25">
                <a:latin typeface="Times New Roman"/>
                <a:cs typeface="Times New Roman"/>
              </a:rPr>
              <a:t>a</a:t>
            </a:r>
            <a:r>
              <a:rPr dirty="0" sz="1000" spc="-35">
                <a:latin typeface="Times New Roman"/>
                <a:cs typeface="Times New Roman"/>
              </a:rPr>
              <a:t> </a:t>
            </a:r>
            <a:r>
              <a:rPr dirty="0" sz="1000" spc="10">
                <a:latin typeface="Times New Roman"/>
                <a:cs typeface="Times New Roman"/>
              </a:rPr>
              <a:t>fair</a:t>
            </a:r>
            <a:endParaRPr sz="1000">
              <a:latin typeface="Times New Roman"/>
              <a:cs typeface="Times New Roman"/>
            </a:endParaRPr>
          </a:p>
          <a:p>
            <a:pPr algn="just" marL="12700" marR="5080">
              <a:lnSpc>
                <a:spcPct val="129500"/>
              </a:lnSpc>
            </a:pPr>
            <a:r>
              <a:rPr dirty="0" sz="1000">
                <a:latin typeface="Times New Roman"/>
                <a:cs typeface="Times New Roman"/>
              </a:rPr>
              <a:t>comparison,</a:t>
            </a:r>
            <a:r>
              <a:rPr dirty="0" sz="1000" spc="75">
                <a:latin typeface="Times New Roman"/>
                <a:cs typeface="Times New Roman"/>
              </a:rPr>
              <a:t> </a:t>
            </a:r>
            <a:r>
              <a:rPr dirty="0" sz="1000">
                <a:latin typeface="Times New Roman"/>
                <a:cs typeface="Times New Roman"/>
              </a:rPr>
              <a:t>we</a:t>
            </a:r>
            <a:r>
              <a:rPr dirty="0" sz="1000" spc="70">
                <a:latin typeface="Times New Roman"/>
                <a:cs typeface="Times New Roman"/>
              </a:rPr>
              <a:t> </a:t>
            </a:r>
            <a:r>
              <a:rPr dirty="0" sz="1000">
                <a:latin typeface="Times New Roman"/>
                <a:cs typeface="Times New Roman"/>
              </a:rPr>
              <a:t>set</a:t>
            </a:r>
            <a:r>
              <a:rPr dirty="0" sz="1000" spc="65">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modality</a:t>
            </a:r>
            <a:r>
              <a:rPr dirty="0" sz="1000" spc="70">
                <a:latin typeface="Times New Roman"/>
                <a:cs typeface="Times New Roman"/>
              </a:rPr>
              <a:t> </a:t>
            </a:r>
            <a:r>
              <a:rPr dirty="0" sz="1000">
                <a:latin typeface="Times New Roman"/>
                <a:cs typeface="Times New Roman"/>
              </a:rPr>
              <a:t>representation</a:t>
            </a:r>
            <a:r>
              <a:rPr dirty="0" sz="1000" spc="70">
                <a:latin typeface="Times New Roman"/>
                <a:cs typeface="Times New Roman"/>
              </a:rPr>
              <a:t> </a:t>
            </a:r>
            <a:r>
              <a:rPr dirty="0" sz="1000">
                <a:latin typeface="Times New Roman"/>
                <a:cs typeface="Times New Roman"/>
              </a:rPr>
              <a:t>to</a:t>
            </a:r>
            <a:r>
              <a:rPr dirty="0" sz="1000" spc="65">
                <a:latin typeface="Times New Roman"/>
                <a:cs typeface="Times New Roman"/>
              </a:rPr>
              <a:t> </a:t>
            </a:r>
            <a:r>
              <a:rPr dirty="0" sz="1000">
                <a:latin typeface="Times New Roman"/>
                <a:cs typeface="Times New Roman"/>
              </a:rPr>
              <a:t>0</a:t>
            </a:r>
            <a:r>
              <a:rPr dirty="0" sz="1000" spc="70">
                <a:latin typeface="Times New Roman"/>
                <a:cs typeface="Times New Roman"/>
              </a:rPr>
              <a:t> </a:t>
            </a:r>
            <a:r>
              <a:rPr dirty="0" sz="1000">
                <a:latin typeface="Times New Roman"/>
                <a:cs typeface="Times New Roman"/>
              </a:rPr>
              <a:t>to</a:t>
            </a:r>
            <a:r>
              <a:rPr dirty="0" sz="1000" spc="70">
                <a:latin typeface="Times New Roman"/>
                <a:cs typeface="Times New Roman"/>
              </a:rPr>
              <a:t> </a:t>
            </a:r>
            <a:r>
              <a:rPr dirty="0" sz="1000">
                <a:latin typeface="Times New Roman"/>
                <a:cs typeface="Times New Roman"/>
              </a:rPr>
              <a:t>obtain</a:t>
            </a:r>
            <a:r>
              <a:rPr dirty="0" sz="1000" spc="70">
                <a:latin typeface="Times New Roman"/>
                <a:cs typeface="Times New Roman"/>
              </a:rPr>
              <a:t> </a:t>
            </a:r>
            <a:r>
              <a:rPr dirty="0" sz="1000">
                <a:latin typeface="Times New Roman"/>
                <a:cs typeface="Times New Roman"/>
              </a:rPr>
              <a:t>unimodal</a:t>
            </a:r>
            <a:r>
              <a:rPr dirty="0" sz="1000" spc="65">
                <a:latin typeface="Times New Roman"/>
                <a:cs typeface="Times New Roman"/>
              </a:rPr>
              <a:t> </a:t>
            </a:r>
            <a:r>
              <a:rPr dirty="0" sz="1000">
                <a:latin typeface="Times New Roman"/>
                <a:cs typeface="Times New Roman"/>
              </a:rPr>
              <a:t>logits</a:t>
            </a:r>
            <a:r>
              <a:rPr dirty="0" sz="1000" spc="70">
                <a:latin typeface="Times New Roman"/>
                <a:cs typeface="Times New Roman"/>
              </a:rPr>
              <a:t> </a:t>
            </a:r>
            <a:r>
              <a:rPr dirty="0" sz="1000">
                <a:latin typeface="Times New Roman"/>
                <a:cs typeface="Times New Roman"/>
              </a:rPr>
              <a:t>for</a:t>
            </a:r>
            <a:r>
              <a:rPr dirty="0" sz="1000" spc="70">
                <a:latin typeface="Times New Roman"/>
                <a:cs typeface="Times New Roman"/>
              </a:rPr>
              <a:t> </a:t>
            </a:r>
            <a:r>
              <a:rPr dirty="0" sz="1000">
                <a:latin typeface="Times New Roman"/>
                <a:cs typeface="Times New Roman"/>
              </a:rPr>
              <a:t>G-Blending,</a:t>
            </a:r>
            <a:r>
              <a:rPr dirty="0" sz="1000" spc="75">
                <a:latin typeface="Times New Roman"/>
                <a:cs typeface="Times New Roman"/>
              </a:rPr>
              <a:t> </a:t>
            </a:r>
            <a:r>
              <a:rPr dirty="0" sz="1000">
                <a:latin typeface="Times New Roman"/>
                <a:cs typeface="Times New Roman"/>
              </a:rPr>
              <a:t>OGM_GE,</a:t>
            </a:r>
            <a:r>
              <a:rPr dirty="0" sz="1000" spc="70">
                <a:latin typeface="Times New Roman"/>
                <a:cs typeface="Times New Roman"/>
              </a:rPr>
              <a:t> </a:t>
            </a:r>
            <a:r>
              <a:rPr dirty="0" sz="1000" spc="-25">
                <a:latin typeface="Times New Roman"/>
                <a:cs typeface="Times New Roman"/>
              </a:rPr>
              <a:t>and </a:t>
            </a:r>
            <a:r>
              <a:rPr dirty="0" sz="1000" spc="10">
                <a:latin typeface="Times New Roman"/>
                <a:cs typeface="Times New Roman"/>
              </a:rPr>
              <a:t>MMPareto.</a:t>
            </a:r>
            <a:r>
              <a:rPr dirty="0" sz="1000" spc="385">
                <a:latin typeface="Times New Roman"/>
                <a:cs typeface="Times New Roman"/>
              </a:rPr>
              <a:t> </a:t>
            </a:r>
            <a:r>
              <a:rPr dirty="0" sz="1000" spc="10">
                <a:latin typeface="Times New Roman"/>
                <a:cs typeface="Times New Roman"/>
              </a:rPr>
              <a:t>As</a:t>
            </a:r>
            <a:r>
              <a:rPr dirty="0" sz="1000" spc="114">
                <a:latin typeface="Times New Roman"/>
                <a:cs typeface="Times New Roman"/>
              </a:rPr>
              <a:t> </a:t>
            </a:r>
            <a:r>
              <a:rPr dirty="0" sz="1000" spc="10">
                <a:latin typeface="Times New Roman"/>
                <a:cs typeface="Times New Roman"/>
              </a:rPr>
              <a:t>shown</a:t>
            </a:r>
            <a:r>
              <a:rPr dirty="0" sz="1000" spc="114">
                <a:latin typeface="Times New Roman"/>
                <a:cs typeface="Times New Roman"/>
              </a:rPr>
              <a:t> </a:t>
            </a:r>
            <a:r>
              <a:rPr dirty="0" sz="1000" spc="10">
                <a:latin typeface="Times New Roman"/>
                <a:cs typeface="Times New Roman"/>
              </a:rPr>
              <a:t>in</a:t>
            </a:r>
            <a:r>
              <a:rPr dirty="0" sz="1000" spc="114">
                <a:latin typeface="Times New Roman"/>
                <a:cs typeface="Times New Roman"/>
              </a:rPr>
              <a:t> </a:t>
            </a:r>
            <a:r>
              <a:rPr dirty="0" sz="1000" spc="10">
                <a:latin typeface="Times New Roman"/>
                <a:cs typeface="Times New Roman"/>
              </a:rPr>
              <a:t>Table</a:t>
            </a:r>
            <a:r>
              <a:rPr dirty="0" sz="1000" spc="114">
                <a:latin typeface="Times New Roman"/>
                <a:cs typeface="Times New Roman"/>
              </a:rPr>
              <a:t> </a:t>
            </a:r>
            <a:r>
              <a:rPr dirty="0" sz="1000" spc="10">
                <a:latin typeface="Times New Roman"/>
                <a:cs typeface="Times New Roman"/>
              </a:rPr>
              <a:t>2,</a:t>
            </a:r>
            <a:r>
              <a:rPr dirty="0" sz="1000" spc="130">
                <a:latin typeface="Times New Roman"/>
                <a:cs typeface="Times New Roman"/>
              </a:rPr>
              <a:t> </a:t>
            </a:r>
            <a:r>
              <a:rPr dirty="0" sz="1000" spc="10">
                <a:latin typeface="Times New Roman"/>
                <a:cs typeface="Times New Roman"/>
              </a:rPr>
              <a:t>DGL</a:t>
            </a:r>
            <a:r>
              <a:rPr dirty="0" sz="1000" spc="114">
                <a:latin typeface="Times New Roman"/>
                <a:cs typeface="Times New Roman"/>
              </a:rPr>
              <a:t> </a:t>
            </a:r>
            <a:r>
              <a:rPr dirty="0" sz="1000" spc="10">
                <a:latin typeface="Times New Roman"/>
                <a:cs typeface="Times New Roman"/>
              </a:rPr>
              <a:t>consistently</a:t>
            </a:r>
            <a:r>
              <a:rPr dirty="0" sz="1000" spc="114">
                <a:latin typeface="Times New Roman"/>
                <a:cs typeface="Times New Roman"/>
              </a:rPr>
              <a:t> </a:t>
            </a:r>
            <a:r>
              <a:rPr dirty="0" sz="1000" spc="10">
                <a:latin typeface="Times New Roman"/>
                <a:cs typeface="Times New Roman"/>
              </a:rPr>
              <a:t>surpasses</a:t>
            </a:r>
            <a:r>
              <a:rPr dirty="0" sz="1000" spc="114">
                <a:latin typeface="Times New Roman"/>
                <a:cs typeface="Times New Roman"/>
              </a:rPr>
              <a:t> </a:t>
            </a:r>
            <a:r>
              <a:rPr dirty="0" sz="1000" spc="10">
                <a:latin typeface="Times New Roman"/>
                <a:cs typeface="Times New Roman"/>
              </a:rPr>
              <a:t>the</a:t>
            </a:r>
            <a:r>
              <a:rPr dirty="0" sz="1000" spc="114">
                <a:latin typeface="Times New Roman"/>
                <a:cs typeface="Times New Roman"/>
              </a:rPr>
              <a:t> </a:t>
            </a:r>
            <a:r>
              <a:rPr dirty="0" sz="1000" spc="10">
                <a:latin typeface="Times New Roman"/>
                <a:cs typeface="Times New Roman"/>
              </a:rPr>
              <a:t>multimodal</a:t>
            </a:r>
            <a:r>
              <a:rPr dirty="0" sz="1000" spc="114">
                <a:latin typeface="Times New Roman"/>
                <a:cs typeface="Times New Roman"/>
              </a:rPr>
              <a:t> </a:t>
            </a:r>
            <a:r>
              <a:rPr dirty="0" sz="1000" spc="10">
                <a:latin typeface="Times New Roman"/>
                <a:cs typeface="Times New Roman"/>
              </a:rPr>
              <a:t>baseline</a:t>
            </a:r>
            <a:r>
              <a:rPr dirty="0" sz="1000" spc="114">
                <a:latin typeface="Times New Roman"/>
                <a:cs typeface="Times New Roman"/>
              </a:rPr>
              <a:t> </a:t>
            </a:r>
            <a:r>
              <a:rPr dirty="0" sz="1000" spc="10">
                <a:latin typeface="Times New Roman"/>
                <a:cs typeface="Times New Roman"/>
              </a:rPr>
              <a:t>and</a:t>
            </a:r>
            <a:r>
              <a:rPr dirty="0" sz="1000" spc="114">
                <a:latin typeface="Times New Roman"/>
                <a:cs typeface="Times New Roman"/>
              </a:rPr>
              <a:t> </a:t>
            </a:r>
            <a:r>
              <a:rPr dirty="0" sz="1000" spc="10">
                <a:latin typeface="Times New Roman"/>
                <a:cs typeface="Times New Roman"/>
              </a:rPr>
              <a:t>other</a:t>
            </a:r>
            <a:r>
              <a:rPr dirty="0" sz="1000" spc="114">
                <a:latin typeface="Times New Roman"/>
                <a:cs typeface="Times New Roman"/>
              </a:rPr>
              <a:t> </a:t>
            </a:r>
            <a:r>
              <a:rPr dirty="0" sz="1000" spc="-10">
                <a:latin typeface="Times New Roman"/>
                <a:cs typeface="Times New Roman"/>
              </a:rPr>
              <a:t>methods </a:t>
            </a:r>
            <a:r>
              <a:rPr dirty="0" sz="1000" spc="10">
                <a:latin typeface="Times New Roman"/>
                <a:cs typeface="Times New Roman"/>
              </a:rPr>
              <a:t>in</a:t>
            </a:r>
            <a:r>
              <a:rPr dirty="0" sz="1000" spc="120">
                <a:latin typeface="Times New Roman"/>
                <a:cs typeface="Times New Roman"/>
              </a:rPr>
              <a:t> </a:t>
            </a:r>
            <a:r>
              <a:rPr dirty="0" sz="1000" spc="10">
                <a:latin typeface="Times New Roman"/>
                <a:cs typeface="Times New Roman"/>
              </a:rPr>
              <a:t>both</a:t>
            </a:r>
            <a:r>
              <a:rPr dirty="0" sz="1000" spc="125">
                <a:latin typeface="Times New Roman"/>
                <a:cs typeface="Times New Roman"/>
              </a:rPr>
              <a:t> </a:t>
            </a:r>
            <a:r>
              <a:rPr dirty="0" sz="1000" spc="10">
                <a:latin typeface="Times New Roman"/>
                <a:cs typeface="Times New Roman"/>
              </a:rPr>
              <a:t>multimodal</a:t>
            </a:r>
            <a:r>
              <a:rPr dirty="0" sz="1000" spc="120">
                <a:latin typeface="Times New Roman"/>
                <a:cs typeface="Times New Roman"/>
              </a:rPr>
              <a:t> </a:t>
            </a:r>
            <a:r>
              <a:rPr dirty="0" sz="1000" spc="10">
                <a:latin typeface="Times New Roman"/>
                <a:cs typeface="Times New Roman"/>
              </a:rPr>
              <a:t>and</a:t>
            </a:r>
            <a:r>
              <a:rPr dirty="0" sz="1000" spc="125">
                <a:latin typeface="Times New Roman"/>
                <a:cs typeface="Times New Roman"/>
              </a:rPr>
              <a:t> </a:t>
            </a:r>
            <a:r>
              <a:rPr dirty="0" sz="1000" spc="10">
                <a:latin typeface="Times New Roman"/>
                <a:cs typeface="Times New Roman"/>
              </a:rPr>
              <a:t>unimodal</a:t>
            </a:r>
            <a:r>
              <a:rPr dirty="0" sz="1000" spc="120">
                <a:latin typeface="Times New Roman"/>
                <a:cs typeface="Times New Roman"/>
              </a:rPr>
              <a:t> </a:t>
            </a:r>
            <a:r>
              <a:rPr dirty="0" sz="1000" spc="10">
                <a:latin typeface="Times New Roman"/>
                <a:cs typeface="Times New Roman"/>
              </a:rPr>
              <a:t>performance.</a:t>
            </a:r>
            <a:r>
              <a:rPr dirty="0" sz="1000" spc="355">
                <a:latin typeface="Times New Roman"/>
                <a:cs typeface="Times New Roman"/>
              </a:rPr>
              <a:t> </a:t>
            </a:r>
            <a:r>
              <a:rPr dirty="0" sz="1000" spc="10">
                <a:latin typeface="Times New Roman"/>
                <a:cs typeface="Times New Roman"/>
              </a:rPr>
              <a:t>Additionally,</a:t>
            </a:r>
            <a:r>
              <a:rPr dirty="0" sz="1000" spc="135">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unimodal</a:t>
            </a:r>
            <a:r>
              <a:rPr dirty="0" sz="1000" spc="120">
                <a:latin typeface="Times New Roman"/>
                <a:cs typeface="Times New Roman"/>
              </a:rPr>
              <a:t> </a:t>
            </a:r>
            <a:r>
              <a:rPr dirty="0" sz="1000" spc="10">
                <a:latin typeface="Times New Roman"/>
                <a:cs typeface="Times New Roman"/>
              </a:rPr>
              <a:t>performance</a:t>
            </a:r>
            <a:r>
              <a:rPr dirty="0" sz="1000" spc="125">
                <a:latin typeface="Times New Roman"/>
                <a:cs typeface="Times New Roman"/>
              </a:rPr>
              <a:t> </a:t>
            </a:r>
            <a:r>
              <a:rPr dirty="0" sz="1000" spc="10">
                <a:latin typeface="Times New Roman"/>
                <a:cs typeface="Times New Roman"/>
              </a:rPr>
              <a:t>of</a:t>
            </a:r>
            <a:r>
              <a:rPr dirty="0" sz="1000" spc="120">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DGL</a:t>
            </a:r>
            <a:r>
              <a:rPr dirty="0" sz="1000" spc="125">
                <a:latin typeface="Times New Roman"/>
                <a:cs typeface="Times New Roman"/>
              </a:rPr>
              <a:t> </a:t>
            </a:r>
            <a:r>
              <a:rPr dirty="0" sz="1000" spc="-20">
                <a:latin typeface="Times New Roman"/>
                <a:cs typeface="Times New Roman"/>
              </a:rPr>
              <a:t>mul- </a:t>
            </a:r>
            <a:r>
              <a:rPr dirty="0" sz="1000" spc="10">
                <a:latin typeface="Times New Roman"/>
                <a:cs typeface="Times New Roman"/>
              </a:rPr>
              <a:t>timodal</a:t>
            </a:r>
            <a:r>
              <a:rPr dirty="0" sz="1000" spc="90">
                <a:latin typeface="Times New Roman"/>
                <a:cs typeface="Times New Roman"/>
              </a:rPr>
              <a:t> </a:t>
            </a:r>
            <a:r>
              <a:rPr dirty="0" sz="1000" spc="10">
                <a:latin typeface="Times New Roman"/>
                <a:cs typeface="Times New Roman"/>
              </a:rPr>
              <a:t>model</a:t>
            </a:r>
            <a:r>
              <a:rPr dirty="0" sz="1000" spc="90">
                <a:latin typeface="Times New Roman"/>
                <a:cs typeface="Times New Roman"/>
              </a:rPr>
              <a:t> </a:t>
            </a:r>
            <a:r>
              <a:rPr dirty="0" sz="1000" spc="10">
                <a:latin typeface="Times New Roman"/>
                <a:cs typeface="Times New Roman"/>
              </a:rPr>
              <a:t>also</a:t>
            </a:r>
            <a:r>
              <a:rPr dirty="0" sz="1000" spc="90">
                <a:latin typeface="Times New Roman"/>
                <a:cs typeface="Times New Roman"/>
              </a:rPr>
              <a:t> </a:t>
            </a:r>
            <a:r>
              <a:rPr dirty="0" sz="1000" spc="10">
                <a:latin typeface="Times New Roman"/>
                <a:cs typeface="Times New Roman"/>
              </a:rPr>
              <a:t>exceeds</a:t>
            </a:r>
            <a:r>
              <a:rPr dirty="0" sz="1000" spc="90">
                <a:latin typeface="Times New Roman"/>
                <a:cs typeface="Times New Roman"/>
              </a:rPr>
              <a:t> </a:t>
            </a:r>
            <a:r>
              <a:rPr dirty="0" sz="1000" spc="10">
                <a:latin typeface="Times New Roman"/>
                <a:cs typeface="Times New Roman"/>
              </a:rPr>
              <a:t>that</a:t>
            </a:r>
            <a:r>
              <a:rPr dirty="0" sz="1000" spc="90">
                <a:latin typeface="Times New Roman"/>
                <a:cs typeface="Times New Roman"/>
              </a:rPr>
              <a:t> </a:t>
            </a:r>
            <a:r>
              <a:rPr dirty="0" sz="1000" spc="10">
                <a:latin typeface="Times New Roman"/>
                <a:cs typeface="Times New Roman"/>
              </a:rPr>
              <a:t>of</a:t>
            </a:r>
            <a:r>
              <a:rPr dirty="0" sz="1000" spc="95">
                <a:latin typeface="Times New Roman"/>
                <a:cs typeface="Times New Roman"/>
              </a:rPr>
              <a:t> </a:t>
            </a:r>
            <a:r>
              <a:rPr dirty="0" sz="1000" spc="10">
                <a:latin typeface="Times New Roman"/>
                <a:cs typeface="Times New Roman"/>
              </a:rPr>
              <a:t>the</a:t>
            </a:r>
            <a:r>
              <a:rPr dirty="0" sz="1000" spc="90">
                <a:latin typeface="Times New Roman"/>
                <a:cs typeface="Times New Roman"/>
              </a:rPr>
              <a:t> </a:t>
            </a:r>
            <a:r>
              <a:rPr dirty="0" sz="1000" spc="10">
                <a:latin typeface="Times New Roman"/>
                <a:cs typeface="Times New Roman"/>
              </a:rPr>
              <a:t>unimodal</a:t>
            </a:r>
            <a:r>
              <a:rPr dirty="0" sz="1000" spc="90">
                <a:latin typeface="Times New Roman"/>
                <a:cs typeface="Times New Roman"/>
              </a:rPr>
              <a:t> </a:t>
            </a:r>
            <a:r>
              <a:rPr dirty="0" sz="1000" spc="10">
                <a:latin typeface="Times New Roman"/>
                <a:cs typeface="Times New Roman"/>
              </a:rPr>
              <a:t>model.</a:t>
            </a:r>
            <a:r>
              <a:rPr dirty="0" sz="1000" spc="320">
                <a:latin typeface="Times New Roman"/>
                <a:cs typeface="Times New Roman"/>
              </a:rPr>
              <a:t> </a:t>
            </a:r>
            <a:r>
              <a:rPr dirty="0" sz="1000" spc="10">
                <a:latin typeface="Times New Roman"/>
                <a:cs typeface="Times New Roman"/>
              </a:rPr>
              <a:t>These</a:t>
            </a:r>
            <a:r>
              <a:rPr dirty="0" sz="1000" spc="90">
                <a:latin typeface="Times New Roman"/>
                <a:cs typeface="Times New Roman"/>
              </a:rPr>
              <a:t> </a:t>
            </a:r>
            <a:r>
              <a:rPr dirty="0" sz="1000" spc="10">
                <a:latin typeface="Times New Roman"/>
                <a:cs typeface="Times New Roman"/>
              </a:rPr>
              <a:t>results</a:t>
            </a:r>
            <a:r>
              <a:rPr dirty="0" sz="1000" spc="90">
                <a:latin typeface="Times New Roman"/>
                <a:cs typeface="Times New Roman"/>
              </a:rPr>
              <a:t> </a:t>
            </a:r>
            <a:r>
              <a:rPr dirty="0" sz="1000" spc="10">
                <a:latin typeface="Times New Roman"/>
                <a:cs typeface="Times New Roman"/>
              </a:rPr>
              <a:t>confirm</a:t>
            </a:r>
            <a:r>
              <a:rPr dirty="0" sz="1000" spc="90">
                <a:latin typeface="Times New Roman"/>
                <a:cs typeface="Times New Roman"/>
              </a:rPr>
              <a:t> </a:t>
            </a:r>
            <a:r>
              <a:rPr dirty="0" sz="1000" spc="10">
                <a:latin typeface="Times New Roman"/>
                <a:cs typeface="Times New Roman"/>
              </a:rPr>
              <a:t>the</a:t>
            </a:r>
            <a:r>
              <a:rPr dirty="0" sz="1000" spc="95">
                <a:latin typeface="Times New Roman"/>
                <a:cs typeface="Times New Roman"/>
              </a:rPr>
              <a:t> </a:t>
            </a:r>
            <a:r>
              <a:rPr dirty="0" sz="1000" spc="10">
                <a:latin typeface="Times New Roman"/>
                <a:cs typeface="Times New Roman"/>
              </a:rPr>
              <a:t>applicability</a:t>
            </a:r>
            <a:r>
              <a:rPr dirty="0" sz="1000" spc="90">
                <a:latin typeface="Times New Roman"/>
                <a:cs typeface="Times New Roman"/>
              </a:rPr>
              <a:t> </a:t>
            </a:r>
            <a:r>
              <a:rPr dirty="0" sz="1000" spc="10">
                <a:latin typeface="Times New Roman"/>
                <a:cs typeface="Times New Roman"/>
              </a:rPr>
              <a:t>of</a:t>
            </a:r>
            <a:r>
              <a:rPr dirty="0" sz="1000" spc="90">
                <a:latin typeface="Times New Roman"/>
                <a:cs typeface="Times New Roman"/>
              </a:rPr>
              <a:t> </a:t>
            </a:r>
            <a:r>
              <a:rPr dirty="0" sz="1000" spc="10">
                <a:latin typeface="Times New Roman"/>
                <a:cs typeface="Times New Roman"/>
              </a:rPr>
              <a:t>DGL</a:t>
            </a:r>
            <a:r>
              <a:rPr dirty="0" sz="1000" spc="90">
                <a:latin typeface="Times New Roman"/>
                <a:cs typeface="Times New Roman"/>
              </a:rPr>
              <a:t> </a:t>
            </a:r>
            <a:r>
              <a:rPr dirty="0" sz="1000" spc="-25">
                <a:latin typeface="Times New Roman"/>
                <a:cs typeface="Times New Roman"/>
              </a:rPr>
              <a:t>in </a:t>
            </a:r>
            <a:r>
              <a:rPr dirty="0" sz="1000">
                <a:latin typeface="Times New Roman"/>
                <a:cs typeface="Times New Roman"/>
              </a:rPr>
              <a:t>scenarios</a:t>
            </a:r>
            <a:r>
              <a:rPr dirty="0" sz="1000" spc="120">
                <a:latin typeface="Times New Roman"/>
                <a:cs typeface="Times New Roman"/>
              </a:rPr>
              <a:t> </a:t>
            </a:r>
            <a:r>
              <a:rPr dirty="0" sz="1000">
                <a:latin typeface="Times New Roman"/>
                <a:cs typeface="Times New Roman"/>
              </a:rPr>
              <a:t>with</a:t>
            </a:r>
            <a:r>
              <a:rPr dirty="0" sz="1000" spc="125">
                <a:latin typeface="Times New Roman"/>
                <a:cs typeface="Times New Roman"/>
              </a:rPr>
              <a:t> </a:t>
            </a:r>
            <a:r>
              <a:rPr dirty="0" sz="1000">
                <a:latin typeface="Times New Roman"/>
                <a:cs typeface="Times New Roman"/>
              </a:rPr>
              <a:t>dense</a:t>
            </a:r>
            <a:r>
              <a:rPr dirty="0" sz="1000" spc="125">
                <a:latin typeface="Times New Roman"/>
                <a:cs typeface="Times New Roman"/>
              </a:rPr>
              <a:t> </a:t>
            </a:r>
            <a:r>
              <a:rPr dirty="0" sz="1000">
                <a:latin typeface="Times New Roman"/>
                <a:cs typeface="Times New Roman"/>
              </a:rPr>
              <a:t>cross-modal</a:t>
            </a:r>
            <a:r>
              <a:rPr dirty="0" sz="1000" spc="125">
                <a:latin typeface="Times New Roman"/>
                <a:cs typeface="Times New Roman"/>
              </a:rPr>
              <a:t> </a:t>
            </a:r>
            <a:r>
              <a:rPr dirty="0" sz="1000" spc="-10">
                <a:latin typeface="Times New Roman"/>
                <a:cs typeface="Times New Roman"/>
              </a:rPr>
              <a:t>interaction.</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spc="105">
                <a:latin typeface="SimSun"/>
                <a:cs typeface="SimSun"/>
              </a:rPr>
              <a:t>由于</a:t>
            </a:r>
            <a:r>
              <a:rPr dirty="0" sz="1000" spc="-15">
                <a:latin typeface="Times New Roman"/>
                <a:cs typeface="Times New Roman"/>
              </a:rPr>
              <a:t>MLA</a:t>
            </a:r>
            <a:r>
              <a:rPr dirty="0" sz="1000" spc="-10">
                <a:latin typeface="Times New Roman"/>
                <a:cs typeface="Times New Roman"/>
              </a:rPr>
              <a:t> </a:t>
            </a:r>
            <a:r>
              <a:rPr dirty="0" sz="1000">
                <a:latin typeface="Times New Roman"/>
                <a:cs typeface="Times New Roman"/>
              </a:rPr>
              <a:t>[39]</a:t>
            </a:r>
            <a:r>
              <a:rPr dirty="0" sz="1000" spc="-10">
                <a:latin typeface="Times New Roman"/>
                <a:cs typeface="Times New Roman"/>
              </a:rPr>
              <a:t> </a:t>
            </a:r>
            <a:r>
              <a:rPr dirty="0" sz="1000" spc="-10">
                <a:latin typeface="SimSun"/>
                <a:cs typeface="SimSun"/>
              </a:rPr>
              <a:t>仅适用于参数共享融合，因此将其排除在本实验之外。为了进行公平比较，我们将</a:t>
            </a:r>
            <a:r>
              <a:rPr dirty="0" sz="1000" spc="-45">
                <a:latin typeface="SimSun"/>
                <a:cs typeface="SimSun"/>
              </a:rPr>
              <a:t>模态表示设置为 </a:t>
            </a:r>
            <a:r>
              <a:rPr dirty="0" sz="1000" spc="-90">
                <a:latin typeface="Times New Roman"/>
                <a:cs typeface="Times New Roman"/>
              </a:rPr>
              <a:t>0</a:t>
            </a:r>
            <a:r>
              <a:rPr dirty="0" sz="1000" spc="-85">
                <a:latin typeface="SimSun"/>
                <a:cs typeface="SimSun"/>
              </a:rPr>
              <a:t>，以获得 </a:t>
            </a:r>
            <a:r>
              <a:rPr dirty="0" sz="1000" spc="10">
                <a:latin typeface="Times New Roman"/>
                <a:cs typeface="Times New Roman"/>
              </a:rPr>
              <a:t>G-</a:t>
            </a:r>
            <a:r>
              <a:rPr dirty="0" sz="1000" spc="5">
                <a:latin typeface="Times New Roman"/>
                <a:cs typeface="Times New Roman"/>
              </a:rPr>
              <a:t>Blending</a:t>
            </a:r>
            <a:r>
              <a:rPr dirty="0" sz="1000" spc="-165">
                <a:latin typeface="SimSun"/>
                <a:cs typeface="SimSun"/>
              </a:rPr>
              <a:t>、</a:t>
            </a:r>
            <a:r>
              <a:rPr dirty="0" sz="1000">
                <a:latin typeface="Times New Roman"/>
                <a:cs typeface="Times New Roman"/>
              </a:rPr>
              <a:t>OGM_GE</a:t>
            </a:r>
            <a:r>
              <a:rPr dirty="0" sz="1000" spc="-35">
                <a:latin typeface="Times New Roman"/>
                <a:cs typeface="Times New Roman"/>
              </a:rPr>
              <a:t> </a:t>
            </a:r>
            <a:r>
              <a:rPr dirty="0" sz="1000" spc="204">
                <a:latin typeface="SimSun"/>
                <a:cs typeface="SimSun"/>
              </a:rPr>
              <a:t>和</a:t>
            </a:r>
            <a:r>
              <a:rPr dirty="0" sz="1000" spc="10">
                <a:latin typeface="Times New Roman"/>
                <a:cs typeface="Times New Roman"/>
              </a:rPr>
              <a:t>MMPareto</a:t>
            </a:r>
            <a:r>
              <a:rPr dirty="0" sz="1000" spc="-35">
                <a:latin typeface="Times New Roman"/>
                <a:cs typeface="Times New Roman"/>
              </a:rPr>
              <a:t> </a:t>
            </a:r>
            <a:r>
              <a:rPr dirty="0" sz="1000" spc="-65">
                <a:latin typeface="SimSun"/>
                <a:cs typeface="SimSun"/>
              </a:rPr>
              <a:t>的单峰逻辑。如表 </a:t>
            </a:r>
            <a:r>
              <a:rPr dirty="0" sz="1000" spc="-10">
                <a:latin typeface="Times New Roman"/>
                <a:cs typeface="Times New Roman"/>
              </a:rPr>
              <a:t>2</a:t>
            </a:r>
            <a:r>
              <a:rPr dirty="0" sz="1000" spc="-35">
                <a:latin typeface="Times New Roman"/>
                <a:cs typeface="Times New Roman"/>
              </a:rPr>
              <a:t> </a:t>
            </a:r>
            <a:r>
              <a:rPr dirty="0" sz="1000" spc="-25">
                <a:latin typeface="SimSun"/>
                <a:cs typeface="SimSun"/>
              </a:rPr>
              <a:t>所示，</a:t>
            </a:r>
            <a:r>
              <a:rPr dirty="0" sz="1000" spc="-55">
                <a:latin typeface="Times New Roman"/>
                <a:cs typeface="Times New Roman"/>
              </a:rPr>
              <a:t>DGL</a:t>
            </a:r>
            <a:r>
              <a:rPr dirty="0" sz="1000" spc="-35">
                <a:latin typeface="Times New Roman"/>
                <a:cs typeface="Times New Roman"/>
              </a:rPr>
              <a:t> </a:t>
            </a:r>
            <a:r>
              <a:rPr dirty="0" sz="1000" spc="-10">
                <a:latin typeface="SimSun"/>
                <a:cs typeface="SimSun"/>
              </a:rPr>
              <a:t>在</a:t>
            </a:r>
            <a:r>
              <a:rPr dirty="0" sz="1000" spc="-15">
                <a:latin typeface="SimSun"/>
                <a:cs typeface="SimSun"/>
              </a:rPr>
              <a:t>多模态和单模态性能方面始终超过多模态基线和其他方法。此外，</a:t>
            </a:r>
            <a:r>
              <a:rPr dirty="0" sz="1000" spc="-15">
                <a:latin typeface="Times New Roman"/>
                <a:cs typeface="Times New Roman"/>
              </a:rPr>
              <a:t>DGL</a:t>
            </a:r>
            <a:r>
              <a:rPr dirty="0" sz="1000" spc="15">
                <a:latin typeface="Times New Roman"/>
                <a:cs typeface="Times New Roman"/>
              </a:rPr>
              <a:t> </a:t>
            </a:r>
            <a:r>
              <a:rPr dirty="0" sz="1000" spc="-5">
                <a:latin typeface="SimSun"/>
                <a:cs typeface="SimSun"/>
              </a:rPr>
              <a:t>多模态模型的单模态性能</a:t>
            </a:r>
            <a:r>
              <a:rPr dirty="0" sz="1000">
                <a:latin typeface="SimSun"/>
                <a:cs typeface="SimSun"/>
              </a:rPr>
              <a:t>也超过了单模态模型。这些结果证实了</a:t>
            </a:r>
            <a:r>
              <a:rPr dirty="0" sz="1000" spc="-15">
                <a:latin typeface="Times New Roman"/>
                <a:cs typeface="Times New Roman"/>
              </a:rPr>
              <a:t>DGL</a:t>
            </a:r>
            <a:r>
              <a:rPr dirty="0" sz="1000" spc="-20">
                <a:latin typeface="Times New Roman"/>
                <a:cs typeface="Times New Roman"/>
              </a:rPr>
              <a:t> </a:t>
            </a:r>
            <a:r>
              <a:rPr dirty="0" sz="1000" spc="-10">
                <a:latin typeface="SimSun"/>
                <a:cs typeface="SimSun"/>
              </a:rPr>
              <a:t>在具有密集跨模态交互的场景中的适用性。</a:t>
            </a:r>
            <a:endParaRPr sz="1000">
              <a:latin typeface="SimSun"/>
              <a:cs typeface="SimSun"/>
            </a:endParaRPr>
          </a:p>
          <a:p>
            <a:pPr>
              <a:lnSpc>
                <a:spcPct val="100000"/>
              </a:lnSpc>
              <a:spcBef>
                <a:spcPts val="5"/>
              </a:spcBef>
            </a:pPr>
            <a:endParaRPr sz="1000">
              <a:latin typeface="SimSun"/>
              <a:cs typeface="SimSun"/>
            </a:endParaRPr>
          </a:p>
          <a:p>
            <a:pPr algn="just" marL="12700" marR="5080" indent="252729">
              <a:lnSpc>
                <a:spcPct val="129500"/>
              </a:lnSpc>
            </a:pPr>
            <a:r>
              <a:rPr dirty="0" sz="1000" spc="10">
                <a:latin typeface="Times New Roman"/>
                <a:cs typeface="Times New Roman"/>
              </a:rPr>
              <a:t>Generalization</a:t>
            </a:r>
            <a:r>
              <a:rPr dirty="0" sz="1000" spc="114">
                <a:latin typeface="Times New Roman"/>
                <a:cs typeface="Times New Roman"/>
              </a:rPr>
              <a:t> </a:t>
            </a:r>
            <a:r>
              <a:rPr dirty="0" sz="1000" spc="10">
                <a:latin typeface="Times New Roman"/>
                <a:cs typeface="Times New Roman"/>
              </a:rPr>
              <a:t>to</a:t>
            </a:r>
            <a:r>
              <a:rPr dirty="0" sz="1000" spc="114">
                <a:latin typeface="Times New Roman"/>
                <a:cs typeface="Times New Roman"/>
              </a:rPr>
              <a:t> </a:t>
            </a:r>
            <a:r>
              <a:rPr dirty="0" sz="1000" spc="10">
                <a:latin typeface="Times New Roman"/>
                <a:cs typeface="Times New Roman"/>
              </a:rPr>
              <a:t>the</a:t>
            </a:r>
            <a:r>
              <a:rPr dirty="0" sz="1000" spc="120">
                <a:latin typeface="Times New Roman"/>
                <a:cs typeface="Times New Roman"/>
              </a:rPr>
              <a:t> </a:t>
            </a:r>
            <a:r>
              <a:rPr dirty="0" sz="1000" spc="10">
                <a:latin typeface="Times New Roman"/>
                <a:cs typeface="Times New Roman"/>
              </a:rPr>
              <a:t>multiple-modality</a:t>
            </a:r>
            <a:r>
              <a:rPr dirty="0" sz="1000" spc="125">
                <a:latin typeface="Times New Roman"/>
                <a:cs typeface="Times New Roman"/>
              </a:rPr>
              <a:t> </a:t>
            </a:r>
            <a:r>
              <a:rPr dirty="0" sz="1000" spc="10">
                <a:latin typeface="Times New Roman"/>
                <a:cs typeface="Times New Roman"/>
              </a:rPr>
              <a:t>case.</a:t>
            </a:r>
            <a:r>
              <a:rPr dirty="0" sz="1000" spc="395">
                <a:latin typeface="Times New Roman"/>
                <a:cs typeface="Times New Roman"/>
              </a:rPr>
              <a:t> </a:t>
            </a:r>
            <a:r>
              <a:rPr dirty="0" sz="1000" spc="10">
                <a:latin typeface="Times New Roman"/>
                <a:cs typeface="Times New Roman"/>
              </a:rPr>
              <a:t>Existing</a:t>
            </a:r>
            <a:r>
              <a:rPr dirty="0" sz="1000" spc="120">
                <a:latin typeface="Times New Roman"/>
                <a:cs typeface="Times New Roman"/>
              </a:rPr>
              <a:t> </a:t>
            </a:r>
            <a:r>
              <a:rPr dirty="0" sz="1000" spc="10">
                <a:latin typeface="Times New Roman"/>
                <a:cs typeface="Times New Roman"/>
              </a:rPr>
              <a:t>methods</a:t>
            </a:r>
            <a:r>
              <a:rPr dirty="0" sz="1000" spc="125">
                <a:latin typeface="Times New Roman"/>
                <a:cs typeface="Times New Roman"/>
              </a:rPr>
              <a:t> </a:t>
            </a:r>
            <a:r>
              <a:rPr dirty="0" sz="1000" spc="10">
                <a:latin typeface="Times New Roman"/>
                <a:cs typeface="Times New Roman"/>
              </a:rPr>
              <a:t>mainly</a:t>
            </a:r>
            <a:r>
              <a:rPr dirty="0" sz="1000" spc="120">
                <a:latin typeface="Times New Roman"/>
                <a:cs typeface="Times New Roman"/>
              </a:rPr>
              <a:t> </a:t>
            </a:r>
            <a:r>
              <a:rPr dirty="0" sz="1000" spc="10">
                <a:latin typeface="Times New Roman"/>
                <a:cs typeface="Times New Roman"/>
              </a:rPr>
              <a:t>only</a:t>
            </a:r>
            <a:r>
              <a:rPr dirty="0" sz="1000" spc="125">
                <a:latin typeface="Times New Roman"/>
                <a:cs typeface="Times New Roman"/>
              </a:rPr>
              <a:t> </a:t>
            </a:r>
            <a:r>
              <a:rPr dirty="0" sz="1000" spc="10">
                <a:latin typeface="Times New Roman"/>
                <a:cs typeface="Times New Roman"/>
              </a:rPr>
              <a:t>focus</a:t>
            </a:r>
            <a:r>
              <a:rPr dirty="0" sz="1000" spc="120">
                <a:latin typeface="Times New Roman"/>
                <a:cs typeface="Times New Roman"/>
              </a:rPr>
              <a:t> </a:t>
            </a:r>
            <a:r>
              <a:rPr dirty="0" sz="1000" spc="10">
                <a:latin typeface="Times New Roman"/>
                <a:cs typeface="Times New Roman"/>
              </a:rPr>
              <a:t>on</a:t>
            </a:r>
            <a:r>
              <a:rPr dirty="0" sz="1000" spc="120">
                <a:latin typeface="Times New Roman"/>
                <a:cs typeface="Times New Roman"/>
              </a:rPr>
              <a:t> </a:t>
            </a:r>
            <a:r>
              <a:rPr dirty="0" sz="1000" spc="10">
                <a:latin typeface="Times New Roman"/>
                <a:cs typeface="Times New Roman"/>
              </a:rPr>
              <a:t>the</a:t>
            </a:r>
            <a:r>
              <a:rPr dirty="0" sz="1000" spc="125">
                <a:latin typeface="Times New Roman"/>
                <a:cs typeface="Times New Roman"/>
              </a:rPr>
              <a:t> </a:t>
            </a:r>
            <a:r>
              <a:rPr dirty="0" sz="1000" spc="10">
                <a:latin typeface="Times New Roman"/>
                <a:cs typeface="Times New Roman"/>
              </a:rPr>
              <a:t>case</a:t>
            </a:r>
            <a:r>
              <a:rPr dirty="0" sz="1000" spc="120">
                <a:latin typeface="Times New Roman"/>
                <a:cs typeface="Times New Roman"/>
              </a:rPr>
              <a:t> </a:t>
            </a:r>
            <a:r>
              <a:rPr dirty="0" sz="1000" spc="10">
                <a:latin typeface="Times New Roman"/>
                <a:cs typeface="Times New Roman"/>
              </a:rPr>
              <a:t>of</a:t>
            </a:r>
            <a:r>
              <a:rPr dirty="0" sz="1000" spc="120">
                <a:latin typeface="Times New Roman"/>
                <a:cs typeface="Times New Roman"/>
              </a:rPr>
              <a:t> </a:t>
            </a:r>
            <a:r>
              <a:rPr dirty="0" sz="1000" spc="-25">
                <a:latin typeface="Times New Roman"/>
                <a:cs typeface="Times New Roman"/>
              </a:rPr>
              <a:t>two </a:t>
            </a:r>
            <a:r>
              <a:rPr dirty="0" sz="1000">
                <a:latin typeface="Times New Roman"/>
                <a:cs typeface="Times New Roman"/>
              </a:rPr>
              <a:t>modalities</a:t>
            </a:r>
            <a:r>
              <a:rPr dirty="0" sz="1000" spc="110">
                <a:latin typeface="Times New Roman"/>
                <a:cs typeface="Times New Roman"/>
              </a:rPr>
              <a:t> </a:t>
            </a:r>
            <a:r>
              <a:rPr dirty="0" sz="1000">
                <a:latin typeface="Times New Roman"/>
                <a:cs typeface="Times New Roman"/>
              </a:rPr>
              <a:t>[9,</a:t>
            </a:r>
            <a:r>
              <a:rPr dirty="0" sz="1000" spc="120">
                <a:latin typeface="Times New Roman"/>
                <a:cs typeface="Times New Roman"/>
              </a:rPr>
              <a:t> </a:t>
            </a:r>
            <a:r>
              <a:rPr dirty="0" sz="1000">
                <a:latin typeface="Times New Roman"/>
                <a:cs typeface="Times New Roman"/>
              </a:rPr>
              <a:t>17,</a:t>
            </a:r>
            <a:r>
              <a:rPr dirty="0" sz="1000" spc="125">
                <a:latin typeface="Times New Roman"/>
                <a:cs typeface="Times New Roman"/>
              </a:rPr>
              <a:t> </a:t>
            </a:r>
            <a:r>
              <a:rPr dirty="0" sz="1000">
                <a:latin typeface="Times New Roman"/>
                <a:cs typeface="Times New Roman"/>
              </a:rPr>
              <a:t>21],</a:t>
            </a:r>
            <a:r>
              <a:rPr dirty="0" sz="1000" spc="125">
                <a:latin typeface="Times New Roman"/>
                <a:cs typeface="Times New Roman"/>
              </a:rPr>
              <a:t> </a:t>
            </a:r>
            <a:r>
              <a:rPr dirty="0" sz="1000">
                <a:latin typeface="Times New Roman"/>
                <a:cs typeface="Times New Roman"/>
              </a:rPr>
              <a:t>limiting</a:t>
            </a:r>
            <a:r>
              <a:rPr dirty="0" sz="1000" spc="110">
                <a:latin typeface="Times New Roman"/>
                <a:cs typeface="Times New Roman"/>
              </a:rPr>
              <a:t> </a:t>
            </a:r>
            <a:r>
              <a:rPr dirty="0" sz="1000">
                <a:latin typeface="Times New Roman"/>
                <a:cs typeface="Times New Roman"/>
              </a:rPr>
              <a:t>their</a:t>
            </a:r>
            <a:r>
              <a:rPr dirty="0" sz="1000" spc="110">
                <a:latin typeface="Times New Roman"/>
                <a:cs typeface="Times New Roman"/>
              </a:rPr>
              <a:t> </a:t>
            </a:r>
            <a:r>
              <a:rPr dirty="0" sz="1000">
                <a:latin typeface="Times New Roman"/>
                <a:cs typeface="Times New Roman"/>
              </a:rPr>
              <a:t>applicability</a:t>
            </a:r>
            <a:r>
              <a:rPr dirty="0" sz="1000" spc="110">
                <a:latin typeface="Times New Roman"/>
                <a:cs typeface="Times New Roman"/>
              </a:rPr>
              <a:t> </a:t>
            </a:r>
            <a:r>
              <a:rPr dirty="0" sz="1000">
                <a:latin typeface="Times New Roman"/>
                <a:cs typeface="Times New Roman"/>
              </a:rPr>
              <a:t>to</a:t>
            </a:r>
            <a:r>
              <a:rPr dirty="0" sz="1000" spc="110">
                <a:latin typeface="Times New Roman"/>
                <a:cs typeface="Times New Roman"/>
              </a:rPr>
              <a:t> </a:t>
            </a:r>
            <a:r>
              <a:rPr dirty="0" sz="1000">
                <a:latin typeface="Times New Roman"/>
                <a:cs typeface="Times New Roman"/>
              </a:rPr>
              <a:t>broader,</a:t>
            </a:r>
            <a:r>
              <a:rPr dirty="0" sz="1000" spc="125">
                <a:latin typeface="Times New Roman"/>
                <a:cs typeface="Times New Roman"/>
              </a:rPr>
              <a:t> </a:t>
            </a:r>
            <a:r>
              <a:rPr dirty="0" sz="1000">
                <a:latin typeface="Times New Roman"/>
                <a:cs typeface="Times New Roman"/>
              </a:rPr>
              <a:t>more</a:t>
            </a:r>
            <a:r>
              <a:rPr dirty="0" sz="1000" spc="110">
                <a:latin typeface="Times New Roman"/>
                <a:cs typeface="Times New Roman"/>
              </a:rPr>
              <a:t> </a:t>
            </a:r>
            <a:r>
              <a:rPr dirty="0" sz="1000">
                <a:latin typeface="Times New Roman"/>
                <a:cs typeface="Times New Roman"/>
              </a:rPr>
              <a:t>complex</a:t>
            </a:r>
            <a:r>
              <a:rPr dirty="0" sz="1000" spc="110">
                <a:latin typeface="Times New Roman"/>
                <a:cs typeface="Times New Roman"/>
              </a:rPr>
              <a:t> </a:t>
            </a:r>
            <a:r>
              <a:rPr dirty="0" sz="1000">
                <a:latin typeface="Times New Roman"/>
                <a:cs typeface="Times New Roman"/>
              </a:rPr>
              <a:t>scenarios.</a:t>
            </a:r>
            <a:r>
              <a:rPr dirty="0" sz="1000" spc="315">
                <a:latin typeface="Times New Roman"/>
                <a:cs typeface="Times New Roman"/>
              </a:rPr>
              <a:t> </a:t>
            </a:r>
            <a:r>
              <a:rPr dirty="0" sz="1000">
                <a:latin typeface="Times New Roman"/>
                <a:cs typeface="Times New Roman"/>
              </a:rPr>
              <a:t>In</a:t>
            </a:r>
            <a:r>
              <a:rPr dirty="0" sz="1000" spc="110">
                <a:latin typeface="Times New Roman"/>
                <a:cs typeface="Times New Roman"/>
              </a:rPr>
              <a:t> </a:t>
            </a:r>
            <a:r>
              <a:rPr dirty="0" sz="1000">
                <a:latin typeface="Times New Roman"/>
                <a:cs typeface="Times New Roman"/>
              </a:rPr>
              <a:t>contrast,</a:t>
            </a:r>
            <a:r>
              <a:rPr dirty="0" sz="1000" spc="125">
                <a:latin typeface="Times New Roman"/>
                <a:cs typeface="Times New Roman"/>
              </a:rPr>
              <a:t> </a:t>
            </a:r>
            <a:r>
              <a:rPr dirty="0" sz="1000">
                <a:latin typeface="Times New Roman"/>
                <a:cs typeface="Times New Roman"/>
              </a:rPr>
              <a:t>DGL</a:t>
            </a:r>
            <a:r>
              <a:rPr dirty="0" sz="1000" spc="110">
                <a:latin typeface="Times New Roman"/>
                <a:cs typeface="Times New Roman"/>
              </a:rPr>
              <a:t> </a:t>
            </a:r>
            <a:r>
              <a:rPr dirty="0" sz="1000" spc="-25">
                <a:latin typeface="Times New Roman"/>
                <a:cs typeface="Times New Roman"/>
              </a:rPr>
              <a:t>im- </a:t>
            </a:r>
            <a:r>
              <a:rPr dirty="0" sz="1000" spc="10">
                <a:latin typeface="Times New Roman"/>
                <a:cs typeface="Times New Roman"/>
              </a:rPr>
              <a:t>poses</a:t>
            </a:r>
            <a:r>
              <a:rPr dirty="0" sz="1000" spc="60">
                <a:latin typeface="Times New Roman"/>
                <a:cs typeface="Times New Roman"/>
              </a:rPr>
              <a:t> </a:t>
            </a:r>
            <a:r>
              <a:rPr dirty="0" sz="1000" spc="10">
                <a:latin typeface="Times New Roman"/>
                <a:cs typeface="Times New Roman"/>
              </a:rPr>
              <a:t>no</a:t>
            </a:r>
            <a:r>
              <a:rPr dirty="0" sz="1000" spc="65">
                <a:latin typeface="Times New Roman"/>
                <a:cs typeface="Times New Roman"/>
              </a:rPr>
              <a:t> </a:t>
            </a:r>
            <a:r>
              <a:rPr dirty="0" sz="1000" spc="10">
                <a:latin typeface="Times New Roman"/>
                <a:cs typeface="Times New Roman"/>
              </a:rPr>
              <a:t>restrictions</a:t>
            </a:r>
            <a:r>
              <a:rPr dirty="0" sz="1000" spc="60">
                <a:latin typeface="Times New Roman"/>
                <a:cs typeface="Times New Roman"/>
              </a:rPr>
              <a:t> </a:t>
            </a:r>
            <a:r>
              <a:rPr dirty="0" sz="1000" spc="10">
                <a:latin typeface="Times New Roman"/>
                <a:cs typeface="Times New Roman"/>
              </a:rPr>
              <a:t>on</a:t>
            </a:r>
            <a:r>
              <a:rPr dirty="0" sz="1000" spc="65">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number</a:t>
            </a:r>
            <a:r>
              <a:rPr dirty="0" sz="1000" spc="60">
                <a:latin typeface="Times New Roman"/>
                <a:cs typeface="Times New Roman"/>
              </a:rPr>
              <a:t> </a:t>
            </a:r>
            <a:r>
              <a:rPr dirty="0" sz="1000" spc="10">
                <a:latin typeface="Times New Roman"/>
                <a:cs typeface="Times New Roman"/>
              </a:rPr>
              <a:t>of</a:t>
            </a:r>
            <a:r>
              <a:rPr dirty="0" sz="1000" spc="65">
                <a:latin typeface="Times New Roman"/>
                <a:cs typeface="Times New Roman"/>
              </a:rPr>
              <a:t> </a:t>
            </a:r>
            <a:r>
              <a:rPr dirty="0" sz="1000" spc="10">
                <a:latin typeface="Times New Roman"/>
                <a:cs typeface="Times New Roman"/>
              </a:rPr>
              <a:t>modalities,</a:t>
            </a:r>
            <a:r>
              <a:rPr dirty="0" sz="1000" spc="75">
                <a:latin typeface="Times New Roman"/>
                <a:cs typeface="Times New Roman"/>
              </a:rPr>
              <a:t> </a:t>
            </a:r>
            <a:r>
              <a:rPr dirty="0" sz="1000" spc="10">
                <a:latin typeface="Times New Roman"/>
                <a:cs typeface="Times New Roman"/>
              </a:rPr>
              <a:t>allowing</a:t>
            </a:r>
            <a:r>
              <a:rPr dirty="0" sz="1000" spc="60">
                <a:latin typeface="Times New Roman"/>
                <a:cs typeface="Times New Roman"/>
              </a:rPr>
              <a:t> </a:t>
            </a:r>
            <a:r>
              <a:rPr dirty="0" sz="1000" spc="10">
                <a:latin typeface="Times New Roman"/>
                <a:cs typeface="Times New Roman"/>
              </a:rPr>
              <a:t>for</a:t>
            </a:r>
            <a:r>
              <a:rPr dirty="0" sz="1000" spc="65">
                <a:latin typeface="Times New Roman"/>
                <a:cs typeface="Times New Roman"/>
              </a:rPr>
              <a:t> </a:t>
            </a:r>
            <a:r>
              <a:rPr dirty="0" sz="1000" spc="10">
                <a:latin typeface="Times New Roman"/>
                <a:cs typeface="Times New Roman"/>
              </a:rPr>
              <a:t>greater</a:t>
            </a:r>
            <a:r>
              <a:rPr dirty="0" sz="1000" spc="60">
                <a:latin typeface="Times New Roman"/>
                <a:cs typeface="Times New Roman"/>
              </a:rPr>
              <a:t> </a:t>
            </a:r>
            <a:r>
              <a:rPr dirty="0" sz="1000" spc="10">
                <a:latin typeface="Times New Roman"/>
                <a:cs typeface="Times New Roman"/>
              </a:rPr>
              <a:t>flexibility.</a:t>
            </a:r>
            <a:r>
              <a:rPr dirty="0" sz="1000" spc="245">
                <a:latin typeface="Times New Roman"/>
                <a:cs typeface="Times New Roman"/>
              </a:rPr>
              <a:t> </a:t>
            </a:r>
            <a:r>
              <a:rPr dirty="0" sz="1000" spc="10">
                <a:latin typeface="Times New Roman"/>
                <a:cs typeface="Times New Roman"/>
              </a:rPr>
              <a:t>Here,</a:t>
            </a:r>
            <a:r>
              <a:rPr dirty="0" sz="1000" spc="75">
                <a:latin typeface="Times New Roman"/>
                <a:cs typeface="Times New Roman"/>
              </a:rPr>
              <a:t> </a:t>
            </a:r>
            <a:r>
              <a:rPr dirty="0" sz="1000" spc="10">
                <a:latin typeface="Times New Roman"/>
                <a:cs typeface="Times New Roman"/>
              </a:rPr>
              <a:t>we</a:t>
            </a:r>
            <a:r>
              <a:rPr dirty="0" sz="1000" spc="65">
                <a:latin typeface="Times New Roman"/>
                <a:cs typeface="Times New Roman"/>
              </a:rPr>
              <a:t> </a:t>
            </a:r>
            <a:r>
              <a:rPr dirty="0" sz="1000" spc="10">
                <a:latin typeface="Times New Roman"/>
                <a:cs typeface="Times New Roman"/>
              </a:rPr>
              <a:t>conduct</a:t>
            </a:r>
            <a:r>
              <a:rPr dirty="0" sz="1000" spc="60">
                <a:latin typeface="Times New Roman"/>
                <a:cs typeface="Times New Roman"/>
              </a:rPr>
              <a:t> </a:t>
            </a:r>
            <a:r>
              <a:rPr dirty="0" sz="1000" spc="-10">
                <a:latin typeface="Times New Roman"/>
                <a:cs typeface="Times New Roman"/>
              </a:rPr>
              <a:t>experi- </a:t>
            </a:r>
            <a:r>
              <a:rPr dirty="0" sz="1000" spc="10">
                <a:latin typeface="Times New Roman"/>
                <a:cs typeface="Times New Roman"/>
              </a:rPr>
              <a:t>ments</a:t>
            </a:r>
            <a:r>
              <a:rPr dirty="0" sz="1000" spc="50">
                <a:latin typeface="Times New Roman"/>
                <a:cs typeface="Times New Roman"/>
              </a:rPr>
              <a:t> </a:t>
            </a:r>
            <a:r>
              <a:rPr dirty="0" sz="1000" spc="10">
                <a:latin typeface="Times New Roman"/>
                <a:cs typeface="Times New Roman"/>
              </a:rPr>
              <a:t>on</a:t>
            </a:r>
            <a:r>
              <a:rPr dirty="0" sz="1000" spc="50">
                <a:latin typeface="Times New Roman"/>
                <a:cs typeface="Times New Roman"/>
              </a:rPr>
              <a:t> </a:t>
            </a:r>
            <a:r>
              <a:rPr dirty="0" sz="1000" spc="10">
                <a:latin typeface="Times New Roman"/>
                <a:cs typeface="Times New Roman"/>
              </a:rPr>
              <a:t>the</a:t>
            </a:r>
            <a:r>
              <a:rPr dirty="0" sz="1000" spc="55">
                <a:latin typeface="Times New Roman"/>
                <a:cs typeface="Times New Roman"/>
              </a:rPr>
              <a:t> </a:t>
            </a:r>
            <a:r>
              <a:rPr dirty="0" sz="1000">
                <a:latin typeface="Times New Roman"/>
                <a:cs typeface="Times New Roman"/>
              </a:rPr>
              <a:t>MOSI</a:t>
            </a:r>
            <a:r>
              <a:rPr dirty="0" sz="1000" spc="50">
                <a:latin typeface="Times New Roman"/>
                <a:cs typeface="Times New Roman"/>
              </a:rPr>
              <a:t> </a:t>
            </a:r>
            <a:r>
              <a:rPr dirty="0" sz="1000" spc="10">
                <a:latin typeface="Times New Roman"/>
                <a:cs typeface="Times New Roman"/>
              </a:rPr>
              <a:t>dataset</a:t>
            </a:r>
            <a:r>
              <a:rPr dirty="0" sz="1000" spc="50">
                <a:latin typeface="Times New Roman"/>
                <a:cs typeface="Times New Roman"/>
              </a:rPr>
              <a:t> </a:t>
            </a:r>
            <a:r>
              <a:rPr dirty="0" sz="1000" spc="10">
                <a:latin typeface="Times New Roman"/>
                <a:cs typeface="Times New Roman"/>
              </a:rPr>
              <a:t>with</a:t>
            </a:r>
            <a:r>
              <a:rPr dirty="0" sz="1000" spc="55">
                <a:latin typeface="Times New Roman"/>
                <a:cs typeface="Times New Roman"/>
              </a:rPr>
              <a:t> </a:t>
            </a:r>
            <a:r>
              <a:rPr dirty="0" sz="1000" spc="10">
                <a:latin typeface="Times New Roman"/>
                <a:cs typeface="Times New Roman"/>
              </a:rPr>
              <a:t>three</a:t>
            </a:r>
            <a:r>
              <a:rPr dirty="0" sz="1000" spc="50">
                <a:latin typeface="Times New Roman"/>
                <a:cs typeface="Times New Roman"/>
              </a:rPr>
              <a:t> </a:t>
            </a:r>
            <a:r>
              <a:rPr dirty="0" sz="1000" spc="10">
                <a:latin typeface="Times New Roman"/>
                <a:cs typeface="Times New Roman"/>
              </a:rPr>
              <a:t>modalities:</a:t>
            </a:r>
            <a:r>
              <a:rPr dirty="0" sz="1000" spc="165">
                <a:latin typeface="Times New Roman"/>
                <a:cs typeface="Times New Roman"/>
              </a:rPr>
              <a:t> </a:t>
            </a:r>
            <a:r>
              <a:rPr dirty="0" sz="1000" spc="10">
                <a:latin typeface="Times New Roman"/>
                <a:cs typeface="Times New Roman"/>
              </a:rPr>
              <a:t>audio,</a:t>
            </a:r>
            <a:r>
              <a:rPr dirty="0" sz="1000" spc="60">
                <a:latin typeface="Times New Roman"/>
                <a:cs typeface="Times New Roman"/>
              </a:rPr>
              <a:t> </a:t>
            </a:r>
            <a:r>
              <a:rPr dirty="0" sz="1000" spc="10">
                <a:latin typeface="Times New Roman"/>
                <a:cs typeface="Times New Roman"/>
              </a:rPr>
              <a:t>vision,</a:t>
            </a:r>
            <a:r>
              <a:rPr dirty="0" sz="1000" spc="55">
                <a:latin typeface="Times New Roman"/>
                <a:cs typeface="Times New Roman"/>
              </a:rPr>
              <a:t> </a:t>
            </a:r>
            <a:r>
              <a:rPr dirty="0" sz="1000" spc="10">
                <a:latin typeface="Times New Roman"/>
                <a:cs typeface="Times New Roman"/>
              </a:rPr>
              <a:t>and</a:t>
            </a:r>
            <a:r>
              <a:rPr dirty="0" sz="1000" spc="55">
                <a:latin typeface="Times New Roman"/>
                <a:cs typeface="Times New Roman"/>
              </a:rPr>
              <a:t> </a:t>
            </a:r>
            <a:r>
              <a:rPr dirty="0" sz="1000" spc="10">
                <a:latin typeface="Times New Roman"/>
                <a:cs typeface="Times New Roman"/>
              </a:rPr>
              <a:t>text.</a:t>
            </a:r>
            <a:r>
              <a:rPr dirty="0" sz="1000" spc="175">
                <a:latin typeface="Times New Roman"/>
                <a:cs typeface="Times New Roman"/>
              </a:rPr>
              <a:t> </a:t>
            </a:r>
            <a:r>
              <a:rPr dirty="0" sz="1000" spc="10">
                <a:latin typeface="Times New Roman"/>
                <a:cs typeface="Times New Roman"/>
              </a:rPr>
              <a:t>For</a:t>
            </a:r>
            <a:r>
              <a:rPr dirty="0" sz="1000" spc="55">
                <a:latin typeface="Times New Roman"/>
                <a:cs typeface="Times New Roman"/>
              </a:rPr>
              <a:t> </a:t>
            </a:r>
            <a:r>
              <a:rPr dirty="0" sz="1000" spc="10">
                <a:latin typeface="Times New Roman"/>
                <a:cs typeface="Times New Roman"/>
              </a:rPr>
              <a:t>a</a:t>
            </a:r>
            <a:r>
              <a:rPr dirty="0" sz="1000" spc="50">
                <a:latin typeface="Times New Roman"/>
                <a:cs typeface="Times New Roman"/>
              </a:rPr>
              <a:t> </a:t>
            </a:r>
            <a:r>
              <a:rPr dirty="0" sz="1000" spc="10">
                <a:latin typeface="Times New Roman"/>
                <a:cs typeface="Times New Roman"/>
              </a:rPr>
              <a:t>comprehensive</a:t>
            </a:r>
            <a:r>
              <a:rPr dirty="0" sz="1000" spc="50">
                <a:latin typeface="Times New Roman"/>
                <a:cs typeface="Times New Roman"/>
              </a:rPr>
              <a:t> </a:t>
            </a:r>
            <a:r>
              <a:rPr dirty="0" sz="1000" spc="-10">
                <a:latin typeface="Times New Roman"/>
                <a:cs typeface="Times New Roman"/>
              </a:rPr>
              <a:t>comparison, </a:t>
            </a:r>
            <a:r>
              <a:rPr dirty="0" sz="1000">
                <a:latin typeface="Times New Roman"/>
                <a:cs typeface="Times New Roman"/>
              </a:rPr>
              <a:t>we</a:t>
            </a:r>
            <a:r>
              <a:rPr dirty="0" sz="1000" spc="80">
                <a:latin typeface="Times New Roman"/>
                <a:cs typeface="Times New Roman"/>
              </a:rPr>
              <a:t> </a:t>
            </a:r>
            <a:r>
              <a:rPr dirty="0" sz="1000">
                <a:latin typeface="Times New Roman"/>
                <a:cs typeface="Times New Roman"/>
              </a:rPr>
              <a:t>retain</a:t>
            </a:r>
            <a:r>
              <a:rPr dirty="0" sz="1000" spc="8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core</a:t>
            </a:r>
            <a:r>
              <a:rPr dirty="0" sz="1000" spc="85">
                <a:latin typeface="Times New Roman"/>
                <a:cs typeface="Times New Roman"/>
              </a:rPr>
              <a:t> </a:t>
            </a:r>
            <a:r>
              <a:rPr dirty="0" sz="1000">
                <a:latin typeface="Times New Roman"/>
                <a:cs typeface="Times New Roman"/>
              </a:rPr>
              <a:t>uni-modal</a:t>
            </a:r>
            <a:r>
              <a:rPr dirty="0" sz="1000" spc="80">
                <a:latin typeface="Times New Roman"/>
                <a:cs typeface="Times New Roman"/>
              </a:rPr>
              <a:t> </a:t>
            </a:r>
            <a:r>
              <a:rPr dirty="0" sz="1000">
                <a:latin typeface="Times New Roman"/>
                <a:cs typeface="Times New Roman"/>
              </a:rPr>
              <a:t>balancing</a:t>
            </a:r>
            <a:r>
              <a:rPr dirty="0" sz="1000" spc="85">
                <a:latin typeface="Times New Roman"/>
                <a:cs typeface="Times New Roman"/>
              </a:rPr>
              <a:t> </a:t>
            </a:r>
            <a:r>
              <a:rPr dirty="0" sz="1000">
                <a:latin typeface="Times New Roman"/>
                <a:cs typeface="Times New Roman"/>
              </a:rPr>
              <a:t>strategy</a:t>
            </a:r>
            <a:r>
              <a:rPr dirty="0" sz="1000" spc="80">
                <a:latin typeface="Times New Roman"/>
                <a:cs typeface="Times New Roman"/>
              </a:rPr>
              <a:t> </a:t>
            </a:r>
            <a:r>
              <a:rPr dirty="0" sz="1000">
                <a:latin typeface="Times New Roman"/>
                <a:cs typeface="Times New Roman"/>
              </a:rPr>
              <a:t>of</a:t>
            </a:r>
            <a:r>
              <a:rPr dirty="0" sz="1000" spc="85">
                <a:latin typeface="Times New Roman"/>
                <a:cs typeface="Times New Roman"/>
              </a:rPr>
              <a:t> </a:t>
            </a:r>
            <a:r>
              <a:rPr dirty="0" sz="1000">
                <a:latin typeface="Times New Roman"/>
                <a:cs typeface="Times New Roman"/>
              </a:rPr>
              <a:t>G-Blending,</a:t>
            </a:r>
            <a:r>
              <a:rPr dirty="0" sz="1000" spc="90">
                <a:latin typeface="Times New Roman"/>
                <a:cs typeface="Times New Roman"/>
              </a:rPr>
              <a:t> </a:t>
            </a:r>
            <a:r>
              <a:rPr dirty="0" sz="1000">
                <a:latin typeface="Times New Roman"/>
                <a:cs typeface="Times New Roman"/>
              </a:rPr>
              <a:t>OGM_GE,</a:t>
            </a:r>
            <a:r>
              <a:rPr dirty="0" sz="1000" spc="80">
                <a:latin typeface="Times New Roman"/>
                <a:cs typeface="Times New Roman"/>
              </a:rPr>
              <a:t> </a:t>
            </a:r>
            <a:r>
              <a:rPr dirty="0" sz="1000" spc="-10">
                <a:latin typeface="Times New Roman"/>
                <a:cs typeface="Times New Roman"/>
              </a:rPr>
              <a:t>AGM,</a:t>
            </a:r>
            <a:r>
              <a:rPr dirty="0" sz="1000" spc="85">
                <a:latin typeface="Times New Roman"/>
                <a:cs typeface="Times New Roman"/>
              </a:rPr>
              <a:t> </a:t>
            </a:r>
            <a:r>
              <a:rPr dirty="0" sz="1000">
                <a:latin typeface="Times New Roman"/>
                <a:cs typeface="Times New Roman"/>
              </a:rPr>
              <a:t>PMR,</a:t>
            </a:r>
            <a:r>
              <a:rPr dirty="0" sz="1000" spc="80">
                <a:latin typeface="Times New Roman"/>
                <a:cs typeface="Times New Roman"/>
              </a:rPr>
              <a:t> </a:t>
            </a:r>
            <a:r>
              <a:rPr dirty="0" sz="1000">
                <a:latin typeface="Times New Roman"/>
                <a:cs typeface="Times New Roman"/>
              </a:rPr>
              <a:t>and</a:t>
            </a:r>
            <a:r>
              <a:rPr dirty="0" sz="1000" spc="85">
                <a:latin typeface="Times New Roman"/>
                <a:cs typeface="Times New Roman"/>
              </a:rPr>
              <a:t> </a:t>
            </a:r>
            <a:r>
              <a:rPr dirty="0" sz="1000">
                <a:latin typeface="Times New Roman"/>
                <a:cs typeface="Times New Roman"/>
              </a:rPr>
              <a:t>MM-Pareto</a:t>
            </a:r>
            <a:r>
              <a:rPr dirty="0" sz="1000" spc="80">
                <a:latin typeface="Times New Roman"/>
                <a:cs typeface="Times New Roman"/>
              </a:rPr>
              <a:t> </a:t>
            </a:r>
            <a:r>
              <a:rPr dirty="0" sz="1000" spc="-25">
                <a:latin typeface="Times New Roman"/>
                <a:cs typeface="Times New Roman"/>
              </a:rPr>
              <a:t>and </a:t>
            </a:r>
            <a:r>
              <a:rPr dirty="0" sz="1000">
                <a:latin typeface="Times New Roman"/>
                <a:cs typeface="Times New Roman"/>
              </a:rPr>
              <a:t>extend</a:t>
            </a:r>
            <a:r>
              <a:rPr dirty="0" sz="1000" spc="45">
                <a:latin typeface="Times New Roman"/>
                <a:cs typeface="Times New Roman"/>
              </a:rPr>
              <a:t> </a:t>
            </a:r>
            <a:r>
              <a:rPr dirty="0" sz="1000">
                <a:latin typeface="Times New Roman"/>
                <a:cs typeface="Times New Roman"/>
              </a:rPr>
              <a:t>them</a:t>
            </a:r>
            <a:r>
              <a:rPr dirty="0" sz="1000" spc="50">
                <a:latin typeface="Times New Roman"/>
                <a:cs typeface="Times New Roman"/>
              </a:rPr>
              <a:t> </a:t>
            </a:r>
            <a:r>
              <a:rPr dirty="0" sz="1000">
                <a:latin typeface="Times New Roman"/>
                <a:cs typeface="Times New Roman"/>
              </a:rPr>
              <a:t>to</a:t>
            </a:r>
            <a:r>
              <a:rPr dirty="0" sz="1000" spc="45">
                <a:latin typeface="Times New Roman"/>
                <a:cs typeface="Times New Roman"/>
              </a:rPr>
              <a:t> </a:t>
            </a:r>
            <a:r>
              <a:rPr dirty="0" sz="1000">
                <a:latin typeface="Times New Roman"/>
                <a:cs typeface="Times New Roman"/>
              </a:rPr>
              <a:t>more</a:t>
            </a:r>
            <a:r>
              <a:rPr dirty="0" sz="1000" spc="50">
                <a:latin typeface="Times New Roman"/>
                <a:cs typeface="Times New Roman"/>
              </a:rPr>
              <a:t> than </a:t>
            </a:r>
            <a:r>
              <a:rPr dirty="0" sz="1000">
                <a:latin typeface="Times New Roman"/>
                <a:cs typeface="Times New Roman"/>
              </a:rPr>
              <a:t>two</a:t>
            </a:r>
            <a:r>
              <a:rPr dirty="0" sz="1000" spc="45">
                <a:latin typeface="Times New Roman"/>
                <a:cs typeface="Times New Roman"/>
              </a:rPr>
              <a:t> </a:t>
            </a:r>
            <a:r>
              <a:rPr dirty="0" sz="1000">
                <a:latin typeface="Times New Roman"/>
                <a:cs typeface="Times New Roman"/>
              </a:rPr>
              <a:t>modality</a:t>
            </a:r>
            <a:r>
              <a:rPr dirty="0" sz="1000" spc="50">
                <a:latin typeface="Times New Roman"/>
                <a:cs typeface="Times New Roman"/>
              </a:rPr>
              <a:t> </a:t>
            </a:r>
            <a:r>
              <a:rPr dirty="0" sz="1000">
                <a:latin typeface="Times New Roman"/>
                <a:cs typeface="Times New Roman"/>
              </a:rPr>
              <a:t>cases.</a:t>
            </a:r>
            <a:r>
              <a:rPr dirty="0" sz="1000" spc="150">
                <a:latin typeface="Times New Roman"/>
                <a:cs typeface="Times New Roman"/>
              </a:rPr>
              <a:t> </a:t>
            </a:r>
            <a:r>
              <a:rPr dirty="0" sz="1000">
                <a:latin typeface="Times New Roman"/>
                <a:cs typeface="Times New Roman"/>
              </a:rPr>
              <a:t>As</a:t>
            </a:r>
            <a:r>
              <a:rPr dirty="0" sz="1000" spc="50">
                <a:latin typeface="Times New Roman"/>
                <a:cs typeface="Times New Roman"/>
              </a:rPr>
              <a:t> </a:t>
            </a:r>
            <a:r>
              <a:rPr dirty="0" sz="1000">
                <a:latin typeface="Times New Roman"/>
                <a:cs typeface="Times New Roman"/>
              </a:rPr>
              <a:t>shown</a:t>
            </a:r>
            <a:r>
              <a:rPr dirty="0" sz="1000" spc="50">
                <a:latin typeface="Times New Roman"/>
                <a:cs typeface="Times New Roman"/>
              </a:rPr>
              <a:t> </a:t>
            </a:r>
            <a:r>
              <a:rPr dirty="0" sz="1000">
                <a:latin typeface="Times New Roman"/>
                <a:cs typeface="Times New Roman"/>
              </a:rPr>
              <a:t>in</a:t>
            </a:r>
            <a:r>
              <a:rPr dirty="0" sz="1000" spc="45">
                <a:latin typeface="Times New Roman"/>
                <a:cs typeface="Times New Roman"/>
              </a:rPr>
              <a:t> </a:t>
            </a:r>
            <a:r>
              <a:rPr dirty="0" sz="1000">
                <a:latin typeface="Times New Roman"/>
                <a:cs typeface="Times New Roman"/>
              </a:rPr>
              <a:t>the</a:t>
            </a:r>
            <a:r>
              <a:rPr dirty="0" sz="1000" spc="50">
                <a:latin typeface="Times New Roman"/>
                <a:cs typeface="Times New Roman"/>
              </a:rPr>
              <a:t> </a:t>
            </a:r>
            <a:r>
              <a:rPr dirty="0" sz="1000">
                <a:latin typeface="Times New Roman"/>
                <a:cs typeface="Times New Roman"/>
              </a:rPr>
              <a:t>left</a:t>
            </a:r>
            <a:r>
              <a:rPr dirty="0" sz="1000" spc="50">
                <a:latin typeface="Times New Roman"/>
                <a:cs typeface="Times New Roman"/>
              </a:rPr>
              <a:t> </a:t>
            </a:r>
            <a:r>
              <a:rPr dirty="0" sz="1000">
                <a:latin typeface="Times New Roman"/>
                <a:cs typeface="Times New Roman"/>
              </a:rPr>
              <a:t>section</a:t>
            </a:r>
            <a:r>
              <a:rPr dirty="0" sz="1000" spc="45">
                <a:latin typeface="Times New Roman"/>
                <a:cs typeface="Times New Roman"/>
              </a:rPr>
              <a:t> </a:t>
            </a:r>
            <a:r>
              <a:rPr dirty="0" sz="1000">
                <a:latin typeface="Times New Roman"/>
                <a:cs typeface="Times New Roman"/>
              </a:rPr>
              <a:t>of</a:t>
            </a:r>
            <a:r>
              <a:rPr dirty="0" sz="1000" spc="50">
                <a:latin typeface="Times New Roman"/>
                <a:cs typeface="Times New Roman"/>
              </a:rPr>
              <a:t> </a:t>
            </a:r>
            <a:r>
              <a:rPr dirty="0" sz="1000">
                <a:latin typeface="Times New Roman"/>
                <a:cs typeface="Times New Roman"/>
              </a:rPr>
              <a:t>Table</a:t>
            </a:r>
            <a:r>
              <a:rPr dirty="0" sz="1000" spc="45">
                <a:latin typeface="Times New Roman"/>
                <a:cs typeface="Times New Roman"/>
              </a:rPr>
              <a:t> </a:t>
            </a:r>
            <a:r>
              <a:rPr dirty="0" sz="1000">
                <a:latin typeface="Times New Roman"/>
                <a:cs typeface="Times New Roman"/>
              </a:rPr>
              <a:t>2,</a:t>
            </a:r>
            <a:r>
              <a:rPr dirty="0" sz="1000" spc="50">
                <a:latin typeface="Times New Roman"/>
                <a:cs typeface="Times New Roman"/>
              </a:rPr>
              <a:t> </a:t>
            </a:r>
            <a:r>
              <a:rPr dirty="0" sz="1000">
                <a:latin typeface="Times New Roman"/>
                <a:cs typeface="Times New Roman"/>
              </a:rPr>
              <a:t>DGL</a:t>
            </a:r>
            <a:r>
              <a:rPr dirty="0" sz="1000" spc="50">
                <a:latin typeface="Times New Roman"/>
                <a:cs typeface="Times New Roman"/>
              </a:rPr>
              <a:t> </a:t>
            </a:r>
            <a:r>
              <a:rPr dirty="0" sz="1000">
                <a:latin typeface="Times New Roman"/>
                <a:cs typeface="Times New Roman"/>
              </a:rPr>
              <a:t>achieves</a:t>
            </a:r>
            <a:r>
              <a:rPr dirty="0" sz="1000" spc="45">
                <a:latin typeface="Times New Roman"/>
                <a:cs typeface="Times New Roman"/>
              </a:rPr>
              <a:t> </a:t>
            </a:r>
            <a:r>
              <a:rPr dirty="0" sz="1000">
                <a:latin typeface="Times New Roman"/>
                <a:cs typeface="Times New Roman"/>
              </a:rPr>
              <a:t>the</a:t>
            </a:r>
            <a:r>
              <a:rPr dirty="0" sz="1000" spc="50">
                <a:latin typeface="Times New Roman"/>
                <a:cs typeface="Times New Roman"/>
              </a:rPr>
              <a:t> </a:t>
            </a:r>
            <a:r>
              <a:rPr dirty="0" sz="1000" spc="-20">
                <a:latin typeface="Times New Roman"/>
                <a:cs typeface="Times New Roman"/>
              </a:rPr>
              <a:t>best </a:t>
            </a:r>
            <a:r>
              <a:rPr dirty="0" sz="1000">
                <a:latin typeface="Times New Roman"/>
                <a:cs typeface="Times New Roman"/>
              </a:rPr>
              <a:t>performance</a:t>
            </a:r>
            <a:r>
              <a:rPr dirty="0" sz="1000" spc="160">
                <a:latin typeface="Times New Roman"/>
                <a:cs typeface="Times New Roman"/>
              </a:rPr>
              <a:t> </a:t>
            </a:r>
            <a:r>
              <a:rPr dirty="0" sz="1000">
                <a:latin typeface="Times New Roman"/>
                <a:cs typeface="Times New Roman"/>
              </a:rPr>
              <a:t>in</a:t>
            </a:r>
            <a:r>
              <a:rPr dirty="0" sz="1000" spc="160">
                <a:latin typeface="Times New Roman"/>
                <a:cs typeface="Times New Roman"/>
              </a:rPr>
              <a:t> </a:t>
            </a:r>
            <a:r>
              <a:rPr dirty="0" sz="1000">
                <a:latin typeface="Times New Roman"/>
                <a:cs typeface="Times New Roman"/>
              </a:rPr>
              <a:t>multimodal</a:t>
            </a:r>
            <a:r>
              <a:rPr dirty="0" sz="1000" spc="160">
                <a:latin typeface="Times New Roman"/>
                <a:cs typeface="Times New Roman"/>
              </a:rPr>
              <a:t> </a:t>
            </a:r>
            <a:r>
              <a:rPr dirty="0" sz="1000">
                <a:latin typeface="Times New Roman"/>
                <a:cs typeface="Times New Roman"/>
              </a:rPr>
              <a:t>and</a:t>
            </a:r>
            <a:r>
              <a:rPr dirty="0" sz="1000" spc="160">
                <a:latin typeface="Times New Roman"/>
                <a:cs typeface="Times New Roman"/>
              </a:rPr>
              <a:t> </a:t>
            </a:r>
            <a:r>
              <a:rPr dirty="0" sz="1000">
                <a:latin typeface="Times New Roman"/>
                <a:cs typeface="Times New Roman"/>
              </a:rPr>
              <a:t>unimodal</a:t>
            </a:r>
            <a:r>
              <a:rPr dirty="0" sz="1000" spc="160">
                <a:latin typeface="Times New Roman"/>
                <a:cs typeface="Times New Roman"/>
              </a:rPr>
              <a:t> </a:t>
            </a:r>
            <a:r>
              <a:rPr dirty="0" sz="1000">
                <a:latin typeface="Times New Roman"/>
                <a:cs typeface="Times New Roman"/>
              </a:rPr>
              <a:t>performance,</a:t>
            </a:r>
            <a:r>
              <a:rPr dirty="0" sz="1000" spc="160">
                <a:latin typeface="Times New Roman"/>
                <a:cs typeface="Times New Roman"/>
              </a:rPr>
              <a:t> </a:t>
            </a:r>
            <a:r>
              <a:rPr dirty="0" sz="1000">
                <a:latin typeface="Times New Roman"/>
                <a:cs typeface="Times New Roman"/>
              </a:rPr>
              <a:t>demonstrating</a:t>
            </a:r>
            <a:r>
              <a:rPr dirty="0" sz="1000" spc="160">
                <a:latin typeface="Times New Roman"/>
                <a:cs typeface="Times New Roman"/>
              </a:rPr>
              <a:t> </a:t>
            </a:r>
            <a:r>
              <a:rPr dirty="0" sz="1000">
                <a:latin typeface="Times New Roman"/>
                <a:cs typeface="Times New Roman"/>
              </a:rPr>
              <a:t>its</a:t>
            </a:r>
            <a:r>
              <a:rPr dirty="0" sz="1000" spc="160">
                <a:latin typeface="Times New Roman"/>
                <a:cs typeface="Times New Roman"/>
              </a:rPr>
              <a:t> </a:t>
            </a:r>
            <a:r>
              <a:rPr dirty="0" sz="1000">
                <a:latin typeface="Times New Roman"/>
                <a:cs typeface="Times New Roman"/>
              </a:rPr>
              <a:t>flexibility</a:t>
            </a:r>
            <a:r>
              <a:rPr dirty="0" sz="1000" spc="160">
                <a:latin typeface="Times New Roman"/>
                <a:cs typeface="Times New Roman"/>
              </a:rPr>
              <a:t> </a:t>
            </a:r>
            <a:r>
              <a:rPr dirty="0" sz="1000">
                <a:latin typeface="Times New Roman"/>
                <a:cs typeface="Times New Roman"/>
              </a:rPr>
              <a:t>in</a:t>
            </a:r>
            <a:r>
              <a:rPr dirty="0" sz="1000" spc="160">
                <a:latin typeface="Times New Roman"/>
                <a:cs typeface="Times New Roman"/>
              </a:rPr>
              <a:t> </a:t>
            </a:r>
            <a:r>
              <a:rPr dirty="0" sz="1000">
                <a:latin typeface="Times New Roman"/>
                <a:cs typeface="Times New Roman"/>
              </a:rPr>
              <a:t>such</a:t>
            </a:r>
            <a:r>
              <a:rPr dirty="0" sz="1000" spc="160">
                <a:latin typeface="Times New Roman"/>
                <a:cs typeface="Times New Roman"/>
              </a:rPr>
              <a:t> </a:t>
            </a:r>
            <a:r>
              <a:rPr dirty="0" sz="1000" spc="-10">
                <a:latin typeface="Times New Roman"/>
                <a:cs typeface="Times New Roman"/>
              </a:rPr>
              <a:t>scenarios.</a:t>
            </a:r>
            <a:endParaRPr sz="1000">
              <a:latin typeface="Times New Roman"/>
              <a:cs typeface="Times New Roman"/>
            </a:endParaRPr>
          </a:p>
        </p:txBody>
      </p:sp>
      <p:sp>
        <p:nvSpPr>
          <p:cNvPr id="18" name="object 18"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84"/>
            <a:ext cx="5760085" cy="1320800"/>
            <a:chOff x="899998" y="899984"/>
            <a:chExt cx="5760085" cy="1320800"/>
          </a:xfrm>
        </p:grpSpPr>
        <p:sp>
          <p:nvSpPr>
            <p:cNvPr id="3" name="object 3" descr=""/>
            <p:cNvSpPr/>
            <p:nvPr/>
          </p:nvSpPr>
          <p:spPr>
            <a:xfrm>
              <a:off x="899998" y="899984"/>
              <a:ext cx="5760085" cy="1320800"/>
            </a:xfrm>
            <a:custGeom>
              <a:avLst/>
              <a:gdLst/>
              <a:ahLst/>
              <a:cxnLst/>
              <a:rect l="l" t="t" r="r" b="b"/>
              <a:pathLst>
                <a:path w="5760084" h="1320800">
                  <a:moveTo>
                    <a:pt x="5724074" y="0"/>
                  </a:moveTo>
                  <a:lnTo>
                    <a:pt x="36000" y="0"/>
                  </a:lnTo>
                  <a:lnTo>
                    <a:pt x="21987" y="2829"/>
                  </a:lnTo>
                  <a:lnTo>
                    <a:pt x="10544" y="10544"/>
                  </a:lnTo>
                  <a:lnTo>
                    <a:pt x="2829" y="21987"/>
                  </a:lnTo>
                  <a:lnTo>
                    <a:pt x="0" y="36000"/>
                  </a:lnTo>
                  <a:lnTo>
                    <a:pt x="0" y="1284712"/>
                  </a:lnTo>
                  <a:lnTo>
                    <a:pt x="2829" y="1298725"/>
                  </a:lnTo>
                  <a:lnTo>
                    <a:pt x="10544" y="1310168"/>
                  </a:lnTo>
                  <a:lnTo>
                    <a:pt x="21987" y="1317883"/>
                  </a:lnTo>
                  <a:lnTo>
                    <a:pt x="36000" y="1320712"/>
                  </a:lnTo>
                  <a:lnTo>
                    <a:pt x="5724074" y="1320712"/>
                  </a:lnTo>
                  <a:lnTo>
                    <a:pt x="5738087" y="1317883"/>
                  </a:lnTo>
                  <a:lnTo>
                    <a:pt x="5749530" y="1310168"/>
                  </a:lnTo>
                  <a:lnTo>
                    <a:pt x="5757245" y="1298725"/>
                  </a:lnTo>
                  <a:lnTo>
                    <a:pt x="5760074" y="128471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84"/>
              <a:ext cx="5760085" cy="1320800"/>
            </a:xfrm>
            <a:custGeom>
              <a:avLst/>
              <a:gdLst/>
              <a:ahLst/>
              <a:cxnLst/>
              <a:rect l="l" t="t" r="r" b="b"/>
              <a:pathLst>
                <a:path w="5760084" h="1320800">
                  <a:moveTo>
                    <a:pt x="5724074" y="0"/>
                  </a:moveTo>
                  <a:lnTo>
                    <a:pt x="36000" y="0"/>
                  </a:lnTo>
                  <a:lnTo>
                    <a:pt x="21987" y="2829"/>
                  </a:lnTo>
                  <a:lnTo>
                    <a:pt x="10544" y="10544"/>
                  </a:lnTo>
                  <a:lnTo>
                    <a:pt x="2829" y="21987"/>
                  </a:lnTo>
                  <a:lnTo>
                    <a:pt x="0" y="36000"/>
                  </a:lnTo>
                  <a:lnTo>
                    <a:pt x="0" y="1284712"/>
                  </a:lnTo>
                  <a:lnTo>
                    <a:pt x="2829" y="1298725"/>
                  </a:lnTo>
                  <a:lnTo>
                    <a:pt x="10544" y="1310168"/>
                  </a:lnTo>
                  <a:lnTo>
                    <a:pt x="21987" y="1317883"/>
                  </a:lnTo>
                  <a:lnTo>
                    <a:pt x="36000" y="1320712"/>
                  </a:lnTo>
                  <a:lnTo>
                    <a:pt x="5724074" y="1320712"/>
                  </a:lnTo>
                  <a:lnTo>
                    <a:pt x="5738087" y="1317883"/>
                  </a:lnTo>
                  <a:lnTo>
                    <a:pt x="5749530" y="1310168"/>
                  </a:lnTo>
                  <a:lnTo>
                    <a:pt x="5757245" y="1298725"/>
                  </a:lnTo>
                  <a:lnTo>
                    <a:pt x="5760074" y="128471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3207584"/>
            <a:ext cx="5760085" cy="728980"/>
            <a:chOff x="899998" y="3207584"/>
            <a:chExt cx="5760085" cy="728980"/>
          </a:xfrm>
        </p:grpSpPr>
        <p:sp>
          <p:nvSpPr>
            <p:cNvPr id="6" name="object 6" descr=""/>
            <p:cNvSpPr/>
            <p:nvPr/>
          </p:nvSpPr>
          <p:spPr>
            <a:xfrm>
              <a:off x="899998" y="3207584"/>
              <a:ext cx="5760085" cy="728980"/>
            </a:xfrm>
            <a:custGeom>
              <a:avLst/>
              <a:gdLst/>
              <a:ahLst/>
              <a:cxnLst/>
              <a:rect l="l" t="t" r="r" b="b"/>
              <a:pathLst>
                <a:path w="5760084" h="728979">
                  <a:moveTo>
                    <a:pt x="5724074" y="0"/>
                  </a:moveTo>
                  <a:lnTo>
                    <a:pt x="36000" y="0"/>
                  </a:lnTo>
                  <a:lnTo>
                    <a:pt x="21987" y="2829"/>
                  </a:lnTo>
                  <a:lnTo>
                    <a:pt x="10544" y="10544"/>
                  </a:lnTo>
                  <a:lnTo>
                    <a:pt x="2829" y="21987"/>
                  </a:lnTo>
                  <a:lnTo>
                    <a:pt x="0" y="36000"/>
                  </a:lnTo>
                  <a:lnTo>
                    <a:pt x="0" y="692437"/>
                  </a:lnTo>
                  <a:lnTo>
                    <a:pt x="2829" y="706450"/>
                  </a:lnTo>
                  <a:lnTo>
                    <a:pt x="10544" y="717893"/>
                  </a:lnTo>
                  <a:lnTo>
                    <a:pt x="21987" y="725608"/>
                  </a:lnTo>
                  <a:lnTo>
                    <a:pt x="36000" y="728437"/>
                  </a:lnTo>
                  <a:lnTo>
                    <a:pt x="5724074" y="728437"/>
                  </a:lnTo>
                  <a:lnTo>
                    <a:pt x="5738087" y="725608"/>
                  </a:lnTo>
                  <a:lnTo>
                    <a:pt x="5749530" y="717893"/>
                  </a:lnTo>
                  <a:lnTo>
                    <a:pt x="5757245" y="706450"/>
                  </a:lnTo>
                  <a:lnTo>
                    <a:pt x="5760074" y="69243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3207584"/>
              <a:ext cx="5760085" cy="728980"/>
            </a:xfrm>
            <a:custGeom>
              <a:avLst/>
              <a:gdLst/>
              <a:ahLst/>
              <a:cxnLst/>
              <a:rect l="l" t="t" r="r" b="b"/>
              <a:pathLst>
                <a:path w="5760084" h="728979">
                  <a:moveTo>
                    <a:pt x="5724074" y="0"/>
                  </a:moveTo>
                  <a:lnTo>
                    <a:pt x="36000" y="0"/>
                  </a:lnTo>
                  <a:lnTo>
                    <a:pt x="21987" y="2829"/>
                  </a:lnTo>
                  <a:lnTo>
                    <a:pt x="10544" y="10544"/>
                  </a:lnTo>
                  <a:lnTo>
                    <a:pt x="2829" y="21987"/>
                  </a:lnTo>
                  <a:lnTo>
                    <a:pt x="0" y="36000"/>
                  </a:lnTo>
                  <a:lnTo>
                    <a:pt x="0" y="692437"/>
                  </a:lnTo>
                  <a:lnTo>
                    <a:pt x="2829" y="706450"/>
                  </a:lnTo>
                  <a:lnTo>
                    <a:pt x="10544" y="717893"/>
                  </a:lnTo>
                  <a:lnTo>
                    <a:pt x="21987" y="725608"/>
                  </a:lnTo>
                  <a:lnTo>
                    <a:pt x="36000" y="728437"/>
                  </a:lnTo>
                  <a:lnTo>
                    <a:pt x="5724074" y="728437"/>
                  </a:lnTo>
                  <a:lnTo>
                    <a:pt x="5738087" y="725608"/>
                  </a:lnTo>
                  <a:lnTo>
                    <a:pt x="5749530" y="717893"/>
                  </a:lnTo>
                  <a:lnTo>
                    <a:pt x="5757245" y="706450"/>
                  </a:lnTo>
                  <a:lnTo>
                    <a:pt x="5760074" y="69243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4725539"/>
            <a:ext cx="5760085" cy="728980"/>
            <a:chOff x="899998" y="4725539"/>
            <a:chExt cx="5760085" cy="728980"/>
          </a:xfrm>
        </p:grpSpPr>
        <p:sp>
          <p:nvSpPr>
            <p:cNvPr id="9" name="object 9" descr=""/>
            <p:cNvSpPr/>
            <p:nvPr/>
          </p:nvSpPr>
          <p:spPr>
            <a:xfrm>
              <a:off x="899998" y="4725539"/>
              <a:ext cx="5760085" cy="728980"/>
            </a:xfrm>
            <a:custGeom>
              <a:avLst/>
              <a:gdLst/>
              <a:ahLst/>
              <a:cxnLst/>
              <a:rect l="l" t="t" r="r" b="b"/>
              <a:pathLst>
                <a:path w="5760084" h="728979">
                  <a:moveTo>
                    <a:pt x="5724074" y="0"/>
                  </a:moveTo>
                  <a:lnTo>
                    <a:pt x="36000" y="0"/>
                  </a:lnTo>
                  <a:lnTo>
                    <a:pt x="21987" y="2829"/>
                  </a:lnTo>
                  <a:lnTo>
                    <a:pt x="10544" y="10544"/>
                  </a:lnTo>
                  <a:lnTo>
                    <a:pt x="2829" y="21987"/>
                  </a:lnTo>
                  <a:lnTo>
                    <a:pt x="0" y="36000"/>
                  </a:lnTo>
                  <a:lnTo>
                    <a:pt x="0" y="692564"/>
                  </a:lnTo>
                  <a:lnTo>
                    <a:pt x="2829" y="706577"/>
                  </a:lnTo>
                  <a:lnTo>
                    <a:pt x="10544" y="718020"/>
                  </a:lnTo>
                  <a:lnTo>
                    <a:pt x="21987" y="725735"/>
                  </a:lnTo>
                  <a:lnTo>
                    <a:pt x="36000" y="728564"/>
                  </a:lnTo>
                  <a:lnTo>
                    <a:pt x="5724074" y="728564"/>
                  </a:lnTo>
                  <a:lnTo>
                    <a:pt x="5738087" y="725735"/>
                  </a:lnTo>
                  <a:lnTo>
                    <a:pt x="5749530" y="718020"/>
                  </a:lnTo>
                  <a:lnTo>
                    <a:pt x="5757245" y="706577"/>
                  </a:lnTo>
                  <a:lnTo>
                    <a:pt x="5760074" y="69256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4725539"/>
              <a:ext cx="5760085" cy="728980"/>
            </a:xfrm>
            <a:custGeom>
              <a:avLst/>
              <a:gdLst/>
              <a:ahLst/>
              <a:cxnLst/>
              <a:rect l="l" t="t" r="r" b="b"/>
              <a:pathLst>
                <a:path w="5760084" h="728979">
                  <a:moveTo>
                    <a:pt x="5724074" y="0"/>
                  </a:moveTo>
                  <a:lnTo>
                    <a:pt x="36000" y="0"/>
                  </a:lnTo>
                  <a:lnTo>
                    <a:pt x="21987" y="2829"/>
                  </a:lnTo>
                  <a:lnTo>
                    <a:pt x="10544" y="10544"/>
                  </a:lnTo>
                  <a:lnTo>
                    <a:pt x="2829" y="21987"/>
                  </a:lnTo>
                  <a:lnTo>
                    <a:pt x="0" y="36000"/>
                  </a:lnTo>
                  <a:lnTo>
                    <a:pt x="0" y="692564"/>
                  </a:lnTo>
                  <a:lnTo>
                    <a:pt x="2829" y="706577"/>
                  </a:lnTo>
                  <a:lnTo>
                    <a:pt x="10544" y="718020"/>
                  </a:lnTo>
                  <a:lnTo>
                    <a:pt x="21987" y="725735"/>
                  </a:lnTo>
                  <a:lnTo>
                    <a:pt x="36000" y="728564"/>
                  </a:lnTo>
                  <a:lnTo>
                    <a:pt x="5724074" y="728564"/>
                  </a:lnTo>
                  <a:lnTo>
                    <a:pt x="5738087" y="725735"/>
                  </a:lnTo>
                  <a:lnTo>
                    <a:pt x="5749530" y="718020"/>
                  </a:lnTo>
                  <a:lnTo>
                    <a:pt x="5757245" y="706577"/>
                  </a:lnTo>
                  <a:lnTo>
                    <a:pt x="5760074" y="69256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6440998"/>
            <a:ext cx="5760085" cy="734060"/>
            <a:chOff x="899998" y="6440998"/>
            <a:chExt cx="5760085" cy="734060"/>
          </a:xfrm>
        </p:grpSpPr>
        <p:sp>
          <p:nvSpPr>
            <p:cNvPr id="12" name="object 12" descr=""/>
            <p:cNvSpPr/>
            <p:nvPr/>
          </p:nvSpPr>
          <p:spPr>
            <a:xfrm>
              <a:off x="899998" y="6440998"/>
              <a:ext cx="5760085" cy="734060"/>
            </a:xfrm>
            <a:custGeom>
              <a:avLst/>
              <a:gdLst/>
              <a:ahLst/>
              <a:cxnLst/>
              <a:rect l="l" t="t" r="r" b="b"/>
              <a:pathLst>
                <a:path w="5760084" h="734059">
                  <a:moveTo>
                    <a:pt x="5724074" y="0"/>
                  </a:moveTo>
                  <a:lnTo>
                    <a:pt x="36000" y="0"/>
                  </a:lnTo>
                  <a:lnTo>
                    <a:pt x="21987" y="2829"/>
                  </a:lnTo>
                  <a:lnTo>
                    <a:pt x="10544" y="10544"/>
                  </a:lnTo>
                  <a:lnTo>
                    <a:pt x="2829" y="21987"/>
                  </a:lnTo>
                  <a:lnTo>
                    <a:pt x="0" y="36000"/>
                  </a:lnTo>
                  <a:lnTo>
                    <a:pt x="0" y="697625"/>
                  </a:lnTo>
                  <a:lnTo>
                    <a:pt x="2829" y="711638"/>
                  </a:lnTo>
                  <a:lnTo>
                    <a:pt x="10544" y="723081"/>
                  </a:lnTo>
                  <a:lnTo>
                    <a:pt x="21987" y="730796"/>
                  </a:lnTo>
                  <a:lnTo>
                    <a:pt x="36000" y="733625"/>
                  </a:lnTo>
                  <a:lnTo>
                    <a:pt x="5724074" y="733625"/>
                  </a:lnTo>
                  <a:lnTo>
                    <a:pt x="5738087" y="730796"/>
                  </a:lnTo>
                  <a:lnTo>
                    <a:pt x="5749530" y="723081"/>
                  </a:lnTo>
                  <a:lnTo>
                    <a:pt x="5757245" y="711638"/>
                  </a:lnTo>
                  <a:lnTo>
                    <a:pt x="5760074" y="69762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6440998"/>
              <a:ext cx="5760085" cy="734060"/>
            </a:xfrm>
            <a:custGeom>
              <a:avLst/>
              <a:gdLst/>
              <a:ahLst/>
              <a:cxnLst/>
              <a:rect l="l" t="t" r="r" b="b"/>
              <a:pathLst>
                <a:path w="5760084" h="734059">
                  <a:moveTo>
                    <a:pt x="5724074" y="0"/>
                  </a:moveTo>
                  <a:lnTo>
                    <a:pt x="36000" y="0"/>
                  </a:lnTo>
                  <a:lnTo>
                    <a:pt x="21987" y="2829"/>
                  </a:lnTo>
                  <a:lnTo>
                    <a:pt x="10544" y="10544"/>
                  </a:lnTo>
                  <a:lnTo>
                    <a:pt x="2829" y="21987"/>
                  </a:lnTo>
                  <a:lnTo>
                    <a:pt x="0" y="36000"/>
                  </a:lnTo>
                  <a:lnTo>
                    <a:pt x="0" y="697625"/>
                  </a:lnTo>
                  <a:lnTo>
                    <a:pt x="2829" y="711638"/>
                  </a:lnTo>
                  <a:lnTo>
                    <a:pt x="10544" y="723081"/>
                  </a:lnTo>
                  <a:lnTo>
                    <a:pt x="21987" y="730796"/>
                  </a:lnTo>
                  <a:lnTo>
                    <a:pt x="36000" y="733625"/>
                  </a:lnTo>
                  <a:lnTo>
                    <a:pt x="5724074" y="733625"/>
                  </a:lnTo>
                  <a:lnTo>
                    <a:pt x="5738087" y="730796"/>
                  </a:lnTo>
                  <a:lnTo>
                    <a:pt x="5749530" y="723081"/>
                  </a:lnTo>
                  <a:lnTo>
                    <a:pt x="5757245" y="711638"/>
                  </a:lnTo>
                  <a:lnTo>
                    <a:pt x="5760074" y="69762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4" name="object 14" descr=""/>
          <p:cNvSpPr txBox="1"/>
          <p:nvPr/>
        </p:nvSpPr>
        <p:spPr>
          <a:xfrm>
            <a:off x="887298" y="930256"/>
            <a:ext cx="5785485" cy="6158230"/>
          </a:xfrm>
          <a:prstGeom prst="rect">
            <a:avLst/>
          </a:prstGeom>
        </p:spPr>
        <p:txBody>
          <a:bodyPr wrap="square" lIns="0" tIns="12700" rIns="0" bIns="0" rtlCol="0" vert="horz">
            <a:spAutoFit/>
          </a:bodyPr>
          <a:lstStyle/>
          <a:p>
            <a:pPr marL="192405" marR="95250">
              <a:lnSpc>
                <a:spcPct val="129500"/>
              </a:lnSpc>
              <a:spcBef>
                <a:spcPts val="100"/>
              </a:spcBef>
            </a:pPr>
            <a:r>
              <a:rPr dirty="0" sz="1000" spc="-45">
                <a:latin typeface="SimSun"/>
                <a:cs typeface="SimSun"/>
              </a:rPr>
              <a:t>推广到多模态情况。现有方法主要仅关注两种模态的情况 </a:t>
            </a:r>
            <a:r>
              <a:rPr dirty="0" sz="1000" spc="-5">
                <a:latin typeface="Times New Roman"/>
                <a:cs typeface="Times New Roman"/>
              </a:rPr>
              <a:t>[9,</a:t>
            </a:r>
            <a:r>
              <a:rPr dirty="0" sz="1000" spc="-40">
                <a:latin typeface="Times New Roman"/>
                <a:cs typeface="Times New Roman"/>
              </a:rPr>
              <a:t> </a:t>
            </a:r>
            <a:r>
              <a:rPr dirty="0" sz="1000" spc="-10">
                <a:latin typeface="Times New Roman"/>
                <a:cs typeface="Times New Roman"/>
              </a:rPr>
              <a:t>17,</a:t>
            </a:r>
            <a:r>
              <a:rPr dirty="0" sz="1000" spc="-35">
                <a:latin typeface="Times New Roman"/>
                <a:cs typeface="Times New Roman"/>
              </a:rPr>
              <a:t> </a:t>
            </a:r>
            <a:r>
              <a:rPr dirty="0" sz="1000" spc="-60">
                <a:latin typeface="Times New Roman"/>
                <a:cs typeface="Times New Roman"/>
              </a:rPr>
              <a:t>21]</a:t>
            </a:r>
            <a:r>
              <a:rPr dirty="0" sz="1000" spc="-45">
                <a:latin typeface="SimSun"/>
                <a:cs typeface="SimSun"/>
              </a:rPr>
              <a:t>，限制了它们在更广泛、更复杂场</a:t>
            </a:r>
            <a:r>
              <a:rPr dirty="0" sz="1000" spc="-55">
                <a:latin typeface="SimSun"/>
                <a:cs typeface="SimSun"/>
              </a:rPr>
              <a:t>景中的适用性。相比之下，</a:t>
            </a:r>
            <a:r>
              <a:rPr dirty="0" sz="1000" spc="-95">
                <a:latin typeface="Times New Roman"/>
                <a:cs typeface="Times New Roman"/>
              </a:rPr>
              <a:t>DGL</a:t>
            </a:r>
            <a:r>
              <a:rPr dirty="0" sz="1000" spc="-55">
                <a:latin typeface="Times New Roman"/>
                <a:cs typeface="Times New Roman"/>
              </a:rPr>
              <a:t> </a:t>
            </a:r>
            <a:r>
              <a:rPr dirty="0" sz="1000" spc="-80">
                <a:latin typeface="SimSun"/>
                <a:cs typeface="SimSun"/>
              </a:rPr>
              <a:t>对模态数量没有限制，具有更大的灵活性。在这里，我们在具有音频、</a:t>
            </a:r>
            <a:r>
              <a:rPr dirty="0" sz="1000" spc="-40">
                <a:latin typeface="SimSun"/>
                <a:cs typeface="SimSun"/>
              </a:rPr>
              <a:t>视觉和文本三种模态的 </a:t>
            </a:r>
            <a:r>
              <a:rPr dirty="0" sz="1000" spc="-10">
                <a:latin typeface="Times New Roman"/>
                <a:cs typeface="Times New Roman"/>
              </a:rPr>
              <a:t>MOSI</a:t>
            </a:r>
            <a:r>
              <a:rPr dirty="0" sz="1000" spc="-40">
                <a:latin typeface="Times New Roman"/>
                <a:cs typeface="Times New Roman"/>
              </a:rPr>
              <a:t> </a:t>
            </a:r>
            <a:r>
              <a:rPr dirty="0" sz="1000" spc="-65">
                <a:latin typeface="SimSun"/>
                <a:cs typeface="SimSun"/>
              </a:rPr>
              <a:t>数据集上进行实验。为了进行全面比较，我们保留了 </a:t>
            </a:r>
            <a:r>
              <a:rPr dirty="0" sz="1000" spc="10">
                <a:latin typeface="Times New Roman"/>
                <a:cs typeface="Times New Roman"/>
              </a:rPr>
              <a:t>G-</a:t>
            </a:r>
            <a:r>
              <a:rPr dirty="0" sz="1000" spc="5">
                <a:latin typeface="Times New Roman"/>
                <a:cs typeface="Times New Roman"/>
              </a:rPr>
              <a:t>Blending</a:t>
            </a:r>
            <a:r>
              <a:rPr dirty="0" sz="1000" spc="-10">
                <a:latin typeface="SimSun"/>
                <a:cs typeface="SimSun"/>
              </a:rPr>
              <a:t>、</a:t>
            </a:r>
            <a:r>
              <a:rPr dirty="0" sz="1000" spc="-5">
                <a:latin typeface="SimSun"/>
                <a:cs typeface="SimSun"/>
              </a:rPr>
              <a:t> </a:t>
            </a:r>
            <a:r>
              <a:rPr dirty="0" sz="1000">
                <a:latin typeface="Times New Roman"/>
                <a:cs typeface="Times New Roman"/>
              </a:rPr>
              <a:t>OGM_GE</a:t>
            </a:r>
            <a:r>
              <a:rPr dirty="0" sz="1000" spc="-140">
                <a:latin typeface="SimSun"/>
                <a:cs typeface="SimSun"/>
              </a:rPr>
              <a:t>、</a:t>
            </a:r>
            <a:r>
              <a:rPr dirty="0" sz="1000" spc="-30">
                <a:latin typeface="Times New Roman"/>
                <a:cs typeface="Times New Roman"/>
              </a:rPr>
              <a:t>AGM</a:t>
            </a:r>
            <a:r>
              <a:rPr dirty="0" sz="1000" spc="-140">
                <a:latin typeface="SimSun"/>
                <a:cs typeface="SimSun"/>
              </a:rPr>
              <a:t>、</a:t>
            </a:r>
            <a:r>
              <a:rPr dirty="0" sz="1000">
                <a:latin typeface="Times New Roman"/>
                <a:cs typeface="Times New Roman"/>
              </a:rPr>
              <a:t>PMR</a:t>
            </a:r>
            <a:r>
              <a:rPr dirty="0" sz="1000" spc="-35">
                <a:latin typeface="Times New Roman"/>
                <a:cs typeface="Times New Roman"/>
              </a:rPr>
              <a:t> </a:t>
            </a:r>
            <a:r>
              <a:rPr dirty="0" sz="1000" spc="204">
                <a:latin typeface="SimSun"/>
                <a:cs typeface="SimSun"/>
              </a:rPr>
              <a:t>和</a:t>
            </a:r>
            <a:r>
              <a:rPr dirty="0" sz="1000">
                <a:latin typeface="Times New Roman"/>
                <a:cs typeface="Times New Roman"/>
              </a:rPr>
              <a:t>MM-</a:t>
            </a:r>
            <a:r>
              <a:rPr dirty="0" sz="1000" spc="10">
                <a:latin typeface="Times New Roman"/>
                <a:cs typeface="Times New Roman"/>
              </a:rPr>
              <a:t>Pareto</a:t>
            </a:r>
            <a:r>
              <a:rPr dirty="0" sz="1000" spc="-35">
                <a:latin typeface="Times New Roman"/>
                <a:cs typeface="Times New Roman"/>
              </a:rPr>
              <a:t> </a:t>
            </a:r>
            <a:r>
              <a:rPr dirty="0" sz="1000" spc="-25">
                <a:latin typeface="SimSun"/>
                <a:cs typeface="SimSun"/>
              </a:rPr>
              <a:t>的核心单模态平衡策略，并将它们扩展到两种以上模态的情况</a:t>
            </a:r>
            <a:r>
              <a:rPr dirty="0" sz="1000" spc="-125">
                <a:latin typeface="SimSun"/>
                <a:cs typeface="SimSun"/>
              </a:rPr>
              <a:t>。如表 </a:t>
            </a:r>
            <a:r>
              <a:rPr dirty="0" sz="1000" spc="-10">
                <a:latin typeface="Times New Roman"/>
                <a:cs typeface="Times New Roman"/>
              </a:rPr>
              <a:t>2</a:t>
            </a:r>
            <a:r>
              <a:rPr dirty="0" sz="1000" spc="-35">
                <a:latin typeface="Times New Roman"/>
                <a:cs typeface="Times New Roman"/>
              </a:rPr>
              <a:t> </a:t>
            </a:r>
            <a:r>
              <a:rPr dirty="0" sz="1000" spc="-20">
                <a:latin typeface="SimSun"/>
                <a:cs typeface="SimSun"/>
              </a:rPr>
              <a:t>左半部分所示，</a:t>
            </a:r>
            <a:r>
              <a:rPr dirty="0" sz="1000" spc="-60">
                <a:latin typeface="Times New Roman"/>
                <a:cs typeface="Times New Roman"/>
              </a:rPr>
              <a:t>DGL</a:t>
            </a:r>
            <a:r>
              <a:rPr dirty="0" sz="1000" spc="-40">
                <a:latin typeface="Times New Roman"/>
                <a:cs typeface="Times New Roman"/>
              </a:rPr>
              <a:t> </a:t>
            </a:r>
            <a:r>
              <a:rPr dirty="0" sz="1000" spc="-20">
                <a:latin typeface="SimSun"/>
                <a:cs typeface="SimSun"/>
              </a:rPr>
              <a:t>在多模态和单模态性能方面均取得了最佳性能，证明了其在这种场景中</a:t>
            </a:r>
            <a:r>
              <a:rPr dirty="0" sz="1000" spc="-10">
                <a:latin typeface="SimSun"/>
                <a:cs typeface="SimSun"/>
              </a:rPr>
              <a:t>的灵活性。</a:t>
            </a:r>
            <a:endParaRPr sz="1000">
              <a:latin typeface="SimSun"/>
              <a:cs typeface="SimSun"/>
            </a:endParaRPr>
          </a:p>
          <a:p>
            <a:pPr algn="just" marL="12700" marR="5080" indent="252729">
              <a:lnSpc>
                <a:spcPct val="129500"/>
              </a:lnSpc>
              <a:spcBef>
                <a:spcPts val="1245"/>
              </a:spcBef>
            </a:pPr>
            <a:r>
              <a:rPr dirty="0" sz="1000">
                <a:latin typeface="Times New Roman"/>
                <a:cs typeface="Times New Roman"/>
              </a:rPr>
              <a:t>Generalization</a:t>
            </a:r>
            <a:r>
              <a:rPr dirty="0" sz="1000" spc="220">
                <a:latin typeface="Times New Roman"/>
                <a:cs typeface="Times New Roman"/>
              </a:rPr>
              <a:t> </a:t>
            </a:r>
            <a:r>
              <a:rPr dirty="0" sz="1000">
                <a:latin typeface="Times New Roman"/>
                <a:cs typeface="Times New Roman"/>
              </a:rPr>
              <a:t>to</a:t>
            </a:r>
            <a:r>
              <a:rPr dirty="0" sz="1000" spc="220">
                <a:latin typeface="Times New Roman"/>
                <a:cs typeface="Times New Roman"/>
              </a:rPr>
              <a:t> </a:t>
            </a:r>
            <a:r>
              <a:rPr dirty="0" sz="1000">
                <a:latin typeface="Times New Roman"/>
                <a:cs typeface="Times New Roman"/>
              </a:rPr>
              <a:t>the</a:t>
            </a:r>
            <a:r>
              <a:rPr dirty="0" sz="1000" spc="220">
                <a:latin typeface="Times New Roman"/>
                <a:cs typeface="Times New Roman"/>
              </a:rPr>
              <a:t> </a:t>
            </a:r>
            <a:r>
              <a:rPr dirty="0" sz="1000">
                <a:latin typeface="Times New Roman"/>
                <a:cs typeface="Times New Roman"/>
              </a:rPr>
              <a:t>dense</a:t>
            </a:r>
            <a:r>
              <a:rPr dirty="0" sz="1000" spc="225">
                <a:latin typeface="Times New Roman"/>
                <a:cs typeface="Times New Roman"/>
              </a:rPr>
              <a:t> </a:t>
            </a:r>
            <a:r>
              <a:rPr dirty="0" sz="1000">
                <a:latin typeface="Times New Roman"/>
                <a:cs typeface="Times New Roman"/>
              </a:rPr>
              <a:t>prediction</a:t>
            </a:r>
            <a:r>
              <a:rPr dirty="0" sz="1000" spc="220">
                <a:latin typeface="Times New Roman"/>
                <a:cs typeface="Times New Roman"/>
              </a:rPr>
              <a:t> </a:t>
            </a:r>
            <a:r>
              <a:rPr dirty="0" sz="1000">
                <a:latin typeface="Times New Roman"/>
                <a:cs typeface="Times New Roman"/>
              </a:rPr>
              <a:t>task.</a:t>
            </a:r>
            <a:r>
              <a:rPr dirty="0" sz="1000" spc="175">
                <a:latin typeface="Times New Roman"/>
                <a:cs typeface="Times New Roman"/>
              </a:rPr>
              <a:t>  </a:t>
            </a:r>
            <a:r>
              <a:rPr dirty="0" sz="1000">
                <a:latin typeface="Times New Roman"/>
                <a:cs typeface="Times New Roman"/>
              </a:rPr>
              <a:t>Existing</a:t>
            </a:r>
            <a:r>
              <a:rPr dirty="0" sz="1000" spc="225">
                <a:latin typeface="Times New Roman"/>
                <a:cs typeface="Times New Roman"/>
              </a:rPr>
              <a:t> </a:t>
            </a:r>
            <a:r>
              <a:rPr dirty="0" sz="1000">
                <a:latin typeface="Times New Roman"/>
                <a:cs typeface="Times New Roman"/>
              </a:rPr>
              <a:t>methods</a:t>
            </a:r>
            <a:r>
              <a:rPr dirty="0" sz="1000" spc="225">
                <a:latin typeface="Times New Roman"/>
                <a:cs typeface="Times New Roman"/>
              </a:rPr>
              <a:t> </a:t>
            </a:r>
            <a:r>
              <a:rPr dirty="0" sz="1000">
                <a:latin typeface="Times New Roman"/>
                <a:cs typeface="Times New Roman"/>
              </a:rPr>
              <a:t>require</a:t>
            </a:r>
            <a:r>
              <a:rPr dirty="0" sz="1000" spc="220">
                <a:latin typeface="Times New Roman"/>
                <a:cs typeface="Times New Roman"/>
              </a:rPr>
              <a:t> </a:t>
            </a:r>
            <a:r>
              <a:rPr dirty="0" sz="1000">
                <a:latin typeface="Times New Roman"/>
                <a:cs typeface="Times New Roman"/>
              </a:rPr>
              <a:t>unimodal</a:t>
            </a:r>
            <a:r>
              <a:rPr dirty="0" sz="1000" spc="220">
                <a:latin typeface="Times New Roman"/>
                <a:cs typeface="Times New Roman"/>
              </a:rPr>
              <a:t> </a:t>
            </a:r>
            <a:r>
              <a:rPr dirty="0" sz="1000">
                <a:latin typeface="Times New Roman"/>
                <a:cs typeface="Times New Roman"/>
              </a:rPr>
              <a:t>logit</a:t>
            </a:r>
            <a:r>
              <a:rPr dirty="0" sz="1000" spc="220">
                <a:latin typeface="Times New Roman"/>
                <a:cs typeface="Times New Roman"/>
              </a:rPr>
              <a:t> </a:t>
            </a:r>
            <a:r>
              <a:rPr dirty="0" sz="1000">
                <a:latin typeface="Times New Roman"/>
                <a:cs typeface="Times New Roman"/>
              </a:rPr>
              <a:t>output</a:t>
            </a:r>
            <a:r>
              <a:rPr dirty="0" sz="1000" spc="225">
                <a:latin typeface="Times New Roman"/>
                <a:cs typeface="Times New Roman"/>
              </a:rPr>
              <a:t> </a:t>
            </a:r>
            <a:r>
              <a:rPr dirty="0" sz="1000">
                <a:latin typeface="Times New Roman"/>
                <a:cs typeface="Times New Roman"/>
              </a:rPr>
              <a:t>or</a:t>
            </a:r>
            <a:r>
              <a:rPr dirty="0" sz="1000" spc="220">
                <a:latin typeface="Times New Roman"/>
                <a:cs typeface="Times New Roman"/>
              </a:rPr>
              <a:t> </a:t>
            </a:r>
            <a:r>
              <a:rPr dirty="0" sz="1000" spc="-10">
                <a:latin typeface="Times New Roman"/>
                <a:cs typeface="Times New Roman"/>
              </a:rPr>
              <a:t>clus- </a:t>
            </a:r>
            <a:r>
              <a:rPr dirty="0" sz="1000">
                <a:latin typeface="Times New Roman"/>
                <a:cs typeface="Times New Roman"/>
              </a:rPr>
              <a:t>ter</a:t>
            </a:r>
            <a:r>
              <a:rPr dirty="0" sz="1000" spc="210">
                <a:latin typeface="Times New Roman"/>
                <a:cs typeface="Times New Roman"/>
              </a:rPr>
              <a:t> </a:t>
            </a:r>
            <a:r>
              <a:rPr dirty="0" sz="1000">
                <a:latin typeface="Times New Roman"/>
                <a:cs typeface="Times New Roman"/>
              </a:rPr>
              <a:t>center</a:t>
            </a:r>
            <a:r>
              <a:rPr dirty="0" sz="1000" spc="215">
                <a:latin typeface="Times New Roman"/>
                <a:cs typeface="Times New Roman"/>
              </a:rPr>
              <a:t> </a:t>
            </a:r>
            <a:r>
              <a:rPr dirty="0" sz="1000">
                <a:latin typeface="Times New Roman"/>
                <a:cs typeface="Times New Roman"/>
              </a:rPr>
              <a:t>to</a:t>
            </a:r>
            <a:r>
              <a:rPr dirty="0" sz="1000" spc="210">
                <a:latin typeface="Times New Roman"/>
                <a:cs typeface="Times New Roman"/>
              </a:rPr>
              <a:t> </a:t>
            </a:r>
            <a:r>
              <a:rPr dirty="0" sz="1000">
                <a:latin typeface="Times New Roman"/>
                <a:cs typeface="Times New Roman"/>
              </a:rPr>
              <a:t>calculate</a:t>
            </a:r>
            <a:r>
              <a:rPr dirty="0" sz="1000" spc="215">
                <a:latin typeface="Times New Roman"/>
                <a:cs typeface="Times New Roman"/>
              </a:rPr>
              <a:t> </a:t>
            </a:r>
            <a:r>
              <a:rPr dirty="0" sz="1000">
                <a:latin typeface="Times New Roman"/>
                <a:cs typeface="Times New Roman"/>
              </a:rPr>
              <a:t>the</a:t>
            </a:r>
            <a:r>
              <a:rPr dirty="0" sz="1000" spc="210">
                <a:latin typeface="Times New Roman"/>
                <a:cs typeface="Times New Roman"/>
              </a:rPr>
              <a:t> </a:t>
            </a:r>
            <a:r>
              <a:rPr dirty="0" sz="1000">
                <a:latin typeface="Times New Roman"/>
                <a:cs typeface="Times New Roman"/>
              </a:rPr>
              <a:t>modulation</a:t>
            </a:r>
            <a:r>
              <a:rPr dirty="0" sz="1000" spc="215">
                <a:latin typeface="Times New Roman"/>
                <a:cs typeface="Times New Roman"/>
              </a:rPr>
              <a:t> </a:t>
            </a:r>
            <a:r>
              <a:rPr dirty="0" sz="1000">
                <a:latin typeface="Times New Roman"/>
                <a:cs typeface="Times New Roman"/>
              </a:rPr>
              <a:t>coefficients</a:t>
            </a:r>
            <a:r>
              <a:rPr dirty="0" sz="1000" spc="210">
                <a:latin typeface="Times New Roman"/>
                <a:cs typeface="Times New Roman"/>
              </a:rPr>
              <a:t> </a:t>
            </a:r>
            <a:r>
              <a:rPr dirty="0" sz="1000">
                <a:latin typeface="Times New Roman"/>
                <a:cs typeface="Times New Roman"/>
              </a:rPr>
              <a:t>of</a:t>
            </a:r>
            <a:r>
              <a:rPr dirty="0" sz="1000" spc="220">
                <a:latin typeface="Times New Roman"/>
                <a:cs typeface="Times New Roman"/>
              </a:rPr>
              <a:t> </a:t>
            </a:r>
            <a:r>
              <a:rPr dirty="0" sz="1000">
                <a:latin typeface="Times New Roman"/>
                <a:cs typeface="Times New Roman"/>
              </a:rPr>
              <a:t>different</a:t>
            </a:r>
            <a:r>
              <a:rPr dirty="0" sz="1000" spc="215">
                <a:latin typeface="Times New Roman"/>
                <a:cs typeface="Times New Roman"/>
              </a:rPr>
              <a:t> </a:t>
            </a:r>
            <a:r>
              <a:rPr dirty="0" sz="1000">
                <a:latin typeface="Times New Roman"/>
                <a:cs typeface="Times New Roman"/>
              </a:rPr>
              <a:t>modalities.</a:t>
            </a:r>
            <a:r>
              <a:rPr dirty="0" sz="1000" spc="180">
                <a:latin typeface="Times New Roman"/>
                <a:cs typeface="Times New Roman"/>
              </a:rPr>
              <a:t>  </a:t>
            </a:r>
            <a:r>
              <a:rPr dirty="0" sz="1000">
                <a:latin typeface="Times New Roman"/>
                <a:cs typeface="Times New Roman"/>
              </a:rPr>
              <a:t>This</a:t>
            </a:r>
            <a:r>
              <a:rPr dirty="0" sz="1000" spc="220">
                <a:latin typeface="Times New Roman"/>
                <a:cs typeface="Times New Roman"/>
              </a:rPr>
              <a:t> </a:t>
            </a:r>
            <a:r>
              <a:rPr dirty="0" sz="1000">
                <a:latin typeface="Times New Roman"/>
                <a:cs typeface="Times New Roman"/>
              </a:rPr>
              <a:t>limits</a:t>
            </a:r>
            <a:r>
              <a:rPr dirty="0" sz="1000" spc="215">
                <a:latin typeface="Times New Roman"/>
                <a:cs typeface="Times New Roman"/>
              </a:rPr>
              <a:t> </a:t>
            </a:r>
            <a:r>
              <a:rPr dirty="0" sz="1000">
                <a:latin typeface="Times New Roman"/>
                <a:cs typeface="Times New Roman"/>
              </a:rPr>
              <a:t>their</a:t>
            </a:r>
            <a:r>
              <a:rPr dirty="0" sz="1000" spc="210">
                <a:latin typeface="Times New Roman"/>
                <a:cs typeface="Times New Roman"/>
              </a:rPr>
              <a:t> </a:t>
            </a:r>
            <a:r>
              <a:rPr dirty="0" sz="1000">
                <a:latin typeface="Times New Roman"/>
                <a:cs typeface="Times New Roman"/>
              </a:rPr>
              <a:t>application</a:t>
            </a:r>
            <a:r>
              <a:rPr dirty="0" sz="1000" spc="215">
                <a:latin typeface="Times New Roman"/>
                <a:cs typeface="Times New Roman"/>
              </a:rPr>
              <a:t> </a:t>
            </a:r>
            <a:r>
              <a:rPr dirty="0" sz="1000" spc="-25">
                <a:latin typeface="Times New Roman"/>
                <a:cs typeface="Times New Roman"/>
              </a:rPr>
              <a:t>in </a:t>
            </a:r>
            <a:r>
              <a:rPr dirty="0" sz="1000" spc="10">
                <a:latin typeface="Times New Roman"/>
                <a:cs typeface="Times New Roman"/>
              </a:rPr>
              <a:t>dense</a:t>
            </a:r>
            <a:r>
              <a:rPr dirty="0" sz="1000" spc="35">
                <a:latin typeface="Times New Roman"/>
                <a:cs typeface="Times New Roman"/>
              </a:rPr>
              <a:t> </a:t>
            </a:r>
            <a:r>
              <a:rPr dirty="0" sz="1000" spc="10">
                <a:latin typeface="Times New Roman"/>
                <a:cs typeface="Times New Roman"/>
              </a:rPr>
              <a:t>prediction</a:t>
            </a:r>
            <a:r>
              <a:rPr dirty="0" sz="1000" spc="35">
                <a:latin typeface="Times New Roman"/>
                <a:cs typeface="Times New Roman"/>
              </a:rPr>
              <a:t> </a:t>
            </a:r>
            <a:r>
              <a:rPr dirty="0" sz="1000" spc="10">
                <a:latin typeface="Times New Roman"/>
                <a:cs typeface="Times New Roman"/>
              </a:rPr>
              <a:t>scenarios.</a:t>
            </a:r>
            <a:r>
              <a:rPr dirty="0" sz="1000" spc="140">
                <a:latin typeface="Times New Roman"/>
                <a:cs typeface="Times New Roman"/>
              </a:rPr>
              <a:t> </a:t>
            </a:r>
            <a:r>
              <a:rPr dirty="0" sz="1000" spc="10">
                <a:latin typeface="Times New Roman"/>
                <a:cs typeface="Times New Roman"/>
              </a:rPr>
              <a:t>In</a:t>
            </a:r>
            <a:r>
              <a:rPr dirty="0" sz="1000" spc="40">
                <a:latin typeface="Times New Roman"/>
                <a:cs typeface="Times New Roman"/>
              </a:rPr>
              <a:t> </a:t>
            </a:r>
            <a:r>
              <a:rPr dirty="0" sz="1000" spc="10">
                <a:latin typeface="Times New Roman"/>
                <a:cs typeface="Times New Roman"/>
              </a:rPr>
              <a:t>contrast,</a:t>
            </a:r>
            <a:r>
              <a:rPr dirty="0" sz="1000" spc="35">
                <a:latin typeface="Times New Roman"/>
                <a:cs typeface="Times New Roman"/>
              </a:rPr>
              <a:t> </a:t>
            </a:r>
            <a:r>
              <a:rPr dirty="0" sz="1000">
                <a:latin typeface="Times New Roman"/>
                <a:cs typeface="Times New Roman"/>
              </a:rPr>
              <a:t>DGL</a:t>
            </a:r>
            <a:r>
              <a:rPr dirty="0" sz="1000" spc="40">
                <a:latin typeface="Times New Roman"/>
                <a:cs typeface="Times New Roman"/>
              </a:rPr>
              <a:t> </a:t>
            </a:r>
            <a:r>
              <a:rPr dirty="0" sz="1000" spc="10">
                <a:latin typeface="Times New Roman"/>
                <a:cs typeface="Times New Roman"/>
              </a:rPr>
              <a:t>does</a:t>
            </a:r>
            <a:r>
              <a:rPr dirty="0" sz="1000" spc="40">
                <a:latin typeface="Times New Roman"/>
                <a:cs typeface="Times New Roman"/>
              </a:rPr>
              <a:t> </a:t>
            </a:r>
            <a:r>
              <a:rPr dirty="0" sz="1000" spc="10">
                <a:latin typeface="Times New Roman"/>
                <a:cs typeface="Times New Roman"/>
              </a:rPr>
              <a:t>not</a:t>
            </a:r>
            <a:r>
              <a:rPr dirty="0" sz="1000" spc="40">
                <a:latin typeface="Times New Roman"/>
                <a:cs typeface="Times New Roman"/>
              </a:rPr>
              <a:t> </a:t>
            </a:r>
            <a:r>
              <a:rPr dirty="0" sz="1000" spc="10">
                <a:latin typeface="Times New Roman"/>
                <a:cs typeface="Times New Roman"/>
              </a:rPr>
              <a:t>need</a:t>
            </a:r>
            <a:r>
              <a:rPr dirty="0" sz="1000" spc="35">
                <a:latin typeface="Times New Roman"/>
                <a:cs typeface="Times New Roman"/>
              </a:rPr>
              <a:t> </a:t>
            </a:r>
            <a:r>
              <a:rPr dirty="0" sz="1000" spc="10">
                <a:latin typeface="Times New Roman"/>
                <a:cs typeface="Times New Roman"/>
              </a:rPr>
              <a:t>these</a:t>
            </a:r>
            <a:r>
              <a:rPr dirty="0" sz="1000" spc="45">
                <a:latin typeface="Times New Roman"/>
                <a:cs typeface="Times New Roman"/>
              </a:rPr>
              <a:t> </a:t>
            </a:r>
            <a:r>
              <a:rPr dirty="0" sz="1000" spc="10">
                <a:latin typeface="Times New Roman"/>
                <a:cs typeface="Times New Roman"/>
              </a:rPr>
              <a:t>prerequisites,</a:t>
            </a:r>
            <a:r>
              <a:rPr dirty="0" sz="1000" spc="35">
                <a:latin typeface="Times New Roman"/>
                <a:cs typeface="Times New Roman"/>
              </a:rPr>
              <a:t> </a:t>
            </a:r>
            <a:r>
              <a:rPr dirty="0" sz="1000" spc="10">
                <a:latin typeface="Times New Roman"/>
                <a:cs typeface="Times New Roman"/>
              </a:rPr>
              <a:t>so</a:t>
            </a:r>
            <a:r>
              <a:rPr dirty="0" sz="1000" spc="35">
                <a:latin typeface="Times New Roman"/>
                <a:cs typeface="Times New Roman"/>
              </a:rPr>
              <a:t> </a:t>
            </a:r>
            <a:r>
              <a:rPr dirty="0" sz="1000" spc="10">
                <a:latin typeface="Times New Roman"/>
                <a:cs typeface="Times New Roman"/>
              </a:rPr>
              <a:t>it</a:t>
            </a:r>
            <a:r>
              <a:rPr dirty="0" sz="1000" spc="45">
                <a:latin typeface="Times New Roman"/>
                <a:cs typeface="Times New Roman"/>
              </a:rPr>
              <a:t> </a:t>
            </a:r>
            <a:r>
              <a:rPr dirty="0" sz="1000" spc="10">
                <a:latin typeface="Times New Roman"/>
                <a:cs typeface="Times New Roman"/>
              </a:rPr>
              <a:t>can</a:t>
            </a:r>
            <a:r>
              <a:rPr dirty="0" sz="1000" spc="35">
                <a:latin typeface="Times New Roman"/>
                <a:cs typeface="Times New Roman"/>
              </a:rPr>
              <a:t> </a:t>
            </a:r>
            <a:r>
              <a:rPr dirty="0" sz="1000" spc="10">
                <a:latin typeface="Times New Roman"/>
                <a:cs typeface="Times New Roman"/>
              </a:rPr>
              <a:t>be</a:t>
            </a:r>
            <a:r>
              <a:rPr dirty="0" sz="1000" spc="40">
                <a:latin typeface="Times New Roman"/>
                <a:cs typeface="Times New Roman"/>
              </a:rPr>
              <a:t> </a:t>
            </a:r>
            <a:r>
              <a:rPr dirty="0" sz="1000" spc="10">
                <a:latin typeface="Times New Roman"/>
                <a:cs typeface="Times New Roman"/>
              </a:rPr>
              <a:t>extended</a:t>
            </a:r>
            <a:r>
              <a:rPr dirty="0" sz="1000" spc="35">
                <a:latin typeface="Times New Roman"/>
                <a:cs typeface="Times New Roman"/>
              </a:rPr>
              <a:t> </a:t>
            </a:r>
            <a:r>
              <a:rPr dirty="0" sz="1000" spc="10">
                <a:latin typeface="Times New Roman"/>
                <a:cs typeface="Times New Roman"/>
              </a:rPr>
              <a:t>to</a:t>
            </a:r>
            <a:r>
              <a:rPr dirty="0" sz="1000" spc="35">
                <a:latin typeface="Times New Roman"/>
                <a:cs typeface="Times New Roman"/>
              </a:rPr>
              <a:t> </a:t>
            </a:r>
            <a:r>
              <a:rPr dirty="0" sz="1000" spc="-20">
                <a:latin typeface="Times New Roman"/>
                <a:cs typeface="Times New Roman"/>
              </a:rPr>
              <a:t>non- </a:t>
            </a:r>
            <a:r>
              <a:rPr dirty="0" sz="1000">
                <a:latin typeface="Times New Roman"/>
                <a:cs typeface="Times New Roman"/>
              </a:rPr>
              <a:t>classification</a:t>
            </a:r>
            <a:r>
              <a:rPr dirty="0" sz="1000" spc="135">
                <a:latin typeface="Times New Roman"/>
                <a:cs typeface="Times New Roman"/>
              </a:rPr>
              <a:t> </a:t>
            </a:r>
            <a:r>
              <a:rPr dirty="0" sz="1000" spc="-10">
                <a:latin typeface="Times New Roman"/>
                <a:cs typeface="Times New Roman"/>
              </a:rPr>
              <a:t>tasks.</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spc="-40">
                <a:latin typeface="SimSun"/>
                <a:cs typeface="SimSun"/>
              </a:rPr>
              <a:t>推广到密集预测任务。现有方法需要单峰逻辑输出或聚类中心来计算不同模态的调制系数。这限制</a:t>
            </a:r>
            <a:r>
              <a:rPr dirty="0" sz="1000" spc="-30">
                <a:latin typeface="SimSun"/>
                <a:cs typeface="SimSun"/>
              </a:rPr>
              <a:t>了它们在密集预测场景中的应用。相比之下，</a:t>
            </a:r>
            <a:r>
              <a:rPr dirty="0" sz="1000" spc="-75">
                <a:latin typeface="Times New Roman"/>
                <a:cs typeface="Times New Roman"/>
              </a:rPr>
              <a:t>DGL</a:t>
            </a:r>
            <a:r>
              <a:rPr dirty="0" sz="1000" spc="10">
                <a:latin typeface="Times New Roman"/>
                <a:cs typeface="Times New Roman"/>
              </a:rPr>
              <a:t> </a:t>
            </a:r>
            <a:r>
              <a:rPr dirty="0" sz="1000" spc="-35">
                <a:latin typeface="SimSun"/>
                <a:cs typeface="SimSun"/>
              </a:rPr>
              <a:t>不需要这些先决条件，因此可以扩展到非分类任</a:t>
            </a:r>
            <a:r>
              <a:rPr dirty="0" sz="1000" spc="-30">
                <a:latin typeface="SimSun"/>
                <a:cs typeface="SimSun"/>
              </a:rPr>
              <a:t>务。</a:t>
            </a:r>
            <a:endParaRPr sz="1000">
              <a:latin typeface="SimSun"/>
              <a:cs typeface="SimSun"/>
            </a:endParaRPr>
          </a:p>
          <a:p>
            <a:pPr algn="just" marL="12700" marR="5080" indent="252729">
              <a:lnSpc>
                <a:spcPct val="129500"/>
              </a:lnSpc>
              <a:spcBef>
                <a:spcPts val="1245"/>
              </a:spcBef>
            </a:pPr>
            <a:r>
              <a:rPr dirty="0" sz="1000">
                <a:latin typeface="Times New Roman"/>
                <a:cs typeface="Times New Roman"/>
              </a:rPr>
              <a:t>We</a:t>
            </a:r>
            <a:r>
              <a:rPr dirty="0" sz="1000" spc="114">
                <a:latin typeface="Times New Roman"/>
                <a:cs typeface="Times New Roman"/>
              </a:rPr>
              <a:t> </a:t>
            </a:r>
            <a:r>
              <a:rPr dirty="0" sz="1000">
                <a:latin typeface="Times New Roman"/>
                <a:cs typeface="Times New Roman"/>
              </a:rPr>
              <a:t>take</a:t>
            </a:r>
            <a:r>
              <a:rPr dirty="0" sz="1000" spc="120">
                <a:latin typeface="Times New Roman"/>
                <a:cs typeface="Times New Roman"/>
              </a:rPr>
              <a:t> </a:t>
            </a:r>
            <a:r>
              <a:rPr dirty="0" sz="1000">
                <a:latin typeface="Times New Roman"/>
                <a:cs typeface="Times New Roman"/>
              </a:rPr>
              <a:t>ESANet</a:t>
            </a:r>
            <a:r>
              <a:rPr dirty="0" sz="1000" spc="114">
                <a:latin typeface="Times New Roman"/>
                <a:cs typeface="Times New Roman"/>
              </a:rPr>
              <a:t> </a:t>
            </a:r>
            <a:r>
              <a:rPr dirty="0" sz="1000">
                <a:latin typeface="Times New Roman"/>
                <a:cs typeface="Times New Roman"/>
              </a:rPr>
              <a:t>as</a:t>
            </a:r>
            <a:r>
              <a:rPr dirty="0" sz="1000" spc="120">
                <a:latin typeface="Times New Roman"/>
                <a:cs typeface="Times New Roman"/>
              </a:rPr>
              <a:t> </a:t>
            </a:r>
            <a:r>
              <a:rPr dirty="0" sz="1000">
                <a:latin typeface="Times New Roman"/>
                <a:cs typeface="Times New Roman"/>
              </a:rPr>
              <a:t>the</a:t>
            </a:r>
            <a:r>
              <a:rPr dirty="0" sz="1000" spc="120">
                <a:latin typeface="Times New Roman"/>
                <a:cs typeface="Times New Roman"/>
              </a:rPr>
              <a:t> </a:t>
            </a:r>
            <a:r>
              <a:rPr dirty="0" sz="1000">
                <a:latin typeface="Times New Roman"/>
                <a:cs typeface="Times New Roman"/>
              </a:rPr>
              <a:t>baseline,</a:t>
            </a:r>
            <a:r>
              <a:rPr dirty="0" sz="1000" spc="135">
                <a:latin typeface="Times New Roman"/>
                <a:cs typeface="Times New Roman"/>
              </a:rPr>
              <a:t> </a:t>
            </a:r>
            <a:r>
              <a:rPr dirty="0" sz="1000">
                <a:latin typeface="Times New Roman"/>
                <a:cs typeface="Times New Roman"/>
              </a:rPr>
              <a:t>which</a:t>
            </a:r>
            <a:r>
              <a:rPr dirty="0" sz="1000" spc="120">
                <a:latin typeface="Times New Roman"/>
                <a:cs typeface="Times New Roman"/>
              </a:rPr>
              <a:t> </a:t>
            </a:r>
            <a:r>
              <a:rPr dirty="0" sz="1000">
                <a:latin typeface="Times New Roman"/>
                <a:cs typeface="Times New Roman"/>
              </a:rPr>
              <a:t>is</a:t>
            </a:r>
            <a:r>
              <a:rPr dirty="0" sz="1000" spc="114">
                <a:latin typeface="Times New Roman"/>
                <a:cs typeface="Times New Roman"/>
              </a:rPr>
              <a:t> </a:t>
            </a:r>
            <a:r>
              <a:rPr dirty="0" sz="1000">
                <a:latin typeface="Times New Roman"/>
                <a:cs typeface="Times New Roman"/>
              </a:rPr>
              <a:t>an</a:t>
            </a:r>
            <a:r>
              <a:rPr dirty="0" sz="1000" spc="120">
                <a:latin typeface="Times New Roman"/>
                <a:cs typeface="Times New Roman"/>
              </a:rPr>
              <a:t> </a:t>
            </a:r>
            <a:r>
              <a:rPr dirty="0" sz="1000">
                <a:latin typeface="Times New Roman"/>
                <a:cs typeface="Times New Roman"/>
              </a:rPr>
              <a:t>efficient</a:t>
            </a:r>
            <a:r>
              <a:rPr dirty="0" sz="1000" spc="120">
                <a:latin typeface="Times New Roman"/>
                <a:cs typeface="Times New Roman"/>
              </a:rPr>
              <a:t> </a:t>
            </a:r>
            <a:r>
              <a:rPr dirty="0" sz="1000">
                <a:latin typeface="Times New Roman"/>
                <a:cs typeface="Times New Roman"/>
              </a:rPr>
              <a:t>and</a:t>
            </a:r>
            <a:r>
              <a:rPr dirty="0" sz="1000" spc="114">
                <a:latin typeface="Times New Roman"/>
                <a:cs typeface="Times New Roman"/>
              </a:rPr>
              <a:t> </a:t>
            </a:r>
            <a:r>
              <a:rPr dirty="0" sz="1000">
                <a:latin typeface="Times New Roman"/>
                <a:cs typeface="Times New Roman"/>
              </a:rPr>
              <a:t>robust</a:t>
            </a:r>
            <a:r>
              <a:rPr dirty="0" sz="1000" spc="120">
                <a:latin typeface="Times New Roman"/>
                <a:cs typeface="Times New Roman"/>
              </a:rPr>
              <a:t> </a:t>
            </a:r>
            <a:r>
              <a:rPr dirty="0" sz="1000">
                <a:latin typeface="Times New Roman"/>
                <a:cs typeface="Times New Roman"/>
              </a:rPr>
              <a:t>model</a:t>
            </a:r>
            <a:r>
              <a:rPr dirty="0" sz="1000" spc="120">
                <a:latin typeface="Times New Roman"/>
                <a:cs typeface="Times New Roman"/>
              </a:rPr>
              <a:t> </a:t>
            </a:r>
            <a:r>
              <a:rPr dirty="0" sz="1000">
                <a:latin typeface="Times New Roman"/>
                <a:cs typeface="Times New Roman"/>
              </a:rPr>
              <a:t>for</a:t>
            </a:r>
            <a:r>
              <a:rPr dirty="0" sz="1000" spc="114">
                <a:latin typeface="Times New Roman"/>
                <a:cs typeface="Times New Roman"/>
              </a:rPr>
              <a:t> </a:t>
            </a:r>
            <a:r>
              <a:rPr dirty="0" sz="1000" spc="-25">
                <a:latin typeface="Times New Roman"/>
                <a:cs typeface="Times New Roman"/>
              </a:rPr>
              <a:t>RGB-</a:t>
            </a:r>
            <a:r>
              <a:rPr dirty="0" sz="1000">
                <a:latin typeface="Times New Roman"/>
                <a:cs typeface="Times New Roman"/>
              </a:rPr>
              <a:t>D</a:t>
            </a:r>
            <a:r>
              <a:rPr dirty="0" sz="1000" spc="120">
                <a:latin typeface="Times New Roman"/>
                <a:cs typeface="Times New Roman"/>
              </a:rPr>
              <a:t> </a:t>
            </a:r>
            <a:r>
              <a:rPr dirty="0" sz="1000">
                <a:latin typeface="Times New Roman"/>
                <a:cs typeface="Times New Roman"/>
              </a:rPr>
              <a:t>segmentation.</a:t>
            </a:r>
            <a:r>
              <a:rPr dirty="0" sz="1000" spc="355">
                <a:latin typeface="Times New Roman"/>
                <a:cs typeface="Times New Roman"/>
              </a:rPr>
              <a:t> </a:t>
            </a:r>
            <a:r>
              <a:rPr dirty="0" sz="1000" spc="-25">
                <a:latin typeface="Times New Roman"/>
                <a:cs typeface="Times New Roman"/>
              </a:rPr>
              <a:t>We </a:t>
            </a:r>
            <a:r>
              <a:rPr dirty="0" sz="1000">
                <a:latin typeface="Times New Roman"/>
                <a:cs typeface="Times New Roman"/>
              </a:rPr>
              <a:t>keep</a:t>
            </a:r>
            <a:r>
              <a:rPr dirty="0" sz="1000" spc="155">
                <a:latin typeface="Times New Roman"/>
                <a:cs typeface="Times New Roman"/>
              </a:rPr>
              <a:t> </a:t>
            </a:r>
            <a:r>
              <a:rPr dirty="0" sz="1000">
                <a:latin typeface="Times New Roman"/>
                <a:cs typeface="Times New Roman"/>
              </a:rPr>
              <a:t>all</a:t>
            </a:r>
            <a:r>
              <a:rPr dirty="0" sz="1000" spc="160">
                <a:latin typeface="Times New Roman"/>
                <a:cs typeface="Times New Roman"/>
              </a:rPr>
              <a:t> </a:t>
            </a:r>
            <a:r>
              <a:rPr dirty="0" sz="1000">
                <a:latin typeface="Times New Roman"/>
                <a:cs typeface="Times New Roman"/>
              </a:rPr>
              <a:t>hyper-parameters</a:t>
            </a:r>
            <a:r>
              <a:rPr dirty="0" sz="1000" spc="160">
                <a:latin typeface="Times New Roman"/>
                <a:cs typeface="Times New Roman"/>
              </a:rPr>
              <a:t> </a:t>
            </a:r>
            <a:r>
              <a:rPr dirty="0" sz="1000">
                <a:latin typeface="Times New Roman"/>
                <a:cs typeface="Times New Roman"/>
              </a:rPr>
              <a:t>the</a:t>
            </a:r>
            <a:r>
              <a:rPr dirty="0" sz="1000" spc="160">
                <a:latin typeface="Times New Roman"/>
                <a:cs typeface="Times New Roman"/>
              </a:rPr>
              <a:t> </a:t>
            </a:r>
            <a:r>
              <a:rPr dirty="0" sz="1000">
                <a:latin typeface="Times New Roman"/>
                <a:cs typeface="Times New Roman"/>
              </a:rPr>
              <a:t>same</a:t>
            </a:r>
            <a:r>
              <a:rPr dirty="0" sz="1000" spc="160">
                <a:latin typeface="Times New Roman"/>
                <a:cs typeface="Times New Roman"/>
              </a:rPr>
              <a:t> </a:t>
            </a:r>
            <a:r>
              <a:rPr dirty="0" sz="1000">
                <a:latin typeface="Times New Roman"/>
                <a:cs typeface="Times New Roman"/>
              </a:rPr>
              <a:t>as</a:t>
            </a:r>
            <a:r>
              <a:rPr dirty="0" sz="1000" spc="160">
                <a:latin typeface="Times New Roman"/>
                <a:cs typeface="Times New Roman"/>
              </a:rPr>
              <a:t> </a:t>
            </a:r>
            <a:r>
              <a:rPr dirty="0" sz="1000">
                <a:latin typeface="Times New Roman"/>
                <a:cs typeface="Times New Roman"/>
              </a:rPr>
              <a:t>the</a:t>
            </a:r>
            <a:r>
              <a:rPr dirty="0" sz="1000" spc="160">
                <a:latin typeface="Times New Roman"/>
                <a:cs typeface="Times New Roman"/>
              </a:rPr>
              <a:t> </a:t>
            </a:r>
            <a:r>
              <a:rPr dirty="0" sz="1000">
                <a:latin typeface="Times New Roman"/>
                <a:cs typeface="Times New Roman"/>
              </a:rPr>
              <a:t>official</a:t>
            </a:r>
            <a:r>
              <a:rPr dirty="0" sz="1000" spc="160">
                <a:latin typeface="Times New Roman"/>
                <a:cs typeface="Times New Roman"/>
              </a:rPr>
              <a:t> </a:t>
            </a:r>
            <a:r>
              <a:rPr dirty="0" sz="1000">
                <a:latin typeface="Times New Roman"/>
                <a:cs typeface="Times New Roman"/>
              </a:rPr>
              <a:t>implementation.</a:t>
            </a:r>
            <a:r>
              <a:rPr dirty="0" sz="1000" spc="450">
                <a:latin typeface="Times New Roman"/>
                <a:cs typeface="Times New Roman"/>
              </a:rPr>
              <a:t> </a:t>
            </a:r>
            <a:r>
              <a:rPr dirty="0" sz="1000" spc="-10">
                <a:latin typeface="Times New Roman"/>
                <a:cs typeface="Times New Roman"/>
              </a:rPr>
              <a:t>Specifically,</a:t>
            </a:r>
            <a:r>
              <a:rPr dirty="0" sz="1000" spc="185">
                <a:latin typeface="Times New Roman"/>
                <a:cs typeface="Times New Roman"/>
              </a:rPr>
              <a:t> </a:t>
            </a:r>
            <a:r>
              <a:rPr dirty="0" sz="1000">
                <a:latin typeface="Times New Roman"/>
                <a:cs typeface="Times New Roman"/>
              </a:rPr>
              <a:t>the</a:t>
            </a:r>
            <a:r>
              <a:rPr dirty="0" sz="1000" spc="160">
                <a:latin typeface="Times New Roman"/>
                <a:cs typeface="Times New Roman"/>
              </a:rPr>
              <a:t> </a:t>
            </a:r>
            <a:r>
              <a:rPr dirty="0" sz="1000">
                <a:latin typeface="Times New Roman"/>
                <a:cs typeface="Times New Roman"/>
              </a:rPr>
              <a:t>model</a:t>
            </a:r>
            <a:r>
              <a:rPr dirty="0" sz="1000" spc="160">
                <a:latin typeface="Times New Roman"/>
                <a:cs typeface="Times New Roman"/>
              </a:rPr>
              <a:t> </a:t>
            </a:r>
            <a:r>
              <a:rPr dirty="0" sz="1000">
                <a:latin typeface="Times New Roman"/>
                <a:cs typeface="Times New Roman"/>
              </a:rPr>
              <a:t>is</a:t>
            </a:r>
            <a:r>
              <a:rPr dirty="0" sz="1000" spc="155">
                <a:latin typeface="Times New Roman"/>
                <a:cs typeface="Times New Roman"/>
              </a:rPr>
              <a:t> </a:t>
            </a:r>
            <a:r>
              <a:rPr dirty="0" sz="1000">
                <a:latin typeface="Times New Roman"/>
                <a:cs typeface="Times New Roman"/>
              </a:rPr>
              <a:t>optimized</a:t>
            </a:r>
            <a:r>
              <a:rPr dirty="0" sz="1000" spc="160">
                <a:latin typeface="Times New Roman"/>
                <a:cs typeface="Times New Roman"/>
              </a:rPr>
              <a:t> </a:t>
            </a:r>
            <a:r>
              <a:rPr dirty="0" sz="1000" spc="-25">
                <a:latin typeface="Times New Roman"/>
                <a:cs typeface="Times New Roman"/>
              </a:rPr>
              <a:t>by </a:t>
            </a:r>
            <a:r>
              <a:rPr dirty="0" sz="1000">
                <a:latin typeface="Times New Roman"/>
                <a:cs typeface="Times New Roman"/>
              </a:rPr>
              <a:t>Adam</a:t>
            </a:r>
            <a:r>
              <a:rPr dirty="0" sz="1000" spc="75">
                <a:latin typeface="Times New Roman"/>
                <a:cs typeface="Times New Roman"/>
              </a:rPr>
              <a:t> </a:t>
            </a:r>
            <a:r>
              <a:rPr dirty="0" sz="1000">
                <a:latin typeface="Times New Roman"/>
                <a:cs typeface="Times New Roman"/>
              </a:rPr>
              <a:t>for</a:t>
            </a:r>
            <a:r>
              <a:rPr dirty="0" sz="1000" spc="80">
                <a:latin typeface="Times New Roman"/>
                <a:cs typeface="Times New Roman"/>
              </a:rPr>
              <a:t> </a:t>
            </a:r>
            <a:r>
              <a:rPr dirty="0" sz="1000">
                <a:latin typeface="Times New Roman"/>
                <a:cs typeface="Times New Roman"/>
              </a:rPr>
              <a:t>300</a:t>
            </a:r>
            <a:r>
              <a:rPr dirty="0" sz="1000" spc="75">
                <a:latin typeface="Times New Roman"/>
                <a:cs typeface="Times New Roman"/>
              </a:rPr>
              <a:t> </a:t>
            </a:r>
            <a:r>
              <a:rPr dirty="0" sz="1000">
                <a:latin typeface="Times New Roman"/>
                <a:cs typeface="Times New Roman"/>
              </a:rPr>
              <a:t>epochs</a:t>
            </a:r>
            <a:r>
              <a:rPr dirty="0" sz="1000" spc="80">
                <a:latin typeface="Times New Roman"/>
                <a:cs typeface="Times New Roman"/>
              </a:rPr>
              <a:t> </a:t>
            </a:r>
            <a:r>
              <a:rPr dirty="0" sz="1000">
                <a:latin typeface="Times New Roman"/>
                <a:cs typeface="Times New Roman"/>
              </a:rPr>
              <a:t>with</a:t>
            </a:r>
            <a:r>
              <a:rPr dirty="0" sz="1000" spc="80">
                <a:latin typeface="Times New Roman"/>
                <a:cs typeface="Times New Roman"/>
              </a:rPr>
              <a:t> </a:t>
            </a:r>
            <a:r>
              <a:rPr dirty="0" sz="1000">
                <a:latin typeface="Times New Roman"/>
                <a:cs typeface="Times New Roman"/>
              </a:rPr>
              <a:t>a</a:t>
            </a:r>
            <a:r>
              <a:rPr dirty="0" sz="1000" spc="75">
                <a:latin typeface="Times New Roman"/>
                <a:cs typeface="Times New Roman"/>
              </a:rPr>
              <a:t> </a:t>
            </a:r>
            <a:r>
              <a:rPr dirty="0" sz="1000">
                <a:latin typeface="Times New Roman"/>
                <a:cs typeface="Times New Roman"/>
              </a:rPr>
              <a:t>mini-batch</a:t>
            </a:r>
            <a:r>
              <a:rPr dirty="0" sz="1000" spc="80">
                <a:latin typeface="Times New Roman"/>
                <a:cs typeface="Times New Roman"/>
              </a:rPr>
              <a:t> </a:t>
            </a:r>
            <a:r>
              <a:rPr dirty="0" sz="1000">
                <a:latin typeface="Times New Roman"/>
                <a:cs typeface="Times New Roman"/>
              </a:rPr>
              <a:t>8</a:t>
            </a:r>
            <a:r>
              <a:rPr dirty="0" sz="1000" spc="80">
                <a:latin typeface="Times New Roman"/>
                <a:cs typeface="Times New Roman"/>
              </a:rPr>
              <a:t> </a:t>
            </a:r>
            <a:r>
              <a:rPr dirty="0" sz="1000">
                <a:latin typeface="Times New Roman"/>
                <a:cs typeface="Times New Roman"/>
              </a:rPr>
              <a:t>and</a:t>
            </a:r>
            <a:r>
              <a:rPr dirty="0" sz="1000" spc="75">
                <a:latin typeface="Times New Roman"/>
                <a:cs typeface="Times New Roman"/>
              </a:rPr>
              <a:t> </a:t>
            </a:r>
            <a:r>
              <a:rPr dirty="0" sz="1000">
                <a:latin typeface="Times New Roman"/>
                <a:cs typeface="Times New Roman"/>
              </a:rPr>
              <a:t>learning</a:t>
            </a:r>
            <a:r>
              <a:rPr dirty="0" sz="1000" spc="80">
                <a:latin typeface="Times New Roman"/>
                <a:cs typeface="Times New Roman"/>
              </a:rPr>
              <a:t> </a:t>
            </a:r>
            <a:r>
              <a:rPr dirty="0" sz="1000">
                <a:latin typeface="Times New Roman"/>
                <a:cs typeface="Times New Roman"/>
              </a:rPr>
              <a:t>rate</a:t>
            </a:r>
            <a:r>
              <a:rPr dirty="0" sz="1000" spc="75">
                <a:latin typeface="Times New Roman"/>
                <a:cs typeface="Times New Roman"/>
              </a:rPr>
              <a:t> </a:t>
            </a:r>
            <a:r>
              <a:rPr dirty="0" sz="1000" spc="-10">
                <a:latin typeface="Times New Roman"/>
                <a:cs typeface="Times New Roman"/>
              </a:rPr>
              <a:t>1e-</a:t>
            </a:r>
            <a:r>
              <a:rPr dirty="0" sz="1000" spc="-25">
                <a:latin typeface="Times New Roman"/>
                <a:cs typeface="Times New Roman"/>
              </a:rPr>
              <a:t>2.</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spc="-70">
                <a:latin typeface="SimSun"/>
                <a:cs typeface="SimSun"/>
              </a:rPr>
              <a:t>我们以 </a:t>
            </a:r>
            <a:r>
              <a:rPr dirty="0" sz="1000" spc="-5">
                <a:latin typeface="Times New Roman"/>
                <a:cs typeface="Times New Roman"/>
              </a:rPr>
              <a:t>ESANet</a:t>
            </a:r>
            <a:r>
              <a:rPr dirty="0" sz="1000" spc="10">
                <a:latin typeface="Times New Roman"/>
                <a:cs typeface="Times New Roman"/>
              </a:rPr>
              <a:t> </a:t>
            </a:r>
            <a:r>
              <a:rPr dirty="0" sz="1000" spc="-30">
                <a:latin typeface="SimSun"/>
                <a:cs typeface="SimSun"/>
              </a:rPr>
              <a:t>作为基线，它是一种用于 </a:t>
            </a:r>
            <a:r>
              <a:rPr dirty="0" sz="1000" spc="-20">
                <a:latin typeface="Times New Roman"/>
                <a:cs typeface="Times New Roman"/>
              </a:rPr>
              <a:t>RGB-</a:t>
            </a:r>
            <a:r>
              <a:rPr dirty="0" sz="1000" spc="-25">
                <a:latin typeface="Times New Roman"/>
                <a:cs typeface="Times New Roman"/>
              </a:rPr>
              <a:t>D</a:t>
            </a:r>
            <a:r>
              <a:rPr dirty="0" sz="1000" spc="10">
                <a:latin typeface="Times New Roman"/>
                <a:cs typeface="Times New Roman"/>
              </a:rPr>
              <a:t> </a:t>
            </a:r>
            <a:r>
              <a:rPr dirty="0" sz="1000" spc="-10">
                <a:latin typeface="SimSun"/>
                <a:cs typeface="SimSun"/>
              </a:rPr>
              <a:t>分割的高效且强大的模型。我们将所有超参数保</a:t>
            </a:r>
            <a:r>
              <a:rPr dirty="0" sz="1000">
                <a:latin typeface="SimSun"/>
                <a:cs typeface="SimSun"/>
              </a:rPr>
              <a:t>持与官方实现相同。具体来说，该模型使用</a:t>
            </a:r>
            <a:r>
              <a:rPr dirty="0" sz="1000" spc="25">
                <a:latin typeface="Times New Roman"/>
                <a:cs typeface="Times New Roman"/>
              </a:rPr>
              <a:t>Adam</a:t>
            </a:r>
            <a:r>
              <a:rPr dirty="0" sz="1000" spc="-5">
                <a:latin typeface="Times New Roman"/>
                <a:cs typeface="Times New Roman"/>
              </a:rPr>
              <a:t> </a:t>
            </a:r>
            <a:r>
              <a:rPr dirty="0" sz="1000" spc="-95">
                <a:latin typeface="SimSun"/>
                <a:cs typeface="SimSun"/>
              </a:rPr>
              <a:t>优化 </a:t>
            </a:r>
            <a:r>
              <a:rPr dirty="0" sz="1000" spc="-10">
                <a:latin typeface="Times New Roman"/>
                <a:cs typeface="Times New Roman"/>
              </a:rPr>
              <a:t>300</a:t>
            </a:r>
            <a:r>
              <a:rPr dirty="0" sz="1000" spc="-5">
                <a:latin typeface="Times New Roman"/>
                <a:cs typeface="Times New Roman"/>
              </a:rPr>
              <a:t> </a:t>
            </a:r>
            <a:r>
              <a:rPr dirty="0" sz="1000" spc="235">
                <a:latin typeface="SimSun"/>
                <a:cs typeface="SimSun"/>
              </a:rPr>
              <a:t>个</a:t>
            </a:r>
            <a:r>
              <a:rPr dirty="0" sz="1000" spc="15">
                <a:latin typeface="Times New Roman"/>
                <a:cs typeface="Times New Roman"/>
              </a:rPr>
              <a:t>epoch</a:t>
            </a:r>
            <a:r>
              <a:rPr dirty="0" sz="1000" spc="-45">
                <a:latin typeface="SimSun"/>
                <a:cs typeface="SimSun"/>
              </a:rPr>
              <a:t>，小批量大小为 </a:t>
            </a:r>
            <a:r>
              <a:rPr dirty="0" sz="1000" spc="-10">
                <a:latin typeface="Times New Roman"/>
                <a:cs typeface="Times New Roman"/>
              </a:rPr>
              <a:t>8</a:t>
            </a:r>
            <a:r>
              <a:rPr dirty="0" sz="1000" spc="-10">
                <a:latin typeface="SimSun"/>
                <a:cs typeface="SimSun"/>
              </a:rPr>
              <a:t>，学习率为</a:t>
            </a:r>
            <a:r>
              <a:rPr dirty="0" sz="1000" spc="-5">
                <a:latin typeface="SimSun"/>
                <a:cs typeface="SimSun"/>
              </a:rPr>
              <a:t> </a:t>
            </a:r>
            <a:r>
              <a:rPr dirty="0" sz="1000" spc="-5">
                <a:latin typeface="Times New Roman"/>
                <a:cs typeface="Times New Roman"/>
              </a:rPr>
              <a:t>1e-</a:t>
            </a:r>
            <a:r>
              <a:rPr dirty="0" sz="1000" spc="-20">
                <a:latin typeface="Times New Roman"/>
                <a:cs typeface="Times New Roman"/>
              </a:rPr>
              <a:t>2</a:t>
            </a:r>
            <a:r>
              <a:rPr dirty="0" sz="1000" spc="-10">
                <a:latin typeface="SimSun"/>
                <a:cs typeface="SimSun"/>
              </a:rPr>
              <a:t>。</a:t>
            </a:r>
            <a:endParaRPr sz="1000">
              <a:latin typeface="SimSun"/>
              <a:cs typeface="SimSun"/>
            </a:endParaRPr>
          </a:p>
          <a:p>
            <a:pPr algn="just" marL="12700" marR="5080" indent="252729">
              <a:lnSpc>
                <a:spcPct val="129500"/>
              </a:lnSpc>
              <a:spcBef>
                <a:spcPts val="1240"/>
              </a:spcBef>
            </a:pPr>
            <a:r>
              <a:rPr dirty="0" sz="1000">
                <a:latin typeface="Times New Roman"/>
                <a:cs typeface="Times New Roman"/>
              </a:rPr>
              <a:t>As</a:t>
            </a:r>
            <a:r>
              <a:rPr dirty="0" sz="1000" spc="110">
                <a:latin typeface="Times New Roman"/>
                <a:cs typeface="Times New Roman"/>
              </a:rPr>
              <a:t> </a:t>
            </a:r>
            <a:r>
              <a:rPr dirty="0" sz="1000">
                <a:latin typeface="Times New Roman"/>
                <a:cs typeface="Times New Roman"/>
              </a:rPr>
              <a:t>shown</a:t>
            </a:r>
            <a:r>
              <a:rPr dirty="0" sz="1000" spc="110">
                <a:latin typeface="Times New Roman"/>
                <a:cs typeface="Times New Roman"/>
              </a:rPr>
              <a:t> </a:t>
            </a:r>
            <a:r>
              <a:rPr dirty="0" sz="1000">
                <a:latin typeface="Times New Roman"/>
                <a:cs typeface="Times New Roman"/>
              </a:rPr>
              <a:t>in</a:t>
            </a:r>
            <a:r>
              <a:rPr dirty="0" sz="1000" spc="110">
                <a:latin typeface="Times New Roman"/>
                <a:cs typeface="Times New Roman"/>
              </a:rPr>
              <a:t> </a:t>
            </a:r>
            <a:r>
              <a:rPr dirty="0" sz="1000">
                <a:latin typeface="Times New Roman"/>
                <a:cs typeface="Times New Roman"/>
              </a:rPr>
              <a:t>Table</a:t>
            </a:r>
            <a:r>
              <a:rPr dirty="0" sz="1000" spc="110">
                <a:latin typeface="Times New Roman"/>
                <a:cs typeface="Times New Roman"/>
              </a:rPr>
              <a:t> </a:t>
            </a:r>
            <a:r>
              <a:rPr dirty="0" sz="1000">
                <a:latin typeface="Times New Roman"/>
                <a:cs typeface="Times New Roman"/>
              </a:rPr>
              <a:t>5,</a:t>
            </a:r>
            <a:r>
              <a:rPr dirty="0" sz="1000" spc="120">
                <a:latin typeface="Times New Roman"/>
                <a:cs typeface="Times New Roman"/>
              </a:rPr>
              <a:t> </a:t>
            </a:r>
            <a:r>
              <a:rPr dirty="0" sz="1000">
                <a:latin typeface="Times New Roman"/>
                <a:cs typeface="Times New Roman"/>
              </a:rPr>
              <a:t>we</a:t>
            </a:r>
            <a:r>
              <a:rPr dirty="0" sz="1000" spc="110">
                <a:latin typeface="Times New Roman"/>
                <a:cs typeface="Times New Roman"/>
              </a:rPr>
              <a:t> </a:t>
            </a:r>
            <a:r>
              <a:rPr dirty="0" sz="1000">
                <a:latin typeface="Times New Roman"/>
                <a:cs typeface="Times New Roman"/>
              </a:rPr>
              <a:t>train</a:t>
            </a:r>
            <a:r>
              <a:rPr dirty="0" sz="1000" spc="114">
                <a:latin typeface="Times New Roman"/>
                <a:cs typeface="Times New Roman"/>
              </a:rPr>
              <a:t> </a:t>
            </a:r>
            <a:r>
              <a:rPr dirty="0" sz="1000">
                <a:latin typeface="Times New Roman"/>
                <a:cs typeface="Times New Roman"/>
              </a:rPr>
              <a:t>the</a:t>
            </a:r>
            <a:r>
              <a:rPr dirty="0" sz="1000" spc="110">
                <a:latin typeface="Times New Roman"/>
                <a:cs typeface="Times New Roman"/>
              </a:rPr>
              <a:t> </a:t>
            </a:r>
            <a:r>
              <a:rPr dirty="0" sz="1000">
                <a:latin typeface="Times New Roman"/>
                <a:cs typeface="Times New Roman"/>
              </a:rPr>
              <a:t>network</a:t>
            </a:r>
            <a:r>
              <a:rPr dirty="0" sz="1000" spc="110">
                <a:latin typeface="Times New Roman"/>
                <a:cs typeface="Times New Roman"/>
              </a:rPr>
              <a:t> </a:t>
            </a:r>
            <a:r>
              <a:rPr dirty="0" sz="1000">
                <a:latin typeface="Times New Roman"/>
                <a:cs typeface="Times New Roman"/>
              </a:rPr>
              <a:t>on</a:t>
            </a:r>
            <a:r>
              <a:rPr dirty="0" sz="1000" spc="110">
                <a:latin typeface="Times New Roman"/>
                <a:cs typeface="Times New Roman"/>
              </a:rPr>
              <a:t> </a:t>
            </a:r>
            <a:r>
              <a:rPr dirty="0" sz="1000">
                <a:latin typeface="Times New Roman"/>
                <a:cs typeface="Times New Roman"/>
              </a:rPr>
              <a:t>both</a:t>
            </a:r>
            <a:r>
              <a:rPr dirty="0" sz="1000" spc="110">
                <a:latin typeface="Times New Roman"/>
                <a:cs typeface="Times New Roman"/>
              </a:rPr>
              <a:t> </a:t>
            </a:r>
            <a:r>
              <a:rPr dirty="0" sz="1000">
                <a:latin typeface="Times New Roman"/>
                <a:cs typeface="Times New Roman"/>
              </a:rPr>
              <a:t>scenarios:</a:t>
            </a:r>
            <a:r>
              <a:rPr dirty="0" sz="1000" spc="265">
                <a:latin typeface="Times New Roman"/>
                <a:cs typeface="Times New Roman"/>
              </a:rPr>
              <a:t> </a:t>
            </a:r>
            <a:r>
              <a:rPr dirty="0" sz="1000">
                <a:latin typeface="Times New Roman"/>
                <a:cs typeface="Times New Roman"/>
              </a:rPr>
              <a:t>(1)</a:t>
            </a:r>
            <a:r>
              <a:rPr dirty="0" sz="1000" spc="110">
                <a:latin typeface="Times New Roman"/>
                <a:cs typeface="Times New Roman"/>
              </a:rPr>
              <a:t> </a:t>
            </a:r>
            <a:r>
              <a:rPr dirty="0" sz="1000">
                <a:latin typeface="Times New Roman"/>
                <a:cs typeface="Times New Roman"/>
              </a:rPr>
              <a:t>training</a:t>
            </a:r>
            <a:r>
              <a:rPr dirty="0" sz="1000" spc="110">
                <a:latin typeface="Times New Roman"/>
                <a:cs typeface="Times New Roman"/>
              </a:rPr>
              <a:t> </a:t>
            </a:r>
            <a:r>
              <a:rPr dirty="0" sz="1000">
                <a:latin typeface="Times New Roman"/>
                <a:cs typeface="Times New Roman"/>
              </a:rPr>
              <a:t>from</a:t>
            </a:r>
            <a:r>
              <a:rPr dirty="0" sz="1000" spc="110">
                <a:latin typeface="Times New Roman"/>
                <a:cs typeface="Times New Roman"/>
              </a:rPr>
              <a:t> </a:t>
            </a:r>
            <a:r>
              <a:rPr dirty="0" sz="1000">
                <a:latin typeface="Times New Roman"/>
                <a:cs typeface="Times New Roman"/>
              </a:rPr>
              <a:t>scratch</a:t>
            </a:r>
            <a:r>
              <a:rPr dirty="0" sz="1000" spc="110">
                <a:latin typeface="Times New Roman"/>
                <a:cs typeface="Times New Roman"/>
              </a:rPr>
              <a:t> </a:t>
            </a:r>
            <a:r>
              <a:rPr dirty="0" sz="1000">
                <a:latin typeface="Times New Roman"/>
                <a:cs typeface="Times New Roman"/>
              </a:rPr>
              <a:t>on</a:t>
            </a:r>
            <a:r>
              <a:rPr dirty="0" sz="1000" spc="114">
                <a:latin typeface="Times New Roman"/>
                <a:cs typeface="Times New Roman"/>
              </a:rPr>
              <a:t> </a:t>
            </a:r>
            <a:r>
              <a:rPr dirty="0" sz="1000" spc="-10">
                <a:latin typeface="Times New Roman"/>
                <a:cs typeface="Times New Roman"/>
              </a:rPr>
              <a:t>NYUv2;</a:t>
            </a:r>
            <a:r>
              <a:rPr dirty="0" sz="1000" spc="135">
                <a:latin typeface="Times New Roman"/>
                <a:cs typeface="Times New Roman"/>
              </a:rPr>
              <a:t> </a:t>
            </a:r>
            <a:r>
              <a:rPr dirty="0" sz="1000" spc="-25">
                <a:latin typeface="Times New Roman"/>
                <a:cs typeface="Times New Roman"/>
              </a:rPr>
              <a:t>(2) </a:t>
            </a:r>
            <a:r>
              <a:rPr dirty="0" sz="1000" spc="10">
                <a:latin typeface="Times New Roman"/>
                <a:cs typeface="Times New Roman"/>
              </a:rPr>
              <a:t>pretraining</a:t>
            </a:r>
            <a:r>
              <a:rPr dirty="0" sz="1000" spc="75">
                <a:latin typeface="Times New Roman"/>
                <a:cs typeface="Times New Roman"/>
              </a:rPr>
              <a:t> </a:t>
            </a:r>
            <a:r>
              <a:rPr dirty="0" sz="1000" spc="10">
                <a:latin typeface="Times New Roman"/>
                <a:cs typeface="Times New Roman"/>
              </a:rPr>
              <a:t>on</a:t>
            </a:r>
            <a:r>
              <a:rPr dirty="0" sz="1000" spc="80">
                <a:latin typeface="Times New Roman"/>
                <a:cs typeface="Times New Roman"/>
              </a:rPr>
              <a:t> </a:t>
            </a:r>
            <a:r>
              <a:rPr dirty="0" sz="1000" spc="10">
                <a:latin typeface="Times New Roman"/>
                <a:cs typeface="Times New Roman"/>
              </a:rPr>
              <a:t>ImageNet</a:t>
            </a:r>
            <a:r>
              <a:rPr dirty="0" sz="1000" spc="75">
                <a:latin typeface="Times New Roman"/>
                <a:cs typeface="Times New Roman"/>
              </a:rPr>
              <a:t> </a:t>
            </a:r>
            <a:r>
              <a:rPr dirty="0" sz="1000" spc="10">
                <a:latin typeface="Times New Roman"/>
                <a:cs typeface="Times New Roman"/>
              </a:rPr>
              <a:t>followed</a:t>
            </a:r>
            <a:r>
              <a:rPr dirty="0" sz="1000" spc="80">
                <a:latin typeface="Times New Roman"/>
                <a:cs typeface="Times New Roman"/>
              </a:rPr>
              <a:t> </a:t>
            </a:r>
            <a:r>
              <a:rPr dirty="0" sz="1000" spc="10">
                <a:latin typeface="Times New Roman"/>
                <a:cs typeface="Times New Roman"/>
              </a:rPr>
              <a:t>by</a:t>
            </a:r>
            <a:r>
              <a:rPr dirty="0" sz="1000" spc="80">
                <a:latin typeface="Times New Roman"/>
                <a:cs typeface="Times New Roman"/>
              </a:rPr>
              <a:t> </a:t>
            </a:r>
            <a:r>
              <a:rPr dirty="0" sz="1000" spc="10">
                <a:latin typeface="Times New Roman"/>
                <a:cs typeface="Times New Roman"/>
              </a:rPr>
              <a:t>fine-tuning</a:t>
            </a:r>
            <a:r>
              <a:rPr dirty="0" sz="1000" spc="80">
                <a:latin typeface="Times New Roman"/>
                <a:cs typeface="Times New Roman"/>
              </a:rPr>
              <a:t> </a:t>
            </a:r>
            <a:r>
              <a:rPr dirty="0" sz="1000" spc="10">
                <a:latin typeface="Times New Roman"/>
                <a:cs typeface="Times New Roman"/>
              </a:rPr>
              <a:t>on</a:t>
            </a:r>
            <a:r>
              <a:rPr dirty="0" sz="1000" spc="80">
                <a:latin typeface="Times New Roman"/>
                <a:cs typeface="Times New Roman"/>
              </a:rPr>
              <a:t> </a:t>
            </a:r>
            <a:r>
              <a:rPr dirty="0" sz="1000" spc="10">
                <a:latin typeface="Times New Roman"/>
                <a:cs typeface="Times New Roman"/>
              </a:rPr>
              <a:t>NYUv2.</a:t>
            </a:r>
            <a:r>
              <a:rPr dirty="0" sz="1000" spc="290">
                <a:latin typeface="Times New Roman"/>
                <a:cs typeface="Times New Roman"/>
              </a:rPr>
              <a:t> </a:t>
            </a:r>
            <a:r>
              <a:rPr dirty="0" sz="1000" spc="10">
                <a:latin typeface="Times New Roman"/>
                <a:cs typeface="Times New Roman"/>
              </a:rPr>
              <a:t>For</a:t>
            </a:r>
            <a:r>
              <a:rPr dirty="0" sz="1000" spc="80">
                <a:latin typeface="Times New Roman"/>
                <a:cs typeface="Times New Roman"/>
              </a:rPr>
              <a:t> </a:t>
            </a:r>
            <a:r>
              <a:rPr dirty="0" sz="1000" spc="10">
                <a:latin typeface="Times New Roman"/>
                <a:cs typeface="Times New Roman"/>
              </a:rPr>
              <a:t>both</a:t>
            </a:r>
            <a:r>
              <a:rPr dirty="0" sz="1000" spc="85">
                <a:latin typeface="Times New Roman"/>
                <a:cs typeface="Times New Roman"/>
              </a:rPr>
              <a:t> </a:t>
            </a:r>
            <a:r>
              <a:rPr dirty="0" sz="1000" spc="10">
                <a:latin typeface="Times New Roman"/>
                <a:cs typeface="Times New Roman"/>
              </a:rPr>
              <a:t>scenarios,</a:t>
            </a:r>
            <a:r>
              <a:rPr dirty="0" sz="1000" spc="90">
                <a:latin typeface="Times New Roman"/>
                <a:cs typeface="Times New Roman"/>
              </a:rPr>
              <a:t> </a:t>
            </a:r>
            <a:r>
              <a:rPr dirty="0" sz="1000" spc="10">
                <a:latin typeface="Times New Roman"/>
                <a:cs typeface="Times New Roman"/>
              </a:rPr>
              <a:t>the</a:t>
            </a:r>
            <a:r>
              <a:rPr dirty="0" sz="1000" spc="80">
                <a:latin typeface="Times New Roman"/>
                <a:cs typeface="Times New Roman"/>
              </a:rPr>
              <a:t> </a:t>
            </a:r>
            <a:r>
              <a:rPr dirty="0" sz="1000" spc="10">
                <a:latin typeface="Times New Roman"/>
                <a:cs typeface="Times New Roman"/>
              </a:rPr>
              <a:t>proposed</a:t>
            </a:r>
            <a:r>
              <a:rPr dirty="0" sz="1000" spc="75">
                <a:latin typeface="Times New Roman"/>
                <a:cs typeface="Times New Roman"/>
              </a:rPr>
              <a:t> </a:t>
            </a:r>
            <a:r>
              <a:rPr dirty="0" sz="1000" spc="10">
                <a:latin typeface="Times New Roman"/>
                <a:cs typeface="Times New Roman"/>
              </a:rPr>
              <a:t>DGL</a:t>
            </a:r>
            <a:r>
              <a:rPr dirty="0" sz="1000" spc="80">
                <a:latin typeface="Times New Roman"/>
                <a:cs typeface="Times New Roman"/>
              </a:rPr>
              <a:t> </a:t>
            </a:r>
            <a:r>
              <a:rPr dirty="0" sz="1000" spc="-10">
                <a:latin typeface="Times New Roman"/>
                <a:cs typeface="Times New Roman"/>
              </a:rPr>
              <a:t>signif- </a:t>
            </a:r>
            <a:r>
              <a:rPr dirty="0" sz="1000">
                <a:latin typeface="Times New Roman"/>
                <a:cs typeface="Times New Roman"/>
              </a:rPr>
              <a:t>icantly</a:t>
            </a:r>
            <a:r>
              <a:rPr dirty="0" sz="1000" spc="120">
                <a:latin typeface="Times New Roman"/>
                <a:cs typeface="Times New Roman"/>
              </a:rPr>
              <a:t> </a:t>
            </a:r>
            <a:r>
              <a:rPr dirty="0" sz="1000">
                <a:latin typeface="Times New Roman"/>
                <a:cs typeface="Times New Roman"/>
              </a:rPr>
              <a:t>enhances</a:t>
            </a:r>
            <a:r>
              <a:rPr dirty="0" sz="1000" spc="120">
                <a:latin typeface="Times New Roman"/>
                <a:cs typeface="Times New Roman"/>
              </a:rPr>
              <a:t> </a:t>
            </a:r>
            <a:r>
              <a:rPr dirty="0" sz="1000">
                <a:latin typeface="Times New Roman"/>
                <a:cs typeface="Times New Roman"/>
              </a:rPr>
              <a:t>the</a:t>
            </a:r>
            <a:r>
              <a:rPr dirty="0" sz="1000" spc="125">
                <a:latin typeface="Times New Roman"/>
                <a:cs typeface="Times New Roman"/>
              </a:rPr>
              <a:t> </a:t>
            </a:r>
            <a:r>
              <a:rPr dirty="0" sz="1000">
                <a:latin typeface="Times New Roman"/>
                <a:cs typeface="Times New Roman"/>
              </a:rPr>
              <a:t>performance</a:t>
            </a:r>
            <a:r>
              <a:rPr dirty="0" sz="1000" spc="120">
                <a:latin typeface="Times New Roman"/>
                <a:cs typeface="Times New Roman"/>
              </a:rPr>
              <a:t> </a:t>
            </a:r>
            <a:r>
              <a:rPr dirty="0" sz="1000">
                <a:latin typeface="Times New Roman"/>
                <a:cs typeface="Times New Roman"/>
              </a:rPr>
              <a:t>of</a:t>
            </a:r>
            <a:r>
              <a:rPr dirty="0" sz="1000" spc="125">
                <a:latin typeface="Times New Roman"/>
                <a:cs typeface="Times New Roman"/>
              </a:rPr>
              <a:t> </a:t>
            </a:r>
            <a:r>
              <a:rPr dirty="0" sz="1000">
                <a:latin typeface="Times New Roman"/>
                <a:cs typeface="Times New Roman"/>
              </a:rPr>
              <a:t>ESANet.</a:t>
            </a:r>
            <a:r>
              <a:rPr dirty="0" sz="1000" spc="355">
                <a:latin typeface="Times New Roman"/>
                <a:cs typeface="Times New Roman"/>
              </a:rPr>
              <a:t> </a:t>
            </a:r>
            <a:r>
              <a:rPr dirty="0" sz="1000">
                <a:latin typeface="Times New Roman"/>
                <a:cs typeface="Times New Roman"/>
              </a:rPr>
              <a:t>This</a:t>
            </a:r>
            <a:r>
              <a:rPr dirty="0" sz="1000" spc="120">
                <a:latin typeface="Times New Roman"/>
                <a:cs typeface="Times New Roman"/>
              </a:rPr>
              <a:t> </a:t>
            </a:r>
            <a:r>
              <a:rPr dirty="0" sz="1000">
                <a:latin typeface="Times New Roman"/>
                <a:cs typeface="Times New Roman"/>
              </a:rPr>
              <a:t>confirms</a:t>
            </a:r>
            <a:r>
              <a:rPr dirty="0" sz="1000" spc="125">
                <a:latin typeface="Times New Roman"/>
                <a:cs typeface="Times New Roman"/>
              </a:rPr>
              <a:t> </a:t>
            </a:r>
            <a:r>
              <a:rPr dirty="0" sz="1000">
                <a:latin typeface="Times New Roman"/>
                <a:cs typeface="Times New Roman"/>
              </a:rPr>
              <a:t>the</a:t>
            </a:r>
            <a:r>
              <a:rPr dirty="0" sz="1000" spc="120">
                <a:latin typeface="Times New Roman"/>
                <a:cs typeface="Times New Roman"/>
              </a:rPr>
              <a:t> </a:t>
            </a:r>
            <a:r>
              <a:rPr dirty="0" sz="1000">
                <a:latin typeface="Times New Roman"/>
                <a:cs typeface="Times New Roman"/>
              </a:rPr>
              <a:t>ability</a:t>
            </a:r>
            <a:r>
              <a:rPr dirty="0" sz="1000" spc="125">
                <a:latin typeface="Times New Roman"/>
                <a:cs typeface="Times New Roman"/>
              </a:rPr>
              <a:t> </a:t>
            </a:r>
            <a:r>
              <a:rPr dirty="0" sz="1000">
                <a:latin typeface="Times New Roman"/>
                <a:cs typeface="Times New Roman"/>
              </a:rPr>
              <a:t>of</a:t>
            </a:r>
            <a:r>
              <a:rPr dirty="0" sz="1000" spc="120">
                <a:latin typeface="Times New Roman"/>
                <a:cs typeface="Times New Roman"/>
              </a:rPr>
              <a:t> </a:t>
            </a:r>
            <a:r>
              <a:rPr dirty="0" sz="1000">
                <a:latin typeface="Times New Roman"/>
                <a:cs typeface="Times New Roman"/>
              </a:rPr>
              <a:t>DGL</a:t>
            </a:r>
            <a:r>
              <a:rPr dirty="0" sz="1000" spc="125">
                <a:latin typeface="Times New Roman"/>
                <a:cs typeface="Times New Roman"/>
              </a:rPr>
              <a:t> </a:t>
            </a:r>
            <a:r>
              <a:rPr dirty="0" sz="1000">
                <a:latin typeface="Times New Roman"/>
                <a:cs typeface="Times New Roman"/>
              </a:rPr>
              <a:t>to</a:t>
            </a:r>
            <a:r>
              <a:rPr dirty="0" sz="1000" spc="120">
                <a:latin typeface="Times New Roman"/>
                <a:cs typeface="Times New Roman"/>
              </a:rPr>
              <a:t> </a:t>
            </a:r>
            <a:r>
              <a:rPr dirty="0" sz="1000">
                <a:latin typeface="Times New Roman"/>
                <a:cs typeface="Times New Roman"/>
              </a:rPr>
              <a:t>handle</a:t>
            </a:r>
            <a:r>
              <a:rPr dirty="0" sz="1000" spc="125">
                <a:latin typeface="Times New Roman"/>
                <a:cs typeface="Times New Roman"/>
              </a:rPr>
              <a:t> </a:t>
            </a:r>
            <a:r>
              <a:rPr dirty="0" sz="1000">
                <a:latin typeface="Times New Roman"/>
                <a:cs typeface="Times New Roman"/>
              </a:rPr>
              <a:t>tasks</a:t>
            </a:r>
            <a:r>
              <a:rPr dirty="0" sz="1000" spc="120">
                <a:latin typeface="Times New Roman"/>
                <a:cs typeface="Times New Roman"/>
              </a:rPr>
              <a:t> </a:t>
            </a:r>
            <a:r>
              <a:rPr dirty="0" sz="1000">
                <a:latin typeface="Times New Roman"/>
                <a:cs typeface="Times New Roman"/>
              </a:rPr>
              <a:t>beyond</a:t>
            </a:r>
            <a:r>
              <a:rPr dirty="0" sz="1000" spc="125">
                <a:latin typeface="Times New Roman"/>
                <a:cs typeface="Times New Roman"/>
              </a:rPr>
              <a:t> </a:t>
            </a:r>
            <a:r>
              <a:rPr dirty="0" sz="1000" spc="-25">
                <a:latin typeface="Times New Roman"/>
                <a:cs typeface="Times New Roman"/>
              </a:rPr>
              <a:t>the </a:t>
            </a:r>
            <a:r>
              <a:rPr dirty="0" sz="1000">
                <a:latin typeface="Times New Roman"/>
                <a:cs typeface="Times New Roman"/>
              </a:rPr>
              <a:t>audio-visual</a:t>
            </a:r>
            <a:r>
              <a:rPr dirty="0" sz="1000" spc="125">
                <a:latin typeface="Times New Roman"/>
                <a:cs typeface="Times New Roman"/>
              </a:rPr>
              <a:t> </a:t>
            </a:r>
            <a:r>
              <a:rPr dirty="0" sz="1000">
                <a:latin typeface="Times New Roman"/>
                <a:cs typeface="Times New Roman"/>
              </a:rPr>
              <a:t>data</a:t>
            </a:r>
            <a:r>
              <a:rPr dirty="0" sz="1000" spc="125">
                <a:latin typeface="Times New Roman"/>
                <a:cs typeface="Times New Roman"/>
              </a:rPr>
              <a:t> </a:t>
            </a:r>
            <a:r>
              <a:rPr dirty="0" sz="1000">
                <a:latin typeface="Times New Roman"/>
                <a:cs typeface="Times New Roman"/>
              </a:rPr>
              <a:t>and</a:t>
            </a:r>
            <a:r>
              <a:rPr dirty="0" sz="1000" spc="125">
                <a:latin typeface="Times New Roman"/>
                <a:cs typeface="Times New Roman"/>
              </a:rPr>
              <a:t> </a:t>
            </a:r>
            <a:r>
              <a:rPr dirty="0" sz="1000" spc="-10">
                <a:latin typeface="Times New Roman"/>
                <a:cs typeface="Times New Roman"/>
              </a:rPr>
              <a:t>classification.</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a:lnSpc>
                <a:spcPct val="129500"/>
              </a:lnSpc>
            </a:pPr>
            <a:r>
              <a:rPr dirty="0" sz="1000" spc="-90">
                <a:latin typeface="SimSun"/>
                <a:cs typeface="SimSun"/>
              </a:rPr>
              <a:t>如表 </a:t>
            </a:r>
            <a:r>
              <a:rPr dirty="0" sz="1000" spc="-10">
                <a:latin typeface="Times New Roman"/>
                <a:cs typeface="Times New Roman"/>
              </a:rPr>
              <a:t>5</a:t>
            </a:r>
            <a:r>
              <a:rPr dirty="0" sz="1000" spc="10">
                <a:latin typeface="Times New Roman"/>
                <a:cs typeface="Times New Roman"/>
              </a:rPr>
              <a:t> </a:t>
            </a:r>
            <a:r>
              <a:rPr dirty="0" sz="1000" spc="-10">
                <a:latin typeface="SimSun"/>
                <a:cs typeface="SimSun"/>
              </a:rPr>
              <a:t>所示，我们在两种场景下训练网络</a:t>
            </a:r>
            <a:r>
              <a:rPr dirty="0" sz="1000" spc="-15">
                <a:latin typeface="Times New Roman"/>
                <a:cs typeface="Times New Roman"/>
              </a:rPr>
              <a:t>:(1)</a:t>
            </a:r>
            <a:r>
              <a:rPr dirty="0" sz="1000" spc="10">
                <a:latin typeface="Times New Roman"/>
                <a:cs typeface="Times New Roman"/>
              </a:rPr>
              <a:t> </a:t>
            </a:r>
            <a:r>
              <a:rPr dirty="0" sz="1000" spc="-125">
                <a:latin typeface="SimSun"/>
                <a:cs typeface="SimSun"/>
              </a:rPr>
              <a:t>在 </a:t>
            </a:r>
            <a:r>
              <a:rPr dirty="0" sz="1000" spc="-20">
                <a:latin typeface="Times New Roman"/>
                <a:cs typeface="Times New Roman"/>
              </a:rPr>
              <a:t>NYUv2</a:t>
            </a:r>
            <a:r>
              <a:rPr dirty="0" sz="1000" spc="10">
                <a:latin typeface="Times New Roman"/>
                <a:cs typeface="Times New Roman"/>
              </a:rPr>
              <a:t> </a:t>
            </a:r>
            <a:r>
              <a:rPr dirty="0" sz="1000" spc="-10">
                <a:latin typeface="SimSun"/>
                <a:cs typeface="SimSun"/>
              </a:rPr>
              <a:t>上从头开始训练；</a:t>
            </a:r>
            <a:r>
              <a:rPr dirty="0" sz="1000" spc="-5">
                <a:latin typeface="Times New Roman"/>
                <a:cs typeface="Times New Roman"/>
              </a:rPr>
              <a:t>(2)</a:t>
            </a:r>
            <a:r>
              <a:rPr dirty="0" sz="1000" spc="10">
                <a:latin typeface="Times New Roman"/>
                <a:cs typeface="Times New Roman"/>
              </a:rPr>
              <a:t> </a:t>
            </a:r>
            <a:r>
              <a:rPr dirty="0" sz="1000" spc="-125">
                <a:latin typeface="SimSun"/>
                <a:cs typeface="SimSun"/>
              </a:rPr>
              <a:t>在 </a:t>
            </a:r>
            <a:r>
              <a:rPr dirty="0" sz="1000" spc="15">
                <a:latin typeface="Times New Roman"/>
                <a:cs typeface="Times New Roman"/>
              </a:rPr>
              <a:t>ImageNet</a:t>
            </a:r>
            <a:r>
              <a:rPr dirty="0" sz="1000" spc="10">
                <a:latin typeface="Times New Roman"/>
                <a:cs typeface="Times New Roman"/>
              </a:rPr>
              <a:t> </a:t>
            </a:r>
            <a:r>
              <a:rPr dirty="0" sz="1000" spc="-10">
                <a:latin typeface="SimSun"/>
                <a:cs typeface="SimSun"/>
              </a:rPr>
              <a:t>上进行</a:t>
            </a:r>
            <a:r>
              <a:rPr dirty="0" sz="1000" spc="5">
                <a:latin typeface="SimSun"/>
                <a:cs typeface="SimSun"/>
              </a:rPr>
              <a:t>预训练，然后在</a:t>
            </a:r>
            <a:r>
              <a:rPr dirty="0" sz="1000" spc="-20">
                <a:latin typeface="Times New Roman"/>
                <a:cs typeface="Times New Roman"/>
              </a:rPr>
              <a:t>NYUv2</a:t>
            </a:r>
            <a:r>
              <a:rPr dirty="0" sz="1000" spc="-25">
                <a:latin typeface="Times New Roman"/>
                <a:cs typeface="Times New Roman"/>
              </a:rPr>
              <a:t> </a:t>
            </a:r>
            <a:r>
              <a:rPr dirty="0" sz="1000" spc="-15">
                <a:latin typeface="SimSun"/>
                <a:cs typeface="SimSun"/>
              </a:rPr>
              <a:t>上进行微调。对于这两种场景，所提出的</a:t>
            </a:r>
            <a:r>
              <a:rPr dirty="0" sz="1000" spc="-15">
                <a:latin typeface="Times New Roman"/>
                <a:cs typeface="Times New Roman"/>
              </a:rPr>
              <a:t>DGL</a:t>
            </a:r>
            <a:r>
              <a:rPr dirty="0" sz="1000" spc="-25">
                <a:latin typeface="Times New Roman"/>
                <a:cs typeface="Times New Roman"/>
              </a:rPr>
              <a:t> </a:t>
            </a:r>
            <a:r>
              <a:rPr dirty="0" sz="1000" spc="25">
                <a:latin typeface="SimSun"/>
                <a:cs typeface="SimSun"/>
              </a:rPr>
              <a:t>都显著提高了</a:t>
            </a:r>
            <a:r>
              <a:rPr dirty="0" sz="1000" spc="-5">
                <a:latin typeface="Times New Roman"/>
                <a:cs typeface="Times New Roman"/>
              </a:rPr>
              <a:t>ESANet</a:t>
            </a:r>
            <a:r>
              <a:rPr dirty="0" sz="1000" spc="-25">
                <a:latin typeface="Times New Roman"/>
                <a:cs typeface="Times New Roman"/>
              </a:rPr>
              <a:t> </a:t>
            </a:r>
            <a:r>
              <a:rPr dirty="0" sz="1000" spc="-10">
                <a:latin typeface="SimSun"/>
                <a:cs typeface="SimSun"/>
              </a:rPr>
              <a:t>的性</a:t>
            </a:r>
            <a:r>
              <a:rPr dirty="0" sz="1000" spc="25">
                <a:latin typeface="SimSun"/>
                <a:cs typeface="SimSun"/>
              </a:rPr>
              <a:t>能。这证实了</a:t>
            </a:r>
            <a:r>
              <a:rPr dirty="0" sz="1000" spc="-15">
                <a:latin typeface="Times New Roman"/>
                <a:cs typeface="Times New Roman"/>
              </a:rPr>
              <a:t>DGL</a:t>
            </a:r>
            <a:r>
              <a:rPr dirty="0" sz="1000" spc="-20">
                <a:latin typeface="Times New Roman"/>
                <a:cs typeface="Times New Roman"/>
              </a:rPr>
              <a:t> </a:t>
            </a:r>
            <a:r>
              <a:rPr dirty="0" sz="1000" spc="-10">
                <a:latin typeface="SimSun"/>
                <a:cs typeface="SimSun"/>
              </a:rPr>
              <a:t>处理视听数据和分类以外任务的能力。</a:t>
            </a:r>
            <a:endParaRPr sz="1000">
              <a:latin typeface="SimSun"/>
              <a:cs typeface="SimSun"/>
            </a:endParaRPr>
          </a:p>
        </p:txBody>
      </p:sp>
      <p:pic>
        <p:nvPicPr>
          <p:cNvPr id="15" name="object 15" descr=""/>
          <p:cNvPicPr/>
          <p:nvPr/>
        </p:nvPicPr>
        <p:blipFill>
          <a:blip r:embed="rId2" cstate="print"/>
          <a:stretch>
            <a:fillRect/>
          </a:stretch>
        </p:blipFill>
        <p:spPr>
          <a:xfrm>
            <a:off x="2372273" y="7346039"/>
            <a:ext cx="2847658" cy="1204313"/>
          </a:xfrm>
          <a:prstGeom prst="rect">
            <a:avLst/>
          </a:prstGeom>
        </p:spPr>
      </p:pic>
      <p:sp>
        <p:nvSpPr>
          <p:cNvPr id="16" name="object 16" descr=""/>
          <p:cNvSpPr txBox="1"/>
          <p:nvPr/>
        </p:nvSpPr>
        <p:spPr>
          <a:xfrm>
            <a:off x="874598" y="8894909"/>
            <a:ext cx="5836285" cy="617855"/>
          </a:xfrm>
          <a:prstGeom prst="rect">
            <a:avLst/>
          </a:prstGeom>
        </p:spPr>
        <p:txBody>
          <a:bodyPr wrap="square" lIns="0" tIns="12700" rIns="0" bIns="0" rtlCol="0" vert="horz">
            <a:spAutoFit/>
          </a:bodyPr>
          <a:lstStyle/>
          <a:p>
            <a:pPr algn="just" marL="25400" marR="43180" indent="252729">
              <a:lnSpc>
                <a:spcPct val="129500"/>
              </a:lnSpc>
              <a:spcBef>
                <a:spcPts val="100"/>
              </a:spcBef>
            </a:pPr>
            <a:r>
              <a:rPr dirty="0" sz="1000" spc="20">
                <a:latin typeface="Times New Roman"/>
                <a:cs typeface="Times New Roman"/>
              </a:rPr>
              <a:t>Figure</a:t>
            </a:r>
            <a:r>
              <a:rPr dirty="0" sz="1000" spc="-65">
                <a:latin typeface="Times New Roman"/>
                <a:cs typeface="Times New Roman"/>
              </a:rPr>
              <a:t> </a:t>
            </a:r>
            <a:r>
              <a:rPr dirty="0" sz="1000" spc="-10">
                <a:latin typeface="Times New Roman"/>
                <a:cs typeface="Times New Roman"/>
              </a:rPr>
              <a:t>3.</a:t>
            </a:r>
            <a:r>
              <a:rPr dirty="0" sz="1000" spc="45">
                <a:latin typeface="Times New Roman"/>
                <a:cs typeface="Times New Roman"/>
              </a:rPr>
              <a:t> </a:t>
            </a:r>
            <a:r>
              <a:rPr dirty="0" sz="1000" spc="15">
                <a:latin typeface="Times New Roman"/>
                <a:cs typeface="Times New Roman"/>
              </a:rPr>
              <a:t>Visualization</a:t>
            </a:r>
            <a:r>
              <a:rPr dirty="0" sz="1000" spc="-65">
                <a:latin typeface="Times New Roman"/>
                <a:cs typeface="Times New Roman"/>
              </a:rPr>
              <a:t> </a:t>
            </a:r>
            <a:r>
              <a:rPr dirty="0" sz="1000" spc="40">
                <a:latin typeface="Times New Roman"/>
                <a:cs typeface="Times New Roman"/>
              </a:rPr>
              <a:t>on</a:t>
            </a:r>
            <a:r>
              <a:rPr dirty="0" sz="1000" spc="-60">
                <a:latin typeface="Times New Roman"/>
                <a:cs typeface="Times New Roman"/>
              </a:rPr>
              <a:t> </a:t>
            </a:r>
            <a:r>
              <a:rPr dirty="0" sz="1000" spc="40">
                <a:latin typeface="Times New Roman"/>
                <a:cs typeface="Times New Roman"/>
              </a:rPr>
              <a:t>the</a:t>
            </a:r>
            <a:r>
              <a:rPr dirty="0" sz="1000" spc="-60">
                <a:latin typeface="Times New Roman"/>
                <a:cs typeface="Times New Roman"/>
              </a:rPr>
              <a:t> </a:t>
            </a:r>
            <a:r>
              <a:rPr dirty="0" sz="1000" spc="-5">
                <a:latin typeface="Times New Roman"/>
                <a:cs typeface="Times New Roman"/>
              </a:rPr>
              <a:t>CREMA-</a:t>
            </a:r>
            <a:r>
              <a:rPr dirty="0" sz="1000" spc="-25">
                <a:latin typeface="Times New Roman"/>
                <a:cs typeface="Times New Roman"/>
              </a:rPr>
              <a:t>D</a:t>
            </a:r>
            <a:r>
              <a:rPr dirty="0" sz="1000" spc="-65">
                <a:latin typeface="Times New Roman"/>
                <a:cs typeface="Times New Roman"/>
              </a:rPr>
              <a:t> </a:t>
            </a:r>
            <a:r>
              <a:rPr dirty="0" sz="1000" spc="20">
                <a:latin typeface="Times New Roman"/>
                <a:cs typeface="Times New Roman"/>
              </a:rPr>
              <a:t>dataset.</a:t>
            </a:r>
            <a:r>
              <a:rPr dirty="0" sz="1000" spc="45">
                <a:latin typeface="Times New Roman"/>
                <a:cs typeface="Times New Roman"/>
              </a:rPr>
              <a:t> </a:t>
            </a:r>
            <a:r>
              <a:rPr dirty="0" sz="1000" spc="10">
                <a:latin typeface="Times New Roman"/>
                <a:cs typeface="Times New Roman"/>
              </a:rPr>
              <a:t>(a)</a:t>
            </a:r>
            <a:r>
              <a:rPr dirty="0" sz="1000" spc="-65">
                <a:latin typeface="Times New Roman"/>
                <a:cs typeface="Times New Roman"/>
              </a:rPr>
              <a:t> </a:t>
            </a:r>
            <a:r>
              <a:rPr dirty="0" sz="1000" spc="20">
                <a:latin typeface="Times New Roman"/>
                <a:cs typeface="Times New Roman"/>
              </a:rPr>
              <a:t>illustrates</a:t>
            </a:r>
            <a:r>
              <a:rPr dirty="0" sz="1000" spc="-65">
                <a:latin typeface="Times New Roman"/>
                <a:cs typeface="Times New Roman"/>
              </a:rPr>
              <a:t> </a:t>
            </a:r>
            <a:r>
              <a:rPr dirty="0" sz="1000" spc="-80">
                <a:latin typeface="Cambria"/>
                <a:cs typeface="Cambria"/>
              </a:rPr>
              <a:t>𝑠</a:t>
            </a:r>
            <a:r>
              <a:rPr dirty="0" sz="1000" spc="55">
                <a:latin typeface="Cambria"/>
                <a:cs typeface="Cambria"/>
              </a:rPr>
              <a:t> </a:t>
            </a:r>
            <a:r>
              <a:rPr dirty="0" sz="1000" spc="165">
                <a:latin typeface="Cambria"/>
                <a:cs typeface="Cambria"/>
              </a:rPr>
              <a:t>=</a:t>
            </a:r>
            <a:r>
              <a:rPr dirty="0" sz="1000" spc="55">
                <a:latin typeface="Cambria"/>
                <a:cs typeface="Cambria"/>
              </a:rPr>
              <a:t> </a:t>
            </a:r>
            <a:r>
              <a:rPr dirty="0" sz="1000" spc="-20">
                <a:latin typeface="Cambria"/>
                <a:cs typeface="Cambria"/>
              </a:rPr>
              <a:t>𝑒</a:t>
            </a:r>
            <a:r>
              <a:rPr dirty="0" baseline="39682" sz="1050" spc="-30">
                <a:latin typeface="Cambria"/>
                <a:cs typeface="Cambria"/>
              </a:rPr>
              <a:t>(𝑊</a:t>
            </a:r>
            <a:r>
              <a:rPr dirty="0" baseline="25252" sz="825" spc="-30">
                <a:latin typeface="Cambria"/>
                <a:cs typeface="Cambria"/>
              </a:rPr>
              <a:t>𝑘</a:t>
            </a:r>
            <a:r>
              <a:rPr dirty="0" baseline="95959" sz="825" spc="-30">
                <a:latin typeface="Cambria"/>
                <a:cs typeface="Cambria"/>
              </a:rPr>
              <a:t>𝑚</a:t>
            </a:r>
            <a:r>
              <a:rPr dirty="0" baseline="80808" sz="825" spc="-30">
                <a:latin typeface="Cambria"/>
                <a:cs typeface="Cambria"/>
              </a:rPr>
              <a:t>2</a:t>
            </a:r>
            <a:r>
              <a:rPr dirty="0" baseline="80808" sz="825" spc="-37">
                <a:latin typeface="Cambria"/>
                <a:cs typeface="Cambria"/>
              </a:rPr>
              <a:t> </a:t>
            </a:r>
            <a:r>
              <a:rPr dirty="0" baseline="39682" sz="1050" spc="-67">
                <a:latin typeface="Cambria"/>
                <a:cs typeface="Cambria"/>
              </a:rPr>
              <a:t>−𝑊</a:t>
            </a:r>
            <a:r>
              <a:rPr dirty="0" baseline="40404" sz="825" spc="-67">
                <a:latin typeface="Cambria"/>
                <a:cs typeface="Cambria"/>
              </a:rPr>
              <a:t>𝑦</a:t>
            </a:r>
            <a:r>
              <a:rPr dirty="0" baseline="95959" sz="825" spc="-67">
                <a:latin typeface="Cambria"/>
                <a:cs typeface="Cambria"/>
              </a:rPr>
              <a:t>𝑚</a:t>
            </a:r>
            <a:r>
              <a:rPr dirty="0" baseline="15151" sz="825" spc="-67">
                <a:latin typeface="Cambria"/>
                <a:cs typeface="Cambria"/>
              </a:rPr>
              <a:t>𝑖</a:t>
            </a:r>
            <a:r>
              <a:rPr dirty="0" baseline="15151" sz="825" spc="-52">
                <a:latin typeface="Cambria"/>
                <a:cs typeface="Cambria"/>
              </a:rPr>
              <a:t> </a:t>
            </a:r>
            <a:r>
              <a:rPr dirty="0" baseline="80808" sz="825" spc="7">
                <a:latin typeface="Cambria"/>
                <a:cs typeface="Cambria"/>
              </a:rPr>
              <a:t>2</a:t>
            </a:r>
            <a:r>
              <a:rPr dirty="0" baseline="80808" sz="825" spc="-37">
                <a:latin typeface="Cambria"/>
                <a:cs typeface="Cambria"/>
              </a:rPr>
              <a:t> </a:t>
            </a:r>
            <a:r>
              <a:rPr dirty="0" baseline="39682" sz="1050" spc="7">
                <a:latin typeface="Cambria"/>
                <a:cs typeface="Cambria"/>
              </a:rPr>
              <a:t>)𝑧</a:t>
            </a:r>
            <a:r>
              <a:rPr dirty="0" baseline="25252" sz="825" spc="7">
                <a:latin typeface="Cambria"/>
                <a:cs typeface="Cambria"/>
              </a:rPr>
              <a:t>𝑖</a:t>
            </a:r>
            <a:r>
              <a:rPr dirty="0" baseline="95959" sz="825" spc="7">
                <a:latin typeface="Cambria"/>
                <a:cs typeface="Cambria"/>
              </a:rPr>
              <a:t>𝑚</a:t>
            </a:r>
            <a:r>
              <a:rPr dirty="0" baseline="80808" sz="825" spc="7">
                <a:latin typeface="Cambria"/>
                <a:cs typeface="Cambria"/>
              </a:rPr>
              <a:t>2</a:t>
            </a:r>
            <a:r>
              <a:rPr dirty="0" baseline="80808" sz="825" spc="337">
                <a:latin typeface="Cambria"/>
                <a:cs typeface="Cambria"/>
              </a:rPr>
              <a:t> </a:t>
            </a:r>
            <a:r>
              <a:rPr dirty="0" sz="1000">
                <a:latin typeface="Times New Roman"/>
                <a:cs typeface="Times New Roman"/>
              </a:rPr>
              <a:t>for</a:t>
            </a:r>
            <a:r>
              <a:rPr dirty="0" sz="1000" spc="-65">
                <a:latin typeface="Times New Roman"/>
                <a:cs typeface="Times New Roman"/>
              </a:rPr>
              <a:t> </a:t>
            </a:r>
            <a:r>
              <a:rPr dirty="0" sz="1000" spc="40">
                <a:latin typeface="Times New Roman"/>
                <a:cs typeface="Times New Roman"/>
              </a:rPr>
              <a:t>the</a:t>
            </a:r>
            <a:r>
              <a:rPr dirty="0" sz="1000" spc="-60">
                <a:latin typeface="Times New Roman"/>
                <a:cs typeface="Times New Roman"/>
              </a:rPr>
              <a:t> </a:t>
            </a:r>
            <a:r>
              <a:rPr dirty="0" sz="1000" spc="25">
                <a:latin typeface="Times New Roman"/>
                <a:cs typeface="Times New Roman"/>
              </a:rPr>
              <a:t>audio</a:t>
            </a:r>
            <a:r>
              <a:rPr dirty="0" sz="1000" spc="-65">
                <a:latin typeface="Times New Roman"/>
                <a:cs typeface="Times New Roman"/>
              </a:rPr>
              <a:t> </a:t>
            </a:r>
            <a:r>
              <a:rPr dirty="0" sz="1000" spc="35">
                <a:latin typeface="Times New Roman"/>
                <a:cs typeface="Times New Roman"/>
              </a:rPr>
              <a:t>branch</a:t>
            </a:r>
            <a:r>
              <a:rPr dirty="0" sz="1000" spc="20">
                <a:latin typeface="Times New Roman"/>
                <a:cs typeface="Times New Roman"/>
              </a:rPr>
              <a:t> </a:t>
            </a:r>
            <a:r>
              <a:rPr dirty="0" sz="1000" spc="35">
                <a:latin typeface="Times New Roman"/>
                <a:cs typeface="Times New Roman"/>
              </a:rPr>
              <a:t>in</a:t>
            </a:r>
            <a:r>
              <a:rPr dirty="0" sz="1000" spc="-5">
                <a:latin typeface="Times New Roman"/>
                <a:cs typeface="Times New Roman"/>
              </a:rPr>
              <a:t> </a:t>
            </a:r>
            <a:r>
              <a:rPr dirty="0" sz="1000" spc="40">
                <a:latin typeface="Times New Roman"/>
                <a:cs typeface="Times New Roman"/>
              </a:rPr>
              <a:t>the</a:t>
            </a:r>
            <a:r>
              <a:rPr dirty="0" sz="1000" spc="-5">
                <a:latin typeface="Times New Roman"/>
                <a:cs typeface="Times New Roman"/>
              </a:rPr>
              <a:t> </a:t>
            </a:r>
            <a:r>
              <a:rPr dirty="0" sz="1000" spc="10">
                <a:latin typeface="Times New Roman"/>
                <a:cs typeface="Times New Roman"/>
              </a:rPr>
              <a:t>vanilla</a:t>
            </a:r>
            <a:r>
              <a:rPr dirty="0" sz="1000" spc="-10">
                <a:latin typeface="Times New Roman"/>
                <a:cs typeface="Times New Roman"/>
              </a:rPr>
              <a:t> </a:t>
            </a:r>
            <a:r>
              <a:rPr dirty="0" sz="1000" spc="40">
                <a:latin typeface="Times New Roman"/>
                <a:cs typeface="Times New Roman"/>
              </a:rPr>
              <a:t>and</a:t>
            </a:r>
            <a:r>
              <a:rPr dirty="0" sz="1000" spc="-5">
                <a:latin typeface="Times New Roman"/>
                <a:cs typeface="Times New Roman"/>
              </a:rPr>
              <a:t> </a:t>
            </a:r>
            <a:r>
              <a:rPr dirty="0" sz="1000" spc="-15">
                <a:latin typeface="Times New Roman"/>
                <a:cs typeface="Times New Roman"/>
              </a:rPr>
              <a:t>DGL</a:t>
            </a:r>
            <a:r>
              <a:rPr dirty="0" sz="1000" spc="-5">
                <a:latin typeface="Times New Roman"/>
                <a:cs typeface="Times New Roman"/>
              </a:rPr>
              <a:t> </a:t>
            </a:r>
            <a:r>
              <a:rPr dirty="0" sz="1000" spc="30">
                <a:latin typeface="Times New Roman"/>
                <a:cs typeface="Times New Roman"/>
              </a:rPr>
              <a:t>multimodal</a:t>
            </a:r>
            <a:r>
              <a:rPr dirty="0" sz="1000" spc="-5">
                <a:latin typeface="Times New Roman"/>
                <a:cs typeface="Times New Roman"/>
              </a:rPr>
              <a:t> </a:t>
            </a:r>
            <a:r>
              <a:rPr dirty="0" sz="1000" spc="15">
                <a:latin typeface="Times New Roman"/>
                <a:cs typeface="Times New Roman"/>
              </a:rPr>
              <a:t>model.</a:t>
            </a:r>
            <a:r>
              <a:rPr dirty="0" sz="1000" spc="95">
                <a:latin typeface="Times New Roman"/>
                <a:cs typeface="Times New Roman"/>
              </a:rPr>
              <a:t> </a:t>
            </a:r>
            <a:r>
              <a:rPr dirty="0" sz="1000" spc="5">
                <a:latin typeface="Times New Roman"/>
                <a:cs typeface="Times New Roman"/>
              </a:rPr>
              <a:t>(b)</a:t>
            </a:r>
            <a:r>
              <a:rPr dirty="0" sz="1000" spc="-5">
                <a:latin typeface="Times New Roman"/>
                <a:cs typeface="Times New Roman"/>
              </a:rPr>
              <a:t> </a:t>
            </a:r>
            <a:r>
              <a:rPr dirty="0" sz="1000" spc="20">
                <a:latin typeface="Times New Roman"/>
                <a:cs typeface="Times New Roman"/>
              </a:rPr>
              <a:t>illustrates</a:t>
            </a:r>
            <a:r>
              <a:rPr dirty="0" sz="1000" spc="-5">
                <a:latin typeface="Times New Roman"/>
                <a:cs typeface="Times New Roman"/>
              </a:rPr>
              <a:t> </a:t>
            </a:r>
            <a:r>
              <a:rPr dirty="0" sz="1000" spc="40">
                <a:latin typeface="Times New Roman"/>
                <a:cs typeface="Times New Roman"/>
              </a:rPr>
              <a:t>the</a:t>
            </a:r>
            <a:r>
              <a:rPr dirty="0" sz="1000" spc="-5">
                <a:latin typeface="Times New Roman"/>
                <a:cs typeface="Times New Roman"/>
              </a:rPr>
              <a:t> </a:t>
            </a:r>
            <a:r>
              <a:rPr dirty="0" sz="1000" spc="20">
                <a:latin typeface="Times New Roman"/>
                <a:cs typeface="Times New Roman"/>
              </a:rPr>
              <a:t>gradient</a:t>
            </a:r>
            <a:r>
              <a:rPr dirty="0" sz="1000" spc="-10">
                <a:latin typeface="Times New Roman"/>
                <a:cs typeface="Times New Roman"/>
              </a:rPr>
              <a:t> </a:t>
            </a:r>
            <a:r>
              <a:rPr dirty="0" sz="1000" spc="-15">
                <a:latin typeface="Times New Roman"/>
                <a:cs typeface="Times New Roman"/>
              </a:rPr>
              <a:t>of</a:t>
            </a:r>
            <a:r>
              <a:rPr dirty="0" sz="1000" spc="-5">
                <a:latin typeface="Times New Roman"/>
                <a:cs typeface="Times New Roman"/>
              </a:rPr>
              <a:t> </a:t>
            </a:r>
            <a:r>
              <a:rPr dirty="0" sz="1000" spc="40">
                <a:latin typeface="Times New Roman"/>
                <a:cs typeface="Times New Roman"/>
              </a:rPr>
              <a:t>the</a:t>
            </a:r>
            <a:r>
              <a:rPr dirty="0" sz="1000" spc="-5">
                <a:latin typeface="Times New Roman"/>
                <a:cs typeface="Times New Roman"/>
              </a:rPr>
              <a:t> </a:t>
            </a:r>
            <a:r>
              <a:rPr dirty="0" sz="1000" spc="25">
                <a:latin typeface="Times New Roman"/>
                <a:cs typeface="Times New Roman"/>
              </a:rPr>
              <a:t>audio</a:t>
            </a:r>
            <a:r>
              <a:rPr dirty="0" sz="1000" spc="-5">
                <a:latin typeface="Times New Roman"/>
                <a:cs typeface="Times New Roman"/>
              </a:rPr>
              <a:t> </a:t>
            </a:r>
            <a:r>
              <a:rPr dirty="0" sz="1000" spc="35">
                <a:latin typeface="Times New Roman"/>
                <a:cs typeface="Times New Roman"/>
              </a:rPr>
              <a:t>branch</a:t>
            </a:r>
            <a:r>
              <a:rPr dirty="0" sz="1000" spc="-5">
                <a:latin typeface="Times New Roman"/>
                <a:cs typeface="Times New Roman"/>
              </a:rPr>
              <a:t> </a:t>
            </a:r>
            <a:r>
              <a:rPr dirty="0" sz="1000" spc="35">
                <a:latin typeface="Times New Roman"/>
                <a:cs typeface="Times New Roman"/>
              </a:rPr>
              <a:t>in</a:t>
            </a:r>
            <a:r>
              <a:rPr dirty="0" sz="1000" spc="-5">
                <a:latin typeface="Times New Roman"/>
                <a:cs typeface="Times New Roman"/>
              </a:rPr>
              <a:t> </a:t>
            </a:r>
            <a:r>
              <a:rPr dirty="0" sz="1000" spc="40">
                <a:latin typeface="Times New Roman"/>
                <a:cs typeface="Times New Roman"/>
              </a:rPr>
              <a:t>the</a:t>
            </a:r>
            <a:r>
              <a:rPr dirty="0" sz="1000" spc="-5">
                <a:latin typeface="Times New Roman"/>
                <a:cs typeface="Times New Roman"/>
              </a:rPr>
              <a:t> </a:t>
            </a:r>
            <a:r>
              <a:rPr dirty="0" sz="1000" spc="10">
                <a:latin typeface="Times New Roman"/>
                <a:cs typeface="Times New Roman"/>
              </a:rPr>
              <a:t>vanilla</a:t>
            </a:r>
            <a:r>
              <a:rPr dirty="0" sz="1000" spc="-5">
                <a:latin typeface="Times New Roman"/>
                <a:cs typeface="Times New Roman"/>
              </a:rPr>
              <a:t> </a:t>
            </a:r>
            <a:r>
              <a:rPr dirty="0" sz="1000" spc="40">
                <a:latin typeface="Times New Roman"/>
                <a:cs typeface="Times New Roman"/>
              </a:rPr>
              <a:t>and</a:t>
            </a:r>
            <a:r>
              <a:rPr dirty="0" sz="1000" spc="20">
                <a:latin typeface="Times New Roman"/>
                <a:cs typeface="Times New Roman"/>
              </a:rPr>
              <a:t> </a:t>
            </a:r>
            <a:r>
              <a:rPr dirty="0" sz="1000" spc="-15">
                <a:latin typeface="Times New Roman"/>
                <a:cs typeface="Times New Roman"/>
              </a:rPr>
              <a:t>DGL</a:t>
            </a:r>
            <a:r>
              <a:rPr dirty="0" sz="1000" spc="-20">
                <a:latin typeface="Times New Roman"/>
                <a:cs typeface="Times New Roman"/>
              </a:rPr>
              <a:t> </a:t>
            </a:r>
            <a:r>
              <a:rPr dirty="0" sz="1000" spc="30">
                <a:latin typeface="Times New Roman"/>
                <a:cs typeface="Times New Roman"/>
              </a:rPr>
              <a:t>multimodal</a:t>
            </a:r>
            <a:r>
              <a:rPr dirty="0" sz="1000" spc="-20">
                <a:latin typeface="Times New Roman"/>
                <a:cs typeface="Times New Roman"/>
              </a:rPr>
              <a:t> </a:t>
            </a:r>
            <a:r>
              <a:rPr dirty="0" sz="1000" spc="15">
                <a:latin typeface="Times New Roman"/>
                <a:cs typeface="Times New Roman"/>
              </a:rPr>
              <a:t>model.</a:t>
            </a:r>
            <a:endParaRPr sz="1000">
              <a:latin typeface="Times New Roman"/>
              <a:cs typeface="Times New Roman"/>
            </a:endParaRPr>
          </a:p>
        </p:txBody>
      </p:sp>
      <p:sp>
        <p:nvSpPr>
          <p:cNvPr id="17" name="object 17"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92"/>
            <a:ext cx="5760085" cy="544195"/>
            <a:chOff x="899998" y="899992"/>
            <a:chExt cx="5760085" cy="544195"/>
          </a:xfrm>
        </p:grpSpPr>
        <p:sp>
          <p:nvSpPr>
            <p:cNvPr id="3" name="object 3" descr=""/>
            <p:cNvSpPr/>
            <p:nvPr/>
          </p:nvSpPr>
          <p:spPr>
            <a:xfrm>
              <a:off x="899998" y="899992"/>
              <a:ext cx="5760085" cy="544195"/>
            </a:xfrm>
            <a:custGeom>
              <a:avLst/>
              <a:gdLst/>
              <a:ahLst/>
              <a:cxnLst/>
              <a:rect l="l" t="t" r="r" b="b"/>
              <a:pathLst>
                <a:path w="5760084" h="544194">
                  <a:moveTo>
                    <a:pt x="5724074" y="0"/>
                  </a:moveTo>
                  <a:lnTo>
                    <a:pt x="36000" y="0"/>
                  </a:lnTo>
                  <a:lnTo>
                    <a:pt x="21987" y="2829"/>
                  </a:lnTo>
                  <a:lnTo>
                    <a:pt x="10544" y="10544"/>
                  </a:lnTo>
                  <a:lnTo>
                    <a:pt x="2829" y="21987"/>
                  </a:lnTo>
                  <a:lnTo>
                    <a:pt x="0" y="36000"/>
                  </a:lnTo>
                  <a:lnTo>
                    <a:pt x="0" y="508086"/>
                  </a:lnTo>
                  <a:lnTo>
                    <a:pt x="2829" y="522099"/>
                  </a:lnTo>
                  <a:lnTo>
                    <a:pt x="10544" y="533542"/>
                  </a:lnTo>
                  <a:lnTo>
                    <a:pt x="21987" y="541258"/>
                  </a:lnTo>
                  <a:lnTo>
                    <a:pt x="36000" y="544087"/>
                  </a:lnTo>
                  <a:lnTo>
                    <a:pt x="5724074" y="544087"/>
                  </a:lnTo>
                  <a:lnTo>
                    <a:pt x="5738087" y="541258"/>
                  </a:lnTo>
                  <a:lnTo>
                    <a:pt x="5749530" y="533542"/>
                  </a:lnTo>
                  <a:lnTo>
                    <a:pt x="5757245" y="522099"/>
                  </a:lnTo>
                  <a:lnTo>
                    <a:pt x="5760074" y="50808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92"/>
              <a:ext cx="5760085" cy="544195"/>
            </a:xfrm>
            <a:custGeom>
              <a:avLst/>
              <a:gdLst/>
              <a:ahLst/>
              <a:cxnLst/>
              <a:rect l="l" t="t" r="r" b="b"/>
              <a:pathLst>
                <a:path w="5760084" h="544194">
                  <a:moveTo>
                    <a:pt x="5724074" y="0"/>
                  </a:moveTo>
                  <a:lnTo>
                    <a:pt x="36000" y="0"/>
                  </a:lnTo>
                  <a:lnTo>
                    <a:pt x="21987" y="2829"/>
                  </a:lnTo>
                  <a:lnTo>
                    <a:pt x="10544" y="10544"/>
                  </a:lnTo>
                  <a:lnTo>
                    <a:pt x="2829" y="21987"/>
                  </a:lnTo>
                  <a:lnTo>
                    <a:pt x="0" y="36000"/>
                  </a:lnTo>
                  <a:lnTo>
                    <a:pt x="0" y="508086"/>
                  </a:lnTo>
                  <a:lnTo>
                    <a:pt x="2829" y="522099"/>
                  </a:lnTo>
                  <a:lnTo>
                    <a:pt x="10544" y="533542"/>
                  </a:lnTo>
                  <a:lnTo>
                    <a:pt x="21987" y="541258"/>
                  </a:lnTo>
                  <a:lnTo>
                    <a:pt x="36000" y="544087"/>
                  </a:lnTo>
                  <a:lnTo>
                    <a:pt x="5724074" y="544087"/>
                  </a:lnTo>
                  <a:lnTo>
                    <a:pt x="5738087" y="541258"/>
                  </a:lnTo>
                  <a:lnTo>
                    <a:pt x="5749530" y="533542"/>
                  </a:lnTo>
                  <a:lnTo>
                    <a:pt x="5757245" y="522099"/>
                  </a:lnTo>
                  <a:lnTo>
                    <a:pt x="5760074" y="50808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5" name="object 5" descr=""/>
          <p:cNvSpPr txBox="1"/>
          <p:nvPr/>
        </p:nvSpPr>
        <p:spPr>
          <a:xfrm>
            <a:off x="1029195" y="975937"/>
            <a:ext cx="5501640" cy="177800"/>
          </a:xfrm>
          <a:prstGeom prst="rect">
            <a:avLst/>
          </a:prstGeom>
        </p:spPr>
        <p:txBody>
          <a:bodyPr wrap="square" lIns="0" tIns="12065" rIns="0" bIns="0" rtlCol="0" vert="horz">
            <a:spAutoFit/>
          </a:bodyPr>
          <a:lstStyle/>
          <a:p>
            <a:pPr marL="50800">
              <a:lnSpc>
                <a:spcPct val="100000"/>
              </a:lnSpc>
              <a:spcBef>
                <a:spcPts val="95"/>
              </a:spcBef>
              <a:tabLst>
                <a:tab pos="233045" algn="l"/>
              </a:tabLst>
            </a:pPr>
            <a:r>
              <a:rPr dirty="0" sz="1000" spc="-290">
                <a:latin typeface="SimSun"/>
                <a:cs typeface="SimSun"/>
              </a:rPr>
              <a:t>图</a:t>
            </a:r>
            <a:r>
              <a:rPr dirty="0" baseline="-83333" sz="1050" spc="-1207">
                <a:latin typeface="Cambria"/>
                <a:cs typeface="Cambria"/>
              </a:rPr>
              <a:t>𝑊</a:t>
            </a:r>
            <a:r>
              <a:rPr dirty="0" baseline="-83333" sz="1050" spc="-757">
                <a:latin typeface="Cambria"/>
                <a:cs typeface="Cambria"/>
              </a:rPr>
              <a:t>(</a:t>
            </a:r>
            <a:r>
              <a:rPr dirty="0" baseline="-86111" sz="1500" spc="209">
                <a:latin typeface="Cambria"/>
                <a:cs typeface="Cambria"/>
              </a:rPr>
              <a:t>𝑒</a:t>
            </a:r>
            <a:r>
              <a:rPr dirty="0" baseline="-86111" sz="1500">
                <a:latin typeface="Cambria"/>
                <a:cs typeface="Cambria"/>
              </a:rPr>
              <a:t>	</a:t>
            </a:r>
            <a:r>
              <a:rPr dirty="0" baseline="-131313" sz="825" spc="-270">
                <a:latin typeface="Cambria"/>
                <a:cs typeface="Cambria"/>
              </a:rPr>
              <a:t>𝑘</a:t>
            </a:r>
            <a:r>
              <a:rPr dirty="0" sz="1000" spc="-180">
                <a:latin typeface="Times New Roman"/>
                <a:cs typeface="Times New Roman"/>
              </a:rPr>
              <a:t>3</a:t>
            </a:r>
            <a:r>
              <a:rPr dirty="0" baseline="-60606" sz="825" spc="-270">
                <a:latin typeface="Cambria"/>
                <a:cs typeface="Cambria"/>
              </a:rPr>
              <a:t>𝑚</a:t>
            </a:r>
            <a:r>
              <a:rPr dirty="0" sz="1000" spc="-180">
                <a:latin typeface="Times New Roman"/>
                <a:cs typeface="Times New Roman"/>
              </a:rPr>
              <a:t>.</a:t>
            </a:r>
            <a:r>
              <a:rPr dirty="0" baseline="-75757" sz="825" spc="-270">
                <a:latin typeface="Cambria"/>
                <a:cs typeface="Cambria"/>
              </a:rPr>
              <a:t>2</a:t>
            </a:r>
            <a:r>
              <a:rPr dirty="0" baseline="-75757" sz="825" spc="-15">
                <a:latin typeface="Cambria"/>
                <a:cs typeface="Cambria"/>
              </a:rPr>
              <a:t> </a:t>
            </a:r>
            <a:r>
              <a:rPr dirty="0" baseline="-83333" sz="1050" spc="30">
                <a:latin typeface="Cambria"/>
                <a:cs typeface="Cambria"/>
              </a:rPr>
              <a:t>−</a:t>
            </a:r>
            <a:r>
              <a:rPr dirty="0" baseline="-83333" sz="1050" spc="-697">
                <a:latin typeface="Cambria"/>
                <a:cs typeface="Cambria"/>
              </a:rPr>
              <a:t>𝑊</a:t>
            </a:r>
            <a:r>
              <a:rPr dirty="0" sz="1000" spc="-75">
                <a:latin typeface="Times New Roman"/>
                <a:cs typeface="Times New Roman"/>
              </a:rPr>
              <a:t>C</a:t>
            </a:r>
            <a:r>
              <a:rPr dirty="0" baseline="-116161" sz="825" spc="-352">
                <a:latin typeface="Cambria"/>
                <a:cs typeface="Cambria"/>
              </a:rPr>
              <a:t>𝑦</a:t>
            </a:r>
            <a:r>
              <a:rPr dirty="0" baseline="-60606" sz="825" spc="-644">
                <a:latin typeface="Cambria"/>
                <a:cs typeface="Cambria"/>
              </a:rPr>
              <a:t>𝑚</a:t>
            </a:r>
            <a:r>
              <a:rPr dirty="0" sz="1000" spc="-90">
                <a:latin typeface="Times New Roman"/>
                <a:cs typeface="Times New Roman"/>
              </a:rPr>
              <a:t>R</a:t>
            </a:r>
            <a:r>
              <a:rPr dirty="0" baseline="-75757" sz="825" spc="-847">
                <a:latin typeface="Cambria"/>
                <a:cs typeface="Cambria"/>
              </a:rPr>
              <a:t>2</a:t>
            </a:r>
            <a:r>
              <a:rPr dirty="0" baseline="-141414" sz="825" spc="30">
                <a:latin typeface="Cambria"/>
                <a:cs typeface="Cambria"/>
              </a:rPr>
              <a:t>𝑖</a:t>
            </a:r>
            <a:r>
              <a:rPr dirty="0" baseline="-141414" sz="825" spc="157">
                <a:latin typeface="Cambria"/>
                <a:cs typeface="Cambria"/>
              </a:rPr>
              <a:t> </a:t>
            </a:r>
            <a:r>
              <a:rPr dirty="0" sz="1000" spc="-10">
                <a:latin typeface="Times New Roman"/>
                <a:cs typeface="Times New Roman"/>
              </a:rPr>
              <a:t>E</a:t>
            </a:r>
            <a:r>
              <a:rPr dirty="0" baseline="-83333" sz="1050" spc="-869">
                <a:latin typeface="Cambria"/>
                <a:cs typeface="Cambria"/>
              </a:rPr>
              <a:t>𝑧</a:t>
            </a:r>
            <a:r>
              <a:rPr dirty="0" baseline="-83333" sz="1050" spc="52">
                <a:latin typeface="Cambria"/>
                <a:cs typeface="Cambria"/>
              </a:rPr>
              <a:t>)</a:t>
            </a:r>
            <a:r>
              <a:rPr dirty="0" sz="1000" spc="-495">
                <a:latin typeface="Times New Roman"/>
                <a:cs typeface="Times New Roman"/>
              </a:rPr>
              <a:t>M</a:t>
            </a:r>
            <a:r>
              <a:rPr dirty="0" baseline="-131313" sz="825" spc="-240">
                <a:latin typeface="Cambria"/>
                <a:cs typeface="Cambria"/>
              </a:rPr>
              <a:t>𝑖</a:t>
            </a:r>
            <a:r>
              <a:rPr dirty="0" baseline="-60606" sz="825" spc="-75">
                <a:latin typeface="Cambria"/>
                <a:cs typeface="Cambria"/>
              </a:rPr>
              <a:t>𝑚</a:t>
            </a:r>
            <a:r>
              <a:rPr dirty="0" sz="1000" spc="-645">
                <a:latin typeface="Times New Roman"/>
                <a:cs typeface="Times New Roman"/>
              </a:rPr>
              <a:t>A</a:t>
            </a:r>
            <a:r>
              <a:rPr dirty="0" baseline="-75757" sz="825" spc="22">
                <a:latin typeface="Cambria"/>
                <a:cs typeface="Cambria"/>
              </a:rPr>
              <a:t>2</a:t>
            </a:r>
            <a:r>
              <a:rPr dirty="0" baseline="-75757" sz="825" spc="390">
                <a:latin typeface="Cambria"/>
                <a:cs typeface="Cambria"/>
              </a:rPr>
              <a:t> </a:t>
            </a:r>
            <a:r>
              <a:rPr dirty="0" sz="1000" spc="-20">
                <a:latin typeface="Times New Roman"/>
                <a:cs typeface="Times New Roman"/>
              </a:rPr>
              <a:t>-</a:t>
            </a:r>
            <a:r>
              <a:rPr dirty="0" sz="1000" spc="-725">
                <a:latin typeface="Times New Roman"/>
                <a:cs typeface="Times New Roman"/>
              </a:rPr>
              <a:t>D</a:t>
            </a:r>
            <a:r>
              <a:rPr dirty="0" baseline="-86111" sz="1500" spc="-15">
                <a:latin typeface="SimSun"/>
                <a:cs typeface="SimSun"/>
              </a:rPr>
              <a:t>。</a:t>
            </a:r>
            <a:r>
              <a:rPr dirty="0" baseline="-86111" sz="1500">
                <a:latin typeface="Times New Roman"/>
                <a:cs typeface="Times New Roman"/>
              </a:rPr>
              <a:t>(b</a:t>
            </a:r>
            <a:r>
              <a:rPr dirty="0" baseline="-86111" sz="1500" spc="-1139">
                <a:latin typeface="Times New Roman"/>
                <a:cs typeface="Times New Roman"/>
              </a:rPr>
              <a:t>)</a:t>
            </a:r>
            <a:r>
              <a:rPr dirty="0" sz="1000" spc="-10">
                <a:latin typeface="SimSun"/>
                <a:cs typeface="SimSun"/>
              </a:rPr>
              <a:t>数</a:t>
            </a:r>
            <a:r>
              <a:rPr dirty="0" baseline="-86111" sz="1500" spc="-15">
                <a:latin typeface="SimSun"/>
                <a:cs typeface="SimSun"/>
              </a:rPr>
              <a:t>展示了普通</a:t>
            </a:r>
            <a:r>
              <a:rPr dirty="0" baseline="-86111" sz="1500" spc="-1500">
                <a:latin typeface="SimSun"/>
                <a:cs typeface="SimSun"/>
              </a:rPr>
              <a:t>和</a:t>
            </a:r>
            <a:r>
              <a:rPr dirty="0" sz="1000" spc="55">
                <a:latin typeface="SimSun"/>
                <a:cs typeface="SimSun"/>
              </a:rPr>
              <a:t>据集上的可</a:t>
            </a:r>
            <a:r>
              <a:rPr dirty="0" sz="1000" spc="-175">
                <a:latin typeface="SimSun"/>
                <a:cs typeface="SimSun"/>
              </a:rPr>
              <a:t>视</a:t>
            </a:r>
            <a:r>
              <a:rPr dirty="0" baseline="-86111" sz="1500" spc="-30">
                <a:latin typeface="Times New Roman"/>
                <a:cs typeface="Times New Roman"/>
              </a:rPr>
              <a:t>DG</a:t>
            </a:r>
            <a:r>
              <a:rPr dirty="0" baseline="-86111" sz="1500" spc="-2790">
                <a:latin typeface="Times New Roman"/>
                <a:cs typeface="Times New Roman"/>
              </a:rPr>
              <a:t>L</a:t>
            </a:r>
            <a:r>
              <a:rPr dirty="0" sz="1000" spc="-10">
                <a:latin typeface="SimSun"/>
                <a:cs typeface="SimSun"/>
              </a:rPr>
              <a:t>化。</a:t>
            </a:r>
            <a:r>
              <a:rPr dirty="0" sz="1000" spc="10">
                <a:latin typeface="Times New Roman"/>
                <a:cs typeface="Times New Roman"/>
              </a:rPr>
              <a:t>(a</a:t>
            </a:r>
            <a:r>
              <a:rPr dirty="0" sz="1000" spc="-1085">
                <a:latin typeface="Times New Roman"/>
                <a:cs typeface="Times New Roman"/>
              </a:rPr>
              <a:t>)</a:t>
            </a:r>
            <a:r>
              <a:rPr dirty="0" baseline="-86111" sz="1500" spc="-15">
                <a:latin typeface="SimSun"/>
                <a:cs typeface="SimSun"/>
              </a:rPr>
              <a:t>多模态模型中音频分支的梯度</a:t>
            </a:r>
            <a:r>
              <a:rPr dirty="0" baseline="-86111" sz="1500" spc="-1500">
                <a:latin typeface="SimSun"/>
                <a:cs typeface="SimSun"/>
              </a:rPr>
              <a:t>。</a:t>
            </a:r>
            <a:r>
              <a:rPr dirty="0" sz="1000" spc="55">
                <a:latin typeface="SimSun"/>
                <a:cs typeface="SimSun"/>
              </a:rPr>
              <a:t>展示了</a:t>
            </a:r>
            <a:r>
              <a:rPr dirty="0" sz="1000" spc="-50">
                <a:latin typeface="SimSun"/>
                <a:cs typeface="SimSun"/>
              </a:rPr>
              <a:t>普</a:t>
            </a:r>
            <a:r>
              <a:rPr dirty="0" sz="1000" spc="55">
                <a:latin typeface="SimSun"/>
                <a:cs typeface="SimSun"/>
              </a:rPr>
              <a:t>通</a:t>
            </a:r>
            <a:r>
              <a:rPr dirty="0" sz="1000">
                <a:latin typeface="SimSun"/>
                <a:cs typeface="SimSun"/>
              </a:rPr>
              <a:t>和</a:t>
            </a:r>
            <a:r>
              <a:rPr dirty="0" sz="1000" spc="-75">
                <a:latin typeface="SimSun"/>
                <a:cs typeface="SimSun"/>
              </a:rPr>
              <a:t> </a:t>
            </a:r>
            <a:r>
              <a:rPr dirty="0" sz="1000">
                <a:latin typeface="Times New Roman"/>
                <a:cs typeface="Times New Roman"/>
              </a:rPr>
              <a:t>DGL</a:t>
            </a:r>
            <a:r>
              <a:rPr dirty="0" sz="1000" spc="175">
                <a:latin typeface="Times New Roman"/>
                <a:cs typeface="Times New Roman"/>
              </a:rPr>
              <a:t> </a:t>
            </a:r>
            <a:r>
              <a:rPr dirty="0" sz="1000" spc="55">
                <a:latin typeface="SimSun"/>
                <a:cs typeface="SimSun"/>
              </a:rPr>
              <a:t>多模态模型中音频分支</a:t>
            </a:r>
            <a:r>
              <a:rPr dirty="0" sz="1000">
                <a:latin typeface="SimSun"/>
                <a:cs typeface="SimSun"/>
              </a:rPr>
              <a:t>的</a:t>
            </a:r>
            <a:r>
              <a:rPr dirty="0" sz="1000" spc="-75">
                <a:latin typeface="SimSun"/>
                <a:cs typeface="SimSun"/>
              </a:rPr>
              <a:t> </a:t>
            </a:r>
            <a:r>
              <a:rPr dirty="0" sz="1000">
                <a:latin typeface="Cambria"/>
                <a:cs typeface="Cambria"/>
              </a:rPr>
              <a:t>𝑠</a:t>
            </a:r>
            <a:r>
              <a:rPr dirty="0" sz="1000" spc="160">
                <a:latin typeface="Cambria"/>
                <a:cs typeface="Cambria"/>
              </a:rPr>
              <a:t>  </a:t>
            </a:r>
            <a:r>
              <a:rPr dirty="0" sz="1000" spc="114">
                <a:latin typeface="Cambria"/>
                <a:cs typeface="Cambria"/>
              </a:rPr>
              <a:t>=</a:t>
            </a:r>
            <a:endParaRPr sz="1000">
              <a:latin typeface="Cambria"/>
              <a:cs typeface="Cambria"/>
            </a:endParaRPr>
          </a:p>
        </p:txBody>
      </p:sp>
      <p:grpSp>
        <p:nvGrpSpPr>
          <p:cNvPr id="6" name="object 6" descr=""/>
          <p:cNvGrpSpPr/>
          <p:nvPr/>
        </p:nvGrpSpPr>
        <p:grpSpPr>
          <a:xfrm>
            <a:off x="899998" y="3257711"/>
            <a:ext cx="5760085" cy="1323975"/>
            <a:chOff x="899998" y="3257711"/>
            <a:chExt cx="5760085" cy="1323975"/>
          </a:xfrm>
        </p:grpSpPr>
        <p:sp>
          <p:nvSpPr>
            <p:cNvPr id="7" name="object 7" descr=""/>
            <p:cNvSpPr/>
            <p:nvPr/>
          </p:nvSpPr>
          <p:spPr>
            <a:xfrm>
              <a:off x="899998" y="3257711"/>
              <a:ext cx="5760085" cy="1323975"/>
            </a:xfrm>
            <a:custGeom>
              <a:avLst/>
              <a:gdLst/>
              <a:ahLst/>
              <a:cxnLst/>
              <a:rect l="l" t="t" r="r" b="b"/>
              <a:pathLst>
                <a:path w="5760084" h="1323975">
                  <a:moveTo>
                    <a:pt x="5724074" y="0"/>
                  </a:moveTo>
                  <a:lnTo>
                    <a:pt x="36000" y="0"/>
                  </a:lnTo>
                  <a:lnTo>
                    <a:pt x="21987" y="2829"/>
                  </a:lnTo>
                  <a:lnTo>
                    <a:pt x="10544" y="10544"/>
                  </a:lnTo>
                  <a:lnTo>
                    <a:pt x="2829" y="21987"/>
                  </a:lnTo>
                  <a:lnTo>
                    <a:pt x="0" y="36000"/>
                  </a:lnTo>
                  <a:lnTo>
                    <a:pt x="0" y="1287496"/>
                  </a:lnTo>
                  <a:lnTo>
                    <a:pt x="2829" y="1301509"/>
                  </a:lnTo>
                  <a:lnTo>
                    <a:pt x="10544" y="1312952"/>
                  </a:lnTo>
                  <a:lnTo>
                    <a:pt x="21987" y="1320667"/>
                  </a:lnTo>
                  <a:lnTo>
                    <a:pt x="36000" y="1323496"/>
                  </a:lnTo>
                  <a:lnTo>
                    <a:pt x="5724074" y="1323496"/>
                  </a:lnTo>
                  <a:lnTo>
                    <a:pt x="5738087" y="1320667"/>
                  </a:lnTo>
                  <a:lnTo>
                    <a:pt x="5749530" y="1312952"/>
                  </a:lnTo>
                  <a:lnTo>
                    <a:pt x="5757245" y="1301509"/>
                  </a:lnTo>
                  <a:lnTo>
                    <a:pt x="5760074" y="128749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8" name="object 8" descr=""/>
            <p:cNvSpPr/>
            <p:nvPr/>
          </p:nvSpPr>
          <p:spPr>
            <a:xfrm>
              <a:off x="899998" y="3257711"/>
              <a:ext cx="5760085" cy="1323975"/>
            </a:xfrm>
            <a:custGeom>
              <a:avLst/>
              <a:gdLst/>
              <a:ahLst/>
              <a:cxnLst/>
              <a:rect l="l" t="t" r="r" b="b"/>
              <a:pathLst>
                <a:path w="5760084" h="1323975">
                  <a:moveTo>
                    <a:pt x="5724074" y="0"/>
                  </a:moveTo>
                  <a:lnTo>
                    <a:pt x="36000" y="0"/>
                  </a:lnTo>
                  <a:lnTo>
                    <a:pt x="21987" y="2829"/>
                  </a:lnTo>
                  <a:lnTo>
                    <a:pt x="10544" y="10544"/>
                  </a:lnTo>
                  <a:lnTo>
                    <a:pt x="2829" y="21987"/>
                  </a:lnTo>
                  <a:lnTo>
                    <a:pt x="0" y="36000"/>
                  </a:lnTo>
                  <a:lnTo>
                    <a:pt x="0" y="1287496"/>
                  </a:lnTo>
                  <a:lnTo>
                    <a:pt x="2829" y="1301509"/>
                  </a:lnTo>
                  <a:lnTo>
                    <a:pt x="10544" y="1312952"/>
                  </a:lnTo>
                  <a:lnTo>
                    <a:pt x="21987" y="1320667"/>
                  </a:lnTo>
                  <a:lnTo>
                    <a:pt x="36000" y="1323496"/>
                  </a:lnTo>
                  <a:lnTo>
                    <a:pt x="5724074" y="1323496"/>
                  </a:lnTo>
                  <a:lnTo>
                    <a:pt x="5738087" y="1320667"/>
                  </a:lnTo>
                  <a:lnTo>
                    <a:pt x="5749530" y="1312952"/>
                  </a:lnTo>
                  <a:lnTo>
                    <a:pt x="5757245" y="1301509"/>
                  </a:lnTo>
                  <a:lnTo>
                    <a:pt x="5760074" y="128749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9" name="object 9" descr=""/>
          <p:cNvGrpSpPr/>
          <p:nvPr/>
        </p:nvGrpSpPr>
        <p:grpSpPr>
          <a:xfrm>
            <a:off x="899998" y="5180555"/>
            <a:ext cx="5760085" cy="387985"/>
            <a:chOff x="899998" y="5180555"/>
            <a:chExt cx="5760085" cy="387985"/>
          </a:xfrm>
        </p:grpSpPr>
        <p:sp>
          <p:nvSpPr>
            <p:cNvPr id="10" name="object 10" descr=""/>
            <p:cNvSpPr/>
            <p:nvPr/>
          </p:nvSpPr>
          <p:spPr>
            <a:xfrm>
              <a:off x="899998" y="5180555"/>
              <a:ext cx="5760085" cy="387985"/>
            </a:xfrm>
            <a:custGeom>
              <a:avLst/>
              <a:gdLst/>
              <a:ahLst/>
              <a:cxnLst/>
              <a:rect l="l" t="t" r="r" b="b"/>
              <a:pathLst>
                <a:path w="5760084" h="387985">
                  <a:moveTo>
                    <a:pt x="5724074" y="0"/>
                  </a:moveTo>
                  <a:lnTo>
                    <a:pt x="36000" y="0"/>
                  </a:lnTo>
                  <a:lnTo>
                    <a:pt x="21987" y="2829"/>
                  </a:lnTo>
                  <a:lnTo>
                    <a:pt x="10544" y="10544"/>
                  </a:lnTo>
                  <a:lnTo>
                    <a:pt x="2829" y="21987"/>
                  </a:lnTo>
                  <a:lnTo>
                    <a:pt x="0" y="36000"/>
                  </a:lnTo>
                  <a:lnTo>
                    <a:pt x="0" y="351633"/>
                  </a:lnTo>
                  <a:lnTo>
                    <a:pt x="2829" y="365646"/>
                  </a:lnTo>
                  <a:lnTo>
                    <a:pt x="10544" y="377089"/>
                  </a:lnTo>
                  <a:lnTo>
                    <a:pt x="21987" y="384804"/>
                  </a:lnTo>
                  <a:lnTo>
                    <a:pt x="36000" y="387633"/>
                  </a:lnTo>
                  <a:lnTo>
                    <a:pt x="5724074" y="387633"/>
                  </a:lnTo>
                  <a:lnTo>
                    <a:pt x="5738087" y="384804"/>
                  </a:lnTo>
                  <a:lnTo>
                    <a:pt x="5749530" y="377089"/>
                  </a:lnTo>
                  <a:lnTo>
                    <a:pt x="5757245" y="365646"/>
                  </a:lnTo>
                  <a:lnTo>
                    <a:pt x="5760074" y="35163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1" name="object 11" descr=""/>
            <p:cNvSpPr/>
            <p:nvPr/>
          </p:nvSpPr>
          <p:spPr>
            <a:xfrm>
              <a:off x="899998" y="5180555"/>
              <a:ext cx="5760085" cy="387985"/>
            </a:xfrm>
            <a:custGeom>
              <a:avLst/>
              <a:gdLst/>
              <a:ahLst/>
              <a:cxnLst/>
              <a:rect l="l" t="t" r="r" b="b"/>
              <a:pathLst>
                <a:path w="5760084" h="387985">
                  <a:moveTo>
                    <a:pt x="5724074" y="0"/>
                  </a:moveTo>
                  <a:lnTo>
                    <a:pt x="36000" y="0"/>
                  </a:lnTo>
                  <a:lnTo>
                    <a:pt x="21987" y="2829"/>
                  </a:lnTo>
                  <a:lnTo>
                    <a:pt x="10544" y="10544"/>
                  </a:lnTo>
                  <a:lnTo>
                    <a:pt x="2829" y="21987"/>
                  </a:lnTo>
                  <a:lnTo>
                    <a:pt x="0" y="36000"/>
                  </a:lnTo>
                  <a:lnTo>
                    <a:pt x="0" y="351633"/>
                  </a:lnTo>
                  <a:lnTo>
                    <a:pt x="2829" y="365646"/>
                  </a:lnTo>
                  <a:lnTo>
                    <a:pt x="10544" y="377089"/>
                  </a:lnTo>
                  <a:lnTo>
                    <a:pt x="21987" y="384804"/>
                  </a:lnTo>
                  <a:lnTo>
                    <a:pt x="36000" y="387633"/>
                  </a:lnTo>
                  <a:lnTo>
                    <a:pt x="5724074" y="387633"/>
                  </a:lnTo>
                  <a:lnTo>
                    <a:pt x="5738087" y="384804"/>
                  </a:lnTo>
                  <a:lnTo>
                    <a:pt x="5749530" y="377089"/>
                  </a:lnTo>
                  <a:lnTo>
                    <a:pt x="5757245" y="365646"/>
                  </a:lnTo>
                  <a:lnTo>
                    <a:pt x="5760074" y="35163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2" name="object 12" descr=""/>
          <p:cNvGrpSpPr/>
          <p:nvPr/>
        </p:nvGrpSpPr>
        <p:grpSpPr>
          <a:xfrm>
            <a:off x="899998" y="7541966"/>
            <a:ext cx="5760085" cy="1326515"/>
            <a:chOff x="899998" y="7541966"/>
            <a:chExt cx="5760085" cy="1326515"/>
          </a:xfrm>
        </p:grpSpPr>
        <p:sp>
          <p:nvSpPr>
            <p:cNvPr id="13" name="object 13" descr=""/>
            <p:cNvSpPr/>
            <p:nvPr/>
          </p:nvSpPr>
          <p:spPr>
            <a:xfrm>
              <a:off x="899998" y="7541966"/>
              <a:ext cx="5760085" cy="1326515"/>
            </a:xfrm>
            <a:custGeom>
              <a:avLst/>
              <a:gdLst/>
              <a:ahLst/>
              <a:cxnLst/>
              <a:rect l="l" t="t" r="r" b="b"/>
              <a:pathLst>
                <a:path w="5760084" h="1326515">
                  <a:moveTo>
                    <a:pt x="5724074" y="0"/>
                  </a:moveTo>
                  <a:lnTo>
                    <a:pt x="36000" y="0"/>
                  </a:lnTo>
                  <a:lnTo>
                    <a:pt x="21987" y="2829"/>
                  </a:lnTo>
                  <a:lnTo>
                    <a:pt x="10544" y="10544"/>
                  </a:lnTo>
                  <a:lnTo>
                    <a:pt x="2829" y="21987"/>
                  </a:lnTo>
                  <a:lnTo>
                    <a:pt x="0" y="36000"/>
                  </a:lnTo>
                  <a:lnTo>
                    <a:pt x="0" y="1290406"/>
                  </a:lnTo>
                  <a:lnTo>
                    <a:pt x="2829" y="1304419"/>
                  </a:lnTo>
                  <a:lnTo>
                    <a:pt x="10544" y="1315862"/>
                  </a:lnTo>
                  <a:lnTo>
                    <a:pt x="21987" y="1323577"/>
                  </a:lnTo>
                  <a:lnTo>
                    <a:pt x="36000" y="1326406"/>
                  </a:lnTo>
                  <a:lnTo>
                    <a:pt x="5724074" y="1326406"/>
                  </a:lnTo>
                  <a:lnTo>
                    <a:pt x="5738087" y="1323577"/>
                  </a:lnTo>
                  <a:lnTo>
                    <a:pt x="5749530" y="1315862"/>
                  </a:lnTo>
                  <a:lnTo>
                    <a:pt x="5757245" y="1304419"/>
                  </a:lnTo>
                  <a:lnTo>
                    <a:pt x="5760074" y="129040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4" name="object 14" descr=""/>
            <p:cNvSpPr/>
            <p:nvPr/>
          </p:nvSpPr>
          <p:spPr>
            <a:xfrm>
              <a:off x="899998" y="7541966"/>
              <a:ext cx="5760085" cy="1326515"/>
            </a:xfrm>
            <a:custGeom>
              <a:avLst/>
              <a:gdLst/>
              <a:ahLst/>
              <a:cxnLst/>
              <a:rect l="l" t="t" r="r" b="b"/>
              <a:pathLst>
                <a:path w="5760084" h="1326515">
                  <a:moveTo>
                    <a:pt x="5724074" y="0"/>
                  </a:moveTo>
                  <a:lnTo>
                    <a:pt x="36000" y="0"/>
                  </a:lnTo>
                  <a:lnTo>
                    <a:pt x="21987" y="2829"/>
                  </a:lnTo>
                  <a:lnTo>
                    <a:pt x="10544" y="10544"/>
                  </a:lnTo>
                  <a:lnTo>
                    <a:pt x="2829" y="21987"/>
                  </a:lnTo>
                  <a:lnTo>
                    <a:pt x="0" y="36000"/>
                  </a:lnTo>
                  <a:lnTo>
                    <a:pt x="0" y="1290406"/>
                  </a:lnTo>
                  <a:lnTo>
                    <a:pt x="2829" y="1304419"/>
                  </a:lnTo>
                  <a:lnTo>
                    <a:pt x="10544" y="1315862"/>
                  </a:lnTo>
                  <a:lnTo>
                    <a:pt x="21987" y="1323577"/>
                  </a:lnTo>
                  <a:lnTo>
                    <a:pt x="36000" y="1326406"/>
                  </a:lnTo>
                  <a:lnTo>
                    <a:pt x="5724074" y="1326406"/>
                  </a:lnTo>
                  <a:lnTo>
                    <a:pt x="5738087" y="1323577"/>
                  </a:lnTo>
                  <a:lnTo>
                    <a:pt x="5749530" y="1315862"/>
                  </a:lnTo>
                  <a:lnTo>
                    <a:pt x="5757245" y="1304419"/>
                  </a:lnTo>
                  <a:lnTo>
                    <a:pt x="5760074" y="129040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5" name="object 15" descr=""/>
          <p:cNvSpPr txBox="1"/>
          <p:nvPr/>
        </p:nvSpPr>
        <p:spPr>
          <a:xfrm>
            <a:off x="696798" y="1533379"/>
            <a:ext cx="6191885" cy="7249795"/>
          </a:xfrm>
          <a:prstGeom prst="rect">
            <a:avLst/>
          </a:prstGeom>
        </p:spPr>
        <p:txBody>
          <a:bodyPr wrap="square" lIns="0" tIns="12700" rIns="0" bIns="0" rtlCol="0" vert="horz">
            <a:spAutoFit/>
          </a:bodyPr>
          <a:lstStyle/>
          <a:p>
            <a:pPr algn="just" marL="203200" marR="220345" indent="252729">
              <a:lnSpc>
                <a:spcPct val="129500"/>
              </a:lnSpc>
              <a:spcBef>
                <a:spcPts val="100"/>
              </a:spcBef>
            </a:pPr>
            <a:r>
              <a:rPr dirty="0" sz="1000">
                <a:latin typeface="Times New Roman"/>
                <a:cs typeface="Times New Roman"/>
              </a:rPr>
              <a:t>Visualization.</a:t>
            </a:r>
            <a:r>
              <a:rPr dirty="0" sz="1000" spc="490">
                <a:latin typeface="Times New Roman"/>
                <a:cs typeface="Times New Roman"/>
              </a:rPr>
              <a:t> </a:t>
            </a:r>
            <a:r>
              <a:rPr dirty="0" sz="1000">
                <a:latin typeface="Times New Roman"/>
                <a:cs typeface="Times New Roman"/>
              </a:rPr>
              <a:t>To</a:t>
            </a:r>
            <a:r>
              <a:rPr dirty="0" sz="1000" spc="165">
                <a:latin typeface="Times New Roman"/>
                <a:cs typeface="Times New Roman"/>
              </a:rPr>
              <a:t> </a:t>
            </a:r>
            <a:r>
              <a:rPr dirty="0" sz="1000">
                <a:latin typeface="Times New Roman"/>
                <a:cs typeface="Times New Roman"/>
              </a:rPr>
              <a:t>further</a:t>
            </a:r>
            <a:r>
              <a:rPr dirty="0" sz="1000" spc="165">
                <a:latin typeface="Times New Roman"/>
                <a:cs typeface="Times New Roman"/>
              </a:rPr>
              <a:t> </a:t>
            </a:r>
            <a:r>
              <a:rPr dirty="0" sz="1000">
                <a:latin typeface="Times New Roman"/>
                <a:cs typeface="Times New Roman"/>
              </a:rPr>
              <a:t>explain</a:t>
            </a:r>
            <a:r>
              <a:rPr dirty="0" sz="1000" spc="165">
                <a:latin typeface="Times New Roman"/>
                <a:cs typeface="Times New Roman"/>
              </a:rPr>
              <a:t> </a:t>
            </a:r>
            <a:r>
              <a:rPr dirty="0" sz="1000">
                <a:latin typeface="Times New Roman"/>
                <a:cs typeface="Times New Roman"/>
              </a:rPr>
              <a:t>the</a:t>
            </a:r>
            <a:r>
              <a:rPr dirty="0" sz="1000" spc="165">
                <a:latin typeface="Times New Roman"/>
                <a:cs typeface="Times New Roman"/>
              </a:rPr>
              <a:t> </a:t>
            </a:r>
            <a:r>
              <a:rPr dirty="0" sz="1000">
                <a:latin typeface="Times New Roman"/>
                <a:cs typeface="Times New Roman"/>
              </a:rPr>
              <a:t>mechanism</a:t>
            </a:r>
            <a:r>
              <a:rPr dirty="0" sz="1000" spc="170">
                <a:latin typeface="Times New Roman"/>
                <a:cs typeface="Times New Roman"/>
              </a:rPr>
              <a:t> </a:t>
            </a:r>
            <a:r>
              <a:rPr dirty="0" sz="1000">
                <a:latin typeface="Times New Roman"/>
                <a:cs typeface="Times New Roman"/>
              </a:rPr>
              <a:t>of</a:t>
            </a:r>
            <a:r>
              <a:rPr dirty="0" sz="1000" spc="165">
                <a:latin typeface="Times New Roman"/>
                <a:cs typeface="Times New Roman"/>
              </a:rPr>
              <a:t> </a:t>
            </a:r>
            <a:r>
              <a:rPr dirty="0" sz="1000">
                <a:latin typeface="Times New Roman"/>
                <a:cs typeface="Times New Roman"/>
              </a:rPr>
              <a:t>DGL,</a:t>
            </a:r>
            <a:r>
              <a:rPr dirty="0" sz="1000" spc="165">
                <a:latin typeface="Times New Roman"/>
                <a:cs typeface="Times New Roman"/>
              </a:rPr>
              <a:t> </a:t>
            </a:r>
            <a:r>
              <a:rPr dirty="0" sz="1000">
                <a:latin typeface="Times New Roman"/>
                <a:cs typeface="Times New Roman"/>
              </a:rPr>
              <a:t>we</a:t>
            </a:r>
            <a:r>
              <a:rPr dirty="0" sz="1000" spc="165">
                <a:latin typeface="Times New Roman"/>
                <a:cs typeface="Times New Roman"/>
              </a:rPr>
              <a:t> </a:t>
            </a:r>
            <a:r>
              <a:rPr dirty="0" sz="1000">
                <a:latin typeface="Times New Roman"/>
                <a:cs typeface="Times New Roman"/>
              </a:rPr>
              <a:t>visualize</a:t>
            </a:r>
            <a:r>
              <a:rPr dirty="0" sz="1000" spc="170">
                <a:latin typeface="Times New Roman"/>
                <a:cs typeface="Times New Roman"/>
              </a:rPr>
              <a:t> </a:t>
            </a:r>
            <a:r>
              <a:rPr dirty="0" sz="1000">
                <a:latin typeface="Cambria"/>
                <a:cs typeface="Cambria"/>
              </a:rPr>
              <a:t>𝑠</a:t>
            </a:r>
            <a:r>
              <a:rPr dirty="0" sz="1000" spc="445">
                <a:latin typeface="Cambria"/>
                <a:cs typeface="Cambria"/>
              </a:rPr>
              <a:t> </a:t>
            </a:r>
            <a:r>
              <a:rPr dirty="0" sz="1000" spc="165">
                <a:latin typeface="Cambria"/>
                <a:cs typeface="Cambria"/>
              </a:rPr>
              <a:t>=</a:t>
            </a:r>
            <a:r>
              <a:rPr dirty="0" sz="1000" spc="440">
                <a:latin typeface="Cambria"/>
                <a:cs typeface="Cambria"/>
              </a:rPr>
              <a:t> </a:t>
            </a:r>
            <a:r>
              <a:rPr dirty="0" sz="1000" spc="-25">
                <a:latin typeface="Cambria"/>
                <a:cs typeface="Cambria"/>
              </a:rPr>
              <a:t>𝑒</a:t>
            </a:r>
            <a:r>
              <a:rPr dirty="0" baseline="39682" sz="1050" spc="-37">
                <a:latin typeface="Cambria"/>
                <a:cs typeface="Cambria"/>
              </a:rPr>
              <a:t>(𝑊</a:t>
            </a:r>
            <a:r>
              <a:rPr dirty="0" baseline="25252" sz="825" spc="-37">
                <a:latin typeface="Cambria"/>
                <a:cs typeface="Cambria"/>
              </a:rPr>
              <a:t>𝑘</a:t>
            </a:r>
            <a:r>
              <a:rPr dirty="0" baseline="95959" sz="825" spc="-37">
                <a:latin typeface="Cambria"/>
                <a:cs typeface="Cambria"/>
              </a:rPr>
              <a:t>𝑚</a:t>
            </a:r>
            <a:r>
              <a:rPr dirty="0" baseline="80808" sz="825" spc="-37">
                <a:latin typeface="Cambria"/>
                <a:cs typeface="Cambria"/>
              </a:rPr>
              <a:t>2</a:t>
            </a:r>
            <a:r>
              <a:rPr dirty="0" baseline="80808" sz="825" spc="-7">
                <a:latin typeface="Cambria"/>
                <a:cs typeface="Cambria"/>
              </a:rPr>
              <a:t> </a:t>
            </a:r>
            <a:r>
              <a:rPr dirty="0" baseline="39682" sz="1050" spc="-89">
                <a:latin typeface="Cambria"/>
                <a:cs typeface="Cambria"/>
              </a:rPr>
              <a:t>−𝑊</a:t>
            </a:r>
            <a:r>
              <a:rPr dirty="0" baseline="40404" sz="825" spc="-89">
                <a:latin typeface="Cambria"/>
                <a:cs typeface="Cambria"/>
              </a:rPr>
              <a:t>𝑦</a:t>
            </a:r>
            <a:r>
              <a:rPr dirty="0" baseline="95959" sz="825" spc="-89">
                <a:latin typeface="Cambria"/>
                <a:cs typeface="Cambria"/>
              </a:rPr>
              <a:t>𝑚</a:t>
            </a:r>
            <a:r>
              <a:rPr dirty="0" baseline="15151" sz="825" spc="-89">
                <a:latin typeface="Cambria"/>
                <a:cs typeface="Cambria"/>
              </a:rPr>
              <a:t>𝑖</a:t>
            </a:r>
            <a:r>
              <a:rPr dirty="0" baseline="15151" sz="825" spc="44">
                <a:latin typeface="Cambria"/>
                <a:cs typeface="Cambria"/>
              </a:rPr>
              <a:t> </a:t>
            </a:r>
            <a:r>
              <a:rPr dirty="0" baseline="80808" sz="825">
                <a:latin typeface="Cambria"/>
                <a:cs typeface="Cambria"/>
              </a:rPr>
              <a:t>2</a:t>
            </a:r>
            <a:r>
              <a:rPr dirty="0" baseline="80808" sz="825" spc="-7">
                <a:latin typeface="Cambria"/>
                <a:cs typeface="Cambria"/>
              </a:rPr>
              <a:t> </a:t>
            </a:r>
            <a:r>
              <a:rPr dirty="0" baseline="39682" sz="1050">
                <a:latin typeface="Cambria"/>
                <a:cs typeface="Cambria"/>
              </a:rPr>
              <a:t>)𝑧</a:t>
            </a:r>
            <a:r>
              <a:rPr dirty="0" baseline="25252" sz="825">
                <a:latin typeface="Cambria"/>
                <a:cs typeface="Cambria"/>
              </a:rPr>
              <a:t>𝑖</a:t>
            </a:r>
            <a:r>
              <a:rPr dirty="0" baseline="95959" sz="825">
                <a:latin typeface="Cambria"/>
                <a:cs typeface="Cambria"/>
              </a:rPr>
              <a:t>𝑚</a:t>
            </a:r>
            <a:r>
              <a:rPr dirty="0" baseline="80808" sz="825">
                <a:latin typeface="Cambria"/>
                <a:cs typeface="Cambria"/>
              </a:rPr>
              <a:t>2</a:t>
            </a:r>
            <a:r>
              <a:rPr dirty="0" baseline="80808" sz="825" spc="735">
                <a:latin typeface="Cambria"/>
                <a:cs typeface="Cambria"/>
              </a:rPr>
              <a:t> </a:t>
            </a:r>
            <a:r>
              <a:rPr dirty="0" sz="1000">
                <a:latin typeface="Times New Roman"/>
                <a:cs typeface="Times New Roman"/>
              </a:rPr>
              <a:t>and</a:t>
            </a:r>
            <a:r>
              <a:rPr dirty="0" sz="1000" spc="165">
                <a:latin typeface="Times New Roman"/>
                <a:cs typeface="Times New Roman"/>
              </a:rPr>
              <a:t> </a:t>
            </a:r>
            <a:r>
              <a:rPr dirty="0" sz="1000" spc="-25">
                <a:latin typeface="Times New Roman"/>
                <a:cs typeface="Times New Roman"/>
              </a:rPr>
              <a:t>the </a:t>
            </a:r>
            <a:r>
              <a:rPr dirty="0" sz="1000" spc="10">
                <a:latin typeface="Times New Roman"/>
                <a:cs typeface="Times New Roman"/>
              </a:rPr>
              <a:t>training</a:t>
            </a:r>
            <a:r>
              <a:rPr dirty="0" sz="1000" spc="120">
                <a:latin typeface="Times New Roman"/>
                <a:cs typeface="Times New Roman"/>
              </a:rPr>
              <a:t> </a:t>
            </a:r>
            <a:r>
              <a:rPr dirty="0" sz="1000" spc="10">
                <a:latin typeface="Times New Roman"/>
                <a:cs typeface="Times New Roman"/>
              </a:rPr>
              <a:t>gradient</a:t>
            </a:r>
            <a:r>
              <a:rPr dirty="0" sz="1000" spc="130">
                <a:latin typeface="Times New Roman"/>
                <a:cs typeface="Times New Roman"/>
              </a:rPr>
              <a:t> </a:t>
            </a:r>
            <a:r>
              <a:rPr dirty="0" sz="1000" spc="10">
                <a:latin typeface="Times New Roman"/>
                <a:cs typeface="Times New Roman"/>
              </a:rPr>
              <a:t>for</a:t>
            </a:r>
            <a:r>
              <a:rPr dirty="0" sz="1000" spc="130">
                <a:latin typeface="Times New Roman"/>
                <a:cs typeface="Times New Roman"/>
              </a:rPr>
              <a:t> </a:t>
            </a:r>
            <a:r>
              <a:rPr dirty="0" sz="1000" spc="10">
                <a:latin typeface="Times New Roman"/>
                <a:cs typeface="Times New Roman"/>
              </a:rPr>
              <a:t>the</a:t>
            </a:r>
            <a:r>
              <a:rPr dirty="0" sz="1000" spc="130">
                <a:latin typeface="Times New Roman"/>
                <a:cs typeface="Times New Roman"/>
              </a:rPr>
              <a:t> </a:t>
            </a:r>
            <a:r>
              <a:rPr dirty="0" sz="1000" spc="10">
                <a:latin typeface="Times New Roman"/>
                <a:cs typeface="Times New Roman"/>
              </a:rPr>
              <a:t>audio</a:t>
            </a:r>
            <a:r>
              <a:rPr dirty="0" sz="1000" spc="130">
                <a:latin typeface="Times New Roman"/>
                <a:cs typeface="Times New Roman"/>
              </a:rPr>
              <a:t> </a:t>
            </a:r>
            <a:r>
              <a:rPr dirty="0" sz="1000" spc="10">
                <a:latin typeface="Times New Roman"/>
                <a:cs typeface="Times New Roman"/>
              </a:rPr>
              <a:t>branch</a:t>
            </a:r>
            <a:r>
              <a:rPr dirty="0" sz="1000" spc="125">
                <a:latin typeface="Times New Roman"/>
                <a:cs typeface="Times New Roman"/>
              </a:rPr>
              <a:t> </a:t>
            </a:r>
            <a:r>
              <a:rPr dirty="0" sz="1000" spc="10">
                <a:latin typeface="Times New Roman"/>
                <a:cs typeface="Times New Roman"/>
              </a:rPr>
              <a:t>in</a:t>
            </a:r>
            <a:r>
              <a:rPr dirty="0" sz="1000" spc="125">
                <a:latin typeface="Times New Roman"/>
                <a:cs typeface="Times New Roman"/>
              </a:rPr>
              <a:t> </a:t>
            </a:r>
            <a:r>
              <a:rPr dirty="0" sz="1000" spc="10">
                <a:latin typeface="Times New Roman"/>
                <a:cs typeface="Times New Roman"/>
              </a:rPr>
              <a:t>the</a:t>
            </a:r>
            <a:r>
              <a:rPr dirty="0" sz="1000" spc="130">
                <a:latin typeface="Times New Roman"/>
                <a:cs typeface="Times New Roman"/>
              </a:rPr>
              <a:t> </a:t>
            </a:r>
            <a:r>
              <a:rPr dirty="0" sz="1000" spc="10">
                <a:latin typeface="Times New Roman"/>
                <a:cs typeface="Times New Roman"/>
              </a:rPr>
              <a:t>vanilla</a:t>
            </a:r>
            <a:r>
              <a:rPr dirty="0" sz="1000" spc="130">
                <a:latin typeface="Times New Roman"/>
                <a:cs typeface="Times New Roman"/>
              </a:rPr>
              <a:t> </a:t>
            </a:r>
            <a:r>
              <a:rPr dirty="0" sz="1000" spc="10">
                <a:latin typeface="Times New Roman"/>
                <a:cs typeface="Times New Roman"/>
              </a:rPr>
              <a:t>and</a:t>
            </a:r>
            <a:r>
              <a:rPr dirty="0" sz="1000" spc="130">
                <a:latin typeface="Times New Roman"/>
                <a:cs typeface="Times New Roman"/>
              </a:rPr>
              <a:t> </a:t>
            </a:r>
            <a:r>
              <a:rPr dirty="0" sz="1000" spc="10">
                <a:latin typeface="Times New Roman"/>
                <a:cs typeface="Times New Roman"/>
              </a:rPr>
              <a:t>DGL</a:t>
            </a:r>
            <a:r>
              <a:rPr dirty="0" sz="1000" spc="130">
                <a:latin typeface="Times New Roman"/>
                <a:cs typeface="Times New Roman"/>
              </a:rPr>
              <a:t> </a:t>
            </a:r>
            <a:r>
              <a:rPr dirty="0" sz="1000" spc="10">
                <a:latin typeface="Times New Roman"/>
                <a:cs typeface="Times New Roman"/>
              </a:rPr>
              <a:t>multimodal</a:t>
            </a:r>
            <a:r>
              <a:rPr dirty="0" sz="1000" spc="130">
                <a:latin typeface="Times New Roman"/>
                <a:cs typeface="Times New Roman"/>
              </a:rPr>
              <a:t> </a:t>
            </a:r>
            <a:r>
              <a:rPr dirty="0" sz="1000" spc="10">
                <a:latin typeface="Times New Roman"/>
                <a:cs typeface="Times New Roman"/>
              </a:rPr>
              <a:t>model.</a:t>
            </a:r>
            <a:r>
              <a:rPr dirty="0" sz="1000" spc="420">
                <a:latin typeface="Times New Roman"/>
                <a:cs typeface="Times New Roman"/>
              </a:rPr>
              <a:t> </a:t>
            </a:r>
            <a:r>
              <a:rPr dirty="0" sz="1000" spc="10">
                <a:latin typeface="Times New Roman"/>
                <a:cs typeface="Times New Roman"/>
              </a:rPr>
              <a:t>As</a:t>
            </a:r>
            <a:r>
              <a:rPr dirty="0" sz="1000" spc="130">
                <a:latin typeface="Times New Roman"/>
                <a:cs typeface="Times New Roman"/>
              </a:rPr>
              <a:t> </a:t>
            </a:r>
            <a:r>
              <a:rPr dirty="0" sz="1000" spc="10">
                <a:latin typeface="Times New Roman"/>
                <a:cs typeface="Times New Roman"/>
              </a:rPr>
              <a:t>shown</a:t>
            </a:r>
            <a:r>
              <a:rPr dirty="0" sz="1000" spc="125">
                <a:latin typeface="Times New Roman"/>
                <a:cs typeface="Times New Roman"/>
              </a:rPr>
              <a:t> </a:t>
            </a:r>
            <a:r>
              <a:rPr dirty="0" sz="1000" spc="10">
                <a:latin typeface="Times New Roman"/>
                <a:cs typeface="Times New Roman"/>
              </a:rPr>
              <a:t>in</a:t>
            </a:r>
            <a:r>
              <a:rPr dirty="0" sz="1000" spc="130">
                <a:latin typeface="Times New Roman"/>
                <a:cs typeface="Times New Roman"/>
              </a:rPr>
              <a:t> </a:t>
            </a:r>
            <a:r>
              <a:rPr dirty="0" sz="1000" spc="10">
                <a:latin typeface="Times New Roman"/>
                <a:cs typeface="Times New Roman"/>
              </a:rPr>
              <a:t>Fig.</a:t>
            </a:r>
            <a:r>
              <a:rPr dirty="0" sz="1000" spc="420">
                <a:latin typeface="Times New Roman"/>
                <a:cs typeface="Times New Roman"/>
              </a:rPr>
              <a:t> </a:t>
            </a:r>
            <a:r>
              <a:rPr dirty="0" sz="1000" spc="-10">
                <a:latin typeface="Times New Roman"/>
                <a:cs typeface="Times New Roman"/>
              </a:rPr>
              <a:t>3(a),</a:t>
            </a:r>
            <a:endParaRPr sz="1000">
              <a:latin typeface="Times New Roman"/>
              <a:cs typeface="Times New Roman"/>
            </a:endParaRPr>
          </a:p>
          <a:p>
            <a:pPr algn="just" marL="202565" marR="220345">
              <a:lnSpc>
                <a:spcPct val="129500"/>
              </a:lnSpc>
            </a:pPr>
            <a:r>
              <a:rPr dirty="0" sz="1000" spc="-80">
                <a:latin typeface="Cambria"/>
                <a:cs typeface="Cambria"/>
              </a:rPr>
              <a:t>𝑠</a:t>
            </a:r>
            <a:r>
              <a:rPr dirty="0" sz="1000" spc="85">
                <a:latin typeface="Cambria"/>
                <a:cs typeface="Cambria"/>
              </a:rPr>
              <a:t> </a:t>
            </a:r>
            <a:r>
              <a:rPr dirty="0" sz="1000" spc="-15">
                <a:latin typeface="Times New Roman"/>
                <a:cs typeface="Times New Roman"/>
              </a:rPr>
              <a:t>of</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10">
                <a:latin typeface="Times New Roman"/>
                <a:cs typeface="Times New Roman"/>
              </a:rPr>
              <a:t>vanilla</a:t>
            </a:r>
            <a:r>
              <a:rPr dirty="0" sz="1000" spc="55">
                <a:latin typeface="Times New Roman"/>
                <a:cs typeface="Times New Roman"/>
              </a:rPr>
              <a:t> </a:t>
            </a:r>
            <a:r>
              <a:rPr dirty="0" sz="1000" spc="25">
                <a:latin typeface="Times New Roman"/>
                <a:cs typeface="Times New Roman"/>
              </a:rPr>
              <a:t>model</a:t>
            </a:r>
            <a:r>
              <a:rPr dirty="0" sz="1000" spc="55">
                <a:latin typeface="Times New Roman"/>
                <a:cs typeface="Times New Roman"/>
              </a:rPr>
              <a:t> </a:t>
            </a:r>
            <a:r>
              <a:rPr dirty="0" sz="1000" spc="5">
                <a:latin typeface="Times New Roman"/>
                <a:cs typeface="Times New Roman"/>
              </a:rPr>
              <a:t>is</a:t>
            </a:r>
            <a:r>
              <a:rPr dirty="0" sz="1000" spc="55">
                <a:latin typeface="Times New Roman"/>
                <a:cs typeface="Times New Roman"/>
              </a:rPr>
              <a:t> </a:t>
            </a:r>
            <a:r>
              <a:rPr dirty="0" sz="1000">
                <a:latin typeface="Times New Roman"/>
                <a:cs typeface="Times New Roman"/>
              </a:rPr>
              <a:t>always</a:t>
            </a:r>
            <a:r>
              <a:rPr dirty="0" sz="1000" spc="55">
                <a:latin typeface="Times New Roman"/>
                <a:cs typeface="Times New Roman"/>
              </a:rPr>
              <a:t> </a:t>
            </a:r>
            <a:r>
              <a:rPr dirty="0" sz="1000" spc="5">
                <a:latin typeface="Times New Roman"/>
                <a:cs typeface="Times New Roman"/>
              </a:rPr>
              <a:t>less</a:t>
            </a:r>
            <a:r>
              <a:rPr dirty="0" sz="1000" spc="55">
                <a:latin typeface="Times New Roman"/>
                <a:cs typeface="Times New Roman"/>
              </a:rPr>
              <a:t> </a:t>
            </a:r>
            <a:r>
              <a:rPr dirty="0" sz="1000" spc="50">
                <a:latin typeface="Times New Roman"/>
                <a:cs typeface="Times New Roman"/>
              </a:rPr>
              <a:t>than</a:t>
            </a:r>
            <a:r>
              <a:rPr dirty="0" sz="1000" spc="55">
                <a:latin typeface="Times New Roman"/>
                <a:cs typeface="Times New Roman"/>
              </a:rPr>
              <a:t> </a:t>
            </a:r>
            <a:r>
              <a:rPr dirty="0" sz="1000" spc="-10">
                <a:latin typeface="Times New Roman"/>
                <a:cs typeface="Times New Roman"/>
              </a:rPr>
              <a:t>1</a:t>
            </a:r>
            <a:r>
              <a:rPr dirty="0" sz="1000" spc="55">
                <a:latin typeface="Times New Roman"/>
                <a:cs typeface="Times New Roman"/>
              </a:rPr>
              <a:t> </a:t>
            </a:r>
            <a:r>
              <a:rPr dirty="0" sz="1000" spc="40">
                <a:latin typeface="Times New Roman"/>
                <a:cs typeface="Times New Roman"/>
              </a:rPr>
              <a:t>and</a:t>
            </a:r>
            <a:r>
              <a:rPr dirty="0" sz="1000" spc="55">
                <a:latin typeface="Times New Roman"/>
                <a:cs typeface="Times New Roman"/>
              </a:rPr>
              <a:t> </a:t>
            </a:r>
            <a:r>
              <a:rPr dirty="0" sz="1000" spc="5">
                <a:latin typeface="Times New Roman"/>
                <a:cs typeface="Times New Roman"/>
              </a:rPr>
              <a:t>is</a:t>
            </a:r>
            <a:r>
              <a:rPr dirty="0" sz="1000" spc="55">
                <a:latin typeface="Times New Roman"/>
                <a:cs typeface="Times New Roman"/>
              </a:rPr>
              <a:t> </a:t>
            </a:r>
            <a:r>
              <a:rPr dirty="0" sz="1000">
                <a:latin typeface="Times New Roman"/>
                <a:cs typeface="Times New Roman"/>
              </a:rPr>
              <a:t>close</a:t>
            </a:r>
            <a:r>
              <a:rPr dirty="0" sz="1000" spc="55">
                <a:latin typeface="Times New Roman"/>
                <a:cs typeface="Times New Roman"/>
              </a:rPr>
              <a:t> </a:t>
            </a:r>
            <a:r>
              <a:rPr dirty="0" sz="1000" spc="20">
                <a:latin typeface="Times New Roman"/>
                <a:cs typeface="Times New Roman"/>
              </a:rPr>
              <a:t>to</a:t>
            </a:r>
            <a:r>
              <a:rPr dirty="0" sz="1000" spc="55">
                <a:latin typeface="Times New Roman"/>
                <a:cs typeface="Times New Roman"/>
              </a:rPr>
              <a:t> </a:t>
            </a:r>
            <a:r>
              <a:rPr dirty="0" sz="1000" spc="-10">
                <a:latin typeface="Times New Roman"/>
                <a:cs typeface="Times New Roman"/>
              </a:rPr>
              <a:t>0</a:t>
            </a:r>
            <a:r>
              <a:rPr dirty="0" sz="1000" spc="55">
                <a:latin typeface="Times New Roman"/>
                <a:cs typeface="Times New Roman"/>
              </a:rPr>
              <a:t> </a:t>
            </a:r>
            <a:r>
              <a:rPr dirty="0" sz="1000" spc="10">
                <a:latin typeface="Times New Roman"/>
                <a:cs typeface="Times New Roman"/>
              </a:rPr>
              <a:t>after</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20">
                <a:latin typeface="Times New Roman"/>
                <a:cs typeface="Times New Roman"/>
              </a:rPr>
              <a:t>20th</a:t>
            </a:r>
            <a:r>
              <a:rPr dirty="0" sz="1000" spc="55">
                <a:latin typeface="Times New Roman"/>
                <a:cs typeface="Times New Roman"/>
              </a:rPr>
              <a:t> </a:t>
            </a:r>
            <a:r>
              <a:rPr dirty="0" sz="1000" spc="15">
                <a:latin typeface="Times New Roman"/>
                <a:cs typeface="Times New Roman"/>
              </a:rPr>
              <a:t>epochs.</a:t>
            </a:r>
            <a:r>
              <a:rPr dirty="0" sz="1000" spc="285">
                <a:latin typeface="Times New Roman"/>
                <a:cs typeface="Times New Roman"/>
              </a:rPr>
              <a:t> </a:t>
            </a:r>
            <a:r>
              <a:rPr dirty="0" sz="1000" spc="-10">
                <a:latin typeface="Times New Roman"/>
                <a:cs typeface="Times New Roman"/>
              </a:rPr>
              <a:t>As</a:t>
            </a:r>
            <a:r>
              <a:rPr dirty="0" sz="1000" spc="55">
                <a:latin typeface="Times New Roman"/>
                <a:cs typeface="Times New Roman"/>
              </a:rPr>
              <a:t> </a:t>
            </a:r>
            <a:r>
              <a:rPr dirty="0" sz="1000" spc="35">
                <a:latin typeface="Times New Roman"/>
                <a:cs typeface="Times New Roman"/>
              </a:rPr>
              <a:t>shown</a:t>
            </a:r>
            <a:r>
              <a:rPr dirty="0" sz="1000" spc="55">
                <a:latin typeface="Times New Roman"/>
                <a:cs typeface="Times New Roman"/>
              </a:rPr>
              <a:t> </a:t>
            </a:r>
            <a:r>
              <a:rPr dirty="0" sz="1000" spc="35">
                <a:latin typeface="Times New Roman"/>
                <a:cs typeface="Times New Roman"/>
              </a:rPr>
              <a:t>in</a:t>
            </a:r>
            <a:r>
              <a:rPr dirty="0" sz="1000" spc="55">
                <a:latin typeface="Times New Roman"/>
                <a:cs typeface="Times New Roman"/>
              </a:rPr>
              <a:t> </a:t>
            </a:r>
            <a:r>
              <a:rPr dirty="0" sz="1000">
                <a:latin typeface="Times New Roman"/>
                <a:cs typeface="Times New Roman"/>
              </a:rPr>
              <a:t>Fig.</a:t>
            </a:r>
            <a:r>
              <a:rPr dirty="0" sz="1000" spc="285">
                <a:latin typeface="Times New Roman"/>
                <a:cs typeface="Times New Roman"/>
              </a:rPr>
              <a:t> </a:t>
            </a:r>
            <a:r>
              <a:rPr dirty="0" sz="1000">
                <a:latin typeface="Times New Roman"/>
                <a:cs typeface="Times New Roman"/>
              </a:rPr>
              <a:t>3(b), </a:t>
            </a:r>
            <a:r>
              <a:rPr dirty="0" sz="1000" spc="40">
                <a:latin typeface="Times New Roman"/>
                <a:cs typeface="Times New Roman"/>
              </a:rPr>
              <a:t>the</a:t>
            </a:r>
            <a:r>
              <a:rPr dirty="0" sz="1000" spc="25">
                <a:latin typeface="Times New Roman"/>
                <a:cs typeface="Times New Roman"/>
              </a:rPr>
              <a:t> </a:t>
            </a:r>
            <a:r>
              <a:rPr dirty="0" sz="1000" spc="20">
                <a:latin typeface="Times New Roman"/>
                <a:cs typeface="Times New Roman"/>
              </a:rPr>
              <a:t>gradient</a:t>
            </a:r>
            <a:r>
              <a:rPr dirty="0" sz="1000" spc="25">
                <a:latin typeface="Times New Roman"/>
                <a:cs typeface="Times New Roman"/>
              </a:rPr>
              <a:t> </a:t>
            </a:r>
            <a:r>
              <a:rPr dirty="0" sz="1000" spc="15">
                <a:latin typeface="Times New Roman"/>
                <a:cs typeface="Times New Roman"/>
              </a:rPr>
              <a:t>from</a:t>
            </a:r>
            <a:r>
              <a:rPr dirty="0" sz="1000" spc="25">
                <a:latin typeface="Times New Roman"/>
                <a:cs typeface="Times New Roman"/>
              </a:rPr>
              <a:t> </a:t>
            </a:r>
            <a:r>
              <a:rPr dirty="0" sz="1000" spc="10">
                <a:latin typeface="Times New Roman"/>
                <a:cs typeface="Times New Roman"/>
              </a:rPr>
              <a:t>vanilla</a:t>
            </a:r>
            <a:r>
              <a:rPr dirty="0" sz="1000" spc="25">
                <a:latin typeface="Times New Roman"/>
                <a:cs typeface="Times New Roman"/>
              </a:rPr>
              <a:t> </a:t>
            </a:r>
            <a:r>
              <a:rPr dirty="0" sz="1000" spc="30">
                <a:latin typeface="Times New Roman"/>
                <a:cs typeface="Times New Roman"/>
              </a:rPr>
              <a:t>multimodal</a:t>
            </a:r>
            <a:r>
              <a:rPr dirty="0" sz="1000" spc="25">
                <a:latin typeface="Times New Roman"/>
                <a:cs typeface="Times New Roman"/>
              </a:rPr>
              <a:t> </a:t>
            </a:r>
            <a:r>
              <a:rPr dirty="0" sz="1000" spc="10">
                <a:latin typeface="Times New Roman"/>
                <a:cs typeface="Times New Roman"/>
              </a:rPr>
              <a:t>back-</a:t>
            </a:r>
            <a:r>
              <a:rPr dirty="0" sz="1000" spc="15">
                <a:latin typeface="Times New Roman"/>
                <a:cs typeface="Times New Roman"/>
              </a:rPr>
              <a:t>propagated</a:t>
            </a:r>
            <a:r>
              <a:rPr dirty="0" sz="1000" spc="25">
                <a:latin typeface="Times New Roman"/>
                <a:cs typeface="Times New Roman"/>
              </a:rPr>
              <a:t> </a:t>
            </a:r>
            <a:r>
              <a:rPr dirty="0" sz="1000" spc="20">
                <a:latin typeface="Times New Roman"/>
                <a:cs typeface="Times New Roman"/>
              </a:rPr>
              <a:t>to</a:t>
            </a:r>
            <a:r>
              <a:rPr dirty="0" sz="1000" spc="25">
                <a:latin typeface="Times New Roman"/>
                <a:cs typeface="Times New Roman"/>
              </a:rPr>
              <a:t> </a:t>
            </a:r>
            <a:r>
              <a:rPr dirty="0" sz="1000" spc="40">
                <a:latin typeface="Times New Roman"/>
                <a:cs typeface="Times New Roman"/>
              </a:rPr>
              <a:t>the</a:t>
            </a:r>
            <a:r>
              <a:rPr dirty="0" sz="1000" spc="25">
                <a:latin typeface="Times New Roman"/>
                <a:cs typeface="Times New Roman"/>
              </a:rPr>
              <a:t> </a:t>
            </a:r>
            <a:r>
              <a:rPr dirty="0" sz="1000" spc="30">
                <a:latin typeface="Times New Roman"/>
                <a:cs typeface="Times New Roman"/>
              </a:rPr>
              <a:t>audio</a:t>
            </a:r>
            <a:r>
              <a:rPr dirty="0" sz="1000" spc="25">
                <a:latin typeface="Times New Roman"/>
                <a:cs typeface="Times New Roman"/>
              </a:rPr>
              <a:t> </a:t>
            </a:r>
            <a:r>
              <a:rPr dirty="0" sz="1000" spc="20">
                <a:latin typeface="Times New Roman"/>
                <a:cs typeface="Times New Roman"/>
              </a:rPr>
              <a:t>encoder</a:t>
            </a:r>
            <a:r>
              <a:rPr dirty="0" sz="1000" spc="25">
                <a:latin typeface="Times New Roman"/>
                <a:cs typeface="Times New Roman"/>
              </a:rPr>
              <a:t> </a:t>
            </a:r>
            <a:r>
              <a:rPr dirty="0" sz="1000" spc="10">
                <a:latin typeface="Times New Roman"/>
                <a:cs typeface="Times New Roman"/>
              </a:rPr>
              <a:t>also</a:t>
            </a:r>
            <a:r>
              <a:rPr dirty="0" sz="1000" spc="25">
                <a:latin typeface="Times New Roman"/>
                <a:cs typeface="Times New Roman"/>
              </a:rPr>
              <a:t> </a:t>
            </a:r>
            <a:r>
              <a:rPr dirty="0" sz="1000" spc="10">
                <a:latin typeface="Times New Roman"/>
                <a:cs typeface="Times New Roman"/>
              </a:rPr>
              <a:t>decreases</a:t>
            </a:r>
            <a:r>
              <a:rPr dirty="0" sz="1000" spc="25">
                <a:latin typeface="Times New Roman"/>
                <a:cs typeface="Times New Roman"/>
              </a:rPr>
              <a:t> </a:t>
            </a:r>
            <a:r>
              <a:rPr dirty="0" sz="1000" spc="10">
                <a:latin typeface="Times New Roman"/>
                <a:cs typeface="Times New Roman"/>
              </a:rPr>
              <a:t>rapidly</a:t>
            </a:r>
            <a:r>
              <a:rPr dirty="0" sz="1000" spc="25">
                <a:latin typeface="Times New Roman"/>
                <a:cs typeface="Times New Roman"/>
              </a:rPr>
              <a:t> </a:t>
            </a:r>
            <a:r>
              <a:rPr dirty="0" sz="1000" spc="10">
                <a:latin typeface="Times New Roman"/>
                <a:cs typeface="Times New Roman"/>
              </a:rPr>
              <a:t>after</a:t>
            </a:r>
            <a:r>
              <a:rPr dirty="0" sz="1000" spc="25">
                <a:latin typeface="Times New Roman"/>
                <a:cs typeface="Times New Roman"/>
              </a:rPr>
              <a:t> </a:t>
            </a:r>
            <a:r>
              <a:rPr dirty="0" sz="1000" spc="40">
                <a:latin typeface="Times New Roman"/>
                <a:cs typeface="Times New Roman"/>
              </a:rPr>
              <a:t>the</a:t>
            </a:r>
            <a:r>
              <a:rPr dirty="0" sz="1000" spc="25">
                <a:latin typeface="Times New Roman"/>
                <a:cs typeface="Times New Roman"/>
              </a:rPr>
              <a:t> </a:t>
            </a:r>
            <a:r>
              <a:rPr dirty="0" sz="1000" spc="20">
                <a:latin typeface="Times New Roman"/>
                <a:cs typeface="Times New Roman"/>
              </a:rPr>
              <a:t>20th</a:t>
            </a:r>
            <a:r>
              <a:rPr dirty="0" sz="1000" spc="45">
                <a:latin typeface="Times New Roman"/>
                <a:cs typeface="Times New Roman"/>
              </a:rPr>
              <a:t> </a:t>
            </a:r>
            <a:r>
              <a:rPr dirty="0" sz="1000" spc="15">
                <a:latin typeface="Times New Roman"/>
                <a:cs typeface="Times New Roman"/>
              </a:rPr>
              <a:t>epoch.</a:t>
            </a:r>
            <a:r>
              <a:rPr dirty="0" sz="1000">
                <a:latin typeface="Times New Roman"/>
                <a:cs typeface="Times New Roman"/>
              </a:rPr>
              <a:t>  </a:t>
            </a:r>
            <a:r>
              <a:rPr dirty="0" sz="1000" spc="15">
                <a:latin typeface="Times New Roman"/>
                <a:cs typeface="Times New Roman"/>
              </a:rPr>
              <a:t>This</a:t>
            </a:r>
            <a:r>
              <a:rPr dirty="0" sz="1000" spc="45">
                <a:latin typeface="Times New Roman"/>
                <a:cs typeface="Times New Roman"/>
              </a:rPr>
              <a:t> </a:t>
            </a:r>
            <a:r>
              <a:rPr dirty="0" sz="1000" spc="5">
                <a:latin typeface="Times New Roman"/>
                <a:cs typeface="Times New Roman"/>
              </a:rPr>
              <a:t>is</a:t>
            </a:r>
            <a:r>
              <a:rPr dirty="0" sz="1000" spc="45">
                <a:latin typeface="Times New Roman"/>
                <a:cs typeface="Times New Roman"/>
              </a:rPr>
              <a:t> </a:t>
            </a:r>
            <a:r>
              <a:rPr dirty="0" sz="1000" spc="25">
                <a:latin typeface="Times New Roman"/>
                <a:cs typeface="Times New Roman"/>
              </a:rPr>
              <a:t>consistent</a:t>
            </a:r>
            <a:r>
              <a:rPr dirty="0" sz="1000" spc="45">
                <a:latin typeface="Times New Roman"/>
                <a:cs typeface="Times New Roman"/>
              </a:rPr>
              <a:t> </a:t>
            </a:r>
            <a:r>
              <a:rPr dirty="0" sz="1000" spc="35">
                <a:latin typeface="Times New Roman"/>
                <a:cs typeface="Times New Roman"/>
              </a:rPr>
              <a:t>with</a:t>
            </a:r>
            <a:r>
              <a:rPr dirty="0" sz="1000" spc="45">
                <a:latin typeface="Times New Roman"/>
                <a:cs typeface="Times New Roman"/>
              </a:rPr>
              <a:t> </a:t>
            </a:r>
            <a:r>
              <a:rPr dirty="0" sz="1000" spc="40">
                <a:latin typeface="Times New Roman"/>
                <a:cs typeface="Times New Roman"/>
              </a:rPr>
              <a:t>the</a:t>
            </a:r>
            <a:r>
              <a:rPr dirty="0" sz="1000" spc="45">
                <a:latin typeface="Times New Roman"/>
                <a:cs typeface="Times New Roman"/>
              </a:rPr>
              <a:t> </a:t>
            </a:r>
            <a:r>
              <a:rPr dirty="0" sz="1000" spc="20">
                <a:latin typeface="Times New Roman"/>
                <a:cs typeface="Times New Roman"/>
              </a:rPr>
              <a:t>derivation</a:t>
            </a:r>
            <a:r>
              <a:rPr dirty="0" sz="1000" spc="45">
                <a:latin typeface="Times New Roman"/>
                <a:cs typeface="Times New Roman"/>
              </a:rPr>
              <a:t> </a:t>
            </a:r>
            <a:r>
              <a:rPr dirty="0" sz="1000" spc="-15">
                <a:latin typeface="Times New Roman"/>
                <a:cs typeface="Times New Roman"/>
              </a:rPr>
              <a:t>of</a:t>
            </a:r>
            <a:r>
              <a:rPr dirty="0" sz="1000" spc="45">
                <a:latin typeface="Times New Roman"/>
                <a:cs typeface="Times New Roman"/>
              </a:rPr>
              <a:t> </a:t>
            </a:r>
            <a:r>
              <a:rPr dirty="0" sz="1000" spc="30">
                <a:latin typeface="Times New Roman"/>
                <a:cs typeface="Times New Roman"/>
              </a:rPr>
              <a:t>Equation</a:t>
            </a:r>
            <a:r>
              <a:rPr dirty="0" sz="1000" spc="45">
                <a:latin typeface="Times New Roman"/>
                <a:cs typeface="Times New Roman"/>
              </a:rPr>
              <a:t> </a:t>
            </a:r>
            <a:r>
              <a:rPr dirty="0" sz="1000" spc="-10">
                <a:latin typeface="Times New Roman"/>
                <a:cs typeface="Times New Roman"/>
              </a:rPr>
              <a:t>3.</a:t>
            </a:r>
            <a:r>
              <a:rPr dirty="0" sz="1000">
                <a:latin typeface="Times New Roman"/>
                <a:cs typeface="Times New Roman"/>
              </a:rPr>
              <a:t>  </a:t>
            </a:r>
            <a:r>
              <a:rPr dirty="0" sz="1000" spc="35">
                <a:latin typeface="Times New Roman"/>
                <a:cs typeface="Times New Roman"/>
              </a:rPr>
              <a:t>On</a:t>
            </a:r>
            <a:r>
              <a:rPr dirty="0" sz="1000" spc="45">
                <a:latin typeface="Times New Roman"/>
                <a:cs typeface="Times New Roman"/>
              </a:rPr>
              <a:t> </a:t>
            </a:r>
            <a:r>
              <a:rPr dirty="0" sz="1000" spc="40">
                <a:latin typeface="Times New Roman"/>
                <a:cs typeface="Times New Roman"/>
              </a:rPr>
              <a:t>the</a:t>
            </a:r>
            <a:r>
              <a:rPr dirty="0" sz="1000" spc="45">
                <a:latin typeface="Times New Roman"/>
                <a:cs typeface="Times New Roman"/>
              </a:rPr>
              <a:t> </a:t>
            </a:r>
            <a:r>
              <a:rPr dirty="0" sz="1000" spc="5">
                <a:latin typeface="Times New Roman"/>
                <a:cs typeface="Times New Roman"/>
              </a:rPr>
              <a:t>contrary,</a:t>
            </a:r>
            <a:r>
              <a:rPr dirty="0" sz="1000" spc="60">
                <a:latin typeface="Times New Roman"/>
                <a:cs typeface="Times New Roman"/>
              </a:rPr>
              <a:t> </a:t>
            </a:r>
            <a:r>
              <a:rPr dirty="0" sz="1000" spc="-15">
                <a:latin typeface="Times New Roman"/>
                <a:cs typeface="Times New Roman"/>
              </a:rPr>
              <a:t>DGL</a:t>
            </a:r>
            <a:r>
              <a:rPr dirty="0" sz="1000" spc="45">
                <a:latin typeface="Times New Roman"/>
                <a:cs typeface="Times New Roman"/>
              </a:rPr>
              <a:t> </a:t>
            </a:r>
            <a:r>
              <a:rPr dirty="0" sz="1000" spc="15">
                <a:latin typeface="Times New Roman"/>
                <a:cs typeface="Times New Roman"/>
              </a:rPr>
              <a:t>mitigates</a:t>
            </a:r>
            <a:r>
              <a:rPr dirty="0" sz="1000" spc="45">
                <a:latin typeface="Times New Roman"/>
                <a:cs typeface="Times New Roman"/>
              </a:rPr>
              <a:t> </a:t>
            </a:r>
            <a:r>
              <a:rPr dirty="0" sz="1000" spc="20">
                <a:latin typeface="Times New Roman"/>
                <a:cs typeface="Times New Roman"/>
              </a:rPr>
              <a:t>gradient suppression</a:t>
            </a:r>
            <a:r>
              <a:rPr dirty="0" sz="1000" spc="-35">
                <a:latin typeface="Times New Roman"/>
                <a:cs typeface="Times New Roman"/>
              </a:rPr>
              <a:t> </a:t>
            </a:r>
            <a:r>
              <a:rPr dirty="0" sz="1000" spc="20">
                <a:latin typeface="Times New Roman"/>
                <a:cs typeface="Times New Roman"/>
              </a:rPr>
              <a:t>caused</a:t>
            </a:r>
            <a:r>
              <a:rPr dirty="0" sz="1000" spc="-35">
                <a:latin typeface="Times New Roman"/>
                <a:cs typeface="Times New Roman"/>
              </a:rPr>
              <a:t> </a:t>
            </a:r>
            <a:r>
              <a:rPr dirty="0" sz="1000">
                <a:latin typeface="Times New Roman"/>
                <a:cs typeface="Times New Roman"/>
              </a:rPr>
              <a:t>by</a:t>
            </a:r>
            <a:r>
              <a:rPr dirty="0" sz="1000" spc="-35">
                <a:latin typeface="Times New Roman"/>
                <a:cs typeface="Times New Roman"/>
              </a:rPr>
              <a:t> </a:t>
            </a:r>
            <a:r>
              <a:rPr dirty="0" sz="1000" spc="-80">
                <a:latin typeface="Cambria"/>
                <a:cs typeface="Cambria"/>
              </a:rPr>
              <a:t>𝑠</a:t>
            </a:r>
            <a:r>
              <a:rPr dirty="0" sz="1000" spc="55">
                <a:latin typeface="Cambria"/>
                <a:cs typeface="Cambria"/>
              </a:rPr>
              <a:t> </a:t>
            </a:r>
            <a:r>
              <a:rPr dirty="0" sz="1000" spc="165">
                <a:latin typeface="Cambria"/>
                <a:cs typeface="Cambria"/>
              </a:rPr>
              <a:t>&lt;</a:t>
            </a:r>
            <a:r>
              <a:rPr dirty="0" sz="1000" spc="55">
                <a:latin typeface="Cambria"/>
                <a:cs typeface="Cambria"/>
              </a:rPr>
              <a:t> </a:t>
            </a:r>
            <a:r>
              <a:rPr dirty="0" sz="1000" spc="-65">
                <a:latin typeface="Cambria"/>
                <a:cs typeface="Cambria"/>
              </a:rPr>
              <a:t>1</a:t>
            </a:r>
            <a:r>
              <a:rPr dirty="0" sz="1000" spc="-5">
                <a:latin typeface="Cambria"/>
                <a:cs typeface="Cambria"/>
              </a:rPr>
              <a:t> </a:t>
            </a:r>
            <a:r>
              <a:rPr dirty="0" sz="1000" spc="40">
                <a:latin typeface="Times New Roman"/>
                <a:cs typeface="Times New Roman"/>
              </a:rPr>
              <a:t>and</a:t>
            </a:r>
            <a:r>
              <a:rPr dirty="0" sz="1000" spc="-35">
                <a:latin typeface="Times New Roman"/>
                <a:cs typeface="Times New Roman"/>
              </a:rPr>
              <a:t> </a:t>
            </a:r>
            <a:r>
              <a:rPr dirty="0" sz="1000" spc="30">
                <a:latin typeface="Times New Roman"/>
                <a:cs typeface="Times New Roman"/>
              </a:rPr>
              <a:t>maintains</a:t>
            </a:r>
            <a:r>
              <a:rPr dirty="0" sz="1000" spc="-35">
                <a:latin typeface="Times New Roman"/>
                <a:cs typeface="Times New Roman"/>
              </a:rPr>
              <a:t> </a:t>
            </a:r>
            <a:r>
              <a:rPr dirty="0" sz="1000" spc="25">
                <a:latin typeface="Times New Roman"/>
                <a:cs typeface="Times New Roman"/>
              </a:rPr>
              <a:t>a</a:t>
            </a:r>
            <a:r>
              <a:rPr dirty="0" sz="1000" spc="-35">
                <a:latin typeface="Times New Roman"/>
                <a:cs typeface="Times New Roman"/>
              </a:rPr>
              <a:t> </a:t>
            </a:r>
            <a:r>
              <a:rPr dirty="0" sz="1000" spc="10">
                <a:latin typeface="Times New Roman"/>
                <a:cs typeface="Times New Roman"/>
              </a:rPr>
              <a:t>large</a:t>
            </a:r>
            <a:r>
              <a:rPr dirty="0" sz="1000" spc="-35">
                <a:latin typeface="Times New Roman"/>
                <a:cs typeface="Times New Roman"/>
              </a:rPr>
              <a:t> </a:t>
            </a:r>
            <a:r>
              <a:rPr dirty="0" sz="1000" spc="20">
                <a:latin typeface="Times New Roman"/>
                <a:cs typeface="Times New Roman"/>
              </a:rPr>
              <a:t>gradient</a:t>
            </a:r>
            <a:r>
              <a:rPr dirty="0" sz="1000" spc="-35">
                <a:latin typeface="Times New Roman"/>
                <a:cs typeface="Times New Roman"/>
              </a:rPr>
              <a:t> </a:t>
            </a:r>
            <a:r>
              <a:rPr dirty="0" sz="1000" spc="20">
                <a:latin typeface="Times New Roman"/>
                <a:cs typeface="Times New Roman"/>
              </a:rPr>
              <a:t>to</a:t>
            </a:r>
            <a:r>
              <a:rPr dirty="0" sz="1000" spc="-35">
                <a:latin typeface="Times New Roman"/>
                <a:cs typeface="Times New Roman"/>
              </a:rPr>
              <a:t> </a:t>
            </a:r>
            <a:r>
              <a:rPr dirty="0" sz="1000" spc="30">
                <a:latin typeface="Times New Roman"/>
                <a:cs typeface="Times New Roman"/>
              </a:rPr>
              <a:t>update</a:t>
            </a:r>
            <a:r>
              <a:rPr dirty="0" sz="1000" spc="-35">
                <a:latin typeface="Times New Roman"/>
                <a:cs typeface="Times New Roman"/>
              </a:rPr>
              <a:t> </a:t>
            </a:r>
            <a:r>
              <a:rPr dirty="0" sz="1000" spc="40">
                <a:latin typeface="Times New Roman"/>
                <a:cs typeface="Times New Roman"/>
              </a:rPr>
              <a:t>the</a:t>
            </a:r>
            <a:r>
              <a:rPr dirty="0" sz="1000" spc="-35">
                <a:latin typeface="Times New Roman"/>
                <a:cs typeface="Times New Roman"/>
              </a:rPr>
              <a:t> </a:t>
            </a:r>
            <a:r>
              <a:rPr dirty="0" sz="1000" spc="25">
                <a:latin typeface="Times New Roman"/>
                <a:cs typeface="Times New Roman"/>
              </a:rPr>
              <a:t>audio</a:t>
            </a:r>
            <a:r>
              <a:rPr dirty="0" sz="1000" spc="-35">
                <a:latin typeface="Times New Roman"/>
                <a:cs typeface="Times New Roman"/>
              </a:rPr>
              <a:t> </a:t>
            </a:r>
            <a:r>
              <a:rPr dirty="0" sz="1000" spc="20">
                <a:latin typeface="Times New Roman"/>
                <a:cs typeface="Times New Roman"/>
              </a:rPr>
              <a:t>encoder</a:t>
            </a:r>
            <a:r>
              <a:rPr dirty="0" sz="1000" spc="-35">
                <a:latin typeface="Times New Roman"/>
                <a:cs typeface="Times New Roman"/>
              </a:rPr>
              <a:t> </a:t>
            </a:r>
            <a:r>
              <a:rPr dirty="0" sz="1000" spc="10">
                <a:latin typeface="Times New Roman"/>
                <a:cs typeface="Times New Roman"/>
              </a:rPr>
              <a:t>after</a:t>
            </a:r>
            <a:r>
              <a:rPr dirty="0" sz="1000" spc="-35">
                <a:latin typeface="Times New Roman"/>
                <a:cs typeface="Times New Roman"/>
              </a:rPr>
              <a:t> </a:t>
            </a:r>
            <a:r>
              <a:rPr dirty="0" sz="1000" spc="40">
                <a:latin typeface="Times New Roman"/>
                <a:cs typeface="Times New Roman"/>
              </a:rPr>
              <a:t>the</a:t>
            </a:r>
            <a:r>
              <a:rPr dirty="0" sz="1000" spc="-35">
                <a:latin typeface="Times New Roman"/>
                <a:cs typeface="Times New Roman"/>
              </a:rPr>
              <a:t> </a:t>
            </a:r>
            <a:r>
              <a:rPr dirty="0" sz="1000" spc="20">
                <a:latin typeface="Times New Roman"/>
                <a:cs typeface="Times New Roman"/>
              </a:rPr>
              <a:t>20th</a:t>
            </a:r>
            <a:r>
              <a:rPr dirty="0" sz="1000" spc="-35">
                <a:latin typeface="Times New Roman"/>
                <a:cs typeface="Times New Roman"/>
              </a:rPr>
              <a:t> </a:t>
            </a:r>
            <a:r>
              <a:rPr dirty="0" sz="1000" spc="15">
                <a:latin typeface="Times New Roman"/>
                <a:cs typeface="Times New Roman"/>
              </a:rPr>
              <a:t>epoch.</a:t>
            </a:r>
            <a:r>
              <a:rPr dirty="0" sz="1000" spc="10">
                <a:latin typeface="Times New Roman"/>
                <a:cs typeface="Times New Roman"/>
              </a:rPr>
              <a:t> Therefore,</a:t>
            </a:r>
            <a:r>
              <a:rPr dirty="0" sz="1000" spc="70">
                <a:latin typeface="Times New Roman"/>
                <a:cs typeface="Times New Roman"/>
              </a:rPr>
              <a:t> </a:t>
            </a:r>
            <a:r>
              <a:rPr dirty="0" sz="1000" spc="15">
                <a:latin typeface="Times New Roman"/>
                <a:cs typeface="Times New Roman"/>
              </a:rPr>
              <a:t>as</a:t>
            </a:r>
            <a:r>
              <a:rPr dirty="0" sz="1000" spc="55">
                <a:latin typeface="Times New Roman"/>
                <a:cs typeface="Times New Roman"/>
              </a:rPr>
              <a:t> </a:t>
            </a:r>
            <a:r>
              <a:rPr dirty="0" sz="1000" spc="35">
                <a:latin typeface="Times New Roman"/>
                <a:cs typeface="Times New Roman"/>
              </a:rPr>
              <a:t>shown</a:t>
            </a:r>
            <a:r>
              <a:rPr dirty="0" sz="1000" spc="55">
                <a:latin typeface="Times New Roman"/>
                <a:cs typeface="Times New Roman"/>
              </a:rPr>
              <a:t> </a:t>
            </a:r>
            <a:r>
              <a:rPr dirty="0" sz="1000" spc="35">
                <a:latin typeface="Times New Roman"/>
                <a:cs typeface="Times New Roman"/>
              </a:rPr>
              <a:t>in</a:t>
            </a:r>
            <a:r>
              <a:rPr dirty="0" sz="1000" spc="55">
                <a:latin typeface="Times New Roman"/>
                <a:cs typeface="Times New Roman"/>
              </a:rPr>
              <a:t> </a:t>
            </a:r>
            <a:r>
              <a:rPr dirty="0" sz="1000" spc="-5">
                <a:latin typeface="Times New Roman"/>
                <a:cs typeface="Times New Roman"/>
              </a:rPr>
              <a:t>Table</a:t>
            </a:r>
            <a:r>
              <a:rPr dirty="0" sz="1000" spc="50">
                <a:latin typeface="Times New Roman"/>
                <a:cs typeface="Times New Roman"/>
              </a:rPr>
              <a:t> </a:t>
            </a:r>
            <a:r>
              <a:rPr dirty="0" sz="1000" spc="-10">
                <a:latin typeface="Times New Roman"/>
                <a:cs typeface="Times New Roman"/>
              </a:rPr>
              <a:t>1</a:t>
            </a:r>
            <a:r>
              <a:rPr dirty="0" sz="1000" spc="55">
                <a:latin typeface="Times New Roman"/>
                <a:cs typeface="Times New Roman"/>
              </a:rPr>
              <a:t> </a:t>
            </a:r>
            <a:r>
              <a:rPr dirty="0" sz="1000" spc="40">
                <a:latin typeface="Times New Roman"/>
                <a:cs typeface="Times New Roman"/>
              </a:rPr>
              <a:t>and</a:t>
            </a:r>
            <a:r>
              <a:rPr dirty="0" sz="1000" spc="55">
                <a:latin typeface="Times New Roman"/>
                <a:cs typeface="Times New Roman"/>
              </a:rPr>
              <a:t> </a:t>
            </a:r>
            <a:r>
              <a:rPr dirty="0" sz="1000" spc="-10">
                <a:latin typeface="Times New Roman"/>
                <a:cs typeface="Times New Roman"/>
              </a:rPr>
              <a:t>2,</a:t>
            </a:r>
            <a:r>
              <a:rPr dirty="0" sz="1000" spc="70">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25">
                <a:latin typeface="Times New Roman"/>
                <a:cs typeface="Times New Roman"/>
              </a:rPr>
              <a:t>audio</a:t>
            </a:r>
            <a:r>
              <a:rPr dirty="0" sz="1000" spc="55">
                <a:latin typeface="Times New Roman"/>
                <a:cs typeface="Times New Roman"/>
              </a:rPr>
              <a:t> </a:t>
            </a:r>
            <a:r>
              <a:rPr dirty="0" sz="1000" spc="35">
                <a:latin typeface="Times New Roman"/>
                <a:cs typeface="Times New Roman"/>
              </a:rPr>
              <a:t>branch</a:t>
            </a:r>
            <a:r>
              <a:rPr dirty="0" sz="1000" spc="50">
                <a:latin typeface="Times New Roman"/>
                <a:cs typeface="Times New Roman"/>
              </a:rPr>
              <a:t> </a:t>
            </a:r>
            <a:r>
              <a:rPr dirty="0" sz="1000" spc="35">
                <a:latin typeface="Times New Roman"/>
                <a:cs typeface="Times New Roman"/>
              </a:rPr>
              <a:t>in</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15">
                <a:latin typeface="Times New Roman"/>
                <a:cs typeface="Times New Roman"/>
              </a:rPr>
              <a:t>DGL</a:t>
            </a:r>
            <a:r>
              <a:rPr dirty="0" sz="1000" spc="55">
                <a:latin typeface="Times New Roman"/>
                <a:cs typeface="Times New Roman"/>
              </a:rPr>
              <a:t> </a:t>
            </a:r>
            <a:r>
              <a:rPr dirty="0" sz="1000" spc="25">
                <a:latin typeface="Times New Roman"/>
                <a:cs typeface="Times New Roman"/>
              </a:rPr>
              <a:t>model</a:t>
            </a:r>
            <a:r>
              <a:rPr dirty="0" sz="1000" spc="55">
                <a:latin typeface="Times New Roman"/>
                <a:cs typeface="Times New Roman"/>
              </a:rPr>
              <a:t> </a:t>
            </a:r>
            <a:r>
              <a:rPr dirty="0" sz="1000" spc="25">
                <a:latin typeface="Times New Roman"/>
                <a:cs typeface="Times New Roman"/>
              </a:rPr>
              <a:t>outperforms</a:t>
            </a:r>
            <a:r>
              <a:rPr dirty="0" sz="1000" spc="55">
                <a:latin typeface="Times New Roman"/>
                <a:cs typeface="Times New Roman"/>
              </a:rPr>
              <a:t> </a:t>
            </a:r>
            <a:r>
              <a:rPr dirty="0" sz="1000" spc="45">
                <a:latin typeface="Times New Roman"/>
                <a:cs typeface="Times New Roman"/>
              </a:rPr>
              <a:t>that</a:t>
            </a:r>
            <a:r>
              <a:rPr dirty="0" sz="1000" spc="55">
                <a:latin typeface="Times New Roman"/>
                <a:cs typeface="Times New Roman"/>
              </a:rPr>
              <a:t> </a:t>
            </a:r>
            <a:r>
              <a:rPr dirty="0" sz="1000" spc="35">
                <a:latin typeface="Times New Roman"/>
                <a:cs typeface="Times New Roman"/>
              </a:rPr>
              <a:t>in</a:t>
            </a:r>
            <a:r>
              <a:rPr dirty="0" sz="1000" spc="55">
                <a:latin typeface="Times New Roman"/>
                <a:cs typeface="Times New Roman"/>
              </a:rPr>
              <a:t> </a:t>
            </a:r>
            <a:r>
              <a:rPr dirty="0" sz="1000" spc="40">
                <a:latin typeface="Times New Roman"/>
                <a:cs typeface="Times New Roman"/>
              </a:rPr>
              <a:t>the</a:t>
            </a:r>
            <a:r>
              <a:rPr dirty="0" sz="1000" spc="55">
                <a:latin typeface="Times New Roman"/>
                <a:cs typeface="Times New Roman"/>
              </a:rPr>
              <a:t> </a:t>
            </a:r>
            <a:r>
              <a:rPr dirty="0" sz="1000" spc="10">
                <a:latin typeface="Times New Roman"/>
                <a:cs typeface="Times New Roman"/>
              </a:rPr>
              <a:t>vanilla</a:t>
            </a:r>
            <a:r>
              <a:rPr dirty="0" sz="1000" spc="15">
                <a:latin typeface="Times New Roman"/>
                <a:cs typeface="Times New Roman"/>
              </a:rPr>
              <a:t> </a:t>
            </a:r>
            <a:r>
              <a:rPr dirty="0" sz="1000" spc="25">
                <a:latin typeface="Times New Roman"/>
                <a:cs typeface="Times New Roman"/>
              </a:rPr>
              <a:t>model</a:t>
            </a:r>
            <a:r>
              <a:rPr dirty="0" sz="1000" spc="-20">
                <a:latin typeface="Times New Roman"/>
                <a:cs typeface="Times New Roman"/>
              </a:rPr>
              <a:t> </a:t>
            </a:r>
            <a:r>
              <a:rPr dirty="0" sz="1000">
                <a:latin typeface="Times New Roman"/>
                <a:cs typeface="Times New Roman"/>
              </a:rPr>
              <a:t>significantly.</a:t>
            </a:r>
            <a:r>
              <a:rPr dirty="0" sz="1000" spc="60">
                <a:latin typeface="Times New Roman"/>
                <a:cs typeface="Times New Roman"/>
              </a:rPr>
              <a:t> </a:t>
            </a:r>
            <a:r>
              <a:rPr dirty="0" sz="1000" spc="15">
                <a:latin typeface="Times New Roman"/>
                <a:cs typeface="Times New Roman"/>
              </a:rPr>
              <a:t>This</a:t>
            </a:r>
            <a:r>
              <a:rPr dirty="0" sz="1000" spc="-20">
                <a:latin typeface="Times New Roman"/>
                <a:cs typeface="Times New Roman"/>
              </a:rPr>
              <a:t> </a:t>
            </a:r>
            <a:r>
              <a:rPr dirty="0" sz="1000" spc="25">
                <a:latin typeface="Times New Roman"/>
                <a:cs typeface="Times New Roman"/>
              </a:rPr>
              <a:t>demonstrates</a:t>
            </a:r>
            <a:r>
              <a:rPr dirty="0" sz="1000" spc="-20">
                <a:latin typeface="Times New Roman"/>
                <a:cs typeface="Times New Roman"/>
              </a:rPr>
              <a:t> </a:t>
            </a:r>
            <a:r>
              <a:rPr dirty="0" sz="1000" spc="40">
                <a:latin typeface="Times New Roman"/>
                <a:cs typeface="Times New Roman"/>
              </a:rPr>
              <a:t>the</a:t>
            </a:r>
            <a:r>
              <a:rPr dirty="0" sz="1000" spc="-20">
                <a:latin typeface="Times New Roman"/>
                <a:cs typeface="Times New Roman"/>
              </a:rPr>
              <a:t> </a:t>
            </a:r>
            <a:r>
              <a:rPr dirty="0" sz="1000" spc="5">
                <a:latin typeface="Times New Roman"/>
                <a:cs typeface="Times New Roman"/>
              </a:rPr>
              <a:t>effectiveness</a:t>
            </a:r>
            <a:r>
              <a:rPr dirty="0" sz="1000" spc="-20">
                <a:latin typeface="Times New Roman"/>
                <a:cs typeface="Times New Roman"/>
              </a:rPr>
              <a:t> </a:t>
            </a:r>
            <a:r>
              <a:rPr dirty="0" sz="1000" spc="-15">
                <a:latin typeface="Times New Roman"/>
                <a:cs typeface="Times New Roman"/>
              </a:rPr>
              <a:t>of</a:t>
            </a:r>
            <a:r>
              <a:rPr dirty="0" sz="1000" spc="-20">
                <a:latin typeface="Times New Roman"/>
                <a:cs typeface="Times New Roman"/>
              </a:rPr>
              <a:t> </a:t>
            </a:r>
            <a:r>
              <a:rPr dirty="0" sz="1000" spc="25">
                <a:latin typeface="Times New Roman"/>
                <a:cs typeface="Times New Roman"/>
              </a:rPr>
              <a:t>disentangled</a:t>
            </a:r>
            <a:r>
              <a:rPr dirty="0" sz="1000" spc="-20">
                <a:latin typeface="Times New Roman"/>
                <a:cs typeface="Times New Roman"/>
              </a:rPr>
              <a:t> </a:t>
            </a:r>
            <a:r>
              <a:rPr dirty="0" sz="1000" spc="20">
                <a:latin typeface="Times New Roman"/>
                <a:cs typeface="Times New Roman"/>
              </a:rPr>
              <a:t>gradient</a:t>
            </a:r>
            <a:r>
              <a:rPr dirty="0" sz="1000" spc="-20">
                <a:latin typeface="Times New Roman"/>
                <a:cs typeface="Times New Roman"/>
              </a:rPr>
              <a:t> </a:t>
            </a:r>
            <a:r>
              <a:rPr dirty="0" sz="1000" spc="20">
                <a:latin typeface="Times New Roman"/>
                <a:cs typeface="Times New Roman"/>
              </a:rPr>
              <a:t>learning.</a:t>
            </a:r>
            <a:endParaRPr sz="1000">
              <a:latin typeface="Times New Roman"/>
              <a:cs typeface="Times New Roman"/>
            </a:endParaRPr>
          </a:p>
          <a:p>
            <a:pPr>
              <a:lnSpc>
                <a:spcPct val="100000"/>
              </a:lnSpc>
              <a:spcBef>
                <a:spcPts val="585"/>
              </a:spcBef>
            </a:pPr>
            <a:endParaRPr sz="1000">
              <a:latin typeface="Times New Roman"/>
              <a:cs typeface="Times New Roman"/>
            </a:endParaRPr>
          </a:p>
          <a:p>
            <a:pPr marL="382905">
              <a:lnSpc>
                <a:spcPct val="100000"/>
              </a:lnSpc>
            </a:pPr>
            <a:r>
              <a:rPr dirty="0" baseline="-86111" sz="1500" spc="-750">
                <a:latin typeface="Cambria"/>
                <a:cs typeface="Cambria"/>
              </a:rPr>
              <a:t>𝑒</a:t>
            </a:r>
            <a:r>
              <a:rPr dirty="0" sz="1000" spc="-290">
                <a:latin typeface="SimSun"/>
                <a:cs typeface="SimSun"/>
              </a:rPr>
              <a:t>可</a:t>
            </a:r>
            <a:r>
              <a:rPr dirty="0" baseline="-83333" sz="1050" spc="-1380">
                <a:latin typeface="Cambria"/>
                <a:cs typeface="Cambria"/>
              </a:rPr>
              <a:t>𝑊</a:t>
            </a:r>
            <a:r>
              <a:rPr dirty="0" baseline="-83333" sz="1050" spc="120">
                <a:latin typeface="Cambria"/>
                <a:cs typeface="Cambria"/>
              </a:rPr>
              <a:t>( </a:t>
            </a:r>
            <a:r>
              <a:rPr dirty="0" sz="1000" spc="-585">
                <a:latin typeface="SimSun"/>
                <a:cs typeface="SimSun"/>
              </a:rPr>
              <a:t>视</a:t>
            </a:r>
            <a:r>
              <a:rPr dirty="0" baseline="-131313" sz="825" spc="-142">
                <a:latin typeface="Cambria"/>
                <a:cs typeface="Cambria"/>
              </a:rPr>
              <a:t>𝑘</a:t>
            </a:r>
            <a:r>
              <a:rPr dirty="0" baseline="-60606" sz="825" spc="-142">
                <a:latin typeface="Cambria"/>
                <a:cs typeface="Cambria"/>
              </a:rPr>
              <a:t>𝑚</a:t>
            </a:r>
            <a:r>
              <a:rPr dirty="0" sz="1000" spc="-550">
                <a:latin typeface="SimSun"/>
                <a:cs typeface="SimSun"/>
              </a:rPr>
              <a:t>化</a:t>
            </a:r>
            <a:r>
              <a:rPr dirty="0" baseline="-83333" sz="1050" spc="217">
                <a:latin typeface="Cambria"/>
                <a:cs typeface="Cambria"/>
              </a:rPr>
              <a:t>−</a:t>
            </a:r>
            <a:r>
              <a:rPr dirty="0" baseline="-83333" sz="1050" spc="-1882">
                <a:latin typeface="Cambria"/>
                <a:cs typeface="Cambria"/>
              </a:rPr>
              <a:t>𝑊</a:t>
            </a:r>
            <a:r>
              <a:rPr dirty="0" baseline="-75757" sz="825" spc="217">
                <a:latin typeface="Cambria"/>
                <a:cs typeface="Cambria"/>
              </a:rPr>
              <a:t>2</a:t>
            </a:r>
            <a:r>
              <a:rPr dirty="0" baseline="-75757" sz="825" spc="555">
                <a:latin typeface="Cambria"/>
                <a:cs typeface="Cambria"/>
              </a:rPr>
              <a:t> </a:t>
            </a:r>
            <a:r>
              <a:rPr dirty="0" sz="1000" spc="-285">
                <a:latin typeface="SimSun"/>
                <a:cs typeface="SimSun"/>
              </a:rPr>
              <a:t>。</a:t>
            </a:r>
            <a:r>
              <a:rPr dirty="0" baseline="-116161" sz="825" spc="-382">
                <a:latin typeface="Cambria"/>
                <a:cs typeface="Cambria"/>
              </a:rPr>
              <a:t>𝑦</a:t>
            </a:r>
            <a:r>
              <a:rPr dirty="0" baseline="-60606" sz="825" spc="-382">
                <a:latin typeface="Cambria"/>
                <a:cs typeface="Cambria"/>
              </a:rPr>
              <a:t>𝑚</a:t>
            </a:r>
            <a:r>
              <a:rPr dirty="0" sz="1000" spc="-250">
                <a:latin typeface="SimSun"/>
                <a:cs typeface="SimSun"/>
              </a:rPr>
              <a:t>为</a:t>
            </a:r>
            <a:r>
              <a:rPr dirty="0" baseline="-83333" sz="1050" spc="-517">
                <a:latin typeface="Cambria"/>
                <a:cs typeface="Cambria"/>
              </a:rPr>
              <a:t>)</a:t>
            </a:r>
            <a:r>
              <a:rPr dirty="0" baseline="-75757" sz="825" spc="-457">
                <a:latin typeface="Cambria"/>
                <a:cs typeface="Cambria"/>
              </a:rPr>
              <a:t>2</a:t>
            </a:r>
            <a:r>
              <a:rPr dirty="0" baseline="-141414" sz="825" spc="419">
                <a:latin typeface="Cambria"/>
                <a:cs typeface="Cambria"/>
              </a:rPr>
              <a:t>𝑖</a:t>
            </a:r>
            <a:r>
              <a:rPr dirty="0" baseline="-141414" sz="825" spc="322">
                <a:latin typeface="Cambria"/>
                <a:cs typeface="Cambria"/>
              </a:rPr>
              <a:t>  </a:t>
            </a:r>
            <a:r>
              <a:rPr dirty="0" sz="1000" spc="-560">
                <a:latin typeface="SimSun"/>
                <a:cs typeface="SimSun"/>
              </a:rPr>
              <a:t>了</a:t>
            </a:r>
            <a:r>
              <a:rPr dirty="0" baseline="-131313" sz="825" spc="-690">
                <a:latin typeface="Cambria"/>
                <a:cs typeface="Cambria"/>
              </a:rPr>
              <a:t>𝑖</a:t>
            </a:r>
            <a:r>
              <a:rPr dirty="0" baseline="-83333" sz="1050" spc="127">
                <a:latin typeface="Cambria"/>
                <a:cs typeface="Cambria"/>
              </a:rPr>
              <a:t>𝑧</a:t>
            </a:r>
            <a:r>
              <a:rPr dirty="0" baseline="-60606" sz="825" spc="97">
                <a:latin typeface="Cambria"/>
                <a:cs typeface="Cambria"/>
              </a:rPr>
              <a:t>𝑚</a:t>
            </a:r>
            <a:r>
              <a:rPr dirty="0" sz="1000" spc="-315">
                <a:latin typeface="SimSun"/>
                <a:cs typeface="SimSun"/>
              </a:rPr>
              <a:t>进</a:t>
            </a:r>
            <a:r>
              <a:rPr dirty="0" baseline="-86111" sz="1500" spc="-37">
                <a:latin typeface="SimSun"/>
                <a:cs typeface="SimSun"/>
              </a:rPr>
              <a:t>和训练梯度。如</a:t>
            </a:r>
            <a:r>
              <a:rPr dirty="0" baseline="-86111" sz="1500" spc="-1500">
                <a:latin typeface="SimSun"/>
                <a:cs typeface="SimSun"/>
              </a:rPr>
              <a:t>图</a:t>
            </a:r>
            <a:r>
              <a:rPr dirty="0" baseline="-75757" sz="825">
                <a:latin typeface="Cambria"/>
                <a:cs typeface="Cambria"/>
              </a:rPr>
              <a:t>2</a:t>
            </a:r>
            <a:r>
              <a:rPr dirty="0" baseline="-75757" sz="825" spc="277">
                <a:latin typeface="Cambria"/>
                <a:cs typeface="Cambria"/>
              </a:rPr>
              <a:t>  </a:t>
            </a:r>
            <a:r>
              <a:rPr dirty="0" sz="1000" spc="-45">
                <a:latin typeface="SimSun"/>
                <a:cs typeface="SimSun"/>
              </a:rPr>
              <a:t>一步解释 </a:t>
            </a:r>
            <a:r>
              <a:rPr dirty="0" sz="1000">
                <a:latin typeface="Times New Roman"/>
                <a:cs typeface="Times New Roman"/>
              </a:rPr>
              <a:t>DGL</a:t>
            </a:r>
            <a:r>
              <a:rPr dirty="0" sz="1000" spc="10">
                <a:latin typeface="Times New Roman"/>
                <a:cs typeface="Times New Roman"/>
              </a:rPr>
              <a:t> </a:t>
            </a:r>
            <a:r>
              <a:rPr dirty="0" sz="1000" spc="-445">
                <a:latin typeface="SimSun"/>
                <a:cs typeface="SimSun"/>
              </a:rPr>
              <a:t>的机</a:t>
            </a:r>
            <a:r>
              <a:rPr dirty="0" baseline="-86111" sz="1500">
                <a:latin typeface="Times New Roman"/>
                <a:cs typeface="Times New Roman"/>
              </a:rPr>
              <a:t>3(a</a:t>
            </a:r>
            <a:r>
              <a:rPr dirty="0" baseline="-86111" sz="1500" spc="-1139">
                <a:latin typeface="Times New Roman"/>
                <a:cs typeface="Times New Roman"/>
              </a:rPr>
              <a:t>)</a:t>
            </a:r>
            <a:r>
              <a:rPr dirty="0" sz="1000" spc="-505">
                <a:latin typeface="SimSun"/>
                <a:cs typeface="SimSun"/>
              </a:rPr>
              <a:t>制，</a:t>
            </a:r>
            <a:r>
              <a:rPr dirty="0" baseline="-86111" sz="1500" spc="-44">
                <a:latin typeface="SimSun"/>
                <a:cs typeface="SimSun"/>
              </a:rPr>
              <a:t>所示，普通模型</a:t>
            </a:r>
            <a:r>
              <a:rPr dirty="0" baseline="-86111" sz="1500" spc="-1500">
                <a:latin typeface="SimSun"/>
                <a:cs typeface="SimSun"/>
              </a:rPr>
              <a:t>的</a:t>
            </a:r>
            <a:r>
              <a:rPr dirty="0" sz="1000" spc="-5">
                <a:latin typeface="SimSun"/>
                <a:cs typeface="SimSun"/>
              </a:rPr>
              <a:t>我们可视化了普</a:t>
            </a:r>
            <a:r>
              <a:rPr dirty="0" baseline="-86111" sz="1500" spc="-682">
                <a:latin typeface="Cambria"/>
                <a:cs typeface="Cambria"/>
              </a:rPr>
              <a:t>𝑠</a:t>
            </a:r>
            <a:r>
              <a:rPr dirty="0" sz="1000" spc="-409">
                <a:latin typeface="SimSun"/>
                <a:cs typeface="SimSun"/>
              </a:rPr>
              <a:t>通</a:t>
            </a:r>
            <a:r>
              <a:rPr dirty="0" baseline="-86111" sz="1500" spc="-15">
                <a:latin typeface="SimSun"/>
                <a:cs typeface="SimSun"/>
              </a:rPr>
              <a:t>始终小</a:t>
            </a:r>
            <a:r>
              <a:rPr dirty="0" baseline="-86111" sz="1500" spc="-1500">
                <a:latin typeface="SimSun"/>
                <a:cs typeface="SimSun"/>
              </a:rPr>
              <a:t>于</a:t>
            </a:r>
            <a:r>
              <a:rPr dirty="0" sz="1000" spc="-50">
                <a:latin typeface="SimSun"/>
                <a:cs typeface="SimSun"/>
              </a:rPr>
              <a:t>和</a:t>
            </a:r>
            <a:r>
              <a:rPr dirty="0" sz="1000" spc="-50">
                <a:latin typeface="SimSun"/>
                <a:cs typeface="SimSun"/>
              </a:rPr>
              <a:t> </a:t>
            </a:r>
            <a:r>
              <a:rPr dirty="0" sz="1000" spc="-575">
                <a:latin typeface="Times New Roman"/>
                <a:cs typeface="Times New Roman"/>
              </a:rPr>
              <a:t>DGL</a:t>
            </a:r>
            <a:r>
              <a:rPr dirty="0" sz="1000" spc="45">
                <a:latin typeface="Times New Roman"/>
                <a:cs typeface="Times New Roman"/>
              </a:rPr>
              <a:t> </a:t>
            </a:r>
            <a:r>
              <a:rPr dirty="0" sz="1000" spc="-340">
                <a:latin typeface="SimSun"/>
                <a:cs typeface="SimSun"/>
              </a:rPr>
              <a:t>多</a:t>
            </a:r>
            <a:r>
              <a:rPr dirty="0" baseline="-86111" sz="1500" spc="-52">
                <a:latin typeface="SimSun"/>
                <a:cs typeface="SimSun"/>
              </a:rPr>
              <a:t>，并且在</a:t>
            </a:r>
            <a:r>
              <a:rPr dirty="0" baseline="-86111" sz="1500" spc="-1500">
                <a:latin typeface="SimSun"/>
                <a:cs typeface="SimSun"/>
              </a:rPr>
              <a:t>第</a:t>
            </a:r>
            <a:r>
              <a:rPr dirty="0" baseline="-86111" sz="1500">
                <a:latin typeface="Times New Roman"/>
                <a:cs typeface="Times New Roman"/>
              </a:rPr>
              <a:t>1</a:t>
            </a:r>
            <a:r>
              <a:rPr dirty="0" baseline="-86111" sz="1500" spc="104">
                <a:latin typeface="Times New Roman"/>
                <a:cs typeface="Times New Roman"/>
              </a:rPr>
              <a:t> </a:t>
            </a:r>
            <a:r>
              <a:rPr dirty="0" sz="1000" spc="-60">
                <a:latin typeface="SimSun"/>
                <a:cs typeface="SimSun"/>
              </a:rPr>
              <a:t>模态模型中</a:t>
            </a:r>
            <a:r>
              <a:rPr dirty="0" baseline="-86111" sz="1500" spc="-22">
                <a:latin typeface="Times New Roman"/>
                <a:cs typeface="Times New Roman"/>
              </a:rPr>
              <a:t>2</a:t>
            </a:r>
            <a:r>
              <a:rPr dirty="0" baseline="-86111" sz="1500" spc="-1087">
                <a:latin typeface="Times New Roman"/>
                <a:cs typeface="Times New Roman"/>
              </a:rPr>
              <a:t>0</a:t>
            </a:r>
            <a:r>
              <a:rPr dirty="0" sz="1000" spc="-90">
                <a:latin typeface="SimSun"/>
                <a:cs typeface="SimSun"/>
              </a:rPr>
              <a:t>音</a:t>
            </a:r>
            <a:r>
              <a:rPr dirty="0" baseline="-86111" sz="1500" spc="-1364">
                <a:latin typeface="SimSun"/>
                <a:cs typeface="SimSun"/>
              </a:rPr>
              <a:t>个</a:t>
            </a:r>
            <a:r>
              <a:rPr dirty="0" sz="1000" spc="-450">
                <a:latin typeface="SimSun"/>
                <a:cs typeface="SimSun"/>
              </a:rPr>
              <a:t>频分</a:t>
            </a:r>
            <a:r>
              <a:rPr dirty="0" baseline="-86111" sz="1500" spc="30">
                <a:latin typeface="Times New Roman"/>
                <a:cs typeface="Times New Roman"/>
              </a:rPr>
              <a:t>epoc</a:t>
            </a:r>
            <a:r>
              <a:rPr dirty="0" baseline="-86111" sz="1500" spc="-2295">
                <a:latin typeface="Times New Roman"/>
                <a:cs typeface="Times New Roman"/>
              </a:rPr>
              <a:t>h</a:t>
            </a:r>
            <a:r>
              <a:rPr dirty="0" sz="1000" spc="-90">
                <a:latin typeface="SimSun"/>
                <a:cs typeface="SimSun"/>
              </a:rPr>
              <a:t>支的</a:t>
            </a:r>
            <a:r>
              <a:rPr dirty="0" baseline="-86111" sz="1500" spc="-757">
                <a:latin typeface="SimSun"/>
                <a:cs typeface="SimSun"/>
              </a:rPr>
              <a:t>之后</a:t>
            </a:r>
            <a:r>
              <a:rPr dirty="0" sz="1000">
                <a:latin typeface="Cambria"/>
                <a:cs typeface="Cambria"/>
              </a:rPr>
              <a:t>𝑠</a:t>
            </a:r>
            <a:r>
              <a:rPr dirty="0" sz="1000" spc="155">
                <a:latin typeface="Cambria"/>
                <a:cs typeface="Cambria"/>
              </a:rPr>
              <a:t> =</a:t>
            </a:r>
            <a:endParaRPr sz="1000">
              <a:latin typeface="Cambria"/>
              <a:cs typeface="Cambria"/>
            </a:endParaRPr>
          </a:p>
          <a:p>
            <a:pPr>
              <a:lnSpc>
                <a:spcPct val="100000"/>
              </a:lnSpc>
              <a:spcBef>
                <a:spcPts val="380"/>
              </a:spcBef>
            </a:pPr>
            <a:endParaRPr sz="1000">
              <a:latin typeface="Cambria"/>
              <a:cs typeface="Cambria"/>
            </a:endParaRPr>
          </a:p>
          <a:p>
            <a:pPr algn="just" marL="382905" marR="400685">
              <a:lnSpc>
                <a:spcPct val="129500"/>
              </a:lnSpc>
            </a:pPr>
            <a:r>
              <a:rPr dirty="0" sz="1000" spc="-90">
                <a:latin typeface="SimSun"/>
                <a:cs typeface="SimSun"/>
              </a:rPr>
              <a:t>接近 </a:t>
            </a:r>
            <a:r>
              <a:rPr dirty="0" sz="1000" spc="-10">
                <a:latin typeface="Times New Roman"/>
                <a:cs typeface="Times New Roman"/>
              </a:rPr>
              <a:t>0</a:t>
            </a:r>
            <a:r>
              <a:rPr dirty="0" sz="1000" spc="-70">
                <a:latin typeface="SimSun"/>
                <a:cs typeface="SimSun"/>
              </a:rPr>
              <a:t>。如图 </a:t>
            </a:r>
            <a:r>
              <a:rPr dirty="0" sz="1000">
                <a:latin typeface="Times New Roman"/>
                <a:cs typeface="Times New Roman"/>
              </a:rPr>
              <a:t>3(b) </a:t>
            </a:r>
            <a:r>
              <a:rPr dirty="0" sz="1000" spc="-20">
                <a:latin typeface="SimSun"/>
                <a:cs typeface="SimSun"/>
              </a:rPr>
              <a:t>所示，从普通多模态反向传播到音频编码器的梯度在第 </a:t>
            </a:r>
            <a:r>
              <a:rPr dirty="0" sz="1000" spc="-10">
                <a:latin typeface="Times New Roman"/>
                <a:cs typeface="Times New Roman"/>
              </a:rPr>
              <a:t>20</a:t>
            </a:r>
            <a:r>
              <a:rPr dirty="0" sz="1000">
                <a:latin typeface="Times New Roman"/>
                <a:cs typeface="Times New Roman"/>
              </a:rPr>
              <a:t> </a:t>
            </a:r>
            <a:r>
              <a:rPr dirty="0" sz="1000" spc="-130">
                <a:latin typeface="SimSun"/>
                <a:cs typeface="SimSun"/>
              </a:rPr>
              <a:t>个 </a:t>
            </a:r>
            <a:r>
              <a:rPr dirty="0" sz="1000" spc="20">
                <a:latin typeface="Times New Roman"/>
                <a:cs typeface="Times New Roman"/>
              </a:rPr>
              <a:t>epoch</a:t>
            </a:r>
            <a:r>
              <a:rPr dirty="0" sz="1000">
                <a:latin typeface="Times New Roman"/>
                <a:cs typeface="Times New Roman"/>
              </a:rPr>
              <a:t> </a:t>
            </a:r>
            <a:r>
              <a:rPr dirty="0" sz="1000" spc="-10">
                <a:latin typeface="SimSun"/>
                <a:cs typeface="SimSun"/>
              </a:rPr>
              <a:t>之后也迅速</a:t>
            </a:r>
            <a:r>
              <a:rPr dirty="0" sz="1000" spc="-40">
                <a:latin typeface="SimSun"/>
                <a:cs typeface="SimSun"/>
              </a:rPr>
              <a:t>下降。这与公式 </a:t>
            </a:r>
            <a:r>
              <a:rPr dirty="0" sz="1000" spc="-10">
                <a:latin typeface="Times New Roman"/>
                <a:cs typeface="Times New Roman"/>
              </a:rPr>
              <a:t>3</a:t>
            </a:r>
            <a:r>
              <a:rPr dirty="0" sz="1000">
                <a:latin typeface="Times New Roman"/>
                <a:cs typeface="Times New Roman"/>
              </a:rPr>
              <a:t> </a:t>
            </a:r>
            <a:r>
              <a:rPr dirty="0" sz="1000" spc="-15">
                <a:latin typeface="SimSun"/>
                <a:cs typeface="SimSun"/>
              </a:rPr>
              <a:t>推导一致。相反，</a:t>
            </a:r>
            <a:r>
              <a:rPr dirty="0" sz="1000" spc="-15">
                <a:latin typeface="Times New Roman"/>
                <a:cs typeface="Times New Roman"/>
              </a:rPr>
              <a:t>DGL</a:t>
            </a:r>
            <a:r>
              <a:rPr dirty="0" sz="1000">
                <a:latin typeface="Times New Roman"/>
                <a:cs typeface="Times New Roman"/>
              </a:rPr>
              <a:t> </a:t>
            </a:r>
            <a:r>
              <a:rPr dirty="0" sz="1000" spc="-60">
                <a:latin typeface="SimSun"/>
                <a:cs typeface="SimSun"/>
              </a:rPr>
              <a:t>减轻了由 </a:t>
            </a:r>
            <a:r>
              <a:rPr dirty="0" sz="1000" spc="-80">
                <a:latin typeface="Cambria"/>
                <a:cs typeface="Cambria"/>
              </a:rPr>
              <a:t>𝑠</a:t>
            </a:r>
            <a:r>
              <a:rPr dirty="0" sz="1000" spc="114">
                <a:latin typeface="Cambria"/>
                <a:cs typeface="Cambria"/>
              </a:rPr>
              <a:t> &lt; </a:t>
            </a:r>
            <a:r>
              <a:rPr dirty="0" sz="1000" spc="-65">
                <a:latin typeface="Cambria"/>
                <a:cs typeface="Cambria"/>
              </a:rPr>
              <a:t>1</a:t>
            </a:r>
            <a:r>
              <a:rPr dirty="0" sz="1000" spc="30">
                <a:latin typeface="Cambria"/>
                <a:cs typeface="Cambria"/>
              </a:rPr>
              <a:t> </a:t>
            </a:r>
            <a:r>
              <a:rPr dirty="0" sz="1000" spc="-30">
                <a:latin typeface="SimSun"/>
                <a:cs typeface="SimSun"/>
              </a:rPr>
              <a:t>引起的梯度抑制，并在第 </a:t>
            </a:r>
            <a:r>
              <a:rPr dirty="0" sz="1000" spc="-10">
                <a:latin typeface="Times New Roman"/>
                <a:cs typeface="Times New Roman"/>
              </a:rPr>
              <a:t>20</a:t>
            </a:r>
            <a:r>
              <a:rPr dirty="0" sz="1000">
                <a:latin typeface="Times New Roman"/>
                <a:cs typeface="Times New Roman"/>
              </a:rPr>
              <a:t> </a:t>
            </a:r>
            <a:r>
              <a:rPr dirty="0" sz="1000" spc="-130">
                <a:latin typeface="SimSun"/>
                <a:cs typeface="SimSun"/>
              </a:rPr>
              <a:t>个 </a:t>
            </a:r>
            <a:r>
              <a:rPr dirty="0" sz="1000" spc="20">
                <a:latin typeface="Times New Roman"/>
                <a:cs typeface="Times New Roman"/>
              </a:rPr>
              <a:t>epoch</a:t>
            </a:r>
            <a:r>
              <a:rPr dirty="0" sz="1000">
                <a:latin typeface="Times New Roman"/>
                <a:cs typeface="Times New Roman"/>
              </a:rPr>
              <a:t> </a:t>
            </a:r>
            <a:r>
              <a:rPr dirty="0" sz="1000" spc="-10">
                <a:latin typeface="SimSun"/>
                <a:cs typeface="SimSun"/>
              </a:rPr>
              <a:t>之</a:t>
            </a:r>
            <a:r>
              <a:rPr dirty="0" sz="1000" spc="-45">
                <a:latin typeface="SimSun"/>
                <a:cs typeface="SimSun"/>
              </a:rPr>
              <a:t>后保持较大梯度来更新音频编码器。因此，如表 </a:t>
            </a:r>
            <a:r>
              <a:rPr dirty="0" sz="1000" spc="-10">
                <a:latin typeface="Times New Roman"/>
                <a:cs typeface="Times New Roman"/>
              </a:rPr>
              <a:t>1</a:t>
            </a:r>
            <a:r>
              <a:rPr dirty="0" sz="1000" spc="-35">
                <a:latin typeface="Times New Roman"/>
                <a:cs typeface="Times New Roman"/>
              </a:rPr>
              <a:t> </a:t>
            </a:r>
            <a:r>
              <a:rPr dirty="0" sz="1000" spc="-150">
                <a:latin typeface="SimSun"/>
                <a:cs typeface="SimSun"/>
              </a:rPr>
              <a:t>和 </a:t>
            </a:r>
            <a:r>
              <a:rPr dirty="0" sz="1000" spc="-10">
                <a:latin typeface="Times New Roman"/>
                <a:cs typeface="Times New Roman"/>
              </a:rPr>
              <a:t>2</a:t>
            </a:r>
            <a:r>
              <a:rPr dirty="0" sz="1000" spc="-35">
                <a:latin typeface="Times New Roman"/>
                <a:cs typeface="Times New Roman"/>
              </a:rPr>
              <a:t> </a:t>
            </a:r>
            <a:r>
              <a:rPr dirty="0" sz="1000" spc="-25">
                <a:latin typeface="SimSun"/>
                <a:cs typeface="SimSun"/>
              </a:rPr>
              <a:t>所示，</a:t>
            </a:r>
            <a:r>
              <a:rPr dirty="0" sz="1000" spc="-50">
                <a:latin typeface="Times New Roman"/>
                <a:cs typeface="Times New Roman"/>
              </a:rPr>
              <a:t>DGL</a:t>
            </a:r>
            <a:r>
              <a:rPr dirty="0" sz="1000" spc="-35">
                <a:latin typeface="Times New Roman"/>
                <a:cs typeface="Times New Roman"/>
              </a:rPr>
              <a:t> </a:t>
            </a:r>
            <a:r>
              <a:rPr dirty="0" sz="1000" spc="-10">
                <a:latin typeface="SimSun"/>
                <a:cs typeface="SimSun"/>
              </a:rPr>
              <a:t>模型中的音频分支明显优于普通模型中的音频分支。这证明了解耦梯度学习的有效性。</a:t>
            </a:r>
            <a:endParaRPr sz="1000">
              <a:latin typeface="SimSun"/>
              <a:cs typeface="SimSun"/>
            </a:endParaRPr>
          </a:p>
          <a:p>
            <a:pPr>
              <a:lnSpc>
                <a:spcPct val="100000"/>
              </a:lnSpc>
            </a:pPr>
            <a:endParaRPr sz="1000">
              <a:latin typeface="SimSun"/>
              <a:cs typeface="SimSun"/>
            </a:endParaRPr>
          </a:p>
          <a:p>
            <a:pPr>
              <a:lnSpc>
                <a:spcPct val="100000"/>
              </a:lnSpc>
              <a:spcBef>
                <a:spcPts val="310"/>
              </a:spcBef>
            </a:pPr>
            <a:endParaRPr sz="1000">
              <a:latin typeface="SimSun"/>
              <a:cs typeface="SimSun"/>
            </a:endParaRPr>
          </a:p>
          <a:p>
            <a:pPr marL="203200">
              <a:lnSpc>
                <a:spcPct val="100000"/>
              </a:lnSpc>
            </a:pPr>
            <a:r>
              <a:rPr dirty="0" sz="1400" b="1">
                <a:latin typeface="Times New Roman"/>
                <a:cs typeface="Times New Roman"/>
              </a:rPr>
              <a:t>5.</a:t>
            </a:r>
            <a:r>
              <a:rPr dirty="0" sz="1400" spc="125" b="1">
                <a:latin typeface="Times New Roman"/>
                <a:cs typeface="Times New Roman"/>
              </a:rPr>
              <a:t> </a:t>
            </a:r>
            <a:r>
              <a:rPr dirty="0" sz="1400" spc="50" b="1">
                <a:latin typeface="Times New Roman"/>
                <a:cs typeface="Times New Roman"/>
              </a:rPr>
              <a:t>Conclusion</a:t>
            </a:r>
            <a:endParaRPr sz="1400">
              <a:latin typeface="Times New Roman"/>
              <a:cs typeface="Times New Roman"/>
            </a:endParaRPr>
          </a:p>
          <a:p>
            <a:pPr marL="382905">
              <a:lnSpc>
                <a:spcPct val="100000"/>
              </a:lnSpc>
              <a:spcBef>
                <a:spcPts val="1595"/>
              </a:spcBef>
            </a:pPr>
            <a:r>
              <a:rPr dirty="0" sz="1400" b="1">
                <a:latin typeface="Times New Roman"/>
                <a:cs typeface="Times New Roman"/>
              </a:rPr>
              <a:t>5.</a:t>
            </a:r>
            <a:r>
              <a:rPr dirty="0" sz="1400" spc="150" b="1">
                <a:latin typeface="Times New Roman"/>
                <a:cs typeface="Times New Roman"/>
              </a:rPr>
              <a:t> </a:t>
            </a:r>
            <a:r>
              <a:rPr dirty="0" sz="1400" spc="-25" b="1">
                <a:latin typeface="Microsoft JhengHei"/>
                <a:cs typeface="Microsoft JhengHei"/>
              </a:rPr>
              <a:t>结论</a:t>
            </a:r>
            <a:endParaRPr sz="1400">
              <a:latin typeface="Microsoft JhengHei"/>
              <a:cs typeface="Microsoft JhengHei"/>
            </a:endParaRPr>
          </a:p>
          <a:p>
            <a:pPr algn="just" marL="203200" marR="220345" indent="252729">
              <a:lnSpc>
                <a:spcPct val="129500"/>
              </a:lnSpc>
              <a:spcBef>
                <a:spcPts val="1215"/>
              </a:spcBef>
            </a:pPr>
            <a:r>
              <a:rPr dirty="0" sz="1000" spc="10">
                <a:latin typeface="Times New Roman"/>
                <a:cs typeface="Times New Roman"/>
              </a:rPr>
              <a:t>In</a:t>
            </a:r>
            <a:r>
              <a:rPr dirty="0" sz="1000">
                <a:latin typeface="Times New Roman"/>
                <a:cs typeface="Times New Roman"/>
              </a:rPr>
              <a:t> </a:t>
            </a:r>
            <a:r>
              <a:rPr dirty="0" sz="1000" spc="10">
                <a:latin typeface="Times New Roman"/>
                <a:cs typeface="Times New Roman"/>
              </a:rPr>
              <a:t>this</a:t>
            </a:r>
            <a:r>
              <a:rPr dirty="0" sz="1000" spc="5">
                <a:latin typeface="Times New Roman"/>
                <a:cs typeface="Times New Roman"/>
              </a:rPr>
              <a:t> </a:t>
            </a:r>
            <a:r>
              <a:rPr dirty="0" sz="1000">
                <a:latin typeface="Times New Roman"/>
                <a:cs typeface="Times New Roman"/>
              </a:rPr>
              <a:t>study,</a:t>
            </a:r>
            <a:r>
              <a:rPr dirty="0" sz="1000" spc="20">
                <a:latin typeface="Times New Roman"/>
                <a:cs typeface="Times New Roman"/>
              </a:rPr>
              <a:t> </a:t>
            </a:r>
            <a:r>
              <a:rPr dirty="0" sz="1000">
                <a:latin typeface="Times New Roman"/>
                <a:cs typeface="Times New Roman"/>
              </a:rPr>
              <a:t>we</a:t>
            </a:r>
            <a:r>
              <a:rPr dirty="0" sz="1000" spc="5">
                <a:latin typeface="Times New Roman"/>
                <a:cs typeface="Times New Roman"/>
              </a:rPr>
              <a:t> </a:t>
            </a:r>
            <a:r>
              <a:rPr dirty="0" sz="1000">
                <a:latin typeface="Times New Roman"/>
                <a:cs typeface="Times New Roman"/>
              </a:rPr>
              <a:t>reveal</a:t>
            </a:r>
            <a:r>
              <a:rPr dirty="0" sz="1000" spc="5">
                <a:latin typeface="Times New Roman"/>
                <a:cs typeface="Times New Roman"/>
              </a:rPr>
              <a:t> </a:t>
            </a:r>
            <a:r>
              <a:rPr dirty="0" sz="1000" spc="10">
                <a:latin typeface="Times New Roman"/>
                <a:cs typeface="Times New Roman"/>
              </a:rPr>
              <a:t>the</a:t>
            </a:r>
            <a:r>
              <a:rPr dirty="0" sz="1000" spc="5">
                <a:latin typeface="Times New Roman"/>
                <a:cs typeface="Times New Roman"/>
              </a:rPr>
              <a:t> </a:t>
            </a:r>
            <a:r>
              <a:rPr dirty="0" sz="1000" spc="10">
                <a:latin typeface="Times New Roman"/>
                <a:cs typeface="Times New Roman"/>
              </a:rPr>
              <a:t>optimization</a:t>
            </a:r>
            <a:r>
              <a:rPr dirty="0" sz="1000" spc="5">
                <a:latin typeface="Times New Roman"/>
                <a:cs typeface="Times New Roman"/>
              </a:rPr>
              <a:t> </a:t>
            </a:r>
            <a:r>
              <a:rPr dirty="0" sz="1000">
                <a:latin typeface="Times New Roman"/>
                <a:cs typeface="Times New Roman"/>
              </a:rPr>
              <a:t>conflict</a:t>
            </a:r>
            <a:r>
              <a:rPr dirty="0" sz="1000" spc="5">
                <a:latin typeface="Times New Roman"/>
                <a:cs typeface="Times New Roman"/>
              </a:rPr>
              <a:t> </a:t>
            </a:r>
            <a:r>
              <a:rPr dirty="0" sz="1000" spc="10">
                <a:latin typeface="Times New Roman"/>
                <a:cs typeface="Times New Roman"/>
              </a:rPr>
              <a:t>between</a:t>
            </a:r>
            <a:r>
              <a:rPr dirty="0" sz="1000" spc="5">
                <a:latin typeface="Times New Roman"/>
                <a:cs typeface="Times New Roman"/>
              </a:rPr>
              <a:t> </a:t>
            </a:r>
            <a:r>
              <a:rPr dirty="0" sz="1000" spc="10">
                <a:latin typeface="Times New Roman"/>
                <a:cs typeface="Times New Roman"/>
              </a:rPr>
              <a:t>the</a:t>
            </a:r>
            <a:r>
              <a:rPr dirty="0" sz="1000" spc="5">
                <a:latin typeface="Times New Roman"/>
                <a:cs typeface="Times New Roman"/>
              </a:rPr>
              <a:t> </a:t>
            </a:r>
            <a:r>
              <a:rPr dirty="0" sz="1000" spc="10">
                <a:latin typeface="Times New Roman"/>
                <a:cs typeface="Times New Roman"/>
              </a:rPr>
              <a:t>modality</a:t>
            </a:r>
            <a:r>
              <a:rPr dirty="0" sz="1000" spc="5">
                <a:latin typeface="Times New Roman"/>
                <a:cs typeface="Times New Roman"/>
              </a:rPr>
              <a:t> </a:t>
            </a:r>
            <a:r>
              <a:rPr dirty="0" sz="1000" spc="10">
                <a:latin typeface="Times New Roman"/>
                <a:cs typeface="Times New Roman"/>
              </a:rPr>
              <a:t>encoder</a:t>
            </a:r>
            <a:r>
              <a:rPr dirty="0" sz="1000" spc="5">
                <a:latin typeface="Times New Roman"/>
                <a:cs typeface="Times New Roman"/>
              </a:rPr>
              <a:t> </a:t>
            </a:r>
            <a:r>
              <a:rPr dirty="0" sz="1000" spc="10">
                <a:latin typeface="Times New Roman"/>
                <a:cs typeface="Times New Roman"/>
              </a:rPr>
              <a:t>and</a:t>
            </a:r>
            <a:r>
              <a:rPr dirty="0" sz="1000" spc="5">
                <a:latin typeface="Times New Roman"/>
                <a:cs typeface="Times New Roman"/>
              </a:rPr>
              <a:t> </a:t>
            </a:r>
            <a:r>
              <a:rPr dirty="0" sz="1000" spc="10">
                <a:latin typeface="Times New Roman"/>
                <a:cs typeface="Times New Roman"/>
              </a:rPr>
              <a:t>modality</a:t>
            </a:r>
            <a:r>
              <a:rPr dirty="0" sz="1000" spc="5">
                <a:latin typeface="Times New Roman"/>
                <a:cs typeface="Times New Roman"/>
              </a:rPr>
              <a:t> </a:t>
            </a:r>
            <a:r>
              <a:rPr dirty="0" sz="1000" spc="10">
                <a:latin typeface="Times New Roman"/>
                <a:cs typeface="Times New Roman"/>
              </a:rPr>
              <a:t>fusion</a:t>
            </a:r>
            <a:r>
              <a:rPr dirty="0" sz="1000" spc="5">
                <a:latin typeface="Times New Roman"/>
                <a:cs typeface="Times New Roman"/>
              </a:rPr>
              <a:t> </a:t>
            </a:r>
            <a:r>
              <a:rPr dirty="0" sz="1000" spc="-20">
                <a:latin typeface="Times New Roman"/>
                <a:cs typeface="Times New Roman"/>
              </a:rPr>
              <a:t>mod- </a:t>
            </a:r>
            <a:r>
              <a:rPr dirty="0" sz="1000">
                <a:latin typeface="Times New Roman"/>
                <a:cs typeface="Times New Roman"/>
              </a:rPr>
              <a:t>ule</a:t>
            </a:r>
            <a:r>
              <a:rPr dirty="0" sz="1000" spc="80">
                <a:latin typeface="Times New Roman"/>
                <a:cs typeface="Times New Roman"/>
              </a:rPr>
              <a:t> </a:t>
            </a:r>
            <a:r>
              <a:rPr dirty="0" sz="1000">
                <a:latin typeface="Times New Roman"/>
                <a:cs typeface="Times New Roman"/>
              </a:rPr>
              <a:t>in</a:t>
            </a:r>
            <a:r>
              <a:rPr dirty="0" sz="1000" spc="85">
                <a:latin typeface="Times New Roman"/>
                <a:cs typeface="Times New Roman"/>
              </a:rPr>
              <a:t> </a:t>
            </a:r>
            <a:r>
              <a:rPr dirty="0" sz="1000">
                <a:latin typeface="Times New Roman"/>
                <a:cs typeface="Times New Roman"/>
              </a:rPr>
              <a:t>the</a:t>
            </a:r>
            <a:r>
              <a:rPr dirty="0" sz="1000" spc="85">
                <a:latin typeface="Times New Roman"/>
                <a:cs typeface="Times New Roman"/>
              </a:rPr>
              <a:t> </a:t>
            </a:r>
            <a:r>
              <a:rPr dirty="0" sz="1000">
                <a:latin typeface="Times New Roman"/>
                <a:cs typeface="Times New Roman"/>
              </a:rPr>
              <a:t>multimodal</a:t>
            </a:r>
            <a:r>
              <a:rPr dirty="0" sz="1000" spc="85">
                <a:latin typeface="Times New Roman"/>
                <a:cs typeface="Times New Roman"/>
              </a:rPr>
              <a:t> </a:t>
            </a:r>
            <a:r>
              <a:rPr dirty="0" sz="1000">
                <a:latin typeface="Times New Roman"/>
                <a:cs typeface="Times New Roman"/>
              </a:rPr>
              <a:t>model.</a:t>
            </a:r>
            <a:r>
              <a:rPr dirty="0" sz="1000" spc="254">
                <a:latin typeface="Times New Roman"/>
                <a:cs typeface="Times New Roman"/>
              </a:rPr>
              <a:t> </a:t>
            </a:r>
            <a:r>
              <a:rPr dirty="0" sz="1000">
                <a:latin typeface="Times New Roman"/>
                <a:cs typeface="Times New Roman"/>
              </a:rPr>
              <a:t>The</a:t>
            </a:r>
            <a:r>
              <a:rPr dirty="0" sz="1000" spc="85">
                <a:latin typeface="Times New Roman"/>
                <a:cs typeface="Times New Roman"/>
              </a:rPr>
              <a:t> </a:t>
            </a:r>
            <a:r>
              <a:rPr dirty="0" sz="1000">
                <a:latin typeface="Times New Roman"/>
                <a:cs typeface="Times New Roman"/>
              </a:rPr>
              <a:t>cross-modal</a:t>
            </a:r>
            <a:r>
              <a:rPr dirty="0" sz="1000" spc="85">
                <a:latin typeface="Times New Roman"/>
                <a:cs typeface="Times New Roman"/>
              </a:rPr>
              <a:t> </a:t>
            </a:r>
            <a:r>
              <a:rPr dirty="0" sz="1000">
                <a:latin typeface="Times New Roman"/>
                <a:cs typeface="Times New Roman"/>
              </a:rPr>
              <a:t>interaction</a:t>
            </a:r>
            <a:r>
              <a:rPr dirty="0" sz="1000" spc="80">
                <a:latin typeface="Times New Roman"/>
                <a:cs typeface="Times New Roman"/>
              </a:rPr>
              <a:t> </a:t>
            </a:r>
            <a:r>
              <a:rPr dirty="0" sz="1000">
                <a:latin typeface="Times New Roman"/>
                <a:cs typeface="Times New Roman"/>
              </a:rPr>
              <a:t>will</a:t>
            </a:r>
            <a:r>
              <a:rPr dirty="0" sz="1000" spc="85">
                <a:latin typeface="Times New Roman"/>
                <a:cs typeface="Times New Roman"/>
              </a:rPr>
              <a:t> </a:t>
            </a:r>
            <a:r>
              <a:rPr dirty="0" sz="1000">
                <a:latin typeface="Times New Roman"/>
                <a:cs typeface="Times New Roman"/>
              </a:rPr>
              <a:t>suppress</a:t>
            </a:r>
            <a:r>
              <a:rPr dirty="0" sz="1000" spc="75">
                <a:latin typeface="Times New Roman"/>
                <a:cs typeface="Times New Roman"/>
              </a:rPr>
              <a:t> </a:t>
            </a:r>
            <a:r>
              <a:rPr dirty="0" sz="1000">
                <a:latin typeface="Times New Roman"/>
                <a:cs typeface="Times New Roman"/>
              </a:rPr>
              <a:t>the</a:t>
            </a:r>
            <a:r>
              <a:rPr dirty="0" sz="1000" spc="85">
                <a:latin typeface="Times New Roman"/>
                <a:cs typeface="Times New Roman"/>
              </a:rPr>
              <a:t> </a:t>
            </a:r>
            <a:r>
              <a:rPr dirty="0" sz="1000">
                <a:latin typeface="Times New Roman"/>
                <a:cs typeface="Times New Roman"/>
              </a:rPr>
              <a:t>gradient</a:t>
            </a:r>
            <a:r>
              <a:rPr dirty="0" sz="1000" spc="75">
                <a:latin typeface="Times New Roman"/>
                <a:cs typeface="Times New Roman"/>
              </a:rPr>
              <a:t> </a:t>
            </a:r>
            <a:r>
              <a:rPr dirty="0" sz="1000">
                <a:latin typeface="Times New Roman"/>
                <a:cs typeface="Times New Roman"/>
              </a:rPr>
              <a:t>back-propagated</a:t>
            </a:r>
            <a:r>
              <a:rPr dirty="0" sz="1000" spc="85">
                <a:latin typeface="Times New Roman"/>
                <a:cs typeface="Times New Roman"/>
              </a:rPr>
              <a:t> </a:t>
            </a:r>
            <a:r>
              <a:rPr dirty="0" sz="1000">
                <a:latin typeface="Times New Roman"/>
                <a:cs typeface="Times New Roman"/>
              </a:rPr>
              <a:t>to</a:t>
            </a:r>
            <a:r>
              <a:rPr dirty="0" sz="1000" spc="75">
                <a:latin typeface="Times New Roman"/>
                <a:cs typeface="Times New Roman"/>
              </a:rPr>
              <a:t> </a:t>
            </a:r>
            <a:r>
              <a:rPr dirty="0" sz="1000" spc="-20">
                <a:latin typeface="Times New Roman"/>
                <a:cs typeface="Times New Roman"/>
              </a:rPr>
              <a:t>each </a:t>
            </a:r>
            <a:r>
              <a:rPr dirty="0" sz="1000" spc="10">
                <a:latin typeface="Times New Roman"/>
                <a:cs typeface="Times New Roman"/>
              </a:rPr>
              <a:t>modality</a:t>
            </a:r>
            <a:r>
              <a:rPr dirty="0" sz="1000" spc="125">
                <a:latin typeface="Times New Roman"/>
                <a:cs typeface="Times New Roman"/>
              </a:rPr>
              <a:t> </a:t>
            </a:r>
            <a:r>
              <a:rPr dirty="0" sz="1000" spc="10">
                <a:latin typeface="Times New Roman"/>
                <a:cs typeface="Times New Roman"/>
              </a:rPr>
              <a:t>encoder</a:t>
            </a:r>
            <a:r>
              <a:rPr dirty="0" sz="1000" spc="130">
                <a:latin typeface="Times New Roman"/>
                <a:cs typeface="Times New Roman"/>
              </a:rPr>
              <a:t> </a:t>
            </a:r>
            <a:r>
              <a:rPr dirty="0" sz="1000" spc="10">
                <a:latin typeface="Times New Roman"/>
                <a:cs typeface="Times New Roman"/>
              </a:rPr>
              <a:t>and</a:t>
            </a:r>
            <a:r>
              <a:rPr dirty="0" sz="1000" spc="130">
                <a:latin typeface="Times New Roman"/>
                <a:cs typeface="Times New Roman"/>
              </a:rPr>
              <a:t> </a:t>
            </a:r>
            <a:r>
              <a:rPr dirty="0" sz="1000" spc="10">
                <a:latin typeface="Times New Roman"/>
                <a:cs typeface="Times New Roman"/>
              </a:rPr>
              <a:t>limit</a:t>
            </a:r>
            <a:r>
              <a:rPr dirty="0" sz="1000" spc="130">
                <a:latin typeface="Times New Roman"/>
                <a:cs typeface="Times New Roman"/>
              </a:rPr>
              <a:t> </a:t>
            </a:r>
            <a:r>
              <a:rPr dirty="0" sz="1000" spc="10">
                <a:latin typeface="Times New Roman"/>
                <a:cs typeface="Times New Roman"/>
              </a:rPr>
              <a:t>their</a:t>
            </a:r>
            <a:r>
              <a:rPr dirty="0" sz="1000" spc="130">
                <a:latin typeface="Times New Roman"/>
                <a:cs typeface="Times New Roman"/>
              </a:rPr>
              <a:t> </a:t>
            </a:r>
            <a:r>
              <a:rPr dirty="0" sz="1000" spc="10">
                <a:latin typeface="Times New Roman"/>
                <a:cs typeface="Times New Roman"/>
              </a:rPr>
              <a:t>optimization,</a:t>
            </a:r>
            <a:r>
              <a:rPr dirty="0" sz="1000" spc="145">
                <a:latin typeface="Times New Roman"/>
                <a:cs typeface="Times New Roman"/>
              </a:rPr>
              <a:t> </a:t>
            </a:r>
            <a:r>
              <a:rPr dirty="0" sz="1000" spc="10">
                <a:latin typeface="Times New Roman"/>
                <a:cs typeface="Times New Roman"/>
              </a:rPr>
              <a:t>including</a:t>
            </a:r>
            <a:r>
              <a:rPr dirty="0" sz="1000" spc="130">
                <a:latin typeface="Times New Roman"/>
                <a:cs typeface="Times New Roman"/>
              </a:rPr>
              <a:t> </a:t>
            </a:r>
            <a:r>
              <a:rPr dirty="0" sz="1000" spc="10">
                <a:latin typeface="Times New Roman"/>
                <a:cs typeface="Times New Roman"/>
              </a:rPr>
              <a:t>the</a:t>
            </a:r>
            <a:r>
              <a:rPr dirty="0" sz="1000" spc="130">
                <a:latin typeface="Times New Roman"/>
                <a:cs typeface="Times New Roman"/>
              </a:rPr>
              <a:t> </a:t>
            </a:r>
            <a:r>
              <a:rPr dirty="0" sz="1000" spc="10">
                <a:latin typeface="Times New Roman"/>
                <a:cs typeface="Times New Roman"/>
              </a:rPr>
              <a:t>dominant</a:t>
            </a:r>
            <a:r>
              <a:rPr dirty="0" sz="1000" spc="130">
                <a:latin typeface="Times New Roman"/>
                <a:cs typeface="Times New Roman"/>
              </a:rPr>
              <a:t> </a:t>
            </a:r>
            <a:r>
              <a:rPr dirty="0" sz="1000" spc="10">
                <a:latin typeface="Times New Roman"/>
                <a:cs typeface="Times New Roman"/>
              </a:rPr>
              <a:t>modality.</a:t>
            </a:r>
            <a:r>
              <a:rPr dirty="0" sz="1000" spc="390">
                <a:latin typeface="Times New Roman"/>
                <a:cs typeface="Times New Roman"/>
              </a:rPr>
              <a:t> </a:t>
            </a:r>
            <a:r>
              <a:rPr dirty="0" sz="1000" spc="10">
                <a:latin typeface="Times New Roman"/>
                <a:cs typeface="Times New Roman"/>
              </a:rPr>
              <a:t>To</a:t>
            </a:r>
            <a:r>
              <a:rPr dirty="0" sz="1000" spc="130">
                <a:latin typeface="Times New Roman"/>
                <a:cs typeface="Times New Roman"/>
              </a:rPr>
              <a:t> </a:t>
            </a:r>
            <a:r>
              <a:rPr dirty="0" sz="1000" spc="10">
                <a:latin typeface="Times New Roman"/>
                <a:cs typeface="Times New Roman"/>
              </a:rPr>
              <a:t>address</a:t>
            </a:r>
            <a:r>
              <a:rPr dirty="0" sz="1000" spc="125">
                <a:latin typeface="Times New Roman"/>
                <a:cs typeface="Times New Roman"/>
              </a:rPr>
              <a:t> </a:t>
            </a:r>
            <a:r>
              <a:rPr dirty="0" sz="1000" spc="10">
                <a:latin typeface="Times New Roman"/>
                <a:cs typeface="Times New Roman"/>
              </a:rPr>
              <a:t>this</a:t>
            </a:r>
            <a:r>
              <a:rPr dirty="0" sz="1000" spc="130">
                <a:latin typeface="Times New Roman"/>
                <a:cs typeface="Times New Roman"/>
              </a:rPr>
              <a:t> </a:t>
            </a:r>
            <a:r>
              <a:rPr dirty="0" sz="1000" spc="-10">
                <a:latin typeface="Times New Roman"/>
                <a:cs typeface="Times New Roman"/>
              </a:rPr>
              <a:t>problem, </a:t>
            </a:r>
            <a:r>
              <a:rPr dirty="0" sz="1000" spc="10">
                <a:latin typeface="Times New Roman"/>
                <a:cs typeface="Times New Roman"/>
              </a:rPr>
              <a:t>we</a:t>
            </a:r>
            <a:r>
              <a:rPr dirty="0" sz="1000" spc="65">
                <a:latin typeface="Times New Roman"/>
                <a:cs typeface="Times New Roman"/>
              </a:rPr>
              <a:t> </a:t>
            </a:r>
            <a:r>
              <a:rPr dirty="0" sz="1000" spc="10">
                <a:latin typeface="Times New Roman"/>
                <a:cs typeface="Times New Roman"/>
              </a:rPr>
              <a:t>introduce</a:t>
            </a:r>
            <a:r>
              <a:rPr dirty="0" sz="1000" spc="65">
                <a:latin typeface="Times New Roman"/>
                <a:cs typeface="Times New Roman"/>
              </a:rPr>
              <a:t> </a:t>
            </a:r>
            <a:r>
              <a:rPr dirty="0" sz="1000">
                <a:latin typeface="Times New Roman"/>
                <a:cs typeface="Times New Roman"/>
              </a:rPr>
              <a:t>DGL</a:t>
            </a:r>
            <a:r>
              <a:rPr dirty="0" sz="1000" spc="70">
                <a:latin typeface="Times New Roman"/>
                <a:cs typeface="Times New Roman"/>
              </a:rPr>
              <a:t> </a:t>
            </a:r>
            <a:r>
              <a:rPr dirty="0" sz="1000" spc="10">
                <a:latin typeface="Times New Roman"/>
                <a:cs typeface="Times New Roman"/>
              </a:rPr>
              <a:t>to</a:t>
            </a:r>
            <a:r>
              <a:rPr dirty="0" sz="1000" spc="65">
                <a:latin typeface="Times New Roman"/>
                <a:cs typeface="Times New Roman"/>
              </a:rPr>
              <a:t> </a:t>
            </a:r>
            <a:r>
              <a:rPr dirty="0" sz="1000" spc="10">
                <a:latin typeface="Times New Roman"/>
                <a:cs typeface="Times New Roman"/>
              </a:rPr>
              <a:t>decouple</a:t>
            </a:r>
            <a:r>
              <a:rPr dirty="0" sz="1000" spc="70">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optimization</a:t>
            </a:r>
            <a:r>
              <a:rPr dirty="0" sz="1000" spc="70">
                <a:latin typeface="Times New Roman"/>
                <a:cs typeface="Times New Roman"/>
              </a:rPr>
              <a:t> </a:t>
            </a:r>
            <a:r>
              <a:rPr dirty="0" sz="1000" spc="10">
                <a:latin typeface="Times New Roman"/>
                <a:cs typeface="Times New Roman"/>
              </a:rPr>
              <a:t>of</a:t>
            </a:r>
            <a:r>
              <a:rPr dirty="0" sz="1000" spc="65">
                <a:latin typeface="Times New Roman"/>
                <a:cs typeface="Times New Roman"/>
              </a:rPr>
              <a:t> </a:t>
            </a:r>
            <a:r>
              <a:rPr dirty="0" sz="1000" spc="10">
                <a:latin typeface="Times New Roman"/>
                <a:cs typeface="Times New Roman"/>
              </a:rPr>
              <a:t>the</a:t>
            </a:r>
            <a:r>
              <a:rPr dirty="0" sz="1000" spc="70">
                <a:latin typeface="Times New Roman"/>
                <a:cs typeface="Times New Roman"/>
              </a:rPr>
              <a:t> </a:t>
            </a:r>
            <a:r>
              <a:rPr dirty="0" sz="1000" spc="10">
                <a:latin typeface="Times New Roman"/>
                <a:cs typeface="Times New Roman"/>
              </a:rPr>
              <a:t>modality</a:t>
            </a:r>
            <a:r>
              <a:rPr dirty="0" sz="1000" spc="65">
                <a:latin typeface="Times New Roman"/>
                <a:cs typeface="Times New Roman"/>
              </a:rPr>
              <a:t> </a:t>
            </a:r>
            <a:r>
              <a:rPr dirty="0" sz="1000" spc="10">
                <a:latin typeface="Times New Roman"/>
                <a:cs typeface="Times New Roman"/>
              </a:rPr>
              <a:t>encoder</a:t>
            </a:r>
            <a:r>
              <a:rPr dirty="0" sz="1000" spc="70">
                <a:latin typeface="Times New Roman"/>
                <a:cs typeface="Times New Roman"/>
              </a:rPr>
              <a:t> </a:t>
            </a:r>
            <a:r>
              <a:rPr dirty="0" sz="1000" spc="10">
                <a:latin typeface="Times New Roman"/>
                <a:cs typeface="Times New Roman"/>
              </a:rPr>
              <a:t>and</a:t>
            </a:r>
            <a:r>
              <a:rPr dirty="0" sz="1000" spc="65">
                <a:latin typeface="Times New Roman"/>
                <a:cs typeface="Times New Roman"/>
              </a:rPr>
              <a:t> </a:t>
            </a:r>
            <a:r>
              <a:rPr dirty="0" sz="1000" spc="10">
                <a:latin typeface="Times New Roman"/>
                <a:cs typeface="Times New Roman"/>
              </a:rPr>
              <a:t>modality</a:t>
            </a:r>
            <a:r>
              <a:rPr dirty="0" sz="1000" spc="70">
                <a:latin typeface="Times New Roman"/>
                <a:cs typeface="Times New Roman"/>
              </a:rPr>
              <a:t> </a:t>
            </a:r>
            <a:r>
              <a:rPr dirty="0" sz="1000" spc="10">
                <a:latin typeface="Times New Roman"/>
                <a:cs typeface="Times New Roman"/>
              </a:rPr>
              <a:t>fusion</a:t>
            </a:r>
            <a:r>
              <a:rPr dirty="0" sz="1000" spc="65">
                <a:latin typeface="Times New Roman"/>
                <a:cs typeface="Times New Roman"/>
              </a:rPr>
              <a:t> </a:t>
            </a:r>
            <a:r>
              <a:rPr dirty="0" sz="1000" spc="10">
                <a:latin typeface="Times New Roman"/>
                <a:cs typeface="Times New Roman"/>
              </a:rPr>
              <a:t>module.</a:t>
            </a:r>
            <a:r>
              <a:rPr dirty="0" sz="1000" spc="200">
                <a:latin typeface="Times New Roman"/>
                <a:cs typeface="Times New Roman"/>
              </a:rPr>
              <a:t> </a:t>
            </a:r>
            <a:r>
              <a:rPr dirty="0" sz="1000" spc="-10">
                <a:latin typeface="Times New Roman"/>
                <a:cs typeface="Times New Roman"/>
              </a:rPr>
              <a:t>First, </a:t>
            </a:r>
            <a:r>
              <a:rPr dirty="0" sz="1000" spc="10">
                <a:latin typeface="Times New Roman"/>
                <a:cs typeface="Times New Roman"/>
              </a:rPr>
              <a:t>DGL</a:t>
            </a:r>
            <a:r>
              <a:rPr dirty="0" sz="1000" spc="140">
                <a:latin typeface="Times New Roman"/>
                <a:cs typeface="Times New Roman"/>
              </a:rPr>
              <a:t> </a:t>
            </a:r>
            <a:r>
              <a:rPr dirty="0" sz="1000" spc="10">
                <a:latin typeface="Times New Roman"/>
                <a:cs typeface="Times New Roman"/>
              </a:rPr>
              <a:t>eliminates</a:t>
            </a:r>
            <a:r>
              <a:rPr dirty="0" sz="1000" spc="140">
                <a:latin typeface="Times New Roman"/>
                <a:cs typeface="Times New Roman"/>
              </a:rPr>
              <a:t> </a:t>
            </a:r>
            <a:r>
              <a:rPr dirty="0" sz="1000" spc="10">
                <a:latin typeface="Times New Roman"/>
                <a:cs typeface="Times New Roman"/>
              </a:rPr>
              <a:t>gradient</a:t>
            </a:r>
            <a:r>
              <a:rPr dirty="0" sz="1000" spc="140">
                <a:latin typeface="Times New Roman"/>
                <a:cs typeface="Times New Roman"/>
              </a:rPr>
              <a:t> </a:t>
            </a:r>
            <a:r>
              <a:rPr dirty="0" sz="1000" spc="10">
                <a:latin typeface="Times New Roman"/>
                <a:cs typeface="Times New Roman"/>
              </a:rPr>
              <a:t>suppression</a:t>
            </a:r>
            <a:r>
              <a:rPr dirty="0" sz="1000" spc="145">
                <a:latin typeface="Times New Roman"/>
                <a:cs typeface="Times New Roman"/>
              </a:rPr>
              <a:t> </a:t>
            </a:r>
            <a:r>
              <a:rPr dirty="0" sz="1000" spc="10">
                <a:latin typeface="Times New Roman"/>
                <a:cs typeface="Times New Roman"/>
              </a:rPr>
              <a:t>by</a:t>
            </a:r>
            <a:r>
              <a:rPr dirty="0" sz="1000" spc="145">
                <a:latin typeface="Times New Roman"/>
                <a:cs typeface="Times New Roman"/>
              </a:rPr>
              <a:t> </a:t>
            </a:r>
            <a:r>
              <a:rPr dirty="0" sz="1000" spc="10">
                <a:latin typeface="Times New Roman"/>
                <a:cs typeface="Times New Roman"/>
              </a:rPr>
              <a:t>truncating</a:t>
            </a:r>
            <a:r>
              <a:rPr dirty="0" sz="1000" spc="150">
                <a:latin typeface="Times New Roman"/>
                <a:cs typeface="Times New Roman"/>
              </a:rPr>
              <a:t> </a:t>
            </a:r>
            <a:r>
              <a:rPr dirty="0" sz="1000" spc="10">
                <a:latin typeface="Times New Roman"/>
                <a:cs typeface="Times New Roman"/>
              </a:rPr>
              <a:t>the</a:t>
            </a:r>
            <a:r>
              <a:rPr dirty="0" sz="1000" spc="140">
                <a:latin typeface="Times New Roman"/>
                <a:cs typeface="Times New Roman"/>
              </a:rPr>
              <a:t> </a:t>
            </a:r>
            <a:r>
              <a:rPr dirty="0" sz="1000" spc="10">
                <a:latin typeface="Times New Roman"/>
                <a:cs typeface="Times New Roman"/>
              </a:rPr>
              <a:t>gradient</a:t>
            </a:r>
            <a:r>
              <a:rPr dirty="0" sz="1000" spc="140">
                <a:latin typeface="Times New Roman"/>
                <a:cs typeface="Times New Roman"/>
              </a:rPr>
              <a:t> </a:t>
            </a:r>
            <a:r>
              <a:rPr dirty="0" sz="1000" spc="10">
                <a:latin typeface="Times New Roman"/>
                <a:cs typeface="Times New Roman"/>
              </a:rPr>
              <a:t>from</a:t>
            </a:r>
            <a:r>
              <a:rPr dirty="0" sz="1000" spc="140">
                <a:latin typeface="Times New Roman"/>
                <a:cs typeface="Times New Roman"/>
              </a:rPr>
              <a:t> </a:t>
            </a:r>
            <a:r>
              <a:rPr dirty="0" sz="1000" spc="10">
                <a:latin typeface="Times New Roman"/>
                <a:cs typeface="Times New Roman"/>
              </a:rPr>
              <a:t>the</a:t>
            </a:r>
            <a:r>
              <a:rPr dirty="0" sz="1000" spc="145">
                <a:latin typeface="Times New Roman"/>
                <a:cs typeface="Times New Roman"/>
              </a:rPr>
              <a:t> </a:t>
            </a:r>
            <a:r>
              <a:rPr dirty="0" sz="1000" spc="10">
                <a:latin typeface="Times New Roman"/>
                <a:cs typeface="Times New Roman"/>
              </a:rPr>
              <a:t>multimodal</a:t>
            </a:r>
            <a:r>
              <a:rPr dirty="0" sz="1000" spc="145">
                <a:latin typeface="Times New Roman"/>
                <a:cs typeface="Times New Roman"/>
              </a:rPr>
              <a:t> </a:t>
            </a:r>
            <a:r>
              <a:rPr dirty="0" sz="1000" spc="10">
                <a:latin typeface="Times New Roman"/>
                <a:cs typeface="Times New Roman"/>
              </a:rPr>
              <a:t>loss</a:t>
            </a:r>
            <a:r>
              <a:rPr dirty="0" sz="1000" spc="150">
                <a:latin typeface="Times New Roman"/>
                <a:cs typeface="Times New Roman"/>
              </a:rPr>
              <a:t> </a:t>
            </a:r>
            <a:r>
              <a:rPr dirty="0" sz="1000" spc="10">
                <a:latin typeface="Times New Roman"/>
                <a:cs typeface="Times New Roman"/>
              </a:rPr>
              <a:t>to</a:t>
            </a:r>
            <a:r>
              <a:rPr dirty="0" sz="1000" spc="140">
                <a:latin typeface="Times New Roman"/>
                <a:cs typeface="Times New Roman"/>
              </a:rPr>
              <a:t> </a:t>
            </a:r>
            <a:r>
              <a:rPr dirty="0" sz="1000" spc="10">
                <a:latin typeface="Times New Roman"/>
                <a:cs typeface="Times New Roman"/>
              </a:rPr>
              <a:t>the</a:t>
            </a:r>
            <a:r>
              <a:rPr dirty="0" sz="1000" spc="150">
                <a:latin typeface="Times New Roman"/>
                <a:cs typeface="Times New Roman"/>
              </a:rPr>
              <a:t> </a:t>
            </a:r>
            <a:r>
              <a:rPr dirty="0" sz="1000" spc="-10">
                <a:latin typeface="Times New Roman"/>
                <a:cs typeface="Times New Roman"/>
              </a:rPr>
              <a:t>modality </a:t>
            </a:r>
            <a:r>
              <a:rPr dirty="0" sz="1000" spc="10">
                <a:latin typeface="Times New Roman"/>
                <a:cs typeface="Times New Roman"/>
              </a:rPr>
              <a:t>encoder</a:t>
            </a:r>
            <a:r>
              <a:rPr dirty="0" sz="1000" spc="60">
                <a:latin typeface="Times New Roman"/>
                <a:cs typeface="Times New Roman"/>
              </a:rPr>
              <a:t> </a:t>
            </a:r>
            <a:r>
              <a:rPr dirty="0" sz="1000" spc="10">
                <a:latin typeface="Times New Roman"/>
                <a:cs typeface="Times New Roman"/>
              </a:rPr>
              <a:t>and</a:t>
            </a:r>
            <a:r>
              <a:rPr dirty="0" sz="1000" spc="60">
                <a:latin typeface="Times New Roman"/>
                <a:cs typeface="Times New Roman"/>
              </a:rPr>
              <a:t> </a:t>
            </a:r>
            <a:r>
              <a:rPr dirty="0" sz="1000" spc="10">
                <a:latin typeface="Times New Roman"/>
                <a:cs typeface="Times New Roman"/>
              </a:rPr>
              <a:t>substituting</a:t>
            </a:r>
            <a:r>
              <a:rPr dirty="0" sz="1000" spc="60">
                <a:latin typeface="Times New Roman"/>
                <a:cs typeface="Times New Roman"/>
              </a:rPr>
              <a:t> </a:t>
            </a:r>
            <a:r>
              <a:rPr dirty="0" sz="1000" spc="10">
                <a:latin typeface="Times New Roman"/>
                <a:cs typeface="Times New Roman"/>
              </a:rPr>
              <a:t>it</a:t>
            </a:r>
            <a:r>
              <a:rPr dirty="0" sz="1000" spc="60">
                <a:latin typeface="Times New Roman"/>
                <a:cs typeface="Times New Roman"/>
              </a:rPr>
              <a:t> </a:t>
            </a:r>
            <a:r>
              <a:rPr dirty="0" sz="1000" spc="10">
                <a:latin typeface="Times New Roman"/>
                <a:cs typeface="Times New Roman"/>
              </a:rPr>
              <a:t>with</a:t>
            </a:r>
            <a:r>
              <a:rPr dirty="0" sz="1000" spc="65">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gradient</a:t>
            </a:r>
            <a:r>
              <a:rPr dirty="0" sz="1000" spc="60">
                <a:latin typeface="Times New Roman"/>
                <a:cs typeface="Times New Roman"/>
              </a:rPr>
              <a:t> </a:t>
            </a:r>
            <a:r>
              <a:rPr dirty="0" sz="1000" spc="10">
                <a:latin typeface="Times New Roman"/>
                <a:cs typeface="Times New Roman"/>
              </a:rPr>
              <a:t>from</a:t>
            </a:r>
            <a:r>
              <a:rPr dirty="0" sz="1000" spc="60">
                <a:latin typeface="Times New Roman"/>
                <a:cs typeface="Times New Roman"/>
              </a:rPr>
              <a:t> </a:t>
            </a:r>
            <a:r>
              <a:rPr dirty="0" sz="1000" spc="10">
                <a:latin typeface="Times New Roman"/>
                <a:cs typeface="Times New Roman"/>
              </a:rPr>
              <a:t>the</a:t>
            </a:r>
            <a:r>
              <a:rPr dirty="0" sz="1000" spc="65">
                <a:latin typeface="Times New Roman"/>
                <a:cs typeface="Times New Roman"/>
              </a:rPr>
              <a:t> </a:t>
            </a:r>
            <a:r>
              <a:rPr dirty="0" sz="1000" spc="10">
                <a:latin typeface="Times New Roman"/>
                <a:cs typeface="Times New Roman"/>
              </a:rPr>
              <a:t>unimodal</a:t>
            </a:r>
            <a:r>
              <a:rPr dirty="0" sz="1000" spc="60">
                <a:latin typeface="Times New Roman"/>
                <a:cs typeface="Times New Roman"/>
              </a:rPr>
              <a:t> </a:t>
            </a:r>
            <a:r>
              <a:rPr dirty="0" sz="1000" spc="10">
                <a:latin typeface="Times New Roman"/>
                <a:cs typeface="Times New Roman"/>
              </a:rPr>
              <a:t>loss.</a:t>
            </a:r>
            <a:r>
              <a:rPr dirty="0" sz="1000" spc="185">
                <a:latin typeface="Times New Roman"/>
                <a:cs typeface="Times New Roman"/>
              </a:rPr>
              <a:t> </a:t>
            </a:r>
            <a:r>
              <a:rPr dirty="0" sz="1000" spc="10">
                <a:latin typeface="Times New Roman"/>
                <a:cs typeface="Times New Roman"/>
              </a:rPr>
              <a:t>Additionally,</a:t>
            </a:r>
            <a:r>
              <a:rPr dirty="0" sz="1000" spc="60">
                <a:latin typeface="Times New Roman"/>
                <a:cs typeface="Times New Roman"/>
              </a:rPr>
              <a:t> </a:t>
            </a:r>
            <a:r>
              <a:rPr dirty="0" sz="1000">
                <a:latin typeface="Times New Roman"/>
                <a:cs typeface="Times New Roman"/>
              </a:rPr>
              <a:t>DGL</a:t>
            </a:r>
            <a:r>
              <a:rPr dirty="0" sz="1000" spc="60">
                <a:latin typeface="Times New Roman"/>
                <a:cs typeface="Times New Roman"/>
              </a:rPr>
              <a:t> </a:t>
            </a:r>
            <a:r>
              <a:rPr dirty="0" sz="1000" spc="10">
                <a:latin typeface="Times New Roman"/>
                <a:cs typeface="Times New Roman"/>
              </a:rPr>
              <a:t>blocks</a:t>
            </a:r>
            <a:r>
              <a:rPr dirty="0" sz="1000" spc="65">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gradient </a:t>
            </a:r>
            <a:r>
              <a:rPr dirty="0" sz="1000" spc="20">
                <a:latin typeface="Times New Roman"/>
                <a:cs typeface="Times New Roman"/>
              </a:rPr>
              <a:t>from</a:t>
            </a:r>
            <a:r>
              <a:rPr dirty="0" sz="1000" spc="70">
                <a:latin typeface="Times New Roman"/>
                <a:cs typeface="Times New Roman"/>
              </a:rPr>
              <a:t> </a:t>
            </a:r>
            <a:r>
              <a:rPr dirty="0" sz="1000" spc="20">
                <a:latin typeface="Times New Roman"/>
                <a:cs typeface="Times New Roman"/>
              </a:rPr>
              <a:t>the</a:t>
            </a:r>
            <a:r>
              <a:rPr dirty="0" sz="1000" spc="75">
                <a:latin typeface="Times New Roman"/>
                <a:cs typeface="Times New Roman"/>
              </a:rPr>
              <a:t> </a:t>
            </a:r>
            <a:r>
              <a:rPr dirty="0" sz="1000" spc="20">
                <a:latin typeface="Times New Roman"/>
                <a:cs typeface="Times New Roman"/>
              </a:rPr>
              <a:t>unimodal</a:t>
            </a:r>
            <a:r>
              <a:rPr dirty="0" sz="1000" spc="70">
                <a:latin typeface="Times New Roman"/>
                <a:cs typeface="Times New Roman"/>
              </a:rPr>
              <a:t> </a:t>
            </a:r>
            <a:r>
              <a:rPr dirty="0" sz="1000" spc="20">
                <a:latin typeface="Times New Roman"/>
                <a:cs typeface="Times New Roman"/>
              </a:rPr>
              <a:t>loss</a:t>
            </a:r>
            <a:r>
              <a:rPr dirty="0" sz="1000" spc="75">
                <a:latin typeface="Times New Roman"/>
                <a:cs typeface="Times New Roman"/>
              </a:rPr>
              <a:t> </a:t>
            </a:r>
            <a:r>
              <a:rPr dirty="0" sz="1000" spc="20">
                <a:latin typeface="Times New Roman"/>
                <a:cs typeface="Times New Roman"/>
              </a:rPr>
              <a:t>to</a:t>
            </a:r>
            <a:r>
              <a:rPr dirty="0" sz="1000" spc="75">
                <a:latin typeface="Times New Roman"/>
                <a:cs typeface="Times New Roman"/>
              </a:rPr>
              <a:t> </a:t>
            </a:r>
            <a:r>
              <a:rPr dirty="0" sz="1000" spc="20">
                <a:latin typeface="Times New Roman"/>
                <a:cs typeface="Times New Roman"/>
              </a:rPr>
              <a:t>the</a:t>
            </a:r>
            <a:r>
              <a:rPr dirty="0" sz="1000" spc="70">
                <a:latin typeface="Times New Roman"/>
                <a:cs typeface="Times New Roman"/>
              </a:rPr>
              <a:t> </a:t>
            </a:r>
            <a:r>
              <a:rPr dirty="0" sz="1000" spc="20">
                <a:latin typeface="Times New Roman"/>
                <a:cs typeface="Times New Roman"/>
              </a:rPr>
              <a:t>modality</a:t>
            </a:r>
            <a:r>
              <a:rPr dirty="0" sz="1000" spc="75">
                <a:latin typeface="Times New Roman"/>
                <a:cs typeface="Times New Roman"/>
              </a:rPr>
              <a:t> </a:t>
            </a:r>
            <a:r>
              <a:rPr dirty="0" sz="1000" spc="20">
                <a:latin typeface="Times New Roman"/>
                <a:cs typeface="Times New Roman"/>
              </a:rPr>
              <a:t>fusion</a:t>
            </a:r>
            <a:r>
              <a:rPr dirty="0" sz="1000" spc="75">
                <a:latin typeface="Times New Roman"/>
                <a:cs typeface="Times New Roman"/>
              </a:rPr>
              <a:t> </a:t>
            </a:r>
            <a:r>
              <a:rPr dirty="0" sz="1000" spc="20">
                <a:latin typeface="Times New Roman"/>
                <a:cs typeface="Times New Roman"/>
              </a:rPr>
              <a:t>module,</a:t>
            </a:r>
            <a:r>
              <a:rPr dirty="0" sz="1000" spc="85">
                <a:latin typeface="Times New Roman"/>
                <a:cs typeface="Times New Roman"/>
              </a:rPr>
              <a:t> </a:t>
            </a:r>
            <a:r>
              <a:rPr dirty="0" sz="1000" spc="20">
                <a:latin typeface="Times New Roman"/>
                <a:cs typeface="Times New Roman"/>
              </a:rPr>
              <a:t>ensuring</a:t>
            </a:r>
            <a:r>
              <a:rPr dirty="0" sz="1000" spc="70">
                <a:latin typeface="Times New Roman"/>
                <a:cs typeface="Times New Roman"/>
              </a:rPr>
              <a:t> </a:t>
            </a:r>
            <a:r>
              <a:rPr dirty="0" sz="1000" spc="20">
                <a:latin typeface="Times New Roman"/>
                <a:cs typeface="Times New Roman"/>
              </a:rPr>
              <a:t>independent</a:t>
            </a:r>
            <a:r>
              <a:rPr dirty="0" sz="1000" spc="75">
                <a:latin typeface="Times New Roman"/>
                <a:cs typeface="Times New Roman"/>
              </a:rPr>
              <a:t> </a:t>
            </a:r>
            <a:r>
              <a:rPr dirty="0" sz="1000" spc="20">
                <a:latin typeface="Times New Roman"/>
                <a:cs typeface="Times New Roman"/>
              </a:rPr>
              <a:t>optimization</a:t>
            </a:r>
            <a:r>
              <a:rPr dirty="0" sz="1000" spc="70">
                <a:latin typeface="Times New Roman"/>
                <a:cs typeface="Times New Roman"/>
              </a:rPr>
              <a:t> </a:t>
            </a:r>
            <a:r>
              <a:rPr dirty="0" sz="1000" spc="20">
                <a:latin typeface="Times New Roman"/>
                <a:cs typeface="Times New Roman"/>
              </a:rPr>
              <a:t>of</a:t>
            </a:r>
            <a:r>
              <a:rPr dirty="0" sz="1000" spc="75">
                <a:latin typeface="Times New Roman"/>
                <a:cs typeface="Times New Roman"/>
              </a:rPr>
              <a:t> </a:t>
            </a:r>
            <a:r>
              <a:rPr dirty="0" sz="1000" spc="20">
                <a:latin typeface="Times New Roman"/>
                <a:cs typeface="Times New Roman"/>
              </a:rPr>
              <a:t>the</a:t>
            </a:r>
            <a:r>
              <a:rPr dirty="0" sz="1000" spc="75">
                <a:latin typeface="Times New Roman"/>
                <a:cs typeface="Times New Roman"/>
              </a:rPr>
              <a:t> </a:t>
            </a:r>
            <a:r>
              <a:rPr dirty="0" sz="1000" spc="-10">
                <a:latin typeface="Times New Roman"/>
                <a:cs typeface="Times New Roman"/>
              </a:rPr>
              <a:t>modality </a:t>
            </a:r>
            <a:r>
              <a:rPr dirty="0" sz="1000">
                <a:latin typeface="Times New Roman"/>
                <a:cs typeface="Times New Roman"/>
              </a:rPr>
              <a:t>encoder</a:t>
            </a:r>
            <a:r>
              <a:rPr dirty="0" sz="1000" spc="110">
                <a:latin typeface="Times New Roman"/>
                <a:cs typeface="Times New Roman"/>
              </a:rPr>
              <a:t> </a:t>
            </a:r>
            <a:r>
              <a:rPr dirty="0" sz="1000">
                <a:latin typeface="Times New Roman"/>
                <a:cs typeface="Times New Roman"/>
              </a:rPr>
              <a:t>and</a:t>
            </a:r>
            <a:r>
              <a:rPr dirty="0" sz="1000" spc="110">
                <a:latin typeface="Times New Roman"/>
                <a:cs typeface="Times New Roman"/>
              </a:rPr>
              <a:t> </a:t>
            </a:r>
            <a:r>
              <a:rPr dirty="0" sz="1000">
                <a:latin typeface="Times New Roman"/>
                <a:cs typeface="Times New Roman"/>
              </a:rPr>
              <a:t>fusion</a:t>
            </a:r>
            <a:r>
              <a:rPr dirty="0" sz="1000" spc="120">
                <a:latin typeface="Times New Roman"/>
                <a:cs typeface="Times New Roman"/>
              </a:rPr>
              <a:t> </a:t>
            </a:r>
            <a:r>
              <a:rPr dirty="0" sz="1000">
                <a:latin typeface="Times New Roman"/>
                <a:cs typeface="Times New Roman"/>
              </a:rPr>
              <a:t>module.</a:t>
            </a:r>
            <a:r>
              <a:rPr dirty="0" sz="1000" spc="250">
                <a:latin typeface="Times New Roman"/>
                <a:cs typeface="Times New Roman"/>
              </a:rPr>
              <a:t> </a:t>
            </a:r>
            <a:r>
              <a:rPr dirty="0" sz="1000">
                <a:latin typeface="Times New Roman"/>
                <a:cs typeface="Times New Roman"/>
              </a:rPr>
              <a:t>Extensive</a:t>
            </a:r>
            <a:r>
              <a:rPr dirty="0" sz="1000" spc="114">
                <a:latin typeface="Times New Roman"/>
                <a:cs typeface="Times New Roman"/>
              </a:rPr>
              <a:t> </a:t>
            </a:r>
            <a:r>
              <a:rPr dirty="0" sz="1000">
                <a:latin typeface="Times New Roman"/>
                <a:cs typeface="Times New Roman"/>
              </a:rPr>
              <a:t>experiments</a:t>
            </a:r>
            <a:r>
              <a:rPr dirty="0" sz="1000" spc="110">
                <a:latin typeface="Times New Roman"/>
                <a:cs typeface="Times New Roman"/>
              </a:rPr>
              <a:t> </a:t>
            </a:r>
            <a:r>
              <a:rPr dirty="0" sz="1000">
                <a:latin typeface="Times New Roman"/>
                <a:cs typeface="Times New Roman"/>
              </a:rPr>
              <a:t>show</a:t>
            </a:r>
            <a:r>
              <a:rPr dirty="0" sz="1000" spc="120">
                <a:latin typeface="Times New Roman"/>
                <a:cs typeface="Times New Roman"/>
              </a:rPr>
              <a:t> </a:t>
            </a:r>
            <a:r>
              <a:rPr dirty="0" sz="1000">
                <a:latin typeface="Times New Roman"/>
                <a:cs typeface="Times New Roman"/>
              </a:rPr>
              <a:t>that</a:t>
            </a:r>
            <a:r>
              <a:rPr dirty="0" sz="1000" spc="110">
                <a:latin typeface="Times New Roman"/>
                <a:cs typeface="Times New Roman"/>
              </a:rPr>
              <a:t> </a:t>
            </a:r>
            <a:r>
              <a:rPr dirty="0" sz="1000" spc="-10">
                <a:latin typeface="Times New Roman"/>
                <a:cs typeface="Times New Roman"/>
              </a:rPr>
              <a:t>DGL</a:t>
            </a:r>
            <a:r>
              <a:rPr dirty="0" sz="1000" spc="120">
                <a:latin typeface="Times New Roman"/>
                <a:cs typeface="Times New Roman"/>
              </a:rPr>
              <a:t> </a:t>
            </a:r>
            <a:r>
              <a:rPr dirty="0" sz="1000">
                <a:latin typeface="Times New Roman"/>
                <a:cs typeface="Times New Roman"/>
              </a:rPr>
              <a:t>can</a:t>
            </a:r>
            <a:r>
              <a:rPr dirty="0" sz="1000" spc="110">
                <a:latin typeface="Times New Roman"/>
                <a:cs typeface="Times New Roman"/>
              </a:rPr>
              <a:t> </a:t>
            </a:r>
            <a:r>
              <a:rPr dirty="0" sz="1000">
                <a:latin typeface="Times New Roman"/>
                <a:cs typeface="Times New Roman"/>
              </a:rPr>
              <a:t>achieve</a:t>
            </a:r>
            <a:r>
              <a:rPr dirty="0" sz="1000" spc="114">
                <a:latin typeface="Times New Roman"/>
                <a:cs typeface="Times New Roman"/>
              </a:rPr>
              <a:t> </a:t>
            </a:r>
            <a:r>
              <a:rPr dirty="0" sz="1000">
                <a:latin typeface="Times New Roman"/>
                <a:cs typeface="Times New Roman"/>
              </a:rPr>
              <a:t>consistent</a:t>
            </a:r>
            <a:r>
              <a:rPr dirty="0" sz="1000" spc="110">
                <a:latin typeface="Times New Roman"/>
                <a:cs typeface="Times New Roman"/>
              </a:rPr>
              <a:t> </a:t>
            </a:r>
            <a:r>
              <a:rPr dirty="0" sz="1000">
                <a:latin typeface="Times New Roman"/>
                <a:cs typeface="Times New Roman"/>
              </a:rPr>
              <a:t>performance</a:t>
            </a:r>
            <a:r>
              <a:rPr dirty="0" sz="1000" spc="110">
                <a:latin typeface="Times New Roman"/>
                <a:cs typeface="Times New Roman"/>
              </a:rPr>
              <a:t> </a:t>
            </a:r>
            <a:r>
              <a:rPr dirty="0" sz="1000" spc="-20">
                <a:latin typeface="Times New Roman"/>
                <a:cs typeface="Times New Roman"/>
              </a:rPr>
              <a:t>gain </a:t>
            </a:r>
            <a:r>
              <a:rPr dirty="0" sz="1000" spc="10">
                <a:latin typeface="Times New Roman"/>
                <a:cs typeface="Times New Roman"/>
              </a:rPr>
              <a:t>on</a:t>
            </a:r>
            <a:r>
              <a:rPr dirty="0" sz="1000" spc="80">
                <a:latin typeface="Times New Roman"/>
                <a:cs typeface="Times New Roman"/>
              </a:rPr>
              <a:t> </a:t>
            </a:r>
            <a:r>
              <a:rPr dirty="0" sz="1000" spc="10">
                <a:latin typeface="Times New Roman"/>
                <a:cs typeface="Times New Roman"/>
              </a:rPr>
              <a:t>multimodal</a:t>
            </a:r>
            <a:r>
              <a:rPr dirty="0" sz="1000" spc="80">
                <a:latin typeface="Times New Roman"/>
                <a:cs typeface="Times New Roman"/>
              </a:rPr>
              <a:t> </a:t>
            </a:r>
            <a:r>
              <a:rPr dirty="0" sz="1000" spc="10">
                <a:latin typeface="Times New Roman"/>
                <a:cs typeface="Times New Roman"/>
              </a:rPr>
              <a:t>classification</a:t>
            </a:r>
            <a:r>
              <a:rPr dirty="0" sz="1000" spc="85">
                <a:latin typeface="Times New Roman"/>
                <a:cs typeface="Times New Roman"/>
              </a:rPr>
              <a:t> </a:t>
            </a:r>
            <a:r>
              <a:rPr dirty="0" sz="1000" spc="10">
                <a:latin typeface="Times New Roman"/>
                <a:cs typeface="Times New Roman"/>
              </a:rPr>
              <a:t>and</a:t>
            </a:r>
            <a:r>
              <a:rPr dirty="0" sz="1000" spc="80">
                <a:latin typeface="Times New Roman"/>
                <a:cs typeface="Times New Roman"/>
              </a:rPr>
              <a:t> </a:t>
            </a:r>
            <a:r>
              <a:rPr dirty="0" sz="1000" spc="10">
                <a:latin typeface="Times New Roman"/>
                <a:cs typeface="Times New Roman"/>
              </a:rPr>
              <a:t>segmentation</a:t>
            </a:r>
            <a:r>
              <a:rPr dirty="0" sz="1000" spc="80">
                <a:latin typeface="Times New Roman"/>
                <a:cs typeface="Times New Roman"/>
              </a:rPr>
              <a:t> </a:t>
            </a:r>
            <a:r>
              <a:rPr dirty="0" sz="1000" spc="10">
                <a:latin typeface="Times New Roman"/>
                <a:cs typeface="Times New Roman"/>
              </a:rPr>
              <a:t>tasks</a:t>
            </a:r>
            <a:r>
              <a:rPr dirty="0" sz="1000" spc="85">
                <a:latin typeface="Times New Roman"/>
                <a:cs typeface="Times New Roman"/>
              </a:rPr>
              <a:t> </a:t>
            </a:r>
            <a:r>
              <a:rPr dirty="0" sz="1000" spc="10">
                <a:latin typeface="Times New Roman"/>
                <a:cs typeface="Times New Roman"/>
              </a:rPr>
              <a:t>with</a:t>
            </a:r>
            <a:r>
              <a:rPr dirty="0" sz="1000" spc="80">
                <a:latin typeface="Times New Roman"/>
                <a:cs typeface="Times New Roman"/>
              </a:rPr>
              <a:t> </a:t>
            </a:r>
            <a:r>
              <a:rPr dirty="0" sz="1000" spc="10">
                <a:latin typeface="Times New Roman"/>
                <a:cs typeface="Times New Roman"/>
              </a:rPr>
              <a:t>different</a:t>
            </a:r>
            <a:r>
              <a:rPr dirty="0" sz="1000" spc="80">
                <a:latin typeface="Times New Roman"/>
                <a:cs typeface="Times New Roman"/>
              </a:rPr>
              <a:t> </a:t>
            </a:r>
            <a:r>
              <a:rPr dirty="0" sz="1000" spc="10">
                <a:latin typeface="Times New Roman"/>
                <a:cs typeface="Times New Roman"/>
              </a:rPr>
              <a:t>model</a:t>
            </a:r>
            <a:r>
              <a:rPr dirty="0" sz="1000" spc="85">
                <a:latin typeface="Times New Roman"/>
                <a:cs typeface="Times New Roman"/>
              </a:rPr>
              <a:t> </a:t>
            </a:r>
            <a:r>
              <a:rPr dirty="0" sz="1000" spc="10">
                <a:latin typeface="Times New Roman"/>
                <a:cs typeface="Times New Roman"/>
              </a:rPr>
              <a:t>structures</a:t>
            </a:r>
            <a:r>
              <a:rPr dirty="0" sz="1000" spc="80">
                <a:latin typeface="Times New Roman"/>
                <a:cs typeface="Times New Roman"/>
              </a:rPr>
              <a:t> </a:t>
            </a:r>
            <a:r>
              <a:rPr dirty="0" sz="1000" spc="10">
                <a:latin typeface="Times New Roman"/>
                <a:cs typeface="Times New Roman"/>
              </a:rPr>
              <a:t>and</a:t>
            </a:r>
            <a:r>
              <a:rPr dirty="0" sz="1000" spc="80">
                <a:latin typeface="Times New Roman"/>
                <a:cs typeface="Times New Roman"/>
              </a:rPr>
              <a:t> </a:t>
            </a:r>
            <a:r>
              <a:rPr dirty="0" sz="1000" spc="10">
                <a:latin typeface="Times New Roman"/>
                <a:cs typeface="Times New Roman"/>
              </a:rPr>
              <a:t>fusion</a:t>
            </a:r>
            <a:r>
              <a:rPr dirty="0" sz="1000" spc="85">
                <a:latin typeface="Times New Roman"/>
                <a:cs typeface="Times New Roman"/>
              </a:rPr>
              <a:t> </a:t>
            </a:r>
            <a:r>
              <a:rPr dirty="0" sz="1000" spc="-10">
                <a:latin typeface="Times New Roman"/>
                <a:cs typeface="Times New Roman"/>
              </a:rPr>
              <a:t>methods.</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382905" marR="302895">
              <a:lnSpc>
                <a:spcPct val="129500"/>
              </a:lnSpc>
              <a:spcBef>
                <a:spcPts val="5"/>
              </a:spcBef>
            </a:pPr>
            <a:r>
              <a:rPr dirty="0" sz="1000" spc="-45">
                <a:latin typeface="SimSun"/>
                <a:cs typeface="SimSun"/>
              </a:rPr>
              <a:t>在本研究中，我们揭示了多模态模型中模态编码器与模态融合模块之间的优化冲突。跨模态交互会抑</a:t>
            </a:r>
            <a:r>
              <a:rPr dirty="0" sz="1000" spc="-10">
                <a:latin typeface="SimSun"/>
                <a:cs typeface="SimSun"/>
              </a:rPr>
              <a:t>制反向传播到每个模态编码器的梯度，并限制它们的优化，包括主导模态。为了解决这个问题，我</a:t>
            </a:r>
            <a:r>
              <a:rPr dirty="0" sz="1000" spc="45">
                <a:latin typeface="SimSun"/>
                <a:cs typeface="SimSun"/>
              </a:rPr>
              <a:t>们引入了</a:t>
            </a:r>
            <a:r>
              <a:rPr dirty="0" sz="1000" spc="-15">
                <a:latin typeface="Times New Roman"/>
                <a:cs typeface="Times New Roman"/>
              </a:rPr>
              <a:t>DGL</a:t>
            </a:r>
            <a:r>
              <a:rPr dirty="0" sz="1000" spc="-25">
                <a:latin typeface="Times New Roman"/>
                <a:cs typeface="Times New Roman"/>
              </a:rPr>
              <a:t> </a:t>
            </a:r>
            <a:r>
              <a:rPr dirty="0" sz="1000" spc="-20">
                <a:latin typeface="SimSun"/>
                <a:cs typeface="SimSun"/>
              </a:rPr>
              <a:t>来解耦模态编码器和模态融合模块的优化。首先，</a:t>
            </a:r>
            <a:r>
              <a:rPr dirty="0" sz="1000" spc="-25">
                <a:latin typeface="Times New Roman"/>
                <a:cs typeface="Times New Roman"/>
              </a:rPr>
              <a:t>DGL </a:t>
            </a:r>
            <a:r>
              <a:rPr dirty="0" sz="1000" spc="-10">
                <a:latin typeface="SimSun"/>
                <a:cs typeface="SimSun"/>
              </a:rPr>
              <a:t>通过截断从多模态损失到模态</a:t>
            </a:r>
            <a:r>
              <a:rPr dirty="0" sz="1000" spc="-15">
                <a:latin typeface="SimSun"/>
                <a:cs typeface="SimSun"/>
              </a:rPr>
              <a:t>编码器的梯度并用单模态损失的梯度代替它来消除梯度抑制。此外，</a:t>
            </a:r>
            <a:r>
              <a:rPr dirty="0" sz="1000" spc="-15">
                <a:latin typeface="Times New Roman"/>
                <a:cs typeface="Times New Roman"/>
              </a:rPr>
              <a:t>DGL</a:t>
            </a:r>
            <a:r>
              <a:rPr dirty="0" sz="1000" spc="15">
                <a:latin typeface="Times New Roman"/>
                <a:cs typeface="Times New Roman"/>
              </a:rPr>
              <a:t> </a:t>
            </a:r>
            <a:r>
              <a:rPr dirty="0" sz="1000" spc="-10">
                <a:latin typeface="SimSun"/>
                <a:cs typeface="SimSun"/>
              </a:rPr>
              <a:t>阻止从单模态损失到模态</a:t>
            </a:r>
            <a:r>
              <a:rPr dirty="0" sz="1000" spc="-50">
                <a:latin typeface="SimSun"/>
                <a:cs typeface="SimSun"/>
              </a:rPr>
              <a:t>融合模块的梯度，确保模态编码器和融合模块的独立优化。大量实验表明，</a:t>
            </a:r>
            <a:r>
              <a:rPr dirty="0" sz="1000" spc="-65">
                <a:latin typeface="Times New Roman"/>
                <a:cs typeface="Times New Roman"/>
              </a:rPr>
              <a:t>DGL</a:t>
            </a:r>
            <a:r>
              <a:rPr dirty="0" sz="1000" spc="-40">
                <a:latin typeface="Times New Roman"/>
                <a:cs typeface="Times New Roman"/>
              </a:rPr>
              <a:t> </a:t>
            </a:r>
            <a:r>
              <a:rPr dirty="0" sz="1000" spc="-10">
                <a:latin typeface="SimSun"/>
                <a:cs typeface="SimSun"/>
              </a:rPr>
              <a:t>可以在具有不同模型结构和融合方法的多模态分类和分割任务上实现一致的性能提升。</a:t>
            </a:r>
            <a:endParaRPr sz="1000">
              <a:latin typeface="SimSun"/>
              <a:cs typeface="SimSun"/>
            </a:endParaRPr>
          </a:p>
        </p:txBody>
      </p:sp>
      <p:sp>
        <p:nvSpPr>
          <p:cNvPr id="16" name="object 16"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182934"/>
            <a:ext cx="5760085" cy="387350"/>
            <a:chOff x="899998" y="1182934"/>
            <a:chExt cx="5760085" cy="387350"/>
          </a:xfrm>
        </p:grpSpPr>
        <p:sp>
          <p:nvSpPr>
            <p:cNvPr id="3" name="object 3" descr=""/>
            <p:cNvSpPr/>
            <p:nvPr/>
          </p:nvSpPr>
          <p:spPr>
            <a:xfrm>
              <a:off x="899998" y="1182934"/>
              <a:ext cx="5760085" cy="387350"/>
            </a:xfrm>
            <a:custGeom>
              <a:avLst/>
              <a:gdLst/>
              <a:ahLst/>
              <a:cxnLst/>
              <a:rect l="l" t="t" r="r" b="b"/>
              <a:pathLst>
                <a:path w="5760084" h="387350">
                  <a:moveTo>
                    <a:pt x="5724074" y="0"/>
                  </a:moveTo>
                  <a:lnTo>
                    <a:pt x="36000" y="0"/>
                  </a:lnTo>
                  <a:lnTo>
                    <a:pt x="21987" y="2829"/>
                  </a:lnTo>
                  <a:lnTo>
                    <a:pt x="10544" y="10544"/>
                  </a:lnTo>
                  <a:lnTo>
                    <a:pt x="2829" y="21987"/>
                  </a:lnTo>
                  <a:lnTo>
                    <a:pt x="0" y="36000"/>
                  </a:lnTo>
                  <a:lnTo>
                    <a:pt x="0" y="351268"/>
                  </a:lnTo>
                  <a:lnTo>
                    <a:pt x="2829" y="365281"/>
                  </a:lnTo>
                  <a:lnTo>
                    <a:pt x="10544" y="376724"/>
                  </a:lnTo>
                  <a:lnTo>
                    <a:pt x="21987" y="384439"/>
                  </a:lnTo>
                  <a:lnTo>
                    <a:pt x="36000" y="387268"/>
                  </a:lnTo>
                  <a:lnTo>
                    <a:pt x="5724074" y="387268"/>
                  </a:lnTo>
                  <a:lnTo>
                    <a:pt x="5738087" y="384439"/>
                  </a:lnTo>
                  <a:lnTo>
                    <a:pt x="5749530" y="376724"/>
                  </a:lnTo>
                  <a:lnTo>
                    <a:pt x="5757245" y="365281"/>
                  </a:lnTo>
                  <a:lnTo>
                    <a:pt x="5760074" y="35126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182934"/>
              <a:ext cx="5760085" cy="387350"/>
            </a:xfrm>
            <a:custGeom>
              <a:avLst/>
              <a:gdLst/>
              <a:ahLst/>
              <a:cxnLst/>
              <a:rect l="l" t="t" r="r" b="b"/>
              <a:pathLst>
                <a:path w="5760084" h="387350">
                  <a:moveTo>
                    <a:pt x="5724074" y="0"/>
                  </a:moveTo>
                  <a:lnTo>
                    <a:pt x="36000" y="0"/>
                  </a:lnTo>
                  <a:lnTo>
                    <a:pt x="21987" y="2829"/>
                  </a:lnTo>
                  <a:lnTo>
                    <a:pt x="10544" y="10544"/>
                  </a:lnTo>
                  <a:lnTo>
                    <a:pt x="2829" y="21987"/>
                  </a:lnTo>
                  <a:lnTo>
                    <a:pt x="0" y="36000"/>
                  </a:lnTo>
                  <a:lnTo>
                    <a:pt x="0" y="351268"/>
                  </a:lnTo>
                  <a:lnTo>
                    <a:pt x="2829" y="365281"/>
                  </a:lnTo>
                  <a:lnTo>
                    <a:pt x="10544" y="376724"/>
                  </a:lnTo>
                  <a:lnTo>
                    <a:pt x="21987" y="384439"/>
                  </a:lnTo>
                  <a:lnTo>
                    <a:pt x="36000" y="387268"/>
                  </a:lnTo>
                  <a:lnTo>
                    <a:pt x="5724074" y="387268"/>
                  </a:lnTo>
                  <a:lnTo>
                    <a:pt x="5738087" y="384439"/>
                  </a:lnTo>
                  <a:lnTo>
                    <a:pt x="5749530" y="376724"/>
                  </a:lnTo>
                  <a:lnTo>
                    <a:pt x="5757245" y="365281"/>
                  </a:lnTo>
                  <a:lnTo>
                    <a:pt x="5760074" y="35126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359711"/>
            <a:ext cx="5760085" cy="542925"/>
            <a:chOff x="899998" y="2359711"/>
            <a:chExt cx="5760085" cy="542925"/>
          </a:xfrm>
        </p:grpSpPr>
        <p:sp>
          <p:nvSpPr>
            <p:cNvPr id="6" name="object 6" descr=""/>
            <p:cNvSpPr/>
            <p:nvPr/>
          </p:nvSpPr>
          <p:spPr>
            <a:xfrm>
              <a:off x="899998" y="2359711"/>
              <a:ext cx="5760085" cy="542925"/>
            </a:xfrm>
            <a:custGeom>
              <a:avLst/>
              <a:gdLst/>
              <a:ahLst/>
              <a:cxnLst/>
              <a:rect l="l" t="t" r="r" b="b"/>
              <a:pathLst>
                <a:path w="5760084" h="542925">
                  <a:moveTo>
                    <a:pt x="5724074" y="0"/>
                  </a:moveTo>
                  <a:lnTo>
                    <a:pt x="36000" y="0"/>
                  </a:lnTo>
                  <a:lnTo>
                    <a:pt x="21987" y="2829"/>
                  </a:lnTo>
                  <a:lnTo>
                    <a:pt x="10544" y="10544"/>
                  </a:lnTo>
                  <a:lnTo>
                    <a:pt x="2829" y="21987"/>
                  </a:lnTo>
                  <a:lnTo>
                    <a:pt x="0" y="36000"/>
                  </a:lnTo>
                  <a:lnTo>
                    <a:pt x="0" y="506695"/>
                  </a:lnTo>
                  <a:lnTo>
                    <a:pt x="2829" y="520708"/>
                  </a:lnTo>
                  <a:lnTo>
                    <a:pt x="10544" y="532151"/>
                  </a:lnTo>
                  <a:lnTo>
                    <a:pt x="21987" y="539866"/>
                  </a:lnTo>
                  <a:lnTo>
                    <a:pt x="36000" y="542695"/>
                  </a:lnTo>
                  <a:lnTo>
                    <a:pt x="5724074" y="542695"/>
                  </a:lnTo>
                  <a:lnTo>
                    <a:pt x="5738087" y="539866"/>
                  </a:lnTo>
                  <a:lnTo>
                    <a:pt x="5749530" y="532151"/>
                  </a:lnTo>
                  <a:lnTo>
                    <a:pt x="5757245" y="520708"/>
                  </a:lnTo>
                  <a:lnTo>
                    <a:pt x="5760074" y="50669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359711"/>
              <a:ext cx="5760085" cy="542925"/>
            </a:xfrm>
            <a:custGeom>
              <a:avLst/>
              <a:gdLst/>
              <a:ahLst/>
              <a:cxnLst/>
              <a:rect l="l" t="t" r="r" b="b"/>
              <a:pathLst>
                <a:path w="5760084" h="542925">
                  <a:moveTo>
                    <a:pt x="5724074" y="0"/>
                  </a:moveTo>
                  <a:lnTo>
                    <a:pt x="36000" y="0"/>
                  </a:lnTo>
                  <a:lnTo>
                    <a:pt x="21987" y="2829"/>
                  </a:lnTo>
                  <a:lnTo>
                    <a:pt x="10544" y="10544"/>
                  </a:lnTo>
                  <a:lnTo>
                    <a:pt x="2829" y="21987"/>
                  </a:lnTo>
                  <a:lnTo>
                    <a:pt x="0" y="36000"/>
                  </a:lnTo>
                  <a:lnTo>
                    <a:pt x="0" y="506695"/>
                  </a:lnTo>
                  <a:lnTo>
                    <a:pt x="2829" y="520708"/>
                  </a:lnTo>
                  <a:lnTo>
                    <a:pt x="10544" y="532151"/>
                  </a:lnTo>
                  <a:lnTo>
                    <a:pt x="21987" y="539866"/>
                  </a:lnTo>
                  <a:lnTo>
                    <a:pt x="36000" y="542695"/>
                  </a:lnTo>
                  <a:lnTo>
                    <a:pt x="5724074" y="542695"/>
                  </a:lnTo>
                  <a:lnTo>
                    <a:pt x="5738087" y="539866"/>
                  </a:lnTo>
                  <a:lnTo>
                    <a:pt x="5749530" y="532151"/>
                  </a:lnTo>
                  <a:lnTo>
                    <a:pt x="5757245" y="520708"/>
                  </a:lnTo>
                  <a:lnTo>
                    <a:pt x="5760074" y="50669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3494542"/>
            <a:ext cx="5760085" cy="545465"/>
            <a:chOff x="899998" y="3494542"/>
            <a:chExt cx="5760085" cy="545465"/>
          </a:xfrm>
        </p:grpSpPr>
        <p:sp>
          <p:nvSpPr>
            <p:cNvPr id="9" name="object 9" descr=""/>
            <p:cNvSpPr/>
            <p:nvPr/>
          </p:nvSpPr>
          <p:spPr>
            <a:xfrm>
              <a:off x="899998" y="3494542"/>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3494542"/>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4829408"/>
            <a:ext cx="5760085" cy="714375"/>
            <a:chOff x="899998" y="4829408"/>
            <a:chExt cx="5760085" cy="714375"/>
          </a:xfrm>
        </p:grpSpPr>
        <p:sp>
          <p:nvSpPr>
            <p:cNvPr id="12" name="object 12" descr=""/>
            <p:cNvSpPr/>
            <p:nvPr/>
          </p:nvSpPr>
          <p:spPr>
            <a:xfrm>
              <a:off x="899998" y="4829408"/>
              <a:ext cx="5760085" cy="714375"/>
            </a:xfrm>
            <a:custGeom>
              <a:avLst/>
              <a:gdLst/>
              <a:ahLst/>
              <a:cxnLst/>
              <a:rect l="l" t="t" r="r" b="b"/>
              <a:pathLst>
                <a:path w="5760084" h="714375">
                  <a:moveTo>
                    <a:pt x="5724074" y="0"/>
                  </a:moveTo>
                  <a:lnTo>
                    <a:pt x="36000" y="0"/>
                  </a:lnTo>
                  <a:lnTo>
                    <a:pt x="21987" y="2829"/>
                  </a:lnTo>
                  <a:lnTo>
                    <a:pt x="10544" y="10544"/>
                  </a:lnTo>
                  <a:lnTo>
                    <a:pt x="2829" y="21987"/>
                  </a:lnTo>
                  <a:lnTo>
                    <a:pt x="0" y="36000"/>
                  </a:lnTo>
                  <a:lnTo>
                    <a:pt x="0" y="677760"/>
                  </a:lnTo>
                  <a:lnTo>
                    <a:pt x="2829" y="691773"/>
                  </a:lnTo>
                  <a:lnTo>
                    <a:pt x="10544" y="703216"/>
                  </a:lnTo>
                  <a:lnTo>
                    <a:pt x="21987" y="710931"/>
                  </a:lnTo>
                  <a:lnTo>
                    <a:pt x="36000" y="713760"/>
                  </a:lnTo>
                  <a:lnTo>
                    <a:pt x="5724074" y="713760"/>
                  </a:lnTo>
                  <a:lnTo>
                    <a:pt x="5738087" y="710931"/>
                  </a:lnTo>
                  <a:lnTo>
                    <a:pt x="5749530" y="703216"/>
                  </a:lnTo>
                  <a:lnTo>
                    <a:pt x="5757245" y="691773"/>
                  </a:lnTo>
                  <a:lnTo>
                    <a:pt x="5760074" y="677760"/>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4829408"/>
              <a:ext cx="5760085" cy="714375"/>
            </a:xfrm>
            <a:custGeom>
              <a:avLst/>
              <a:gdLst/>
              <a:ahLst/>
              <a:cxnLst/>
              <a:rect l="l" t="t" r="r" b="b"/>
              <a:pathLst>
                <a:path w="5760084" h="714375">
                  <a:moveTo>
                    <a:pt x="5724074" y="0"/>
                  </a:moveTo>
                  <a:lnTo>
                    <a:pt x="36000" y="0"/>
                  </a:lnTo>
                  <a:lnTo>
                    <a:pt x="21987" y="2829"/>
                  </a:lnTo>
                  <a:lnTo>
                    <a:pt x="10544" y="10544"/>
                  </a:lnTo>
                  <a:lnTo>
                    <a:pt x="2829" y="21987"/>
                  </a:lnTo>
                  <a:lnTo>
                    <a:pt x="0" y="36000"/>
                  </a:lnTo>
                  <a:lnTo>
                    <a:pt x="0" y="677760"/>
                  </a:lnTo>
                  <a:lnTo>
                    <a:pt x="2829" y="691773"/>
                  </a:lnTo>
                  <a:lnTo>
                    <a:pt x="10544" y="703216"/>
                  </a:lnTo>
                  <a:lnTo>
                    <a:pt x="21987" y="710931"/>
                  </a:lnTo>
                  <a:lnTo>
                    <a:pt x="36000" y="713760"/>
                  </a:lnTo>
                  <a:lnTo>
                    <a:pt x="5724074" y="713760"/>
                  </a:lnTo>
                  <a:lnTo>
                    <a:pt x="5738087" y="710931"/>
                  </a:lnTo>
                  <a:lnTo>
                    <a:pt x="5749530" y="703216"/>
                  </a:lnTo>
                  <a:lnTo>
                    <a:pt x="5757245" y="691773"/>
                  </a:lnTo>
                  <a:lnTo>
                    <a:pt x="5760074" y="677760"/>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6332685"/>
            <a:ext cx="5760085" cy="728345"/>
            <a:chOff x="899998" y="6332685"/>
            <a:chExt cx="5760085" cy="728345"/>
          </a:xfrm>
        </p:grpSpPr>
        <p:sp>
          <p:nvSpPr>
            <p:cNvPr id="15" name="object 15" descr=""/>
            <p:cNvSpPr/>
            <p:nvPr/>
          </p:nvSpPr>
          <p:spPr>
            <a:xfrm>
              <a:off x="899998" y="6332685"/>
              <a:ext cx="5760085" cy="728345"/>
            </a:xfrm>
            <a:custGeom>
              <a:avLst/>
              <a:gdLst/>
              <a:ahLst/>
              <a:cxnLst/>
              <a:rect l="l" t="t" r="r" b="b"/>
              <a:pathLst>
                <a:path w="5760084" h="728345">
                  <a:moveTo>
                    <a:pt x="5724074" y="0"/>
                  </a:moveTo>
                  <a:lnTo>
                    <a:pt x="36000" y="0"/>
                  </a:lnTo>
                  <a:lnTo>
                    <a:pt x="21987" y="2829"/>
                  </a:lnTo>
                  <a:lnTo>
                    <a:pt x="10544" y="10544"/>
                  </a:lnTo>
                  <a:lnTo>
                    <a:pt x="2829" y="21987"/>
                  </a:lnTo>
                  <a:lnTo>
                    <a:pt x="0" y="36000"/>
                  </a:lnTo>
                  <a:lnTo>
                    <a:pt x="0" y="692184"/>
                  </a:lnTo>
                  <a:lnTo>
                    <a:pt x="2829" y="706197"/>
                  </a:lnTo>
                  <a:lnTo>
                    <a:pt x="10544" y="717640"/>
                  </a:lnTo>
                  <a:lnTo>
                    <a:pt x="21987" y="725355"/>
                  </a:lnTo>
                  <a:lnTo>
                    <a:pt x="36000" y="728184"/>
                  </a:lnTo>
                  <a:lnTo>
                    <a:pt x="5724074" y="728184"/>
                  </a:lnTo>
                  <a:lnTo>
                    <a:pt x="5738087" y="725355"/>
                  </a:lnTo>
                  <a:lnTo>
                    <a:pt x="5749530" y="717640"/>
                  </a:lnTo>
                  <a:lnTo>
                    <a:pt x="5757245" y="706197"/>
                  </a:lnTo>
                  <a:lnTo>
                    <a:pt x="5760074" y="692184"/>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6332685"/>
              <a:ext cx="5760085" cy="728345"/>
            </a:xfrm>
            <a:custGeom>
              <a:avLst/>
              <a:gdLst/>
              <a:ahLst/>
              <a:cxnLst/>
              <a:rect l="l" t="t" r="r" b="b"/>
              <a:pathLst>
                <a:path w="5760084" h="728345">
                  <a:moveTo>
                    <a:pt x="5724074" y="0"/>
                  </a:moveTo>
                  <a:lnTo>
                    <a:pt x="36000" y="0"/>
                  </a:lnTo>
                  <a:lnTo>
                    <a:pt x="21987" y="2829"/>
                  </a:lnTo>
                  <a:lnTo>
                    <a:pt x="10544" y="10544"/>
                  </a:lnTo>
                  <a:lnTo>
                    <a:pt x="2829" y="21987"/>
                  </a:lnTo>
                  <a:lnTo>
                    <a:pt x="0" y="36000"/>
                  </a:lnTo>
                  <a:lnTo>
                    <a:pt x="0" y="692184"/>
                  </a:lnTo>
                  <a:lnTo>
                    <a:pt x="2829" y="706197"/>
                  </a:lnTo>
                  <a:lnTo>
                    <a:pt x="10544" y="717640"/>
                  </a:lnTo>
                  <a:lnTo>
                    <a:pt x="21987" y="725355"/>
                  </a:lnTo>
                  <a:lnTo>
                    <a:pt x="36000" y="728184"/>
                  </a:lnTo>
                  <a:lnTo>
                    <a:pt x="5724074" y="728184"/>
                  </a:lnTo>
                  <a:lnTo>
                    <a:pt x="5738087" y="725355"/>
                  </a:lnTo>
                  <a:lnTo>
                    <a:pt x="5749530" y="717640"/>
                  </a:lnTo>
                  <a:lnTo>
                    <a:pt x="5757245" y="706197"/>
                  </a:lnTo>
                  <a:lnTo>
                    <a:pt x="5760074" y="692184"/>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7850382"/>
            <a:ext cx="5760085" cy="727710"/>
            <a:chOff x="899998" y="7850382"/>
            <a:chExt cx="5760085" cy="727710"/>
          </a:xfrm>
        </p:grpSpPr>
        <p:sp>
          <p:nvSpPr>
            <p:cNvPr id="18" name="object 18" descr=""/>
            <p:cNvSpPr/>
            <p:nvPr/>
          </p:nvSpPr>
          <p:spPr>
            <a:xfrm>
              <a:off x="899998" y="7850382"/>
              <a:ext cx="5760085" cy="727710"/>
            </a:xfrm>
            <a:custGeom>
              <a:avLst/>
              <a:gdLst/>
              <a:ahLst/>
              <a:cxnLst/>
              <a:rect l="l" t="t" r="r" b="b"/>
              <a:pathLst>
                <a:path w="5760084" h="727709">
                  <a:moveTo>
                    <a:pt x="5724074" y="0"/>
                  </a:moveTo>
                  <a:lnTo>
                    <a:pt x="36000" y="0"/>
                  </a:lnTo>
                  <a:lnTo>
                    <a:pt x="21987" y="2829"/>
                  </a:lnTo>
                  <a:lnTo>
                    <a:pt x="10544" y="10544"/>
                  </a:lnTo>
                  <a:lnTo>
                    <a:pt x="2829" y="21987"/>
                  </a:lnTo>
                  <a:lnTo>
                    <a:pt x="0" y="36000"/>
                  </a:lnTo>
                  <a:lnTo>
                    <a:pt x="0" y="691172"/>
                  </a:lnTo>
                  <a:lnTo>
                    <a:pt x="2829" y="705185"/>
                  </a:lnTo>
                  <a:lnTo>
                    <a:pt x="10544" y="716628"/>
                  </a:lnTo>
                  <a:lnTo>
                    <a:pt x="21987" y="724343"/>
                  </a:lnTo>
                  <a:lnTo>
                    <a:pt x="36000" y="727172"/>
                  </a:lnTo>
                  <a:lnTo>
                    <a:pt x="5724074" y="727172"/>
                  </a:lnTo>
                  <a:lnTo>
                    <a:pt x="5738087" y="724343"/>
                  </a:lnTo>
                  <a:lnTo>
                    <a:pt x="5749530" y="716628"/>
                  </a:lnTo>
                  <a:lnTo>
                    <a:pt x="5757245" y="705185"/>
                  </a:lnTo>
                  <a:lnTo>
                    <a:pt x="5760074" y="69117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7850382"/>
              <a:ext cx="5760085" cy="727710"/>
            </a:xfrm>
            <a:custGeom>
              <a:avLst/>
              <a:gdLst/>
              <a:ahLst/>
              <a:cxnLst/>
              <a:rect l="l" t="t" r="r" b="b"/>
              <a:pathLst>
                <a:path w="5760084" h="727709">
                  <a:moveTo>
                    <a:pt x="5724074" y="0"/>
                  </a:moveTo>
                  <a:lnTo>
                    <a:pt x="36000" y="0"/>
                  </a:lnTo>
                  <a:lnTo>
                    <a:pt x="21987" y="2829"/>
                  </a:lnTo>
                  <a:lnTo>
                    <a:pt x="10544" y="10544"/>
                  </a:lnTo>
                  <a:lnTo>
                    <a:pt x="2829" y="21987"/>
                  </a:lnTo>
                  <a:lnTo>
                    <a:pt x="0" y="36000"/>
                  </a:lnTo>
                  <a:lnTo>
                    <a:pt x="0" y="691172"/>
                  </a:lnTo>
                  <a:lnTo>
                    <a:pt x="2829" y="705185"/>
                  </a:lnTo>
                  <a:lnTo>
                    <a:pt x="10544" y="716628"/>
                  </a:lnTo>
                  <a:lnTo>
                    <a:pt x="21987" y="724343"/>
                  </a:lnTo>
                  <a:lnTo>
                    <a:pt x="36000" y="727172"/>
                  </a:lnTo>
                  <a:lnTo>
                    <a:pt x="5724074" y="727172"/>
                  </a:lnTo>
                  <a:lnTo>
                    <a:pt x="5738087" y="724343"/>
                  </a:lnTo>
                  <a:lnTo>
                    <a:pt x="5749530" y="716628"/>
                  </a:lnTo>
                  <a:lnTo>
                    <a:pt x="5757245" y="705185"/>
                  </a:lnTo>
                  <a:lnTo>
                    <a:pt x="5760074" y="69117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0" name="object 20" descr=""/>
          <p:cNvSpPr txBox="1"/>
          <p:nvPr/>
        </p:nvSpPr>
        <p:spPr>
          <a:xfrm>
            <a:off x="887298" y="835555"/>
            <a:ext cx="6029325" cy="8411845"/>
          </a:xfrm>
          <a:prstGeom prst="rect">
            <a:avLst/>
          </a:prstGeom>
        </p:spPr>
        <p:txBody>
          <a:bodyPr wrap="square" lIns="0" tIns="17145" rIns="0" bIns="0" rtlCol="0" vert="horz">
            <a:spAutoFit/>
          </a:bodyPr>
          <a:lstStyle/>
          <a:p>
            <a:pPr marL="12700">
              <a:lnSpc>
                <a:spcPct val="100000"/>
              </a:lnSpc>
              <a:spcBef>
                <a:spcPts val="135"/>
              </a:spcBef>
            </a:pPr>
            <a:r>
              <a:rPr dirty="0" sz="1400" spc="-10" b="1">
                <a:latin typeface="Times New Roman"/>
                <a:cs typeface="Times New Roman"/>
              </a:rPr>
              <a:t>References</a:t>
            </a:r>
            <a:endParaRPr sz="1400">
              <a:latin typeface="Times New Roman"/>
              <a:cs typeface="Times New Roman"/>
            </a:endParaRPr>
          </a:p>
          <a:p>
            <a:pPr marL="192405">
              <a:lnSpc>
                <a:spcPct val="100000"/>
              </a:lnSpc>
              <a:spcBef>
                <a:spcPts val="1590"/>
              </a:spcBef>
            </a:pPr>
            <a:r>
              <a:rPr dirty="0" sz="1400" spc="-15" b="1">
                <a:latin typeface="Microsoft JhengHei"/>
                <a:cs typeface="Microsoft JhengHei"/>
              </a:rPr>
              <a:t>参考文献</a:t>
            </a:r>
            <a:endParaRPr sz="1400">
              <a:latin typeface="Microsoft JhengHei"/>
              <a:cs typeface="Microsoft JhengHei"/>
            </a:endParaRPr>
          </a:p>
          <a:p>
            <a:pPr algn="just" marL="12700" marR="244475" indent="252729">
              <a:lnSpc>
                <a:spcPct val="129500"/>
              </a:lnSpc>
              <a:spcBef>
                <a:spcPts val="1210"/>
              </a:spcBef>
            </a:pPr>
            <a:r>
              <a:rPr dirty="0" sz="1000">
                <a:latin typeface="Times New Roman"/>
                <a:cs typeface="Times New Roman"/>
              </a:rPr>
              <a:t>[1]</a:t>
            </a:r>
            <a:r>
              <a:rPr dirty="0" sz="1000" spc="45">
                <a:latin typeface="Times New Roman"/>
                <a:cs typeface="Times New Roman"/>
              </a:rPr>
              <a:t> </a:t>
            </a:r>
            <a:r>
              <a:rPr dirty="0" sz="1000">
                <a:latin typeface="Times New Roman"/>
                <a:cs typeface="Times New Roman"/>
              </a:rPr>
              <a:t>Triantafyllos</a:t>
            </a:r>
            <a:r>
              <a:rPr dirty="0" sz="1000" spc="50">
                <a:latin typeface="Times New Roman"/>
                <a:cs typeface="Times New Roman"/>
              </a:rPr>
              <a:t> </a:t>
            </a:r>
            <a:r>
              <a:rPr dirty="0" sz="1000">
                <a:latin typeface="Times New Roman"/>
                <a:cs typeface="Times New Roman"/>
              </a:rPr>
              <a:t>Afouras,</a:t>
            </a:r>
            <a:r>
              <a:rPr dirty="0" sz="1000" spc="55">
                <a:latin typeface="Times New Roman"/>
                <a:cs typeface="Times New Roman"/>
              </a:rPr>
              <a:t> </a:t>
            </a:r>
            <a:r>
              <a:rPr dirty="0" sz="1000">
                <a:latin typeface="Times New Roman"/>
                <a:cs typeface="Times New Roman"/>
              </a:rPr>
              <a:t>Joon</a:t>
            </a:r>
            <a:r>
              <a:rPr dirty="0" sz="1000" spc="50">
                <a:latin typeface="Times New Roman"/>
                <a:cs typeface="Times New Roman"/>
              </a:rPr>
              <a:t> </a:t>
            </a:r>
            <a:r>
              <a:rPr dirty="0" sz="1000">
                <a:latin typeface="Times New Roman"/>
                <a:cs typeface="Times New Roman"/>
              </a:rPr>
              <a:t>Son</a:t>
            </a:r>
            <a:r>
              <a:rPr dirty="0" sz="1000" spc="50">
                <a:latin typeface="Times New Roman"/>
                <a:cs typeface="Times New Roman"/>
              </a:rPr>
              <a:t> </a:t>
            </a:r>
            <a:r>
              <a:rPr dirty="0" sz="1000">
                <a:latin typeface="Times New Roman"/>
                <a:cs typeface="Times New Roman"/>
              </a:rPr>
              <a:t>Chung,</a:t>
            </a:r>
            <a:r>
              <a:rPr dirty="0" sz="1000" spc="55">
                <a:latin typeface="Times New Roman"/>
                <a:cs typeface="Times New Roman"/>
              </a:rPr>
              <a:t> </a:t>
            </a:r>
            <a:r>
              <a:rPr dirty="0" sz="1000">
                <a:latin typeface="Times New Roman"/>
                <a:cs typeface="Times New Roman"/>
              </a:rPr>
              <a:t>Andrew</a:t>
            </a:r>
            <a:r>
              <a:rPr dirty="0" sz="1000" spc="50">
                <a:latin typeface="Times New Roman"/>
                <a:cs typeface="Times New Roman"/>
              </a:rPr>
              <a:t> </a:t>
            </a:r>
            <a:r>
              <a:rPr dirty="0" sz="1000">
                <a:latin typeface="Times New Roman"/>
                <a:cs typeface="Times New Roman"/>
              </a:rPr>
              <a:t>Senior,</a:t>
            </a:r>
            <a:r>
              <a:rPr dirty="0" sz="1000" spc="55">
                <a:latin typeface="Times New Roman"/>
                <a:cs typeface="Times New Roman"/>
              </a:rPr>
              <a:t> </a:t>
            </a:r>
            <a:r>
              <a:rPr dirty="0" sz="1000">
                <a:latin typeface="Times New Roman"/>
                <a:cs typeface="Times New Roman"/>
              </a:rPr>
              <a:t>Oriol</a:t>
            </a:r>
            <a:r>
              <a:rPr dirty="0" sz="1000" spc="50">
                <a:latin typeface="Times New Roman"/>
                <a:cs typeface="Times New Roman"/>
              </a:rPr>
              <a:t> </a:t>
            </a:r>
            <a:r>
              <a:rPr dirty="0" sz="1000">
                <a:latin typeface="Times New Roman"/>
                <a:cs typeface="Times New Roman"/>
              </a:rPr>
              <a:t>Vinyals,</a:t>
            </a:r>
            <a:r>
              <a:rPr dirty="0" sz="1000" spc="55">
                <a:latin typeface="Times New Roman"/>
                <a:cs typeface="Times New Roman"/>
              </a:rPr>
              <a:t> </a:t>
            </a:r>
            <a:r>
              <a:rPr dirty="0" sz="1000">
                <a:latin typeface="Times New Roman"/>
                <a:cs typeface="Times New Roman"/>
              </a:rPr>
              <a:t>and</a:t>
            </a:r>
            <a:r>
              <a:rPr dirty="0" sz="1000" spc="50">
                <a:latin typeface="Times New Roman"/>
                <a:cs typeface="Times New Roman"/>
              </a:rPr>
              <a:t> </a:t>
            </a:r>
            <a:r>
              <a:rPr dirty="0" sz="1000">
                <a:latin typeface="Times New Roman"/>
                <a:cs typeface="Times New Roman"/>
              </a:rPr>
              <a:t>Andrew</a:t>
            </a:r>
            <a:r>
              <a:rPr dirty="0" sz="1000" spc="50">
                <a:latin typeface="Times New Roman"/>
                <a:cs typeface="Times New Roman"/>
              </a:rPr>
              <a:t> </a:t>
            </a:r>
            <a:r>
              <a:rPr dirty="0" sz="1000">
                <a:latin typeface="Times New Roman"/>
                <a:cs typeface="Times New Roman"/>
              </a:rPr>
              <a:t>Zisserman.</a:t>
            </a:r>
            <a:r>
              <a:rPr dirty="0" sz="1000" spc="185">
                <a:latin typeface="Times New Roman"/>
                <a:cs typeface="Times New Roman"/>
              </a:rPr>
              <a:t> </a:t>
            </a:r>
            <a:r>
              <a:rPr dirty="0" sz="1000" spc="-20">
                <a:latin typeface="Times New Roman"/>
                <a:cs typeface="Times New Roman"/>
              </a:rPr>
              <a:t>Deep </a:t>
            </a:r>
            <a:r>
              <a:rPr dirty="0" sz="1000" spc="10">
                <a:latin typeface="Times New Roman"/>
                <a:cs typeface="Times New Roman"/>
              </a:rPr>
              <a:t>audio-</a:t>
            </a:r>
            <a:r>
              <a:rPr dirty="0" sz="1000">
                <a:latin typeface="Times New Roman"/>
                <a:cs typeface="Times New Roman"/>
              </a:rPr>
              <a:t>visual</a:t>
            </a:r>
            <a:r>
              <a:rPr dirty="0" sz="1000" spc="-10">
                <a:latin typeface="Times New Roman"/>
                <a:cs typeface="Times New Roman"/>
              </a:rPr>
              <a:t> </a:t>
            </a:r>
            <a:r>
              <a:rPr dirty="0" sz="1000" spc="10">
                <a:latin typeface="Times New Roman"/>
                <a:cs typeface="Times New Roman"/>
              </a:rPr>
              <a:t>speech</a:t>
            </a:r>
            <a:r>
              <a:rPr dirty="0" sz="1000">
                <a:latin typeface="Times New Roman"/>
                <a:cs typeface="Times New Roman"/>
              </a:rPr>
              <a:t> </a:t>
            </a:r>
            <a:r>
              <a:rPr dirty="0" sz="1000" spc="10">
                <a:latin typeface="Times New Roman"/>
                <a:cs typeface="Times New Roman"/>
              </a:rPr>
              <a:t>recognition.</a:t>
            </a:r>
            <a:r>
              <a:rPr dirty="0" sz="1000" spc="200">
                <a:latin typeface="Times New Roman"/>
                <a:cs typeface="Times New Roman"/>
              </a:rPr>
              <a:t> </a:t>
            </a:r>
            <a:r>
              <a:rPr dirty="0" sz="1000">
                <a:latin typeface="Times New Roman"/>
                <a:cs typeface="Times New Roman"/>
              </a:rPr>
              <a:t>IEEE</a:t>
            </a:r>
            <a:r>
              <a:rPr dirty="0" sz="1000" spc="-5">
                <a:latin typeface="Times New Roman"/>
                <a:cs typeface="Times New Roman"/>
              </a:rPr>
              <a:t> </a:t>
            </a:r>
            <a:r>
              <a:rPr dirty="0" sz="1000" spc="10">
                <a:latin typeface="Times New Roman"/>
                <a:cs typeface="Times New Roman"/>
              </a:rPr>
              <a:t>transactions</a:t>
            </a:r>
            <a:r>
              <a:rPr dirty="0" sz="1000" spc="-5">
                <a:latin typeface="Times New Roman"/>
                <a:cs typeface="Times New Roman"/>
              </a:rPr>
              <a:t> </a:t>
            </a:r>
            <a:r>
              <a:rPr dirty="0" sz="1000" spc="10">
                <a:latin typeface="Times New Roman"/>
                <a:cs typeface="Times New Roman"/>
              </a:rPr>
              <a:t>on</a:t>
            </a:r>
            <a:r>
              <a:rPr dirty="0" sz="1000" spc="-5">
                <a:latin typeface="Times New Roman"/>
                <a:cs typeface="Times New Roman"/>
              </a:rPr>
              <a:t> </a:t>
            </a:r>
            <a:r>
              <a:rPr dirty="0" sz="1000" spc="10">
                <a:latin typeface="Times New Roman"/>
                <a:cs typeface="Times New Roman"/>
              </a:rPr>
              <a:t>pattern</a:t>
            </a:r>
            <a:r>
              <a:rPr dirty="0" sz="1000">
                <a:latin typeface="Times New Roman"/>
                <a:cs typeface="Times New Roman"/>
              </a:rPr>
              <a:t> </a:t>
            </a:r>
            <a:r>
              <a:rPr dirty="0" sz="1000" spc="10">
                <a:latin typeface="Times New Roman"/>
                <a:cs typeface="Times New Roman"/>
              </a:rPr>
              <a:t>analysis</a:t>
            </a:r>
            <a:r>
              <a:rPr dirty="0" sz="1000">
                <a:latin typeface="Times New Roman"/>
                <a:cs typeface="Times New Roman"/>
              </a:rPr>
              <a:t> </a:t>
            </a:r>
            <a:r>
              <a:rPr dirty="0" sz="1000" spc="10">
                <a:latin typeface="Times New Roman"/>
                <a:cs typeface="Times New Roman"/>
              </a:rPr>
              <a:t>and</a:t>
            </a:r>
            <a:r>
              <a:rPr dirty="0" sz="1000">
                <a:latin typeface="Times New Roman"/>
                <a:cs typeface="Times New Roman"/>
              </a:rPr>
              <a:t> </a:t>
            </a:r>
            <a:r>
              <a:rPr dirty="0" sz="1000" spc="10">
                <a:latin typeface="Times New Roman"/>
                <a:cs typeface="Times New Roman"/>
              </a:rPr>
              <a:t>machine</a:t>
            </a:r>
            <a:r>
              <a:rPr dirty="0" sz="1000">
                <a:latin typeface="Times New Roman"/>
                <a:cs typeface="Times New Roman"/>
              </a:rPr>
              <a:t> </a:t>
            </a:r>
            <a:r>
              <a:rPr dirty="0" sz="1000" spc="10">
                <a:latin typeface="Times New Roman"/>
                <a:cs typeface="Times New Roman"/>
              </a:rPr>
              <a:t>intelligence,</a:t>
            </a:r>
            <a:r>
              <a:rPr dirty="0" sz="1000" spc="20">
                <a:latin typeface="Times New Roman"/>
                <a:cs typeface="Times New Roman"/>
              </a:rPr>
              <a:t> </a:t>
            </a:r>
            <a:r>
              <a:rPr dirty="0" sz="1000" spc="-10">
                <a:latin typeface="Times New Roman"/>
                <a:cs typeface="Times New Roman"/>
              </a:rPr>
              <a:t>44(12):8717- 8727,</a:t>
            </a:r>
            <a:r>
              <a:rPr dirty="0" sz="1000" spc="-40">
                <a:latin typeface="Times New Roman"/>
                <a:cs typeface="Times New Roman"/>
              </a:rPr>
              <a:t> </a:t>
            </a:r>
            <a:r>
              <a:rPr dirty="0" sz="1000">
                <a:latin typeface="Times New Roman"/>
                <a:cs typeface="Times New Roman"/>
              </a:rPr>
              <a:t>2018.</a:t>
            </a:r>
            <a:r>
              <a:rPr dirty="0" sz="1000" spc="40">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10"/>
              </a:spcBef>
            </a:pPr>
            <a:endParaRPr sz="1000">
              <a:latin typeface="Times New Roman"/>
              <a:cs typeface="Times New Roman"/>
            </a:endParaRPr>
          </a:p>
          <a:p>
            <a:pPr algn="just" marL="192405" marR="427990" indent="180340">
              <a:lnSpc>
                <a:spcPct val="129500"/>
              </a:lnSpc>
              <a:buAutoNum type="arabicPlain"/>
              <a:tabLst>
                <a:tab pos="372745" algn="l"/>
              </a:tabLst>
            </a:pPr>
            <a:r>
              <a:rPr dirty="0" sz="1000">
                <a:latin typeface="Times New Roman"/>
                <a:cs typeface="Times New Roman"/>
              </a:rPr>
              <a:t>Triantafyllos</a:t>
            </a:r>
            <a:r>
              <a:rPr dirty="0" sz="1000" spc="85">
                <a:latin typeface="Times New Roman"/>
                <a:cs typeface="Times New Roman"/>
              </a:rPr>
              <a:t> </a:t>
            </a:r>
            <a:r>
              <a:rPr dirty="0" sz="1000">
                <a:latin typeface="Times New Roman"/>
                <a:cs typeface="Times New Roman"/>
              </a:rPr>
              <a:t>Afouras,</a:t>
            </a:r>
            <a:r>
              <a:rPr dirty="0" sz="1000" spc="85">
                <a:latin typeface="Times New Roman"/>
                <a:cs typeface="Times New Roman"/>
              </a:rPr>
              <a:t> </a:t>
            </a:r>
            <a:r>
              <a:rPr dirty="0" sz="1000">
                <a:latin typeface="Times New Roman"/>
                <a:cs typeface="Times New Roman"/>
              </a:rPr>
              <a:t>Joon</a:t>
            </a:r>
            <a:r>
              <a:rPr dirty="0" sz="1000" spc="85">
                <a:latin typeface="Times New Roman"/>
                <a:cs typeface="Times New Roman"/>
              </a:rPr>
              <a:t> </a:t>
            </a:r>
            <a:r>
              <a:rPr dirty="0" sz="1000">
                <a:latin typeface="Times New Roman"/>
                <a:cs typeface="Times New Roman"/>
              </a:rPr>
              <a:t>Son</a:t>
            </a:r>
            <a:r>
              <a:rPr dirty="0" sz="1000" spc="85">
                <a:latin typeface="Times New Roman"/>
                <a:cs typeface="Times New Roman"/>
              </a:rPr>
              <a:t> </a:t>
            </a:r>
            <a:r>
              <a:rPr dirty="0" sz="1000">
                <a:latin typeface="Times New Roman"/>
                <a:cs typeface="Times New Roman"/>
              </a:rPr>
              <a:t>Chung,</a:t>
            </a:r>
            <a:r>
              <a:rPr dirty="0" sz="1000" spc="85">
                <a:latin typeface="Times New Roman"/>
                <a:cs typeface="Times New Roman"/>
              </a:rPr>
              <a:t> </a:t>
            </a:r>
            <a:r>
              <a:rPr dirty="0" sz="1000">
                <a:latin typeface="Times New Roman"/>
                <a:cs typeface="Times New Roman"/>
              </a:rPr>
              <a:t>Andrew</a:t>
            </a:r>
            <a:r>
              <a:rPr dirty="0" sz="1000" spc="85">
                <a:latin typeface="Times New Roman"/>
                <a:cs typeface="Times New Roman"/>
              </a:rPr>
              <a:t> </a:t>
            </a:r>
            <a:r>
              <a:rPr dirty="0" sz="1000">
                <a:latin typeface="Times New Roman"/>
                <a:cs typeface="Times New Roman"/>
              </a:rPr>
              <a:t>Senior</a:t>
            </a:r>
            <a:r>
              <a:rPr dirty="0" sz="1000" spc="40">
                <a:latin typeface="Times New Roman"/>
                <a:cs typeface="Times New Roman"/>
              </a:rPr>
              <a:t>, </a:t>
            </a:r>
            <a:r>
              <a:rPr dirty="0" sz="1000">
                <a:latin typeface="Times New Roman"/>
                <a:cs typeface="Times New Roman"/>
              </a:rPr>
              <a:t>Oriol</a:t>
            </a:r>
            <a:r>
              <a:rPr dirty="0" sz="1000" spc="85">
                <a:latin typeface="Times New Roman"/>
                <a:cs typeface="Times New Roman"/>
              </a:rPr>
              <a:t> </a:t>
            </a:r>
            <a:r>
              <a:rPr dirty="0" sz="1000">
                <a:latin typeface="Times New Roman"/>
                <a:cs typeface="Times New Roman"/>
              </a:rPr>
              <a:t>Vinyals,</a:t>
            </a:r>
            <a:r>
              <a:rPr dirty="0" sz="1000" spc="85">
                <a:latin typeface="Times New Roman"/>
                <a:cs typeface="Times New Roman"/>
              </a:rPr>
              <a:t> </a:t>
            </a:r>
            <a:r>
              <a:rPr dirty="0" sz="1000">
                <a:latin typeface="Times New Roman"/>
                <a:cs typeface="Times New Roman"/>
              </a:rPr>
              <a:t>and</a:t>
            </a:r>
            <a:r>
              <a:rPr dirty="0" sz="1000" spc="85">
                <a:latin typeface="Times New Roman"/>
                <a:cs typeface="Times New Roman"/>
              </a:rPr>
              <a:t> </a:t>
            </a:r>
            <a:r>
              <a:rPr dirty="0" sz="1000">
                <a:latin typeface="Times New Roman"/>
                <a:cs typeface="Times New Roman"/>
              </a:rPr>
              <a:t>Andrew</a:t>
            </a:r>
            <a:r>
              <a:rPr dirty="0" sz="1000" spc="85">
                <a:latin typeface="Times New Roman"/>
                <a:cs typeface="Times New Roman"/>
              </a:rPr>
              <a:t> </a:t>
            </a:r>
            <a:r>
              <a:rPr dirty="0" sz="1000">
                <a:latin typeface="Times New Roman"/>
                <a:cs typeface="Times New Roman"/>
              </a:rPr>
              <a:t>Zisserman.</a:t>
            </a:r>
            <a:r>
              <a:rPr dirty="0" sz="1000" spc="210">
                <a:latin typeface="Times New Roman"/>
                <a:cs typeface="Times New Roman"/>
              </a:rPr>
              <a:t> </a:t>
            </a:r>
            <a:r>
              <a:rPr dirty="0" sz="1000" spc="-50">
                <a:latin typeface="SimSun"/>
                <a:cs typeface="SimSun"/>
              </a:rPr>
              <a:t>深</a:t>
            </a:r>
            <a:r>
              <a:rPr dirty="0" sz="1000" spc="-70">
                <a:latin typeface="SimSun"/>
                <a:cs typeface="SimSun"/>
              </a:rPr>
              <a:t>度视听语音识别。《</a:t>
            </a:r>
            <a:r>
              <a:rPr dirty="0" sz="1000">
                <a:latin typeface="Times New Roman"/>
                <a:cs typeface="Times New Roman"/>
              </a:rPr>
              <a:t>IEEE</a:t>
            </a:r>
            <a:r>
              <a:rPr dirty="0" sz="1000" spc="-15">
                <a:latin typeface="Times New Roman"/>
                <a:cs typeface="Times New Roman"/>
              </a:rPr>
              <a:t> </a:t>
            </a:r>
            <a:r>
              <a:rPr dirty="0" sz="1000" spc="-55">
                <a:latin typeface="SimSun"/>
                <a:cs typeface="SimSun"/>
              </a:rPr>
              <a:t>模式分析与机器智能汇刊》，</a:t>
            </a:r>
            <a:r>
              <a:rPr dirty="0" sz="1000" spc="-10">
                <a:latin typeface="Times New Roman"/>
                <a:cs typeface="Times New Roman"/>
              </a:rPr>
              <a:t>44(12):8717</a:t>
            </a:r>
            <a:r>
              <a:rPr dirty="0" sz="1000" spc="-15">
                <a:latin typeface="Times New Roman"/>
                <a:cs typeface="Times New Roman"/>
              </a:rPr>
              <a:t> - </a:t>
            </a:r>
            <a:r>
              <a:rPr dirty="0" sz="1000" spc="-10">
                <a:latin typeface="Times New Roman"/>
                <a:cs typeface="Times New Roman"/>
              </a:rPr>
              <a:t>8727</a:t>
            </a:r>
            <a:r>
              <a:rPr dirty="0" sz="1000" spc="-10">
                <a:latin typeface="SimSun"/>
                <a:cs typeface="SimSun"/>
              </a:rPr>
              <a:t>，</a:t>
            </a:r>
            <a:r>
              <a:rPr dirty="0" sz="1000" spc="-10">
                <a:latin typeface="Times New Roman"/>
                <a:cs typeface="Times New Roman"/>
              </a:rPr>
              <a:t>2018</a:t>
            </a:r>
            <a:r>
              <a:rPr dirty="0" sz="1000" spc="-15">
                <a:latin typeface="Times New Roman"/>
                <a:cs typeface="Times New Roman"/>
              </a:rPr>
              <a:t> </a:t>
            </a:r>
            <a:r>
              <a:rPr dirty="0" sz="1000" spc="-10">
                <a:latin typeface="SimSun"/>
                <a:cs typeface="SimSun"/>
              </a:rPr>
              <a:t>年。</a:t>
            </a:r>
            <a:r>
              <a:rPr dirty="0" sz="1000" spc="-50">
                <a:latin typeface="Times New Roman"/>
                <a:cs typeface="Times New Roman"/>
              </a:rPr>
              <a:t>2</a:t>
            </a:r>
            <a:endParaRPr sz="1000">
              <a:latin typeface="Times New Roman"/>
              <a:cs typeface="Times New Roman"/>
            </a:endParaRPr>
          </a:p>
          <a:p>
            <a:pPr>
              <a:lnSpc>
                <a:spcPct val="100000"/>
              </a:lnSpc>
              <a:spcBef>
                <a:spcPts val="210"/>
              </a:spcBef>
              <a:buFont typeface="Times New Roman"/>
              <a:buAutoNum type="arabicPlain"/>
            </a:pPr>
            <a:endParaRPr sz="1000">
              <a:latin typeface="Times New Roman"/>
              <a:cs typeface="Times New Roman"/>
            </a:endParaRPr>
          </a:p>
          <a:p>
            <a:pPr algn="just" marL="12700" marR="248285" indent="431165">
              <a:lnSpc>
                <a:spcPct val="129500"/>
              </a:lnSpc>
              <a:buAutoNum type="arabicPlain"/>
              <a:tabLst>
                <a:tab pos="443865" algn="l"/>
              </a:tabLst>
            </a:pPr>
            <a:r>
              <a:rPr dirty="0" sz="1000">
                <a:latin typeface="Times New Roman"/>
                <a:cs typeface="Times New Roman"/>
              </a:rPr>
              <a:t>Relja</a:t>
            </a:r>
            <a:r>
              <a:rPr dirty="0" sz="1000" spc="70">
                <a:latin typeface="Times New Roman"/>
                <a:cs typeface="Times New Roman"/>
              </a:rPr>
              <a:t> </a:t>
            </a:r>
            <a:r>
              <a:rPr dirty="0" sz="1000">
                <a:latin typeface="Times New Roman"/>
                <a:cs typeface="Times New Roman"/>
              </a:rPr>
              <a:t>Arandjelovic</a:t>
            </a:r>
            <a:r>
              <a:rPr dirty="0" sz="1000" spc="75">
                <a:latin typeface="Times New Roman"/>
                <a:cs typeface="Times New Roman"/>
              </a:rPr>
              <a:t> </a:t>
            </a:r>
            <a:r>
              <a:rPr dirty="0" sz="1000">
                <a:latin typeface="Times New Roman"/>
                <a:cs typeface="Times New Roman"/>
              </a:rPr>
              <a:t>and</a:t>
            </a:r>
            <a:r>
              <a:rPr dirty="0" sz="1000" spc="75">
                <a:latin typeface="Times New Roman"/>
                <a:cs typeface="Times New Roman"/>
              </a:rPr>
              <a:t> </a:t>
            </a:r>
            <a:r>
              <a:rPr dirty="0" sz="1000">
                <a:latin typeface="Times New Roman"/>
                <a:cs typeface="Times New Roman"/>
              </a:rPr>
              <a:t>Andrew</a:t>
            </a:r>
            <a:r>
              <a:rPr dirty="0" sz="1000" spc="75">
                <a:latin typeface="Times New Roman"/>
                <a:cs typeface="Times New Roman"/>
              </a:rPr>
              <a:t> </a:t>
            </a:r>
            <a:r>
              <a:rPr dirty="0" sz="1000">
                <a:latin typeface="Times New Roman"/>
                <a:cs typeface="Times New Roman"/>
              </a:rPr>
              <a:t>Zisserman.</a:t>
            </a:r>
            <a:r>
              <a:rPr dirty="0" sz="1000" spc="195">
                <a:latin typeface="Times New Roman"/>
                <a:cs typeface="Times New Roman"/>
              </a:rPr>
              <a:t> </a:t>
            </a:r>
            <a:r>
              <a:rPr dirty="0" sz="1000">
                <a:latin typeface="Times New Roman"/>
                <a:cs typeface="Times New Roman"/>
              </a:rPr>
              <a:t>Look,</a:t>
            </a:r>
            <a:r>
              <a:rPr dirty="0" sz="1000" spc="80">
                <a:latin typeface="Times New Roman"/>
                <a:cs typeface="Times New Roman"/>
              </a:rPr>
              <a:t> </a:t>
            </a:r>
            <a:r>
              <a:rPr dirty="0" sz="1000">
                <a:latin typeface="Times New Roman"/>
                <a:cs typeface="Times New Roman"/>
              </a:rPr>
              <a:t>listen</a:t>
            </a:r>
            <a:r>
              <a:rPr dirty="0" sz="1000" spc="70">
                <a:latin typeface="Times New Roman"/>
                <a:cs typeface="Times New Roman"/>
              </a:rPr>
              <a:t> </a:t>
            </a:r>
            <a:r>
              <a:rPr dirty="0" sz="1000">
                <a:latin typeface="Times New Roman"/>
                <a:cs typeface="Times New Roman"/>
              </a:rPr>
              <a:t>and</a:t>
            </a:r>
            <a:r>
              <a:rPr dirty="0" sz="1000" spc="80">
                <a:latin typeface="Times New Roman"/>
                <a:cs typeface="Times New Roman"/>
              </a:rPr>
              <a:t> </a:t>
            </a:r>
            <a:r>
              <a:rPr dirty="0" sz="1000">
                <a:latin typeface="Times New Roman"/>
                <a:cs typeface="Times New Roman"/>
              </a:rPr>
              <a:t>learn.</a:t>
            </a:r>
            <a:r>
              <a:rPr dirty="0" sz="1000" spc="190">
                <a:latin typeface="Times New Roman"/>
                <a:cs typeface="Times New Roman"/>
              </a:rPr>
              <a:t> </a:t>
            </a:r>
            <a:r>
              <a:rPr dirty="0" sz="1000">
                <a:latin typeface="Times New Roman"/>
                <a:cs typeface="Times New Roman"/>
              </a:rPr>
              <a:t>In</a:t>
            </a:r>
            <a:r>
              <a:rPr dirty="0" sz="1000" spc="80">
                <a:latin typeface="Times New Roman"/>
                <a:cs typeface="Times New Roman"/>
              </a:rPr>
              <a:t> </a:t>
            </a:r>
            <a:r>
              <a:rPr dirty="0" sz="1000">
                <a:latin typeface="Times New Roman"/>
                <a:cs typeface="Times New Roman"/>
              </a:rPr>
              <a:t>Proceedings</a:t>
            </a:r>
            <a:r>
              <a:rPr dirty="0" sz="1000" spc="70">
                <a:latin typeface="Times New Roman"/>
                <a:cs typeface="Times New Roman"/>
              </a:rPr>
              <a:t> </a:t>
            </a:r>
            <a:r>
              <a:rPr dirty="0" sz="1000">
                <a:latin typeface="Times New Roman"/>
                <a:cs typeface="Times New Roman"/>
              </a:rPr>
              <a:t>of</a:t>
            </a:r>
            <a:r>
              <a:rPr dirty="0" sz="1000" spc="75">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IEEE</a:t>
            </a:r>
            <a:r>
              <a:rPr dirty="0" sz="1000" spc="75">
                <a:latin typeface="Times New Roman"/>
                <a:cs typeface="Times New Roman"/>
              </a:rPr>
              <a:t> </a:t>
            </a:r>
            <a:r>
              <a:rPr dirty="0" sz="1000" spc="-10">
                <a:latin typeface="Times New Roman"/>
                <a:cs typeface="Times New Roman"/>
              </a:rPr>
              <a:t>inter- </a:t>
            </a:r>
            <a:r>
              <a:rPr dirty="0" sz="1000">
                <a:latin typeface="Times New Roman"/>
                <a:cs typeface="Times New Roman"/>
              </a:rPr>
              <a:t>national</a:t>
            </a:r>
            <a:r>
              <a:rPr dirty="0" sz="1000" spc="75">
                <a:latin typeface="Times New Roman"/>
                <a:cs typeface="Times New Roman"/>
              </a:rPr>
              <a:t> </a:t>
            </a:r>
            <a:r>
              <a:rPr dirty="0" sz="1000">
                <a:latin typeface="Times New Roman"/>
                <a:cs typeface="Times New Roman"/>
              </a:rPr>
              <a:t>conference</a:t>
            </a:r>
            <a:r>
              <a:rPr dirty="0" sz="1000" spc="80">
                <a:latin typeface="Times New Roman"/>
                <a:cs typeface="Times New Roman"/>
              </a:rPr>
              <a:t> </a:t>
            </a:r>
            <a:r>
              <a:rPr dirty="0" sz="1000">
                <a:latin typeface="Times New Roman"/>
                <a:cs typeface="Times New Roman"/>
              </a:rPr>
              <a:t>on</a:t>
            </a:r>
            <a:r>
              <a:rPr dirty="0" sz="1000" spc="75">
                <a:latin typeface="Times New Roman"/>
                <a:cs typeface="Times New Roman"/>
              </a:rPr>
              <a:t> </a:t>
            </a:r>
            <a:r>
              <a:rPr dirty="0" sz="1000">
                <a:latin typeface="Times New Roman"/>
                <a:cs typeface="Times New Roman"/>
              </a:rPr>
              <a:t>computer</a:t>
            </a:r>
            <a:r>
              <a:rPr dirty="0" sz="1000" spc="80">
                <a:latin typeface="Times New Roman"/>
                <a:cs typeface="Times New Roman"/>
              </a:rPr>
              <a:t> </a:t>
            </a:r>
            <a:r>
              <a:rPr dirty="0" sz="1000">
                <a:latin typeface="Times New Roman"/>
                <a:cs typeface="Times New Roman"/>
              </a:rPr>
              <a:t>vision,</a:t>
            </a:r>
            <a:r>
              <a:rPr dirty="0" sz="1000" spc="80">
                <a:latin typeface="Times New Roman"/>
                <a:cs typeface="Times New Roman"/>
              </a:rPr>
              <a:t> </a:t>
            </a:r>
            <a:r>
              <a:rPr dirty="0" sz="1000">
                <a:latin typeface="Times New Roman"/>
                <a:cs typeface="Times New Roman"/>
              </a:rPr>
              <a:t>pages</a:t>
            </a:r>
            <a:r>
              <a:rPr dirty="0" sz="1000" spc="75">
                <a:latin typeface="Times New Roman"/>
                <a:cs typeface="Times New Roman"/>
              </a:rPr>
              <a:t> </a:t>
            </a:r>
            <a:r>
              <a:rPr dirty="0" sz="1000" spc="-10">
                <a:latin typeface="Times New Roman"/>
                <a:cs typeface="Times New Roman"/>
              </a:rPr>
              <a:t>609-</a:t>
            </a:r>
            <a:r>
              <a:rPr dirty="0" sz="1000">
                <a:latin typeface="Times New Roman"/>
                <a:cs typeface="Times New Roman"/>
              </a:rPr>
              <a:t>617,</a:t>
            </a:r>
            <a:r>
              <a:rPr dirty="0" sz="1000" spc="80">
                <a:latin typeface="Times New Roman"/>
                <a:cs typeface="Times New Roman"/>
              </a:rPr>
              <a:t> </a:t>
            </a:r>
            <a:r>
              <a:rPr dirty="0" sz="1000">
                <a:latin typeface="Times New Roman"/>
                <a:cs typeface="Times New Roman"/>
              </a:rPr>
              <a:t>2017.</a:t>
            </a:r>
            <a:r>
              <a:rPr dirty="0" sz="1000" spc="190">
                <a:latin typeface="Times New Roman"/>
                <a:cs typeface="Times New Roman"/>
              </a:rPr>
              <a:t> </a:t>
            </a:r>
            <a:r>
              <a:rPr dirty="0" sz="1000" spc="-50">
                <a:latin typeface="Times New Roman"/>
                <a:cs typeface="Times New Roman"/>
              </a:rPr>
              <a:t>6</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427990" indent="177800">
              <a:lnSpc>
                <a:spcPct val="129500"/>
              </a:lnSpc>
              <a:buAutoNum type="arabicPlain" startAt="2"/>
              <a:tabLst>
                <a:tab pos="370205" algn="l"/>
              </a:tabLst>
            </a:pPr>
            <a:r>
              <a:rPr dirty="0" sz="1000">
                <a:latin typeface="Times New Roman"/>
                <a:cs typeface="Times New Roman"/>
              </a:rPr>
              <a:t>Relja</a:t>
            </a:r>
            <a:r>
              <a:rPr dirty="0" sz="1000" spc="100">
                <a:latin typeface="Times New Roman"/>
                <a:cs typeface="Times New Roman"/>
              </a:rPr>
              <a:t> </a:t>
            </a:r>
            <a:r>
              <a:rPr dirty="0" sz="1000">
                <a:latin typeface="Times New Roman"/>
                <a:cs typeface="Times New Roman"/>
              </a:rPr>
              <a:t>Arandjelovic</a:t>
            </a:r>
            <a:r>
              <a:rPr dirty="0" sz="1000" spc="95">
                <a:latin typeface="Times New Roman"/>
                <a:cs typeface="Times New Roman"/>
              </a:rPr>
              <a:t> </a:t>
            </a:r>
            <a:r>
              <a:rPr dirty="0" sz="1000" spc="210">
                <a:latin typeface="SimSun"/>
                <a:cs typeface="SimSun"/>
              </a:rPr>
              <a:t>和</a:t>
            </a:r>
            <a:r>
              <a:rPr dirty="0" sz="1000">
                <a:latin typeface="Times New Roman"/>
                <a:cs typeface="Times New Roman"/>
              </a:rPr>
              <a:t>Andrew</a:t>
            </a:r>
            <a:r>
              <a:rPr dirty="0" sz="1000" spc="105">
                <a:latin typeface="Times New Roman"/>
                <a:cs typeface="Times New Roman"/>
              </a:rPr>
              <a:t> </a:t>
            </a:r>
            <a:r>
              <a:rPr dirty="0" sz="1000">
                <a:latin typeface="Times New Roman"/>
                <a:cs typeface="Times New Roman"/>
              </a:rPr>
              <a:t>Zisserman</a:t>
            </a:r>
            <a:r>
              <a:rPr dirty="0" sz="1000" spc="-125">
                <a:latin typeface="SimSun"/>
                <a:cs typeface="SimSun"/>
              </a:rPr>
              <a:t>。看、听和学。《</a:t>
            </a:r>
            <a:r>
              <a:rPr dirty="0" sz="1000">
                <a:latin typeface="Times New Roman"/>
                <a:cs typeface="Times New Roman"/>
              </a:rPr>
              <a:t>IEEE</a:t>
            </a:r>
            <a:r>
              <a:rPr dirty="0" sz="1000" spc="100">
                <a:latin typeface="Times New Roman"/>
                <a:cs typeface="Times New Roman"/>
              </a:rPr>
              <a:t> </a:t>
            </a:r>
            <a:r>
              <a:rPr dirty="0" sz="1000" spc="-60">
                <a:latin typeface="SimSun"/>
                <a:cs typeface="SimSun"/>
              </a:rPr>
              <a:t>国际计算机视觉会议论文集》，第</a:t>
            </a:r>
            <a:r>
              <a:rPr dirty="0" sz="1000" spc="-50">
                <a:latin typeface="SimSun"/>
                <a:cs typeface="SimSun"/>
              </a:rPr>
              <a:t> </a:t>
            </a:r>
            <a:r>
              <a:rPr dirty="0" sz="1000">
                <a:latin typeface="Times New Roman"/>
                <a:cs typeface="Times New Roman"/>
              </a:rPr>
              <a:t>609</a:t>
            </a:r>
            <a:r>
              <a:rPr dirty="0" sz="1000" spc="-30">
                <a:latin typeface="Times New Roman"/>
                <a:cs typeface="Times New Roman"/>
              </a:rPr>
              <a:t> - </a:t>
            </a:r>
            <a:r>
              <a:rPr dirty="0" sz="1000">
                <a:latin typeface="Times New Roman"/>
                <a:cs typeface="Times New Roman"/>
              </a:rPr>
              <a:t>617</a:t>
            </a:r>
            <a:r>
              <a:rPr dirty="0" sz="1000" spc="-45">
                <a:latin typeface="Times New Roman"/>
                <a:cs typeface="Times New Roman"/>
              </a:rPr>
              <a:t> </a:t>
            </a:r>
            <a:r>
              <a:rPr dirty="0" sz="1000" spc="-10">
                <a:latin typeface="SimSun"/>
                <a:cs typeface="SimSun"/>
              </a:rPr>
              <a:t>页，</a:t>
            </a:r>
            <a:r>
              <a:rPr dirty="0" sz="1000" spc="-10">
                <a:latin typeface="Times New Roman"/>
                <a:cs typeface="Times New Roman"/>
              </a:rPr>
              <a:t>2017</a:t>
            </a:r>
            <a:r>
              <a:rPr dirty="0" sz="1000" spc="-40">
                <a:latin typeface="Times New Roman"/>
                <a:cs typeface="Times New Roman"/>
              </a:rPr>
              <a:t> </a:t>
            </a:r>
            <a:r>
              <a:rPr dirty="0" sz="1000" spc="-10">
                <a:latin typeface="SimSun"/>
                <a:cs typeface="SimSun"/>
              </a:rPr>
              <a:t>年。</a:t>
            </a:r>
            <a:r>
              <a:rPr dirty="0" sz="1000" spc="-50">
                <a:latin typeface="Times New Roman"/>
                <a:cs typeface="Times New Roman"/>
              </a:rPr>
              <a:t>6</a:t>
            </a:r>
            <a:endParaRPr sz="1000">
              <a:latin typeface="Times New Roman"/>
              <a:cs typeface="Times New Roman"/>
            </a:endParaRPr>
          </a:p>
          <a:p>
            <a:pPr>
              <a:lnSpc>
                <a:spcPct val="100000"/>
              </a:lnSpc>
              <a:spcBef>
                <a:spcPts val="210"/>
              </a:spcBef>
              <a:buFont typeface="Times New Roman"/>
              <a:buAutoNum type="arabicPlain" startAt="2"/>
            </a:pPr>
            <a:endParaRPr sz="1000">
              <a:latin typeface="Times New Roman"/>
              <a:cs typeface="Times New Roman"/>
            </a:endParaRPr>
          </a:p>
          <a:p>
            <a:pPr algn="just" marL="12700" marR="248285" indent="429259">
              <a:lnSpc>
                <a:spcPct val="129500"/>
              </a:lnSpc>
              <a:buAutoNum type="arabicPlain" startAt="2"/>
              <a:tabLst>
                <a:tab pos="441959" algn="l"/>
              </a:tabLst>
            </a:pPr>
            <a:r>
              <a:rPr dirty="0" sz="1000" spc="25">
                <a:latin typeface="Times New Roman"/>
                <a:cs typeface="Times New Roman"/>
              </a:rPr>
              <a:t>Houwei</a:t>
            </a:r>
            <a:r>
              <a:rPr dirty="0" sz="1000" spc="-40">
                <a:latin typeface="Times New Roman"/>
                <a:cs typeface="Times New Roman"/>
              </a:rPr>
              <a:t> </a:t>
            </a:r>
            <a:r>
              <a:rPr dirty="0" sz="1000">
                <a:latin typeface="Times New Roman"/>
                <a:cs typeface="Times New Roman"/>
              </a:rPr>
              <a:t>Cao,</a:t>
            </a:r>
            <a:r>
              <a:rPr dirty="0" sz="1000" spc="-35">
                <a:latin typeface="Times New Roman"/>
                <a:cs typeface="Times New Roman"/>
              </a:rPr>
              <a:t> </a:t>
            </a:r>
            <a:r>
              <a:rPr dirty="0" sz="1000">
                <a:latin typeface="Times New Roman"/>
                <a:cs typeface="Times New Roman"/>
              </a:rPr>
              <a:t>David</a:t>
            </a:r>
            <a:r>
              <a:rPr dirty="0" sz="1000" spc="-40">
                <a:latin typeface="Times New Roman"/>
                <a:cs typeface="Times New Roman"/>
              </a:rPr>
              <a:t> </a:t>
            </a:r>
            <a:r>
              <a:rPr dirty="0" sz="1000" spc="-15">
                <a:latin typeface="Times New Roman"/>
                <a:cs typeface="Times New Roman"/>
              </a:rPr>
              <a:t>G</a:t>
            </a:r>
            <a:r>
              <a:rPr dirty="0" sz="1000" spc="-40">
                <a:latin typeface="Times New Roman"/>
                <a:cs typeface="Times New Roman"/>
              </a:rPr>
              <a:t> </a:t>
            </a:r>
            <a:r>
              <a:rPr dirty="0" sz="1000">
                <a:latin typeface="Times New Roman"/>
                <a:cs typeface="Times New Roman"/>
              </a:rPr>
              <a:t>Cooper,</a:t>
            </a:r>
            <a:r>
              <a:rPr dirty="0" sz="1000" spc="-35">
                <a:latin typeface="Times New Roman"/>
                <a:cs typeface="Times New Roman"/>
              </a:rPr>
              <a:t> </a:t>
            </a:r>
            <a:r>
              <a:rPr dirty="0" sz="1000" spc="10">
                <a:latin typeface="Times New Roman"/>
                <a:cs typeface="Times New Roman"/>
              </a:rPr>
              <a:t>Michael</a:t>
            </a:r>
            <a:r>
              <a:rPr dirty="0" sz="1000" spc="-35">
                <a:latin typeface="Times New Roman"/>
                <a:cs typeface="Times New Roman"/>
              </a:rPr>
              <a:t> </a:t>
            </a:r>
            <a:r>
              <a:rPr dirty="0" sz="1000" spc="-30">
                <a:latin typeface="Times New Roman"/>
                <a:cs typeface="Times New Roman"/>
              </a:rPr>
              <a:t>K</a:t>
            </a:r>
            <a:r>
              <a:rPr dirty="0" sz="1000" spc="-40">
                <a:latin typeface="Times New Roman"/>
                <a:cs typeface="Times New Roman"/>
              </a:rPr>
              <a:t> </a:t>
            </a:r>
            <a:r>
              <a:rPr dirty="0" sz="1000" spc="30">
                <a:latin typeface="Times New Roman"/>
                <a:cs typeface="Times New Roman"/>
              </a:rPr>
              <a:t>Keutmann,</a:t>
            </a:r>
            <a:r>
              <a:rPr dirty="0" sz="1000" spc="-35">
                <a:latin typeface="Times New Roman"/>
                <a:cs typeface="Times New Roman"/>
              </a:rPr>
              <a:t> </a:t>
            </a:r>
            <a:r>
              <a:rPr dirty="0" sz="1000" spc="25">
                <a:latin typeface="Times New Roman"/>
                <a:cs typeface="Times New Roman"/>
              </a:rPr>
              <a:t>Ruben</a:t>
            </a:r>
            <a:r>
              <a:rPr dirty="0" sz="1000" spc="-40">
                <a:latin typeface="Times New Roman"/>
                <a:cs typeface="Times New Roman"/>
              </a:rPr>
              <a:t> </a:t>
            </a:r>
            <a:r>
              <a:rPr dirty="0" sz="1000">
                <a:latin typeface="Times New Roman"/>
                <a:cs typeface="Times New Roman"/>
              </a:rPr>
              <a:t>C</a:t>
            </a:r>
            <a:r>
              <a:rPr dirty="0" sz="1000" spc="-40">
                <a:latin typeface="Times New Roman"/>
                <a:cs typeface="Times New Roman"/>
              </a:rPr>
              <a:t> </a:t>
            </a:r>
            <a:r>
              <a:rPr dirty="0" sz="1000" spc="5">
                <a:latin typeface="Times New Roman"/>
                <a:cs typeface="Times New Roman"/>
              </a:rPr>
              <a:t>Gur,</a:t>
            </a:r>
            <a:r>
              <a:rPr dirty="0" sz="1000" spc="-35">
                <a:latin typeface="Times New Roman"/>
                <a:cs typeface="Times New Roman"/>
              </a:rPr>
              <a:t> </a:t>
            </a:r>
            <a:r>
              <a:rPr dirty="0" sz="1000" spc="20">
                <a:latin typeface="Times New Roman"/>
                <a:cs typeface="Times New Roman"/>
              </a:rPr>
              <a:t>Ani</a:t>
            </a:r>
            <a:r>
              <a:rPr dirty="0" sz="1000" spc="-35">
                <a:latin typeface="Times New Roman"/>
                <a:cs typeface="Times New Roman"/>
              </a:rPr>
              <a:t> </a:t>
            </a:r>
            <a:r>
              <a:rPr dirty="0" sz="1000" spc="10">
                <a:latin typeface="Times New Roman"/>
                <a:cs typeface="Times New Roman"/>
              </a:rPr>
              <a:t>Nenkova,</a:t>
            </a:r>
            <a:r>
              <a:rPr dirty="0" sz="1000" spc="-35">
                <a:latin typeface="Times New Roman"/>
                <a:cs typeface="Times New Roman"/>
              </a:rPr>
              <a:t> </a:t>
            </a:r>
            <a:r>
              <a:rPr dirty="0" sz="1000" spc="40">
                <a:latin typeface="Times New Roman"/>
                <a:cs typeface="Times New Roman"/>
              </a:rPr>
              <a:t>and</a:t>
            </a:r>
            <a:r>
              <a:rPr dirty="0" sz="1000" spc="-40">
                <a:latin typeface="Times New Roman"/>
                <a:cs typeface="Times New Roman"/>
              </a:rPr>
              <a:t> </a:t>
            </a:r>
            <a:r>
              <a:rPr dirty="0" sz="1000" spc="10">
                <a:latin typeface="Times New Roman"/>
                <a:cs typeface="Times New Roman"/>
              </a:rPr>
              <a:t>Ragini</a:t>
            </a:r>
            <a:r>
              <a:rPr dirty="0" sz="1000" spc="-40">
                <a:latin typeface="Times New Roman"/>
                <a:cs typeface="Times New Roman"/>
              </a:rPr>
              <a:t> </a:t>
            </a:r>
            <a:r>
              <a:rPr dirty="0" sz="1000">
                <a:latin typeface="Times New Roman"/>
                <a:cs typeface="Times New Roman"/>
              </a:rPr>
              <a:t>Verma.</a:t>
            </a:r>
            <a:r>
              <a:rPr dirty="0" sz="1000" spc="15">
                <a:latin typeface="Times New Roman"/>
                <a:cs typeface="Times New Roman"/>
              </a:rPr>
              <a:t> Crema-</a:t>
            </a:r>
            <a:r>
              <a:rPr dirty="0" sz="1000">
                <a:latin typeface="Times New Roman"/>
                <a:cs typeface="Times New Roman"/>
              </a:rPr>
              <a:t>d:</a:t>
            </a:r>
            <a:r>
              <a:rPr dirty="0" sz="1000" spc="175">
                <a:latin typeface="Times New Roman"/>
                <a:cs typeface="Times New Roman"/>
              </a:rPr>
              <a:t> </a:t>
            </a:r>
            <a:r>
              <a:rPr dirty="0" sz="1000" spc="10">
                <a:latin typeface="Times New Roman"/>
                <a:cs typeface="Times New Roman"/>
              </a:rPr>
              <a:t>Crowd-</a:t>
            </a:r>
            <a:r>
              <a:rPr dirty="0" sz="1000" spc="20">
                <a:latin typeface="Times New Roman"/>
                <a:cs typeface="Times New Roman"/>
              </a:rPr>
              <a:t>sourced</a:t>
            </a:r>
            <a:r>
              <a:rPr dirty="0" sz="1000" spc="40">
                <a:latin typeface="Times New Roman"/>
                <a:cs typeface="Times New Roman"/>
              </a:rPr>
              <a:t> </a:t>
            </a:r>
            <a:r>
              <a:rPr dirty="0" sz="1000" spc="25">
                <a:latin typeface="Times New Roman"/>
                <a:cs typeface="Times New Roman"/>
              </a:rPr>
              <a:t>emotional</a:t>
            </a:r>
            <a:r>
              <a:rPr dirty="0" sz="1000" spc="40">
                <a:latin typeface="Times New Roman"/>
                <a:cs typeface="Times New Roman"/>
              </a:rPr>
              <a:t> </a:t>
            </a:r>
            <a:r>
              <a:rPr dirty="0" sz="1000" spc="30">
                <a:latin typeface="Times New Roman"/>
                <a:cs typeface="Times New Roman"/>
              </a:rPr>
              <a:t>multimodal</a:t>
            </a:r>
            <a:r>
              <a:rPr dirty="0" sz="1000" spc="40">
                <a:latin typeface="Times New Roman"/>
                <a:cs typeface="Times New Roman"/>
              </a:rPr>
              <a:t> </a:t>
            </a:r>
            <a:r>
              <a:rPr dirty="0" sz="1000" spc="15">
                <a:latin typeface="Times New Roman"/>
                <a:cs typeface="Times New Roman"/>
              </a:rPr>
              <a:t>actors</a:t>
            </a:r>
            <a:r>
              <a:rPr dirty="0" sz="1000" spc="40">
                <a:latin typeface="Times New Roman"/>
                <a:cs typeface="Times New Roman"/>
              </a:rPr>
              <a:t> </a:t>
            </a:r>
            <a:r>
              <a:rPr dirty="0" sz="1000" spc="20">
                <a:latin typeface="Times New Roman"/>
                <a:cs typeface="Times New Roman"/>
              </a:rPr>
              <a:t>dataset.</a:t>
            </a:r>
            <a:r>
              <a:rPr dirty="0" sz="1000" spc="235">
                <a:latin typeface="Times New Roman"/>
                <a:cs typeface="Times New Roman"/>
              </a:rPr>
              <a:t> </a:t>
            </a:r>
            <a:r>
              <a:rPr dirty="0" sz="1000" spc="10">
                <a:latin typeface="Times New Roman"/>
                <a:cs typeface="Times New Roman"/>
              </a:rPr>
              <a:t>IEEE</a:t>
            </a:r>
            <a:r>
              <a:rPr dirty="0" sz="1000" spc="40">
                <a:latin typeface="Times New Roman"/>
                <a:cs typeface="Times New Roman"/>
              </a:rPr>
              <a:t> </a:t>
            </a:r>
            <a:r>
              <a:rPr dirty="0" sz="1000" spc="25">
                <a:latin typeface="Times New Roman"/>
                <a:cs typeface="Times New Roman"/>
              </a:rPr>
              <a:t>transactions</a:t>
            </a:r>
            <a:r>
              <a:rPr dirty="0" sz="1000" spc="40">
                <a:latin typeface="Times New Roman"/>
                <a:cs typeface="Times New Roman"/>
              </a:rPr>
              <a:t> on </a:t>
            </a:r>
            <a:r>
              <a:rPr dirty="0" sz="1000" spc="-5">
                <a:latin typeface="Times New Roman"/>
                <a:cs typeface="Times New Roman"/>
              </a:rPr>
              <a:t>affective</a:t>
            </a:r>
            <a:r>
              <a:rPr dirty="0" sz="1000" spc="40">
                <a:latin typeface="Times New Roman"/>
                <a:cs typeface="Times New Roman"/>
              </a:rPr>
              <a:t> </a:t>
            </a:r>
            <a:r>
              <a:rPr dirty="0" sz="1000" spc="25">
                <a:latin typeface="Times New Roman"/>
                <a:cs typeface="Times New Roman"/>
              </a:rPr>
              <a:t>computing,</a:t>
            </a:r>
            <a:r>
              <a:rPr dirty="0" sz="1000" spc="15">
                <a:latin typeface="Times New Roman"/>
                <a:cs typeface="Times New Roman"/>
              </a:rPr>
              <a:t> </a:t>
            </a:r>
            <a:r>
              <a:rPr dirty="0" sz="1000" spc="-10">
                <a:latin typeface="Times New Roman"/>
                <a:cs typeface="Times New Roman"/>
              </a:rPr>
              <a:t>5(4):377-390,</a:t>
            </a:r>
            <a:r>
              <a:rPr dirty="0" sz="1000" spc="-20">
                <a:latin typeface="Times New Roman"/>
                <a:cs typeface="Times New Roman"/>
              </a:rPr>
              <a:t> </a:t>
            </a:r>
            <a:r>
              <a:rPr dirty="0" sz="1000" spc="-10">
                <a:latin typeface="Times New Roman"/>
                <a:cs typeface="Times New Roman"/>
              </a:rPr>
              <a:t>2014.</a:t>
            </a:r>
            <a:r>
              <a:rPr dirty="0" sz="1000" spc="60">
                <a:latin typeface="Times New Roman"/>
                <a:cs typeface="Times New Roman"/>
              </a:rPr>
              <a:t> </a:t>
            </a:r>
            <a:r>
              <a:rPr dirty="0" sz="1000" spc="-10">
                <a:latin typeface="Times New Roman"/>
                <a:cs typeface="Times New Roman"/>
              </a:rPr>
              <a:t>6</a:t>
            </a:r>
            <a:endParaRPr sz="1000">
              <a:latin typeface="Times New Roman"/>
              <a:cs typeface="Times New Roman"/>
            </a:endParaRPr>
          </a:p>
          <a:p>
            <a:pPr>
              <a:lnSpc>
                <a:spcPct val="100000"/>
              </a:lnSpc>
              <a:spcBef>
                <a:spcPts val="114"/>
              </a:spcBef>
            </a:pPr>
            <a:endParaRPr sz="1000">
              <a:latin typeface="Times New Roman"/>
              <a:cs typeface="Times New Roman"/>
            </a:endParaRPr>
          </a:p>
          <a:p>
            <a:pPr algn="just" marL="192405" marR="427990" indent="195580">
              <a:lnSpc>
                <a:spcPct val="129500"/>
              </a:lnSpc>
              <a:spcBef>
                <a:spcPts val="5"/>
              </a:spcBef>
              <a:buAutoNum type="arabicPlain" startAt="3"/>
              <a:tabLst>
                <a:tab pos="387985" algn="l"/>
              </a:tabLst>
            </a:pPr>
            <a:r>
              <a:rPr dirty="0" sz="1000">
                <a:latin typeface="Times New Roman"/>
                <a:cs typeface="Times New Roman"/>
              </a:rPr>
              <a:t>Houwei</a:t>
            </a:r>
            <a:r>
              <a:rPr dirty="0" sz="1000" spc="175">
                <a:latin typeface="Times New Roman"/>
                <a:cs typeface="Times New Roman"/>
              </a:rPr>
              <a:t> </a:t>
            </a:r>
            <a:r>
              <a:rPr dirty="0" sz="1000">
                <a:latin typeface="Times New Roman"/>
                <a:cs typeface="Times New Roman"/>
              </a:rPr>
              <a:t>Cao</a:t>
            </a:r>
            <a:r>
              <a:rPr dirty="0" sz="1000" spc="105">
                <a:latin typeface="Times New Roman"/>
                <a:cs typeface="Times New Roman"/>
              </a:rPr>
              <a:t>, </a:t>
            </a:r>
            <a:r>
              <a:rPr dirty="0" sz="1000">
                <a:latin typeface="Times New Roman"/>
                <a:cs typeface="Times New Roman"/>
              </a:rPr>
              <a:t>David</a:t>
            </a:r>
            <a:r>
              <a:rPr dirty="0" sz="1000" spc="175">
                <a:latin typeface="Times New Roman"/>
                <a:cs typeface="Times New Roman"/>
              </a:rPr>
              <a:t> </a:t>
            </a:r>
            <a:r>
              <a:rPr dirty="0" sz="1000">
                <a:latin typeface="Times New Roman"/>
                <a:cs typeface="Times New Roman"/>
              </a:rPr>
              <a:t>G</a:t>
            </a:r>
            <a:r>
              <a:rPr dirty="0" sz="1000" spc="180">
                <a:latin typeface="Times New Roman"/>
                <a:cs typeface="Times New Roman"/>
              </a:rPr>
              <a:t> </a:t>
            </a:r>
            <a:r>
              <a:rPr dirty="0" sz="1000">
                <a:latin typeface="Times New Roman"/>
                <a:cs typeface="Times New Roman"/>
              </a:rPr>
              <a:t>Cooper</a:t>
            </a:r>
            <a:r>
              <a:rPr dirty="0" sz="1000" spc="105">
                <a:latin typeface="Times New Roman"/>
                <a:cs typeface="Times New Roman"/>
              </a:rPr>
              <a:t>, </a:t>
            </a:r>
            <a:r>
              <a:rPr dirty="0" sz="1000">
                <a:latin typeface="Times New Roman"/>
                <a:cs typeface="Times New Roman"/>
              </a:rPr>
              <a:t>Michael</a:t>
            </a:r>
            <a:r>
              <a:rPr dirty="0" sz="1000" spc="175">
                <a:latin typeface="Times New Roman"/>
                <a:cs typeface="Times New Roman"/>
              </a:rPr>
              <a:t> </a:t>
            </a:r>
            <a:r>
              <a:rPr dirty="0" sz="1000">
                <a:latin typeface="Times New Roman"/>
                <a:cs typeface="Times New Roman"/>
              </a:rPr>
              <a:t>K</a:t>
            </a:r>
            <a:r>
              <a:rPr dirty="0" sz="1000" spc="180">
                <a:latin typeface="Times New Roman"/>
                <a:cs typeface="Times New Roman"/>
              </a:rPr>
              <a:t> </a:t>
            </a:r>
            <a:r>
              <a:rPr dirty="0" sz="1000">
                <a:latin typeface="Times New Roman"/>
                <a:cs typeface="Times New Roman"/>
              </a:rPr>
              <a:t>Keutmann,</a:t>
            </a:r>
            <a:r>
              <a:rPr dirty="0" sz="1000" spc="215">
                <a:latin typeface="Times New Roman"/>
                <a:cs typeface="Times New Roman"/>
              </a:rPr>
              <a:t> </a:t>
            </a:r>
            <a:r>
              <a:rPr dirty="0" sz="1000">
                <a:latin typeface="Times New Roman"/>
                <a:cs typeface="Times New Roman"/>
              </a:rPr>
              <a:t>Ruben</a:t>
            </a:r>
            <a:r>
              <a:rPr dirty="0" sz="1000" spc="175">
                <a:latin typeface="Times New Roman"/>
                <a:cs typeface="Times New Roman"/>
              </a:rPr>
              <a:t> </a:t>
            </a:r>
            <a:r>
              <a:rPr dirty="0" sz="1000">
                <a:latin typeface="Times New Roman"/>
                <a:cs typeface="Times New Roman"/>
              </a:rPr>
              <a:t>C</a:t>
            </a:r>
            <a:r>
              <a:rPr dirty="0" sz="1000" spc="180">
                <a:latin typeface="Times New Roman"/>
                <a:cs typeface="Times New Roman"/>
              </a:rPr>
              <a:t> </a:t>
            </a:r>
            <a:r>
              <a:rPr dirty="0" sz="1000">
                <a:latin typeface="Times New Roman"/>
                <a:cs typeface="Times New Roman"/>
              </a:rPr>
              <a:t>Gur</a:t>
            </a:r>
            <a:r>
              <a:rPr dirty="0" sz="1000" spc="105">
                <a:latin typeface="Times New Roman"/>
                <a:cs typeface="Times New Roman"/>
              </a:rPr>
              <a:t>, </a:t>
            </a:r>
            <a:r>
              <a:rPr dirty="0" sz="1000">
                <a:latin typeface="Times New Roman"/>
                <a:cs typeface="Times New Roman"/>
              </a:rPr>
              <a:t>Ani</a:t>
            </a:r>
            <a:r>
              <a:rPr dirty="0" sz="1000" spc="175">
                <a:latin typeface="Times New Roman"/>
                <a:cs typeface="Times New Roman"/>
              </a:rPr>
              <a:t> </a:t>
            </a:r>
            <a:r>
              <a:rPr dirty="0" sz="1000">
                <a:latin typeface="Times New Roman"/>
                <a:cs typeface="Times New Roman"/>
              </a:rPr>
              <a:t>Nenkova,</a:t>
            </a:r>
            <a:r>
              <a:rPr dirty="0" sz="1000" spc="220">
                <a:latin typeface="Times New Roman"/>
                <a:cs typeface="Times New Roman"/>
              </a:rPr>
              <a:t> </a:t>
            </a:r>
            <a:r>
              <a:rPr dirty="0" sz="1000">
                <a:latin typeface="Times New Roman"/>
                <a:cs typeface="Times New Roman"/>
              </a:rPr>
              <a:t>and</a:t>
            </a:r>
            <a:r>
              <a:rPr dirty="0" sz="1000" spc="175">
                <a:latin typeface="Times New Roman"/>
                <a:cs typeface="Times New Roman"/>
              </a:rPr>
              <a:t> </a:t>
            </a:r>
            <a:r>
              <a:rPr dirty="0" sz="1000" spc="-10">
                <a:latin typeface="Times New Roman"/>
                <a:cs typeface="Times New Roman"/>
              </a:rPr>
              <a:t>Ragini </a:t>
            </a:r>
            <a:r>
              <a:rPr dirty="0" sz="1000">
                <a:latin typeface="Times New Roman"/>
                <a:cs typeface="Times New Roman"/>
              </a:rPr>
              <a:t>Verma</a:t>
            </a:r>
            <a:r>
              <a:rPr dirty="0" sz="1000" spc="-10">
                <a:latin typeface="SimSun"/>
                <a:cs typeface="SimSun"/>
              </a:rPr>
              <a:t>。</a:t>
            </a:r>
            <a:r>
              <a:rPr dirty="0" sz="1000">
                <a:latin typeface="Times New Roman"/>
                <a:cs typeface="Times New Roman"/>
              </a:rPr>
              <a:t>Crema</a:t>
            </a:r>
            <a:r>
              <a:rPr dirty="0" sz="1000" spc="100">
                <a:latin typeface="Times New Roman"/>
                <a:cs typeface="Times New Roman"/>
              </a:rPr>
              <a:t> - </a:t>
            </a:r>
            <a:r>
              <a:rPr dirty="0" sz="1000">
                <a:latin typeface="Times New Roman"/>
                <a:cs typeface="Times New Roman"/>
              </a:rPr>
              <a:t>d:</a:t>
            </a:r>
            <a:r>
              <a:rPr dirty="0" sz="1000" spc="150">
                <a:latin typeface="Times New Roman"/>
                <a:cs typeface="Times New Roman"/>
              </a:rPr>
              <a:t> </a:t>
            </a:r>
            <a:r>
              <a:rPr dirty="0" sz="1000" spc="-15">
                <a:latin typeface="SimSun"/>
                <a:cs typeface="SimSun"/>
              </a:rPr>
              <a:t>众包情感多模态演员数据集。《</a:t>
            </a:r>
            <a:r>
              <a:rPr dirty="0" sz="1000">
                <a:latin typeface="Times New Roman"/>
                <a:cs typeface="Times New Roman"/>
              </a:rPr>
              <a:t>IEEE</a:t>
            </a:r>
            <a:r>
              <a:rPr dirty="0" sz="1000" spc="150">
                <a:latin typeface="Times New Roman"/>
                <a:cs typeface="Times New Roman"/>
              </a:rPr>
              <a:t> </a:t>
            </a:r>
            <a:r>
              <a:rPr dirty="0" sz="1000" spc="-15">
                <a:latin typeface="SimSun"/>
                <a:cs typeface="SimSun"/>
              </a:rPr>
              <a:t>情感计算汇刊》，</a:t>
            </a:r>
            <a:r>
              <a:rPr dirty="0" sz="1000">
                <a:latin typeface="Times New Roman"/>
                <a:cs typeface="Times New Roman"/>
              </a:rPr>
              <a:t>5(4):377</a:t>
            </a:r>
            <a:r>
              <a:rPr dirty="0" sz="1000" spc="100">
                <a:latin typeface="Times New Roman"/>
                <a:cs typeface="Times New Roman"/>
              </a:rPr>
              <a:t> - </a:t>
            </a:r>
            <a:r>
              <a:rPr dirty="0" sz="1000" spc="-10">
                <a:latin typeface="Times New Roman"/>
                <a:cs typeface="Times New Roman"/>
              </a:rPr>
              <a:t>390</a:t>
            </a:r>
            <a:r>
              <a:rPr dirty="0" sz="1000" spc="-10">
                <a:latin typeface="SimSun"/>
                <a:cs typeface="SimSun"/>
              </a:rPr>
              <a:t>，</a:t>
            </a:r>
            <a:r>
              <a:rPr dirty="0" sz="1000" spc="-10">
                <a:latin typeface="Times New Roman"/>
                <a:cs typeface="Times New Roman"/>
              </a:rPr>
              <a:t>2014</a:t>
            </a:r>
            <a:r>
              <a:rPr dirty="0" sz="1000" spc="-10">
                <a:latin typeface="SimSun"/>
                <a:cs typeface="SimSun"/>
              </a:rPr>
              <a:t>年。</a:t>
            </a:r>
            <a:r>
              <a:rPr dirty="0" sz="1000" spc="-50">
                <a:latin typeface="Times New Roman"/>
                <a:cs typeface="Times New Roman"/>
              </a:rPr>
              <a:t>6</a:t>
            </a:r>
            <a:endParaRPr sz="1000">
              <a:latin typeface="Times New Roman"/>
              <a:cs typeface="Times New Roman"/>
            </a:endParaRPr>
          </a:p>
          <a:p>
            <a:pPr>
              <a:lnSpc>
                <a:spcPct val="100000"/>
              </a:lnSpc>
              <a:spcBef>
                <a:spcPts val="90"/>
              </a:spcBef>
              <a:buFont typeface="Times New Roman"/>
              <a:buAutoNum type="arabicPlain" startAt="3"/>
            </a:pPr>
            <a:endParaRPr sz="1000">
              <a:latin typeface="Times New Roman"/>
              <a:cs typeface="Times New Roman"/>
            </a:endParaRPr>
          </a:p>
          <a:p>
            <a:pPr marL="12700" marR="5080" indent="422275">
              <a:lnSpc>
                <a:spcPct val="129500"/>
              </a:lnSpc>
              <a:buAutoNum type="arabicPlain" startAt="3"/>
              <a:tabLst>
                <a:tab pos="434975" algn="l"/>
              </a:tabLst>
            </a:pPr>
            <a:r>
              <a:rPr dirty="0" sz="1000">
                <a:latin typeface="Times New Roman"/>
                <a:cs typeface="Times New Roman"/>
              </a:rPr>
              <a:t>Jinming</a:t>
            </a:r>
            <a:r>
              <a:rPr dirty="0" sz="1000" spc="5">
                <a:latin typeface="Times New Roman"/>
                <a:cs typeface="Times New Roman"/>
              </a:rPr>
              <a:t> </a:t>
            </a:r>
            <a:r>
              <a:rPr dirty="0" sz="1000">
                <a:latin typeface="Times New Roman"/>
                <a:cs typeface="Times New Roman"/>
              </a:rPr>
              <a:t>Cao,</a:t>
            </a:r>
            <a:r>
              <a:rPr dirty="0" sz="1000" spc="30">
                <a:latin typeface="Times New Roman"/>
                <a:cs typeface="Times New Roman"/>
              </a:rPr>
              <a:t> </a:t>
            </a:r>
            <a:r>
              <a:rPr dirty="0" sz="1000">
                <a:latin typeface="Times New Roman"/>
                <a:cs typeface="Times New Roman"/>
              </a:rPr>
              <a:t>Hanchao</a:t>
            </a:r>
            <a:r>
              <a:rPr dirty="0" sz="1000" spc="10">
                <a:latin typeface="Times New Roman"/>
                <a:cs typeface="Times New Roman"/>
              </a:rPr>
              <a:t> </a:t>
            </a:r>
            <a:r>
              <a:rPr dirty="0" sz="1000">
                <a:latin typeface="Times New Roman"/>
                <a:cs typeface="Times New Roman"/>
              </a:rPr>
              <a:t>Leng,</a:t>
            </a:r>
            <a:r>
              <a:rPr dirty="0" sz="1000" spc="30">
                <a:latin typeface="Times New Roman"/>
                <a:cs typeface="Times New Roman"/>
              </a:rPr>
              <a:t> </a:t>
            </a:r>
            <a:r>
              <a:rPr dirty="0" sz="1000">
                <a:latin typeface="Times New Roman"/>
                <a:cs typeface="Times New Roman"/>
              </a:rPr>
              <a:t>Dani</a:t>
            </a:r>
            <a:r>
              <a:rPr dirty="0" sz="1000" spc="10">
                <a:latin typeface="Times New Roman"/>
                <a:cs typeface="Times New Roman"/>
              </a:rPr>
              <a:t> </a:t>
            </a:r>
            <a:r>
              <a:rPr dirty="0" sz="1000">
                <a:latin typeface="Times New Roman"/>
                <a:cs typeface="Times New Roman"/>
              </a:rPr>
              <a:t>Lischinski,</a:t>
            </a:r>
            <a:r>
              <a:rPr dirty="0" sz="1000" spc="30">
                <a:latin typeface="Times New Roman"/>
                <a:cs typeface="Times New Roman"/>
              </a:rPr>
              <a:t> </a:t>
            </a:r>
            <a:r>
              <a:rPr dirty="0" sz="1000">
                <a:latin typeface="Times New Roman"/>
                <a:cs typeface="Times New Roman"/>
              </a:rPr>
              <a:t>Daniel</a:t>
            </a:r>
            <a:r>
              <a:rPr dirty="0" sz="1000" spc="10">
                <a:latin typeface="Times New Roman"/>
                <a:cs typeface="Times New Roman"/>
              </a:rPr>
              <a:t> </a:t>
            </a:r>
            <a:r>
              <a:rPr dirty="0" sz="1000">
                <a:latin typeface="Times New Roman"/>
                <a:cs typeface="Times New Roman"/>
              </a:rPr>
              <a:t>Cohen-</a:t>
            </a:r>
            <a:r>
              <a:rPr dirty="0" sz="1000" spc="-10">
                <a:latin typeface="Times New Roman"/>
                <a:cs typeface="Times New Roman"/>
              </a:rPr>
              <a:t>Or,</a:t>
            </a:r>
            <a:r>
              <a:rPr dirty="0" sz="1000" spc="30">
                <a:latin typeface="Times New Roman"/>
                <a:cs typeface="Times New Roman"/>
              </a:rPr>
              <a:t> </a:t>
            </a:r>
            <a:r>
              <a:rPr dirty="0" sz="1000">
                <a:latin typeface="Times New Roman"/>
                <a:cs typeface="Times New Roman"/>
              </a:rPr>
              <a:t>Changhe</a:t>
            </a:r>
            <a:r>
              <a:rPr dirty="0" sz="1000" spc="10">
                <a:latin typeface="Times New Roman"/>
                <a:cs typeface="Times New Roman"/>
              </a:rPr>
              <a:t> </a:t>
            </a:r>
            <a:r>
              <a:rPr dirty="0" sz="1000">
                <a:latin typeface="Times New Roman"/>
                <a:cs typeface="Times New Roman"/>
              </a:rPr>
              <a:t>Tu,</a:t>
            </a:r>
            <a:r>
              <a:rPr dirty="0" sz="1000" spc="30">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spc="-10">
                <a:latin typeface="Times New Roman"/>
                <a:cs typeface="Times New Roman"/>
              </a:rPr>
              <a:t>Yangyan</a:t>
            </a:r>
            <a:r>
              <a:rPr dirty="0" sz="1000" spc="5">
                <a:latin typeface="Times New Roman"/>
                <a:cs typeface="Times New Roman"/>
              </a:rPr>
              <a:t> </a:t>
            </a:r>
            <a:r>
              <a:rPr dirty="0" sz="1000">
                <a:latin typeface="Times New Roman"/>
                <a:cs typeface="Times New Roman"/>
              </a:rPr>
              <a:t>Li.</a:t>
            </a:r>
            <a:r>
              <a:rPr dirty="0" sz="1000" spc="225">
                <a:latin typeface="Times New Roman"/>
                <a:cs typeface="Times New Roman"/>
              </a:rPr>
              <a:t> </a:t>
            </a:r>
            <a:r>
              <a:rPr dirty="0" sz="1000" spc="-10">
                <a:latin typeface="Times New Roman"/>
                <a:cs typeface="Times New Roman"/>
              </a:rPr>
              <a:t>Shapeconv: </a:t>
            </a:r>
            <a:r>
              <a:rPr dirty="0" sz="1000">
                <a:latin typeface="Times New Roman"/>
                <a:cs typeface="Times New Roman"/>
              </a:rPr>
              <a:t>Shape-aware</a:t>
            </a:r>
            <a:r>
              <a:rPr dirty="0" sz="1000" spc="145">
                <a:latin typeface="Times New Roman"/>
                <a:cs typeface="Times New Roman"/>
              </a:rPr>
              <a:t> </a:t>
            </a:r>
            <a:r>
              <a:rPr dirty="0" sz="1000">
                <a:latin typeface="Times New Roman"/>
                <a:cs typeface="Times New Roman"/>
              </a:rPr>
              <a:t>convolutional</a:t>
            </a:r>
            <a:r>
              <a:rPr dirty="0" sz="1000" spc="145">
                <a:latin typeface="Times New Roman"/>
                <a:cs typeface="Times New Roman"/>
              </a:rPr>
              <a:t> </a:t>
            </a:r>
            <a:r>
              <a:rPr dirty="0" sz="1000">
                <a:latin typeface="Times New Roman"/>
                <a:cs typeface="Times New Roman"/>
              </a:rPr>
              <a:t>layer</a:t>
            </a:r>
            <a:r>
              <a:rPr dirty="0" sz="1000" spc="150">
                <a:latin typeface="Times New Roman"/>
                <a:cs typeface="Times New Roman"/>
              </a:rPr>
              <a:t> </a:t>
            </a:r>
            <a:r>
              <a:rPr dirty="0" sz="1000">
                <a:latin typeface="Times New Roman"/>
                <a:cs typeface="Times New Roman"/>
              </a:rPr>
              <a:t>for</a:t>
            </a:r>
            <a:r>
              <a:rPr dirty="0" sz="1000" spc="145">
                <a:latin typeface="Times New Roman"/>
                <a:cs typeface="Times New Roman"/>
              </a:rPr>
              <a:t> </a:t>
            </a:r>
            <a:r>
              <a:rPr dirty="0" sz="1000">
                <a:latin typeface="Times New Roman"/>
                <a:cs typeface="Times New Roman"/>
              </a:rPr>
              <a:t>indoor</a:t>
            </a:r>
            <a:r>
              <a:rPr dirty="0" sz="1000" spc="150">
                <a:latin typeface="Times New Roman"/>
                <a:cs typeface="Times New Roman"/>
              </a:rPr>
              <a:t> </a:t>
            </a:r>
            <a:r>
              <a:rPr dirty="0" sz="1000">
                <a:latin typeface="Times New Roman"/>
                <a:cs typeface="Times New Roman"/>
              </a:rPr>
              <a:t>rgb-d</a:t>
            </a:r>
            <a:r>
              <a:rPr dirty="0" sz="1000" spc="145">
                <a:latin typeface="Times New Roman"/>
                <a:cs typeface="Times New Roman"/>
              </a:rPr>
              <a:t> </a:t>
            </a:r>
            <a:r>
              <a:rPr dirty="0" sz="1000">
                <a:latin typeface="Times New Roman"/>
                <a:cs typeface="Times New Roman"/>
              </a:rPr>
              <a:t>semantic</a:t>
            </a:r>
            <a:r>
              <a:rPr dirty="0" sz="1000" spc="145">
                <a:latin typeface="Times New Roman"/>
                <a:cs typeface="Times New Roman"/>
              </a:rPr>
              <a:t> </a:t>
            </a:r>
            <a:r>
              <a:rPr dirty="0" sz="1000">
                <a:latin typeface="Times New Roman"/>
                <a:cs typeface="Times New Roman"/>
              </a:rPr>
              <a:t>segmentation.</a:t>
            </a:r>
            <a:r>
              <a:rPr dirty="0" sz="1000" spc="375">
                <a:latin typeface="Times New Roman"/>
                <a:cs typeface="Times New Roman"/>
              </a:rPr>
              <a:t> </a:t>
            </a:r>
            <a:r>
              <a:rPr dirty="0" sz="1000">
                <a:latin typeface="Times New Roman"/>
                <a:cs typeface="Times New Roman"/>
              </a:rPr>
              <a:t>In</a:t>
            </a:r>
            <a:r>
              <a:rPr dirty="0" sz="1000" spc="150">
                <a:latin typeface="Times New Roman"/>
                <a:cs typeface="Times New Roman"/>
              </a:rPr>
              <a:t> </a:t>
            </a:r>
            <a:r>
              <a:rPr dirty="0" sz="1000">
                <a:latin typeface="Times New Roman"/>
                <a:cs typeface="Times New Roman"/>
              </a:rPr>
              <a:t>Proceedings</a:t>
            </a:r>
            <a:r>
              <a:rPr dirty="0" sz="1000" spc="145">
                <a:latin typeface="Times New Roman"/>
                <a:cs typeface="Times New Roman"/>
              </a:rPr>
              <a:t> </a:t>
            </a:r>
            <a:r>
              <a:rPr dirty="0" sz="1000">
                <a:latin typeface="Times New Roman"/>
                <a:cs typeface="Times New Roman"/>
              </a:rPr>
              <a:t>of</a:t>
            </a:r>
            <a:r>
              <a:rPr dirty="0" sz="1000" spc="150">
                <a:latin typeface="Times New Roman"/>
                <a:cs typeface="Times New Roman"/>
              </a:rPr>
              <a:t> </a:t>
            </a:r>
            <a:r>
              <a:rPr dirty="0" sz="1000">
                <a:latin typeface="Times New Roman"/>
                <a:cs typeface="Times New Roman"/>
              </a:rPr>
              <a:t>the</a:t>
            </a:r>
            <a:r>
              <a:rPr dirty="0" sz="1000" spc="145">
                <a:latin typeface="Times New Roman"/>
                <a:cs typeface="Times New Roman"/>
              </a:rPr>
              <a:t> </a:t>
            </a:r>
            <a:r>
              <a:rPr dirty="0" sz="1000" spc="-10">
                <a:latin typeface="Times New Roman"/>
                <a:cs typeface="Times New Roman"/>
              </a:rPr>
              <a:t>IEEE/CVF </a:t>
            </a:r>
            <a:r>
              <a:rPr dirty="0" sz="1000">
                <a:latin typeface="Times New Roman"/>
                <a:cs typeface="Times New Roman"/>
              </a:rPr>
              <a:t>International</a:t>
            </a:r>
            <a:r>
              <a:rPr dirty="0" sz="1000" spc="85">
                <a:latin typeface="Times New Roman"/>
                <a:cs typeface="Times New Roman"/>
              </a:rPr>
              <a:t> </a:t>
            </a:r>
            <a:r>
              <a:rPr dirty="0" sz="1000">
                <a:latin typeface="Times New Roman"/>
                <a:cs typeface="Times New Roman"/>
              </a:rPr>
              <a:t>Conference</a:t>
            </a:r>
            <a:r>
              <a:rPr dirty="0" sz="1000" spc="90">
                <a:latin typeface="Times New Roman"/>
                <a:cs typeface="Times New Roman"/>
              </a:rPr>
              <a:t> </a:t>
            </a:r>
            <a:r>
              <a:rPr dirty="0" sz="1000">
                <a:latin typeface="Times New Roman"/>
                <a:cs typeface="Times New Roman"/>
              </a:rPr>
              <a:t>on</a:t>
            </a:r>
            <a:r>
              <a:rPr dirty="0" sz="1000" spc="90">
                <a:latin typeface="Times New Roman"/>
                <a:cs typeface="Times New Roman"/>
              </a:rPr>
              <a:t> </a:t>
            </a:r>
            <a:r>
              <a:rPr dirty="0" sz="1000">
                <a:latin typeface="Times New Roman"/>
                <a:cs typeface="Times New Roman"/>
              </a:rPr>
              <a:t>Computer</a:t>
            </a:r>
            <a:r>
              <a:rPr dirty="0" sz="1000" spc="90">
                <a:latin typeface="Times New Roman"/>
                <a:cs typeface="Times New Roman"/>
              </a:rPr>
              <a:t> </a:t>
            </a:r>
            <a:r>
              <a:rPr dirty="0" sz="1000">
                <a:latin typeface="Times New Roman"/>
                <a:cs typeface="Times New Roman"/>
              </a:rPr>
              <a:t>Vision,</a:t>
            </a:r>
            <a:r>
              <a:rPr dirty="0" sz="1000" spc="90">
                <a:latin typeface="Times New Roman"/>
                <a:cs typeface="Times New Roman"/>
              </a:rPr>
              <a:t> </a:t>
            </a:r>
            <a:r>
              <a:rPr dirty="0" sz="1000">
                <a:latin typeface="Times New Roman"/>
                <a:cs typeface="Times New Roman"/>
              </a:rPr>
              <a:t>pages</a:t>
            </a:r>
            <a:r>
              <a:rPr dirty="0" sz="1000" spc="90">
                <a:latin typeface="Times New Roman"/>
                <a:cs typeface="Times New Roman"/>
              </a:rPr>
              <a:t> </a:t>
            </a:r>
            <a:r>
              <a:rPr dirty="0" sz="1000" spc="-10">
                <a:latin typeface="Times New Roman"/>
                <a:cs typeface="Times New Roman"/>
              </a:rPr>
              <a:t>7088-7097,</a:t>
            </a:r>
            <a:r>
              <a:rPr dirty="0" sz="1000" spc="90">
                <a:latin typeface="Times New Roman"/>
                <a:cs typeface="Times New Roman"/>
              </a:rPr>
              <a:t> </a:t>
            </a:r>
            <a:r>
              <a:rPr dirty="0" sz="1000">
                <a:latin typeface="Times New Roman"/>
                <a:cs typeface="Times New Roman"/>
              </a:rPr>
              <a:t>2021.</a:t>
            </a:r>
            <a:r>
              <a:rPr dirty="0" sz="1000" spc="204">
                <a:latin typeface="Times New Roman"/>
                <a:cs typeface="Times New Roman"/>
              </a:rPr>
              <a:t> </a:t>
            </a:r>
            <a:r>
              <a:rPr dirty="0" sz="1000">
                <a:latin typeface="Times New Roman"/>
                <a:cs typeface="Times New Roman"/>
              </a:rPr>
              <a:t>1,</a:t>
            </a:r>
            <a:r>
              <a:rPr dirty="0" sz="1000" spc="90">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120"/>
              </a:spcBef>
            </a:pPr>
            <a:endParaRPr sz="1000">
              <a:latin typeface="Times New Roman"/>
              <a:cs typeface="Times New Roman"/>
            </a:endParaRPr>
          </a:p>
          <a:p>
            <a:pPr algn="just" marL="192405" marR="330835" indent="186055">
              <a:lnSpc>
                <a:spcPct val="129500"/>
              </a:lnSpc>
              <a:buAutoNum type="arabicPlain" startAt="4"/>
              <a:tabLst>
                <a:tab pos="378460" algn="l"/>
              </a:tabLst>
            </a:pPr>
            <a:r>
              <a:rPr dirty="0" sz="1000" spc="30">
                <a:latin typeface="Times New Roman"/>
                <a:cs typeface="Times New Roman"/>
              </a:rPr>
              <a:t>Jinming</a:t>
            </a:r>
            <a:r>
              <a:rPr dirty="0" sz="1000" spc="35">
                <a:latin typeface="Times New Roman"/>
                <a:cs typeface="Times New Roman"/>
              </a:rPr>
              <a:t> </a:t>
            </a:r>
            <a:r>
              <a:rPr dirty="0" sz="1000">
                <a:latin typeface="Times New Roman"/>
                <a:cs typeface="Times New Roman"/>
              </a:rPr>
              <a:t>Cao</a:t>
            </a:r>
            <a:r>
              <a:rPr dirty="0" sz="1000" spc="20">
                <a:latin typeface="Times New Roman"/>
                <a:cs typeface="Times New Roman"/>
              </a:rPr>
              <a:t>, </a:t>
            </a:r>
            <a:r>
              <a:rPr dirty="0" sz="1000" spc="35">
                <a:latin typeface="Times New Roman"/>
                <a:cs typeface="Times New Roman"/>
              </a:rPr>
              <a:t>Hanchao </a:t>
            </a:r>
            <a:r>
              <a:rPr dirty="0" sz="1000">
                <a:latin typeface="Times New Roman"/>
                <a:cs typeface="Times New Roman"/>
              </a:rPr>
              <a:t>Leng,</a:t>
            </a:r>
            <a:r>
              <a:rPr dirty="0" sz="1000" spc="50">
                <a:latin typeface="Times New Roman"/>
                <a:cs typeface="Times New Roman"/>
              </a:rPr>
              <a:t> </a:t>
            </a:r>
            <a:r>
              <a:rPr dirty="0" sz="1000" spc="20">
                <a:latin typeface="Times New Roman"/>
                <a:cs typeface="Times New Roman"/>
              </a:rPr>
              <a:t>Dani</a:t>
            </a:r>
            <a:r>
              <a:rPr dirty="0" sz="1000" spc="35">
                <a:latin typeface="Times New Roman"/>
                <a:cs typeface="Times New Roman"/>
              </a:rPr>
              <a:t> </a:t>
            </a:r>
            <a:r>
              <a:rPr dirty="0" sz="1000" spc="15">
                <a:latin typeface="Times New Roman"/>
                <a:cs typeface="Times New Roman"/>
              </a:rPr>
              <a:t>Lischinski,</a:t>
            </a:r>
            <a:r>
              <a:rPr dirty="0" sz="1000" spc="45">
                <a:latin typeface="Times New Roman"/>
                <a:cs typeface="Times New Roman"/>
              </a:rPr>
              <a:t> </a:t>
            </a:r>
            <a:r>
              <a:rPr dirty="0" sz="1000" spc="15">
                <a:latin typeface="Times New Roman"/>
                <a:cs typeface="Times New Roman"/>
              </a:rPr>
              <a:t>Daniel</a:t>
            </a:r>
            <a:r>
              <a:rPr dirty="0" sz="1000" spc="35">
                <a:latin typeface="Times New Roman"/>
                <a:cs typeface="Times New Roman"/>
              </a:rPr>
              <a:t> </a:t>
            </a:r>
            <a:r>
              <a:rPr dirty="0" sz="1000" spc="30">
                <a:latin typeface="Times New Roman"/>
                <a:cs typeface="Times New Roman"/>
              </a:rPr>
              <a:t>Cohen</a:t>
            </a:r>
            <a:r>
              <a:rPr dirty="0" sz="1000" spc="10">
                <a:latin typeface="Times New Roman"/>
                <a:cs typeface="Times New Roman"/>
              </a:rPr>
              <a:t> - </a:t>
            </a:r>
            <a:r>
              <a:rPr dirty="0" sz="1000" spc="-10">
                <a:latin typeface="Times New Roman"/>
                <a:cs typeface="Times New Roman"/>
              </a:rPr>
              <a:t>Or</a:t>
            </a:r>
            <a:r>
              <a:rPr dirty="0" sz="1000" spc="15">
                <a:latin typeface="Times New Roman"/>
                <a:cs typeface="Times New Roman"/>
              </a:rPr>
              <a:t>, </a:t>
            </a:r>
            <a:r>
              <a:rPr dirty="0" sz="1000" spc="35">
                <a:latin typeface="Times New Roman"/>
                <a:cs typeface="Times New Roman"/>
              </a:rPr>
              <a:t>Changhe </a:t>
            </a:r>
            <a:r>
              <a:rPr dirty="0" sz="1000" spc="5">
                <a:latin typeface="Times New Roman"/>
                <a:cs typeface="Times New Roman"/>
              </a:rPr>
              <a:t>Tu,</a:t>
            </a:r>
            <a:r>
              <a:rPr dirty="0" sz="1000" spc="45">
                <a:latin typeface="Times New Roman"/>
                <a:cs typeface="Times New Roman"/>
              </a:rPr>
              <a:t> </a:t>
            </a:r>
            <a:r>
              <a:rPr dirty="0" sz="1000" spc="40">
                <a:latin typeface="Times New Roman"/>
                <a:cs typeface="Times New Roman"/>
              </a:rPr>
              <a:t>and</a:t>
            </a:r>
            <a:r>
              <a:rPr dirty="0" sz="1000" spc="35">
                <a:latin typeface="Times New Roman"/>
                <a:cs typeface="Times New Roman"/>
              </a:rPr>
              <a:t> </a:t>
            </a:r>
            <a:r>
              <a:rPr dirty="0" sz="1000" spc="-5">
                <a:latin typeface="Times New Roman"/>
                <a:cs typeface="Times New Roman"/>
              </a:rPr>
              <a:t>Yangyan</a:t>
            </a:r>
            <a:r>
              <a:rPr dirty="0" sz="1000" spc="35">
                <a:latin typeface="Times New Roman"/>
                <a:cs typeface="Times New Roman"/>
              </a:rPr>
              <a:t> </a:t>
            </a:r>
            <a:r>
              <a:rPr dirty="0" sz="1000" spc="-15">
                <a:latin typeface="Times New Roman"/>
                <a:cs typeface="Times New Roman"/>
              </a:rPr>
              <a:t>Li</a:t>
            </a:r>
            <a:r>
              <a:rPr dirty="0" sz="1000" spc="-10">
                <a:latin typeface="SimSun"/>
                <a:cs typeface="SimSun"/>
              </a:rPr>
              <a:t>。</a:t>
            </a:r>
            <a:r>
              <a:rPr dirty="0" sz="1000" spc="-5">
                <a:latin typeface="SimSun"/>
                <a:cs typeface="SimSun"/>
              </a:rPr>
              <a:t> </a:t>
            </a:r>
            <a:r>
              <a:rPr dirty="0" sz="1000" spc="5">
                <a:latin typeface="Times New Roman"/>
                <a:cs typeface="Times New Roman"/>
              </a:rPr>
              <a:t>Shapeconv:</a:t>
            </a:r>
            <a:r>
              <a:rPr dirty="0" sz="1000" spc="-55">
                <a:latin typeface="Times New Roman"/>
                <a:cs typeface="Times New Roman"/>
              </a:rPr>
              <a:t> </a:t>
            </a:r>
            <a:r>
              <a:rPr dirty="0" sz="1000" spc="35">
                <a:latin typeface="SimSun"/>
                <a:cs typeface="SimSun"/>
              </a:rPr>
              <a:t>用于室内</a:t>
            </a:r>
            <a:r>
              <a:rPr dirty="0" sz="1000" spc="10">
                <a:latin typeface="Times New Roman"/>
                <a:cs typeface="Times New Roman"/>
              </a:rPr>
              <a:t>rgb</a:t>
            </a:r>
            <a:r>
              <a:rPr dirty="0" sz="1000" spc="-50">
                <a:latin typeface="Times New Roman"/>
                <a:cs typeface="Times New Roman"/>
              </a:rPr>
              <a:t> - </a:t>
            </a:r>
            <a:r>
              <a:rPr dirty="0" sz="1000" spc="35">
                <a:latin typeface="Times New Roman"/>
                <a:cs typeface="Times New Roman"/>
              </a:rPr>
              <a:t>d</a:t>
            </a:r>
            <a:r>
              <a:rPr dirty="0" sz="1000" spc="-55">
                <a:latin typeface="Times New Roman"/>
                <a:cs typeface="Times New Roman"/>
              </a:rPr>
              <a:t> </a:t>
            </a:r>
            <a:r>
              <a:rPr dirty="0" sz="1000" spc="-10">
                <a:latin typeface="SimSun"/>
                <a:cs typeface="SimSun"/>
              </a:rPr>
              <a:t>语义分割的形状感知卷积层</a:t>
            </a:r>
            <a:r>
              <a:rPr dirty="0" sz="1000" spc="-425">
                <a:latin typeface="SimSun"/>
                <a:cs typeface="SimSun"/>
              </a:rPr>
              <a:t>。《</a:t>
            </a:r>
            <a:r>
              <a:rPr dirty="0" sz="1000" spc="15">
                <a:latin typeface="Times New Roman"/>
                <a:cs typeface="Times New Roman"/>
              </a:rPr>
              <a:t>IEEE/CVF</a:t>
            </a:r>
            <a:r>
              <a:rPr dirty="0" sz="1000" spc="-55">
                <a:latin typeface="Times New Roman"/>
                <a:cs typeface="Times New Roman"/>
              </a:rPr>
              <a:t> </a:t>
            </a:r>
            <a:r>
              <a:rPr dirty="0" sz="1000" spc="-50">
                <a:latin typeface="SimSun"/>
                <a:cs typeface="SimSun"/>
              </a:rPr>
              <a:t>国际计算机视觉会议论文集》，</a:t>
            </a:r>
            <a:r>
              <a:rPr dirty="0" sz="1000" spc="-145">
                <a:latin typeface="SimSun"/>
                <a:cs typeface="SimSun"/>
              </a:rPr>
              <a:t>第 </a:t>
            </a:r>
            <a:r>
              <a:rPr dirty="0" sz="1000" spc="-10">
                <a:latin typeface="Times New Roman"/>
                <a:cs typeface="Times New Roman"/>
              </a:rPr>
              <a:t>7088</a:t>
            </a:r>
            <a:r>
              <a:rPr dirty="0" sz="1000" spc="-25">
                <a:latin typeface="Times New Roman"/>
                <a:cs typeface="Times New Roman"/>
              </a:rPr>
              <a:t> - </a:t>
            </a:r>
            <a:r>
              <a:rPr dirty="0" sz="1000" spc="-10">
                <a:latin typeface="Times New Roman"/>
                <a:cs typeface="Times New Roman"/>
              </a:rPr>
              <a:t>7097</a:t>
            </a:r>
            <a:r>
              <a:rPr dirty="0" sz="1000" spc="-20">
                <a:latin typeface="Times New Roman"/>
                <a:cs typeface="Times New Roman"/>
              </a:rPr>
              <a:t> </a:t>
            </a:r>
            <a:r>
              <a:rPr dirty="0" sz="1000" spc="-10">
                <a:latin typeface="SimSun"/>
                <a:cs typeface="SimSun"/>
              </a:rPr>
              <a:t>页，</a:t>
            </a:r>
            <a:r>
              <a:rPr dirty="0" sz="1000" spc="-10">
                <a:latin typeface="Times New Roman"/>
                <a:cs typeface="Times New Roman"/>
              </a:rPr>
              <a:t>2021</a:t>
            </a:r>
            <a:r>
              <a:rPr dirty="0" sz="1000" spc="-20">
                <a:latin typeface="Times New Roman"/>
                <a:cs typeface="Times New Roman"/>
              </a:rPr>
              <a:t> </a:t>
            </a:r>
            <a:r>
              <a:rPr dirty="0" sz="1000" spc="-10">
                <a:latin typeface="SimSun"/>
                <a:cs typeface="SimSun"/>
              </a:rPr>
              <a:t>年。</a:t>
            </a:r>
            <a:r>
              <a:rPr dirty="0" sz="1000" spc="-10">
                <a:latin typeface="Times New Roman"/>
                <a:cs typeface="Times New Roman"/>
              </a:rPr>
              <a:t>1</a:t>
            </a:r>
            <a:r>
              <a:rPr dirty="0" sz="1000" spc="-10">
                <a:latin typeface="SimSun"/>
                <a:cs typeface="SimSun"/>
              </a:rPr>
              <a:t>，</a:t>
            </a:r>
            <a:r>
              <a:rPr dirty="0" sz="1000" spc="-10">
                <a:latin typeface="Times New Roman"/>
                <a:cs typeface="Times New Roman"/>
              </a:rPr>
              <a:t>2</a:t>
            </a:r>
            <a:endParaRPr sz="1000">
              <a:latin typeface="Times New Roman"/>
              <a:cs typeface="Times New Roman"/>
            </a:endParaRPr>
          </a:p>
          <a:p>
            <a:pPr>
              <a:lnSpc>
                <a:spcPct val="100000"/>
              </a:lnSpc>
              <a:spcBef>
                <a:spcPts val="204"/>
              </a:spcBef>
              <a:buFont typeface="Times New Roman"/>
              <a:buAutoNum type="arabicPlain" startAt="4"/>
            </a:pPr>
            <a:endParaRPr sz="1000">
              <a:latin typeface="Times New Roman"/>
              <a:cs typeface="Times New Roman"/>
            </a:endParaRPr>
          </a:p>
          <a:p>
            <a:pPr algn="just" marL="12700" marR="248285" indent="435609">
              <a:lnSpc>
                <a:spcPct val="129500"/>
              </a:lnSpc>
              <a:buAutoNum type="arabicPlain" startAt="4"/>
              <a:tabLst>
                <a:tab pos="448309" algn="l"/>
              </a:tabLst>
            </a:pPr>
            <a:r>
              <a:rPr dirty="0" sz="1000">
                <a:latin typeface="Times New Roman"/>
                <a:cs typeface="Times New Roman"/>
              </a:rPr>
              <a:t>Honglie</a:t>
            </a:r>
            <a:r>
              <a:rPr dirty="0" sz="1000" spc="80">
                <a:latin typeface="Times New Roman"/>
                <a:cs typeface="Times New Roman"/>
              </a:rPr>
              <a:t> </a:t>
            </a:r>
            <a:r>
              <a:rPr dirty="0" sz="1000">
                <a:latin typeface="Times New Roman"/>
                <a:cs typeface="Times New Roman"/>
              </a:rPr>
              <a:t>Chen,</a:t>
            </a:r>
            <a:r>
              <a:rPr dirty="0" sz="1000" spc="85">
                <a:latin typeface="Times New Roman"/>
                <a:cs typeface="Times New Roman"/>
              </a:rPr>
              <a:t> </a:t>
            </a:r>
            <a:r>
              <a:rPr dirty="0" sz="1000">
                <a:latin typeface="Times New Roman"/>
                <a:cs typeface="Times New Roman"/>
              </a:rPr>
              <a:t>Weidi</a:t>
            </a:r>
            <a:r>
              <a:rPr dirty="0" sz="1000" spc="80">
                <a:latin typeface="Times New Roman"/>
                <a:cs typeface="Times New Roman"/>
              </a:rPr>
              <a:t> </a:t>
            </a:r>
            <a:r>
              <a:rPr dirty="0" sz="1000">
                <a:latin typeface="Times New Roman"/>
                <a:cs typeface="Times New Roman"/>
              </a:rPr>
              <a:t>Xie,</a:t>
            </a:r>
            <a:r>
              <a:rPr dirty="0" sz="1000" spc="85">
                <a:latin typeface="Times New Roman"/>
                <a:cs typeface="Times New Roman"/>
              </a:rPr>
              <a:t> </a:t>
            </a:r>
            <a:r>
              <a:rPr dirty="0" sz="1000">
                <a:latin typeface="Times New Roman"/>
                <a:cs typeface="Times New Roman"/>
              </a:rPr>
              <a:t>Andrea</a:t>
            </a:r>
            <a:r>
              <a:rPr dirty="0" sz="1000" spc="80">
                <a:latin typeface="Times New Roman"/>
                <a:cs typeface="Times New Roman"/>
              </a:rPr>
              <a:t> </a:t>
            </a:r>
            <a:r>
              <a:rPr dirty="0" sz="1000">
                <a:latin typeface="Times New Roman"/>
                <a:cs typeface="Times New Roman"/>
              </a:rPr>
              <a:t>Vedaldi,</a:t>
            </a:r>
            <a:r>
              <a:rPr dirty="0" sz="1000" spc="90">
                <a:latin typeface="Times New Roman"/>
                <a:cs typeface="Times New Roman"/>
              </a:rPr>
              <a:t> </a:t>
            </a:r>
            <a:r>
              <a:rPr dirty="0" sz="1000">
                <a:latin typeface="Times New Roman"/>
                <a:cs typeface="Times New Roman"/>
              </a:rPr>
              <a:t>and</a:t>
            </a:r>
            <a:r>
              <a:rPr dirty="0" sz="1000" spc="80">
                <a:latin typeface="Times New Roman"/>
                <a:cs typeface="Times New Roman"/>
              </a:rPr>
              <a:t> </a:t>
            </a:r>
            <a:r>
              <a:rPr dirty="0" sz="1000">
                <a:latin typeface="Times New Roman"/>
                <a:cs typeface="Times New Roman"/>
              </a:rPr>
              <a:t>Andrew</a:t>
            </a:r>
            <a:r>
              <a:rPr dirty="0" sz="1000" spc="80">
                <a:latin typeface="Times New Roman"/>
                <a:cs typeface="Times New Roman"/>
              </a:rPr>
              <a:t> </a:t>
            </a:r>
            <a:r>
              <a:rPr dirty="0" sz="1000">
                <a:latin typeface="Times New Roman"/>
                <a:cs typeface="Times New Roman"/>
              </a:rPr>
              <a:t>Zisserman.</a:t>
            </a:r>
            <a:r>
              <a:rPr dirty="0" sz="1000" spc="245">
                <a:latin typeface="Times New Roman"/>
                <a:cs typeface="Times New Roman"/>
              </a:rPr>
              <a:t> </a:t>
            </a:r>
            <a:r>
              <a:rPr dirty="0" sz="1000">
                <a:latin typeface="Times New Roman"/>
                <a:cs typeface="Times New Roman"/>
              </a:rPr>
              <a:t>Vggsound:</a:t>
            </a:r>
            <a:r>
              <a:rPr dirty="0" sz="1000" spc="215">
                <a:latin typeface="Times New Roman"/>
                <a:cs typeface="Times New Roman"/>
              </a:rPr>
              <a:t> </a:t>
            </a:r>
            <a:r>
              <a:rPr dirty="0" sz="1000">
                <a:latin typeface="Times New Roman"/>
                <a:cs typeface="Times New Roman"/>
              </a:rPr>
              <a:t>A</a:t>
            </a:r>
            <a:r>
              <a:rPr dirty="0" sz="1000" spc="80">
                <a:latin typeface="Times New Roman"/>
                <a:cs typeface="Times New Roman"/>
              </a:rPr>
              <a:t> </a:t>
            </a:r>
            <a:r>
              <a:rPr dirty="0" sz="1000">
                <a:latin typeface="Times New Roman"/>
                <a:cs typeface="Times New Roman"/>
              </a:rPr>
              <a:t>large-scale</a:t>
            </a:r>
            <a:r>
              <a:rPr dirty="0" sz="1000" spc="80">
                <a:latin typeface="Times New Roman"/>
                <a:cs typeface="Times New Roman"/>
              </a:rPr>
              <a:t> </a:t>
            </a:r>
            <a:r>
              <a:rPr dirty="0" sz="1000" spc="-10">
                <a:latin typeface="Times New Roman"/>
                <a:cs typeface="Times New Roman"/>
              </a:rPr>
              <a:t>audio- </a:t>
            </a:r>
            <a:r>
              <a:rPr dirty="0" sz="1000">
                <a:latin typeface="Times New Roman"/>
                <a:cs typeface="Times New Roman"/>
              </a:rPr>
              <a:t>visual</a:t>
            </a:r>
            <a:r>
              <a:rPr dirty="0" sz="1000" spc="145">
                <a:latin typeface="Times New Roman"/>
                <a:cs typeface="Times New Roman"/>
              </a:rPr>
              <a:t> </a:t>
            </a:r>
            <a:r>
              <a:rPr dirty="0" sz="1000">
                <a:latin typeface="Times New Roman"/>
                <a:cs typeface="Times New Roman"/>
              </a:rPr>
              <a:t>dataset.</a:t>
            </a:r>
            <a:r>
              <a:rPr dirty="0" sz="1000" spc="434">
                <a:latin typeface="Times New Roman"/>
                <a:cs typeface="Times New Roman"/>
              </a:rPr>
              <a:t> </a:t>
            </a:r>
            <a:r>
              <a:rPr dirty="0" sz="1000">
                <a:latin typeface="Times New Roman"/>
                <a:cs typeface="Times New Roman"/>
              </a:rPr>
              <a:t>In</a:t>
            </a:r>
            <a:r>
              <a:rPr dirty="0" sz="1000" spc="150">
                <a:latin typeface="Times New Roman"/>
                <a:cs typeface="Times New Roman"/>
              </a:rPr>
              <a:t> </a:t>
            </a:r>
            <a:r>
              <a:rPr dirty="0" sz="1000">
                <a:latin typeface="Times New Roman"/>
                <a:cs typeface="Times New Roman"/>
              </a:rPr>
              <a:t>ICASSP</a:t>
            </a:r>
            <a:r>
              <a:rPr dirty="0" sz="1000" spc="145">
                <a:latin typeface="Times New Roman"/>
                <a:cs typeface="Times New Roman"/>
              </a:rPr>
              <a:t> </a:t>
            </a:r>
            <a:r>
              <a:rPr dirty="0" sz="1000" spc="-10">
                <a:latin typeface="Times New Roman"/>
                <a:cs typeface="Times New Roman"/>
              </a:rPr>
              <a:t>2020-</a:t>
            </a:r>
            <a:r>
              <a:rPr dirty="0" sz="1000">
                <a:latin typeface="Times New Roman"/>
                <a:cs typeface="Times New Roman"/>
              </a:rPr>
              <a:t>2020</a:t>
            </a:r>
            <a:r>
              <a:rPr dirty="0" sz="1000" spc="145">
                <a:latin typeface="Times New Roman"/>
                <a:cs typeface="Times New Roman"/>
              </a:rPr>
              <a:t> </a:t>
            </a:r>
            <a:r>
              <a:rPr dirty="0" sz="1000">
                <a:latin typeface="Times New Roman"/>
                <a:cs typeface="Times New Roman"/>
              </a:rPr>
              <a:t>IEEE</a:t>
            </a:r>
            <a:r>
              <a:rPr dirty="0" sz="1000" spc="150">
                <a:latin typeface="Times New Roman"/>
                <a:cs typeface="Times New Roman"/>
              </a:rPr>
              <a:t> </a:t>
            </a:r>
            <a:r>
              <a:rPr dirty="0" sz="1000">
                <a:latin typeface="Times New Roman"/>
                <a:cs typeface="Times New Roman"/>
              </a:rPr>
              <a:t>International</a:t>
            </a:r>
            <a:r>
              <a:rPr dirty="0" sz="1000" spc="145">
                <a:latin typeface="Times New Roman"/>
                <a:cs typeface="Times New Roman"/>
              </a:rPr>
              <a:t> </a:t>
            </a:r>
            <a:r>
              <a:rPr dirty="0" sz="1000">
                <a:latin typeface="Times New Roman"/>
                <a:cs typeface="Times New Roman"/>
              </a:rPr>
              <a:t>Conference</a:t>
            </a:r>
            <a:r>
              <a:rPr dirty="0" sz="1000" spc="145">
                <a:latin typeface="Times New Roman"/>
                <a:cs typeface="Times New Roman"/>
              </a:rPr>
              <a:t> </a:t>
            </a:r>
            <a:r>
              <a:rPr dirty="0" sz="1000">
                <a:latin typeface="Times New Roman"/>
                <a:cs typeface="Times New Roman"/>
              </a:rPr>
              <a:t>on</a:t>
            </a:r>
            <a:r>
              <a:rPr dirty="0" sz="1000" spc="150">
                <a:latin typeface="Times New Roman"/>
                <a:cs typeface="Times New Roman"/>
              </a:rPr>
              <a:t> </a:t>
            </a:r>
            <a:r>
              <a:rPr dirty="0" sz="1000">
                <a:latin typeface="Times New Roman"/>
                <a:cs typeface="Times New Roman"/>
              </a:rPr>
              <a:t>Acoustics,</a:t>
            </a:r>
            <a:r>
              <a:rPr dirty="0" sz="1000" spc="165">
                <a:latin typeface="Times New Roman"/>
                <a:cs typeface="Times New Roman"/>
              </a:rPr>
              <a:t> </a:t>
            </a:r>
            <a:r>
              <a:rPr dirty="0" sz="1000">
                <a:latin typeface="Times New Roman"/>
                <a:cs typeface="Times New Roman"/>
              </a:rPr>
              <a:t>Speech</a:t>
            </a:r>
            <a:r>
              <a:rPr dirty="0" sz="1000" spc="145">
                <a:latin typeface="Times New Roman"/>
                <a:cs typeface="Times New Roman"/>
              </a:rPr>
              <a:t> </a:t>
            </a:r>
            <a:r>
              <a:rPr dirty="0" sz="1000">
                <a:latin typeface="Times New Roman"/>
                <a:cs typeface="Times New Roman"/>
              </a:rPr>
              <a:t>and</a:t>
            </a:r>
            <a:r>
              <a:rPr dirty="0" sz="1000" spc="150">
                <a:latin typeface="Times New Roman"/>
                <a:cs typeface="Times New Roman"/>
              </a:rPr>
              <a:t> </a:t>
            </a:r>
            <a:r>
              <a:rPr dirty="0" sz="1000">
                <a:latin typeface="Times New Roman"/>
                <a:cs typeface="Times New Roman"/>
              </a:rPr>
              <a:t>Signal</a:t>
            </a:r>
            <a:r>
              <a:rPr dirty="0" sz="1000" spc="145">
                <a:latin typeface="Times New Roman"/>
                <a:cs typeface="Times New Roman"/>
              </a:rPr>
              <a:t> </a:t>
            </a:r>
            <a:r>
              <a:rPr dirty="0" sz="1000" spc="-20">
                <a:latin typeface="Times New Roman"/>
                <a:cs typeface="Times New Roman"/>
              </a:rPr>
              <a:t>Pro- </a:t>
            </a:r>
            <a:r>
              <a:rPr dirty="0" sz="1000">
                <a:latin typeface="Times New Roman"/>
                <a:cs typeface="Times New Roman"/>
              </a:rPr>
              <a:t>cessing</a:t>
            </a:r>
            <a:r>
              <a:rPr dirty="0" sz="1000" spc="-10">
                <a:latin typeface="Times New Roman"/>
                <a:cs typeface="Times New Roman"/>
              </a:rPr>
              <a:t> (ICASSP), </a:t>
            </a:r>
            <a:r>
              <a:rPr dirty="0" sz="1000">
                <a:latin typeface="Times New Roman"/>
                <a:cs typeface="Times New Roman"/>
              </a:rPr>
              <a:t>pages</a:t>
            </a:r>
            <a:r>
              <a:rPr dirty="0" sz="1000" spc="-10">
                <a:latin typeface="Times New Roman"/>
                <a:cs typeface="Times New Roman"/>
              </a:rPr>
              <a:t> 721-</a:t>
            </a:r>
            <a:r>
              <a:rPr dirty="0" sz="1000">
                <a:latin typeface="Times New Roman"/>
                <a:cs typeface="Times New Roman"/>
              </a:rPr>
              <a:t>725.</a:t>
            </a:r>
            <a:r>
              <a:rPr dirty="0" sz="1000" spc="75">
                <a:latin typeface="Times New Roman"/>
                <a:cs typeface="Times New Roman"/>
              </a:rPr>
              <a:t> </a:t>
            </a:r>
            <a:r>
              <a:rPr dirty="0" sz="1000">
                <a:latin typeface="Times New Roman"/>
                <a:cs typeface="Times New Roman"/>
              </a:rPr>
              <a:t>IEEE,</a:t>
            </a:r>
            <a:r>
              <a:rPr dirty="0" sz="1000" spc="-5">
                <a:latin typeface="Times New Roman"/>
                <a:cs typeface="Times New Roman"/>
              </a:rPr>
              <a:t> </a:t>
            </a:r>
            <a:r>
              <a:rPr dirty="0" sz="1000">
                <a:latin typeface="Times New Roman"/>
                <a:cs typeface="Times New Roman"/>
              </a:rPr>
              <a:t>2020.</a:t>
            </a:r>
            <a:r>
              <a:rPr dirty="0" sz="1000" spc="75">
                <a:latin typeface="Times New Roman"/>
                <a:cs typeface="Times New Roman"/>
              </a:rPr>
              <a:t> </a:t>
            </a:r>
            <a:r>
              <a:rPr dirty="0" sz="1000" spc="-50">
                <a:latin typeface="Times New Roman"/>
                <a:cs typeface="Times New Roman"/>
              </a:rPr>
              <a:t>6</a:t>
            </a:r>
            <a:endParaRPr sz="1000">
              <a:latin typeface="Times New Roman"/>
              <a:cs typeface="Times New Roman"/>
            </a:endParaRPr>
          </a:p>
          <a:p>
            <a:pPr>
              <a:lnSpc>
                <a:spcPct val="100000"/>
              </a:lnSpc>
              <a:spcBef>
                <a:spcPts val="225"/>
              </a:spcBef>
            </a:pPr>
            <a:endParaRPr sz="1000">
              <a:latin typeface="Times New Roman"/>
              <a:cs typeface="Times New Roman"/>
            </a:endParaRPr>
          </a:p>
          <a:p>
            <a:pPr marL="192405" marR="330835" indent="176530">
              <a:lnSpc>
                <a:spcPct val="129500"/>
              </a:lnSpc>
              <a:buAutoNum type="arabicPlain" startAt="5"/>
              <a:tabLst>
                <a:tab pos="368935" algn="l"/>
              </a:tabLst>
            </a:pPr>
            <a:r>
              <a:rPr dirty="0" sz="1000" spc="15">
                <a:latin typeface="Times New Roman"/>
                <a:cs typeface="Times New Roman"/>
              </a:rPr>
              <a:t>Honglie</a:t>
            </a:r>
            <a:r>
              <a:rPr dirty="0" sz="1000" spc="-40">
                <a:latin typeface="Times New Roman"/>
                <a:cs typeface="Times New Roman"/>
              </a:rPr>
              <a:t> </a:t>
            </a:r>
            <a:r>
              <a:rPr dirty="0" sz="1000" spc="25">
                <a:latin typeface="Times New Roman"/>
                <a:cs typeface="Times New Roman"/>
              </a:rPr>
              <a:t>Chen,</a:t>
            </a:r>
            <a:r>
              <a:rPr dirty="0" sz="1000" spc="-35">
                <a:latin typeface="Times New Roman"/>
                <a:cs typeface="Times New Roman"/>
              </a:rPr>
              <a:t> </a:t>
            </a:r>
            <a:r>
              <a:rPr dirty="0" sz="1000" spc="-5">
                <a:latin typeface="Times New Roman"/>
                <a:cs typeface="Times New Roman"/>
              </a:rPr>
              <a:t>Weidi</a:t>
            </a:r>
            <a:r>
              <a:rPr dirty="0" sz="1000" spc="-40">
                <a:latin typeface="Times New Roman"/>
                <a:cs typeface="Times New Roman"/>
              </a:rPr>
              <a:t> </a:t>
            </a:r>
            <a:r>
              <a:rPr dirty="0" sz="1000" spc="-15">
                <a:latin typeface="Times New Roman"/>
                <a:cs typeface="Times New Roman"/>
              </a:rPr>
              <a:t>Xie,</a:t>
            </a:r>
            <a:r>
              <a:rPr dirty="0" sz="1000" spc="-35">
                <a:latin typeface="Times New Roman"/>
                <a:cs typeface="Times New Roman"/>
              </a:rPr>
              <a:t> </a:t>
            </a:r>
            <a:r>
              <a:rPr dirty="0" sz="1000" spc="25">
                <a:latin typeface="Times New Roman"/>
                <a:cs typeface="Times New Roman"/>
              </a:rPr>
              <a:t>Andrea</a:t>
            </a:r>
            <a:r>
              <a:rPr dirty="0" sz="1000" spc="-40">
                <a:latin typeface="Times New Roman"/>
                <a:cs typeface="Times New Roman"/>
              </a:rPr>
              <a:t> </a:t>
            </a:r>
            <a:r>
              <a:rPr dirty="0" sz="1000" spc="-5">
                <a:latin typeface="Times New Roman"/>
                <a:cs typeface="Times New Roman"/>
              </a:rPr>
              <a:t>Vedaldi,</a:t>
            </a:r>
            <a:r>
              <a:rPr dirty="0" sz="1000" spc="-35">
                <a:latin typeface="Times New Roman"/>
                <a:cs typeface="Times New Roman"/>
              </a:rPr>
              <a:t> </a:t>
            </a:r>
            <a:r>
              <a:rPr dirty="0" sz="1000" spc="40">
                <a:latin typeface="Times New Roman"/>
                <a:cs typeface="Times New Roman"/>
              </a:rPr>
              <a:t>and</a:t>
            </a:r>
            <a:r>
              <a:rPr dirty="0" sz="1000" spc="-40">
                <a:latin typeface="Times New Roman"/>
                <a:cs typeface="Times New Roman"/>
              </a:rPr>
              <a:t> </a:t>
            </a:r>
            <a:r>
              <a:rPr dirty="0" sz="1000" spc="20">
                <a:latin typeface="Times New Roman"/>
                <a:cs typeface="Times New Roman"/>
              </a:rPr>
              <a:t>Andrew</a:t>
            </a:r>
            <a:r>
              <a:rPr dirty="0" sz="1000" spc="-40">
                <a:latin typeface="Times New Roman"/>
                <a:cs typeface="Times New Roman"/>
              </a:rPr>
              <a:t> </a:t>
            </a:r>
            <a:r>
              <a:rPr dirty="0" sz="1000" spc="20">
                <a:latin typeface="Times New Roman"/>
                <a:cs typeface="Times New Roman"/>
              </a:rPr>
              <a:t>Zisserman</a:t>
            </a:r>
            <a:r>
              <a:rPr dirty="0" sz="1000" spc="-170">
                <a:latin typeface="SimSun"/>
                <a:cs typeface="SimSun"/>
              </a:rPr>
              <a:t>。</a:t>
            </a:r>
            <a:r>
              <a:rPr dirty="0" sz="1000">
                <a:latin typeface="Times New Roman"/>
                <a:cs typeface="Times New Roman"/>
              </a:rPr>
              <a:t>Vggsound:</a:t>
            </a:r>
            <a:r>
              <a:rPr dirty="0" sz="1000" spc="-40">
                <a:latin typeface="Times New Roman"/>
                <a:cs typeface="Times New Roman"/>
              </a:rPr>
              <a:t> </a:t>
            </a:r>
            <a:r>
              <a:rPr dirty="0" sz="1000" spc="-10">
                <a:latin typeface="SimSun"/>
                <a:cs typeface="SimSun"/>
              </a:rPr>
              <a:t>一个大规模视听数据</a:t>
            </a:r>
            <a:r>
              <a:rPr dirty="0" sz="1000" spc="-260">
                <a:latin typeface="SimSun"/>
                <a:cs typeface="SimSun"/>
              </a:rPr>
              <a:t>集。《</a:t>
            </a:r>
            <a:r>
              <a:rPr dirty="0" sz="1000" spc="-15">
                <a:latin typeface="Times New Roman"/>
                <a:cs typeface="Times New Roman"/>
              </a:rPr>
              <a:t>ICASSP</a:t>
            </a:r>
            <a:r>
              <a:rPr dirty="0" sz="1000" spc="-45">
                <a:latin typeface="Times New Roman"/>
                <a:cs typeface="Times New Roman"/>
              </a:rPr>
              <a:t> </a:t>
            </a:r>
            <a:r>
              <a:rPr dirty="0" sz="1000" spc="-10">
                <a:latin typeface="Times New Roman"/>
                <a:cs typeface="Times New Roman"/>
              </a:rPr>
              <a:t>2020</a:t>
            </a:r>
            <a:r>
              <a:rPr dirty="0" sz="1000" spc="-45">
                <a:latin typeface="Times New Roman"/>
                <a:cs typeface="Times New Roman"/>
              </a:rPr>
              <a:t> - </a:t>
            </a:r>
            <a:r>
              <a:rPr dirty="0" sz="1000" spc="-10">
                <a:latin typeface="Times New Roman"/>
                <a:cs typeface="Times New Roman"/>
              </a:rPr>
              <a:t>2020</a:t>
            </a:r>
            <a:r>
              <a:rPr dirty="0" sz="1000" spc="-45">
                <a:latin typeface="Times New Roman"/>
                <a:cs typeface="Times New Roman"/>
              </a:rPr>
              <a:t> </a:t>
            </a:r>
            <a:r>
              <a:rPr dirty="0" sz="1000" spc="10">
                <a:latin typeface="Times New Roman"/>
                <a:cs typeface="Times New Roman"/>
              </a:rPr>
              <a:t>IEEE</a:t>
            </a:r>
            <a:r>
              <a:rPr dirty="0" sz="1000" spc="-45">
                <a:latin typeface="Times New Roman"/>
                <a:cs typeface="Times New Roman"/>
              </a:rPr>
              <a:t> </a:t>
            </a:r>
            <a:r>
              <a:rPr dirty="0" sz="1000" spc="-65">
                <a:latin typeface="SimSun"/>
                <a:cs typeface="SimSun"/>
              </a:rPr>
              <a:t>国际声学、语音和信号处理会议 </a:t>
            </a:r>
            <a:r>
              <a:rPr dirty="0" sz="1000" spc="-15">
                <a:latin typeface="Times New Roman"/>
                <a:cs typeface="Times New Roman"/>
              </a:rPr>
              <a:t>(ICASSP)</a:t>
            </a:r>
            <a:r>
              <a:rPr dirty="0" sz="1000" spc="-280">
                <a:latin typeface="SimSun"/>
                <a:cs typeface="SimSun"/>
              </a:rPr>
              <a:t>》，第 </a:t>
            </a:r>
            <a:r>
              <a:rPr dirty="0" sz="1000" spc="-10">
                <a:latin typeface="Times New Roman"/>
                <a:cs typeface="Times New Roman"/>
              </a:rPr>
              <a:t>721</a:t>
            </a:r>
            <a:r>
              <a:rPr dirty="0" sz="1000" spc="-45">
                <a:latin typeface="Times New Roman"/>
                <a:cs typeface="Times New Roman"/>
              </a:rPr>
              <a:t> - </a:t>
            </a:r>
            <a:r>
              <a:rPr dirty="0" sz="1000" spc="-10">
                <a:latin typeface="Times New Roman"/>
                <a:cs typeface="Times New Roman"/>
              </a:rPr>
              <a:t>725</a:t>
            </a:r>
            <a:r>
              <a:rPr dirty="0" sz="1000" spc="-45">
                <a:latin typeface="Times New Roman"/>
                <a:cs typeface="Times New Roman"/>
              </a:rPr>
              <a:t> </a:t>
            </a:r>
            <a:r>
              <a:rPr dirty="0" sz="1000" spc="-125">
                <a:latin typeface="SimSun"/>
                <a:cs typeface="SimSun"/>
              </a:rPr>
              <a:t>页。</a:t>
            </a:r>
            <a:r>
              <a:rPr dirty="0" sz="1000" spc="5">
                <a:latin typeface="Times New Roman"/>
                <a:cs typeface="Times New Roman"/>
              </a:rPr>
              <a:t>IEEE</a:t>
            </a:r>
            <a:r>
              <a:rPr dirty="0" sz="1000" spc="5">
                <a:latin typeface="SimSun"/>
                <a:cs typeface="SimSun"/>
              </a:rPr>
              <a:t>，</a:t>
            </a:r>
            <a:r>
              <a:rPr dirty="0" sz="1000" spc="-5">
                <a:latin typeface="SimSun"/>
                <a:cs typeface="SimSun"/>
              </a:rPr>
              <a:t> </a:t>
            </a:r>
            <a:r>
              <a:rPr dirty="0" sz="1000" spc="-10">
                <a:latin typeface="Times New Roman"/>
                <a:cs typeface="Times New Roman"/>
              </a:rPr>
              <a:t>2020</a:t>
            </a:r>
            <a:r>
              <a:rPr dirty="0" sz="1000" spc="-20">
                <a:latin typeface="Times New Roman"/>
                <a:cs typeface="Times New Roman"/>
              </a:rPr>
              <a:t> </a:t>
            </a:r>
            <a:r>
              <a:rPr dirty="0" sz="1000" spc="-10">
                <a:latin typeface="SimSun"/>
                <a:cs typeface="SimSun"/>
              </a:rPr>
              <a:t>年。</a:t>
            </a:r>
            <a:r>
              <a:rPr dirty="0" sz="1000" spc="-10">
                <a:latin typeface="Times New Roman"/>
                <a:cs typeface="Times New Roman"/>
              </a:rPr>
              <a:t>6</a:t>
            </a:r>
            <a:endParaRPr sz="1000">
              <a:latin typeface="Times New Roman"/>
              <a:cs typeface="Times New Roman"/>
            </a:endParaRPr>
          </a:p>
          <a:p>
            <a:pPr>
              <a:lnSpc>
                <a:spcPct val="100000"/>
              </a:lnSpc>
              <a:spcBef>
                <a:spcPts val="95"/>
              </a:spcBef>
              <a:buFont typeface="Times New Roman"/>
              <a:buAutoNum type="arabicPlain" startAt="5"/>
            </a:pPr>
            <a:endParaRPr sz="1000">
              <a:latin typeface="Times New Roman"/>
              <a:cs typeface="Times New Roman"/>
            </a:endParaRPr>
          </a:p>
          <a:p>
            <a:pPr marL="12700" marR="193040" indent="422275">
              <a:lnSpc>
                <a:spcPct val="129500"/>
              </a:lnSpc>
              <a:buAutoNum type="arabicPlain" startAt="5"/>
              <a:tabLst>
                <a:tab pos="434975" algn="l"/>
              </a:tabLst>
            </a:pPr>
            <a:r>
              <a:rPr dirty="0" sz="1000">
                <a:latin typeface="Times New Roman"/>
                <a:cs typeface="Times New Roman"/>
              </a:rPr>
              <a:t>Nieves</a:t>
            </a:r>
            <a:r>
              <a:rPr dirty="0" sz="1000" spc="-45">
                <a:latin typeface="Times New Roman"/>
                <a:cs typeface="Times New Roman"/>
              </a:rPr>
              <a:t> </a:t>
            </a:r>
            <a:r>
              <a:rPr dirty="0" sz="1000">
                <a:latin typeface="Times New Roman"/>
                <a:cs typeface="Times New Roman"/>
              </a:rPr>
              <a:t>Crasto,</a:t>
            </a:r>
            <a:r>
              <a:rPr dirty="0" sz="1000" spc="-20">
                <a:latin typeface="Times New Roman"/>
                <a:cs typeface="Times New Roman"/>
              </a:rPr>
              <a:t> </a:t>
            </a:r>
            <a:r>
              <a:rPr dirty="0" sz="1000" spc="10">
                <a:latin typeface="Times New Roman"/>
                <a:cs typeface="Times New Roman"/>
              </a:rPr>
              <a:t>Philippe</a:t>
            </a:r>
            <a:r>
              <a:rPr dirty="0" sz="1000" spc="-40">
                <a:latin typeface="Times New Roman"/>
                <a:cs typeface="Times New Roman"/>
              </a:rPr>
              <a:t> </a:t>
            </a:r>
            <a:r>
              <a:rPr dirty="0" sz="1000">
                <a:latin typeface="Times New Roman"/>
                <a:cs typeface="Times New Roman"/>
              </a:rPr>
              <a:t>Weinzaepfel,</a:t>
            </a:r>
            <a:r>
              <a:rPr dirty="0" sz="1000" spc="-25">
                <a:latin typeface="Times New Roman"/>
                <a:cs typeface="Times New Roman"/>
              </a:rPr>
              <a:t> </a:t>
            </a:r>
            <a:r>
              <a:rPr dirty="0" sz="1000" spc="10">
                <a:latin typeface="Times New Roman"/>
                <a:cs typeface="Times New Roman"/>
              </a:rPr>
              <a:t>Karteek</a:t>
            </a:r>
            <a:r>
              <a:rPr dirty="0" sz="1000" spc="-40">
                <a:latin typeface="Times New Roman"/>
                <a:cs typeface="Times New Roman"/>
              </a:rPr>
              <a:t> </a:t>
            </a:r>
            <a:r>
              <a:rPr dirty="0" sz="1000" spc="10">
                <a:latin typeface="Times New Roman"/>
                <a:cs typeface="Times New Roman"/>
              </a:rPr>
              <a:t>Alahari,</a:t>
            </a:r>
            <a:r>
              <a:rPr dirty="0" sz="1000" spc="-20">
                <a:latin typeface="Times New Roman"/>
                <a:cs typeface="Times New Roman"/>
              </a:rPr>
              <a:t> </a:t>
            </a:r>
            <a:r>
              <a:rPr dirty="0" sz="1000" spc="10">
                <a:latin typeface="Times New Roman"/>
                <a:cs typeface="Times New Roman"/>
              </a:rPr>
              <a:t>and</a:t>
            </a:r>
            <a:r>
              <a:rPr dirty="0" sz="1000" spc="-40">
                <a:latin typeface="Times New Roman"/>
                <a:cs typeface="Times New Roman"/>
              </a:rPr>
              <a:t> </a:t>
            </a:r>
            <a:r>
              <a:rPr dirty="0" sz="1000" spc="10">
                <a:latin typeface="Times New Roman"/>
                <a:cs typeface="Times New Roman"/>
              </a:rPr>
              <a:t>Cordelia</a:t>
            </a:r>
            <a:r>
              <a:rPr dirty="0" sz="1000" spc="-45">
                <a:latin typeface="Times New Roman"/>
                <a:cs typeface="Times New Roman"/>
              </a:rPr>
              <a:t> </a:t>
            </a:r>
            <a:r>
              <a:rPr dirty="0" sz="1000" spc="10">
                <a:latin typeface="Times New Roman"/>
                <a:cs typeface="Times New Roman"/>
              </a:rPr>
              <a:t>Schmid.</a:t>
            </a:r>
            <a:r>
              <a:rPr dirty="0" sz="1000" spc="135">
                <a:latin typeface="Times New Roman"/>
                <a:cs typeface="Times New Roman"/>
              </a:rPr>
              <a:t> </a:t>
            </a:r>
            <a:r>
              <a:rPr dirty="0" sz="1000" spc="10">
                <a:latin typeface="Times New Roman"/>
                <a:cs typeface="Times New Roman"/>
              </a:rPr>
              <a:t>Mars:</a:t>
            </a:r>
            <a:r>
              <a:rPr dirty="0" sz="1000" spc="114">
                <a:latin typeface="Times New Roman"/>
                <a:cs typeface="Times New Roman"/>
              </a:rPr>
              <a:t> </a:t>
            </a:r>
            <a:r>
              <a:rPr dirty="0" sz="1000" spc="10">
                <a:latin typeface="Times New Roman"/>
                <a:cs typeface="Times New Roman"/>
              </a:rPr>
              <a:t>Motion-</a:t>
            </a:r>
            <a:r>
              <a:rPr dirty="0" sz="1000" spc="-10">
                <a:latin typeface="Times New Roman"/>
                <a:cs typeface="Times New Roman"/>
              </a:rPr>
              <a:t>augmented </a:t>
            </a:r>
            <a:r>
              <a:rPr dirty="0" sz="1000" spc="10">
                <a:latin typeface="Times New Roman"/>
                <a:cs typeface="Times New Roman"/>
              </a:rPr>
              <a:t>rgb</a:t>
            </a:r>
            <a:r>
              <a:rPr dirty="0" sz="1000" spc="25">
                <a:latin typeface="Times New Roman"/>
                <a:cs typeface="Times New Roman"/>
              </a:rPr>
              <a:t> </a:t>
            </a:r>
            <a:r>
              <a:rPr dirty="0" sz="1000" spc="10">
                <a:latin typeface="Times New Roman"/>
                <a:cs typeface="Times New Roman"/>
              </a:rPr>
              <a:t>stream</a:t>
            </a:r>
            <a:r>
              <a:rPr dirty="0" sz="1000" spc="25">
                <a:latin typeface="Times New Roman"/>
                <a:cs typeface="Times New Roman"/>
              </a:rPr>
              <a:t> </a:t>
            </a:r>
            <a:r>
              <a:rPr dirty="0" sz="1000" spc="10">
                <a:latin typeface="Times New Roman"/>
                <a:cs typeface="Times New Roman"/>
              </a:rPr>
              <a:t>for</a:t>
            </a:r>
            <a:r>
              <a:rPr dirty="0" sz="1000" spc="30">
                <a:latin typeface="Times New Roman"/>
                <a:cs typeface="Times New Roman"/>
              </a:rPr>
              <a:t> </a:t>
            </a:r>
            <a:r>
              <a:rPr dirty="0" sz="1000" spc="10">
                <a:latin typeface="Times New Roman"/>
                <a:cs typeface="Times New Roman"/>
              </a:rPr>
              <a:t>action</a:t>
            </a:r>
            <a:r>
              <a:rPr dirty="0" sz="1000" spc="30">
                <a:latin typeface="Times New Roman"/>
                <a:cs typeface="Times New Roman"/>
              </a:rPr>
              <a:t> </a:t>
            </a:r>
            <a:r>
              <a:rPr dirty="0" sz="1000" spc="10">
                <a:latin typeface="Times New Roman"/>
                <a:cs typeface="Times New Roman"/>
              </a:rPr>
              <a:t>recognition.</a:t>
            </a:r>
            <a:r>
              <a:rPr dirty="0" sz="1000" spc="140">
                <a:latin typeface="Times New Roman"/>
                <a:cs typeface="Times New Roman"/>
              </a:rPr>
              <a:t> </a:t>
            </a:r>
            <a:r>
              <a:rPr dirty="0" sz="1000" spc="10">
                <a:latin typeface="Times New Roman"/>
                <a:cs typeface="Times New Roman"/>
              </a:rPr>
              <a:t>In</a:t>
            </a:r>
            <a:r>
              <a:rPr dirty="0" sz="1000" spc="30">
                <a:latin typeface="Times New Roman"/>
                <a:cs typeface="Times New Roman"/>
              </a:rPr>
              <a:t> </a:t>
            </a:r>
            <a:r>
              <a:rPr dirty="0" sz="1000" spc="10">
                <a:latin typeface="Times New Roman"/>
                <a:cs typeface="Times New Roman"/>
              </a:rPr>
              <a:t>Proceedings</a:t>
            </a:r>
            <a:r>
              <a:rPr dirty="0" sz="1000" spc="30">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10">
                <a:latin typeface="Times New Roman"/>
                <a:cs typeface="Times New Roman"/>
              </a:rPr>
              <a:t>IEEE/CVF</a:t>
            </a:r>
            <a:r>
              <a:rPr dirty="0" sz="1000" spc="25">
                <a:latin typeface="Times New Roman"/>
                <a:cs typeface="Times New Roman"/>
              </a:rPr>
              <a:t> </a:t>
            </a:r>
            <a:r>
              <a:rPr dirty="0" sz="1000" spc="10">
                <a:latin typeface="Times New Roman"/>
                <a:cs typeface="Times New Roman"/>
              </a:rPr>
              <a:t>Conference</a:t>
            </a:r>
            <a:r>
              <a:rPr dirty="0" sz="1000" spc="25">
                <a:latin typeface="Times New Roman"/>
                <a:cs typeface="Times New Roman"/>
              </a:rPr>
              <a:t> </a:t>
            </a:r>
            <a:r>
              <a:rPr dirty="0" sz="1000" spc="10">
                <a:latin typeface="Times New Roman"/>
                <a:cs typeface="Times New Roman"/>
              </a:rPr>
              <a:t>on</a:t>
            </a:r>
            <a:r>
              <a:rPr dirty="0" sz="1000" spc="35">
                <a:latin typeface="Times New Roman"/>
                <a:cs typeface="Times New Roman"/>
              </a:rPr>
              <a:t> </a:t>
            </a:r>
            <a:r>
              <a:rPr dirty="0" sz="1000" spc="10">
                <a:latin typeface="Times New Roman"/>
                <a:cs typeface="Times New Roman"/>
              </a:rPr>
              <a:t>Computer</a:t>
            </a:r>
            <a:r>
              <a:rPr dirty="0" sz="1000" spc="25">
                <a:latin typeface="Times New Roman"/>
                <a:cs typeface="Times New Roman"/>
              </a:rPr>
              <a:t> </a:t>
            </a:r>
            <a:r>
              <a:rPr dirty="0" sz="1000" spc="10">
                <a:latin typeface="Times New Roman"/>
                <a:cs typeface="Times New Roman"/>
              </a:rPr>
              <a:t>Vision</a:t>
            </a:r>
            <a:r>
              <a:rPr dirty="0" sz="1000" spc="25">
                <a:latin typeface="Times New Roman"/>
                <a:cs typeface="Times New Roman"/>
              </a:rPr>
              <a:t> </a:t>
            </a:r>
            <a:r>
              <a:rPr dirty="0" sz="1000" spc="10">
                <a:latin typeface="Times New Roman"/>
                <a:cs typeface="Times New Roman"/>
              </a:rPr>
              <a:t>and</a:t>
            </a:r>
            <a:r>
              <a:rPr dirty="0" sz="1000" spc="35">
                <a:latin typeface="Times New Roman"/>
                <a:cs typeface="Times New Roman"/>
              </a:rPr>
              <a:t> </a:t>
            </a:r>
            <a:r>
              <a:rPr dirty="0" sz="1000" spc="-20">
                <a:latin typeface="Times New Roman"/>
                <a:cs typeface="Times New Roman"/>
              </a:rPr>
              <a:t>Pat- </a:t>
            </a:r>
            <a:r>
              <a:rPr dirty="0" sz="1000">
                <a:latin typeface="Times New Roman"/>
                <a:cs typeface="Times New Roman"/>
              </a:rPr>
              <a:t>tern</a:t>
            </a:r>
            <a:r>
              <a:rPr dirty="0" sz="1000" spc="40">
                <a:latin typeface="Times New Roman"/>
                <a:cs typeface="Times New Roman"/>
              </a:rPr>
              <a:t> </a:t>
            </a:r>
            <a:r>
              <a:rPr dirty="0" sz="1000">
                <a:latin typeface="Times New Roman"/>
                <a:cs typeface="Times New Roman"/>
              </a:rPr>
              <a:t>Recognition,</a:t>
            </a:r>
            <a:r>
              <a:rPr dirty="0" sz="1000" spc="45">
                <a:latin typeface="Times New Roman"/>
                <a:cs typeface="Times New Roman"/>
              </a:rPr>
              <a:t> </a:t>
            </a:r>
            <a:r>
              <a:rPr dirty="0" sz="1000">
                <a:latin typeface="Times New Roman"/>
                <a:cs typeface="Times New Roman"/>
              </a:rPr>
              <a:t>pages</a:t>
            </a:r>
            <a:r>
              <a:rPr dirty="0" sz="1000" spc="40">
                <a:latin typeface="Times New Roman"/>
                <a:cs typeface="Times New Roman"/>
              </a:rPr>
              <a:t> </a:t>
            </a:r>
            <a:r>
              <a:rPr dirty="0" sz="1000" spc="-10">
                <a:latin typeface="Times New Roman"/>
                <a:cs typeface="Times New Roman"/>
              </a:rPr>
              <a:t>7882-7891,</a:t>
            </a:r>
            <a:r>
              <a:rPr dirty="0" sz="1000" spc="45">
                <a:latin typeface="Times New Roman"/>
                <a:cs typeface="Times New Roman"/>
              </a:rPr>
              <a:t> </a:t>
            </a:r>
            <a:r>
              <a:rPr dirty="0" sz="1000">
                <a:latin typeface="Times New Roman"/>
                <a:cs typeface="Times New Roman"/>
              </a:rPr>
              <a:t>2019.</a:t>
            </a:r>
            <a:r>
              <a:rPr dirty="0" sz="1000" spc="145">
                <a:latin typeface="Times New Roman"/>
                <a:cs typeface="Times New Roman"/>
              </a:rPr>
              <a:t> </a:t>
            </a:r>
            <a:r>
              <a:rPr dirty="0" sz="1000" spc="-50">
                <a:latin typeface="Times New Roman"/>
                <a:cs typeface="Times New Roman"/>
              </a:rPr>
              <a:t>2</a:t>
            </a:r>
            <a:endParaRPr sz="1000">
              <a:latin typeface="Times New Roman"/>
              <a:cs typeface="Times New Roman"/>
            </a:endParaRPr>
          </a:p>
        </p:txBody>
      </p:sp>
      <p:sp>
        <p:nvSpPr>
          <p:cNvPr id="21" name="object 21"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97"/>
            <a:ext cx="5760085" cy="549275"/>
            <a:chOff x="899998" y="899997"/>
            <a:chExt cx="5760085" cy="549275"/>
          </a:xfrm>
        </p:grpSpPr>
        <p:sp>
          <p:nvSpPr>
            <p:cNvPr id="3" name="object 3" descr=""/>
            <p:cNvSpPr/>
            <p:nvPr/>
          </p:nvSpPr>
          <p:spPr>
            <a:xfrm>
              <a:off x="899998" y="899997"/>
              <a:ext cx="5760085" cy="549275"/>
            </a:xfrm>
            <a:custGeom>
              <a:avLst/>
              <a:gdLst/>
              <a:ahLst/>
              <a:cxnLst/>
              <a:rect l="l" t="t" r="r" b="b"/>
              <a:pathLst>
                <a:path w="5760084" h="549275">
                  <a:moveTo>
                    <a:pt x="5724074" y="0"/>
                  </a:moveTo>
                  <a:lnTo>
                    <a:pt x="36000" y="0"/>
                  </a:lnTo>
                  <a:lnTo>
                    <a:pt x="21987" y="2829"/>
                  </a:lnTo>
                  <a:lnTo>
                    <a:pt x="10544" y="10544"/>
                  </a:lnTo>
                  <a:lnTo>
                    <a:pt x="2829" y="21987"/>
                  </a:lnTo>
                  <a:lnTo>
                    <a:pt x="0" y="36000"/>
                  </a:lnTo>
                  <a:lnTo>
                    <a:pt x="0" y="513148"/>
                  </a:lnTo>
                  <a:lnTo>
                    <a:pt x="2829" y="527161"/>
                  </a:lnTo>
                  <a:lnTo>
                    <a:pt x="10544" y="538604"/>
                  </a:lnTo>
                  <a:lnTo>
                    <a:pt x="21987" y="546319"/>
                  </a:lnTo>
                  <a:lnTo>
                    <a:pt x="36000" y="549148"/>
                  </a:lnTo>
                  <a:lnTo>
                    <a:pt x="5724074" y="549148"/>
                  </a:lnTo>
                  <a:lnTo>
                    <a:pt x="5738087" y="546319"/>
                  </a:lnTo>
                  <a:lnTo>
                    <a:pt x="5749530" y="538604"/>
                  </a:lnTo>
                  <a:lnTo>
                    <a:pt x="5757245" y="527161"/>
                  </a:lnTo>
                  <a:lnTo>
                    <a:pt x="5760074" y="51314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97"/>
              <a:ext cx="5760085" cy="549275"/>
            </a:xfrm>
            <a:custGeom>
              <a:avLst/>
              <a:gdLst/>
              <a:ahLst/>
              <a:cxnLst/>
              <a:rect l="l" t="t" r="r" b="b"/>
              <a:pathLst>
                <a:path w="5760084" h="549275">
                  <a:moveTo>
                    <a:pt x="5724074" y="0"/>
                  </a:moveTo>
                  <a:lnTo>
                    <a:pt x="36000" y="0"/>
                  </a:lnTo>
                  <a:lnTo>
                    <a:pt x="21987" y="2829"/>
                  </a:lnTo>
                  <a:lnTo>
                    <a:pt x="10544" y="10544"/>
                  </a:lnTo>
                  <a:lnTo>
                    <a:pt x="2829" y="21987"/>
                  </a:lnTo>
                  <a:lnTo>
                    <a:pt x="0" y="36000"/>
                  </a:lnTo>
                  <a:lnTo>
                    <a:pt x="0" y="513148"/>
                  </a:lnTo>
                  <a:lnTo>
                    <a:pt x="2829" y="527161"/>
                  </a:lnTo>
                  <a:lnTo>
                    <a:pt x="10544" y="538604"/>
                  </a:lnTo>
                  <a:lnTo>
                    <a:pt x="21987" y="546319"/>
                  </a:lnTo>
                  <a:lnTo>
                    <a:pt x="36000" y="549148"/>
                  </a:lnTo>
                  <a:lnTo>
                    <a:pt x="5724074" y="549148"/>
                  </a:lnTo>
                  <a:lnTo>
                    <a:pt x="5738087" y="546319"/>
                  </a:lnTo>
                  <a:lnTo>
                    <a:pt x="5749530" y="538604"/>
                  </a:lnTo>
                  <a:lnTo>
                    <a:pt x="5757245" y="527161"/>
                  </a:lnTo>
                  <a:lnTo>
                    <a:pt x="5760074" y="51314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238652"/>
            <a:ext cx="5760085" cy="545465"/>
            <a:chOff x="899998" y="2238652"/>
            <a:chExt cx="5760085" cy="545465"/>
          </a:xfrm>
        </p:grpSpPr>
        <p:sp>
          <p:nvSpPr>
            <p:cNvPr id="6" name="object 6" descr=""/>
            <p:cNvSpPr/>
            <p:nvPr/>
          </p:nvSpPr>
          <p:spPr>
            <a:xfrm>
              <a:off x="899998" y="2238652"/>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238652"/>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3376009"/>
            <a:ext cx="5760085" cy="544830"/>
            <a:chOff x="899998" y="3376009"/>
            <a:chExt cx="5760085" cy="544830"/>
          </a:xfrm>
        </p:grpSpPr>
        <p:sp>
          <p:nvSpPr>
            <p:cNvPr id="9" name="object 9" descr=""/>
            <p:cNvSpPr/>
            <p:nvPr/>
          </p:nvSpPr>
          <p:spPr>
            <a:xfrm>
              <a:off x="899998" y="3376009"/>
              <a:ext cx="5760085" cy="544830"/>
            </a:xfrm>
            <a:custGeom>
              <a:avLst/>
              <a:gdLst/>
              <a:ahLst/>
              <a:cxnLst/>
              <a:rect l="l" t="t" r="r" b="b"/>
              <a:pathLst>
                <a:path w="5760084" h="544829">
                  <a:moveTo>
                    <a:pt x="5724074" y="0"/>
                  </a:moveTo>
                  <a:lnTo>
                    <a:pt x="36000" y="0"/>
                  </a:lnTo>
                  <a:lnTo>
                    <a:pt x="21987" y="2829"/>
                  </a:lnTo>
                  <a:lnTo>
                    <a:pt x="10544" y="10544"/>
                  </a:lnTo>
                  <a:lnTo>
                    <a:pt x="2829" y="21987"/>
                  </a:lnTo>
                  <a:lnTo>
                    <a:pt x="0" y="36000"/>
                  </a:lnTo>
                  <a:lnTo>
                    <a:pt x="0" y="508213"/>
                  </a:lnTo>
                  <a:lnTo>
                    <a:pt x="2829" y="522226"/>
                  </a:lnTo>
                  <a:lnTo>
                    <a:pt x="10544" y="533669"/>
                  </a:lnTo>
                  <a:lnTo>
                    <a:pt x="21987" y="541384"/>
                  </a:lnTo>
                  <a:lnTo>
                    <a:pt x="36000" y="544213"/>
                  </a:lnTo>
                  <a:lnTo>
                    <a:pt x="5724074" y="544213"/>
                  </a:lnTo>
                  <a:lnTo>
                    <a:pt x="5738087" y="541384"/>
                  </a:lnTo>
                  <a:lnTo>
                    <a:pt x="5749530" y="533669"/>
                  </a:lnTo>
                  <a:lnTo>
                    <a:pt x="5757245" y="522226"/>
                  </a:lnTo>
                  <a:lnTo>
                    <a:pt x="5760074" y="50821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3376009"/>
              <a:ext cx="5760085" cy="544830"/>
            </a:xfrm>
            <a:custGeom>
              <a:avLst/>
              <a:gdLst/>
              <a:ahLst/>
              <a:cxnLst/>
              <a:rect l="l" t="t" r="r" b="b"/>
              <a:pathLst>
                <a:path w="5760084" h="544829">
                  <a:moveTo>
                    <a:pt x="5724074" y="0"/>
                  </a:moveTo>
                  <a:lnTo>
                    <a:pt x="36000" y="0"/>
                  </a:lnTo>
                  <a:lnTo>
                    <a:pt x="21987" y="2829"/>
                  </a:lnTo>
                  <a:lnTo>
                    <a:pt x="10544" y="10544"/>
                  </a:lnTo>
                  <a:lnTo>
                    <a:pt x="2829" y="21987"/>
                  </a:lnTo>
                  <a:lnTo>
                    <a:pt x="0" y="36000"/>
                  </a:lnTo>
                  <a:lnTo>
                    <a:pt x="0" y="508213"/>
                  </a:lnTo>
                  <a:lnTo>
                    <a:pt x="2829" y="522226"/>
                  </a:lnTo>
                  <a:lnTo>
                    <a:pt x="10544" y="533669"/>
                  </a:lnTo>
                  <a:lnTo>
                    <a:pt x="21987" y="541384"/>
                  </a:lnTo>
                  <a:lnTo>
                    <a:pt x="36000" y="544213"/>
                  </a:lnTo>
                  <a:lnTo>
                    <a:pt x="5724074" y="544213"/>
                  </a:lnTo>
                  <a:lnTo>
                    <a:pt x="5738087" y="541384"/>
                  </a:lnTo>
                  <a:lnTo>
                    <a:pt x="5749530" y="533669"/>
                  </a:lnTo>
                  <a:lnTo>
                    <a:pt x="5757245" y="522226"/>
                  </a:lnTo>
                  <a:lnTo>
                    <a:pt x="5760074" y="50821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4709747"/>
            <a:ext cx="5760085" cy="734060"/>
            <a:chOff x="899998" y="4709747"/>
            <a:chExt cx="5760085" cy="734060"/>
          </a:xfrm>
        </p:grpSpPr>
        <p:sp>
          <p:nvSpPr>
            <p:cNvPr id="12" name="object 12" descr=""/>
            <p:cNvSpPr/>
            <p:nvPr/>
          </p:nvSpPr>
          <p:spPr>
            <a:xfrm>
              <a:off x="899998" y="4709747"/>
              <a:ext cx="5760085" cy="734060"/>
            </a:xfrm>
            <a:custGeom>
              <a:avLst/>
              <a:gdLst/>
              <a:ahLst/>
              <a:cxnLst/>
              <a:rect l="l" t="t" r="r" b="b"/>
              <a:pathLst>
                <a:path w="5760084" h="734060">
                  <a:moveTo>
                    <a:pt x="5724074" y="0"/>
                  </a:moveTo>
                  <a:lnTo>
                    <a:pt x="36000" y="0"/>
                  </a:lnTo>
                  <a:lnTo>
                    <a:pt x="21987" y="2829"/>
                  </a:lnTo>
                  <a:lnTo>
                    <a:pt x="10544" y="10544"/>
                  </a:lnTo>
                  <a:lnTo>
                    <a:pt x="2829" y="21987"/>
                  </a:lnTo>
                  <a:lnTo>
                    <a:pt x="0" y="36000"/>
                  </a:lnTo>
                  <a:lnTo>
                    <a:pt x="0" y="697625"/>
                  </a:lnTo>
                  <a:lnTo>
                    <a:pt x="2829" y="711638"/>
                  </a:lnTo>
                  <a:lnTo>
                    <a:pt x="10544" y="723081"/>
                  </a:lnTo>
                  <a:lnTo>
                    <a:pt x="21987" y="730796"/>
                  </a:lnTo>
                  <a:lnTo>
                    <a:pt x="36000" y="733625"/>
                  </a:lnTo>
                  <a:lnTo>
                    <a:pt x="5724074" y="733625"/>
                  </a:lnTo>
                  <a:lnTo>
                    <a:pt x="5738087" y="730796"/>
                  </a:lnTo>
                  <a:lnTo>
                    <a:pt x="5749530" y="723081"/>
                  </a:lnTo>
                  <a:lnTo>
                    <a:pt x="5757245" y="711638"/>
                  </a:lnTo>
                  <a:lnTo>
                    <a:pt x="5760074" y="69762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4709747"/>
              <a:ext cx="5760085" cy="734060"/>
            </a:xfrm>
            <a:custGeom>
              <a:avLst/>
              <a:gdLst/>
              <a:ahLst/>
              <a:cxnLst/>
              <a:rect l="l" t="t" r="r" b="b"/>
              <a:pathLst>
                <a:path w="5760084" h="734060">
                  <a:moveTo>
                    <a:pt x="5724074" y="0"/>
                  </a:moveTo>
                  <a:lnTo>
                    <a:pt x="36000" y="0"/>
                  </a:lnTo>
                  <a:lnTo>
                    <a:pt x="21987" y="2829"/>
                  </a:lnTo>
                  <a:lnTo>
                    <a:pt x="10544" y="10544"/>
                  </a:lnTo>
                  <a:lnTo>
                    <a:pt x="2829" y="21987"/>
                  </a:lnTo>
                  <a:lnTo>
                    <a:pt x="0" y="36000"/>
                  </a:lnTo>
                  <a:lnTo>
                    <a:pt x="0" y="697625"/>
                  </a:lnTo>
                  <a:lnTo>
                    <a:pt x="2829" y="711638"/>
                  </a:lnTo>
                  <a:lnTo>
                    <a:pt x="10544" y="723081"/>
                  </a:lnTo>
                  <a:lnTo>
                    <a:pt x="21987" y="730796"/>
                  </a:lnTo>
                  <a:lnTo>
                    <a:pt x="36000" y="733625"/>
                  </a:lnTo>
                  <a:lnTo>
                    <a:pt x="5724074" y="733625"/>
                  </a:lnTo>
                  <a:lnTo>
                    <a:pt x="5738087" y="730796"/>
                  </a:lnTo>
                  <a:lnTo>
                    <a:pt x="5749530" y="723081"/>
                  </a:lnTo>
                  <a:lnTo>
                    <a:pt x="5757245" y="711638"/>
                  </a:lnTo>
                  <a:lnTo>
                    <a:pt x="5760074" y="69762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6232879"/>
            <a:ext cx="5760085" cy="546100"/>
            <a:chOff x="899998" y="6232879"/>
            <a:chExt cx="5760085" cy="546100"/>
          </a:xfrm>
        </p:grpSpPr>
        <p:sp>
          <p:nvSpPr>
            <p:cNvPr id="15" name="object 15" descr=""/>
            <p:cNvSpPr/>
            <p:nvPr/>
          </p:nvSpPr>
          <p:spPr>
            <a:xfrm>
              <a:off x="899998" y="6232879"/>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478"/>
                  </a:lnTo>
                  <a:lnTo>
                    <a:pt x="2829" y="523491"/>
                  </a:lnTo>
                  <a:lnTo>
                    <a:pt x="10544" y="534934"/>
                  </a:lnTo>
                  <a:lnTo>
                    <a:pt x="21987" y="542649"/>
                  </a:lnTo>
                  <a:lnTo>
                    <a:pt x="36000" y="545478"/>
                  </a:lnTo>
                  <a:lnTo>
                    <a:pt x="5724074" y="545478"/>
                  </a:lnTo>
                  <a:lnTo>
                    <a:pt x="5738087" y="542649"/>
                  </a:lnTo>
                  <a:lnTo>
                    <a:pt x="5749530" y="534934"/>
                  </a:lnTo>
                  <a:lnTo>
                    <a:pt x="5757245" y="523491"/>
                  </a:lnTo>
                  <a:lnTo>
                    <a:pt x="5760074" y="50947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6232879"/>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478"/>
                  </a:lnTo>
                  <a:lnTo>
                    <a:pt x="2829" y="523491"/>
                  </a:lnTo>
                  <a:lnTo>
                    <a:pt x="10544" y="534934"/>
                  </a:lnTo>
                  <a:lnTo>
                    <a:pt x="21987" y="542649"/>
                  </a:lnTo>
                  <a:lnTo>
                    <a:pt x="36000" y="545478"/>
                  </a:lnTo>
                  <a:lnTo>
                    <a:pt x="5724074" y="545478"/>
                  </a:lnTo>
                  <a:lnTo>
                    <a:pt x="5738087" y="542649"/>
                  </a:lnTo>
                  <a:lnTo>
                    <a:pt x="5749530" y="534934"/>
                  </a:lnTo>
                  <a:lnTo>
                    <a:pt x="5757245" y="523491"/>
                  </a:lnTo>
                  <a:lnTo>
                    <a:pt x="5760074" y="50947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7567873"/>
            <a:ext cx="5760085" cy="741680"/>
            <a:chOff x="899998" y="7567873"/>
            <a:chExt cx="5760085" cy="741680"/>
          </a:xfrm>
        </p:grpSpPr>
        <p:sp>
          <p:nvSpPr>
            <p:cNvPr id="18" name="object 18" descr=""/>
            <p:cNvSpPr/>
            <p:nvPr/>
          </p:nvSpPr>
          <p:spPr>
            <a:xfrm>
              <a:off x="899998" y="7567873"/>
              <a:ext cx="5760085" cy="741680"/>
            </a:xfrm>
            <a:custGeom>
              <a:avLst/>
              <a:gdLst/>
              <a:ahLst/>
              <a:cxnLst/>
              <a:rect l="l" t="t" r="r" b="b"/>
              <a:pathLst>
                <a:path w="5760084" h="741679">
                  <a:moveTo>
                    <a:pt x="5724074" y="0"/>
                  </a:moveTo>
                  <a:lnTo>
                    <a:pt x="36000" y="0"/>
                  </a:lnTo>
                  <a:lnTo>
                    <a:pt x="21987" y="2829"/>
                  </a:lnTo>
                  <a:lnTo>
                    <a:pt x="10544" y="10544"/>
                  </a:lnTo>
                  <a:lnTo>
                    <a:pt x="2829" y="21987"/>
                  </a:lnTo>
                  <a:lnTo>
                    <a:pt x="0" y="36000"/>
                  </a:lnTo>
                  <a:lnTo>
                    <a:pt x="0" y="705469"/>
                  </a:lnTo>
                  <a:lnTo>
                    <a:pt x="2829" y="719482"/>
                  </a:lnTo>
                  <a:lnTo>
                    <a:pt x="10544" y="730925"/>
                  </a:lnTo>
                  <a:lnTo>
                    <a:pt x="21987" y="738641"/>
                  </a:lnTo>
                  <a:lnTo>
                    <a:pt x="36000" y="741470"/>
                  </a:lnTo>
                  <a:lnTo>
                    <a:pt x="5724074" y="741470"/>
                  </a:lnTo>
                  <a:lnTo>
                    <a:pt x="5738087" y="738641"/>
                  </a:lnTo>
                  <a:lnTo>
                    <a:pt x="5749530" y="730925"/>
                  </a:lnTo>
                  <a:lnTo>
                    <a:pt x="5757245" y="719482"/>
                  </a:lnTo>
                  <a:lnTo>
                    <a:pt x="5760074" y="705469"/>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7567873"/>
              <a:ext cx="5760085" cy="741680"/>
            </a:xfrm>
            <a:custGeom>
              <a:avLst/>
              <a:gdLst/>
              <a:ahLst/>
              <a:cxnLst/>
              <a:rect l="l" t="t" r="r" b="b"/>
              <a:pathLst>
                <a:path w="5760084" h="741679">
                  <a:moveTo>
                    <a:pt x="5724074" y="0"/>
                  </a:moveTo>
                  <a:lnTo>
                    <a:pt x="36000" y="0"/>
                  </a:lnTo>
                  <a:lnTo>
                    <a:pt x="21987" y="2829"/>
                  </a:lnTo>
                  <a:lnTo>
                    <a:pt x="10544" y="10544"/>
                  </a:lnTo>
                  <a:lnTo>
                    <a:pt x="2829" y="21987"/>
                  </a:lnTo>
                  <a:lnTo>
                    <a:pt x="0" y="36000"/>
                  </a:lnTo>
                  <a:lnTo>
                    <a:pt x="0" y="705469"/>
                  </a:lnTo>
                  <a:lnTo>
                    <a:pt x="2829" y="719482"/>
                  </a:lnTo>
                  <a:lnTo>
                    <a:pt x="10544" y="730925"/>
                  </a:lnTo>
                  <a:lnTo>
                    <a:pt x="21987" y="738641"/>
                  </a:lnTo>
                  <a:lnTo>
                    <a:pt x="36000" y="741470"/>
                  </a:lnTo>
                  <a:lnTo>
                    <a:pt x="5724074" y="741470"/>
                  </a:lnTo>
                  <a:lnTo>
                    <a:pt x="5738087" y="738641"/>
                  </a:lnTo>
                  <a:lnTo>
                    <a:pt x="5749530" y="730925"/>
                  </a:lnTo>
                  <a:lnTo>
                    <a:pt x="5757245" y="719482"/>
                  </a:lnTo>
                  <a:lnTo>
                    <a:pt x="5760074" y="705469"/>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20" name="object 20" descr=""/>
          <p:cNvGrpSpPr/>
          <p:nvPr/>
        </p:nvGrpSpPr>
        <p:grpSpPr>
          <a:xfrm>
            <a:off x="899998" y="9098850"/>
            <a:ext cx="5760085" cy="546100"/>
            <a:chOff x="899998" y="9098850"/>
            <a:chExt cx="5760085" cy="546100"/>
          </a:xfrm>
        </p:grpSpPr>
        <p:sp>
          <p:nvSpPr>
            <p:cNvPr id="21" name="object 21" descr=""/>
            <p:cNvSpPr/>
            <p:nvPr/>
          </p:nvSpPr>
          <p:spPr>
            <a:xfrm>
              <a:off x="899998" y="9098850"/>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605"/>
                  </a:lnTo>
                  <a:lnTo>
                    <a:pt x="2829" y="523618"/>
                  </a:lnTo>
                  <a:lnTo>
                    <a:pt x="10544" y="535061"/>
                  </a:lnTo>
                  <a:lnTo>
                    <a:pt x="21987" y="542776"/>
                  </a:lnTo>
                  <a:lnTo>
                    <a:pt x="36000" y="545605"/>
                  </a:lnTo>
                  <a:lnTo>
                    <a:pt x="5724074" y="545605"/>
                  </a:lnTo>
                  <a:lnTo>
                    <a:pt x="5738087" y="542776"/>
                  </a:lnTo>
                  <a:lnTo>
                    <a:pt x="5749530" y="535061"/>
                  </a:lnTo>
                  <a:lnTo>
                    <a:pt x="5757245" y="523618"/>
                  </a:lnTo>
                  <a:lnTo>
                    <a:pt x="5760074" y="50960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2" name="object 22" descr=""/>
            <p:cNvSpPr/>
            <p:nvPr/>
          </p:nvSpPr>
          <p:spPr>
            <a:xfrm>
              <a:off x="899998" y="9098850"/>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605"/>
                  </a:lnTo>
                  <a:lnTo>
                    <a:pt x="2829" y="523618"/>
                  </a:lnTo>
                  <a:lnTo>
                    <a:pt x="10544" y="535061"/>
                  </a:lnTo>
                  <a:lnTo>
                    <a:pt x="21987" y="542776"/>
                  </a:lnTo>
                  <a:lnTo>
                    <a:pt x="36000" y="545605"/>
                  </a:lnTo>
                  <a:lnTo>
                    <a:pt x="5724074" y="545605"/>
                  </a:lnTo>
                  <a:lnTo>
                    <a:pt x="5738087" y="542776"/>
                  </a:lnTo>
                  <a:lnTo>
                    <a:pt x="5749530" y="535061"/>
                  </a:lnTo>
                  <a:lnTo>
                    <a:pt x="5757245" y="523618"/>
                  </a:lnTo>
                  <a:lnTo>
                    <a:pt x="5760074" y="50960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3" name="object 23" descr=""/>
          <p:cNvSpPr txBox="1"/>
          <p:nvPr/>
        </p:nvSpPr>
        <p:spPr>
          <a:xfrm>
            <a:off x="887298" y="929252"/>
            <a:ext cx="5785485" cy="8620760"/>
          </a:xfrm>
          <a:prstGeom prst="rect">
            <a:avLst/>
          </a:prstGeom>
        </p:spPr>
        <p:txBody>
          <a:bodyPr wrap="square" lIns="0" tIns="12700" rIns="0" bIns="0" rtlCol="0" vert="horz">
            <a:spAutoFit/>
          </a:bodyPr>
          <a:lstStyle/>
          <a:p>
            <a:pPr algn="just" marL="192405" marR="184785">
              <a:lnSpc>
                <a:spcPct val="129500"/>
              </a:lnSpc>
              <a:spcBef>
                <a:spcPts val="100"/>
              </a:spcBef>
            </a:pPr>
            <a:r>
              <a:rPr dirty="0" sz="1000">
                <a:latin typeface="Times New Roman"/>
                <a:cs typeface="Times New Roman"/>
              </a:rPr>
              <a:t>[6]</a:t>
            </a:r>
            <a:r>
              <a:rPr dirty="0" sz="1000" spc="65">
                <a:latin typeface="Times New Roman"/>
                <a:cs typeface="Times New Roman"/>
              </a:rPr>
              <a:t> </a:t>
            </a:r>
            <a:r>
              <a:rPr dirty="0" sz="1000">
                <a:latin typeface="Times New Roman"/>
                <a:cs typeface="Times New Roman"/>
              </a:rPr>
              <a:t>Nieves</a:t>
            </a:r>
            <a:r>
              <a:rPr dirty="0" sz="1000" spc="65">
                <a:latin typeface="Times New Roman"/>
                <a:cs typeface="Times New Roman"/>
              </a:rPr>
              <a:t> </a:t>
            </a:r>
            <a:r>
              <a:rPr dirty="0" sz="1000">
                <a:latin typeface="Times New Roman"/>
                <a:cs typeface="Times New Roman"/>
              </a:rPr>
              <a:t>Crasto</a:t>
            </a:r>
            <a:r>
              <a:rPr dirty="0" sz="1000" spc="30">
                <a:latin typeface="Times New Roman"/>
                <a:cs typeface="Times New Roman"/>
              </a:rPr>
              <a:t>, </a:t>
            </a:r>
            <a:r>
              <a:rPr dirty="0" sz="1000">
                <a:latin typeface="Times New Roman"/>
                <a:cs typeface="Times New Roman"/>
              </a:rPr>
              <a:t>Philippe</a:t>
            </a:r>
            <a:r>
              <a:rPr dirty="0" sz="1000" spc="65">
                <a:latin typeface="Times New Roman"/>
                <a:cs typeface="Times New Roman"/>
              </a:rPr>
              <a:t> </a:t>
            </a:r>
            <a:r>
              <a:rPr dirty="0" sz="1000">
                <a:latin typeface="Times New Roman"/>
                <a:cs typeface="Times New Roman"/>
              </a:rPr>
              <a:t>Weinzaepfel,</a:t>
            </a:r>
            <a:r>
              <a:rPr dirty="0" sz="1000" spc="65">
                <a:latin typeface="Times New Roman"/>
                <a:cs typeface="Times New Roman"/>
              </a:rPr>
              <a:t> </a:t>
            </a:r>
            <a:r>
              <a:rPr dirty="0" sz="1000">
                <a:latin typeface="Times New Roman"/>
                <a:cs typeface="Times New Roman"/>
              </a:rPr>
              <a:t>Karteek</a:t>
            </a:r>
            <a:r>
              <a:rPr dirty="0" sz="1000" spc="65">
                <a:latin typeface="Times New Roman"/>
                <a:cs typeface="Times New Roman"/>
              </a:rPr>
              <a:t> </a:t>
            </a:r>
            <a:r>
              <a:rPr dirty="0" sz="1000">
                <a:latin typeface="Times New Roman"/>
                <a:cs typeface="Times New Roman"/>
              </a:rPr>
              <a:t>Alahari,</a:t>
            </a:r>
            <a:r>
              <a:rPr dirty="0" sz="1000" spc="65">
                <a:latin typeface="Times New Roman"/>
                <a:cs typeface="Times New Roman"/>
              </a:rPr>
              <a:t> </a:t>
            </a:r>
            <a:r>
              <a:rPr dirty="0" sz="1000">
                <a:latin typeface="Times New Roman"/>
                <a:cs typeface="Times New Roman"/>
              </a:rPr>
              <a:t>and</a:t>
            </a:r>
            <a:r>
              <a:rPr dirty="0" sz="1000" spc="65">
                <a:latin typeface="Times New Roman"/>
                <a:cs typeface="Times New Roman"/>
              </a:rPr>
              <a:t> </a:t>
            </a:r>
            <a:r>
              <a:rPr dirty="0" sz="1000">
                <a:latin typeface="Times New Roman"/>
                <a:cs typeface="Times New Roman"/>
              </a:rPr>
              <a:t>Cordelia</a:t>
            </a:r>
            <a:r>
              <a:rPr dirty="0" sz="1000" spc="65">
                <a:latin typeface="Times New Roman"/>
                <a:cs typeface="Times New Roman"/>
              </a:rPr>
              <a:t> </a:t>
            </a:r>
            <a:r>
              <a:rPr dirty="0" sz="1000">
                <a:latin typeface="Times New Roman"/>
                <a:cs typeface="Times New Roman"/>
              </a:rPr>
              <a:t>Schmid</a:t>
            </a:r>
            <a:r>
              <a:rPr dirty="0" sz="1000" spc="-110">
                <a:latin typeface="SimSun"/>
                <a:cs typeface="SimSun"/>
              </a:rPr>
              <a:t>。</a:t>
            </a:r>
            <a:r>
              <a:rPr dirty="0" sz="1000">
                <a:latin typeface="Times New Roman"/>
                <a:cs typeface="Times New Roman"/>
              </a:rPr>
              <a:t>Mars:</a:t>
            </a:r>
            <a:r>
              <a:rPr dirty="0" sz="1000" spc="65">
                <a:latin typeface="Times New Roman"/>
                <a:cs typeface="Times New Roman"/>
              </a:rPr>
              <a:t> </a:t>
            </a:r>
            <a:r>
              <a:rPr dirty="0" sz="1000" spc="-20">
                <a:latin typeface="SimSun"/>
                <a:cs typeface="SimSun"/>
              </a:rPr>
              <a:t>用于动作识别</a:t>
            </a:r>
            <a:r>
              <a:rPr dirty="0" sz="1000" spc="30">
                <a:latin typeface="SimSun"/>
                <a:cs typeface="SimSun"/>
              </a:rPr>
              <a:t>的运动增强</a:t>
            </a:r>
            <a:r>
              <a:rPr dirty="0" sz="1000">
                <a:latin typeface="Times New Roman"/>
                <a:cs typeface="Times New Roman"/>
              </a:rPr>
              <a:t>rgb</a:t>
            </a:r>
            <a:r>
              <a:rPr dirty="0" sz="1000" spc="-15">
                <a:latin typeface="Times New Roman"/>
                <a:cs typeface="Times New Roman"/>
              </a:rPr>
              <a:t> </a:t>
            </a:r>
            <a:r>
              <a:rPr dirty="0" sz="1000" spc="-240">
                <a:latin typeface="SimSun"/>
                <a:cs typeface="SimSun"/>
              </a:rPr>
              <a:t>流。《</a:t>
            </a:r>
            <a:r>
              <a:rPr dirty="0" sz="1000">
                <a:latin typeface="Times New Roman"/>
                <a:cs typeface="Times New Roman"/>
              </a:rPr>
              <a:t>IEEE/CVF</a:t>
            </a:r>
            <a:r>
              <a:rPr dirty="0" sz="1000" spc="-15">
                <a:latin typeface="Times New Roman"/>
                <a:cs typeface="Times New Roman"/>
              </a:rPr>
              <a:t> </a:t>
            </a:r>
            <a:r>
              <a:rPr dirty="0" sz="1000" spc="-70">
                <a:latin typeface="SimSun"/>
                <a:cs typeface="SimSun"/>
              </a:rPr>
              <a:t>计算机视觉与模式识别会议论文集》，第 </a:t>
            </a:r>
            <a:r>
              <a:rPr dirty="0" sz="1000" spc="-10">
                <a:latin typeface="Times New Roman"/>
                <a:cs typeface="Times New Roman"/>
              </a:rPr>
              <a:t>7882</a:t>
            </a:r>
            <a:r>
              <a:rPr dirty="0" sz="1000" spc="-20">
                <a:latin typeface="Times New Roman"/>
                <a:cs typeface="Times New Roman"/>
              </a:rPr>
              <a:t> - </a:t>
            </a:r>
            <a:r>
              <a:rPr dirty="0" sz="1000" spc="-10">
                <a:latin typeface="Times New Roman"/>
                <a:cs typeface="Times New Roman"/>
              </a:rPr>
              <a:t>7891</a:t>
            </a:r>
            <a:r>
              <a:rPr dirty="0" sz="1000" spc="-15">
                <a:latin typeface="Times New Roman"/>
                <a:cs typeface="Times New Roman"/>
              </a:rPr>
              <a:t> </a:t>
            </a:r>
            <a:r>
              <a:rPr dirty="0" sz="1000" spc="-30">
                <a:latin typeface="SimSun"/>
                <a:cs typeface="SimSun"/>
              </a:rPr>
              <a:t>页，</a:t>
            </a:r>
            <a:r>
              <a:rPr dirty="0" sz="1000" spc="-50">
                <a:latin typeface="Times New Roman"/>
                <a:cs typeface="Times New Roman"/>
              </a:rPr>
              <a:t>2019</a:t>
            </a:r>
            <a:r>
              <a:rPr dirty="0" sz="1000" spc="-15">
                <a:latin typeface="Times New Roman"/>
                <a:cs typeface="Times New Roman"/>
              </a:rPr>
              <a:t> </a:t>
            </a:r>
            <a:r>
              <a:rPr dirty="0" sz="1000" spc="-100">
                <a:latin typeface="SimSun"/>
                <a:cs typeface="SimSun"/>
              </a:rPr>
              <a:t>年。</a:t>
            </a:r>
            <a:r>
              <a:rPr dirty="0" sz="1000" spc="-50">
                <a:latin typeface="Times New Roman"/>
                <a:cs typeface="Times New Roman"/>
              </a:rPr>
              <a:t>2</a:t>
            </a:r>
            <a:endParaRPr sz="1000">
              <a:latin typeface="Times New Roman"/>
              <a:cs typeface="Times New Roman"/>
            </a:endParaRPr>
          </a:p>
          <a:p>
            <a:pPr>
              <a:lnSpc>
                <a:spcPct val="100000"/>
              </a:lnSpc>
              <a:spcBef>
                <a:spcPts val="245"/>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[7]</a:t>
            </a:r>
            <a:r>
              <a:rPr dirty="0" sz="1000" spc="30">
                <a:latin typeface="Times New Roman"/>
                <a:cs typeface="Times New Roman"/>
              </a:rPr>
              <a:t> </a:t>
            </a:r>
            <a:r>
              <a:rPr dirty="0" sz="1000">
                <a:latin typeface="Times New Roman"/>
                <a:cs typeface="Times New Roman"/>
              </a:rPr>
              <a:t>Yuhang</a:t>
            </a:r>
            <a:r>
              <a:rPr dirty="0" sz="1000" spc="35">
                <a:latin typeface="Times New Roman"/>
                <a:cs typeface="Times New Roman"/>
              </a:rPr>
              <a:t> </a:t>
            </a:r>
            <a:r>
              <a:rPr dirty="0" sz="1000">
                <a:latin typeface="Times New Roman"/>
                <a:cs typeface="Times New Roman"/>
              </a:rPr>
              <a:t>Ding,</a:t>
            </a:r>
            <a:r>
              <a:rPr dirty="0" sz="1000" spc="45">
                <a:latin typeface="Times New Roman"/>
                <a:cs typeface="Times New Roman"/>
              </a:rPr>
              <a:t> </a:t>
            </a:r>
            <a:r>
              <a:rPr dirty="0" sz="1000">
                <a:latin typeface="Times New Roman"/>
                <a:cs typeface="Times New Roman"/>
              </a:rPr>
              <a:t>Xin</a:t>
            </a:r>
            <a:r>
              <a:rPr dirty="0" sz="1000" spc="30">
                <a:latin typeface="Times New Roman"/>
                <a:cs typeface="Times New Roman"/>
              </a:rPr>
              <a:t> </a:t>
            </a:r>
            <a:r>
              <a:rPr dirty="0" sz="1000" spc="-35">
                <a:latin typeface="Times New Roman"/>
                <a:cs typeface="Times New Roman"/>
              </a:rPr>
              <a:t>Yu,</a:t>
            </a:r>
            <a:r>
              <a:rPr dirty="0" sz="1000" spc="45">
                <a:latin typeface="Times New Roman"/>
                <a:cs typeface="Times New Roman"/>
              </a:rPr>
              <a:t> </a:t>
            </a:r>
            <a:r>
              <a:rPr dirty="0" sz="1000">
                <a:latin typeface="Times New Roman"/>
                <a:cs typeface="Times New Roman"/>
              </a:rPr>
              <a:t>and</a:t>
            </a:r>
            <a:r>
              <a:rPr dirty="0" sz="1000" spc="35">
                <a:latin typeface="Times New Roman"/>
                <a:cs typeface="Times New Roman"/>
              </a:rPr>
              <a:t> </a:t>
            </a:r>
            <a:r>
              <a:rPr dirty="0" sz="1000" spc="-60">
                <a:latin typeface="Times New Roman"/>
                <a:cs typeface="Times New Roman"/>
              </a:rPr>
              <a:t>Yi</a:t>
            </a:r>
            <a:r>
              <a:rPr dirty="0" sz="1000" spc="30">
                <a:latin typeface="Times New Roman"/>
                <a:cs typeface="Times New Roman"/>
              </a:rPr>
              <a:t> </a:t>
            </a:r>
            <a:r>
              <a:rPr dirty="0" sz="1000">
                <a:latin typeface="Times New Roman"/>
                <a:cs typeface="Times New Roman"/>
              </a:rPr>
              <a:t>Yang.</a:t>
            </a:r>
            <a:r>
              <a:rPr dirty="0" sz="1000" spc="160">
                <a:latin typeface="Times New Roman"/>
                <a:cs typeface="Times New Roman"/>
              </a:rPr>
              <a:t> </a:t>
            </a:r>
            <a:r>
              <a:rPr dirty="0" sz="1000">
                <a:latin typeface="Times New Roman"/>
                <a:cs typeface="Times New Roman"/>
              </a:rPr>
              <a:t>Rfnet:</a:t>
            </a:r>
            <a:r>
              <a:rPr dirty="0" sz="1000" spc="155">
                <a:latin typeface="Times New Roman"/>
                <a:cs typeface="Times New Roman"/>
              </a:rPr>
              <a:t> </a:t>
            </a:r>
            <a:r>
              <a:rPr dirty="0" sz="1000">
                <a:latin typeface="Times New Roman"/>
                <a:cs typeface="Times New Roman"/>
              </a:rPr>
              <a:t>Region-aware</a:t>
            </a:r>
            <a:r>
              <a:rPr dirty="0" sz="1000" spc="35">
                <a:latin typeface="Times New Roman"/>
                <a:cs typeface="Times New Roman"/>
              </a:rPr>
              <a:t> </a:t>
            </a:r>
            <a:r>
              <a:rPr dirty="0" sz="1000">
                <a:latin typeface="Times New Roman"/>
                <a:cs typeface="Times New Roman"/>
              </a:rPr>
              <a:t>fusion</a:t>
            </a:r>
            <a:r>
              <a:rPr dirty="0" sz="1000" spc="35">
                <a:latin typeface="Times New Roman"/>
                <a:cs typeface="Times New Roman"/>
              </a:rPr>
              <a:t> </a:t>
            </a:r>
            <a:r>
              <a:rPr dirty="0" sz="1000">
                <a:latin typeface="Times New Roman"/>
                <a:cs typeface="Times New Roman"/>
              </a:rPr>
              <a:t>network</a:t>
            </a:r>
            <a:r>
              <a:rPr dirty="0" sz="1000" spc="35">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incomplete</a:t>
            </a:r>
            <a:r>
              <a:rPr dirty="0" sz="1000" spc="35">
                <a:latin typeface="Times New Roman"/>
                <a:cs typeface="Times New Roman"/>
              </a:rPr>
              <a:t> </a:t>
            </a:r>
            <a:r>
              <a:rPr dirty="0" sz="1000">
                <a:latin typeface="Times New Roman"/>
                <a:cs typeface="Times New Roman"/>
              </a:rPr>
              <a:t>multi-</a:t>
            </a:r>
            <a:r>
              <a:rPr dirty="0" sz="1000" spc="-10">
                <a:latin typeface="Times New Roman"/>
                <a:cs typeface="Times New Roman"/>
              </a:rPr>
              <a:t>modal </a:t>
            </a:r>
            <a:r>
              <a:rPr dirty="0" sz="1000" spc="20">
                <a:latin typeface="Times New Roman"/>
                <a:cs typeface="Times New Roman"/>
              </a:rPr>
              <a:t>brain</a:t>
            </a:r>
            <a:r>
              <a:rPr dirty="0" sz="1000" spc="35">
                <a:latin typeface="Times New Roman"/>
                <a:cs typeface="Times New Roman"/>
              </a:rPr>
              <a:t> </a:t>
            </a:r>
            <a:r>
              <a:rPr dirty="0" sz="1000" spc="20">
                <a:latin typeface="Times New Roman"/>
                <a:cs typeface="Times New Roman"/>
              </a:rPr>
              <a:t>tumor</a:t>
            </a:r>
            <a:r>
              <a:rPr dirty="0" sz="1000" spc="40">
                <a:latin typeface="Times New Roman"/>
                <a:cs typeface="Times New Roman"/>
              </a:rPr>
              <a:t> </a:t>
            </a:r>
            <a:r>
              <a:rPr dirty="0" sz="1000" spc="20">
                <a:latin typeface="Times New Roman"/>
                <a:cs typeface="Times New Roman"/>
              </a:rPr>
              <a:t>segmentation.</a:t>
            </a:r>
            <a:r>
              <a:rPr dirty="0" sz="1000" spc="165">
                <a:latin typeface="Times New Roman"/>
                <a:cs typeface="Times New Roman"/>
              </a:rPr>
              <a:t> </a:t>
            </a:r>
            <a:r>
              <a:rPr dirty="0" sz="1000" spc="20">
                <a:latin typeface="Times New Roman"/>
                <a:cs typeface="Times New Roman"/>
              </a:rPr>
              <a:t>In</a:t>
            </a:r>
            <a:r>
              <a:rPr dirty="0" sz="1000" spc="40">
                <a:latin typeface="Times New Roman"/>
                <a:cs typeface="Times New Roman"/>
              </a:rPr>
              <a:t> </a:t>
            </a:r>
            <a:r>
              <a:rPr dirty="0" sz="1000" spc="20">
                <a:latin typeface="Times New Roman"/>
                <a:cs typeface="Times New Roman"/>
              </a:rPr>
              <a:t>Proceedings</a:t>
            </a:r>
            <a:r>
              <a:rPr dirty="0" sz="1000" spc="40">
                <a:latin typeface="Times New Roman"/>
                <a:cs typeface="Times New Roman"/>
              </a:rPr>
              <a:t> </a:t>
            </a:r>
            <a:r>
              <a:rPr dirty="0" sz="1000" spc="10">
                <a:latin typeface="Times New Roman"/>
                <a:cs typeface="Times New Roman"/>
              </a:rPr>
              <a:t>of</a:t>
            </a:r>
            <a:r>
              <a:rPr dirty="0" sz="1000" spc="35">
                <a:latin typeface="Times New Roman"/>
                <a:cs typeface="Times New Roman"/>
              </a:rPr>
              <a:t> </a:t>
            </a:r>
            <a:r>
              <a:rPr dirty="0" sz="1000" spc="20">
                <a:latin typeface="Times New Roman"/>
                <a:cs typeface="Times New Roman"/>
              </a:rPr>
              <a:t>the</a:t>
            </a:r>
            <a:r>
              <a:rPr dirty="0" sz="1000" spc="40">
                <a:latin typeface="Times New Roman"/>
                <a:cs typeface="Times New Roman"/>
              </a:rPr>
              <a:t> </a:t>
            </a:r>
            <a:r>
              <a:rPr dirty="0" sz="1000" spc="20">
                <a:latin typeface="Times New Roman"/>
                <a:cs typeface="Times New Roman"/>
              </a:rPr>
              <a:t>IEEE/CVF</a:t>
            </a:r>
            <a:r>
              <a:rPr dirty="0" sz="1000" spc="40">
                <a:latin typeface="Times New Roman"/>
                <a:cs typeface="Times New Roman"/>
              </a:rPr>
              <a:t> </a:t>
            </a:r>
            <a:r>
              <a:rPr dirty="0" sz="1000" spc="20">
                <a:latin typeface="Times New Roman"/>
                <a:cs typeface="Times New Roman"/>
              </a:rPr>
              <a:t>International</a:t>
            </a:r>
            <a:r>
              <a:rPr dirty="0" sz="1000" spc="35">
                <a:latin typeface="Times New Roman"/>
                <a:cs typeface="Times New Roman"/>
              </a:rPr>
              <a:t> </a:t>
            </a:r>
            <a:r>
              <a:rPr dirty="0" sz="1000" spc="20">
                <a:latin typeface="Times New Roman"/>
                <a:cs typeface="Times New Roman"/>
              </a:rPr>
              <a:t>Conference</a:t>
            </a:r>
            <a:r>
              <a:rPr dirty="0" sz="1000" spc="40">
                <a:latin typeface="Times New Roman"/>
                <a:cs typeface="Times New Roman"/>
              </a:rPr>
              <a:t> </a:t>
            </a:r>
            <a:r>
              <a:rPr dirty="0" sz="1000" spc="20">
                <a:latin typeface="Times New Roman"/>
                <a:cs typeface="Times New Roman"/>
              </a:rPr>
              <a:t>on</a:t>
            </a:r>
            <a:r>
              <a:rPr dirty="0" sz="1000" spc="40">
                <a:latin typeface="Times New Roman"/>
                <a:cs typeface="Times New Roman"/>
              </a:rPr>
              <a:t> </a:t>
            </a:r>
            <a:r>
              <a:rPr dirty="0" sz="1000" spc="20">
                <a:latin typeface="Times New Roman"/>
                <a:cs typeface="Times New Roman"/>
              </a:rPr>
              <a:t>Computer</a:t>
            </a:r>
            <a:r>
              <a:rPr dirty="0" sz="1000" spc="35">
                <a:latin typeface="Times New Roman"/>
                <a:cs typeface="Times New Roman"/>
              </a:rPr>
              <a:t> </a:t>
            </a:r>
            <a:r>
              <a:rPr dirty="0" sz="1000" spc="-10">
                <a:latin typeface="Times New Roman"/>
                <a:cs typeface="Times New Roman"/>
              </a:rPr>
              <a:t>Vision, </a:t>
            </a:r>
            <a:r>
              <a:rPr dirty="0" sz="1000">
                <a:latin typeface="Times New Roman"/>
                <a:cs typeface="Times New Roman"/>
              </a:rPr>
              <a:t>pages</a:t>
            </a:r>
            <a:r>
              <a:rPr dirty="0" sz="1000" spc="-20">
                <a:latin typeface="Times New Roman"/>
                <a:cs typeface="Times New Roman"/>
              </a:rPr>
              <a:t> </a:t>
            </a:r>
            <a:r>
              <a:rPr dirty="0" sz="1000" spc="-10">
                <a:latin typeface="Times New Roman"/>
                <a:cs typeface="Times New Roman"/>
              </a:rPr>
              <a:t>3975-3984,</a:t>
            </a:r>
            <a:r>
              <a:rPr dirty="0" sz="1000" spc="-15">
                <a:latin typeface="Times New Roman"/>
                <a:cs typeface="Times New Roman"/>
              </a:rPr>
              <a:t> </a:t>
            </a:r>
            <a:r>
              <a:rPr dirty="0" sz="1000">
                <a:latin typeface="Times New Roman"/>
                <a:cs typeface="Times New Roman"/>
              </a:rPr>
              <a:t>2021.</a:t>
            </a:r>
            <a:r>
              <a:rPr dirty="0" sz="1000" spc="65">
                <a:latin typeface="Times New Roman"/>
                <a:cs typeface="Times New Roman"/>
              </a:rPr>
              <a:t> </a:t>
            </a:r>
            <a:r>
              <a:rPr dirty="0" sz="1000">
                <a:latin typeface="Times New Roman"/>
                <a:cs typeface="Times New Roman"/>
              </a:rPr>
              <a:t>1,</a:t>
            </a:r>
            <a:r>
              <a:rPr dirty="0" sz="1000" spc="-20">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a:lnSpc>
                <a:spcPct val="129500"/>
              </a:lnSpc>
              <a:spcBef>
                <a:spcPts val="5"/>
              </a:spcBef>
            </a:pPr>
            <a:r>
              <a:rPr dirty="0" sz="1000">
                <a:latin typeface="Times New Roman"/>
                <a:cs typeface="Times New Roman"/>
              </a:rPr>
              <a:t>[7]</a:t>
            </a:r>
            <a:r>
              <a:rPr dirty="0" sz="1000" spc="190">
                <a:latin typeface="Times New Roman"/>
                <a:cs typeface="Times New Roman"/>
              </a:rPr>
              <a:t> </a:t>
            </a:r>
            <a:r>
              <a:rPr dirty="0" sz="1000">
                <a:latin typeface="Times New Roman"/>
                <a:cs typeface="Times New Roman"/>
              </a:rPr>
              <a:t>Yuhang</a:t>
            </a:r>
            <a:r>
              <a:rPr dirty="0" sz="1000" spc="190">
                <a:latin typeface="Times New Roman"/>
                <a:cs typeface="Times New Roman"/>
              </a:rPr>
              <a:t> </a:t>
            </a:r>
            <a:r>
              <a:rPr dirty="0" sz="1000">
                <a:latin typeface="Times New Roman"/>
                <a:cs typeface="Times New Roman"/>
              </a:rPr>
              <a:t>Ding,</a:t>
            </a:r>
            <a:r>
              <a:rPr dirty="0" sz="1000" spc="229">
                <a:latin typeface="Times New Roman"/>
                <a:cs typeface="Times New Roman"/>
              </a:rPr>
              <a:t> </a:t>
            </a:r>
            <a:r>
              <a:rPr dirty="0" sz="1000">
                <a:latin typeface="Times New Roman"/>
                <a:cs typeface="Times New Roman"/>
              </a:rPr>
              <a:t>Xin</a:t>
            </a:r>
            <a:r>
              <a:rPr dirty="0" sz="1000" spc="190">
                <a:latin typeface="Times New Roman"/>
                <a:cs typeface="Times New Roman"/>
              </a:rPr>
              <a:t> </a:t>
            </a:r>
            <a:r>
              <a:rPr dirty="0" sz="1000">
                <a:latin typeface="Times New Roman"/>
                <a:cs typeface="Times New Roman"/>
              </a:rPr>
              <a:t>Yu,</a:t>
            </a:r>
            <a:r>
              <a:rPr dirty="0" sz="1000" spc="229">
                <a:latin typeface="Times New Roman"/>
                <a:cs typeface="Times New Roman"/>
              </a:rPr>
              <a:t> </a:t>
            </a:r>
            <a:r>
              <a:rPr dirty="0" sz="1000">
                <a:latin typeface="Times New Roman"/>
                <a:cs typeface="Times New Roman"/>
              </a:rPr>
              <a:t>and</a:t>
            </a:r>
            <a:r>
              <a:rPr dirty="0" sz="1000" spc="190">
                <a:latin typeface="Times New Roman"/>
                <a:cs typeface="Times New Roman"/>
              </a:rPr>
              <a:t> </a:t>
            </a:r>
            <a:r>
              <a:rPr dirty="0" sz="1000">
                <a:latin typeface="Times New Roman"/>
                <a:cs typeface="Times New Roman"/>
              </a:rPr>
              <a:t>Yi</a:t>
            </a:r>
            <a:r>
              <a:rPr dirty="0" sz="1000" spc="190">
                <a:latin typeface="Times New Roman"/>
                <a:cs typeface="Times New Roman"/>
              </a:rPr>
              <a:t> </a:t>
            </a:r>
            <a:r>
              <a:rPr dirty="0" sz="1000" spc="-30">
                <a:latin typeface="Times New Roman"/>
                <a:cs typeface="Times New Roman"/>
              </a:rPr>
              <a:t>Yang</a:t>
            </a:r>
            <a:r>
              <a:rPr dirty="0" sz="1000" spc="-10">
                <a:latin typeface="SimSun"/>
                <a:cs typeface="SimSun"/>
              </a:rPr>
              <a:t>。</a:t>
            </a:r>
            <a:r>
              <a:rPr dirty="0" sz="1000">
                <a:latin typeface="Times New Roman"/>
                <a:cs typeface="Times New Roman"/>
              </a:rPr>
              <a:t>Rfnet:</a:t>
            </a:r>
            <a:r>
              <a:rPr dirty="0" sz="1000" spc="190">
                <a:latin typeface="Times New Roman"/>
                <a:cs typeface="Times New Roman"/>
              </a:rPr>
              <a:t> </a:t>
            </a:r>
            <a:r>
              <a:rPr dirty="0" sz="1000" spc="-5">
                <a:latin typeface="SimSun"/>
                <a:cs typeface="SimSun"/>
              </a:rPr>
              <a:t>用于不完整多模态脑肿瘤分割的区域感知融合网</a:t>
            </a:r>
            <a:r>
              <a:rPr dirty="0" sz="1000" spc="-180">
                <a:latin typeface="SimSun"/>
                <a:cs typeface="SimSun"/>
              </a:rPr>
              <a:t>络。《</a:t>
            </a:r>
            <a:r>
              <a:rPr dirty="0" sz="1000">
                <a:latin typeface="Times New Roman"/>
                <a:cs typeface="Times New Roman"/>
              </a:rPr>
              <a:t>IEEE/CVF</a:t>
            </a:r>
            <a:r>
              <a:rPr dirty="0" sz="1000" spc="-20">
                <a:latin typeface="Times New Roman"/>
                <a:cs typeface="Times New Roman"/>
              </a:rPr>
              <a:t> </a:t>
            </a:r>
            <a:r>
              <a:rPr dirty="0" sz="1000" spc="-65">
                <a:latin typeface="SimSun"/>
                <a:cs typeface="SimSun"/>
              </a:rPr>
              <a:t>国际计算机视觉会议论文集》，第 </a:t>
            </a:r>
            <a:r>
              <a:rPr dirty="0" sz="1000">
                <a:latin typeface="Times New Roman"/>
                <a:cs typeface="Times New Roman"/>
              </a:rPr>
              <a:t>3975</a:t>
            </a:r>
            <a:r>
              <a:rPr dirty="0" sz="1000" spc="-15">
                <a:latin typeface="Times New Roman"/>
                <a:cs typeface="Times New Roman"/>
              </a:rPr>
              <a:t> - </a:t>
            </a:r>
            <a:r>
              <a:rPr dirty="0" sz="1000">
                <a:latin typeface="Times New Roman"/>
                <a:cs typeface="Times New Roman"/>
              </a:rPr>
              <a:t>3984</a:t>
            </a:r>
            <a:r>
              <a:rPr dirty="0" sz="1000" spc="-15">
                <a:latin typeface="Times New Roman"/>
                <a:cs typeface="Times New Roman"/>
              </a:rPr>
              <a:t> </a:t>
            </a:r>
            <a:r>
              <a:rPr dirty="0" sz="1000" spc="-10">
                <a:latin typeface="SimSun"/>
                <a:cs typeface="SimSun"/>
              </a:rPr>
              <a:t>页，</a:t>
            </a:r>
            <a:r>
              <a:rPr dirty="0" sz="1000" spc="-10">
                <a:latin typeface="Times New Roman"/>
                <a:cs typeface="Times New Roman"/>
              </a:rPr>
              <a:t>2021</a:t>
            </a:r>
            <a:r>
              <a:rPr dirty="0" sz="1000" spc="-20">
                <a:latin typeface="Times New Roman"/>
                <a:cs typeface="Times New Roman"/>
              </a:rPr>
              <a:t> </a:t>
            </a:r>
            <a:r>
              <a:rPr dirty="0" sz="1000" spc="-10">
                <a:latin typeface="SimSun"/>
                <a:cs typeface="SimSun"/>
              </a:rPr>
              <a:t>年。</a:t>
            </a:r>
            <a:r>
              <a:rPr dirty="0" sz="1000" spc="-25">
                <a:latin typeface="Times New Roman"/>
                <a:cs typeface="Times New Roman"/>
              </a:rPr>
              <a:t>1</a:t>
            </a:r>
            <a:r>
              <a:rPr dirty="0" sz="1000" spc="-25">
                <a:latin typeface="SimSun"/>
                <a:cs typeface="SimSun"/>
              </a:rPr>
              <a:t>，</a:t>
            </a:r>
            <a:r>
              <a:rPr dirty="0" sz="1000" spc="-25">
                <a:latin typeface="Times New Roman"/>
                <a:cs typeface="Times New Roman"/>
              </a:rPr>
              <a:t>2</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[8]</a:t>
            </a:r>
            <a:r>
              <a:rPr dirty="0" sz="1000" spc="25">
                <a:latin typeface="Times New Roman"/>
                <a:cs typeface="Times New Roman"/>
              </a:rPr>
              <a:t> </a:t>
            </a:r>
            <a:r>
              <a:rPr dirty="0" sz="1000">
                <a:latin typeface="Times New Roman"/>
                <a:cs typeface="Times New Roman"/>
              </a:rPr>
              <a:t>Chenzhuang</a:t>
            </a:r>
            <a:r>
              <a:rPr dirty="0" sz="1000" spc="25">
                <a:latin typeface="Times New Roman"/>
                <a:cs typeface="Times New Roman"/>
              </a:rPr>
              <a:t> </a:t>
            </a:r>
            <a:r>
              <a:rPr dirty="0" sz="1000">
                <a:latin typeface="Times New Roman"/>
                <a:cs typeface="Times New Roman"/>
              </a:rPr>
              <a:t>Du,</a:t>
            </a:r>
            <a:r>
              <a:rPr dirty="0" sz="1000" spc="30">
                <a:latin typeface="Times New Roman"/>
                <a:cs typeface="Times New Roman"/>
              </a:rPr>
              <a:t> </a:t>
            </a:r>
            <a:r>
              <a:rPr dirty="0" sz="1000">
                <a:latin typeface="Times New Roman"/>
                <a:cs typeface="Times New Roman"/>
              </a:rPr>
              <a:t>Tingle</a:t>
            </a:r>
            <a:r>
              <a:rPr dirty="0" sz="1000" spc="25">
                <a:latin typeface="Times New Roman"/>
                <a:cs typeface="Times New Roman"/>
              </a:rPr>
              <a:t> </a:t>
            </a:r>
            <a:r>
              <a:rPr dirty="0" sz="1000" spc="-10">
                <a:latin typeface="Times New Roman"/>
                <a:cs typeface="Times New Roman"/>
              </a:rPr>
              <a:t>Li,</a:t>
            </a:r>
            <a:r>
              <a:rPr dirty="0" sz="1000" spc="35">
                <a:latin typeface="Times New Roman"/>
                <a:cs typeface="Times New Roman"/>
              </a:rPr>
              <a:t> </a:t>
            </a:r>
            <a:r>
              <a:rPr dirty="0" sz="1000">
                <a:latin typeface="Times New Roman"/>
                <a:cs typeface="Times New Roman"/>
              </a:rPr>
              <a:t>Yichen</a:t>
            </a:r>
            <a:r>
              <a:rPr dirty="0" sz="1000" spc="25">
                <a:latin typeface="Times New Roman"/>
                <a:cs typeface="Times New Roman"/>
              </a:rPr>
              <a:t> </a:t>
            </a:r>
            <a:r>
              <a:rPr dirty="0" sz="1000">
                <a:latin typeface="Times New Roman"/>
                <a:cs typeface="Times New Roman"/>
              </a:rPr>
              <a:t>Liu,</a:t>
            </a:r>
            <a:r>
              <a:rPr dirty="0" sz="1000" spc="30">
                <a:latin typeface="Times New Roman"/>
                <a:cs typeface="Times New Roman"/>
              </a:rPr>
              <a:t> </a:t>
            </a:r>
            <a:r>
              <a:rPr dirty="0" sz="1000">
                <a:latin typeface="Times New Roman"/>
                <a:cs typeface="Times New Roman"/>
              </a:rPr>
              <a:t>Zixin</a:t>
            </a:r>
            <a:r>
              <a:rPr dirty="0" sz="1000" spc="25">
                <a:latin typeface="Times New Roman"/>
                <a:cs typeface="Times New Roman"/>
              </a:rPr>
              <a:t> </a:t>
            </a:r>
            <a:r>
              <a:rPr dirty="0" sz="1000">
                <a:latin typeface="Times New Roman"/>
                <a:cs typeface="Times New Roman"/>
              </a:rPr>
              <a:t>Wen,</a:t>
            </a:r>
            <a:r>
              <a:rPr dirty="0" sz="1000" spc="35">
                <a:latin typeface="Times New Roman"/>
                <a:cs typeface="Times New Roman"/>
              </a:rPr>
              <a:t> </a:t>
            </a:r>
            <a:r>
              <a:rPr dirty="0" sz="1000">
                <a:latin typeface="Times New Roman"/>
                <a:cs typeface="Times New Roman"/>
              </a:rPr>
              <a:t>Tianyu</a:t>
            </a:r>
            <a:r>
              <a:rPr dirty="0" sz="1000" spc="15">
                <a:latin typeface="Times New Roman"/>
                <a:cs typeface="Times New Roman"/>
              </a:rPr>
              <a:t> </a:t>
            </a:r>
            <a:r>
              <a:rPr dirty="0" sz="1000">
                <a:latin typeface="Times New Roman"/>
                <a:cs typeface="Times New Roman"/>
              </a:rPr>
              <a:t>Hua,</a:t>
            </a:r>
            <a:r>
              <a:rPr dirty="0" sz="1000" spc="35">
                <a:latin typeface="Times New Roman"/>
                <a:cs typeface="Times New Roman"/>
              </a:rPr>
              <a:t> </a:t>
            </a:r>
            <a:r>
              <a:rPr dirty="0" sz="1000" spc="-35">
                <a:latin typeface="Times New Roman"/>
                <a:cs typeface="Times New Roman"/>
              </a:rPr>
              <a:t>Yue</a:t>
            </a:r>
            <a:r>
              <a:rPr dirty="0" sz="1000" spc="15">
                <a:latin typeface="Times New Roman"/>
                <a:cs typeface="Times New Roman"/>
              </a:rPr>
              <a:t> </a:t>
            </a:r>
            <a:r>
              <a:rPr dirty="0" sz="1000">
                <a:latin typeface="Times New Roman"/>
                <a:cs typeface="Times New Roman"/>
              </a:rPr>
              <a:t>Wang,</a:t>
            </a:r>
            <a:r>
              <a:rPr dirty="0" sz="1000" spc="35">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a:latin typeface="Times New Roman"/>
                <a:cs typeface="Times New Roman"/>
              </a:rPr>
              <a:t>Hang</a:t>
            </a:r>
            <a:r>
              <a:rPr dirty="0" sz="1000" spc="25">
                <a:latin typeface="Times New Roman"/>
                <a:cs typeface="Times New Roman"/>
              </a:rPr>
              <a:t> </a:t>
            </a:r>
            <a:r>
              <a:rPr dirty="0" sz="1000">
                <a:latin typeface="Times New Roman"/>
                <a:cs typeface="Times New Roman"/>
              </a:rPr>
              <a:t>Zhao.</a:t>
            </a:r>
            <a:r>
              <a:rPr dirty="0" sz="1000" spc="155">
                <a:latin typeface="Times New Roman"/>
                <a:cs typeface="Times New Roman"/>
              </a:rPr>
              <a:t> </a:t>
            </a:r>
            <a:r>
              <a:rPr dirty="0" sz="1000" spc="-10">
                <a:latin typeface="Times New Roman"/>
                <a:cs typeface="Times New Roman"/>
              </a:rPr>
              <a:t>Improv- </a:t>
            </a:r>
            <a:r>
              <a:rPr dirty="0" sz="1000">
                <a:latin typeface="Times New Roman"/>
                <a:cs typeface="Times New Roman"/>
              </a:rPr>
              <a:t>ing</a:t>
            </a:r>
            <a:r>
              <a:rPr dirty="0" sz="1000" spc="90">
                <a:latin typeface="Times New Roman"/>
                <a:cs typeface="Times New Roman"/>
              </a:rPr>
              <a:t> </a:t>
            </a:r>
            <a:r>
              <a:rPr dirty="0" sz="1000">
                <a:latin typeface="Times New Roman"/>
                <a:cs typeface="Times New Roman"/>
              </a:rPr>
              <a:t>multimodal</a:t>
            </a:r>
            <a:r>
              <a:rPr dirty="0" sz="1000" spc="95">
                <a:latin typeface="Times New Roman"/>
                <a:cs typeface="Times New Roman"/>
              </a:rPr>
              <a:t> </a:t>
            </a:r>
            <a:r>
              <a:rPr dirty="0" sz="1000">
                <a:latin typeface="Times New Roman"/>
                <a:cs typeface="Times New Roman"/>
              </a:rPr>
              <a:t>learning</a:t>
            </a:r>
            <a:r>
              <a:rPr dirty="0" sz="1000" spc="90">
                <a:latin typeface="Times New Roman"/>
                <a:cs typeface="Times New Roman"/>
              </a:rPr>
              <a:t> </a:t>
            </a:r>
            <a:r>
              <a:rPr dirty="0" sz="1000">
                <a:latin typeface="Times New Roman"/>
                <a:cs typeface="Times New Roman"/>
              </a:rPr>
              <a:t>with</a:t>
            </a:r>
            <a:r>
              <a:rPr dirty="0" sz="1000" spc="95">
                <a:latin typeface="Times New Roman"/>
                <a:cs typeface="Times New Roman"/>
              </a:rPr>
              <a:t> </a:t>
            </a:r>
            <a:r>
              <a:rPr dirty="0" sz="1000">
                <a:latin typeface="Times New Roman"/>
                <a:cs typeface="Times New Roman"/>
              </a:rPr>
              <a:t>uni-modal</a:t>
            </a:r>
            <a:r>
              <a:rPr dirty="0" sz="1000" spc="95">
                <a:latin typeface="Times New Roman"/>
                <a:cs typeface="Times New Roman"/>
              </a:rPr>
              <a:t> </a:t>
            </a:r>
            <a:r>
              <a:rPr dirty="0" sz="1000">
                <a:latin typeface="Times New Roman"/>
                <a:cs typeface="Times New Roman"/>
              </a:rPr>
              <a:t>teachers.</a:t>
            </a:r>
            <a:r>
              <a:rPr dirty="0" sz="1000" spc="210">
                <a:latin typeface="Times New Roman"/>
                <a:cs typeface="Times New Roman"/>
              </a:rPr>
              <a:t> </a:t>
            </a:r>
            <a:r>
              <a:rPr dirty="0" sz="1000">
                <a:latin typeface="Times New Roman"/>
                <a:cs typeface="Times New Roman"/>
              </a:rPr>
              <a:t>arXiv</a:t>
            </a:r>
            <a:r>
              <a:rPr dirty="0" sz="1000" spc="95">
                <a:latin typeface="Times New Roman"/>
                <a:cs typeface="Times New Roman"/>
              </a:rPr>
              <a:t> </a:t>
            </a:r>
            <a:r>
              <a:rPr dirty="0" sz="1000">
                <a:latin typeface="Times New Roman"/>
                <a:cs typeface="Times New Roman"/>
              </a:rPr>
              <a:t>preprint</a:t>
            </a:r>
            <a:r>
              <a:rPr dirty="0" sz="1000" spc="95">
                <a:latin typeface="Times New Roman"/>
                <a:cs typeface="Times New Roman"/>
              </a:rPr>
              <a:t> </a:t>
            </a:r>
            <a:r>
              <a:rPr dirty="0" sz="1000" spc="-10">
                <a:latin typeface="Times New Roman"/>
                <a:cs typeface="Times New Roman"/>
              </a:rPr>
              <a:t>arXiv:2106.11059,</a:t>
            </a:r>
            <a:r>
              <a:rPr dirty="0" sz="1000" spc="90">
                <a:latin typeface="Times New Roman"/>
                <a:cs typeface="Times New Roman"/>
              </a:rPr>
              <a:t> </a:t>
            </a:r>
            <a:r>
              <a:rPr dirty="0" sz="1000">
                <a:latin typeface="Times New Roman"/>
                <a:cs typeface="Times New Roman"/>
              </a:rPr>
              <a:t>2021.</a:t>
            </a:r>
            <a:r>
              <a:rPr dirty="0" sz="1000" spc="215">
                <a:latin typeface="Times New Roman"/>
                <a:cs typeface="Times New Roman"/>
              </a:rPr>
              <a:t> </a:t>
            </a:r>
            <a:r>
              <a:rPr dirty="0" sz="1000">
                <a:latin typeface="Times New Roman"/>
                <a:cs typeface="Times New Roman"/>
              </a:rPr>
              <a:t>1,</a:t>
            </a:r>
            <a:r>
              <a:rPr dirty="0" sz="1000" spc="90">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25"/>
              </a:spcBef>
            </a:pPr>
            <a:endParaRPr sz="1000">
              <a:latin typeface="Times New Roman"/>
              <a:cs typeface="Times New Roman"/>
            </a:endParaRPr>
          </a:p>
          <a:p>
            <a:pPr algn="just" marL="192405" marR="184785">
              <a:lnSpc>
                <a:spcPct val="129500"/>
              </a:lnSpc>
            </a:pPr>
            <a:r>
              <a:rPr dirty="0" sz="1000">
                <a:latin typeface="Times New Roman"/>
                <a:cs typeface="Times New Roman"/>
              </a:rPr>
              <a:t>[8]</a:t>
            </a:r>
            <a:r>
              <a:rPr dirty="0" sz="1000" spc="45">
                <a:latin typeface="Times New Roman"/>
                <a:cs typeface="Times New Roman"/>
              </a:rPr>
              <a:t> </a:t>
            </a:r>
            <a:r>
              <a:rPr dirty="0" sz="1000">
                <a:latin typeface="Times New Roman"/>
                <a:cs typeface="Times New Roman"/>
              </a:rPr>
              <a:t>Chenzhuang</a:t>
            </a:r>
            <a:r>
              <a:rPr dirty="0" sz="1000" spc="45">
                <a:latin typeface="Times New Roman"/>
                <a:cs typeface="Times New Roman"/>
              </a:rPr>
              <a:t> </a:t>
            </a:r>
            <a:r>
              <a:rPr dirty="0" sz="1000">
                <a:latin typeface="Times New Roman"/>
                <a:cs typeface="Times New Roman"/>
              </a:rPr>
              <a:t>Du,</a:t>
            </a:r>
            <a:r>
              <a:rPr dirty="0" sz="1000" spc="45">
                <a:latin typeface="Times New Roman"/>
                <a:cs typeface="Times New Roman"/>
              </a:rPr>
              <a:t> </a:t>
            </a:r>
            <a:r>
              <a:rPr dirty="0" sz="1000">
                <a:latin typeface="Times New Roman"/>
                <a:cs typeface="Times New Roman"/>
              </a:rPr>
              <a:t>Tingle</a:t>
            </a:r>
            <a:r>
              <a:rPr dirty="0" sz="1000" spc="45">
                <a:latin typeface="Times New Roman"/>
                <a:cs typeface="Times New Roman"/>
              </a:rPr>
              <a:t> </a:t>
            </a:r>
            <a:r>
              <a:rPr dirty="0" sz="1000" spc="-10">
                <a:latin typeface="Times New Roman"/>
                <a:cs typeface="Times New Roman"/>
              </a:rPr>
              <a:t>Li,</a:t>
            </a:r>
            <a:r>
              <a:rPr dirty="0" sz="1000" spc="45">
                <a:latin typeface="Times New Roman"/>
                <a:cs typeface="Times New Roman"/>
              </a:rPr>
              <a:t> </a:t>
            </a:r>
            <a:r>
              <a:rPr dirty="0" sz="1000">
                <a:latin typeface="Times New Roman"/>
                <a:cs typeface="Times New Roman"/>
              </a:rPr>
              <a:t>Yichen</a:t>
            </a:r>
            <a:r>
              <a:rPr dirty="0" sz="1000" spc="45">
                <a:latin typeface="Times New Roman"/>
                <a:cs typeface="Times New Roman"/>
              </a:rPr>
              <a:t> </a:t>
            </a:r>
            <a:r>
              <a:rPr dirty="0" sz="1000">
                <a:latin typeface="Times New Roman"/>
                <a:cs typeface="Times New Roman"/>
              </a:rPr>
              <a:t>Liu,</a:t>
            </a:r>
            <a:r>
              <a:rPr dirty="0" sz="1000" spc="45">
                <a:latin typeface="Times New Roman"/>
                <a:cs typeface="Times New Roman"/>
              </a:rPr>
              <a:t> </a:t>
            </a:r>
            <a:r>
              <a:rPr dirty="0" sz="1000">
                <a:latin typeface="Times New Roman"/>
                <a:cs typeface="Times New Roman"/>
              </a:rPr>
              <a:t>Zixin</a:t>
            </a:r>
            <a:r>
              <a:rPr dirty="0" sz="1000" spc="45">
                <a:latin typeface="Times New Roman"/>
                <a:cs typeface="Times New Roman"/>
              </a:rPr>
              <a:t> </a:t>
            </a:r>
            <a:r>
              <a:rPr dirty="0" sz="1000">
                <a:latin typeface="Times New Roman"/>
                <a:cs typeface="Times New Roman"/>
              </a:rPr>
              <a:t>Wen,</a:t>
            </a:r>
            <a:r>
              <a:rPr dirty="0" sz="1000" spc="45">
                <a:latin typeface="Times New Roman"/>
                <a:cs typeface="Times New Roman"/>
              </a:rPr>
              <a:t> </a:t>
            </a:r>
            <a:r>
              <a:rPr dirty="0" sz="1000">
                <a:latin typeface="Times New Roman"/>
                <a:cs typeface="Times New Roman"/>
              </a:rPr>
              <a:t>Tianyu Hua,</a:t>
            </a:r>
            <a:r>
              <a:rPr dirty="0" sz="1000" spc="45">
                <a:latin typeface="Times New Roman"/>
                <a:cs typeface="Times New Roman"/>
              </a:rPr>
              <a:t> </a:t>
            </a:r>
            <a:r>
              <a:rPr dirty="0" sz="1000" spc="-30">
                <a:latin typeface="Times New Roman"/>
                <a:cs typeface="Times New Roman"/>
              </a:rPr>
              <a:t>Yue</a:t>
            </a:r>
            <a:r>
              <a:rPr dirty="0" sz="1000">
                <a:latin typeface="Times New Roman"/>
                <a:cs typeface="Times New Roman"/>
              </a:rPr>
              <a:t> Wang,</a:t>
            </a:r>
            <a:r>
              <a:rPr dirty="0" sz="1000" spc="45">
                <a:latin typeface="Times New Roman"/>
                <a:cs typeface="Times New Roman"/>
              </a:rPr>
              <a:t> </a:t>
            </a:r>
            <a:r>
              <a:rPr dirty="0" sz="1000">
                <a:latin typeface="Times New Roman"/>
                <a:cs typeface="Times New Roman"/>
              </a:rPr>
              <a:t>and</a:t>
            </a:r>
            <a:r>
              <a:rPr dirty="0" sz="1000" spc="45">
                <a:latin typeface="Times New Roman"/>
                <a:cs typeface="Times New Roman"/>
              </a:rPr>
              <a:t> </a:t>
            </a:r>
            <a:r>
              <a:rPr dirty="0" sz="1000">
                <a:latin typeface="Times New Roman"/>
                <a:cs typeface="Times New Roman"/>
              </a:rPr>
              <a:t>Hang</a:t>
            </a:r>
            <a:r>
              <a:rPr dirty="0" sz="1000" spc="45">
                <a:latin typeface="Times New Roman"/>
                <a:cs typeface="Times New Roman"/>
              </a:rPr>
              <a:t> </a:t>
            </a:r>
            <a:r>
              <a:rPr dirty="0" sz="1000">
                <a:latin typeface="Times New Roman"/>
                <a:cs typeface="Times New Roman"/>
              </a:rPr>
              <a:t>Zhao</a:t>
            </a:r>
            <a:r>
              <a:rPr dirty="0" sz="1000" spc="-65">
                <a:latin typeface="SimSun"/>
                <a:cs typeface="SimSun"/>
              </a:rPr>
              <a:t>。用单</a:t>
            </a:r>
            <a:r>
              <a:rPr dirty="0" sz="1000" spc="-10">
                <a:latin typeface="SimSun"/>
                <a:cs typeface="SimSun"/>
              </a:rPr>
              <a:t>模态教师改进多模态学习。</a:t>
            </a:r>
            <a:r>
              <a:rPr dirty="0" sz="1000">
                <a:latin typeface="Times New Roman"/>
                <a:cs typeface="Times New Roman"/>
              </a:rPr>
              <a:t>arXiv</a:t>
            </a:r>
            <a:r>
              <a:rPr dirty="0" sz="1000" spc="-25">
                <a:latin typeface="Times New Roman"/>
                <a:cs typeface="Times New Roman"/>
              </a:rPr>
              <a:t> </a:t>
            </a:r>
            <a:r>
              <a:rPr dirty="0" sz="1000" spc="65">
                <a:latin typeface="SimSun"/>
                <a:cs typeface="SimSun"/>
              </a:rPr>
              <a:t>预印本</a:t>
            </a:r>
            <a:r>
              <a:rPr dirty="0" sz="1000" spc="-10">
                <a:latin typeface="Times New Roman"/>
                <a:cs typeface="Times New Roman"/>
              </a:rPr>
              <a:t>arXiv:2106.11059</a:t>
            </a:r>
            <a:r>
              <a:rPr dirty="0" sz="1000" spc="-10">
                <a:latin typeface="SimSun"/>
                <a:cs typeface="SimSun"/>
              </a:rPr>
              <a:t>，</a:t>
            </a:r>
            <a:r>
              <a:rPr dirty="0" sz="1000" spc="-10">
                <a:latin typeface="Times New Roman"/>
                <a:cs typeface="Times New Roman"/>
              </a:rPr>
              <a:t>2021</a:t>
            </a:r>
            <a:r>
              <a:rPr dirty="0" sz="1000" spc="-25">
                <a:latin typeface="Times New Roman"/>
                <a:cs typeface="Times New Roman"/>
              </a:rPr>
              <a:t> </a:t>
            </a:r>
            <a:r>
              <a:rPr dirty="0" sz="1000" spc="-10">
                <a:latin typeface="SimSun"/>
                <a:cs typeface="SimSun"/>
              </a:rPr>
              <a:t>年。</a:t>
            </a:r>
            <a:r>
              <a:rPr dirty="0" sz="1000" spc="-25">
                <a:latin typeface="Times New Roman"/>
                <a:cs typeface="Times New Roman"/>
              </a:rPr>
              <a:t>1</a:t>
            </a:r>
            <a:r>
              <a:rPr dirty="0" sz="1000" spc="-25">
                <a:latin typeface="SimSun"/>
                <a:cs typeface="SimSun"/>
              </a:rPr>
              <a:t>，</a:t>
            </a:r>
            <a:r>
              <a:rPr dirty="0" sz="1000" spc="-25">
                <a:latin typeface="Times New Roman"/>
                <a:cs typeface="Times New Roman"/>
              </a:rPr>
              <a:t>2</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[9]</a:t>
            </a:r>
            <a:r>
              <a:rPr dirty="0" sz="1000" spc="50">
                <a:latin typeface="Times New Roman"/>
                <a:cs typeface="Times New Roman"/>
              </a:rPr>
              <a:t> </a:t>
            </a:r>
            <a:r>
              <a:rPr dirty="0" sz="1000">
                <a:latin typeface="Times New Roman"/>
                <a:cs typeface="Times New Roman"/>
              </a:rPr>
              <a:t>Yunfeng</a:t>
            </a:r>
            <a:r>
              <a:rPr dirty="0" sz="1000" spc="50">
                <a:latin typeface="Times New Roman"/>
                <a:cs typeface="Times New Roman"/>
              </a:rPr>
              <a:t> </a:t>
            </a:r>
            <a:r>
              <a:rPr dirty="0" sz="1000">
                <a:latin typeface="Times New Roman"/>
                <a:cs typeface="Times New Roman"/>
              </a:rPr>
              <a:t>Fan,</a:t>
            </a:r>
            <a:r>
              <a:rPr dirty="0" sz="1000" spc="55">
                <a:latin typeface="Times New Roman"/>
                <a:cs typeface="Times New Roman"/>
              </a:rPr>
              <a:t> </a:t>
            </a:r>
            <a:r>
              <a:rPr dirty="0" sz="1000">
                <a:latin typeface="Times New Roman"/>
                <a:cs typeface="Times New Roman"/>
              </a:rPr>
              <a:t>Wenchao</a:t>
            </a:r>
            <a:r>
              <a:rPr dirty="0" sz="1000" spc="50">
                <a:latin typeface="Times New Roman"/>
                <a:cs typeface="Times New Roman"/>
              </a:rPr>
              <a:t> </a:t>
            </a:r>
            <a:r>
              <a:rPr dirty="0" sz="1000">
                <a:latin typeface="Times New Roman"/>
                <a:cs typeface="Times New Roman"/>
              </a:rPr>
              <a:t>Xu,</a:t>
            </a:r>
            <a:r>
              <a:rPr dirty="0" sz="1000" spc="55">
                <a:latin typeface="Times New Roman"/>
                <a:cs typeface="Times New Roman"/>
              </a:rPr>
              <a:t> </a:t>
            </a:r>
            <a:r>
              <a:rPr dirty="0" sz="1000">
                <a:latin typeface="Times New Roman"/>
                <a:cs typeface="Times New Roman"/>
              </a:rPr>
              <a:t>Haozhao</a:t>
            </a:r>
            <a:r>
              <a:rPr dirty="0" sz="1000" spc="55">
                <a:latin typeface="Times New Roman"/>
                <a:cs typeface="Times New Roman"/>
              </a:rPr>
              <a:t> </a:t>
            </a:r>
            <a:r>
              <a:rPr dirty="0" sz="1000">
                <a:latin typeface="Times New Roman"/>
                <a:cs typeface="Times New Roman"/>
              </a:rPr>
              <a:t>Wang,</a:t>
            </a:r>
            <a:r>
              <a:rPr dirty="0" sz="1000" spc="55">
                <a:latin typeface="Times New Roman"/>
                <a:cs typeface="Times New Roman"/>
              </a:rPr>
              <a:t> </a:t>
            </a:r>
            <a:r>
              <a:rPr dirty="0" sz="1000">
                <a:latin typeface="Times New Roman"/>
                <a:cs typeface="Times New Roman"/>
              </a:rPr>
              <a:t>Junxiao</a:t>
            </a:r>
            <a:r>
              <a:rPr dirty="0" sz="1000" spc="55">
                <a:latin typeface="Times New Roman"/>
                <a:cs typeface="Times New Roman"/>
              </a:rPr>
              <a:t> </a:t>
            </a:r>
            <a:r>
              <a:rPr dirty="0" sz="1000">
                <a:latin typeface="Times New Roman"/>
                <a:cs typeface="Times New Roman"/>
              </a:rPr>
              <a:t>Wang,</a:t>
            </a:r>
            <a:r>
              <a:rPr dirty="0" sz="1000" spc="50">
                <a:latin typeface="Times New Roman"/>
                <a:cs typeface="Times New Roman"/>
              </a:rPr>
              <a:t> </a:t>
            </a:r>
            <a:r>
              <a:rPr dirty="0" sz="1000">
                <a:latin typeface="Times New Roman"/>
                <a:cs typeface="Times New Roman"/>
              </a:rPr>
              <a:t>and</a:t>
            </a:r>
            <a:r>
              <a:rPr dirty="0" sz="1000" spc="55">
                <a:latin typeface="Times New Roman"/>
                <a:cs typeface="Times New Roman"/>
              </a:rPr>
              <a:t> </a:t>
            </a:r>
            <a:r>
              <a:rPr dirty="0" sz="1000">
                <a:latin typeface="Times New Roman"/>
                <a:cs typeface="Times New Roman"/>
              </a:rPr>
              <a:t>Song</a:t>
            </a:r>
            <a:r>
              <a:rPr dirty="0" sz="1000" spc="55">
                <a:latin typeface="Times New Roman"/>
                <a:cs typeface="Times New Roman"/>
              </a:rPr>
              <a:t> </a:t>
            </a:r>
            <a:r>
              <a:rPr dirty="0" sz="1000">
                <a:latin typeface="Times New Roman"/>
                <a:cs typeface="Times New Roman"/>
              </a:rPr>
              <a:t>Guo.</a:t>
            </a:r>
            <a:r>
              <a:rPr dirty="0" sz="1000" spc="160">
                <a:latin typeface="Times New Roman"/>
                <a:cs typeface="Times New Roman"/>
              </a:rPr>
              <a:t> </a:t>
            </a:r>
            <a:r>
              <a:rPr dirty="0" sz="1000">
                <a:latin typeface="Times New Roman"/>
                <a:cs typeface="Times New Roman"/>
              </a:rPr>
              <a:t>Pmr:</a:t>
            </a:r>
            <a:r>
              <a:rPr dirty="0" sz="1000" spc="165">
                <a:latin typeface="Times New Roman"/>
                <a:cs typeface="Times New Roman"/>
              </a:rPr>
              <a:t> </a:t>
            </a:r>
            <a:r>
              <a:rPr dirty="0" sz="1000">
                <a:latin typeface="Times New Roman"/>
                <a:cs typeface="Times New Roman"/>
              </a:rPr>
              <a:t>Prototypical</a:t>
            </a:r>
            <a:r>
              <a:rPr dirty="0" sz="1000" spc="45">
                <a:latin typeface="Times New Roman"/>
                <a:cs typeface="Times New Roman"/>
              </a:rPr>
              <a:t> </a:t>
            </a:r>
            <a:r>
              <a:rPr dirty="0" sz="1000" spc="-10">
                <a:latin typeface="Times New Roman"/>
                <a:cs typeface="Times New Roman"/>
              </a:rPr>
              <a:t>modal </a:t>
            </a:r>
            <a:r>
              <a:rPr dirty="0" sz="1000" spc="10">
                <a:latin typeface="Times New Roman"/>
                <a:cs typeface="Times New Roman"/>
              </a:rPr>
              <a:t>rebalance</a:t>
            </a:r>
            <a:r>
              <a:rPr dirty="0" sz="1000" spc="114">
                <a:latin typeface="Times New Roman"/>
                <a:cs typeface="Times New Roman"/>
              </a:rPr>
              <a:t> </a:t>
            </a:r>
            <a:r>
              <a:rPr dirty="0" sz="1000" spc="10">
                <a:latin typeface="Times New Roman"/>
                <a:cs typeface="Times New Roman"/>
              </a:rPr>
              <a:t>for</a:t>
            </a:r>
            <a:r>
              <a:rPr dirty="0" sz="1000" spc="120">
                <a:latin typeface="Times New Roman"/>
                <a:cs typeface="Times New Roman"/>
              </a:rPr>
              <a:t> </a:t>
            </a:r>
            <a:r>
              <a:rPr dirty="0" sz="1000" spc="10">
                <a:latin typeface="Times New Roman"/>
                <a:cs typeface="Times New Roman"/>
              </a:rPr>
              <a:t>multimodal</a:t>
            </a:r>
            <a:r>
              <a:rPr dirty="0" sz="1000" spc="114">
                <a:latin typeface="Times New Roman"/>
                <a:cs typeface="Times New Roman"/>
              </a:rPr>
              <a:t> </a:t>
            </a:r>
            <a:r>
              <a:rPr dirty="0" sz="1000" spc="10">
                <a:latin typeface="Times New Roman"/>
                <a:cs typeface="Times New Roman"/>
              </a:rPr>
              <a:t>learning.</a:t>
            </a:r>
            <a:r>
              <a:rPr dirty="0" sz="1000" spc="380">
                <a:latin typeface="Times New Roman"/>
                <a:cs typeface="Times New Roman"/>
              </a:rPr>
              <a:t> </a:t>
            </a:r>
            <a:r>
              <a:rPr dirty="0" sz="1000" spc="10">
                <a:latin typeface="Times New Roman"/>
                <a:cs typeface="Times New Roman"/>
              </a:rPr>
              <a:t>In</a:t>
            </a:r>
            <a:r>
              <a:rPr dirty="0" sz="1000" spc="120">
                <a:latin typeface="Times New Roman"/>
                <a:cs typeface="Times New Roman"/>
              </a:rPr>
              <a:t> </a:t>
            </a:r>
            <a:r>
              <a:rPr dirty="0" sz="1000" spc="10">
                <a:latin typeface="Times New Roman"/>
                <a:cs typeface="Times New Roman"/>
              </a:rPr>
              <a:t>Proceedings</a:t>
            </a:r>
            <a:r>
              <a:rPr dirty="0" sz="1000" spc="114">
                <a:latin typeface="Times New Roman"/>
                <a:cs typeface="Times New Roman"/>
              </a:rPr>
              <a:t> </a:t>
            </a:r>
            <a:r>
              <a:rPr dirty="0" sz="1000" spc="10">
                <a:latin typeface="Times New Roman"/>
                <a:cs typeface="Times New Roman"/>
              </a:rPr>
              <a:t>of</a:t>
            </a:r>
            <a:r>
              <a:rPr dirty="0" sz="1000" spc="120">
                <a:latin typeface="Times New Roman"/>
                <a:cs typeface="Times New Roman"/>
              </a:rPr>
              <a:t> </a:t>
            </a:r>
            <a:r>
              <a:rPr dirty="0" sz="1000" spc="10">
                <a:latin typeface="Times New Roman"/>
                <a:cs typeface="Times New Roman"/>
              </a:rPr>
              <a:t>the</a:t>
            </a:r>
            <a:r>
              <a:rPr dirty="0" sz="1000" spc="114">
                <a:latin typeface="Times New Roman"/>
                <a:cs typeface="Times New Roman"/>
              </a:rPr>
              <a:t> </a:t>
            </a:r>
            <a:r>
              <a:rPr dirty="0" sz="1000" spc="10">
                <a:latin typeface="Times New Roman"/>
                <a:cs typeface="Times New Roman"/>
              </a:rPr>
              <a:t>IEEE/CVF</a:t>
            </a:r>
            <a:r>
              <a:rPr dirty="0" sz="1000" spc="120">
                <a:latin typeface="Times New Roman"/>
                <a:cs typeface="Times New Roman"/>
              </a:rPr>
              <a:t> </a:t>
            </a:r>
            <a:r>
              <a:rPr dirty="0" sz="1000" spc="10">
                <a:latin typeface="Times New Roman"/>
                <a:cs typeface="Times New Roman"/>
              </a:rPr>
              <a:t>Conference</a:t>
            </a:r>
            <a:r>
              <a:rPr dirty="0" sz="1000" spc="114">
                <a:latin typeface="Times New Roman"/>
                <a:cs typeface="Times New Roman"/>
              </a:rPr>
              <a:t> </a:t>
            </a:r>
            <a:r>
              <a:rPr dirty="0" sz="1000" spc="10">
                <a:latin typeface="Times New Roman"/>
                <a:cs typeface="Times New Roman"/>
              </a:rPr>
              <a:t>on</a:t>
            </a:r>
            <a:r>
              <a:rPr dirty="0" sz="1000" spc="120">
                <a:latin typeface="Times New Roman"/>
                <a:cs typeface="Times New Roman"/>
              </a:rPr>
              <a:t> </a:t>
            </a:r>
            <a:r>
              <a:rPr dirty="0" sz="1000" spc="10">
                <a:latin typeface="Times New Roman"/>
                <a:cs typeface="Times New Roman"/>
              </a:rPr>
              <a:t>Computer</a:t>
            </a:r>
            <a:r>
              <a:rPr dirty="0" sz="1000" spc="114">
                <a:latin typeface="Times New Roman"/>
                <a:cs typeface="Times New Roman"/>
              </a:rPr>
              <a:t> </a:t>
            </a:r>
            <a:r>
              <a:rPr dirty="0" sz="1000" spc="10">
                <a:latin typeface="Times New Roman"/>
                <a:cs typeface="Times New Roman"/>
              </a:rPr>
              <a:t>Vision</a:t>
            </a:r>
            <a:r>
              <a:rPr dirty="0" sz="1000" spc="120">
                <a:latin typeface="Times New Roman"/>
                <a:cs typeface="Times New Roman"/>
              </a:rPr>
              <a:t> </a:t>
            </a:r>
            <a:r>
              <a:rPr dirty="0" sz="1000" spc="-25">
                <a:latin typeface="Times New Roman"/>
                <a:cs typeface="Times New Roman"/>
              </a:rPr>
              <a:t>and </a:t>
            </a:r>
            <a:r>
              <a:rPr dirty="0" sz="1000">
                <a:latin typeface="Times New Roman"/>
                <a:cs typeface="Times New Roman"/>
              </a:rPr>
              <a:t>Pattern</a:t>
            </a:r>
            <a:r>
              <a:rPr dirty="0" sz="1000" spc="5">
                <a:latin typeface="Times New Roman"/>
                <a:cs typeface="Times New Roman"/>
              </a:rPr>
              <a:t> </a:t>
            </a:r>
            <a:r>
              <a:rPr dirty="0" sz="1000">
                <a:latin typeface="Times New Roman"/>
                <a:cs typeface="Times New Roman"/>
              </a:rPr>
              <a:t>Recognition,</a:t>
            </a:r>
            <a:r>
              <a:rPr dirty="0" sz="1000" spc="10">
                <a:latin typeface="Times New Roman"/>
                <a:cs typeface="Times New Roman"/>
              </a:rPr>
              <a:t> </a:t>
            </a:r>
            <a:r>
              <a:rPr dirty="0" sz="1000">
                <a:latin typeface="Times New Roman"/>
                <a:cs typeface="Times New Roman"/>
              </a:rPr>
              <a:t>pages</a:t>
            </a:r>
            <a:r>
              <a:rPr dirty="0" sz="1000" spc="5">
                <a:latin typeface="Times New Roman"/>
                <a:cs typeface="Times New Roman"/>
              </a:rPr>
              <a:t> </a:t>
            </a:r>
            <a:r>
              <a:rPr dirty="0" sz="1000" spc="-10">
                <a:latin typeface="Times New Roman"/>
                <a:cs typeface="Times New Roman"/>
              </a:rPr>
              <a:t>20029-</a:t>
            </a:r>
            <a:r>
              <a:rPr dirty="0" sz="1000" spc="10">
                <a:latin typeface="Times New Roman"/>
                <a:cs typeface="Times New Roman"/>
              </a:rPr>
              <a:t> </a:t>
            </a:r>
            <a:r>
              <a:rPr dirty="0" sz="1000" spc="-10">
                <a:latin typeface="Times New Roman"/>
                <a:cs typeface="Times New Roman"/>
              </a:rPr>
              <a:t>20038,</a:t>
            </a:r>
            <a:r>
              <a:rPr dirty="0" sz="1000" spc="5">
                <a:latin typeface="Times New Roman"/>
                <a:cs typeface="Times New Roman"/>
              </a:rPr>
              <a:t> </a:t>
            </a:r>
            <a:r>
              <a:rPr dirty="0" sz="1000">
                <a:latin typeface="Times New Roman"/>
                <a:cs typeface="Times New Roman"/>
              </a:rPr>
              <a:t>2023.</a:t>
            </a:r>
            <a:r>
              <a:rPr dirty="0" sz="1000" spc="100">
                <a:latin typeface="Times New Roman"/>
                <a:cs typeface="Times New Roman"/>
              </a:rPr>
              <a:t> </a:t>
            </a:r>
            <a:r>
              <a:rPr dirty="0" sz="1000">
                <a:latin typeface="Times New Roman"/>
                <a:cs typeface="Times New Roman"/>
              </a:rPr>
              <a:t>1,</a:t>
            </a:r>
            <a:r>
              <a:rPr dirty="0" sz="1000" spc="5">
                <a:latin typeface="Times New Roman"/>
                <a:cs typeface="Times New Roman"/>
              </a:rPr>
              <a:t> </a:t>
            </a:r>
            <a:r>
              <a:rPr dirty="0" sz="1000">
                <a:latin typeface="Times New Roman"/>
                <a:cs typeface="Times New Roman"/>
              </a:rPr>
              <a:t>2,</a:t>
            </a:r>
            <a:r>
              <a:rPr dirty="0" sz="1000" spc="10">
                <a:latin typeface="Times New Roman"/>
                <a:cs typeface="Times New Roman"/>
              </a:rPr>
              <a:t> </a:t>
            </a:r>
            <a:r>
              <a:rPr dirty="0" sz="1000">
                <a:latin typeface="Times New Roman"/>
                <a:cs typeface="Times New Roman"/>
              </a:rPr>
              <a:t>5,</a:t>
            </a:r>
            <a:r>
              <a:rPr dirty="0" sz="1000" spc="10">
                <a:latin typeface="Times New Roman"/>
                <a:cs typeface="Times New Roman"/>
              </a:rPr>
              <a:t> </a:t>
            </a:r>
            <a:r>
              <a:rPr dirty="0" sz="1000">
                <a:latin typeface="Times New Roman"/>
                <a:cs typeface="Times New Roman"/>
              </a:rPr>
              <a:t>6,</a:t>
            </a:r>
            <a:r>
              <a:rPr dirty="0" sz="1000" spc="5">
                <a:latin typeface="Times New Roman"/>
                <a:cs typeface="Times New Roman"/>
              </a:rPr>
              <a:t> </a:t>
            </a:r>
            <a:r>
              <a:rPr dirty="0" sz="1000" spc="-50">
                <a:latin typeface="Times New Roman"/>
                <a:cs typeface="Times New Roman"/>
              </a:rPr>
              <a:t>8</a:t>
            </a:r>
            <a:endParaRPr sz="1000">
              <a:latin typeface="Times New Roman"/>
              <a:cs typeface="Times New Roman"/>
            </a:endParaRPr>
          </a:p>
          <a:p>
            <a:pPr>
              <a:lnSpc>
                <a:spcPct val="100000"/>
              </a:lnSpc>
              <a:spcBef>
                <a:spcPts val="225"/>
              </a:spcBef>
            </a:pPr>
            <a:endParaRPr sz="1000">
              <a:latin typeface="Times New Roman"/>
              <a:cs typeface="Times New Roman"/>
            </a:endParaRPr>
          </a:p>
          <a:p>
            <a:pPr algn="just" marL="192405" marR="184785">
              <a:lnSpc>
                <a:spcPct val="129500"/>
              </a:lnSpc>
            </a:pPr>
            <a:r>
              <a:rPr dirty="0" sz="1000">
                <a:latin typeface="Times New Roman"/>
                <a:cs typeface="Times New Roman"/>
              </a:rPr>
              <a:t>[9]</a:t>
            </a:r>
            <a:r>
              <a:rPr dirty="0" sz="1000" spc="-25">
                <a:latin typeface="Times New Roman"/>
                <a:cs typeface="Times New Roman"/>
              </a:rPr>
              <a:t> </a:t>
            </a:r>
            <a:r>
              <a:rPr dirty="0" sz="1000">
                <a:latin typeface="Times New Roman"/>
                <a:cs typeface="Times New Roman"/>
              </a:rPr>
              <a:t>Yunfeng</a:t>
            </a:r>
            <a:r>
              <a:rPr dirty="0" sz="1000" spc="-25">
                <a:latin typeface="Times New Roman"/>
                <a:cs typeface="Times New Roman"/>
              </a:rPr>
              <a:t> </a:t>
            </a:r>
            <a:r>
              <a:rPr dirty="0" sz="1000" spc="20">
                <a:latin typeface="Times New Roman"/>
                <a:cs typeface="Times New Roman"/>
              </a:rPr>
              <a:t>Fan,</a:t>
            </a:r>
            <a:r>
              <a:rPr dirty="0" sz="1000" spc="-25">
                <a:latin typeface="Times New Roman"/>
                <a:cs typeface="Times New Roman"/>
              </a:rPr>
              <a:t> </a:t>
            </a:r>
            <a:r>
              <a:rPr dirty="0" sz="1000" spc="10">
                <a:latin typeface="Times New Roman"/>
                <a:cs typeface="Times New Roman"/>
              </a:rPr>
              <a:t>Wenchao</a:t>
            </a:r>
            <a:r>
              <a:rPr dirty="0" sz="1000" spc="-25">
                <a:latin typeface="Times New Roman"/>
                <a:cs typeface="Times New Roman"/>
              </a:rPr>
              <a:t> </a:t>
            </a:r>
            <a:r>
              <a:rPr dirty="0" sz="1000" spc="-10">
                <a:latin typeface="Times New Roman"/>
                <a:cs typeface="Times New Roman"/>
              </a:rPr>
              <a:t>Xu,</a:t>
            </a:r>
            <a:r>
              <a:rPr dirty="0" sz="1000" spc="-25">
                <a:latin typeface="Times New Roman"/>
                <a:cs typeface="Times New Roman"/>
              </a:rPr>
              <a:t> </a:t>
            </a:r>
            <a:r>
              <a:rPr dirty="0" sz="1000" spc="25">
                <a:latin typeface="Times New Roman"/>
                <a:cs typeface="Times New Roman"/>
              </a:rPr>
              <a:t>Haozhao</a:t>
            </a:r>
            <a:r>
              <a:rPr dirty="0" sz="1000" spc="-25">
                <a:latin typeface="Times New Roman"/>
                <a:cs typeface="Times New Roman"/>
              </a:rPr>
              <a:t> </a:t>
            </a:r>
            <a:r>
              <a:rPr dirty="0" sz="1000" spc="-5">
                <a:latin typeface="Times New Roman"/>
                <a:cs typeface="Times New Roman"/>
              </a:rPr>
              <a:t>Wang,</a:t>
            </a:r>
            <a:r>
              <a:rPr dirty="0" sz="1000" spc="-25">
                <a:latin typeface="Times New Roman"/>
                <a:cs typeface="Times New Roman"/>
              </a:rPr>
              <a:t> </a:t>
            </a:r>
            <a:r>
              <a:rPr dirty="0" sz="1000" spc="20">
                <a:latin typeface="Times New Roman"/>
                <a:cs typeface="Times New Roman"/>
              </a:rPr>
              <a:t>Junxiao</a:t>
            </a:r>
            <a:r>
              <a:rPr dirty="0" sz="1000" spc="-25">
                <a:latin typeface="Times New Roman"/>
                <a:cs typeface="Times New Roman"/>
              </a:rPr>
              <a:t> </a:t>
            </a:r>
            <a:r>
              <a:rPr dirty="0" sz="1000" spc="-5">
                <a:latin typeface="Times New Roman"/>
                <a:cs typeface="Times New Roman"/>
              </a:rPr>
              <a:t>Wang,</a:t>
            </a:r>
            <a:r>
              <a:rPr dirty="0" sz="1000" spc="-25">
                <a:latin typeface="Times New Roman"/>
                <a:cs typeface="Times New Roman"/>
              </a:rPr>
              <a:t> </a:t>
            </a:r>
            <a:r>
              <a:rPr dirty="0" sz="1000" spc="40">
                <a:latin typeface="Times New Roman"/>
                <a:cs typeface="Times New Roman"/>
              </a:rPr>
              <a:t>and</a:t>
            </a:r>
            <a:r>
              <a:rPr dirty="0" sz="1000" spc="-25">
                <a:latin typeface="Times New Roman"/>
                <a:cs typeface="Times New Roman"/>
              </a:rPr>
              <a:t> </a:t>
            </a:r>
            <a:r>
              <a:rPr dirty="0" sz="1000">
                <a:latin typeface="Times New Roman"/>
                <a:cs typeface="Times New Roman"/>
              </a:rPr>
              <a:t>Song</a:t>
            </a:r>
            <a:r>
              <a:rPr dirty="0" sz="1000" spc="-25">
                <a:latin typeface="Times New Roman"/>
                <a:cs typeface="Times New Roman"/>
              </a:rPr>
              <a:t> </a:t>
            </a:r>
            <a:r>
              <a:rPr dirty="0" sz="1000" spc="20">
                <a:latin typeface="Times New Roman"/>
                <a:cs typeface="Times New Roman"/>
              </a:rPr>
              <a:t>Guo</a:t>
            </a:r>
            <a:r>
              <a:rPr dirty="0" sz="1000" spc="-55">
                <a:latin typeface="SimSun"/>
                <a:cs typeface="SimSun"/>
              </a:rPr>
              <a:t>。</a:t>
            </a:r>
            <a:r>
              <a:rPr dirty="0" sz="1000" spc="20">
                <a:latin typeface="Times New Roman"/>
                <a:cs typeface="Times New Roman"/>
              </a:rPr>
              <a:t>Pmr:</a:t>
            </a:r>
            <a:r>
              <a:rPr dirty="0" sz="1000" spc="-25">
                <a:latin typeface="Times New Roman"/>
                <a:cs typeface="Times New Roman"/>
              </a:rPr>
              <a:t> </a:t>
            </a:r>
            <a:r>
              <a:rPr dirty="0" sz="1000" spc="-10">
                <a:latin typeface="SimSun"/>
                <a:cs typeface="SimSun"/>
              </a:rPr>
              <a:t>用于多模态学习的原型模态重新平衡</a:t>
            </a:r>
            <a:r>
              <a:rPr dirty="0" sz="1000" spc="-305">
                <a:latin typeface="SimSun"/>
                <a:cs typeface="SimSun"/>
              </a:rPr>
              <a:t>。《</a:t>
            </a:r>
            <a:r>
              <a:rPr dirty="0" sz="1000" spc="15">
                <a:latin typeface="Times New Roman"/>
                <a:cs typeface="Times New Roman"/>
              </a:rPr>
              <a:t>IEEE/CVF</a:t>
            </a:r>
            <a:r>
              <a:rPr dirty="0" sz="1000" spc="-30">
                <a:latin typeface="Times New Roman"/>
                <a:cs typeface="Times New Roman"/>
              </a:rPr>
              <a:t> </a:t>
            </a:r>
            <a:r>
              <a:rPr dirty="0" sz="1000" spc="-65">
                <a:latin typeface="SimSun"/>
                <a:cs typeface="SimSun"/>
              </a:rPr>
              <a:t>计算机视觉与模式识别会议论文集》，第 </a:t>
            </a:r>
            <a:r>
              <a:rPr dirty="0" sz="1000" spc="-10">
                <a:latin typeface="Times New Roman"/>
                <a:cs typeface="Times New Roman"/>
              </a:rPr>
              <a:t>20029</a:t>
            </a:r>
            <a:r>
              <a:rPr dirty="0" sz="1000" spc="-30">
                <a:latin typeface="Times New Roman"/>
                <a:cs typeface="Times New Roman"/>
              </a:rPr>
              <a:t> - </a:t>
            </a:r>
            <a:r>
              <a:rPr dirty="0" sz="1000" spc="-10">
                <a:latin typeface="Times New Roman"/>
                <a:cs typeface="Times New Roman"/>
              </a:rPr>
              <a:t>20038</a:t>
            </a:r>
            <a:r>
              <a:rPr dirty="0" sz="1000" spc="-25">
                <a:latin typeface="Times New Roman"/>
                <a:cs typeface="Times New Roman"/>
              </a:rPr>
              <a:t> </a:t>
            </a:r>
            <a:r>
              <a:rPr dirty="0" sz="1000" spc="-20">
                <a:latin typeface="SimSun"/>
                <a:cs typeface="SimSun"/>
              </a:rPr>
              <a:t>页，</a:t>
            </a:r>
            <a:r>
              <a:rPr dirty="0" sz="1000" spc="-30">
                <a:latin typeface="Times New Roman"/>
                <a:cs typeface="Times New Roman"/>
              </a:rPr>
              <a:t>2023</a:t>
            </a:r>
            <a:r>
              <a:rPr dirty="0" sz="1000" spc="-10">
                <a:latin typeface="SimSun"/>
                <a:cs typeface="SimSun"/>
              </a:rPr>
              <a:t>年。</a:t>
            </a:r>
            <a:r>
              <a:rPr dirty="0" sz="1000" spc="-10">
                <a:latin typeface="Times New Roman"/>
                <a:cs typeface="Times New Roman"/>
              </a:rPr>
              <a:t>1,</a:t>
            </a:r>
            <a:r>
              <a:rPr dirty="0" sz="1000" spc="-20">
                <a:latin typeface="Times New Roman"/>
                <a:cs typeface="Times New Roman"/>
              </a:rPr>
              <a:t> </a:t>
            </a:r>
            <a:r>
              <a:rPr dirty="0" sz="1000" spc="-10">
                <a:latin typeface="Times New Roman"/>
                <a:cs typeface="Times New Roman"/>
              </a:rPr>
              <a:t>2,</a:t>
            </a:r>
            <a:r>
              <a:rPr dirty="0" sz="1000" spc="-20">
                <a:latin typeface="Times New Roman"/>
                <a:cs typeface="Times New Roman"/>
              </a:rPr>
              <a:t> </a:t>
            </a:r>
            <a:r>
              <a:rPr dirty="0" sz="1000" spc="-10">
                <a:latin typeface="Times New Roman"/>
                <a:cs typeface="Times New Roman"/>
              </a:rPr>
              <a:t>5,</a:t>
            </a:r>
            <a:r>
              <a:rPr dirty="0" sz="1000" spc="-20">
                <a:latin typeface="Times New Roman"/>
                <a:cs typeface="Times New Roman"/>
              </a:rPr>
              <a:t> </a:t>
            </a:r>
            <a:r>
              <a:rPr dirty="0" sz="1000" spc="-10">
                <a:latin typeface="Times New Roman"/>
                <a:cs typeface="Times New Roman"/>
              </a:rPr>
              <a:t>6,</a:t>
            </a:r>
            <a:r>
              <a:rPr dirty="0" sz="1000" spc="-20">
                <a:latin typeface="Times New Roman"/>
                <a:cs typeface="Times New Roman"/>
              </a:rPr>
              <a:t> </a:t>
            </a:r>
            <a:r>
              <a:rPr dirty="0" sz="1000" spc="-10">
                <a:latin typeface="Times New Roman"/>
                <a:cs typeface="Times New Roman"/>
              </a:rPr>
              <a:t>8</a:t>
            </a:r>
            <a:endParaRPr sz="1000">
              <a:latin typeface="Times New Roman"/>
              <a:cs typeface="Times New Roman"/>
            </a:endParaRPr>
          </a:p>
          <a:p>
            <a:pPr>
              <a:lnSpc>
                <a:spcPct val="100000"/>
              </a:lnSpc>
              <a:spcBef>
                <a:spcPts val="145"/>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[10]</a:t>
            </a:r>
            <a:r>
              <a:rPr dirty="0" sz="1000" spc="175">
                <a:latin typeface="Times New Roman"/>
                <a:cs typeface="Times New Roman"/>
              </a:rPr>
              <a:t> </a:t>
            </a:r>
            <a:r>
              <a:rPr dirty="0" sz="1000">
                <a:latin typeface="Times New Roman"/>
                <a:cs typeface="Times New Roman"/>
              </a:rPr>
              <a:t>Nuno</a:t>
            </a:r>
            <a:r>
              <a:rPr dirty="0" sz="1000" spc="180">
                <a:latin typeface="Times New Roman"/>
                <a:cs typeface="Times New Roman"/>
              </a:rPr>
              <a:t> </a:t>
            </a:r>
            <a:r>
              <a:rPr dirty="0" sz="1000">
                <a:latin typeface="Times New Roman"/>
                <a:cs typeface="Times New Roman"/>
              </a:rPr>
              <a:t>C</a:t>
            </a:r>
            <a:r>
              <a:rPr dirty="0" sz="1000" spc="180">
                <a:latin typeface="Times New Roman"/>
                <a:cs typeface="Times New Roman"/>
              </a:rPr>
              <a:t> </a:t>
            </a:r>
            <a:r>
              <a:rPr dirty="0" sz="1000">
                <a:latin typeface="Times New Roman"/>
                <a:cs typeface="Times New Roman"/>
              </a:rPr>
              <a:t>Garcia,</a:t>
            </a:r>
            <a:r>
              <a:rPr dirty="0" sz="1000" spc="210">
                <a:latin typeface="Times New Roman"/>
                <a:cs typeface="Times New Roman"/>
              </a:rPr>
              <a:t> </a:t>
            </a:r>
            <a:r>
              <a:rPr dirty="0" sz="1000">
                <a:latin typeface="Times New Roman"/>
                <a:cs typeface="Times New Roman"/>
              </a:rPr>
              <a:t>Pietro</a:t>
            </a:r>
            <a:r>
              <a:rPr dirty="0" sz="1000" spc="180">
                <a:latin typeface="Times New Roman"/>
                <a:cs typeface="Times New Roman"/>
              </a:rPr>
              <a:t> </a:t>
            </a:r>
            <a:r>
              <a:rPr dirty="0" sz="1000">
                <a:latin typeface="Times New Roman"/>
                <a:cs typeface="Times New Roman"/>
              </a:rPr>
              <a:t>Morerio,</a:t>
            </a:r>
            <a:r>
              <a:rPr dirty="0" sz="1000" spc="204">
                <a:latin typeface="Times New Roman"/>
                <a:cs typeface="Times New Roman"/>
              </a:rPr>
              <a:t> </a:t>
            </a:r>
            <a:r>
              <a:rPr dirty="0" sz="1000">
                <a:latin typeface="Times New Roman"/>
                <a:cs typeface="Times New Roman"/>
              </a:rPr>
              <a:t>and</a:t>
            </a:r>
            <a:r>
              <a:rPr dirty="0" sz="1000" spc="180">
                <a:latin typeface="Times New Roman"/>
                <a:cs typeface="Times New Roman"/>
              </a:rPr>
              <a:t> </a:t>
            </a:r>
            <a:r>
              <a:rPr dirty="0" sz="1000">
                <a:latin typeface="Times New Roman"/>
                <a:cs typeface="Times New Roman"/>
              </a:rPr>
              <a:t>Vittorio</a:t>
            </a:r>
            <a:r>
              <a:rPr dirty="0" sz="1000" spc="180">
                <a:latin typeface="Times New Roman"/>
                <a:cs typeface="Times New Roman"/>
              </a:rPr>
              <a:t> </a:t>
            </a:r>
            <a:r>
              <a:rPr dirty="0" sz="1000">
                <a:latin typeface="Times New Roman"/>
                <a:cs typeface="Times New Roman"/>
              </a:rPr>
              <a:t>Murino.</a:t>
            </a:r>
            <a:r>
              <a:rPr dirty="0" sz="1000" spc="135">
                <a:latin typeface="Times New Roman"/>
                <a:cs typeface="Times New Roman"/>
              </a:rPr>
              <a:t>  </a:t>
            </a:r>
            <a:r>
              <a:rPr dirty="0" sz="1000">
                <a:latin typeface="Times New Roman"/>
                <a:cs typeface="Times New Roman"/>
              </a:rPr>
              <a:t>Modality</a:t>
            </a:r>
            <a:r>
              <a:rPr dirty="0" sz="1000" spc="180">
                <a:latin typeface="Times New Roman"/>
                <a:cs typeface="Times New Roman"/>
              </a:rPr>
              <a:t> </a:t>
            </a:r>
            <a:r>
              <a:rPr dirty="0" sz="1000">
                <a:latin typeface="Times New Roman"/>
                <a:cs typeface="Times New Roman"/>
              </a:rPr>
              <a:t>distillation</a:t>
            </a:r>
            <a:r>
              <a:rPr dirty="0" sz="1000" spc="175">
                <a:latin typeface="Times New Roman"/>
                <a:cs typeface="Times New Roman"/>
              </a:rPr>
              <a:t> </a:t>
            </a:r>
            <a:r>
              <a:rPr dirty="0" sz="1000">
                <a:latin typeface="Times New Roman"/>
                <a:cs typeface="Times New Roman"/>
              </a:rPr>
              <a:t>with</a:t>
            </a:r>
            <a:r>
              <a:rPr dirty="0" sz="1000" spc="180">
                <a:latin typeface="Times New Roman"/>
                <a:cs typeface="Times New Roman"/>
              </a:rPr>
              <a:t> </a:t>
            </a:r>
            <a:r>
              <a:rPr dirty="0" sz="1000">
                <a:latin typeface="Times New Roman"/>
                <a:cs typeface="Times New Roman"/>
              </a:rPr>
              <a:t>multiple</a:t>
            </a:r>
            <a:r>
              <a:rPr dirty="0" sz="1000" spc="180">
                <a:latin typeface="Times New Roman"/>
                <a:cs typeface="Times New Roman"/>
              </a:rPr>
              <a:t> </a:t>
            </a:r>
            <a:r>
              <a:rPr dirty="0" sz="1000" spc="-10">
                <a:latin typeface="Times New Roman"/>
                <a:cs typeface="Times New Roman"/>
              </a:rPr>
              <a:t>stream </a:t>
            </a:r>
            <a:r>
              <a:rPr dirty="0" sz="1000">
                <a:latin typeface="Times New Roman"/>
                <a:cs typeface="Times New Roman"/>
              </a:rPr>
              <a:t>networks</a:t>
            </a:r>
            <a:r>
              <a:rPr dirty="0" sz="1000" spc="204">
                <a:latin typeface="Times New Roman"/>
                <a:cs typeface="Times New Roman"/>
              </a:rPr>
              <a:t> </a:t>
            </a:r>
            <a:r>
              <a:rPr dirty="0" sz="1000">
                <a:latin typeface="Times New Roman"/>
                <a:cs typeface="Times New Roman"/>
              </a:rPr>
              <a:t>for</a:t>
            </a:r>
            <a:r>
              <a:rPr dirty="0" sz="1000" spc="215">
                <a:latin typeface="Times New Roman"/>
                <a:cs typeface="Times New Roman"/>
              </a:rPr>
              <a:t> </a:t>
            </a:r>
            <a:r>
              <a:rPr dirty="0" sz="1000">
                <a:latin typeface="Times New Roman"/>
                <a:cs typeface="Times New Roman"/>
              </a:rPr>
              <a:t>action</a:t>
            </a:r>
            <a:r>
              <a:rPr dirty="0" sz="1000" spc="215">
                <a:latin typeface="Times New Roman"/>
                <a:cs typeface="Times New Roman"/>
              </a:rPr>
              <a:t> </a:t>
            </a:r>
            <a:r>
              <a:rPr dirty="0" sz="1000">
                <a:latin typeface="Times New Roman"/>
                <a:cs typeface="Times New Roman"/>
              </a:rPr>
              <a:t>recognition.</a:t>
            </a:r>
            <a:r>
              <a:rPr dirty="0" sz="1000" spc="180">
                <a:latin typeface="Times New Roman"/>
                <a:cs typeface="Times New Roman"/>
              </a:rPr>
              <a:t>  </a:t>
            </a:r>
            <a:r>
              <a:rPr dirty="0" sz="1000">
                <a:latin typeface="Times New Roman"/>
                <a:cs typeface="Times New Roman"/>
              </a:rPr>
              <a:t>In</a:t>
            </a:r>
            <a:r>
              <a:rPr dirty="0" sz="1000" spc="220">
                <a:latin typeface="Times New Roman"/>
                <a:cs typeface="Times New Roman"/>
              </a:rPr>
              <a:t> </a:t>
            </a:r>
            <a:r>
              <a:rPr dirty="0" sz="1000">
                <a:latin typeface="Times New Roman"/>
                <a:cs typeface="Times New Roman"/>
              </a:rPr>
              <a:t>Proceedings</a:t>
            </a:r>
            <a:r>
              <a:rPr dirty="0" sz="1000" spc="204">
                <a:latin typeface="Times New Roman"/>
                <a:cs typeface="Times New Roman"/>
              </a:rPr>
              <a:t> </a:t>
            </a:r>
            <a:r>
              <a:rPr dirty="0" sz="1000">
                <a:latin typeface="Times New Roman"/>
                <a:cs typeface="Times New Roman"/>
              </a:rPr>
              <a:t>of</a:t>
            </a:r>
            <a:r>
              <a:rPr dirty="0" sz="1000" spc="215">
                <a:latin typeface="Times New Roman"/>
                <a:cs typeface="Times New Roman"/>
              </a:rPr>
              <a:t> </a:t>
            </a:r>
            <a:r>
              <a:rPr dirty="0" sz="1000">
                <a:latin typeface="Times New Roman"/>
                <a:cs typeface="Times New Roman"/>
              </a:rPr>
              <a:t>the</a:t>
            </a:r>
            <a:r>
              <a:rPr dirty="0" sz="1000" spc="215">
                <a:latin typeface="Times New Roman"/>
                <a:cs typeface="Times New Roman"/>
              </a:rPr>
              <a:t> </a:t>
            </a:r>
            <a:r>
              <a:rPr dirty="0" sz="1000">
                <a:latin typeface="Times New Roman"/>
                <a:cs typeface="Times New Roman"/>
              </a:rPr>
              <a:t>European</a:t>
            </a:r>
            <a:r>
              <a:rPr dirty="0" sz="1000" spc="220">
                <a:latin typeface="Times New Roman"/>
                <a:cs typeface="Times New Roman"/>
              </a:rPr>
              <a:t> </a:t>
            </a:r>
            <a:r>
              <a:rPr dirty="0" sz="1000">
                <a:latin typeface="Times New Roman"/>
                <a:cs typeface="Times New Roman"/>
              </a:rPr>
              <a:t>Conference</a:t>
            </a:r>
            <a:r>
              <a:rPr dirty="0" sz="1000" spc="215">
                <a:latin typeface="Times New Roman"/>
                <a:cs typeface="Times New Roman"/>
              </a:rPr>
              <a:t> </a:t>
            </a:r>
            <a:r>
              <a:rPr dirty="0" sz="1000">
                <a:latin typeface="Times New Roman"/>
                <a:cs typeface="Times New Roman"/>
              </a:rPr>
              <a:t>on</a:t>
            </a:r>
            <a:r>
              <a:rPr dirty="0" sz="1000" spc="215">
                <a:latin typeface="Times New Roman"/>
                <a:cs typeface="Times New Roman"/>
              </a:rPr>
              <a:t> </a:t>
            </a:r>
            <a:r>
              <a:rPr dirty="0" sz="1000">
                <a:latin typeface="Times New Roman"/>
                <a:cs typeface="Times New Roman"/>
              </a:rPr>
              <a:t>Computer</a:t>
            </a:r>
            <a:r>
              <a:rPr dirty="0" sz="1000" spc="215">
                <a:latin typeface="Times New Roman"/>
                <a:cs typeface="Times New Roman"/>
              </a:rPr>
              <a:t> </a:t>
            </a:r>
            <a:r>
              <a:rPr dirty="0" sz="1000">
                <a:latin typeface="Times New Roman"/>
                <a:cs typeface="Times New Roman"/>
              </a:rPr>
              <a:t>Vision,</a:t>
            </a:r>
            <a:r>
              <a:rPr dirty="0" sz="1000" spc="250">
                <a:latin typeface="Times New Roman"/>
                <a:cs typeface="Times New Roman"/>
              </a:rPr>
              <a:t> </a:t>
            </a:r>
            <a:r>
              <a:rPr dirty="0" sz="1000" spc="-10">
                <a:latin typeface="Times New Roman"/>
                <a:cs typeface="Times New Roman"/>
              </a:rPr>
              <a:t>pages 103-</a:t>
            </a:r>
            <a:r>
              <a:rPr dirty="0" sz="1000">
                <a:latin typeface="Times New Roman"/>
                <a:cs typeface="Times New Roman"/>
              </a:rPr>
              <a:t>118,</a:t>
            </a:r>
            <a:r>
              <a:rPr dirty="0" sz="1000" spc="-55">
                <a:latin typeface="Times New Roman"/>
                <a:cs typeface="Times New Roman"/>
              </a:rPr>
              <a:t> </a:t>
            </a:r>
            <a:r>
              <a:rPr dirty="0" sz="1000">
                <a:latin typeface="Times New Roman"/>
                <a:cs typeface="Times New Roman"/>
              </a:rPr>
              <a:t>2018.</a:t>
            </a:r>
            <a:r>
              <a:rPr dirty="0" sz="1000" spc="15">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a:latin typeface="Times New Roman"/>
                <a:cs typeface="Times New Roman"/>
              </a:rPr>
              <a:t>[10]</a:t>
            </a:r>
            <a:r>
              <a:rPr dirty="0" sz="1000" spc="100">
                <a:latin typeface="Times New Roman"/>
                <a:cs typeface="Times New Roman"/>
              </a:rPr>
              <a:t> </a:t>
            </a:r>
            <a:r>
              <a:rPr dirty="0" sz="1000">
                <a:latin typeface="Times New Roman"/>
                <a:cs typeface="Times New Roman"/>
              </a:rPr>
              <a:t>Nuno</a:t>
            </a:r>
            <a:r>
              <a:rPr dirty="0" sz="1000" spc="105">
                <a:latin typeface="Times New Roman"/>
                <a:cs typeface="Times New Roman"/>
              </a:rPr>
              <a:t> </a:t>
            </a:r>
            <a:r>
              <a:rPr dirty="0" sz="1000">
                <a:latin typeface="Times New Roman"/>
                <a:cs typeface="Times New Roman"/>
              </a:rPr>
              <a:t>C</a:t>
            </a:r>
            <a:r>
              <a:rPr dirty="0" sz="1000" spc="100">
                <a:latin typeface="Times New Roman"/>
                <a:cs typeface="Times New Roman"/>
              </a:rPr>
              <a:t> </a:t>
            </a:r>
            <a:r>
              <a:rPr dirty="0" sz="1000">
                <a:latin typeface="Times New Roman"/>
                <a:cs typeface="Times New Roman"/>
              </a:rPr>
              <a:t>Garcia,</a:t>
            </a:r>
            <a:r>
              <a:rPr dirty="0" sz="1000" spc="105">
                <a:latin typeface="Times New Roman"/>
                <a:cs typeface="Times New Roman"/>
              </a:rPr>
              <a:t> </a:t>
            </a:r>
            <a:r>
              <a:rPr dirty="0" sz="1000">
                <a:latin typeface="Times New Roman"/>
                <a:cs typeface="Times New Roman"/>
              </a:rPr>
              <a:t>Pietro</a:t>
            </a:r>
            <a:r>
              <a:rPr dirty="0" sz="1000" spc="100">
                <a:latin typeface="Times New Roman"/>
                <a:cs typeface="Times New Roman"/>
              </a:rPr>
              <a:t> </a:t>
            </a:r>
            <a:r>
              <a:rPr dirty="0" sz="1000">
                <a:latin typeface="Times New Roman"/>
                <a:cs typeface="Times New Roman"/>
              </a:rPr>
              <a:t>Morerio</a:t>
            </a:r>
            <a:r>
              <a:rPr dirty="0" sz="1000" spc="50">
                <a:latin typeface="Times New Roman"/>
                <a:cs typeface="Times New Roman"/>
              </a:rPr>
              <a:t>, </a:t>
            </a:r>
            <a:r>
              <a:rPr dirty="0" sz="1000">
                <a:latin typeface="Times New Roman"/>
                <a:cs typeface="Times New Roman"/>
              </a:rPr>
              <a:t>and</a:t>
            </a:r>
            <a:r>
              <a:rPr dirty="0" sz="1000" spc="105">
                <a:latin typeface="Times New Roman"/>
                <a:cs typeface="Times New Roman"/>
              </a:rPr>
              <a:t> </a:t>
            </a:r>
            <a:r>
              <a:rPr dirty="0" sz="1000">
                <a:latin typeface="Times New Roman"/>
                <a:cs typeface="Times New Roman"/>
              </a:rPr>
              <a:t>Vittorio</a:t>
            </a:r>
            <a:r>
              <a:rPr dirty="0" sz="1000" spc="100">
                <a:latin typeface="Times New Roman"/>
                <a:cs typeface="Times New Roman"/>
              </a:rPr>
              <a:t> </a:t>
            </a:r>
            <a:r>
              <a:rPr dirty="0" sz="1000">
                <a:latin typeface="Times New Roman"/>
                <a:cs typeface="Times New Roman"/>
              </a:rPr>
              <a:t>Murino</a:t>
            </a:r>
            <a:r>
              <a:rPr dirty="0" sz="1000" spc="-45">
                <a:latin typeface="SimSun"/>
                <a:cs typeface="SimSun"/>
              </a:rPr>
              <a:t>。用于动作识别的多流网络模态蒸馏。《欧</a:t>
            </a:r>
            <a:r>
              <a:rPr dirty="0" sz="1000" spc="-70">
                <a:latin typeface="SimSun"/>
                <a:cs typeface="SimSun"/>
              </a:rPr>
              <a:t>洲计算机视觉会议论文集》，第 </a:t>
            </a:r>
            <a:r>
              <a:rPr dirty="0" sz="1000">
                <a:latin typeface="Times New Roman"/>
                <a:cs typeface="Times New Roman"/>
              </a:rPr>
              <a:t>103</a:t>
            </a:r>
            <a:r>
              <a:rPr dirty="0" sz="1000" spc="-40">
                <a:latin typeface="Times New Roman"/>
                <a:cs typeface="Times New Roman"/>
              </a:rPr>
              <a:t> - </a:t>
            </a:r>
            <a:r>
              <a:rPr dirty="0" sz="1000">
                <a:latin typeface="Times New Roman"/>
                <a:cs typeface="Times New Roman"/>
              </a:rPr>
              <a:t>118</a:t>
            </a:r>
            <a:r>
              <a:rPr dirty="0" sz="1000" spc="-40">
                <a:latin typeface="Times New Roman"/>
                <a:cs typeface="Times New Roman"/>
              </a:rPr>
              <a:t> </a:t>
            </a:r>
            <a:r>
              <a:rPr dirty="0" sz="1000" spc="-10">
                <a:latin typeface="SimSun"/>
                <a:cs typeface="SimSun"/>
              </a:rPr>
              <a:t>页</a:t>
            </a:r>
            <a:r>
              <a:rPr dirty="0" sz="1000" spc="-25">
                <a:latin typeface="Times New Roman"/>
                <a:cs typeface="Times New Roman"/>
              </a:rPr>
              <a:t>, </a:t>
            </a:r>
            <a:r>
              <a:rPr dirty="0" sz="1000">
                <a:latin typeface="Times New Roman"/>
                <a:cs typeface="Times New Roman"/>
              </a:rPr>
              <a:t>2018</a:t>
            </a:r>
            <a:r>
              <a:rPr dirty="0" sz="1000" spc="-35">
                <a:latin typeface="Times New Roman"/>
                <a:cs typeface="Times New Roman"/>
              </a:rPr>
              <a:t> </a:t>
            </a:r>
            <a:r>
              <a:rPr dirty="0" sz="1000" spc="-10">
                <a:latin typeface="SimSun"/>
                <a:cs typeface="SimSun"/>
              </a:rPr>
              <a:t>年。</a:t>
            </a:r>
            <a:r>
              <a:rPr dirty="0" sz="1000" spc="-50">
                <a:latin typeface="Times New Roman"/>
                <a:cs typeface="Times New Roman"/>
              </a:rPr>
              <a:t>2</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spc="-10">
                <a:latin typeface="Times New Roman"/>
                <a:cs typeface="Times New Roman"/>
              </a:rPr>
              <a:t>[11]</a:t>
            </a:r>
            <a:r>
              <a:rPr dirty="0" sz="1000" spc="40">
                <a:latin typeface="Times New Roman"/>
                <a:cs typeface="Times New Roman"/>
              </a:rPr>
              <a:t> </a:t>
            </a:r>
            <a:r>
              <a:rPr dirty="0" sz="1000">
                <a:latin typeface="Times New Roman"/>
                <a:cs typeface="Times New Roman"/>
              </a:rPr>
              <a:t>Danfeng</a:t>
            </a:r>
            <a:r>
              <a:rPr dirty="0" sz="1000" spc="40">
                <a:latin typeface="Times New Roman"/>
                <a:cs typeface="Times New Roman"/>
              </a:rPr>
              <a:t> </a:t>
            </a:r>
            <a:r>
              <a:rPr dirty="0" sz="1000">
                <a:latin typeface="Times New Roman"/>
                <a:cs typeface="Times New Roman"/>
              </a:rPr>
              <a:t>Hong,</a:t>
            </a:r>
            <a:r>
              <a:rPr dirty="0" sz="1000" spc="55">
                <a:latin typeface="Times New Roman"/>
                <a:cs typeface="Times New Roman"/>
              </a:rPr>
              <a:t> </a:t>
            </a:r>
            <a:r>
              <a:rPr dirty="0" sz="1000">
                <a:latin typeface="Times New Roman"/>
                <a:cs typeface="Times New Roman"/>
              </a:rPr>
              <a:t>Jingliang</a:t>
            </a:r>
            <a:r>
              <a:rPr dirty="0" sz="1000" spc="45">
                <a:latin typeface="Times New Roman"/>
                <a:cs typeface="Times New Roman"/>
              </a:rPr>
              <a:t> </a:t>
            </a:r>
            <a:r>
              <a:rPr dirty="0" sz="1000">
                <a:latin typeface="Times New Roman"/>
                <a:cs typeface="Times New Roman"/>
              </a:rPr>
              <a:t>Hu,</a:t>
            </a:r>
            <a:r>
              <a:rPr dirty="0" sz="1000" spc="55">
                <a:latin typeface="Times New Roman"/>
                <a:cs typeface="Times New Roman"/>
              </a:rPr>
              <a:t> </a:t>
            </a:r>
            <a:r>
              <a:rPr dirty="0" sz="1000">
                <a:latin typeface="Times New Roman"/>
                <a:cs typeface="Times New Roman"/>
              </a:rPr>
              <a:t>Jing</a:t>
            </a:r>
            <a:r>
              <a:rPr dirty="0" sz="1000" spc="40">
                <a:latin typeface="Times New Roman"/>
                <a:cs typeface="Times New Roman"/>
              </a:rPr>
              <a:t> </a:t>
            </a:r>
            <a:r>
              <a:rPr dirty="0" sz="1000" spc="-55">
                <a:latin typeface="Times New Roman"/>
                <a:cs typeface="Times New Roman"/>
              </a:rPr>
              <a:t>Yao,</a:t>
            </a:r>
            <a:r>
              <a:rPr dirty="0" sz="1000" spc="50">
                <a:latin typeface="Times New Roman"/>
                <a:cs typeface="Times New Roman"/>
              </a:rPr>
              <a:t> </a:t>
            </a:r>
            <a:r>
              <a:rPr dirty="0" sz="1000">
                <a:latin typeface="Times New Roman"/>
                <a:cs typeface="Times New Roman"/>
              </a:rPr>
              <a:t>Jocelyn</a:t>
            </a:r>
            <a:r>
              <a:rPr dirty="0" sz="1000" spc="40">
                <a:latin typeface="Times New Roman"/>
                <a:cs typeface="Times New Roman"/>
              </a:rPr>
              <a:t> </a:t>
            </a:r>
            <a:r>
              <a:rPr dirty="0" sz="1000">
                <a:latin typeface="Times New Roman"/>
                <a:cs typeface="Times New Roman"/>
              </a:rPr>
              <a:t>Chanussot,</a:t>
            </a:r>
            <a:r>
              <a:rPr dirty="0" sz="1000" spc="60">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spc="-10">
                <a:latin typeface="Times New Roman"/>
                <a:cs typeface="Times New Roman"/>
              </a:rPr>
              <a:t>Xiao</a:t>
            </a:r>
            <a:r>
              <a:rPr dirty="0" sz="1000" spc="40">
                <a:latin typeface="Times New Roman"/>
                <a:cs typeface="Times New Roman"/>
              </a:rPr>
              <a:t> </a:t>
            </a:r>
            <a:r>
              <a:rPr dirty="0" sz="1000">
                <a:latin typeface="Times New Roman"/>
                <a:cs typeface="Times New Roman"/>
              </a:rPr>
              <a:t>Xiang</a:t>
            </a:r>
            <a:r>
              <a:rPr dirty="0" sz="1000" spc="45">
                <a:latin typeface="Times New Roman"/>
                <a:cs typeface="Times New Roman"/>
              </a:rPr>
              <a:t> </a:t>
            </a:r>
            <a:r>
              <a:rPr dirty="0" sz="1000">
                <a:latin typeface="Times New Roman"/>
                <a:cs typeface="Times New Roman"/>
              </a:rPr>
              <a:t>Zhu.</a:t>
            </a:r>
            <a:r>
              <a:rPr dirty="0" sz="1000" spc="210">
                <a:latin typeface="Times New Roman"/>
                <a:cs typeface="Times New Roman"/>
              </a:rPr>
              <a:t> </a:t>
            </a:r>
            <a:r>
              <a:rPr dirty="0" sz="1000">
                <a:latin typeface="Times New Roman"/>
                <a:cs typeface="Times New Roman"/>
              </a:rPr>
              <a:t>Multimodal</a:t>
            </a:r>
            <a:r>
              <a:rPr dirty="0" sz="1000" spc="45">
                <a:latin typeface="Times New Roman"/>
                <a:cs typeface="Times New Roman"/>
              </a:rPr>
              <a:t> </a:t>
            </a:r>
            <a:r>
              <a:rPr dirty="0" sz="1000" spc="-10">
                <a:latin typeface="Times New Roman"/>
                <a:cs typeface="Times New Roman"/>
              </a:rPr>
              <a:t>remote </a:t>
            </a:r>
            <a:r>
              <a:rPr dirty="0" sz="1000" spc="10">
                <a:latin typeface="Times New Roman"/>
                <a:cs typeface="Times New Roman"/>
              </a:rPr>
              <a:t>sensing</a:t>
            </a:r>
            <a:r>
              <a:rPr dirty="0" sz="1000" spc="90">
                <a:latin typeface="Times New Roman"/>
                <a:cs typeface="Times New Roman"/>
              </a:rPr>
              <a:t> </a:t>
            </a:r>
            <a:r>
              <a:rPr dirty="0" sz="1000" spc="10">
                <a:latin typeface="Times New Roman"/>
                <a:cs typeface="Times New Roman"/>
              </a:rPr>
              <a:t>benchmark</a:t>
            </a:r>
            <a:r>
              <a:rPr dirty="0" sz="1000" spc="95">
                <a:latin typeface="Times New Roman"/>
                <a:cs typeface="Times New Roman"/>
              </a:rPr>
              <a:t> </a:t>
            </a:r>
            <a:r>
              <a:rPr dirty="0" sz="1000" spc="10">
                <a:latin typeface="Times New Roman"/>
                <a:cs typeface="Times New Roman"/>
              </a:rPr>
              <a:t>datasets</a:t>
            </a:r>
            <a:r>
              <a:rPr dirty="0" sz="1000" spc="95">
                <a:latin typeface="Times New Roman"/>
                <a:cs typeface="Times New Roman"/>
              </a:rPr>
              <a:t> </a:t>
            </a:r>
            <a:r>
              <a:rPr dirty="0" sz="1000" spc="10">
                <a:latin typeface="Times New Roman"/>
                <a:cs typeface="Times New Roman"/>
              </a:rPr>
              <a:t>for</a:t>
            </a:r>
            <a:r>
              <a:rPr dirty="0" sz="1000" spc="95">
                <a:latin typeface="Times New Roman"/>
                <a:cs typeface="Times New Roman"/>
              </a:rPr>
              <a:t> </a:t>
            </a:r>
            <a:r>
              <a:rPr dirty="0" sz="1000" spc="10">
                <a:latin typeface="Times New Roman"/>
                <a:cs typeface="Times New Roman"/>
              </a:rPr>
              <a:t>land</a:t>
            </a:r>
            <a:r>
              <a:rPr dirty="0" sz="1000" spc="95">
                <a:latin typeface="Times New Roman"/>
                <a:cs typeface="Times New Roman"/>
              </a:rPr>
              <a:t> </a:t>
            </a:r>
            <a:r>
              <a:rPr dirty="0" sz="1000" spc="10">
                <a:latin typeface="Times New Roman"/>
                <a:cs typeface="Times New Roman"/>
              </a:rPr>
              <a:t>cover</a:t>
            </a:r>
            <a:r>
              <a:rPr dirty="0" sz="1000" spc="95">
                <a:latin typeface="Times New Roman"/>
                <a:cs typeface="Times New Roman"/>
              </a:rPr>
              <a:t> </a:t>
            </a:r>
            <a:r>
              <a:rPr dirty="0" sz="1000" spc="10">
                <a:latin typeface="Times New Roman"/>
                <a:cs typeface="Times New Roman"/>
              </a:rPr>
              <a:t>classification</a:t>
            </a:r>
            <a:r>
              <a:rPr dirty="0" sz="1000" spc="95">
                <a:latin typeface="Times New Roman"/>
                <a:cs typeface="Times New Roman"/>
              </a:rPr>
              <a:t> </a:t>
            </a:r>
            <a:r>
              <a:rPr dirty="0" sz="1000" spc="10">
                <a:latin typeface="Times New Roman"/>
                <a:cs typeface="Times New Roman"/>
              </a:rPr>
              <a:t>with</a:t>
            </a:r>
            <a:r>
              <a:rPr dirty="0" sz="1000" spc="95">
                <a:latin typeface="Times New Roman"/>
                <a:cs typeface="Times New Roman"/>
              </a:rPr>
              <a:t> </a:t>
            </a:r>
            <a:r>
              <a:rPr dirty="0" sz="1000" spc="10">
                <a:latin typeface="Times New Roman"/>
                <a:cs typeface="Times New Roman"/>
              </a:rPr>
              <a:t>a</a:t>
            </a:r>
            <a:r>
              <a:rPr dirty="0" sz="1000" spc="90">
                <a:latin typeface="Times New Roman"/>
                <a:cs typeface="Times New Roman"/>
              </a:rPr>
              <a:t> </a:t>
            </a:r>
            <a:r>
              <a:rPr dirty="0" sz="1000" spc="10">
                <a:latin typeface="Times New Roman"/>
                <a:cs typeface="Times New Roman"/>
              </a:rPr>
              <a:t>shared</a:t>
            </a:r>
            <a:r>
              <a:rPr dirty="0" sz="1000" spc="95">
                <a:latin typeface="Times New Roman"/>
                <a:cs typeface="Times New Roman"/>
              </a:rPr>
              <a:t> </a:t>
            </a:r>
            <a:r>
              <a:rPr dirty="0" sz="1000" spc="10">
                <a:latin typeface="Times New Roman"/>
                <a:cs typeface="Times New Roman"/>
              </a:rPr>
              <a:t>and</a:t>
            </a:r>
            <a:r>
              <a:rPr dirty="0" sz="1000" spc="95">
                <a:latin typeface="Times New Roman"/>
                <a:cs typeface="Times New Roman"/>
              </a:rPr>
              <a:t> </a:t>
            </a:r>
            <a:r>
              <a:rPr dirty="0" sz="1000" spc="10">
                <a:latin typeface="Times New Roman"/>
                <a:cs typeface="Times New Roman"/>
              </a:rPr>
              <a:t>specific</a:t>
            </a:r>
            <a:r>
              <a:rPr dirty="0" sz="1000" spc="95">
                <a:latin typeface="Times New Roman"/>
                <a:cs typeface="Times New Roman"/>
              </a:rPr>
              <a:t> </a:t>
            </a:r>
            <a:r>
              <a:rPr dirty="0" sz="1000" spc="10">
                <a:latin typeface="Times New Roman"/>
                <a:cs typeface="Times New Roman"/>
              </a:rPr>
              <a:t>feature</a:t>
            </a:r>
            <a:r>
              <a:rPr dirty="0" sz="1000" spc="95">
                <a:latin typeface="Times New Roman"/>
                <a:cs typeface="Times New Roman"/>
              </a:rPr>
              <a:t> </a:t>
            </a:r>
            <a:r>
              <a:rPr dirty="0" sz="1000" spc="10">
                <a:latin typeface="Times New Roman"/>
                <a:cs typeface="Times New Roman"/>
              </a:rPr>
              <a:t>learning</a:t>
            </a:r>
            <a:r>
              <a:rPr dirty="0" sz="1000" spc="95">
                <a:latin typeface="Times New Roman"/>
                <a:cs typeface="Times New Roman"/>
              </a:rPr>
              <a:t> </a:t>
            </a:r>
            <a:r>
              <a:rPr dirty="0" sz="1000" spc="-10">
                <a:latin typeface="Times New Roman"/>
                <a:cs typeface="Times New Roman"/>
              </a:rPr>
              <a:t>model.</a:t>
            </a:r>
            <a:endParaRPr sz="1000">
              <a:latin typeface="Times New Roman"/>
              <a:cs typeface="Times New Roman"/>
            </a:endParaRPr>
          </a:p>
          <a:p>
            <a:pPr marL="12700">
              <a:lnSpc>
                <a:spcPct val="100000"/>
              </a:lnSpc>
              <a:spcBef>
                <a:spcPts val="355"/>
              </a:spcBef>
            </a:pPr>
            <a:r>
              <a:rPr dirty="0" sz="1000" spc="-10">
                <a:latin typeface="Times New Roman"/>
                <a:cs typeface="Times New Roman"/>
              </a:rPr>
              <a:t>ISPRS</a:t>
            </a:r>
            <a:r>
              <a:rPr dirty="0" sz="1000" spc="60">
                <a:latin typeface="Times New Roman"/>
                <a:cs typeface="Times New Roman"/>
              </a:rPr>
              <a:t> </a:t>
            </a:r>
            <a:r>
              <a:rPr dirty="0" sz="1000">
                <a:latin typeface="Times New Roman"/>
                <a:cs typeface="Times New Roman"/>
              </a:rPr>
              <a:t>Journal</a:t>
            </a:r>
            <a:r>
              <a:rPr dirty="0" sz="1000" spc="65">
                <a:latin typeface="Times New Roman"/>
                <a:cs typeface="Times New Roman"/>
              </a:rPr>
              <a:t> </a:t>
            </a:r>
            <a:r>
              <a:rPr dirty="0" sz="1000">
                <a:latin typeface="Times New Roman"/>
                <a:cs typeface="Times New Roman"/>
              </a:rPr>
              <a:t>of</a:t>
            </a:r>
            <a:r>
              <a:rPr dirty="0" sz="1000" spc="65">
                <a:latin typeface="Times New Roman"/>
                <a:cs typeface="Times New Roman"/>
              </a:rPr>
              <a:t> </a:t>
            </a:r>
            <a:r>
              <a:rPr dirty="0" sz="1000">
                <a:latin typeface="Times New Roman"/>
                <a:cs typeface="Times New Roman"/>
              </a:rPr>
              <a:t>Photogrammetry</a:t>
            </a:r>
            <a:r>
              <a:rPr dirty="0" sz="1000" spc="65">
                <a:latin typeface="Times New Roman"/>
                <a:cs typeface="Times New Roman"/>
              </a:rPr>
              <a:t> </a:t>
            </a:r>
            <a:r>
              <a:rPr dirty="0" sz="1000">
                <a:latin typeface="Times New Roman"/>
                <a:cs typeface="Times New Roman"/>
              </a:rPr>
              <a:t>and</a:t>
            </a:r>
            <a:r>
              <a:rPr dirty="0" sz="1000" spc="65">
                <a:latin typeface="Times New Roman"/>
                <a:cs typeface="Times New Roman"/>
              </a:rPr>
              <a:t> </a:t>
            </a:r>
            <a:r>
              <a:rPr dirty="0" sz="1000">
                <a:latin typeface="Times New Roman"/>
                <a:cs typeface="Times New Roman"/>
              </a:rPr>
              <a:t>Remote</a:t>
            </a:r>
            <a:r>
              <a:rPr dirty="0" sz="1000" spc="65">
                <a:latin typeface="Times New Roman"/>
                <a:cs typeface="Times New Roman"/>
              </a:rPr>
              <a:t> </a:t>
            </a:r>
            <a:r>
              <a:rPr dirty="0" sz="1000">
                <a:latin typeface="Times New Roman"/>
                <a:cs typeface="Times New Roman"/>
              </a:rPr>
              <a:t>Sensing,</a:t>
            </a:r>
            <a:r>
              <a:rPr dirty="0" sz="1000" spc="65">
                <a:latin typeface="Times New Roman"/>
                <a:cs typeface="Times New Roman"/>
              </a:rPr>
              <a:t> </a:t>
            </a:r>
            <a:r>
              <a:rPr dirty="0" sz="1000" spc="-20">
                <a:latin typeface="Times New Roman"/>
                <a:cs typeface="Times New Roman"/>
              </a:rPr>
              <a:t>178:68-</a:t>
            </a:r>
            <a:r>
              <a:rPr dirty="0" sz="1000">
                <a:latin typeface="Times New Roman"/>
                <a:cs typeface="Times New Roman"/>
              </a:rPr>
              <a:t>80,</a:t>
            </a:r>
            <a:r>
              <a:rPr dirty="0" sz="1000" spc="65">
                <a:latin typeface="Times New Roman"/>
                <a:cs typeface="Times New Roman"/>
              </a:rPr>
              <a:t> </a:t>
            </a:r>
            <a:r>
              <a:rPr dirty="0" sz="1000">
                <a:latin typeface="Times New Roman"/>
                <a:cs typeface="Times New Roman"/>
              </a:rPr>
              <a:t>2021.</a:t>
            </a:r>
            <a:r>
              <a:rPr dirty="0" sz="1000" spc="175">
                <a:latin typeface="Times New Roman"/>
                <a:cs typeface="Times New Roman"/>
              </a:rPr>
              <a:t> </a:t>
            </a:r>
            <a:r>
              <a:rPr dirty="0" sz="1000" spc="-50">
                <a:latin typeface="Times New Roman"/>
                <a:cs typeface="Times New Roman"/>
              </a:rPr>
              <a:t>1</a:t>
            </a:r>
            <a:endParaRPr sz="1000">
              <a:latin typeface="Times New Roman"/>
              <a:cs typeface="Times New Roman"/>
            </a:endParaRPr>
          </a:p>
          <a:p>
            <a:pPr>
              <a:lnSpc>
                <a:spcPct val="100000"/>
              </a:lnSpc>
              <a:spcBef>
                <a:spcPts val="225"/>
              </a:spcBef>
            </a:pPr>
            <a:endParaRPr sz="1000">
              <a:latin typeface="Times New Roman"/>
              <a:cs typeface="Times New Roman"/>
            </a:endParaRPr>
          </a:p>
          <a:p>
            <a:pPr algn="just" marL="192405" marR="184785">
              <a:lnSpc>
                <a:spcPct val="129500"/>
              </a:lnSpc>
            </a:pPr>
            <a:r>
              <a:rPr dirty="0" sz="1000">
                <a:latin typeface="Times New Roman"/>
                <a:cs typeface="Times New Roman"/>
              </a:rPr>
              <a:t>[11]</a:t>
            </a:r>
            <a:r>
              <a:rPr dirty="0" sz="1000" spc="100">
                <a:latin typeface="Times New Roman"/>
                <a:cs typeface="Times New Roman"/>
              </a:rPr>
              <a:t> </a:t>
            </a:r>
            <a:r>
              <a:rPr dirty="0" sz="1000">
                <a:latin typeface="Times New Roman"/>
                <a:cs typeface="Times New Roman"/>
              </a:rPr>
              <a:t>Danfeng</a:t>
            </a:r>
            <a:r>
              <a:rPr dirty="0" sz="1000" spc="100">
                <a:latin typeface="Times New Roman"/>
                <a:cs typeface="Times New Roman"/>
              </a:rPr>
              <a:t> </a:t>
            </a:r>
            <a:r>
              <a:rPr dirty="0" sz="1000">
                <a:latin typeface="Times New Roman"/>
                <a:cs typeface="Times New Roman"/>
              </a:rPr>
              <a:t>Hong,</a:t>
            </a:r>
            <a:r>
              <a:rPr dirty="0" sz="1000" spc="105">
                <a:latin typeface="Times New Roman"/>
                <a:cs typeface="Times New Roman"/>
              </a:rPr>
              <a:t> </a:t>
            </a:r>
            <a:r>
              <a:rPr dirty="0" sz="1000">
                <a:latin typeface="Times New Roman"/>
                <a:cs typeface="Times New Roman"/>
              </a:rPr>
              <a:t>Jingliang</a:t>
            </a:r>
            <a:r>
              <a:rPr dirty="0" sz="1000" spc="100">
                <a:latin typeface="Times New Roman"/>
                <a:cs typeface="Times New Roman"/>
              </a:rPr>
              <a:t> </a:t>
            </a:r>
            <a:r>
              <a:rPr dirty="0" sz="1000">
                <a:latin typeface="Times New Roman"/>
                <a:cs typeface="Times New Roman"/>
              </a:rPr>
              <a:t>Hu,</a:t>
            </a:r>
            <a:r>
              <a:rPr dirty="0" sz="1000" spc="105">
                <a:latin typeface="Times New Roman"/>
                <a:cs typeface="Times New Roman"/>
              </a:rPr>
              <a:t> </a:t>
            </a:r>
            <a:r>
              <a:rPr dirty="0" sz="1000">
                <a:latin typeface="Times New Roman"/>
                <a:cs typeface="Times New Roman"/>
              </a:rPr>
              <a:t>Jing</a:t>
            </a:r>
            <a:r>
              <a:rPr dirty="0" sz="1000" spc="100">
                <a:latin typeface="Times New Roman"/>
                <a:cs typeface="Times New Roman"/>
              </a:rPr>
              <a:t> </a:t>
            </a:r>
            <a:r>
              <a:rPr dirty="0" sz="1000" spc="-35">
                <a:latin typeface="Times New Roman"/>
                <a:cs typeface="Times New Roman"/>
              </a:rPr>
              <a:t>Yao</a:t>
            </a:r>
            <a:r>
              <a:rPr dirty="0" sz="1000" spc="35">
                <a:latin typeface="Times New Roman"/>
                <a:cs typeface="Times New Roman"/>
              </a:rPr>
              <a:t>, </a:t>
            </a:r>
            <a:r>
              <a:rPr dirty="0" sz="1000">
                <a:latin typeface="Times New Roman"/>
                <a:cs typeface="Times New Roman"/>
              </a:rPr>
              <a:t>Jocelyn</a:t>
            </a:r>
            <a:r>
              <a:rPr dirty="0" sz="1000" spc="100">
                <a:latin typeface="Times New Roman"/>
                <a:cs typeface="Times New Roman"/>
              </a:rPr>
              <a:t> </a:t>
            </a:r>
            <a:r>
              <a:rPr dirty="0" sz="1000">
                <a:latin typeface="Times New Roman"/>
                <a:cs typeface="Times New Roman"/>
              </a:rPr>
              <a:t>Chanussot,</a:t>
            </a:r>
            <a:r>
              <a:rPr dirty="0" sz="1000" spc="105">
                <a:latin typeface="Times New Roman"/>
                <a:cs typeface="Times New Roman"/>
              </a:rPr>
              <a:t> </a:t>
            </a:r>
            <a:r>
              <a:rPr dirty="0" sz="1000">
                <a:latin typeface="Times New Roman"/>
                <a:cs typeface="Times New Roman"/>
              </a:rPr>
              <a:t>and</a:t>
            </a:r>
            <a:r>
              <a:rPr dirty="0" sz="1000" spc="100">
                <a:latin typeface="Times New Roman"/>
                <a:cs typeface="Times New Roman"/>
              </a:rPr>
              <a:t> </a:t>
            </a:r>
            <a:r>
              <a:rPr dirty="0" sz="1000">
                <a:latin typeface="Times New Roman"/>
                <a:cs typeface="Times New Roman"/>
              </a:rPr>
              <a:t>Xiao</a:t>
            </a:r>
            <a:r>
              <a:rPr dirty="0" sz="1000" spc="100">
                <a:latin typeface="Times New Roman"/>
                <a:cs typeface="Times New Roman"/>
              </a:rPr>
              <a:t> </a:t>
            </a:r>
            <a:r>
              <a:rPr dirty="0" sz="1000">
                <a:latin typeface="Times New Roman"/>
                <a:cs typeface="Times New Roman"/>
              </a:rPr>
              <a:t>Xiang</a:t>
            </a:r>
            <a:r>
              <a:rPr dirty="0" sz="1000" spc="100">
                <a:latin typeface="Times New Roman"/>
                <a:cs typeface="Times New Roman"/>
              </a:rPr>
              <a:t> </a:t>
            </a:r>
            <a:r>
              <a:rPr dirty="0" sz="1000">
                <a:latin typeface="Times New Roman"/>
                <a:cs typeface="Times New Roman"/>
              </a:rPr>
              <a:t>Zhu</a:t>
            </a:r>
            <a:r>
              <a:rPr dirty="0" sz="1000" spc="-20">
                <a:latin typeface="SimSun"/>
                <a:cs typeface="SimSun"/>
              </a:rPr>
              <a:t>。用于土地覆盖</a:t>
            </a:r>
            <a:r>
              <a:rPr dirty="0" sz="1000" spc="-35">
                <a:latin typeface="SimSun"/>
                <a:cs typeface="SimSun"/>
              </a:rPr>
              <a:t>分类的多模态遥感基准数据集及共享和特定特征学习模型。《国际摄影测量与遥感学会摄影测量与</a:t>
            </a:r>
            <a:r>
              <a:rPr dirty="0" sz="1000" spc="-95">
                <a:latin typeface="SimSun"/>
                <a:cs typeface="SimSun"/>
              </a:rPr>
              <a:t>遥感杂志》，</a:t>
            </a:r>
            <a:r>
              <a:rPr dirty="0" sz="1000" spc="-10">
                <a:latin typeface="Times New Roman"/>
                <a:cs typeface="Times New Roman"/>
              </a:rPr>
              <a:t>178:68</a:t>
            </a:r>
            <a:r>
              <a:rPr dirty="0" sz="1000" spc="-30">
                <a:latin typeface="Times New Roman"/>
                <a:cs typeface="Times New Roman"/>
              </a:rPr>
              <a:t> - </a:t>
            </a:r>
            <a:r>
              <a:rPr dirty="0" sz="1000" spc="-10">
                <a:latin typeface="Times New Roman"/>
                <a:cs typeface="Times New Roman"/>
              </a:rPr>
              <a:t>80</a:t>
            </a:r>
            <a:r>
              <a:rPr dirty="0" sz="1000" spc="-10">
                <a:latin typeface="SimSun"/>
                <a:cs typeface="SimSun"/>
              </a:rPr>
              <a:t>，</a:t>
            </a:r>
            <a:r>
              <a:rPr dirty="0" sz="1000" spc="-10">
                <a:latin typeface="Times New Roman"/>
                <a:cs typeface="Times New Roman"/>
              </a:rPr>
              <a:t>2021</a:t>
            </a:r>
            <a:r>
              <a:rPr dirty="0" sz="1000" spc="-40">
                <a:latin typeface="Times New Roman"/>
                <a:cs typeface="Times New Roman"/>
              </a:rPr>
              <a:t> </a:t>
            </a:r>
            <a:r>
              <a:rPr dirty="0" sz="1000" spc="-10">
                <a:latin typeface="SimSun"/>
                <a:cs typeface="SimSun"/>
              </a:rPr>
              <a:t>年。</a:t>
            </a:r>
            <a:r>
              <a:rPr dirty="0" sz="1000" spc="-50">
                <a:latin typeface="Times New Roman"/>
                <a:cs typeface="Times New Roman"/>
              </a:rPr>
              <a:t>1</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spc="10">
                <a:latin typeface="Times New Roman"/>
                <a:cs typeface="Times New Roman"/>
              </a:rPr>
              <a:t>[12]</a:t>
            </a:r>
            <a:r>
              <a:rPr dirty="0" sz="1000" spc="80">
                <a:latin typeface="Times New Roman"/>
                <a:cs typeface="Times New Roman"/>
              </a:rPr>
              <a:t> </a:t>
            </a:r>
            <a:r>
              <a:rPr dirty="0" sz="1000" spc="10">
                <a:latin typeface="Times New Roman"/>
                <a:cs typeface="Times New Roman"/>
              </a:rPr>
              <a:t>Ming</a:t>
            </a:r>
            <a:r>
              <a:rPr dirty="0" sz="1000" spc="75">
                <a:latin typeface="Times New Roman"/>
                <a:cs typeface="Times New Roman"/>
              </a:rPr>
              <a:t> </a:t>
            </a:r>
            <a:r>
              <a:rPr dirty="0" sz="1000" spc="10">
                <a:latin typeface="Times New Roman"/>
                <a:cs typeface="Times New Roman"/>
              </a:rPr>
              <a:t>Hou,</a:t>
            </a:r>
            <a:r>
              <a:rPr dirty="0" sz="1000" spc="100">
                <a:latin typeface="Times New Roman"/>
                <a:cs typeface="Times New Roman"/>
              </a:rPr>
              <a:t> </a:t>
            </a:r>
            <a:r>
              <a:rPr dirty="0" sz="1000" spc="10">
                <a:latin typeface="Times New Roman"/>
                <a:cs typeface="Times New Roman"/>
              </a:rPr>
              <a:t>Jiajia</a:t>
            </a:r>
            <a:r>
              <a:rPr dirty="0" sz="1000" spc="80">
                <a:latin typeface="Times New Roman"/>
                <a:cs typeface="Times New Roman"/>
              </a:rPr>
              <a:t> </a:t>
            </a:r>
            <a:r>
              <a:rPr dirty="0" sz="1000" spc="10">
                <a:latin typeface="Times New Roman"/>
                <a:cs typeface="Times New Roman"/>
              </a:rPr>
              <a:t>Tang,</a:t>
            </a:r>
            <a:r>
              <a:rPr dirty="0" sz="1000" spc="90">
                <a:latin typeface="Times New Roman"/>
                <a:cs typeface="Times New Roman"/>
              </a:rPr>
              <a:t> </a:t>
            </a:r>
            <a:r>
              <a:rPr dirty="0" sz="1000" spc="10">
                <a:latin typeface="Times New Roman"/>
                <a:cs typeface="Times New Roman"/>
              </a:rPr>
              <a:t>Jianhai</a:t>
            </a:r>
            <a:r>
              <a:rPr dirty="0" sz="1000" spc="80">
                <a:latin typeface="Times New Roman"/>
                <a:cs typeface="Times New Roman"/>
              </a:rPr>
              <a:t> </a:t>
            </a:r>
            <a:r>
              <a:rPr dirty="0" sz="1000" spc="10">
                <a:latin typeface="Times New Roman"/>
                <a:cs typeface="Times New Roman"/>
              </a:rPr>
              <a:t>Zhang,</a:t>
            </a:r>
            <a:r>
              <a:rPr dirty="0" sz="1000" spc="90">
                <a:latin typeface="Times New Roman"/>
                <a:cs typeface="Times New Roman"/>
              </a:rPr>
              <a:t> </a:t>
            </a:r>
            <a:r>
              <a:rPr dirty="0" sz="1000" spc="10">
                <a:latin typeface="Times New Roman"/>
                <a:cs typeface="Times New Roman"/>
              </a:rPr>
              <a:t>Wanzeng</a:t>
            </a:r>
            <a:r>
              <a:rPr dirty="0" sz="1000" spc="75">
                <a:latin typeface="Times New Roman"/>
                <a:cs typeface="Times New Roman"/>
              </a:rPr>
              <a:t> </a:t>
            </a:r>
            <a:r>
              <a:rPr dirty="0" sz="1000" spc="10">
                <a:latin typeface="Times New Roman"/>
                <a:cs typeface="Times New Roman"/>
              </a:rPr>
              <a:t>Kong,</a:t>
            </a:r>
            <a:r>
              <a:rPr dirty="0" sz="1000" spc="95">
                <a:latin typeface="Times New Roman"/>
                <a:cs typeface="Times New Roman"/>
              </a:rPr>
              <a:t> </a:t>
            </a:r>
            <a:r>
              <a:rPr dirty="0" sz="1000" spc="10">
                <a:latin typeface="Times New Roman"/>
                <a:cs typeface="Times New Roman"/>
              </a:rPr>
              <a:t>and</a:t>
            </a:r>
            <a:r>
              <a:rPr dirty="0" sz="1000" spc="80">
                <a:latin typeface="Times New Roman"/>
                <a:cs typeface="Times New Roman"/>
              </a:rPr>
              <a:t> </a:t>
            </a:r>
            <a:r>
              <a:rPr dirty="0" sz="1000" spc="10">
                <a:latin typeface="Times New Roman"/>
                <a:cs typeface="Times New Roman"/>
              </a:rPr>
              <a:t>Qibin</a:t>
            </a:r>
            <a:r>
              <a:rPr dirty="0" sz="1000" spc="80">
                <a:latin typeface="Times New Roman"/>
                <a:cs typeface="Times New Roman"/>
              </a:rPr>
              <a:t> </a:t>
            </a:r>
            <a:r>
              <a:rPr dirty="0" sz="1000" spc="10">
                <a:latin typeface="Times New Roman"/>
                <a:cs typeface="Times New Roman"/>
              </a:rPr>
              <a:t>Zhao.</a:t>
            </a:r>
            <a:r>
              <a:rPr dirty="0" sz="1000" spc="295">
                <a:latin typeface="Times New Roman"/>
                <a:cs typeface="Times New Roman"/>
              </a:rPr>
              <a:t> </a:t>
            </a:r>
            <a:r>
              <a:rPr dirty="0" sz="1000" spc="10">
                <a:latin typeface="Times New Roman"/>
                <a:cs typeface="Times New Roman"/>
              </a:rPr>
              <a:t>Deep</a:t>
            </a:r>
            <a:r>
              <a:rPr dirty="0" sz="1000" spc="80">
                <a:latin typeface="Times New Roman"/>
                <a:cs typeface="Times New Roman"/>
              </a:rPr>
              <a:t> </a:t>
            </a:r>
            <a:r>
              <a:rPr dirty="0" sz="1000" spc="10">
                <a:latin typeface="Times New Roman"/>
                <a:cs typeface="Times New Roman"/>
              </a:rPr>
              <a:t>multimodal</a:t>
            </a:r>
            <a:r>
              <a:rPr dirty="0" sz="1000" spc="80">
                <a:latin typeface="Times New Roman"/>
                <a:cs typeface="Times New Roman"/>
              </a:rPr>
              <a:t> </a:t>
            </a:r>
            <a:r>
              <a:rPr dirty="0" sz="1000" spc="-10">
                <a:latin typeface="Times New Roman"/>
                <a:cs typeface="Times New Roman"/>
              </a:rPr>
              <a:t>multi- </a:t>
            </a:r>
            <a:r>
              <a:rPr dirty="0" sz="1000" spc="10">
                <a:latin typeface="Times New Roman"/>
                <a:cs typeface="Times New Roman"/>
              </a:rPr>
              <a:t>linear</a:t>
            </a:r>
            <a:r>
              <a:rPr dirty="0" sz="1000" spc="85">
                <a:latin typeface="Times New Roman"/>
                <a:cs typeface="Times New Roman"/>
              </a:rPr>
              <a:t> </a:t>
            </a:r>
            <a:r>
              <a:rPr dirty="0" sz="1000" spc="10">
                <a:latin typeface="Times New Roman"/>
                <a:cs typeface="Times New Roman"/>
              </a:rPr>
              <a:t>fusion</a:t>
            </a:r>
            <a:r>
              <a:rPr dirty="0" sz="1000" spc="85">
                <a:latin typeface="Times New Roman"/>
                <a:cs typeface="Times New Roman"/>
              </a:rPr>
              <a:t> </a:t>
            </a:r>
            <a:r>
              <a:rPr dirty="0" sz="1000" spc="10">
                <a:latin typeface="Times New Roman"/>
                <a:cs typeface="Times New Roman"/>
              </a:rPr>
              <a:t>with</a:t>
            </a:r>
            <a:r>
              <a:rPr dirty="0" sz="1000" spc="85">
                <a:latin typeface="Times New Roman"/>
                <a:cs typeface="Times New Roman"/>
              </a:rPr>
              <a:t> </a:t>
            </a:r>
            <a:r>
              <a:rPr dirty="0" sz="1000" spc="10">
                <a:latin typeface="Times New Roman"/>
                <a:cs typeface="Times New Roman"/>
              </a:rPr>
              <a:t>high-order</a:t>
            </a:r>
            <a:r>
              <a:rPr dirty="0" sz="1000" spc="85">
                <a:latin typeface="Times New Roman"/>
                <a:cs typeface="Times New Roman"/>
              </a:rPr>
              <a:t> </a:t>
            </a:r>
            <a:r>
              <a:rPr dirty="0" sz="1000" spc="10">
                <a:latin typeface="Times New Roman"/>
                <a:cs typeface="Times New Roman"/>
              </a:rPr>
              <a:t>polynomial</a:t>
            </a:r>
            <a:r>
              <a:rPr dirty="0" sz="1000" spc="85">
                <a:latin typeface="Times New Roman"/>
                <a:cs typeface="Times New Roman"/>
              </a:rPr>
              <a:t> </a:t>
            </a:r>
            <a:r>
              <a:rPr dirty="0" sz="1000" spc="10">
                <a:latin typeface="Times New Roman"/>
                <a:cs typeface="Times New Roman"/>
              </a:rPr>
              <a:t>pooling.</a:t>
            </a:r>
            <a:r>
              <a:rPr dirty="0" sz="1000" spc="265">
                <a:latin typeface="Times New Roman"/>
                <a:cs typeface="Times New Roman"/>
              </a:rPr>
              <a:t> </a:t>
            </a:r>
            <a:r>
              <a:rPr dirty="0" sz="1000" spc="10">
                <a:latin typeface="Times New Roman"/>
                <a:cs typeface="Times New Roman"/>
              </a:rPr>
              <a:t>Advances</a:t>
            </a:r>
            <a:r>
              <a:rPr dirty="0" sz="1000" spc="85">
                <a:latin typeface="Times New Roman"/>
                <a:cs typeface="Times New Roman"/>
              </a:rPr>
              <a:t> </a:t>
            </a:r>
            <a:r>
              <a:rPr dirty="0" sz="1000" spc="10">
                <a:latin typeface="Times New Roman"/>
                <a:cs typeface="Times New Roman"/>
              </a:rPr>
              <a:t>in</a:t>
            </a:r>
            <a:r>
              <a:rPr dirty="0" sz="1000" spc="85">
                <a:latin typeface="Times New Roman"/>
                <a:cs typeface="Times New Roman"/>
              </a:rPr>
              <a:t> </a:t>
            </a:r>
            <a:r>
              <a:rPr dirty="0" sz="1000" spc="10">
                <a:latin typeface="Times New Roman"/>
                <a:cs typeface="Times New Roman"/>
              </a:rPr>
              <a:t>Neural</a:t>
            </a:r>
            <a:r>
              <a:rPr dirty="0" sz="1000" spc="85">
                <a:latin typeface="Times New Roman"/>
                <a:cs typeface="Times New Roman"/>
              </a:rPr>
              <a:t> </a:t>
            </a:r>
            <a:r>
              <a:rPr dirty="0" sz="1000" spc="10">
                <a:latin typeface="Times New Roman"/>
                <a:cs typeface="Times New Roman"/>
              </a:rPr>
              <a:t>Information</a:t>
            </a:r>
            <a:r>
              <a:rPr dirty="0" sz="1000" spc="85">
                <a:latin typeface="Times New Roman"/>
                <a:cs typeface="Times New Roman"/>
              </a:rPr>
              <a:t> </a:t>
            </a:r>
            <a:r>
              <a:rPr dirty="0" sz="1000" spc="10">
                <a:latin typeface="Times New Roman"/>
                <a:cs typeface="Times New Roman"/>
              </a:rPr>
              <a:t>Processing</a:t>
            </a:r>
            <a:r>
              <a:rPr dirty="0" sz="1000" spc="90">
                <a:latin typeface="Times New Roman"/>
                <a:cs typeface="Times New Roman"/>
              </a:rPr>
              <a:t> </a:t>
            </a:r>
            <a:r>
              <a:rPr dirty="0" sz="1000" spc="10">
                <a:latin typeface="Times New Roman"/>
                <a:cs typeface="Times New Roman"/>
              </a:rPr>
              <a:t>Systems,</a:t>
            </a:r>
            <a:r>
              <a:rPr dirty="0" sz="1000" spc="95">
                <a:latin typeface="Times New Roman"/>
                <a:cs typeface="Times New Roman"/>
              </a:rPr>
              <a:t> </a:t>
            </a:r>
            <a:r>
              <a:rPr dirty="0" sz="1000" spc="-25">
                <a:latin typeface="Times New Roman"/>
                <a:cs typeface="Times New Roman"/>
              </a:rPr>
              <a:t>32, </a:t>
            </a:r>
            <a:r>
              <a:rPr dirty="0" sz="1000">
                <a:latin typeface="Times New Roman"/>
                <a:cs typeface="Times New Roman"/>
              </a:rPr>
              <a:t>2019.</a:t>
            </a:r>
            <a:r>
              <a:rPr dirty="0" sz="1000" spc="25">
                <a:latin typeface="Times New Roman"/>
                <a:cs typeface="Times New Roman"/>
              </a:rPr>
              <a:t> </a:t>
            </a:r>
            <a:r>
              <a:rPr dirty="0" sz="1000">
                <a:latin typeface="Times New Roman"/>
                <a:cs typeface="Times New Roman"/>
              </a:rPr>
              <a:t>1,</a:t>
            </a:r>
            <a:r>
              <a:rPr dirty="0" sz="1000" spc="-45">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a:latin typeface="Times New Roman"/>
                <a:cs typeface="Times New Roman"/>
              </a:rPr>
              <a:t>[12] Ming</a:t>
            </a:r>
            <a:r>
              <a:rPr dirty="0" sz="1000" spc="70">
                <a:latin typeface="Times New Roman"/>
                <a:cs typeface="Times New Roman"/>
              </a:rPr>
              <a:t> </a:t>
            </a:r>
            <a:r>
              <a:rPr dirty="0" sz="1000">
                <a:latin typeface="Times New Roman"/>
                <a:cs typeface="Times New Roman"/>
              </a:rPr>
              <a:t>Hou,</a:t>
            </a:r>
            <a:r>
              <a:rPr dirty="0" sz="1000" spc="70">
                <a:latin typeface="Times New Roman"/>
                <a:cs typeface="Times New Roman"/>
              </a:rPr>
              <a:t> </a:t>
            </a:r>
            <a:r>
              <a:rPr dirty="0" sz="1000">
                <a:latin typeface="Times New Roman"/>
                <a:cs typeface="Times New Roman"/>
              </a:rPr>
              <a:t>Jiajia</a:t>
            </a:r>
            <a:r>
              <a:rPr dirty="0" sz="1000" spc="70">
                <a:latin typeface="Times New Roman"/>
                <a:cs typeface="Times New Roman"/>
              </a:rPr>
              <a:t> </a:t>
            </a:r>
            <a:r>
              <a:rPr dirty="0" sz="1000">
                <a:latin typeface="Times New Roman"/>
                <a:cs typeface="Times New Roman"/>
              </a:rPr>
              <a:t>Tang, Jianhai</a:t>
            </a:r>
            <a:r>
              <a:rPr dirty="0" sz="1000" spc="70">
                <a:latin typeface="Times New Roman"/>
                <a:cs typeface="Times New Roman"/>
              </a:rPr>
              <a:t> </a:t>
            </a:r>
            <a:r>
              <a:rPr dirty="0" sz="1000">
                <a:latin typeface="Times New Roman"/>
                <a:cs typeface="Times New Roman"/>
              </a:rPr>
              <a:t>Zhang,</a:t>
            </a:r>
            <a:r>
              <a:rPr dirty="0" sz="1000" spc="70">
                <a:latin typeface="Times New Roman"/>
                <a:cs typeface="Times New Roman"/>
              </a:rPr>
              <a:t> </a:t>
            </a:r>
            <a:r>
              <a:rPr dirty="0" sz="1000">
                <a:latin typeface="Times New Roman"/>
                <a:cs typeface="Times New Roman"/>
              </a:rPr>
              <a:t>Wanzeng Kong,</a:t>
            </a:r>
            <a:r>
              <a:rPr dirty="0" sz="1000" spc="70">
                <a:latin typeface="Times New Roman"/>
                <a:cs typeface="Times New Roman"/>
              </a:rPr>
              <a:t> </a:t>
            </a:r>
            <a:r>
              <a:rPr dirty="0" sz="1000">
                <a:latin typeface="Times New Roman"/>
                <a:cs typeface="Times New Roman"/>
              </a:rPr>
              <a:t>and Qibin</a:t>
            </a:r>
            <a:r>
              <a:rPr dirty="0" sz="1000" spc="70">
                <a:latin typeface="Times New Roman"/>
                <a:cs typeface="Times New Roman"/>
              </a:rPr>
              <a:t> </a:t>
            </a:r>
            <a:r>
              <a:rPr dirty="0" sz="1000">
                <a:latin typeface="Times New Roman"/>
                <a:cs typeface="Times New Roman"/>
              </a:rPr>
              <a:t>Zhao</a:t>
            </a:r>
            <a:r>
              <a:rPr dirty="0" sz="1000" spc="-30">
                <a:latin typeface="SimSun"/>
                <a:cs typeface="SimSun"/>
              </a:rPr>
              <a:t>。具有高阶多项式池化的</a:t>
            </a:r>
            <a:r>
              <a:rPr dirty="0" sz="1000" spc="-80">
                <a:latin typeface="SimSun"/>
                <a:cs typeface="SimSun"/>
              </a:rPr>
              <a:t>深度多模态多线性融合。《神经信息处理系统进展》，</a:t>
            </a:r>
            <a:r>
              <a:rPr dirty="0" sz="1000" spc="-10">
                <a:latin typeface="Times New Roman"/>
                <a:cs typeface="Times New Roman"/>
              </a:rPr>
              <a:t>32</a:t>
            </a:r>
            <a:r>
              <a:rPr dirty="0" sz="1000" spc="-10">
                <a:latin typeface="SimSun"/>
                <a:cs typeface="SimSun"/>
              </a:rPr>
              <a:t>，</a:t>
            </a:r>
            <a:r>
              <a:rPr dirty="0" sz="1000" spc="-10">
                <a:latin typeface="Times New Roman"/>
                <a:cs typeface="Times New Roman"/>
              </a:rPr>
              <a:t>2019</a:t>
            </a:r>
            <a:r>
              <a:rPr dirty="0" sz="1000" spc="-25">
                <a:latin typeface="Times New Roman"/>
                <a:cs typeface="Times New Roman"/>
              </a:rPr>
              <a:t> </a:t>
            </a:r>
            <a:r>
              <a:rPr dirty="0" sz="1000" spc="-10">
                <a:latin typeface="SimSun"/>
                <a:cs typeface="SimSun"/>
              </a:rPr>
              <a:t>年。</a:t>
            </a:r>
            <a:r>
              <a:rPr dirty="0" sz="1000" spc="-25">
                <a:latin typeface="Times New Roman"/>
                <a:cs typeface="Times New Roman"/>
              </a:rPr>
              <a:t>1</a:t>
            </a:r>
            <a:r>
              <a:rPr dirty="0" sz="1000" spc="-25">
                <a:latin typeface="SimSun"/>
                <a:cs typeface="SimSun"/>
              </a:rPr>
              <a:t>，</a:t>
            </a:r>
            <a:r>
              <a:rPr dirty="0" sz="1000" spc="-25">
                <a:latin typeface="Times New Roman"/>
                <a:cs typeface="Times New Roman"/>
              </a:rPr>
              <a:t>2</a:t>
            </a:r>
            <a:endParaRPr sz="1000">
              <a:latin typeface="Times New Roman"/>
              <a:cs typeface="Times New Roman"/>
            </a:endParaRPr>
          </a:p>
        </p:txBody>
      </p:sp>
      <p:sp>
        <p:nvSpPr>
          <p:cNvPr id="24" name="object 24"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1579181"/>
            <a:ext cx="5760085" cy="546100"/>
            <a:chOff x="899998" y="1579181"/>
            <a:chExt cx="5760085" cy="546100"/>
          </a:xfrm>
        </p:grpSpPr>
        <p:sp>
          <p:nvSpPr>
            <p:cNvPr id="3" name="object 3" descr=""/>
            <p:cNvSpPr/>
            <p:nvPr/>
          </p:nvSpPr>
          <p:spPr>
            <a:xfrm>
              <a:off x="899998" y="1579181"/>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731"/>
                  </a:lnTo>
                  <a:lnTo>
                    <a:pt x="2829" y="523744"/>
                  </a:lnTo>
                  <a:lnTo>
                    <a:pt x="10544" y="535187"/>
                  </a:lnTo>
                  <a:lnTo>
                    <a:pt x="21987" y="542902"/>
                  </a:lnTo>
                  <a:lnTo>
                    <a:pt x="36000" y="545731"/>
                  </a:lnTo>
                  <a:lnTo>
                    <a:pt x="5724074" y="545731"/>
                  </a:lnTo>
                  <a:lnTo>
                    <a:pt x="5738087" y="542902"/>
                  </a:lnTo>
                  <a:lnTo>
                    <a:pt x="5749530" y="535187"/>
                  </a:lnTo>
                  <a:lnTo>
                    <a:pt x="5757245" y="523744"/>
                  </a:lnTo>
                  <a:lnTo>
                    <a:pt x="5760074" y="50973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1579181"/>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731"/>
                  </a:lnTo>
                  <a:lnTo>
                    <a:pt x="2829" y="523744"/>
                  </a:lnTo>
                  <a:lnTo>
                    <a:pt x="10544" y="535187"/>
                  </a:lnTo>
                  <a:lnTo>
                    <a:pt x="21987" y="542902"/>
                  </a:lnTo>
                  <a:lnTo>
                    <a:pt x="36000" y="545731"/>
                  </a:lnTo>
                  <a:lnTo>
                    <a:pt x="5724074" y="545731"/>
                  </a:lnTo>
                  <a:lnTo>
                    <a:pt x="5738087" y="542902"/>
                  </a:lnTo>
                  <a:lnTo>
                    <a:pt x="5749530" y="535187"/>
                  </a:lnTo>
                  <a:lnTo>
                    <a:pt x="5757245" y="523744"/>
                  </a:lnTo>
                  <a:lnTo>
                    <a:pt x="5760074" y="50973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717047"/>
            <a:ext cx="5760085" cy="545465"/>
            <a:chOff x="899998" y="2717047"/>
            <a:chExt cx="5760085" cy="545465"/>
          </a:xfrm>
        </p:grpSpPr>
        <p:sp>
          <p:nvSpPr>
            <p:cNvPr id="6" name="object 6" descr=""/>
            <p:cNvSpPr/>
            <p:nvPr/>
          </p:nvSpPr>
          <p:spPr>
            <a:xfrm>
              <a:off x="899998" y="2717047"/>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8972"/>
                  </a:lnTo>
                  <a:lnTo>
                    <a:pt x="2829" y="522985"/>
                  </a:lnTo>
                  <a:lnTo>
                    <a:pt x="10544" y="534428"/>
                  </a:lnTo>
                  <a:lnTo>
                    <a:pt x="21987" y="542143"/>
                  </a:lnTo>
                  <a:lnTo>
                    <a:pt x="36000" y="544972"/>
                  </a:lnTo>
                  <a:lnTo>
                    <a:pt x="5724074" y="544972"/>
                  </a:lnTo>
                  <a:lnTo>
                    <a:pt x="5738087" y="542143"/>
                  </a:lnTo>
                  <a:lnTo>
                    <a:pt x="5749530" y="534428"/>
                  </a:lnTo>
                  <a:lnTo>
                    <a:pt x="5757245" y="522985"/>
                  </a:lnTo>
                  <a:lnTo>
                    <a:pt x="5760074" y="50897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717047"/>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8972"/>
                  </a:lnTo>
                  <a:lnTo>
                    <a:pt x="2829" y="522985"/>
                  </a:lnTo>
                  <a:lnTo>
                    <a:pt x="10544" y="534428"/>
                  </a:lnTo>
                  <a:lnTo>
                    <a:pt x="21987" y="542143"/>
                  </a:lnTo>
                  <a:lnTo>
                    <a:pt x="36000" y="544972"/>
                  </a:lnTo>
                  <a:lnTo>
                    <a:pt x="5724074" y="544972"/>
                  </a:lnTo>
                  <a:lnTo>
                    <a:pt x="5738087" y="542143"/>
                  </a:lnTo>
                  <a:lnTo>
                    <a:pt x="5749530" y="534428"/>
                  </a:lnTo>
                  <a:lnTo>
                    <a:pt x="5757245" y="522985"/>
                  </a:lnTo>
                  <a:lnTo>
                    <a:pt x="5760074" y="50897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3854158"/>
            <a:ext cx="5760085" cy="546100"/>
            <a:chOff x="899998" y="3854158"/>
            <a:chExt cx="5760085" cy="546100"/>
          </a:xfrm>
        </p:grpSpPr>
        <p:sp>
          <p:nvSpPr>
            <p:cNvPr id="9" name="object 9" descr=""/>
            <p:cNvSpPr/>
            <p:nvPr/>
          </p:nvSpPr>
          <p:spPr>
            <a:xfrm>
              <a:off x="899998" y="3854158"/>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3854158"/>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5189522"/>
            <a:ext cx="5760085" cy="742950"/>
            <a:chOff x="899998" y="5189522"/>
            <a:chExt cx="5760085" cy="742950"/>
          </a:xfrm>
        </p:grpSpPr>
        <p:sp>
          <p:nvSpPr>
            <p:cNvPr id="12" name="object 12" descr=""/>
            <p:cNvSpPr/>
            <p:nvPr/>
          </p:nvSpPr>
          <p:spPr>
            <a:xfrm>
              <a:off x="899998" y="5189522"/>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355"/>
                  </a:lnTo>
                  <a:lnTo>
                    <a:pt x="2829" y="720368"/>
                  </a:lnTo>
                  <a:lnTo>
                    <a:pt x="10544" y="731811"/>
                  </a:lnTo>
                  <a:lnTo>
                    <a:pt x="21987" y="739526"/>
                  </a:lnTo>
                  <a:lnTo>
                    <a:pt x="36000" y="742355"/>
                  </a:lnTo>
                  <a:lnTo>
                    <a:pt x="5724074" y="742355"/>
                  </a:lnTo>
                  <a:lnTo>
                    <a:pt x="5738087" y="739526"/>
                  </a:lnTo>
                  <a:lnTo>
                    <a:pt x="5749530" y="731811"/>
                  </a:lnTo>
                  <a:lnTo>
                    <a:pt x="5757245" y="720368"/>
                  </a:lnTo>
                  <a:lnTo>
                    <a:pt x="5760074" y="70635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5189522"/>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355"/>
                  </a:lnTo>
                  <a:lnTo>
                    <a:pt x="2829" y="720368"/>
                  </a:lnTo>
                  <a:lnTo>
                    <a:pt x="10544" y="731811"/>
                  </a:lnTo>
                  <a:lnTo>
                    <a:pt x="21987" y="739526"/>
                  </a:lnTo>
                  <a:lnTo>
                    <a:pt x="36000" y="742355"/>
                  </a:lnTo>
                  <a:lnTo>
                    <a:pt x="5724074" y="742355"/>
                  </a:lnTo>
                  <a:lnTo>
                    <a:pt x="5738087" y="739526"/>
                  </a:lnTo>
                  <a:lnTo>
                    <a:pt x="5749530" y="731811"/>
                  </a:lnTo>
                  <a:lnTo>
                    <a:pt x="5757245" y="720368"/>
                  </a:lnTo>
                  <a:lnTo>
                    <a:pt x="5760074" y="70635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6721399"/>
            <a:ext cx="5760085" cy="546100"/>
            <a:chOff x="899998" y="6721399"/>
            <a:chExt cx="5760085" cy="546100"/>
          </a:xfrm>
        </p:grpSpPr>
        <p:sp>
          <p:nvSpPr>
            <p:cNvPr id="15" name="object 15" descr=""/>
            <p:cNvSpPr/>
            <p:nvPr/>
          </p:nvSpPr>
          <p:spPr>
            <a:xfrm>
              <a:off x="899998" y="6721399"/>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6721399"/>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8254148"/>
            <a:ext cx="5760085" cy="742950"/>
            <a:chOff x="899998" y="8254148"/>
            <a:chExt cx="5760085" cy="742950"/>
          </a:xfrm>
        </p:grpSpPr>
        <p:sp>
          <p:nvSpPr>
            <p:cNvPr id="18" name="object 18" descr=""/>
            <p:cNvSpPr/>
            <p:nvPr/>
          </p:nvSpPr>
          <p:spPr>
            <a:xfrm>
              <a:off x="899998" y="8254148"/>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861"/>
                  </a:lnTo>
                  <a:lnTo>
                    <a:pt x="2829" y="720874"/>
                  </a:lnTo>
                  <a:lnTo>
                    <a:pt x="10544" y="732317"/>
                  </a:lnTo>
                  <a:lnTo>
                    <a:pt x="21987" y="740032"/>
                  </a:lnTo>
                  <a:lnTo>
                    <a:pt x="36000" y="742861"/>
                  </a:lnTo>
                  <a:lnTo>
                    <a:pt x="5724074" y="742861"/>
                  </a:lnTo>
                  <a:lnTo>
                    <a:pt x="5738087" y="740032"/>
                  </a:lnTo>
                  <a:lnTo>
                    <a:pt x="5749530" y="732317"/>
                  </a:lnTo>
                  <a:lnTo>
                    <a:pt x="5757245" y="720874"/>
                  </a:lnTo>
                  <a:lnTo>
                    <a:pt x="5760074" y="70686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8254148"/>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861"/>
                  </a:lnTo>
                  <a:lnTo>
                    <a:pt x="2829" y="720874"/>
                  </a:lnTo>
                  <a:lnTo>
                    <a:pt x="10544" y="732317"/>
                  </a:lnTo>
                  <a:lnTo>
                    <a:pt x="21987" y="740032"/>
                  </a:lnTo>
                  <a:lnTo>
                    <a:pt x="36000" y="742861"/>
                  </a:lnTo>
                  <a:lnTo>
                    <a:pt x="5724074" y="742861"/>
                  </a:lnTo>
                  <a:lnTo>
                    <a:pt x="5738087" y="740032"/>
                  </a:lnTo>
                  <a:lnTo>
                    <a:pt x="5749530" y="732317"/>
                  </a:lnTo>
                  <a:lnTo>
                    <a:pt x="5757245" y="720874"/>
                  </a:lnTo>
                  <a:lnTo>
                    <a:pt x="5760074" y="70686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0" name="object 20" descr=""/>
          <p:cNvSpPr txBox="1"/>
          <p:nvPr/>
        </p:nvSpPr>
        <p:spPr>
          <a:xfrm>
            <a:off x="887298" y="841750"/>
            <a:ext cx="5785485" cy="8825230"/>
          </a:xfrm>
          <a:prstGeom prst="rect">
            <a:avLst/>
          </a:prstGeom>
        </p:spPr>
        <p:txBody>
          <a:bodyPr wrap="square" lIns="0" tIns="12700" rIns="0" bIns="0" rtlCol="0" vert="horz">
            <a:spAutoFit/>
          </a:bodyPr>
          <a:lstStyle/>
          <a:p>
            <a:pPr algn="just" marL="12700" marR="5080" indent="252729">
              <a:lnSpc>
                <a:spcPct val="129500"/>
              </a:lnSpc>
              <a:spcBef>
                <a:spcPts val="100"/>
              </a:spcBef>
            </a:pPr>
            <a:r>
              <a:rPr dirty="0" sz="1000">
                <a:latin typeface="Times New Roman"/>
                <a:cs typeface="Times New Roman"/>
              </a:rPr>
              <a:t>[13]</a:t>
            </a:r>
            <a:r>
              <a:rPr dirty="0" sz="1000" spc="140">
                <a:latin typeface="Times New Roman"/>
                <a:cs typeface="Times New Roman"/>
              </a:rPr>
              <a:t> </a:t>
            </a:r>
            <a:r>
              <a:rPr dirty="0" sz="1000">
                <a:latin typeface="Times New Roman"/>
                <a:cs typeface="Times New Roman"/>
              </a:rPr>
              <a:t>Xinxin</a:t>
            </a:r>
            <a:r>
              <a:rPr dirty="0" sz="1000" spc="145">
                <a:latin typeface="Times New Roman"/>
                <a:cs typeface="Times New Roman"/>
              </a:rPr>
              <a:t> </a:t>
            </a:r>
            <a:r>
              <a:rPr dirty="0" sz="1000">
                <a:latin typeface="Times New Roman"/>
                <a:cs typeface="Times New Roman"/>
              </a:rPr>
              <a:t>Hu,</a:t>
            </a:r>
            <a:r>
              <a:rPr dirty="0" sz="1000" spc="170">
                <a:latin typeface="Times New Roman"/>
                <a:cs typeface="Times New Roman"/>
              </a:rPr>
              <a:t> </a:t>
            </a:r>
            <a:r>
              <a:rPr dirty="0" sz="1000">
                <a:latin typeface="Times New Roman"/>
                <a:cs typeface="Times New Roman"/>
              </a:rPr>
              <a:t>Kailun</a:t>
            </a:r>
            <a:r>
              <a:rPr dirty="0" sz="1000" spc="140">
                <a:latin typeface="Times New Roman"/>
                <a:cs typeface="Times New Roman"/>
              </a:rPr>
              <a:t> </a:t>
            </a:r>
            <a:r>
              <a:rPr dirty="0" sz="1000">
                <a:latin typeface="Times New Roman"/>
                <a:cs typeface="Times New Roman"/>
              </a:rPr>
              <a:t>Yang,</a:t>
            </a:r>
            <a:r>
              <a:rPr dirty="0" sz="1000" spc="175">
                <a:latin typeface="Times New Roman"/>
                <a:cs typeface="Times New Roman"/>
              </a:rPr>
              <a:t> </a:t>
            </a:r>
            <a:r>
              <a:rPr dirty="0" sz="1000">
                <a:latin typeface="Times New Roman"/>
                <a:cs typeface="Times New Roman"/>
              </a:rPr>
              <a:t>Lei</a:t>
            </a:r>
            <a:r>
              <a:rPr dirty="0" sz="1000" spc="140">
                <a:latin typeface="Times New Roman"/>
                <a:cs typeface="Times New Roman"/>
              </a:rPr>
              <a:t> </a:t>
            </a:r>
            <a:r>
              <a:rPr dirty="0" sz="1000">
                <a:latin typeface="Times New Roman"/>
                <a:cs typeface="Times New Roman"/>
              </a:rPr>
              <a:t>Fei,</a:t>
            </a:r>
            <a:r>
              <a:rPr dirty="0" sz="1000" spc="175">
                <a:latin typeface="Times New Roman"/>
                <a:cs typeface="Times New Roman"/>
              </a:rPr>
              <a:t> </a:t>
            </a:r>
            <a:r>
              <a:rPr dirty="0" sz="1000">
                <a:latin typeface="Times New Roman"/>
                <a:cs typeface="Times New Roman"/>
              </a:rPr>
              <a:t>and</a:t>
            </a:r>
            <a:r>
              <a:rPr dirty="0" sz="1000" spc="140">
                <a:latin typeface="Times New Roman"/>
                <a:cs typeface="Times New Roman"/>
              </a:rPr>
              <a:t> </a:t>
            </a:r>
            <a:r>
              <a:rPr dirty="0" sz="1000">
                <a:latin typeface="Times New Roman"/>
                <a:cs typeface="Times New Roman"/>
              </a:rPr>
              <a:t>Kaiwei</a:t>
            </a:r>
            <a:r>
              <a:rPr dirty="0" sz="1000" spc="145">
                <a:latin typeface="Times New Roman"/>
                <a:cs typeface="Times New Roman"/>
              </a:rPr>
              <a:t> </a:t>
            </a:r>
            <a:r>
              <a:rPr dirty="0" sz="1000">
                <a:latin typeface="Times New Roman"/>
                <a:cs typeface="Times New Roman"/>
              </a:rPr>
              <a:t>Wang.</a:t>
            </a:r>
            <a:r>
              <a:rPr dirty="0" sz="1000" spc="470">
                <a:latin typeface="Times New Roman"/>
                <a:cs typeface="Times New Roman"/>
              </a:rPr>
              <a:t> </a:t>
            </a:r>
            <a:r>
              <a:rPr dirty="0" sz="1000">
                <a:latin typeface="Times New Roman"/>
                <a:cs typeface="Times New Roman"/>
              </a:rPr>
              <a:t>Acnet:</a:t>
            </a:r>
            <a:r>
              <a:rPr dirty="0" sz="1000" spc="355">
                <a:latin typeface="Times New Roman"/>
                <a:cs typeface="Times New Roman"/>
              </a:rPr>
              <a:t> </a:t>
            </a:r>
            <a:r>
              <a:rPr dirty="0" sz="1000">
                <a:latin typeface="Times New Roman"/>
                <a:cs typeface="Times New Roman"/>
              </a:rPr>
              <a:t>Attention</a:t>
            </a:r>
            <a:r>
              <a:rPr dirty="0" sz="1000" spc="140">
                <a:latin typeface="Times New Roman"/>
                <a:cs typeface="Times New Roman"/>
              </a:rPr>
              <a:t> </a:t>
            </a:r>
            <a:r>
              <a:rPr dirty="0" sz="1000">
                <a:latin typeface="Times New Roman"/>
                <a:cs typeface="Times New Roman"/>
              </a:rPr>
              <a:t>based</a:t>
            </a:r>
            <a:r>
              <a:rPr dirty="0" sz="1000" spc="145">
                <a:latin typeface="Times New Roman"/>
                <a:cs typeface="Times New Roman"/>
              </a:rPr>
              <a:t> </a:t>
            </a:r>
            <a:r>
              <a:rPr dirty="0" sz="1000">
                <a:latin typeface="Times New Roman"/>
                <a:cs typeface="Times New Roman"/>
              </a:rPr>
              <a:t>network</a:t>
            </a:r>
            <a:r>
              <a:rPr dirty="0" sz="1000" spc="140">
                <a:latin typeface="Times New Roman"/>
                <a:cs typeface="Times New Roman"/>
              </a:rPr>
              <a:t> </a:t>
            </a:r>
            <a:r>
              <a:rPr dirty="0" sz="1000">
                <a:latin typeface="Times New Roman"/>
                <a:cs typeface="Times New Roman"/>
              </a:rPr>
              <a:t>to</a:t>
            </a:r>
            <a:r>
              <a:rPr dirty="0" sz="1000" spc="145">
                <a:latin typeface="Times New Roman"/>
                <a:cs typeface="Times New Roman"/>
              </a:rPr>
              <a:t> </a:t>
            </a:r>
            <a:r>
              <a:rPr dirty="0" sz="1000" spc="-10">
                <a:latin typeface="Times New Roman"/>
                <a:cs typeface="Times New Roman"/>
              </a:rPr>
              <a:t>exploit </a:t>
            </a:r>
            <a:r>
              <a:rPr dirty="0" sz="1000">
                <a:latin typeface="Times New Roman"/>
                <a:cs typeface="Times New Roman"/>
              </a:rPr>
              <a:t>complementary</a:t>
            </a:r>
            <a:r>
              <a:rPr dirty="0" sz="1000" spc="165">
                <a:latin typeface="Times New Roman"/>
                <a:cs typeface="Times New Roman"/>
              </a:rPr>
              <a:t> </a:t>
            </a:r>
            <a:r>
              <a:rPr dirty="0" sz="1000">
                <a:latin typeface="Times New Roman"/>
                <a:cs typeface="Times New Roman"/>
              </a:rPr>
              <a:t>features</a:t>
            </a:r>
            <a:r>
              <a:rPr dirty="0" sz="1000" spc="165">
                <a:latin typeface="Times New Roman"/>
                <a:cs typeface="Times New Roman"/>
              </a:rPr>
              <a:t> </a:t>
            </a:r>
            <a:r>
              <a:rPr dirty="0" sz="1000">
                <a:latin typeface="Times New Roman"/>
                <a:cs typeface="Times New Roman"/>
              </a:rPr>
              <a:t>for</a:t>
            </a:r>
            <a:r>
              <a:rPr dirty="0" sz="1000" spc="165">
                <a:latin typeface="Times New Roman"/>
                <a:cs typeface="Times New Roman"/>
              </a:rPr>
              <a:t> </a:t>
            </a:r>
            <a:r>
              <a:rPr dirty="0" sz="1000">
                <a:latin typeface="Times New Roman"/>
                <a:cs typeface="Times New Roman"/>
              </a:rPr>
              <a:t>rgbd</a:t>
            </a:r>
            <a:r>
              <a:rPr dirty="0" sz="1000" spc="170">
                <a:latin typeface="Times New Roman"/>
                <a:cs typeface="Times New Roman"/>
              </a:rPr>
              <a:t> </a:t>
            </a:r>
            <a:r>
              <a:rPr dirty="0" sz="1000">
                <a:latin typeface="Times New Roman"/>
                <a:cs typeface="Times New Roman"/>
              </a:rPr>
              <a:t>semantic</a:t>
            </a:r>
            <a:r>
              <a:rPr dirty="0" sz="1000" spc="165">
                <a:latin typeface="Times New Roman"/>
                <a:cs typeface="Times New Roman"/>
              </a:rPr>
              <a:t> </a:t>
            </a:r>
            <a:r>
              <a:rPr dirty="0" sz="1000">
                <a:latin typeface="Times New Roman"/>
                <a:cs typeface="Times New Roman"/>
              </a:rPr>
              <a:t>segmentation.</a:t>
            </a:r>
            <a:r>
              <a:rPr dirty="0" sz="1000" spc="375">
                <a:latin typeface="Times New Roman"/>
                <a:cs typeface="Times New Roman"/>
              </a:rPr>
              <a:t> </a:t>
            </a:r>
            <a:r>
              <a:rPr dirty="0" sz="1000">
                <a:latin typeface="Times New Roman"/>
                <a:cs typeface="Times New Roman"/>
              </a:rPr>
              <a:t>In</a:t>
            </a:r>
            <a:r>
              <a:rPr dirty="0" sz="1000" spc="165">
                <a:latin typeface="Times New Roman"/>
                <a:cs typeface="Times New Roman"/>
              </a:rPr>
              <a:t> </a:t>
            </a:r>
            <a:r>
              <a:rPr dirty="0" sz="1000">
                <a:latin typeface="Times New Roman"/>
                <a:cs typeface="Times New Roman"/>
              </a:rPr>
              <a:t>2019</a:t>
            </a:r>
            <a:r>
              <a:rPr dirty="0" sz="1000" spc="170">
                <a:latin typeface="Times New Roman"/>
                <a:cs typeface="Times New Roman"/>
              </a:rPr>
              <a:t> </a:t>
            </a:r>
            <a:r>
              <a:rPr dirty="0" sz="1000">
                <a:latin typeface="Times New Roman"/>
                <a:cs typeface="Times New Roman"/>
              </a:rPr>
              <a:t>IEEE</a:t>
            </a:r>
            <a:r>
              <a:rPr dirty="0" sz="1000" spc="165">
                <a:latin typeface="Times New Roman"/>
                <a:cs typeface="Times New Roman"/>
              </a:rPr>
              <a:t> </a:t>
            </a:r>
            <a:r>
              <a:rPr dirty="0" sz="1000">
                <a:latin typeface="Times New Roman"/>
                <a:cs typeface="Times New Roman"/>
              </a:rPr>
              <a:t>International</a:t>
            </a:r>
            <a:r>
              <a:rPr dirty="0" sz="1000" spc="165">
                <a:latin typeface="Times New Roman"/>
                <a:cs typeface="Times New Roman"/>
              </a:rPr>
              <a:t> </a:t>
            </a:r>
            <a:r>
              <a:rPr dirty="0" sz="1000">
                <a:latin typeface="Times New Roman"/>
                <a:cs typeface="Times New Roman"/>
              </a:rPr>
              <a:t>Conference</a:t>
            </a:r>
            <a:r>
              <a:rPr dirty="0" sz="1000" spc="165">
                <a:latin typeface="Times New Roman"/>
                <a:cs typeface="Times New Roman"/>
              </a:rPr>
              <a:t> </a:t>
            </a:r>
            <a:r>
              <a:rPr dirty="0" sz="1000">
                <a:latin typeface="Times New Roman"/>
                <a:cs typeface="Times New Roman"/>
              </a:rPr>
              <a:t>on</a:t>
            </a:r>
            <a:r>
              <a:rPr dirty="0" sz="1000" spc="170">
                <a:latin typeface="Times New Roman"/>
                <a:cs typeface="Times New Roman"/>
              </a:rPr>
              <a:t> </a:t>
            </a:r>
            <a:r>
              <a:rPr dirty="0" sz="1000" spc="-10">
                <a:latin typeface="Times New Roman"/>
                <a:cs typeface="Times New Roman"/>
              </a:rPr>
              <a:t>Image </a:t>
            </a:r>
            <a:r>
              <a:rPr dirty="0" sz="1000">
                <a:latin typeface="Times New Roman"/>
                <a:cs typeface="Times New Roman"/>
              </a:rPr>
              <a:t>Processing (ICIP), pages </a:t>
            </a:r>
            <a:r>
              <a:rPr dirty="0" sz="1000" spc="-10">
                <a:latin typeface="Times New Roman"/>
                <a:cs typeface="Times New Roman"/>
              </a:rPr>
              <a:t>1440-</a:t>
            </a:r>
            <a:r>
              <a:rPr dirty="0" sz="1000">
                <a:latin typeface="Times New Roman"/>
                <a:cs typeface="Times New Roman"/>
              </a:rPr>
              <a:t>1444.</a:t>
            </a:r>
            <a:r>
              <a:rPr dirty="0" sz="1000" spc="85">
                <a:latin typeface="Times New Roman"/>
                <a:cs typeface="Times New Roman"/>
              </a:rPr>
              <a:t> </a:t>
            </a:r>
            <a:r>
              <a:rPr dirty="0" sz="1000">
                <a:latin typeface="Times New Roman"/>
                <a:cs typeface="Times New Roman"/>
              </a:rPr>
              <a:t>IEEE, 2019.</a:t>
            </a:r>
            <a:r>
              <a:rPr dirty="0" sz="1000" spc="90">
                <a:latin typeface="Times New Roman"/>
                <a:cs typeface="Times New Roman"/>
              </a:rPr>
              <a:t> </a:t>
            </a:r>
            <a:r>
              <a:rPr dirty="0" sz="1000">
                <a:latin typeface="Times New Roman"/>
                <a:cs typeface="Times New Roman"/>
              </a:rPr>
              <a:t>1, </a:t>
            </a:r>
            <a:r>
              <a:rPr dirty="0" sz="1000" spc="-50">
                <a:latin typeface="Times New Roman"/>
                <a:cs typeface="Times New Roman"/>
              </a:rPr>
              <a:t>2</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a:latin typeface="Times New Roman"/>
                <a:cs typeface="Times New Roman"/>
              </a:rPr>
              <a:t>[13]</a:t>
            </a:r>
            <a:r>
              <a:rPr dirty="0" sz="1000" spc="-30">
                <a:latin typeface="Times New Roman"/>
                <a:cs typeface="Times New Roman"/>
              </a:rPr>
              <a:t> </a:t>
            </a:r>
            <a:r>
              <a:rPr dirty="0" sz="1000" spc="-65">
                <a:latin typeface="SimSun"/>
                <a:cs typeface="SimSun"/>
              </a:rPr>
              <a:t>胡欣欣、杨凯伦、费雷、王凯伟。</a:t>
            </a:r>
            <a:r>
              <a:rPr dirty="0" sz="1000" spc="5">
                <a:latin typeface="Times New Roman"/>
                <a:cs typeface="Times New Roman"/>
              </a:rPr>
              <a:t>Acnet:</a:t>
            </a:r>
            <a:r>
              <a:rPr dirty="0" sz="1000" spc="-30">
                <a:latin typeface="Times New Roman"/>
                <a:cs typeface="Times New Roman"/>
              </a:rPr>
              <a:t> </a:t>
            </a:r>
            <a:r>
              <a:rPr dirty="0" sz="1000" spc="-40">
                <a:latin typeface="SimSun"/>
                <a:cs typeface="SimSun"/>
              </a:rPr>
              <a:t>基于注意力的网络，用于利用互补特征进行 </a:t>
            </a:r>
            <a:r>
              <a:rPr dirty="0" sz="1000" spc="15">
                <a:latin typeface="Times New Roman"/>
                <a:cs typeface="Times New Roman"/>
              </a:rPr>
              <a:t>rgbd</a:t>
            </a:r>
            <a:r>
              <a:rPr dirty="0" sz="1000" spc="-30">
                <a:latin typeface="Times New Roman"/>
                <a:cs typeface="Times New Roman"/>
              </a:rPr>
              <a:t> </a:t>
            </a:r>
            <a:r>
              <a:rPr dirty="0" sz="1000" spc="-10">
                <a:latin typeface="SimSun"/>
                <a:cs typeface="SimSun"/>
              </a:rPr>
              <a:t>语义</a:t>
            </a:r>
            <a:r>
              <a:rPr dirty="0" sz="1000" spc="-65">
                <a:latin typeface="SimSun"/>
                <a:cs typeface="SimSun"/>
              </a:rPr>
              <a:t>分割。在 </a:t>
            </a:r>
            <a:r>
              <a:rPr dirty="0" sz="1000" spc="-10">
                <a:latin typeface="Times New Roman"/>
                <a:cs typeface="Times New Roman"/>
              </a:rPr>
              <a:t>2019</a:t>
            </a:r>
            <a:r>
              <a:rPr dirty="0" sz="1000" spc="-20">
                <a:latin typeface="Times New Roman"/>
                <a:cs typeface="Times New Roman"/>
              </a:rPr>
              <a:t> </a:t>
            </a:r>
            <a:r>
              <a:rPr dirty="0" sz="1000" spc="220">
                <a:latin typeface="SimSun"/>
                <a:cs typeface="SimSun"/>
              </a:rPr>
              <a:t>年</a:t>
            </a:r>
            <a:r>
              <a:rPr dirty="0" sz="1000" spc="10">
                <a:latin typeface="Times New Roman"/>
                <a:cs typeface="Times New Roman"/>
              </a:rPr>
              <a:t>IEEE</a:t>
            </a:r>
            <a:r>
              <a:rPr dirty="0" sz="1000" spc="-20">
                <a:latin typeface="Times New Roman"/>
                <a:cs typeface="Times New Roman"/>
              </a:rPr>
              <a:t> </a:t>
            </a:r>
            <a:r>
              <a:rPr dirty="0" sz="1000" spc="15">
                <a:latin typeface="SimSun"/>
                <a:cs typeface="SimSun"/>
              </a:rPr>
              <a:t>国际图像处理会议</a:t>
            </a:r>
            <a:r>
              <a:rPr dirty="0" sz="1000" spc="5">
                <a:latin typeface="Times New Roman"/>
                <a:cs typeface="Times New Roman"/>
              </a:rPr>
              <a:t>(ICIP)</a:t>
            </a:r>
            <a:r>
              <a:rPr dirty="0" sz="1000" spc="-20">
                <a:latin typeface="Times New Roman"/>
                <a:cs typeface="Times New Roman"/>
              </a:rPr>
              <a:t> </a:t>
            </a:r>
            <a:r>
              <a:rPr dirty="0" sz="1000" spc="-75">
                <a:latin typeface="SimSun"/>
                <a:cs typeface="SimSun"/>
              </a:rPr>
              <a:t>上，第 </a:t>
            </a:r>
            <a:r>
              <a:rPr dirty="0" sz="1000" spc="-10">
                <a:latin typeface="Times New Roman"/>
                <a:cs typeface="Times New Roman"/>
              </a:rPr>
              <a:t>1440</a:t>
            </a:r>
            <a:r>
              <a:rPr dirty="0" sz="1000" spc="-25">
                <a:latin typeface="Times New Roman"/>
                <a:cs typeface="Times New Roman"/>
              </a:rPr>
              <a:t> - </a:t>
            </a:r>
            <a:r>
              <a:rPr dirty="0" sz="1000" spc="-10">
                <a:latin typeface="Times New Roman"/>
                <a:cs typeface="Times New Roman"/>
              </a:rPr>
              <a:t>1444</a:t>
            </a:r>
            <a:r>
              <a:rPr dirty="0" sz="1000" spc="-15">
                <a:latin typeface="Times New Roman"/>
                <a:cs typeface="Times New Roman"/>
              </a:rPr>
              <a:t> </a:t>
            </a:r>
            <a:r>
              <a:rPr dirty="0" sz="1000" spc="-10">
                <a:latin typeface="SimSun"/>
                <a:cs typeface="SimSun"/>
              </a:rPr>
              <a:t>页。</a:t>
            </a:r>
            <a:r>
              <a:rPr dirty="0" sz="1000" spc="-5">
                <a:latin typeface="Times New Roman"/>
                <a:cs typeface="Times New Roman"/>
              </a:rPr>
              <a:t>IEEE</a:t>
            </a:r>
            <a:r>
              <a:rPr dirty="0" sz="1000" spc="-5">
                <a:latin typeface="SimSun"/>
                <a:cs typeface="SimSun"/>
              </a:rPr>
              <a:t>，</a:t>
            </a:r>
            <a:r>
              <a:rPr dirty="0" sz="1000" spc="-5">
                <a:latin typeface="Times New Roman"/>
                <a:cs typeface="Times New Roman"/>
              </a:rPr>
              <a:t>2019</a:t>
            </a:r>
            <a:r>
              <a:rPr dirty="0" sz="1000" spc="-20">
                <a:latin typeface="Times New Roman"/>
                <a:cs typeface="Times New Roman"/>
              </a:rPr>
              <a:t> </a:t>
            </a:r>
            <a:r>
              <a:rPr dirty="0" sz="1000" spc="-10">
                <a:latin typeface="SimSun"/>
                <a:cs typeface="SimSun"/>
              </a:rPr>
              <a:t>年。</a:t>
            </a:r>
            <a:r>
              <a:rPr dirty="0" sz="1000" spc="-10">
                <a:latin typeface="Times New Roman"/>
                <a:cs typeface="Times New Roman"/>
              </a:rPr>
              <a:t>1</a:t>
            </a:r>
            <a:r>
              <a:rPr dirty="0" sz="1000" spc="-10">
                <a:latin typeface="SimSun"/>
                <a:cs typeface="SimSun"/>
              </a:rPr>
              <a:t>，</a:t>
            </a:r>
            <a:r>
              <a:rPr dirty="0" sz="1000" spc="-10">
                <a:latin typeface="Times New Roman"/>
                <a:cs typeface="Times New Roman"/>
              </a:rPr>
              <a:t>2</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spcBef>
                <a:spcPts val="5"/>
              </a:spcBef>
            </a:pPr>
            <a:r>
              <a:rPr dirty="0" sz="1000">
                <a:latin typeface="Times New Roman"/>
                <a:cs typeface="Times New Roman"/>
              </a:rPr>
              <a:t>[14]</a:t>
            </a:r>
            <a:r>
              <a:rPr dirty="0" sz="1000" spc="70">
                <a:latin typeface="Times New Roman"/>
                <a:cs typeface="Times New Roman"/>
              </a:rPr>
              <a:t> </a:t>
            </a:r>
            <a:r>
              <a:rPr dirty="0" sz="1000">
                <a:latin typeface="Times New Roman"/>
                <a:cs typeface="Times New Roman"/>
              </a:rPr>
              <a:t>Cong</a:t>
            </a:r>
            <a:r>
              <a:rPr dirty="0" sz="1000" spc="75">
                <a:latin typeface="Times New Roman"/>
                <a:cs typeface="Times New Roman"/>
              </a:rPr>
              <a:t> </a:t>
            </a:r>
            <a:r>
              <a:rPr dirty="0" sz="1000">
                <a:latin typeface="Times New Roman"/>
                <a:cs typeface="Times New Roman"/>
              </a:rPr>
              <a:t>Hua,</a:t>
            </a:r>
            <a:r>
              <a:rPr dirty="0" sz="1000" spc="80">
                <a:latin typeface="Times New Roman"/>
                <a:cs typeface="Times New Roman"/>
              </a:rPr>
              <a:t> </a:t>
            </a:r>
            <a:r>
              <a:rPr dirty="0" sz="1000">
                <a:latin typeface="Times New Roman"/>
                <a:cs typeface="Times New Roman"/>
              </a:rPr>
              <a:t>Qianqian</a:t>
            </a:r>
            <a:r>
              <a:rPr dirty="0" sz="1000" spc="75">
                <a:latin typeface="Times New Roman"/>
                <a:cs typeface="Times New Roman"/>
              </a:rPr>
              <a:t> </a:t>
            </a:r>
            <a:r>
              <a:rPr dirty="0" sz="1000">
                <a:latin typeface="Times New Roman"/>
                <a:cs typeface="Times New Roman"/>
              </a:rPr>
              <a:t>Xu,</a:t>
            </a:r>
            <a:r>
              <a:rPr dirty="0" sz="1000" spc="75">
                <a:latin typeface="Times New Roman"/>
                <a:cs typeface="Times New Roman"/>
              </a:rPr>
              <a:t> </a:t>
            </a:r>
            <a:r>
              <a:rPr dirty="0" sz="1000">
                <a:latin typeface="Times New Roman"/>
                <a:cs typeface="Times New Roman"/>
              </a:rPr>
              <a:t>Shilong</a:t>
            </a:r>
            <a:r>
              <a:rPr dirty="0" sz="1000" spc="70">
                <a:latin typeface="Times New Roman"/>
                <a:cs typeface="Times New Roman"/>
              </a:rPr>
              <a:t> </a:t>
            </a:r>
            <a:r>
              <a:rPr dirty="0" sz="1000">
                <a:latin typeface="Times New Roman"/>
                <a:cs typeface="Times New Roman"/>
              </a:rPr>
              <a:t>Bao,</a:t>
            </a:r>
            <a:r>
              <a:rPr dirty="0" sz="1000" spc="75">
                <a:latin typeface="Times New Roman"/>
                <a:cs typeface="Times New Roman"/>
              </a:rPr>
              <a:t> </a:t>
            </a:r>
            <a:r>
              <a:rPr dirty="0" sz="1000">
                <a:latin typeface="Times New Roman"/>
                <a:cs typeface="Times New Roman"/>
              </a:rPr>
              <a:t>Zhiyong</a:t>
            </a:r>
            <a:r>
              <a:rPr dirty="0" sz="1000" spc="75">
                <a:latin typeface="Times New Roman"/>
                <a:cs typeface="Times New Roman"/>
              </a:rPr>
              <a:t> </a:t>
            </a:r>
            <a:r>
              <a:rPr dirty="0" sz="1000" spc="-20">
                <a:latin typeface="Times New Roman"/>
                <a:cs typeface="Times New Roman"/>
              </a:rPr>
              <a:t>Yang,</a:t>
            </a:r>
            <a:r>
              <a:rPr dirty="0" sz="1000" spc="75">
                <a:latin typeface="Times New Roman"/>
                <a:cs typeface="Times New Roman"/>
              </a:rPr>
              <a:t> </a:t>
            </a:r>
            <a:r>
              <a:rPr dirty="0" sz="1000">
                <a:latin typeface="Times New Roman"/>
                <a:cs typeface="Times New Roman"/>
              </a:rPr>
              <a:t>and</a:t>
            </a:r>
            <a:r>
              <a:rPr dirty="0" sz="1000" spc="70">
                <a:latin typeface="Times New Roman"/>
                <a:cs typeface="Times New Roman"/>
              </a:rPr>
              <a:t> </a:t>
            </a:r>
            <a:r>
              <a:rPr dirty="0" sz="1000">
                <a:latin typeface="Times New Roman"/>
                <a:cs typeface="Times New Roman"/>
              </a:rPr>
              <a:t>Qingming</a:t>
            </a:r>
            <a:r>
              <a:rPr dirty="0" sz="1000" spc="75">
                <a:latin typeface="Times New Roman"/>
                <a:cs typeface="Times New Roman"/>
              </a:rPr>
              <a:t> </a:t>
            </a:r>
            <a:r>
              <a:rPr dirty="0" sz="1000">
                <a:latin typeface="Times New Roman"/>
                <a:cs typeface="Times New Roman"/>
              </a:rPr>
              <a:t>Huang.</a:t>
            </a:r>
            <a:r>
              <a:rPr dirty="0" sz="1000" spc="204">
                <a:latin typeface="Times New Roman"/>
                <a:cs typeface="Times New Roman"/>
              </a:rPr>
              <a:t> </a:t>
            </a:r>
            <a:r>
              <a:rPr dirty="0" sz="1000">
                <a:latin typeface="Times New Roman"/>
                <a:cs typeface="Times New Roman"/>
              </a:rPr>
              <a:t>Reconboost:</a:t>
            </a:r>
            <a:r>
              <a:rPr dirty="0" sz="1000" spc="185">
                <a:latin typeface="Times New Roman"/>
                <a:cs typeface="Times New Roman"/>
              </a:rPr>
              <a:t> </a:t>
            </a:r>
            <a:r>
              <a:rPr dirty="0" sz="1000" spc="-10">
                <a:latin typeface="Times New Roman"/>
                <a:cs typeface="Times New Roman"/>
              </a:rPr>
              <a:t>Boosting </a:t>
            </a:r>
            <a:r>
              <a:rPr dirty="0" sz="1000">
                <a:latin typeface="Times New Roman"/>
                <a:cs typeface="Times New Roman"/>
              </a:rPr>
              <a:t>can</a:t>
            </a:r>
            <a:r>
              <a:rPr dirty="0" sz="1000" spc="75">
                <a:latin typeface="Times New Roman"/>
                <a:cs typeface="Times New Roman"/>
              </a:rPr>
              <a:t> </a:t>
            </a:r>
            <a:r>
              <a:rPr dirty="0" sz="1000">
                <a:latin typeface="Times New Roman"/>
                <a:cs typeface="Times New Roman"/>
              </a:rPr>
              <a:t>achieve</a:t>
            </a:r>
            <a:r>
              <a:rPr dirty="0" sz="1000" spc="80">
                <a:latin typeface="Times New Roman"/>
                <a:cs typeface="Times New Roman"/>
              </a:rPr>
              <a:t> </a:t>
            </a:r>
            <a:r>
              <a:rPr dirty="0" sz="1000">
                <a:latin typeface="Times New Roman"/>
                <a:cs typeface="Times New Roman"/>
              </a:rPr>
              <a:t>modality</a:t>
            </a:r>
            <a:r>
              <a:rPr dirty="0" sz="1000" spc="80">
                <a:latin typeface="Times New Roman"/>
                <a:cs typeface="Times New Roman"/>
              </a:rPr>
              <a:t> </a:t>
            </a:r>
            <a:r>
              <a:rPr dirty="0" sz="1000">
                <a:latin typeface="Times New Roman"/>
                <a:cs typeface="Times New Roman"/>
              </a:rPr>
              <a:t>reconcilement.</a:t>
            </a:r>
            <a:r>
              <a:rPr dirty="0" sz="1000" spc="190">
                <a:latin typeface="Times New Roman"/>
                <a:cs typeface="Times New Roman"/>
              </a:rPr>
              <a:t> </a:t>
            </a:r>
            <a:r>
              <a:rPr dirty="0" sz="1000">
                <a:latin typeface="Times New Roman"/>
                <a:cs typeface="Times New Roman"/>
              </a:rPr>
              <a:t>arXiv</a:t>
            </a:r>
            <a:r>
              <a:rPr dirty="0" sz="1000" spc="80">
                <a:latin typeface="Times New Roman"/>
                <a:cs typeface="Times New Roman"/>
              </a:rPr>
              <a:t> </a:t>
            </a:r>
            <a:r>
              <a:rPr dirty="0" sz="1000">
                <a:latin typeface="Times New Roman"/>
                <a:cs typeface="Times New Roman"/>
              </a:rPr>
              <a:t>preprint</a:t>
            </a:r>
            <a:r>
              <a:rPr dirty="0" sz="1000" spc="80">
                <a:latin typeface="Times New Roman"/>
                <a:cs typeface="Times New Roman"/>
              </a:rPr>
              <a:t> </a:t>
            </a:r>
            <a:r>
              <a:rPr dirty="0" sz="1000" spc="-10">
                <a:latin typeface="Times New Roman"/>
                <a:cs typeface="Times New Roman"/>
              </a:rPr>
              <a:t>arXiv:2405.09321,</a:t>
            </a:r>
            <a:r>
              <a:rPr dirty="0" sz="1000" spc="80">
                <a:latin typeface="Times New Roman"/>
                <a:cs typeface="Times New Roman"/>
              </a:rPr>
              <a:t> </a:t>
            </a:r>
            <a:r>
              <a:rPr dirty="0" sz="1000">
                <a:latin typeface="Times New Roman"/>
                <a:cs typeface="Times New Roman"/>
              </a:rPr>
              <a:t>2024.</a:t>
            </a:r>
            <a:r>
              <a:rPr dirty="0" sz="1000" spc="190">
                <a:latin typeface="Times New Roman"/>
                <a:cs typeface="Times New Roman"/>
              </a:rPr>
              <a:t> </a:t>
            </a:r>
            <a:r>
              <a:rPr dirty="0" sz="1000" spc="-25">
                <a:latin typeface="Times New Roman"/>
                <a:cs typeface="Times New Roman"/>
              </a:rPr>
              <a:t>1,3</a:t>
            </a:r>
            <a:endParaRPr sz="1000">
              <a:latin typeface="Times New Roman"/>
              <a:cs typeface="Times New Roman"/>
            </a:endParaRPr>
          </a:p>
          <a:p>
            <a:pPr>
              <a:lnSpc>
                <a:spcPct val="100000"/>
              </a:lnSpc>
              <a:spcBef>
                <a:spcPts val="580"/>
              </a:spcBef>
            </a:pPr>
            <a:endParaRPr sz="1000">
              <a:latin typeface="Times New Roman"/>
              <a:cs typeface="Times New Roman"/>
            </a:endParaRPr>
          </a:p>
          <a:p>
            <a:pPr algn="just" marL="192405">
              <a:lnSpc>
                <a:spcPct val="100000"/>
              </a:lnSpc>
            </a:pPr>
            <a:r>
              <a:rPr dirty="0" sz="1000">
                <a:latin typeface="Times New Roman"/>
                <a:cs typeface="Times New Roman"/>
              </a:rPr>
              <a:t>[14]</a:t>
            </a:r>
            <a:r>
              <a:rPr dirty="0" sz="1000" spc="195">
                <a:latin typeface="Times New Roman"/>
                <a:cs typeface="Times New Roman"/>
              </a:rPr>
              <a:t> </a:t>
            </a:r>
            <a:r>
              <a:rPr dirty="0" sz="1000" spc="-10">
                <a:latin typeface="SimSun"/>
                <a:cs typeface="SimSun"/>
              </a:rPr>
              <a:t>华聪、徐倩倩、鲍世龙、杨志勇、黄清明。</a:t>
            </a:r>
            <a:r>
              <a:rPr dirty="0" sz="1000">
                <a:latin typeface="Times New Roman"/>
                <a:cs typeface="Times New Roman"/>
              </a:rPr>
              <a:t>Reconboost:</a:t>
            </a:r>
            <a:r>
              <a:rPr dirty="0" sz="1000" spc="200">
                <a:latin typeface="Times New Roman"/>
                <a:cs typeface="Times New Roman"/>
              </a:rPr>
              <a:t> </a:t>
            </a:r>
            <a:r>
              <a:rPr dirty="0" sz="1000" spc="-10">
                <a:latin typeface="SimSun"/>
                <a:cs typeface="SimSun"/>
              </a:rPr>
              <a:t>提升可实现模态协调。</a:t>
            </a:r>
            <a:r>
              <a:rPr dirty="0" sz="1000">
                <a:latin typeface="Times New Roman"/>
                <a:cs typeface="Times New Roman"/>
              </a:rPr>
              <a:t>arXiv</a:t>
            </a:r>
            <a:r>
              <a:rPr dirty="0" sz="1000" spc="200">
                <a:latin typeface="Times New Roman"/>
                <a:cs typeface="Times New Roman"/>
              </a:rPr>
              <a:t> </a:t>
            </a:r>
            <a:r>
              <a:rPr dirty="0" sz="1000" spc="-20">
                <a:latin typeface="SimSun"/>
                <a:cs typeface="SimSun"/>
              </a:rPr>
              <a:t>预印本</a:t>
            </a:r>
            <a:endParaRPr sz="1000">
              <a:latin typeface="SimSun"/>
              <a:cs typeface="SimSun"/>
            </a:endParaRPr>
          </a:p>
          <a:p>
            <a:pPr marL="192405">
              <a:lnSpc>
                <a:spcPct val="100000"/>
              </a:lnSpc>
              <a:spcBef>
                <a:spcPts val="355"/>
              </a:spcBef>
            </a:pPr>
            <a:r>
              <a:rPr dirty="0" sz="1000" spc="-10">
                <a:latin typeface="Times New Roman"/>
                <a:cs typeface="Times New Roman"/>
              </a:rPr>
              <a:t>arXiv:2405.09321</a:t>
            </a:r>
            <a:r>
              <a:rPr dirty="0" sz="1000" spc="-10">
                <a:latin typeface="SimSun"/>
                <a:cs typeface="SimSun"/>
              </a:rPr>
              <a:t>，</a:t>
            </a:r>
            <a:r>
              <a:rPr dirty="0" sz="1000" spc="-10">
                <a:latin typeface="Times New Roman"/>
                <a:cs typeface="Times New Roman"/>
              </a:rPr>
              <a:t>2024 </a:t>
            </a:r>
            <a:r>
              <a:rPr dirty="0" sz="1000" spc="-10">
                <a:latin typeface="SimSun"/>
                <a:cs typeface="SimSun"/>
              </a:rPr>
              <a:t>年。</a:t>
            </a:r>
            <a:r>
              <a:rPr dirty="0" sz="1000" spc="-25">
                <a:latin typeface="Times New Roman"/>
                <a:cs typeface="Times New Roman"/>
              </a:rPr>
              <a:t>1</a:t>
            </a:r>
            <a:r>
              <a:rPr dirty="0" sz="1000" spc="-25">
                <a:latin typeface="SimSun"/>
                <a:cs typeface="SimSun"/>
              </a:rPr>
              <a:t>，</a:t>
            </a:r>
            <a:r>
              <a:rPr dirty="0" sz="1000" spc="-25">
                <a:latin typeface="Times New Roman"/>
                <a:cs typeface="Times New Roman"/>
              </a:rPr>
              <a:t>3</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spcBef>
                <a:spcPts val="5"/>
              </a:spcBef>
            </a:pPr>
            <a:r>
              <a:rPr dirty="0" sz="1000">
                <a:latin typeface="Times New Roman"/>
                <a:cs typeface="Times New Roman"/>
              </a:rPr>
              <a:t>[15]</a:t>
            </a:r>
            <a:r>
              <a:rPr dirty="0" sz="1000" spc="170">
                <a:latin typeface="Times New Roman"/>
                <a:cs typeface="Times New Roman"/>
              </a:rPr>
              <a:t> </a:t>
            </a:r>
            <a:r>
              <a:rPr dirty="0" sz="1000" spc="-20">
                <a:latin typeface="Times New Roman"/>
                <a:cs typeface="Times New Roman"/>
              </a:rPr>
              <a:t>Wen-</a:t>
            </a:r>
            <a:r>
              <a:rPr dirty="0" sz="1000">
                <a:latin typeface="Times New Roman"/>
                <a:cs typeface="Times New Roman"/>
              </a:rPr>
              <a:t>Da</a:t>
            </a:r>
            <a:r>
              <a:rPr dirty="0" sz="1000" spc="170">
                <a:latin typeface="Times New Roman"/>
                <a:cs typeface="Times New Roman"/>
              </a:rPr>
              <a:t> </a:t>
            </a:r>
            <a:r>
              <a:rPr dirty="0" sz="1000">
                <a:latin typeface="Times New Roman"/>
                <a:cs typeface="Times New Roman"/>
              </a:rPr>
              <a:t>Jin,</a:t>
            </a:r>
            <a:r>
              <a:rPr dirty="0" sz="1000" spc="200">
                <a:latin typeface="Times New Roman"/>
                <a:cs typeface="Times New Roman"/>
              </a:rPr>
              <a:t> </a:t>
            </a:r>
            <a:r>
              <a:rPr dirty="0" sz="1000">
                <a:latin typeface="Times New Roman"/>
                <a:cs typeface="Times New Roman"/>
              </a:rPr>
              <a:t>Jun</a:t>
            </a:r>
            <a:r>
              <a:rPr dirty="0" sz="1000" spc="175">
                <a:latin typeface="Times New Roman"/>
                <a:cs typeface="Times New Roman"/>
              </a:rPr>
              <a:t> </a:t>
            </a:r>
            <a:r>
              <a:rPr dirty="0" sz="1000">
                <a:latin typeface="Times New Roman"/>
                <a:cs typeface="Times New Roman"/>
              </a:rPr>
              <a:t>Xu,</a:t>
            </a:r>
            <a:r>
              <a:rPr dirty="0" sz="1000" spc="200">
                <a:latin typeface="Times New Roman"/>
                <a:cs typeface="Times New Roman"/>
              </a:rPr>
              <a:t> </a:t>
            </a:r>
            <a:r>
              <a:rPr dirty="0" sz="1000">
                <a:latin typeface="Times New Roman"/>
                <a:cs typeface="Times New Roman"/>
              </a:rPr>
              <a:t>Qi</a:t>
            </a:r>
            <a:r>
              <a:rPr dirty="0" sz="1000" spc="170">
                <a:latin typeface="Times New Roman"/>
                <a:cs typeface="Times New Roman"/>
              </a:rPr>
              <a:t> </a:t>
            </a:r>
            <a:r>
              <a:rPr dirty="0" sz="1000">
                <a:latin typeface="Times New Roman"/>
                <a:cs typeface="Times New Roman"/>
              </a:rPr>
              <a:t>Han,</a:t>
            </a:r>
            <a:r>
              <a:rPr dirty="0" sz="1000" spc="204">
                <a:latin typeface="Times New Roman"/>
                <a:cs typeface="Times New Roman"/>
              </a:rPr>
              <a:t> </a:t>
            </a:r>
            <a:r>
              <a:rPr dirty="0" sz="1000">
                <a:latin typeface="Times New Roman"/>
                <a:cs typeface="Times New Roman"/>
              </a:rPr>
              <a:t>Yi</a:t>
            </a:r>
            <a:r>
              <a:rPr dirty="0" sz="1000" spc="170">
                <a:latin typeface="Times New Roman"/>
                <a:cs typeface="Times New Roman"/>
              </a:rPr>
              <a:t> </a:t>
            </a:r>
            <a:r>
              <a:rPr dirty="0" sz="1000">
                <a:latin typeface="Times New Roman"/>
                <a:cs typeface="Times New Roman"/>
              </a:rPr>
              <a:t>Zhang,</a:t>
            </a:r>
            <a:r>
              <a:rPr dirty="0" sz="1000" spc="200">
                <a:latin typeface="Times New Roman"/>
                <a:cs typeface="Times New Roman"/>
              </a:rPr>
              <a:t> </a:t>
            </a:r>
            <a:r>
              <a:rPr dirty="0" sz="1000">
                <a:latin typeface="Times New Roman"/>
                <a:cs typeface="Times New Roman"/>
              </a:rPr>
              <a:t>and</a:t>
            </a:r>
            <a:r>
              <a:rPr dirty="0" sz="1000" spc="175">
                <a:latin typeface="Times New Roman"/>
                <a:cs typeface="Times New Roman"/>
              </a:rPr>
              <a:t> </a:t>
            </a:r>
            <a:r>
              <a:rPr dirty="0" sz="1000">
                <a:latin typeface="Times New Roman"/>
                <a:cs typeface="Times New Roman"/>
              </a:rPr>
              <a:t>Ming-Ming</a:t>
            </a:r>
            <a:r>
              <a:rPr dirty="0" sz="1000" spc="170">
                <a:latin typeface="Times New Roman"/>
                <a:cs typeface="Times New Roman"/>
              </a:rPr>
              <a:t> </a:t>
            </a:r>
            <a:r>
              <a:rPr dirty="0" sz="1000">
                <a:latin typeface="Times New Roman"/>
                <a:cs typeface="Times New Roman"/>
              </a:rPr>
              <a:t>Cheng.</a:t>
            </a:r>
            <a:r>
              <a:rPr dirty="0" sz="1000" spc="140">
                <a:latin typeface="Times New Roman"/>
                <a:cs typeface="Times New Roman"/>
              </a:rPr>
              <a:t>  </a:t>
            </a:r>
            <a:r>
              <a:rPr dirty="0" sz="1000">
                <a:latin typeface="Times New Roman"/>
                <a:cs typeface="Times New Roman"/>
              </a:rPr>
              <a:t>Cdnet:</a:t>
            </a:r>
            <a:r>
              <a:rPr dirty="0" sz="1000" spc="405">
                <a:latin typeface="Times New Roman"/>
                <a:cs typeface="Times New Roman"/>
              </a:rPr>
              <a:t> </a:t>
            </a:r>
            <a:r>
              <a:rPr dirty="0" sz="1000">
                <a:latin typeface="Times New Roman"/>
                <a:cs typeface="Times New Roman"/>
              </a:rPr>
              <a:t>Complementary</a:t>
            </a:r>
            <a:r>
              <a:rPr dirty="0" sz="1000" spc="170">
                <a:latin typeface="Times New Roman"/>
                <a:cs typeface="Times New Roman"/>
              </a:rPr>
              <a:t> </a:t>
            </a:r>
            <a:r>
              <a:rPr dirty="0" sz="1000" spc="-10">
                <a:latin typeface="Times New Roman"/>
                <a:cs typeface="Times New Roman"/>
              </a:rPr>
              <a:t>depth </a:t>
            </a:r>
            <a:r>
              <a:rPr dirty="0" sz="1000">
                <a:latin typeface="Times New Roman"/>
                <a:cs typeface="Times New Roman"/>
              </a:rPr>
              <a:t>network</a:t>
            </a:r>
            <a:r>
              <a:rPr dirty="0" sz="1000" spc="70">
                <a:latin typeface="Times New Roman"/>
                <a:cs typeface="Times New Roman"/>
              </a:rPr>
              <a:t> </a:t>
            </a:r>
            <a:r>
              <a:rPr dirty="0" sz="1000">
                <a:latin typeface="Times New Roman"/>
                <a:cs typeface="Times New Roman"/>
              </a:rPr>
              <a:t>for</a:t>
            </a:r>
            <a:r>
              <a:rPr dirty="0" sz="1000" spc="70">
                <a:latin typeface="Times New Roman"/>
                <a:cs typeface="Times New Roman"/>
              </a:rPr>
              <a:t> </a:t>
            </a:r>
            <a:r>
              <a:rPr dirty="0" sz="1000">
                <a:latin typeface="Times New Roman"/>
                <a:cs typeface="Times New Roman"/>
              </a:rPr>
              <a:t>rgb-d</a:t>
            </a:r>
            <a:r>
              <a:rPr dirty="0" sz="1000" spc="70">
                <a:latin typeface="Times New Roman"/>
                <a:cs typeface="Times New Roman"/>
              </a:rPr>
              <a:t> </a:t>
            </a:r>
            <a:r>
              <a:rPr dirty="0" sz="1000">
                <a:latin typeface="Times New Roman"/>
                <a:cs typeface="Times New Roman"/>
              </a:rPr>
              <a:t>salient</a:t>
            </a:r>
            <a:r>
              <a:rPr dirty="0" sz="1000" spc="70">
                <a:latin typeface="Times New Roman"/>
                <a:cs typeface="Times New Roman"/>
              </a:rPr>
              <a:t> </a:t>
            </a:r>
            <a:r>
              <a:rPr dirty="0" sz="1000">
                <a:latin typeface="Times New Roman"/>
                <a:cs typeface="Times New Roman"/>
              </a:rPr>
              <a:t>object</a:t>
            </a:r>
            <a:r>
              <a:rPr dirty="0" sz="1000" spc="75">
                <a:latin typeface="Times New Roman"/>
                <a:cs typeface="Times New Roman"/>
              </a:rPr>
              <a:t> </a:t>
            </a:r>
            <a:r>
              <a:rPr dirty="0" sz="1000">
                <a:latin typeface="Times New Roman"/>
                <a:cs typeface="Times New Roman"/>
              </a:rPr>
              <a:t>detection.</a:t>
            </a:r>
            <a:r>
              <a:rPr dirty="0" sz="1000" spc="180">
                <a:latin typeface="Times New Roman"/>
                <a:cs typeface="Times New Roman"/>
              </a:rPr>
              <a:t> </a:t>
            </a:r>
            <a:r>
              <a:rPr dirty="0" sz="1000">
                <a:latin typeface="Times New Roman"/>
                <a:cs typeface="Times New Roman"/>
              </a:rPr>
              <a:t>IEEE</a:t>
            </a:r>
            <a:r>
              <a:rPr dirty="0" sz="1000" spc="70">
                <a:latin typeface="Times New Roman"/>
                <a:cs typeface="Times New Roman"/>
              </a:rPr>
              <a:t> </a:t>
            </a:r>
            <a:r>
              <a:rPr dirty="0" sz="1000">
                <a:latin typeface="Times New Roman"/>
                <a:cs typeface="Times New Roman"/>
              </a:rPr>
              <a:t>Transactions</a:t>
            </a:r>
            <a:r>
              <a:rPr dirty="0" sz="1000" spc="70">
                <a:latin typeface="Times New Roman"/>
                <a:cs typeface="Times New Roman"/>
              </a:rPr>
              <a:t> </a:t>
            </a:r>
            <a:r>
              <a:rPr dirty="0" sz="1000">
                <a:latin typeface="Times New Roman"/>
                <a:cs typeface="Times New Roman"/>
              </a:rPr>
              <a:t>on</a:t>
            </a:r>
            <a:r>
              <a:rPr dirty="0" sz="1000" spc="75">
                <a:latin typeface="Times New Roman"/>
                <a:cs typeface="Times New Roman"/>
              </a:rPr>
              <a:t> </a:t>
            </a:r>
            <a:r>
              <a:rPr dirty="0" sz="1000">
                <a:latin typeface="Times New Roman"/>
                <a:cs typeface="Times New Roman"/>
              </a:rPr>
              <a:t>Image</a:t>
            </a:r>
            <a:r>
              <a:rPr dirty="0" sz="1000" spc="70">
                <a:latin typeface="Times New Roman"/>
                <a:cs typeface="Times New Roman"/>
              </a:rPr>
              <a:t> </a:t>
            </a:r>
            <a:r>
              <a:rPr dirty="0" sz="1000">
                <a:latin typeface="Times New Roman"/>
                <a:cs typeface="Times New Roman"/>
              </a:rPr>
              <a:t>Processing,</a:t>
            </a:r>
            <a:r>
              <a:rPr dirty="0" sz="1000" spc="70">
                <a:latin typeface="Times New Roman"/>
                <a:cs typeface="Times New Roman"/>
              </a:rPr>
              <a:t> </a:t>
            </a:r>
            <a:r>
              <a:rPr dirty="0" sz="1000" spc="-20">
                <a:latin typeface="Times New Roman"/>
                <a:cs typeface="Times New Roman"/>
              </a:rPr>
              <a:t>30:3376-</a:t>
            </a:r>
            <a:r>
              <a:rPr dirty="0" sz="1000" spc="-10">
                <a:latin typeface="Times New Roman"/>
                <a:cs typeface="Times New Roman"/>
              </a:rPr>
              <a:t>3390,</a:t>
            </a:r>
            <a:r>
              <a:rPr dirty="0" sz="1000" spc="70">
                <a:latin typeface="Times New Roman"/>
                <a:cs typeface="Times New Roman"/>
              </a:rPr>
              <a:t> </a:t>
            </a:r>
            <a:r>
              <a:rPr dirty="0" sz="1000">
                <a:latin typeface="Times New Roman"/>
                <a:cs typeface="Times New Roman"/>
              </a:rPr>
              <a:t>2021.</a:t>
            </a:r>
            <a:r>
              <a:rPr dirty="0" sz="1000" spc="185">
                <a:latin typeface="Times New Roman"/>
                <a:cs typeface="Times New Roman"/>
              </a:rPr>
              <a:t> </a:t>
            </a:r>
            <a:r>
              <a:rPr dirty="0" sz="1000" spc="-50">
                <a:latin typeface="Times New Roman"/>
                <a:cs typeface="Times New Roman"/>
              </a:rPr>
              <a:t>1</a:t>
            </a:r>
            <a:endParaRPr sz="1000">
              <a:latin typeface="Times New Roman"/>
              <a:cs typeface="Times New Roman"/>
            </a:endParaRPr>
          </a:p>
          <a:p>
            <a:pPr>
              <a:lnSpc>
                <a:spcPct val="100000"/>
              </a:lnSpc>
              <a:spcBef>
                <a:spcPts val="590"/>
              </a:spcBef>
            </a:pPr>
            <a:endParaRPr sz="1000">
              <a:latin typeface="Times New Roman"/>
              <a:cs typeface="Times New Roman"/>
            </a:endParaRPr>
          </a:p>
          <a:p>
            <a:pPr algn="just" marL="192405">
              <a:lnSpc>
                <a:spcPct val="100000"/>
              </a:lnSpc>
            </a:pPr>
            <a:r>
              <a:rPr dirty="0" sz="1000">
                <a:latin typeface="Times New Roman"/>
                <a:cs typeface="Times New Roman"/>
              </a:rPr>
              <a:t>[15]</a:t>
            </a:r>
            <a:r>
              <a:rPr dirty="0" sz="1000" spc="-5">
                <a:latin typeface="Times New Roman"/>
                <a:cs typeface="Times New Roman"/>
              </a:rPr>
              <a:t> </a:t>
            </a:r>
            <a:r>
              <a:rPr dirty="0" sz="1000" spc="-85">
                <a:latin typeface="SimSun"/>
                <a:cs typeface="SimSun"/>
              </a:rPr>
              <a:t>金文达、徐军、韩琦、张毅、程明明。</a:t>
            </a:r>
            <a:r>
              <a:rPr dirty="0" sz="1000">
                <a:latin typeface="Times New Roman"/>
                <a:cs typeface="Times New Roman"/>
              </a:rPr>
              <a:t>Cdnet: </a:t>
            </a:r>
            <a:r>
              <a:rPr dirty="0" sz="1000" spc="95">
                <a:latin typeface="SimSun"/>
                <a:cs typeface="SimSun"/>
              </a:rPr>
              <a:t>用于</a:t>
            </a:r>
            <a:r>
              <a:rPr dirty="0" sz="1000">
                <a:latin typeface="Times New Roman"/>
                <a:cs typeface="Times New Roman"/>
              </a:rPr>
              <a:t>rgb</a:t>
            </a:r>
            <a:r>
              <a:rPr dirty="0" sz="1000" spc="-10">
                <a:latin typeface="Times New Roman"/>
                <a:cs typeface="Times New Roman"/>
              </a:rPr>
              <a:t> - </a:t>
            </a:r>
            <a:r>
              <a:rPr dirty="0" sz="1000">
                <a:latin typeface="Times New Roman"/>
                <a:cs typeface="Times New Roman"/>
              </a:rPr>
              <a:t>d </a:t>
            </a:r>
            <a:r>
              <a:rPr dirty="0" sz="1000" spc="-10">
                <a:latin typeface="SimSun"/>
                <a:cs typeface="SimSun"/>
              </a:rPr>
              <a:t>显著目标检测的互补深度网络</a:t>
            </a:r>
            <a:r>
              <a:rPr dirty="0" sz="1000" spc="-350">
                <a:latin typeface="SimSun"/>
                <a:cs typeface="SimSun"/>
              </a:rPr>
              <a:t>。《</a:t>
            </a:r>
            <a:r>
              <a:rPr dirty="0" sz="1000" spc="-20">
                <a:latin typeface="Times New Roman"/>
                <a:cs typeface="Times New Roman"/>
              </a:rPr>
              <a:t>IEEE</a:t>
            </a:r>
            <a:endParaRPr sz="1000">
              <a:latin typeface="Times New Roman"/>
              <a:cs typeface="Times New Roman"/>
            </a:endParaRPr>
          </a:p>
          <a:p>
            <a:pPr marL="192405">
              <a:lnSpc>
                <a:spcPct val="100000"/>
              </a:lnSpc>
              <a:spcBef>
                <a:spcPts val="355"/>
              </a:spcBef>
            </a:pPr>
            <a:r>
              <a:rPr dirty="0" sz="1000" spc="-80">
                <a:latin typeface="SimSun"/>
                <a:cs typeface="SimSun"/>
              </a:rPr>
              <a:t>图像处理汇刊》，</a:t>
            </a:r>
            <a:r>
              <a:rPr dirty="0" sz="1000" spc="-20">
                <a:latin typeface="Times New Roman"/>
                <a:cs typeface="Times New Roman"/>
              </a:rPr>
              <a:t>30:3376</a:t>
            </a:r>
            <a:r>
              <a:rPr dirty="0" sz="1000" spc="-10">
                <a:latin typeface="Times New Roman"/>
                <a:cs typeface="Times New Roman"/>
              </a:rPr>
              <a:t> - 3390</a:t>
            </a:r>
            <a:r>
              <a:rPr dirty="0" sz="1000" spc="-10">
                <a:latin typeface="SimSun"/>
                <a:cs typeface="SimSun"/>
              </a:rPr>
              <a:t>，</a:t>
            </a:r>
            <a:r>
              <a:rPr dirty="0" sz="1000" spc="-10">
                <a:latin typeface="Times New Roman"/>
                <a:cs typeface="Times New Roman"/>
              </a:rPr>
              <a:t>2021</a:t>
            </a:r>
            <a:r>
              <a:rPr dirty="0" sz="1000" spc="-15">
                <a:latin typeface="Times New Roman"/>
                <a:cs typeface="Times New Roman"/>
              </a:rPr>
              <a:t> </a:t>
            </a:r>
            <a:r>
              <a:rPr dirty="0" sz="1000" spc="-10">
                <a:latin typeface="SimSun"/>
                <a:cs typeface="SimSun"/>
              </a:rPr>
              <a:t>年。</a:t>
            </a:r>
            <a:r>
              <a:rPr dirty="0" sz="1000" spc="-50">
                <a:latin typeface="Times New Roman"/>
                <a:cs typeface="Times New Roman"/>
              </a:rPr>
              <a:t>1</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[16]</a:t>
            </a:r>
            <a:r>
              <a:rPr dirty="0" sz="1000" spc="110">
                <a:latin typeface="Times New Roman"/>
                <a:cs typeface="Times New Roman"/>
              </a:rPr>
              <a:t> </a:t>
            </a:r>
            <a:r>
              <a:rPr dirty="0" sz="1000">
                <a:latin typeface="Times New Roman"/>
                <a:cs typeface="Times New Roman"/>
              </a:rPr>
              <a:t>Hamid</a:t>
            </a:r>
            <a:r>
              <a:rPr dirty="0" sz="1000" spc="114">
                <a:latin typeface="Times New Roman"/>
                <a:cs typeface="Times New Roman"/>
              </a:rPr>
              <a:t> </a:t>
            </a:r>
            <a:r>
              <a:rPr dirty="0" sz="1000">
                <a:latin typeface="Times New Roman"/>
                <a:cs typeface="Times New Roman"/>
              </a:rPr>
              <a:t>Reza</a:t>
            </a:r>
            <a:r>
              <a:rPr dirty="0" sz="1000" spc="105">
                <a:latin typeface="Times New Roman"/>
                <a:cs typeface="Times New Roman"/>
              </a:rPr>
              <a:t> </a:t>
            </a:r>
            <a:r>
              <a:rPr dirty="0" sz="1000">
                <a:latin typeface="Times New Roman"/>
                <a:cs typeface="Times New Roman"/>
              </a:rPr>
              <a:t>Vaezi</a:t>
            </a:r>
            <a:r>
              <a:rPr dirty="0" sz="1000" spc="105">
                <a:latin typeface="Times New Roman"/>
                <a:cs typeface="Times New Roman"/>
              </a:rPr>
              <a:t> </a:t>
            </a:r>
            <a:r>
              <a:rPr dirty="0" sz="1000">
                <a:latin typeface="Times New Roman"/>
                <a:cs typeface="Times New Roman"/>
              </a:rPr>
              <a:t>Joze,</a:t>
            </a:r>
            <a:r>
              <a:rPr dirty="0" sz="1000" spc="130">
                <a:latin typeface="Times New Roman"/>
                <a:cs typeface="Times New Roman"/>
              </a:rPr>
              <a:t> </a:t>
            </a:r>
            <a:r>
              <a:rPr dirty="0" sz="1000">
                <a:latin typeface="Times New Roman"/>
                <a:cs typeface="Times New Roman"/>
              </a:rPr>
              <a:t>Amirreza</a:t>
            </a:r>
            <a:r>
              <a:rPr dirty="0" sz="1000" spc="105">
                <a:latin typeface="Times New Roman"/>
                <a:cs typeface="Times New Roman"/>
              </a:rPr>
              <a:t> </a:t>
            </a:r>
            <a:r>
              <a:rPr dirty="0" sz="1000">
                <a:latin typeface="Times New Roman"/>
                <a:cs typeface="Times New Roman"/>
              </a:rPr>
              <a:t>Shaban,</a:t>
            </a:r>
            <a:r>
              <a:rPr dirty="0" sz="1000" spc="125">
                <a:latin typeface="Times New Roman"/>
                <a:cs typeface="Times New Roman"/>
              </a:rPr>
              <a:t> </a:t>
            </a:r>
            <a:r>
              <a:rPr dirty="0" sz="1000">
                <a:latin typeface="Times New Roman"/>
                <a:cs typeface="Times New Roman"/>
              </a:rPr>
              <a:t>Michael</a:t>
            </a:r>
            <a:r>
              <a:rPr dirty="0" sz="1000" spc="114">
                <a:latin typeface="Times New Roman"/>
                <a:cs typeface="Times New Roman"/>
              </a:rPr>
              <a:t> </a:t>
            </a:r>
            <a:r>
              <a:rPr dirty="0" sz="1000">
                <a:latin typeface="Times New Roman"/>
                <a:cs typeface="Times New Roman"/>
              </a:rPr>
              <a:t>L</a:t>
            </a:r>
            <a:r>
              <a:rPr dirty="0" sz="1000" spc="110">
                <a:latin typeface="Times New Roman"/>
                <a:cs typeface="Times New Roman"/>
              </a:rPr>
              <a:t> </a:t>
            </a:r>
            <a:r>
              <a:rPr dirty="0" sz="1000">
                <a:latin typeface="Times New Roman"/>
                <a:cs typeface="Times New Roman"/>
              </a:rPr>
              <a:t>Iuz-zolino,</a:t>
            </a:r>
            <a:r>
              <a:rPr dirty="0" sz="1000" spc="130">
                <a:latin typeface="Times New Roman"/>
                <a:cs typeface="Times New Roman"/>
              </a:rPr>
              <a:t> </a:t>
            </a:r>
            <a:r>
              <a:rPr dirty="0" sz="1000">
                <a:latin typeface="Times New Roman"/>
                <a:cs typeface="Times New Roman"/>
              </a:rPr>
              <a:t>and</a:t>
            </a:r>
            <a:r>
              <a:rPr dirty="0" sz="1000" spc="110">
                <a:latin typeface="Times New Roman"/>
                <a:cs typeface="Times New Roman"/>
              </a:rPr>
              <a:t> </a:t>
            </a:r>
            <a:r>
              <a:rPr dirty="0" sz="1000">
                <a:latin typeface="Times New Roman"/>
                <a:cs typeface="Times New Roman"/>
              </a:rPr>
              <a:t>Kazuhito</a:t>
            </a:r>
            <a:r>
              <a:rPr dirty="0" sz="1000" spc="114">
                <a:latin typeface="Times New Roman"/>
                <a:cs typeface="Times New Roman"/>
              </a:rPr>
              <a:t> </a:t>
            </a:r>
            <a:r>
              <a:rPr dirty="0" sz="1000">
                <a:latin typeface="Times New Roman"/>
                <a:cs typeface="Times New Roman"/>
              </a:rPr>
              <a:t>Koishida.</a:t>
            </a:r>
            <a:r>
              <a:rPr dirty="0" sz="1000" spc="330">
                <a:latin typeface="Times New Roman"/>
                <a:cs typeface="Times New Roman"/>
              </a:rPr>
              <a:t> </a:t>
            </a:r>
            <a:r>
              <a:rPr dirty="0" sz="1000" spc="-10">
                <a:latin typeface="Times New Roman"/>
                <a:cs typeface="Times New Roman"/>
              </a:rPr>
              <a:t>Mmtm: </a:t>
            </a:r>
            <a:r>
              <a:rPr dirty="0" sz="1000" spc="10">
                <a:latin typeface="Times New Roman"/>
                <a:cs typeface="Times New Roman"/>
              </a:rPr>
              <a:t>Multimodal</a:t>
            </a:r>
            <a:r>
              <a:rPr dirty="0" sz="1000" spc="40">
                <a:latin typeface="Times New Roman"/>
                <a:cs typeface="Times New Roman"/>
              </a:rPr>
              <a:t> </a:t>
            </a:r>
            <a:r>
              <a:rPr dirty="0" sz="1000" spc="10">
                <a:latin typeface="Times New Roman"/>
                <a:cs typeface="Times New Roman"/>
              </a:rPr>
              <a:t>transfer</a:t>
            </a:r>
            <a:r>
              <a:rPr dirty="0" sz="1000" spc="45">
                <a:latin typeface="Times New Roman"/>
                <a:cs typeface="Times New Roman"/>
              </a:rPr>
              <a:t> </a:t>
            </a:r>
            <a:r>
              <a:rPr dirty="0" sz="1000" spc="10">
                <a:latin typeface="Times New Roman"/>
                <a:cs typeface="Times New Roman"/>
              </a:rPr>
              <a:t>module</a:t>
            </a:r>
            <a:r>
              <a:rPr dirty="0" sz="1000" spc="45">
                <a:latin typeface="Times New Roman"/>
                <a:cs typeface="Times New Roman"/>
              </a:rPr>
              <a:t> </a:t>
            </a:r>
            <a:r>
              <a:rPr dirty="0" sz="1000" spc="10">
                <a:latin typeface="Times New Roman"/>
                <a:cs typeface="Times New Roman"/>
              </a:rPr>
              <a:t>for</a:t>
            </a:r>
            <a:r>
              <a:rPr dirty="0" sz="1000" spc="45">
                <a:latin typeface="Times New Roman"/>
                <a:cs typeface="Times New Roman"/>
              </a:rPr>
              <a:t> </a:t>
            </a:r>
            <a:r>
              <a:rPr dirty="0" sz="1000" spc="10">
                <a:latin typeface="Times New Roman"/>
                <a:cs typeface="Times New Roman"/>
              </a:rPr>
              <a:t>cnn</a:t>
            </a:r>
            <a:r>
              <a:rPr dirty="0" sz="1000" spc="40">
                <a:latin typeface="Times New Roman"/>
                <a:cs typeface="Times New Roman"/>
              </a:rPr>
              <a:t> </a:t>
            </a:r>
            <a:r>
              <a:rPr dirty="0" sz="1000" spc="10">
                <a:latin typeface="Times New Roman"/>
                <a:cs typeface="Times New Roman"/>
              </a:rPr>
              <a:t>fusion.</a:t>
            </a:r>
            <a:r>
              <a:rPr dirty="0" sz="1000" spc="160">
                <a:latin typeface="Times New Roman"/>
                <a:cs typeface="Times New Roman"/>
              </a:rPr>
              <a:t> </a:t>
            </a:r>
            <a:r>
              <a:rPr dirty="0" sz="1000" spc="10">
                <a:latin typeface="Times New Roman"/>
                <a:cs typeface="Times New Roman"/>
              </a:rPr>
              <a:t>In</a:t>
            </a:r>
            <a:r>
              <a:rPr dirty="0" sz="1000" spc="40">
                <a:latin typeface="Times New Roman"/>
                <a:cs typeface="Times New Roman"/>
              </a:rPr>
              <a:t> </a:t>
            </a:r>
            <a:r>
              <a:rPr dirty="0" sz="1000" spc="10">
                <a:latin typeface="Times New Roman"/>
                <a:cs typeface="Times New Roman"/>
              </a:rPr>
              <a:t>Proceedings</a:t>
            </a:r>
            <a:r>
              <a:rPr dirty="0" sz="1000" spc="45">
                <a:latin typeface="Times New Roman"/>
                <a:cs typeface="Times New Roman"/>
              </a:rPr>
              <a:t> </a:t>
            </a:r>
            <a:r>
              <a:rPr dirty="0" sz="1000">
                <a:latin typeface="Times New Roman"/>
                <a:cs typeface="Times New Roman"/>
              </a:rPr>
              <a:t>of</a:t>
            </a:r>
            <a:r>
              <a:rPr dirty="0" sz="1000" spc="45">
                <a:latin typeface="Times New Roman"/>
                <a:cs typeface="Times New Roman"/>
              </a:rPr>
              <a:t> </a:t>
            </a:r>
            <a:r>
              <a:rPr dirty="0" sz="1000" spc="10">
                <a:latin typeface="Times New Roman"/>
                <a:cs typeface="Times New Roman"/>
              </a:rPr>
              <a:t>the</a:t>
            </a:r>
            <a:r>
              <a:rPr dirty="0" sz="1000" spc="45">
                <a:latin typeface="Times New Roman"/>
                <a:cs typeface="Times New Roman"/>
              </a:rPr>
              <a:t> </a:t>
            </a:r>
            <a:r>
              <a:rPr dirty="0" sz="1000" spc="10">
                <a:latin typeface="Times New Roman"/>
                <a:cs typeface="Times New Roman"/>
              </a:rPr>
              <a:t>IEEE/CVF</a:t>
            </a:r>
            <a:r>
              <a:rPr dirty="0" sz="1000" spc="40">
                <a:latin typeface="Times New Roman"/>
                <a:cs typeface="Times New Roman"/>
              </a:rPr>
              <a:t> </a:t>
            </a:r>
            <a:r>
              <a:rPr dirty="0" sz="1000" spc="10">
                <a:latin typeface="Times New Roman"/>
                <a:cs typeface="Times New Roman"/>
              </a:rPr>
              <a:t>conference</a:t>
            </a:r>
            <a:r>
              <a:rPr dirty="0" sz="1000" spc="45">
                <a:latin typeface="Times New Roman"/>
                <a:cs typeface="Times New Roman"/>
              </a:rPr>
              <a:t> </a:t>
            </a:r>
            <a:r>
              <a:rPr dirty="0" sz="1000" spc="10">
                <a:latin typeface="Times New Roman"/>
                <a:cs typeface="Times New Roman"/>
              </a:rPr>
              <a:t>on</a:t>
            </a:r>
            <a:r>
              <a:rPr dirty="0" sz="1000" spc="45">
                <a:latin typeface="Times New Roman"/>
                <a:cs typeface="Times New Roman"/>
              </a:rPr>
              <a:t> </a:t>
            </a:r>
            <a:r>
              <a:rPr dirty="0" sz="1000" spc="10">
                <a:latin typeface="Times New Roman"/>
                <a:cs typeface="Times New Roman"/>
              </a:rPr>
              <a:t>computer</a:t>
            </a:r>
            <a:r>
              <a:rPr dirty="0" sz="1000" spc="45">
                <a:latin typeface="Times New Roman"/>
                <a:cs typeface="Times New Roman"/>
              </a:rPr>
              <a:t> </a:t>
            </a:r>
            <a:r>
              <a:rPr dirty="0" sz="1000" spc="-10">
                <a:latin typeface="Times New Roman"/>
                <a:cs typeface="Times New Roman"/>
              </a:rPr>
              <a:t>vision </a:t>
            </a:r>
            <a:r>
              <a:rPr dirty="0" sz="1000">
                <a:latin typeface="Times New Roman"/>
                <a:cs typeface="Times New Roman"/>
              </a:rPr>
              <a:t>and</a:t>
            </a:r>
            <a:r>
              <a:rPr dirty="0" sz="1000" spc="70">
                <a:latin typeface="Times New Roman"/>
                <a:cs typeface="Times New Roman"/>
              </a:rPr>
              <a:t> </a:t>
            </a:r>
            <a:r>
              <a:rPr dirty="0" sz="1000">
                <a:latin typeface="Times New Roman"/>
                <a:cs typeface="Times New Roman"/>
              </a:rPr>
              <a:t>pattern</a:t>
            </a:r>
            <a:r>
              <a:rPr dirty="0" sz="1000" spc="75">
                <a:latin typeface="Times New Roman"/>
                <a:cs typeface="Times New Roman"/>
              </a:rPr>
              <a:t> </a:t>
            </a:r>
            <a:r>
              <a:rPr dirty="0" sz="1000">
                <a:latin typeface="Times New Roman"/>
                <a:cs typeface="Times New Roman"/>
              </a:rPr>
              <a:t>recognition,</a:t>
            </a:r>
            <a:r>
              <a:rPr dirty="0" sz="1000" spc="75">
                <a:latin typeface="Times New Roman"/>
                <a:cs typeface="Times New Roman"/>
              </a:rPr>
              <a:t> </a:t>
            </a:r>
            <a:r>
              <a:rPr dirty="0" sz="1000">
                <a:latin typeface="Times New Roman"/>
                <a:cs typeface="Times New Roman"/>
              </a:rPr>
              <a:t>pages</a:t>
            </a:r>
            <a:r>
              <a:rPr dirty="0" sz="1000" spc="75">
                <a:latin typeface="Times New Roman"/>
                <a:cs typeface="Times New Roman"/>
              </a:rPr>
              <a:t> </a:t>
            </a:r>
            <a:r>
              <a:rPr dirty="0" sz="1000" spc="-10">
                <a:latin typeface="Times New Roman"/>
                <a:cs typeface="Times New Roman"/>
              </a:rPr>
              <a:t>13289-13299,</a:t>
            </a:r>
            <a:r>
              <a:rPr dirty="0" sz="1000" spc="75">
                <a:latin typeface="Times New Roman"/>
                <a:cs typeface="Times New Roman"/>
              </a:rPr>
              <a:t> </a:t>
            </a:r>
            <a:r>
              <a:rPr dirty="0" sz="1000">
                <a:latin typeface="Times New Roman"/>
                <a:cs typeface="Times New Roman"/>
              </a:rPr>
              <a:t>2020.</a:t>
            </a:r>
            <a:r>
              <a:rPr dirty="0" sz="1000" spc="190">
                <a:latin typeface="Times New Roman"/>
                <a:cs typeface="Times New Roman"/>
              </a:rPr>
              <a:t> </a:t>
            </a:r>
            <a:r>
              <a:rPr dirty="0" sz="1000" spc="-50">
                <a:latin typeface="Times New Roman"/>
                <a:cs typeface="Times New Roman"/>
              </a:rPr>
              <a:t>7</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a:lnSpc>
                <a:spcPct val="129500"/>
              </a:lnSpc>
            </a:pPr>
            <a:r>
              <a:rPr dirty="0" sz="1000">
                <a:latin typeface="Times New Roman"/>
                <a:cs typeface="Times New Roman"/>
              </a:rPr>
              <a:t>[16]</a:t>
            </a:r>
            <a:r>
              <a:rPr dirty="0" sz="1000" spc="-15">
                <a:latin typeface="Times New Roman"/>
                <a:cs typeface="Times New Roman"/>
              </a:rPr>
              <a:t> </a:t>
            </a:r>
            <a:r>
              <a:rPr dirty="0" sz="1000" spc="-10">
                <a:latin typeface="SimSun"/>
                <a:cs typeface="SimSun"/>
              </a:rPr>
              <a:t>哈米德</a:t>
            </a:r>
            <a:r>
              <a:rPr dirty="0" sz="1000" spc="-680">
                <a:latin typeface="SimSun"/>
                <a:cs typeface="SimSun"/>
              </a:rPr>
              <a:t>·</a:t>
            </a:r>
            <a:r>
              <a:rPr dirty="0" sz="1000" spc="-10">
                <a:latin typeface="SimSun"/>
                <a:cs typeface="SimSun"/>
              </a:rPr>
              <a:t>礼萨</a:t>
            </a:r>
            <a:r>
              <a:rPr dirty="0" sz="1000" spc="-680">
                <a:latin typeface="SimSun"/>
                <a:cs typeface="SimSun"/>
              </a:rPr>
              <a:t>·</a:t>
            </a:r>
            <a:r>
              <a:rPr dirty="0" sz="1000" spc="-10">
                <a:latin typeface="SimSun"/>
                <a:cs typeface="SimSun"/>
              </a:rPr>
              <a:t>瓦埃齐</a:t>
            </a:r>
            <a:r>
              <a:rPr dirty="0" sz="1000" spc="-680">
                <a:latin typeface="SimSun"/>
                <a:cs typeface="SimSun"/>
              </a:rPr>
              <a:t>·</a:t>
            </a:r>
            <a:r>
              <a:rPr dirty="0" sz="1000" spc="-60">
                <a:latin typeface="SimSun"/>
                <a:cs typeface="SimSun"/>
              </a:rPr>
              <a:t>乔泽、阿米雷扎</a:t>
            </a:r>
            <a:r>
              <a:rPr dirty="0" sz="1000" spc="-340">
                <a:latin typeface="SimSun"/>
                <a:cs typeface="SimSun"/>
              </a:rPr>
              <a:t>·</a:t>
            </a:r>
            <a:r>
              <a:rPr dirty="0" sz="1000" spc="-10">
                <a:latin typeface="SimSun"/>
                <a:cs typeface="SimSun"/>
              </a:rPr>
              <a:t>沙班、迈克尔</a:t>
            </a:r>
            <a:r>
              <a:rPr dirty="0" sz="1000" spc="-355">
                <a:latin typeface="SimSun"/>
                <a:cs typeface="SimSun"/>
              </a:rPr>
              <a:t>·</a:t>
            </a:r>
            <a:r>
              <a:rPr dirty="0" sz="1000" spc="-355">
                <a:latin typeface="Times New Roman"/>
                <a:cs typeface="Times New Roman"/>
              </a:rPr>
              <a:t>L</a:t>
            </a:r>
            <a:r>
              <a:rPr dirty="0" sz="1000" spc="-355">
                <a:latin typeface="SimSun"/>
                <a:cs typeface="SimSun"/>
              </a:rPr>
              <a:t>·</a:t>
            </a:r>
            <a:r>
              <a:rPr dirty="0" sz="1000" spc="-60">
                <a:latin typeface="SimSun"/>
                <a:cs typeface="SimSun"/>
              </a:rPr>
              <a:t>尤兹</a:t>
            </a:r>
            <a:r>
              <a:rPr dirty="0" sz="1000" spc="-25">
                <a:latin typeface="Times New Roman"/>
                <a:cs typeface="Times New Roman"/>
              </a:rPr>
              <a:t>- </a:t>
            </a:r>
            <a:r>
              <a:rPr dirty="0" sz="1000" spc="-10">
                <a:latin typeface="SimSun"/>
                <a:cs typeface="SimSun"/>
              </a:rPr>
              <a:t>佐利诺、小出一仁。</a:t>
            </a:r>
            <a:r>
              <a:rPr dirty="0" sz="1000" spc="25">
                <a:latin typeface="Times New Roman"/>
                <a:cs typeface="Times New Roman"/>
              </a:rPr>
              <a:t>Mmtm:</a:t>
            </a:r>
            <a:r>
              <a:rPr dirty="0" sz="1000" spc="-15">
                <a:latin typeface="Times New Roman"/>
                <a:cs typeface="Times New Roman"/>
              </a:rPr>
              <a:t> </a:t>
            </a:r>
            <a:r>
              <a:rPr dirty="0" sz="1000" spc="-10">
                <a:latin typeface="SimSun"/>
                <a:cs typeface="SimSun"/>
              </a:rPr>
              <a:t>用于</a:t>
            </a:r>
            <a:r>
              <a:rPr dirty="0" sz="1000" spc="-5">
                <a:latin typeface="SimSun"/>
                <a:cs typeface="SimSun"/>
              </a:rPr>
              <a:t> </a:t>
            </a:r>
            <a:r>
              <a:rPr dirty="0" sz="1000" spc="40">
                <a:latin typeface="Times New Roman"/>
                <a:cs typeface="Times New Roman"/>
              </a:rPr>
              <a:t>cnn</a:t>
            </a:r>
            <a:r>
              <a:rPr dirty="0" sz="1000" spc="-25">
                <a:latin typeface="Times New Roman"/>
                <a:cs typeface="Times New Roman"/>
              </a:rPr>
              <a:t> </a:t>
            </a:r>
            <a:r>
              <a:rPr dirty="0" sz="1000">
                <a:latin typeface="SimSun"/>
                <a:cs typeface="SimSun"/>
              </a:rPr>
              <a:t>融合的多模态转移模块。在</a:t>
            </a:r>
            <a:r>
              <a:rPr dirty="0" sz="1000" spc="15">
                <a:latin typeface="Times New Roman"/>
                <a:cs typeface="Times New Roman"/>
              </a:rPr>
              <a:t>IEEE/CVF</a:t>
            </a:r>
            <a:r>
              <a:rPr dirty="0" sz="1000" spc="-25">
                <a:latin typeface="Times New Roman"/>
                <a:cs typeface="Times New Roman"/>
              </a:rPr>
              <a:t> </a:t>
            </a:r>
            <a:r>
              <a:rPr dirty="0" sz="1000" spc="-30">
                <a:latin typeface="SimSun"/>
                <a:cs typeface="SimSun"/>
              </a:rPr>
              <a:t>计算机视觉与模式识别会议论文集上，第 </a:t>
            </a:r>
            <a:r>
              <a:rPr dirty="0" sz="1000" spc="-10">
                <a:latin typeface="Times New Roman"/>
                <a:cs typeface="Times New Roman"/>
              </a:rPr>
              <a:t>13289</a:t>
            </a:r>
            <a:r>
              <a:rPr dirty="0" sz="1000" spc="-30">
                <a:latin typeface="Times New Roman"/>
                <a:cs typeface="Times New Roman"/>
              </a:rPr>
              <a:t> - </a:t>
            </a:r>
            <a:r>
              <a:rPr dirty="0" sz="1000" spc="-10">
                <a:latin typeface="Times New Roman"/>
                <a:cs typeface="Times New Roman"/>
              </a:rPr>
              <a:t>13299</a:t>
            </a:r>
            <a:r>
              <a:rPr dirty="0" sz="1000" spc="-10">
                <a:latin typeface="SimSun"/>
                <a:cs typeface="SimSun"/>
              </a:rPr>
              <a:t>页，</a:t>
            </a:r>
            <a:r>
              <a:rPr dirty="0" sz="1000" spc="-10">
                <a:latin typeface="Times New Roman"/>
                <a:cs typeface="Times New Roman"/>
              </a:rPr>
              <a:t>2020</a:t>
            </a:r>
            <a:r>
              <a:rPr dirty="0" sz="1000" spc="-20">
                <a:latin typeface="Times New Roman"/>
                <a:cs typeface="Times New Roman"/>
              </a:rPr>
              <a:t> </a:t>
            </a:r>
            <a:r>
              <a:rPr dirty="0" sz="1000" spc="-10">
                <a:latin typeface="SimSun"/>
                <a:cs typeface="SimSun"/>
              </a:rPr>
              <a:t>年。</a:t>
            </a:r>
            <a:r>
              <a:rPr dirty="0" sz="1000" spc="-10">
                <a:latin typeface="Times New Roman"/>
                <a:cs typeface="Times New Roman"/>
              </a:rPr>
              <a:t>7</a:t>
            </a:r>
            <a:endParaRPr sz="1000">
              <a:latin typeface="Times New Roman"/>
              <a:cs typeface="Times New Roman"/>
            </a:endParaRPr>
          </a:p>
          <a:p>
            <a:pPr>
              <a:lnSpc>
                <a:spcPct val="100000"/>
              </a:lnSpc>
              <a:spcBef>
                <a:spcPts val="210"/>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[17]</a:t>
            </a:r>
            <a:r>
              <a:rPr dirty="0" sz="1000" spc="25">
                <a:latin typeface="Times New Roman"/>
                <a:cs typeface="Times New Roman"/>
              </a:rPr>
              <a:t> </a:t>
            </a:r>
            <a:r>
              <a:rPr dirty="0" sz="1000">
                <a:latin typeface="Times New Roman"/>
                <a:cs typeface="Times New Roman"/>
              </a:rPr>
              <a:t>Hong</a:t>
            </a:r>
            <a:r>
              <a:rPr dirty="0" sz="1000" spc="30">
                <a:latin typeface="Times New Roman"/>
                <a:cs typeface="Times New Roman"/>
              </a:rPr>
              <a:t> </a:t>
            </a:r>
            <a:r>
              <a:rPr dirty="0" sz="1000" spc="-10">
                <a:latin typeface="Times New Roman"/>
                <a:cs typeface="Times New Roman"/>
              </a:rPr>
              <a:t>Li,</a:t>
            </a:r>
            <a:r>
              <a:rPr dirty="0" sz="1000" spc="35">
                <a:latin typeface="Times New Roman"/>
                <a:cs typeface="Times New Roman"/>
              </a:rPr>
              <a:t> </a:t>
            </a:r>
            <a:r>
              <a:rPr dirty="0" sz="1000">
                <a:latin typeface="Times New Roman"/>
                <a:cs typeface="Times New Roman"/>
              </a:rPr>
              <a:t>Xingyu</a:t>
            </a:r>
            <a:r>
              <a:rPr dirty="0" sz="1000" spc="25">
                <a:latin typeface="Times New Roman"/>
                <a:cs typeface="Times New Roman"/>
              </a:rPr>
              <a:t> </a:t>
            </a:r>
            <a:r>
              <a:rPr dirty="0" sz="1000" spc="-10">
                <a:latin typeface="Times New Roman"/>
                <a:cs typeface="Times New Roman"/>
              </a:rPr>
              <a:t>Li,</a:t>
            </a:r>
            <a:r>
              <a:rPr dirty="0" sz="1000" spc="35">
                <a:latin typeface="Times New Roman"/>
                <a:cs typeface="Times New Roman"/>
              </a:rPr>
              <a:t> </a:t>
            </a:r>
            <a:r>
              <a:rPr dirty="0" sz="1000">
                <a:latin typeface="Times New Roman"/>
                <a:cs typeface="Times New Roman"/>
              </a:rPr>
              <a:t>Pengbo</a:t>
            </a:r>
            <a:r>
              <a:rPr dirty="0" sz="1000" spc="30">
                <a:latin typeface="Times New Roman"/>
                <a:cs typeface="Times New Roman"/>
              </a:rPr>
              <a:t> </a:t>
            </a:r>
            <a:r>
              <a:rPr dirty="0" sz="1000">
                <a:latin typeface="Times New Roman"/>
                <a:cs typeface="Times New Roman"/>
              </a:rPr>
              <a:t>Hu,</a:t>
            </a:r>
            <a:r>
              <a:rPr dirty="0" sz="1000" spc="30">
                <a:latin typeface="Times New Roman"/>
                <a:cs typeface="Times New Roman"/>
              </a:rPr>
              <a:t> </a:t>
            </a:r>
            <a:r>
              <a:rPr dirty="0" sz="1000">
                <a:latin typeface="Times New Roman"/>
                <a:cs typeface="Times New Roman"/>
              </a:rPr>
              <a:t>Yinuo</a:t>
            </a:r>
            <a:r>
              <a:rPr dirty="0" sz="1000" spc="30">
                <a:latin typeface="Times New Roman"/>
                <a:cs typeface="Times New Roman"/>
              </a:rPr>
              <a:t> </a:t>
            </a:r>
            <a:r>
              <a:rPr dirty="0" sz="1000">
                <a:latin typeface="Times New Roman"/>
                <a:cs typeface="Times New Roman"/>
              </a:rPr>
              <a:t>Lei,</a:t>
            </a:r>
            <a:r>
              <a:rPr dirty="0" sz="1000" spc="40">
                <a:latin typeface="Times New Roman"/>
                <a:cs typeface="Times New Roman"/>
              </a:rPr>
              <a:t> </a:t>
            </a:r>
            <a:r>
              <a:rPr dirty="0" sz="1000">
                <a:latin typeface="Times New Roman"/>
                <a:cs typeface="Times New Roman"/>
              </a:rPr>
              <a:t>Chunxiao</a:t>
            </a:r>
            <a:r>
              <a:rPr dirty="0" sz="1000" spc="30">
                <a:latin typeface="Times New Roman"/>
                <a:cs typeface="Times New Roman"/>
              </a:rPr>
              <a:t> </a:t>
            </a:r>
            <a:r>
              <a:rPr dirty="0" sz="1000" spc="-10">
                <a:latin typeface="Times New Roman"/>
                <a:cs typeface="Times New Roman"/>
              </a:rPr>
              <a:t>Li,</a:t>
            </a:r>
            <a:r>
              <a:rPr dirty="0" sz="1000" spc="4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75">
                <a:latin typeface="Times New Roman"/>
                <a:cs typeface="Times New Roman"/>
              </a:rPr>
              <a:t>Yi</a:t>
            </a:r>
            <a:r>
              <a:rPr dirty="0" sz="1000" spc="25">
                <a:latin typeface="Times New Roman"/>
                <a:cs typeface="Times New Roman"/>
              </a:rPr>
              <a:t> </a:t>
            </a:r>
            <a:r>
              <a:rPr dirty="0" sz="1000">
                <a:latin typeface="Times New Roman"/>
                <a:cs typeface="Times New Roman"/>
              </a:rPr>
              <a:t>Zhou.</a:t>
            </a:r>
            <a:r>
              <a:rPr dirty="0" sz="1000" spc="170">
                <a:latin typeface="Times New Roman"/>
                <a:cs typeface="Times New Roman"/>
              </a:rPr>
              <a:t> </a:t>
            </a:r>
            <a:r>
              <a:rPr dirty="0" sz="1000">
                <a:latin typeface="Times New Roman"/>
                <a:cs typeface="Times New Roman"/>
              </a:rPr>
              <a:t>Boosting</a:t>
            </a:r>
            <a:r>
              <a:rPr dirty="0" sz="1000" spc="25">
                <a:latin typeface="Times New Roman"/>
                <a:cs typeface="Times New Roman"/>
              </a:rPr>
              <a:t> </a:t>
            </a:r>
            <a:r>
              <a:rPr dirty="0" sz="1000">
                <a:latin typeface="Times New Roman"/>
                <a:cs typeface="Times New Roman"/>
              </a:rPr>
              <a:t>multi-modal</a:t>
            </a:r>
            <a:r>
              <a:rPr dirty="0" sz="1000" spc="30">
                <a:latin typeface="Times New Roman"/>
                <a:cs typeface="Times New Roman"/>
              </a:rPr>
              <a:t> </a:t>
            </a:r>
            <a:r>
              <a:rPr dirty="0" sz="1000" spc="-10">
                <a:latin typeface="Times New Roman"/>
                <a:cs typeface="Times New Roman"/>
              </a:rPr>
              <a:t>model </a:t>
            </a:r>
            <a:r>
              <a:rPr dirty="0" sz="1000" spc="20">
                <a:latin typeface="Times New Roman"/>
                <a:cs typeface="Times New Roman"/>
              </a:rPr>
              <a:t>performance</a:t>
            </a:r>
            <a:r>
              <a:rPr dirty="0" sz="1000" spc="30">
                <a:latin typeface="Times New Roman"/>
                <a:cs typeface="Times New Roman"/>
              </a:rPr>
              <a:t> </a:t>
            </a:r>
            <a:r>
              <a:rPr dirty="0" sz="1000" spc="20">
                <a:latin typeface="Times New Roman"/>
                <a:cs typeface="Times New Roman"/>
              </a:rPr>
              <a:t>with</a:t>
            </a:r>
            <a:r>
              <a:rPr dirty="0" sz="1000" spc="30">
                <a:latin typeface="Times New Roman"/>
                <a:cs typeface="Times New Roman"/>
              </a:rPr>
              <a:t> </a:t>
            </a:r>
            <a:r>
              <a:rPr dirty="0" sz="1000" spc="20">
                <a:latin typeface="Times New Roman"/>
                <a:cs typeface="Times New Roman"/>
              </a:rPr>
              <a:t>adaptive</a:t>
            </a:r>
            <a:r>
              <a:rPr dirty="0" sz="1000" spc="30">
                <a:latin typeface="Times New Roman"/>
                <a:cs typeface="Times New Roman"/>
              </a:rPr>
              <a:t> </a:t>
            </a:r>
            <a:r>
              <a:rPr dirty="0" sz="1000" spc="20">
                <a:latin typeface="Times New Roman"/>
                <a:cs typeface="Times New Roman"/>
              </a:rPr>
              <a:t>gradient</a:t>
            </a:r>
            <a:r>
              <a:rPr dirty="0" sz="1000" spc="30">
                <a:latin typeface="Times New Roman"/>
                <a:cs typeface="Times New Roman"/>
              </a:rPr>
              <a:t> </a:t>
            </a:r>
            <a:r>
              <a:rPr dirty="0" sz="1000" spc="20">
                <a:latin typeface="Times New Roman"/>
                <a:cs typeface="Times New Roman"/>
              </a:rPr>
              <a:t>modulation.</a:t>
            </a:r>
            <a:r>
              <a:rPr dirty="0" sz="1000" spc="140">
                <a:latin typeface="Times New Roman"/>
                <a:cs typeface="Times New Roman"/>
              </a:rPr>
              <a:t> </a:t>
            </a:r>
            <a:r>
              <a:rPr dirty="0" sz="1000" spc="20">
                <a:latin typeface="Times New Roman"/>
                <a:cs typeface="Times New Roman"/>
              </a:rPr>
              <a:t>In</a:t>
            </a:r>
            <a:r>
              <a:rPr dirty="0" sz="1000" spc="30">
                <a:latin typeface="Times New Roman"/>
                <a:cs typeface="Times New Roman"/>
              </a:rPr>
              <a:t> </a:t>
            </a:r>
            <a:r>
              <a:rPr dirty="0" sz="1000" spc="10">
                <a:latin typeface="Times New Roman"/>
                <a:cs typeface="Times New Roman"/>
              </a:rPr>
              <a:t>Proceedings</a:t>
            </a:r>
            <a:r>
              <a:rPr dirty="0" sz="1000" spc="30">
                <a:latin typeface="Times New Roman"/>
                <a:cs typeface="Times New Roman"/>
              </a:rPr>
              <a:t> </a:t>
            </a:r>
            <a:r>
              <a:rPr dirty="0" sz="1000" spc="10">
                <a:latin typeface="Times New Roman"/>
                <a:cs typeface="Times New Roman"/>
              </a:rPr>
              <a:t>of</a:t>
            </a:r>
            <a:r>
              <a:rPr dirty="0" sz="1000" spc="35">
                <a:latin typeface="Times New Roman"/>
                <a:cs typeface="Times New Roman"/>
              </a:rPr>
              <a:t> </a:t>
            </a:r>
            <a:r>
              <a:rPr dirty="0" sz="1000" spc="20">
                <a:latin typeface="Times New Roman"/>
                <a:cs typeface="Times New Roman"/>
              </a:rPr>
              <a:t>the</a:t>
            </a:r>
            <a:r>
              <a:rPr dirty="0" sz="1000" spc="30">
                <a:latin typeface="Times New Roman"/>
                <a:cs typeface="Times New Roman"/>
              </a:rPr>
              <a:t> </a:t>
            </a:r>
            <a:r>
              <a:rPr dirty="0" sz="1000" spc="20">
                <a:latin typeface="Times New Roman"/>
                <a:cs typeface="Times New Roman"/>
              </a:rPr>
              <a:t>IEEE/CVF</a:t>
            </a:r>
            <a:r>
              <a:rPr dirty="0" sz="1000" spc="30">
                <a:latin typeface="Times New Roman"/>
                <a:cs typeface="Times New Roman"/>
              </a:rPr>
              <a:t> </a:t>
            </a:r>
            <a:r>
              <a:rPr dirty="0" sz="1000" spc="20">
                <a:latin typeface="Times New Roman"/>
                <a:cs typeface="Times New Roman"/>
              </a:rPr>
              <a:t>International</a:t>
            </a:r>
            <a:r>
              <a:rPr dirty="0" sz="1000" spc="30">
                <a:latin typeface="Times New Roman"/>
                <a:cs typeface="Times New Roman"/>
              </a:rPr>
              <a:t> </a:t>
            </a:r>
            <a:r>
              <a:rPr dirty="0" sz="1000" spc="-10">
                <a:latin typeface="Times New Roman"/>
                <a:cs typeface="Times New Roman"/>
              </a:rPr>
              <a:t>Conference </a:t>
            </a:r>
            <a:r>
              <a:rPr dirty="0" sz="1000">
                <a:latin typeface="Times New Roman"/>
                <a:cs typeface="Times New Roman"/>
              </a:rPr>
              <a:t>on</a:t>
            </a:r>
            <a:r>
              <a:rPr dirty="0" sz="1000" spc="10">
                <a:latin typeface="Times New Roman"/>
                <a:cs typeface="Times New Roman"/>
              </a:rPr>
              <a:t> </a:t>
            </a:r>
            <a:r>
              <a:rPr dirty="0" sz="1000">
                <a:latin typeface="Times New Roman"/>
                <a:cs typeface="Times New Roman"/>
              </a:rPr>
              <a:t>Computer</a:t>
            </a:r>
            <a:r>
              <a:rPr dirty="0" sz="1000" spc="15">
                <a:latin typeface="Times New Roman"/>
                <a:cs typeface="Times New Roman"/>
              </a:rPr>
              <a:t> </a:t>
            </a:r>
            <a:r>
              <a:rPr dirty="0" sz="1000">
                <a:latin typeface="Times New Roman"/>
                <a:cs typeface="Times New Roman"/>
              </a:rPr>
              <a:t>Vision,</a:t>
            </a:r>
            <a:r>
              <a:rPr dirty="0" sz="1000" spc="10">
                <a:latin typeface="Times New Roman"/>
                <a:cs typeface="Times New Roman"/>
              </a:rPr>
              <a:t> </a:t>
            </a:r>
            <a:r>
              <a:rPr dirty="0" sz="1000">
                <a:latin typeface="Times New Roman"/>
                <a:cs typeface="Times New Roman"/>
              </a:rPr>
              <a:t>pages</a:t>
            </a:r>
            <a:r>
              <a:rPr dirty="0" sz="1000" spc="15">
                <a:latin typeface="Times New Roman"/>
                <a:cs typeface="Times New Roman"/>
              </a:rPr>
              <a:t> </a:t>
            </a:r>
            <a:r>
              <a:rPr dirty="0" sz="1000" spc="-10">
                <a:latin typeface="Times New Roman"/>
                <a:cs typeface="Times New Roman"/>
              </a:rPr>
              <a:t>22214-22224,</a:t>
            </a:r>
            <a:r>
              <a:rPr dirty="0" sz="1000" spc="15">
                <a:latin typeface="Times New Roman"/>
                <a:cs typeface="Times New Roman"/>
              </a:rPr>
              <a:t> </a:t>
            </a:r>
            <a:r>
              <a:rPr dirty="0" sz="1000">
                <a:latin typeface="Times New Roman"/>
                <a:cs typeface="Times New Roman"/>
              </a:rPr>
              <a:t>2023.</a:t>
            </a:r>
            <a:r>
              <a:rPr dirty="0" sz="1000" spc="105">
                <a:latin typeface="Times New Roman"/>
                <a:cs typeface="Times New Roman"/>
              </a:rPr>
              <a:t> </a:t>
            </a:r>
            <a:r>
              <a:rPr dirty="0" sz="1000">
                <a:latin typeface="Times New Roman"/>
                <a:cs typeface="Times New Roman"/>
              </a:rPr>
              <a:t>1,</a:t>
            </a:r>
            <a:r>
              <a:rPr dirty="0" sz="1000" spc="10">
                <a:latin typeface="Times New Roman"/>
                <a:cs typeface="Times New Roman"/>
              </a:rPr>
              <a:t> </a:t>
            </a:r>
            <a:r>
              <a:rPr dirty="0" sz="1000">
                <a:latin typeface="Times New Roman"/>
                <a:cs typeface="Times New Roman"/>
              </a:rPr>
              <a:t>2,</a:t>
            </a:r>
            <a:r>
              <a:rPr dirty="0" sz="1000" spc="15">
                <a:latin typeface="Times New Roman"/>
                <a:cs typeface="Times New Roman"/>
              </a:rPr>
              <a:t> </a:t>
            </a:r>
            <a:r>
              <a:rPr dirty="0" sz="1000">
                <a:latin typeface="Times New Roman"/>
                <a:cs typeface="Times New Roman"/>
              </a:rPr>
              <a:t>3,</a:t>
            </a:r>
            <a:r>
              <a:rPr dirty="0" sz="1000" spc="15">
                <a:latin typeface="Times New Roman"/>
                <a:cs typeface="Times New Roman"/>
              </a:rPr>
              <a:t> </a:t>
            </a:r>
            <a:r>
              <a:rPr dirty="0" sz="1000">
                <a:latin typeface="Times New Roman"/>
                <a:cs typeface="Times New Roman"/>
              </a:rPr>
              <a:t>6,</a:t>
            </a:r>
            <a:r>
              <a:rPr dirty="0" sz="1000" spc="10">
                <a:latin typeface="Times New Roman"/>
                <a:cs typeface="Times New Roman"/>
              </a:rPr>
              <a:t> </a:t>
            </a:r>
            <a:r>
              <a:rPr dirty="0" sz="1000" spc="-50">
                <a:latin typeface="Times New Roman"/>
                <a:cs typeface="Times New Roman"/>
              </a:rPr>
              <a:t>8</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a:lnSpc>
                <a:spcPct val="129500"/>
              </a:lnSpc>
            </a:pPr>
            <a:r>
              <a:rPr dirty="0" sz="1000">
                <a:latin typeface="Times New Roman"/>
                <a:cs typeface="Times New Roman"/>
              </a:rPr>
              <a:t>[17]</a:t>
            </a:r>
            <a:r>
              <a:rPr dirty="0" sz="1000" spc="-40">
                <a:latin typeface="Times New Roman"/>
                <a:cs typeface="Times New Roman"/>
              </a:rPr>
              <a:t> </a:t>
            </a:r>
            <a:r>
              <a:rPr dirty="0" sz="1000" spc="-95">
                <a:latin typeface="SimSun"/>
                <a:cs typeface="SimSun"/>
              </a:rPr>
              <a:t>李洪、李星宇、胡鹏博、雷一诺、李春晓、周毅。通过自适应梯度调制提升多模态模型性能。在</a:t>
            </a:r>
            <a:r>
              <a:rPr dirty="0" sz="1000" spc="-50">
                <a:latin typeface="SimSun"/>
                <a:cs typeface="SimSun"/>
              </a:rPr>
              <a:t> </a:t>
            </a:r>
            <a:r>
              <a:rPr dirty="0" sz="1000">
                <a:latin typeface="Times New Roman"/>
                <a:cs typeface="Times New Roman"/>
              </a:rPr>
              <a:t>IEEE/CVF</a:t>
            </a:r>
            <a:r>
              <a:rPr dirty="0" sz="1000" spc="-5">
                <a:latin typeface="Times New Roman"/>
                <a:cs typeface="Times New Roman"/>
              </a:rPr>
              <a:t> </a:t>
            </a:r>
            <a:r>
              <a:rPr dirty="0" sz="1000" spc="-30">
                <a:latin typeface="SimSun"/>
                <a:cs typeface="SimSun"/>
              </a:rPr>
              <a:t>国际计算机视觉会议论文集上，第 </a:t>
            </a:r>
            <a:r>
              <a:rPr dirty="0" sz="1000" spc="-10">
                <a:latin typeface="Times New Roman"/>
                <a:cs typeface="Times New Roman"/>
              </a:rPr>
              <a:t>22214</a:t>
            </a:r>
            <a:r>
              <a:rPr dirty="0" sz="1000" spc="-5">
                <a:latin typeface="Times New Roman"/>
                <a:cs typeface="Times New Roman"/>
              </a:rPr>
              <a:t> - </a:t>
            </a:r>
            <a:r>
              <a:rPr dirty="0" sz="1000" spc="-10">
                <a:latin typeface="Times New Roman"/>
                <a:cs typeface="Times New Roman"/>
              </a:rPr>
              <a:t>22224</a:t>
            </a:r>
            <a:r>
              <a:rPr dirty="0" sz="1000" spc="5">
                <a:latin typeface="Times New Roman"/>
                <a:cs typeface="Times New Roman"/>
              </a:rPr>
              <a:t> </a:t>
            </a:r>
            <a:r>
              <a:rPr dirty="0" sz="1000" spc="-10">
                <a:latin typeface="SimSun"/>
                <a:cs typeface="SimSun"/>
              </a:rPr>
              <a:t>页，</a:t>
            </a:r>
            <a:r>
              <a:rPr dirty="0" sz="1000" spc="-10">
                <a:latin typeface="Times New Roman"/>
                <a:cs typeface="Times New Roman"/>
              </a:rPr>
              <a:t>2023</a:t>
            </a:r>
            <a:r>
              <a:rPr dirty="0" sz="1000" spc="-5">
                <a:latin typeface="Times New Roman"/>
                <a:cs typeface="Times New Roman"/>
              </a:rPr>
              <a:t> </a:t>
            </a:r>
            <a:r>
              <a:rPr dirty="0" sz="1000" spc="-10">
                <a:latin typeface="SimSun"/>
                <a:cs typeface="SimSun"/>
              </a:rPr>
              <a:t>年。</a:t>
            </a:r>
            <a:r>
              <a:rPr dirty="0" sz="1000" spc="-10">
                <a:latin typeface="Times New Roman"/>
                <a:cs typeface="Times New Roman"/>
              </a:rPr>
              <a:t>1</a:t>
            </a:r>
            <a:r>
              <a:rPr dirty="0" sz="1000" spc="-10">
                <a:latin typeface="SimSun"/>
                <a:cs typeface="SimSun"/>
              </a:rPr>
              <a:t>，</a:t>
            </a:r>
            <a:r>
              <a:rPr dirty="0" sz="1000" spc="-10">
                <a:latin typeface="Times New Roman"/>
                <a:cs typeface="Times New Roman"/>
              </a:rPr>
              <a:t>2</a:t>
            </a:r>
            <a:r>
              <a:rPr dirty="0" sz="1000" spc="-10">
                <a:latin typeface="SimSun"/>
                <a:cs typeface="SimSun"/>
              </a:rPr>
              <a:t>，</a:t>
            </a:r>
            <a:r>
              <a:rPr dirty="0" sz="1000" spc="-10">
                <a:latin typeface="Times New Roman"/>
                <a:cs typeface="Times New Roman"/>
              </a:rPr>
              <a:t>3</a:t>
            </a:r>
            <a:r>
              <a:rPr dirty="0" sz="1000" spc="-10">
                <a:latin typeface="SimSun"/>
                <a:cs typeface="SimSun"/>
              </a:rPr>
              <a:t>，</a:t>
            </a:r>
            <a:r>
              <a:rPr dirty="0" sz="1000" spc="-10">
                <a:latin typeface="Times New Roman"/>
                <a:cs typeface="Times New Roman"/>
              </a:rPr>
              <a:t>6</a:t>
            </a:r>
            <a:r>
              <a:rPr dirty="0" sz="1000" spc="-10">
                <a:latin typeface="SimSun"/>
                <a:cs typeface="SimSun"/>
              </a:rPr>
              <a:t>，</a:t>
            </a:r>
            <a:r>
              <a:rPr dirty="0" sz="1000" spc="-10">
                <a:latin typeface="Times New Roman"/>
                <a:cs typeface="Times New Roman"/>
              </a:rPr>
              <a:t>8</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spcBef>
                <a:spcPts val="5"/>
              </a:spcBef>
            </a:pPr>
            <a:r>
              <a:rPr dirty="0" sz="1000">
                <a:latin typeface="Times New Roman"/>
                <a:cs typeface="Times New Roman"/>
              </a:rPr>
              <a:t>[18]</a:t>
            </a:r>
            <a:r>
              <a:rPr dirty="0" sz="1000" spc="-10">
                <a:latin typeface="Times New Roman"/>
                <a:cs typeface="Times New Roman"/>
              </a:rPr>
              <a:t> </a:t>
            </a:r>
            <a:r>
              <a:rPr dirty="0" sz="1000">
                <a:latin typeface="Times New Roman"/>
                <a:cs typeface="Times New Roman"/>
              </a:rPr>
              <a:t>Ajian Liu,</a:t>
            </a:r>
            <a:r>
              <a:rPr dirty="0" sz="1000" spc="5">
                <a:latin typeface="Times New Roman"/>
                <a:cs typeface="Times New Roman"/>
              </a:rPr>
              <a:t> </a:t>
            </a:r>
            <a:r>
              <a:rPr dirty="0" sz="1000">
                <a:latin typeface="Times New Roman"/>
                <a:cs typeface="Times New Roman"/>
              </a:rPr>
              <a:t>Jun Wan,</a:t>
            </a:r>
            <a:r>
              <a:rPr dirty="0" sz="1000" spc="5">
                <a:latin typeface="Times New Roman"/>
                <a:cs typeface="Times New Roman"/>
              </a:rPr>
              <a:t> </a:t>
            </a:r>
            <a:r>
              <a:rPr dirty="0" sz="1000">
                <a:latin typeface="Times New Roman"/>
                <a:cs typeface="Times New Roman"/>
              </a:rPr>
              <a:t>Sergio Escalera,</a:t>
            </a:r>
            <a:r>
              <a:rPr dirty="0" sz="1000" spc="5">
                <a:latin typeface="Times New Roman"/>
                <a:cs typeface="Times New Roman"/>
              </a:rPr>
              <a:t> </a:t>
            </a:r>
            <a:r>
              <a:rPr dirty="0" sz="1000">
                <a:latin typeface="Times New Roman"/>
                <a:cs typeface="Times New Roman"/>
              </a:rPr>
              <a:t>Hugo Jair</a:t>
            </a:r>
            <a:r>
              <a:rPr dirty="0" sz="1000" spc="-5">
                <a:latin typeface="Times New Roman"/>
                <a:cs typeface="Times New Roman"/>
              </a:rPr>
              <a:t> </a:t>
            </a:r>
            <a:r>
              <a:rPr dirty="0" sz="1000">
                <a:latin typeface="Times New Roman"/>
                <a:cs typeface="Times New Roman"/>
              </a:rPr>
              <a:t>Escalante,</a:t>
            </a:r>
            <a:r>
              <a:rPr dirty="0" sz="1000" spc="5">
                <a:latin typeface="Times New Roman"/>
                <a:cs typeface="Times New Roman"/>
              </a:rPr>
              <a:t> </a:t>
            </a:r>
            <a:r>
              <a:rPr dirty="0" sz="1000">
                <a:latin typeface="Times New Roman"/>
                <a:cs typeface="Times New Roman"/>
              </a:rPr>
              <a:t>Zichang Tan,</a:t>
            </a:r>
            <a:r>
              <a:rPr dirty="0" sz="1000" spc="5">
                <a:latin typeface="Times New Roman"/>
                <a:cs typeface="Times New Roman"/>
              </a:rPr>
              <a:t> </a:t>
            </a:r>
            <a:r>
              <a:rPr dirty="0" sz="1000">
                <a:latin typeface="Times New Roman"/>
                <a:cs typeface="Times New Roman"/>
              </a:rPr>
              <a:t>Qi Yuan,</a:t>
            </a:r>
            <a:r>
              <a:rPr dirty="0" sz="1000" spc="5">
                <a:latin typeface="Times New Roman"/>
                <a:cs typeface="Times New Roman"/>
              </a:rPr>
              <a:t> </a:t>
            </a:r>
            <a:r>
              <a:rPr dirty="0" sz="1000">
                <a:latin typeface="Times New Roman"/>
                <a:cs typeface="Times New Roman"/>
              </a:rPr>
              <a:t>Kai Wang,</a:t>
            </a:r>
            <a:r>
              <a:rPr dirty="0" sz="1000" spc="5">
                <a:latin typeface="Times New Roman"/>
                <a:cs typeface="Times New Roman"/>
              </a:rPr>
              <a:t> </a:t>
            </a:r>
            <a:r>
              <a:rPr dirty="0" sz="1000">
                <a:latin typeface="Times New Roman"/>
                <a:cs typeface="Times New Roman"/>
              </a:rPr>
              <a:t>Chi </a:t>
            </a:r>
            <a:r>
              <a:rPr dirty="0" sz="1000" spc="-20">
                <a:latin typeface="Times New Roman"/>
                <a:cs typeface="Times New Roman"/>
              </a:rPr>
              <a:t>Lin, </a:t>
            </a:r>
            <a:r>
              <a:rPr dirty="0" sz="1000">
                <a:latin typeface="Times New Roman"/>
                <a:cs typeface="Times New Roman"/>
              </a:rPr>
              <a:t>Guodong</a:t>
            </a:r>
            <a:r>
              <a:rPr dirty="0" sz="1000" spc="100">
                <a:latin typeface="Times New Roman"/>
                <a:cs typeface="Times New Roman"/>
              </a:rPr>
              <a:t> </a:t>
            </a:r>
            <a:r>
              <a:rPr dirty="0" sz="1000">
                <a:latin typeface="Times New Roman"/>
                <a:cs typeface="Times New Roman"/>
              </a:rPr>
              <a:t>Guo,</a:t>
            </a:r>
            <a:r>
              <a:rPr dirty="0" sz="1000" spc="120">
                <a:latin typeface="Times New Roman"/>
                <a:cs typeface="Times New Roman"/>
              </a:rPr>
              <a:t> </a:t>
            </a:r>
            <a:r>
              <a:rPr dirty="0" sz="1000">
                <a:latin typeface="Times New Roman"/>
                <a:cs typeface="Times New Roman"/>
              </a:rPr>
              <a:t>Isabelle</a:t>
            </a:r>
            <a:r>
              <a:rPr dirty="0" sz="1000" spc="110">
                <a:latin typeface="Times New Roman"/>
                <a:cs typeface="Times New Roman"/>
              </a:rPr>
              <a:t> </a:t>
            </a:r>
            <a:r>
              <a:rPr dirty="0" sz="1000">
                <a:latin typeface="Times New Roman"/>
                <a:cs typeface="Times New Roman"/>
              </a:rPr>
              <a:t>Guyon,</a:t>
            </a:r>
            <a:r>
              <a:rPr dirty="0" sz="1000" spc="120">
                <a:latin typeface="Times New Roman"/>
                <a:cs typeface="Times New Roman"/>
              </a:rPr>
              <a:t> </a:t>
            </a:r>
            <a:r>
              <a:rPr dirty="0" sz="1000">
                <a:latin typeface="Times New Roman"/>
                <a:cs typeface="Times New Roman"/>
              </a:rPr>
              <a:t>et</a:t>
            </a:r>
            <a:r>
              <a:rPr dirty="0" sz="1000" spc="110">
                <a:latin typeface="Times New Roman"/>
                <a:cs typeface="Times New Roman"/>
              </a:rPr>
              <a:t> </a:t>
            </a:r>
            <a:r>
              <a:rPr dirty="0" sz="1000">
                <a:latin typeface="Times New Roman"/>
                <a:cs typeface="Times New Roman"/>
              </a:rPr>
              <a:t>al.</a:t>
            </a:r>
            <a:r>
              <a:rPr dirty="0" sz="1000" spc="275">
                <a:latin typeface="Times New Roman"/>
                <a:cs typeface="Times New Roman"/>
              </a:rPr>
              <a:t> </a:t>
            </a:r>
            <a:r>
              <a:rPr dirty="0" sz="1000">
                <a:latin typeface="Times New Roman"/>
                <a:cs typeface="Times New Roman"/>
              </a:rPr>
              <a:t>Multi-modal</a:t>
            </a:r>
            <a:r>
              <a:rPr dirty="0" sz="1000" spc="114">
                <a:latin typeface="Times New Roman"/>
                <a:cs typeface="Times New Roman"/>
              </a:rPr>
              <a:t> </a:t>
            </a:r>
            <a:r>
              <a:rPr dirty="0" sz="1000">
                <a:latin typeface="Times New Roman"/>
                <a:cs typeface="Times New Roman"/>
              </a:rPr>
              <a:t>face</a:t>
            </a:r>
            <a:r>
              <a:rPr dirty="0" sz="1000" spc="110">
                <a:latin typeface="Times New Roman"/>
                <a:cs typeface="Times New Roman"/>
              </a:rPr>
              <a:t> </a:t>
            </a:r>
            <a:r>
              <a:rPr dirty="0" sz="1000">
                <a:latin typeface="Times New Roman"/>
                <a:cs typeface="Times New Roman"/>
              </a:rPr>
              <a:t>anti-spoofing</a:t>
            </a:r>
            <a:r>
              <a:rPr dirty="0" sz="1000" spc="110">
                <a:latin typeface="Times New Roman"/>
                <a:cs typeface="Times New Roman"/>
              </a:rPr>
              <a:t> </a:t>
            </a:r>
            <a:r>
              <a:rPr dirty="0" sz="1000">
                <a:latin typeface="Times New Roman"/>
                <a:cs typeface="Times New Roman"/>
              </a:rPr>
              <a:t>attack</a:t>
            </a:r>
            <a:r>
              <a:rPr dirty="0" sz="1000" spc="114">
                <a:latin typeface="Times New Roman"/>
                <a:cs typeface="Times New Roman"/>
              </a:rPr>
              <a:t> </a:t>
            </a:r>
            <a:r>
              <a:rPr dirty="0" sz="1000">
                <a:latin typeface="Times New Roman"/>
                <a:cs typeface="Times New Roman"/>
              </a:rPr>
              <a:t>detection</a:t>
            </a:r>
            <a:r>
              <a:rPr dirty="0" sz="1000" spc="110">
                <a:latin typeface="Times New Roman"/>
                <a:cs typeface="Times New Roman"/>
              </a:rPr>
              <a:t> </a:t>
            </a:r>
            <a:r>
              <a:rPr dirty="0" sz="1000">
                <a:latin typeface="Times New Roman"/>
                <a:cs typeface="Times New Roman"/>
              </a:rPr>
              <a:t>challenge</a:t>
            </a:r>
            <a:r>
              <a:rPr dirty="0" sz="1000" spc="110">
                <a:latin typeface="Times New Roman"/>
                <a:cs typeface="Times New Roman"/>
              </a:rPr>
              <a:t> </a:t>
            </a:r>
            <a:r>
              <a:rPr dirty="0" sz="1000">
                <a:latin typeface="Times New Roman"/>
                <a:cs typeface="Times New Roman"/>
              </a:rPr>
              <a:t>at</a:t>
            </a:r>
            <a:r>
              <a:rPr dirty="0" sz="1000" spc="114">
                <a:latin typeface="Times New Roman"/>
                <a:cs typeface="Times New Roman"/>
              </a:rPr>
              <a:t> </a:t>
            </a:r>
            <a:r>
              <a:rPr dirty="0" sz="1000" spc="-10">
                <a:latin typeface="Times New Roman"/>
                <a:cs typeface="Times New Roman"/>
              </a:rPr>
              <a:t>cvpr2019. </a:t>
            </a:r>
            <a:r>
              <a:rPr dirty="0" sz="1000">
                <a:latin typeface="Times New Roman"/>
                <a:cs typeface="Times New Roman"/>
              </a:rPr>
              <a:t>In</a:t>
            </a:r>
            <a:r>
              <a:rPr dirty="0" sz="1000" spc="75">
                <a:latin typeface="Times New Roman"/>
                <a:cs typeface="Times New Roman"/>
              </a:rPr>
              <a:t> </a:t>
            </a:r>
            <a:r>
              <a:rPr dirty="0" sz="1000">
                <a:latin typeface="Times New Roman"/>
                <a:cs typeface="Times New Roman"/>
              </a:rPr>
              <a:t>Proceedings</a:t>
            </a:r>
            <a:r>
              <a:rPr dirty="0" sz="1000" spc="80">
                <a:latin typeface="Times New Roman"/>
                <a:cs typeface="Times New Roman"/>
              </a:rPr>
              <a:t> </a:t>
            </a:r>
            <a:r>
              <a:rPr dirty="0" sz="1000" spc="-10">
                <a:latin typeface="Times New Roman"/>
                <a:cs typeface="Times New Roman"/>
              </a:rPr>
              <a:t>of</a:t>
            </a:r>
            <a:r>
              <a:rPr dirty="0" sz="1000" spc="90">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IEEE/CVF</a:t>
            </a:r>
            <a:r>
              <a:rPr dirty="0" sz="1000" spc="90">
                <a:latin typeface="Times New Roman"/>
                <a:cs typeface="Times New Roman"/>
              </a:rPr>
              <a:t> </a:t>
            </a:r>
            <a:r>
              <a:rPr dirty="0" sz="1000">
                <a:latin typeface="Times New Roman"/>
                <a:cs typeface="Times New Roman"/>
              </a:rPr>
              <a:t>Conference</a:t>
            </a:r>
            <a:r>
              <a:rPr dirty="0" sz="1000" spc="80">
                <a:latin typeface="Times New Roman"/>
                <a:cs typeface="Times New Roman"/>
              </a:rPr>
              <a:t> </a:t>
            </a:r>
            <a:r>
              <a:rPr dirty="0" sz="1000">
                <a:latin typeface="Times New Roman"/>
                <a:cs typeface="Times New Roman"/>
              </a:rPr>
              <a:t>on</a:t>
            </a:r>
            <a:r>
              <a:rPr dirty="0" sz="1000" spc="85">
                <a:latin typeface="Times New Roman"/>
                <a:cs typeface="Times New Roman"/>
              </a:rPr>
              <a:t> </a:t>
            </a:r>
            <a:r>
              <a:rPr dirty="0" sz="1000">
                <a:latin typeface="Times New Roman"/>
                <a:cs typeface="Times New Roman"/>
              </a:rPr>
              <a:t>Computer</a:t>
            </a:r>
            <a:r>
              <a:rPr dirty="0" sz="1000" spc="80">
                <a:latin typeface="Times New Roman"/>
                <a:cs typeface="Times New Roman"/>
              </a:rPr>
              <a:t> </a:t>
            </a:r>
            <a:r>
              <a:rPr dirty="0" sz="1000">
                <a:latin typeface="Times New Roman"/>
                <a:cs typeface="Times New Roman"/>
              </a:rPr>
              <a:t>Vision</a:t>
            </a:r>
            <a:r>
              <a:rPr dirty="0" sz="1000" spc="90">
                <a:latin typeface="Times New Roman"/>
                <a:cs typeface="Times New Roman"/>
              </a:rPr>
              <a:t> </a:t>
            </a:r>
            <a:r>
              <a:rPr dirty="0" sz="1000">
                <a:latin typeface="Times New Roman"/>
                <a:cs typeface="Times New Roman"/>
              </a:rPr>
              <a:t>and</a:t>
            </a:r>
            <a:r>
              <a:rPr dirty="0" sz="1000" spc="90">
                <a:latin typeface="Times New Roman"/>
                <a:cs typeface="Times New Roman"/>
              </a:rPr>
              <a:t> </a:t>
            </a:r>
            <a:r>
              <a:rPr dirty="0" sz="1000">
                <a:latin typeface="Times New Roman"/>
                <a:cs typeface="Times New Roman"/>
              </a:rPr>
              <a:t>Pattern</a:t>
            </a:r>
            <a:r>
              <a:rPr dirty="0" sz="1000" spc="75">
                <a:latin typeface="Times New Roman"/>
                <a:cs typeface="Times New Roman"/>
              </a:rPr>
              <a:t> </a:t>
            </a:r>
            <a:r>
              <a:rPr dirty="0" sz="1000">
                <a:latin typeface="Times New Roman"/>
                <a:cs typeface="Times New Roman"/>
              </a:rPr>
              <a:t>Recognition</a:t>
            </a:r>
            <a:r>
              <a:rPr dirty="0" sz="1000" spc="80">
                <a:latin typeface="Times New Roman"/>
                <a:cs typeface="Times New Roman"/>
              </a:rPr>
              <a:t> </a:t>
            </a:r>
            <a:r>
              <a:rPr dirty="0" sz="1000">
                <a:latin typeface="Times New Roman"/>
                <a:cs typeface="Times New Roman"/>
              </a:rPr>
              <a:t>Workshops,</a:t>
            </a:r>
            <a:r>
              <a:rPr dirty="0" sz="1000" spc="100">
                <a:latin typeface="Times New Roman"/>
                <a:cs typeface="Times New Roman"/>
              </a:rPr>
              <a:t> </a:t>
            </a:r>
            <a:r>
              <a:rPr dirty="0" sz="1000" spc="-10">
                <a:latin typeface="Times New Roman"/>
                <a:cs typeface="Times New Roman"/>
              </a:rPr>
              <a:t>pages </a:t>
            </a:r>
            <a:r>
              <a:rPr dirty="0" sz="1000" spc="-20">
                <a:latin typeface="Times New Roman"/>
                <a:cs typeface="Times New Roman"/>
              </a:rPr>
              <a:t>0-</a:t>
            </a:r>
            <a:r>
              <a:rPr dirty="0" sz="1000">
                <a:latin typeface="Times New Roman"/>
                <a:cs typeface="Times New Roman"/>
              </a:rPr>
              <a:t>0,</a:t>
            </a:r>
            <a:r>
              <a:rPr dirty="0" sz="1000" spc="-45">
                <a:latin typeface="Times New Roman"/>
                <a:cs typeface="Times New Roman"/>
              </a:rPr>
              <a:t> </a:t>
            </a:r>
            <a:r>
              <a:rPr dirty="0" sz="1000">
                <a:latin typeface="Times New Roman"/>
                <a:cs typeface="Times New Roman"/>
              </a:rPr>
              <a:t>2019.</a:t>
            </a:r>
            <a:r>
              <a:rPr dirty="0" sz="1000" spc="30">
                <a:latin typeface="Times New Roman"/>
                <a:cs typeface="Times New Roman"/>
              </a:rPr>
              <a:t> </a:t>
            </a:r>
            <a:r>
              <a:rPr dirty="0" sz="1000" spc="-50">
                <a:latin typeface="Times New Roman"/>
                <a:cs typeface="Times New Roman"/>
              </a:rPr>
              <a:t>1</a:t>
            </a:r>
            <a:endParaRPr sz="1000">
              <a:latin typeface="Times New Roman"/>
              <a:cs typeface="Times New Roman"/>
            </a:endParaRPr>
          </a:p>
          <a:p>
            <a:pPr>
              <a:lnSpc>
                <a:spcPct val="100000"/>
              </a:lnSpc>
              <a:spcBef>
                <a:spcPts val="229"/>
              </a:spcBef>
            </a:pPr>
            <a:endParaRPr sz="1000">
              <a:latin typeface="Times New Roman"/>
              <a:cs typeface="Times New Roman"/>
            </a:endParaRPr>
          </a:p>
          <a:p>
            <a:pPr marL="192405" marR="94615">
              <a:lnSpc>
                <a:spcPct val="129500"/>
              </a:lnSpc>
              <a:spcBef>
                <a:spcPts val="5"/>
              </a:spcBef>
            </a:pPr>
            <a:r>
              <a:rPr dirty="0" sz="1000">
                <a:latin typeface="Times New Roman"/>
                <a:cs typeface="Times New Roman"/>
              </a:rPr>
              <a:t>[18]</a:t>
            </a:r>
            <a:r>
              <a:rPr dirty="0" sz="1000" spc="-25">
                <a:latin typeface="Times New Roman"/>
                <a:cs typeface="Times New Roman"/>
              </a:rPr>
              <a:t> </a:t>
            </a:r>
            <a:r>
              <a:rPr dirty="0" sz="1000" spc="-40">
                <a:latin typeface="SimSun"/>
                <a:cs typeface="SimSun"/>
              </a:rPr>
              <a:t>刘阿健、万军、塞尔吉奥</a:t>
            </a:r>
            <a:r>
              <a:rPr dirty="0" sz="1000" spc="-690">
                <a:latin typeface="SimSun"/>
                <a:cs typeface="SimSun"/>
              </a:rPr>
              <a:t>·</a:t>
            </a:r>
            <a:r>
              <a:rPr dirty="0" sz="1000" spc="-25">
                <a:latin typeface="SimSun"/>
                <a:cs typeface="SimSun"/>
              </a:rPr>
              <a:t>埃斯卡拉拉、雨果</a:t>
            </a:r>
            <a:r>
              <a:rPr dirty="0" sz="1000" spc="-690">
                <a:latin typeface="SimSun"/>
                <a:cs typeface="SimSun"/>
              </a:rPr>
              <a:t>·</a:t>
            </a:r>
            <a:r>
              <a:rPr dirty="0" sz="1000" spc="-15">
                <a:latin typeface="SimSun"/>
                <a:cs typeface="SimSun"/>
              </a:rPr>
              <a:t>杰尔</a:t>
            </a:r>
            <a:r>
              <a:rPr dirty="0" sz="1000" spc="-685">
                <a:latin typeface="SimSun"/>
                <a:cs typeface="SimSun"/>
              </a:rPr>
              <a:t>·</a:t>
            </a:r>
            <a:r>
              <a:rPr dirty="0" sz="1000" spc="45">
                <a:latin typeface="SimSun"/>
                <a:cs typeface="SimSun"/>
              </a:rPr>
              <a:t>埃斯卡拉</a:t>
            </a:r>
            <a:r>
              <a:rPr dirty="0" sz="1000" spc="30">
                <a:latin typeface="Times New Roman"/>
                <a:cs typeface="Times New Roman"/>
              </a:rPr>
              <a:t>ante</a:t>
            </a:r>
            <a:r>
              <a:rPr dirty="0" sz="1000" spc="-55">
                <a:latin typeface="SimSun"/>
                <a:cs typeface="SimSun"/>
              </a:rPr>
              <a:t>、谭子畅、袁琦、王凯、林驰、</a:t>
            </a:r>
            <a:r>
              <a:rPr dirty="0" sz="1000" spc="-10">
                <a:latin typeface="SimSun"/>
                <a:cs typeface="SimSun"/>
              </a:rPr>
              <a:t>郭国栋、伊莎贝尔</a:t>
            </a:r>
            <a:r>
              <a:rPr dirty="0" sz="1000" spc="-675">
                <a:latin typeface="SimSun"/>
                <a:cs typeface="SimSun"/>
              </a:rPr>
              <a:t>·</a:t>
            </a:r>
            <a:r>
              <a:rPr dirty="0" sz="1000" spc="-10">
                <a:latin typeface="SimSun"/>
                <a:cs typeface="SimSun"/>
              </a:rPr>
              <a:t>盖永等。</a:t>
            </a:r>
            <a:r>
              <a:rPr dirty="0" sz="1000">
                <a:latin typeface="Times New Roman"/>
                <a:cs typeface="Times New Roman"/>
              </a:rPr>
              <a:t>cvpr2019</a:t>
            </a:r>
            <a:r>
              <a:rPr dirty="0" sz="1000" spc="5">
                <a:latin typeface="Times New Roman"/>
                <a:cs typeface="Times New Roman"/>
              </a:rPr>
              <a:t> </a:t>
            </a:r>
            <a:r>
              <a:rPr dirty="0" sz="1000" spc="-25">
                <a:latin typeface="SimSun"/>
                <a:cs typeface="SimSun"/>
              </a:rPr>
              <a:t>上的多模态人脸反欺骗攻击检测挑战赛。在 </a:t>
            </a:r>
            <a:r>
              <a:rPr dirty="0" sz="1000" spc="15">
                <a:latin typeface="Times New Roman"/>
                <a:cs typeface="Times New Roman"/>
              </a:rPr>
              <a:t>IEEE/CVF</a:t>
            </a:r>
            <a:r>
              <a:rPr dirty="0" sz="1000" spc="5">
                <a:latin typeface="Times New Roman"/>
                <a:cs typeface="Times New Roman"/>
              </a:rPr>
              <a:t> </a:t>
            </a:r>
            <a:r>
              <a:rPr dirty="0" sz="1000" spc="-10">
                <a:latin typeface="SimSun"/>
                <a:cs typeface="SimSun"/>
              </a:rPr>
              <a:t>计算机</a:t>
            </a:r>
            <a:r>
              <a:rPr dirty="0" sz="1000" spc="-25">
                <a:latin typeface="SimSun"/>
                <a:cs typeface="SimSun"/>
              </a:rPr>
              <a:t>视觉与模式识别会议研讨会论文集上，第 </a:t>
            </a:r>
            <a:r>
              <a:rPr dirty="0" sz="1000" spc="-10">
                <a:latin typeface="Times New Roman"/>
                <a:cs typeface="Times New Roman"/>
              </a:rPr>
              <a:t>0</a:t>
            </a:r>
            <a:r>
              <a:rPr dirty="0" sz="1000" spc="-25">
                <a:latin typeface="Times New Roman"/>
                <a:cs typeface="Times New Roman"/>
              </a:rPr>
              <a:t> - </a:t>
            </a:r>
            <a:r>
              <a:rPr dirty="0" sz="1000" spc="-10">
                <a:latin typeface="Times New Roman"/>
                <a:cs typeface="Times New Roman"/>
              </a:rPr>
              <a:t>0</a:t>
            </a:r>
            <a:r>
              <a:rPr dirty="0" sz="1000" spc="-15">
                <a:latin typeface="Times New Roman"/>
                <a:cs typeface="Times New Roman"/>
              </a:rPr>
              <a:t> </a:t>
            </a:r>
            <a:r>
              <a:rPr dirty="0" sz="1000" spc="-10">
                <a:latin typeface="SimSun"/>
                <a:cs typeface="SimSun"/>
              </a:rPr>
              <a:t>页，</a:t>
            </a:r>
            <a:r>
              <a:rPr dirty="0" sz="1000" spc="-10">
                <a:latin typeface="Times New Roman"/>
                <a:cs typeface="Times New Roman"/>
              </a:rPr>
              <a:t>2019</a:t>
            </a:r>
            <a:r>
              <a:rPr dirty="0" sz="1000" spc="-20">
                <a:latin typeface="Times New Roman"/>
                <a:cs typeface="Times New Roman"/>
              </a:rPr>
              <a:t> </a:t>
            </a:r>
            <a:r>
              <a:rPr dirty="0" sz="1000" spc="-10">
                <a:latin typeface="SimSun"/>
                <a:cs typeface="SimSun"/>
              </a:rPr>
              <a:t>年。</a:t>
            </a:r>
            <a:r>
              <a:rPr dirty="0" sz="1000" spc="-10">
                <a:latin typeface="Times New Roman"/>
                <a:cs typeface="Times New Roman"/>
              </a:rPr>
              <a:t>1</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[19]</a:t>
            </a:r>
            <a:r>
              <a:rPr dirty="0" sz="1000" spc="75">
                <a:latin typeface="Times New Roman"/>
                <a:cs typeface="Times New Roman"/>
              </a:rPr>
              <a:t> </a:t>
            </a:r>
            <a:r>
              <a:rPr dirty="0" sz="1000">
                <a:latin typeface="Times New Roman"/>
                <a:cs typeface="Times New Roman"/>
              </a:rPr>
              <a:t>Mengyuan</a:t>
            </a:r>
            <a:r>
              <a:rPr dirty="0" sz="1000" spc="80">
                <a:latin typeface="Times New Roman"/>
                <a:cs typeface="Times New Roman"/>
              </a:rPr>
              <a:t> </a:t>
            </a:r>
            <a:r>
              <a:rPr dirty="0" sz="1000">
                <a:latin typeface="Times New Roman"/>
                <a:cs typeface="Times New Roman"/>
              </a:rPr>
              <a:t>Liu</a:t>
            </a:r>
            <a:r>
              <a:rPr dirty="0" sz="1000" spc="80">
                <a:latin typeface="Times New Roman"/>
                <a:cs typeface="Times New Roman"/>
              </a:rPr>
              <a:t> </a:t>
            </a:r>
            <a:r>
              <a:rPr dirty="0" sz="1000">
                <a:latin typeface="Times New Roman"/>
                <a:cs typeface="Times New Roman"/>
              </a:rPr>
              <a:t>and</a:t>
            </a:r>
            <a:r>
              <a:rPr dirty="0" sz="1000" spc="80">
                <a:latin typeface="Times New Roman"/>
                <a:cs typeface="Times New Roman"/>
              </a:rPr>
              <a:t> </a:t>
            </a:r>
            <a:r>
              <a:rPr dirty="0" sz="1000">
                <a:latin typeface="Times New Roman"/>
                <a:cs typeface="Times New Roman"/>
              </a:rPr>
              <a:t>Junsong</a:t>
            </a:r>
            <a:r>
              <a:rPr dirty="0" sz="1000" spc="75">
                <a:latin typeface="Times New Roman"/>
                <a:cs typeface="Times New Roman"/>
              </a:rPr>
              <a:t> </a:t>
            </a:r>
            <a:r>
              <a:rPr dirty="0" sz="1000">
                <a:latin typeface="Times New Roman"/>
                <a:cs typeface="Times New Roman"/>
              </a:rPr>
              <a:t>Yuan.</a:t>
            </a:r>
            <a:r>
              <a:rPr dirty="0" sz="1000" spc="220">
                <a:latin typeface="Times New Roman"/>
                <a:cs typeface="Times New Roman"/>
              </a:rPr>
              <a:t> </a:t>
            </a:r>
            <a:r>
              <a:rPr dirty="0" sz="1000">
                <a:latin typeface="Times New Roman"/>
                <a:cs typeface="Times New Roman"/>
              </a:rPr>
              <a:t>Recognizing</a:t>
            </a:r>
            <a:r>
              <a:rPr dirty="0" sz="1000" spc="80">
                <a:latin typeface="Times New Roman"/>
                <a:cs typeface="Times New Roman"/>
              </a:rPr>
              <a:t> </a:t>
            </a:r>
            <a:r>
              <a:rPr dirty="0" sz="1000" spc="60">
                <a:latin typeface="Times New Roman"/>
                <a:cs typeface="Times New Roman"/>
              </a:rPr>
              <a:t>human</a:t>
            </a:r>
            <a:r>
              <a:rPr dirty="0" sz="1000" spc="80">
                <a:latin typeface="Times New Roman"/>
                <a:cs typeface="Times New Roman"/>
              </a:rPr>
              <a:t> </a:t>
            </a:r>
            <a:r>
              <a:rPr dirty="0" sz="1000">
                <a:latin typeface="Times New Roman"/>
                <a:cs typeface="Times New Roman"/>
              </a:rPr>
              <a:t>actions</a:t>
            </a:r>
            <a:r>
              <a:rPr dirty="0" sz="1000" spc="80">
                <a:latin typeface="Times New Roman"/>
                <a:cs typeface="Times New Roman"/>
              </a:rPr>
              <a:t> </a:t>
            </a:r>
            <a:r>
              <a:rPr dirty="0" sz="1000">
                <a:latin typeface="Times New Roman"/>
                <a:cs typeface="Times New Roman"/>
              </a:rPr>
              <a:t>as</a:t>
            </a:r>
            <a:r>
              <a:rPr dirty="0" sz="1000" spc="75">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evolution</a:t>
            </a:r>
            <a:r>
              <a:rPr dirty="0" sz="1000" spc="80">
                <a:latin typeface="Times New Roman"/>
                <a:cs typeface="Times New Roman"/>
              </a:rPr>
              <a:t> </a:t>
            </a:r>
            <a:r>
              <a:rPr dirty="0" sz="1000">
                <a:latin typeface="Times New Roman"/>
                <a:cs typeface="Times New Roman"/>
              </a:rPr>
              <a:t>of</a:t>
            </a:r>
            <a:r>
              <a:rPr dirty="0" sz="1000" spc="80">
                <a:latin typeface="Times New Roman"/>
                <a:cs typeface="Times New Roman"/>
              </a:rPr>
              <a:t> </a:t>
            </a:r>
            <a:r>
              <a:rPr dirty="0" sz="1000">
                <a:latin typeface="Times New Roman"/>
                <a:cs typeface="Times New Roman"/>
              </a:rPr>
              <a:t>pose</a:t>
            </a:r>
            <a:r>
              <a:rPr dirty="0" sz="1000" spc="80">
                <a:latin typeface="Times New Roman"/>
                <a:cs typeface="Times New Roman"/>
              </a:rPr>
              <a:t> </a:t>
            </a:r>
            <a:r>
              <a:rPr dirty="0" sz="1000" spc="-10">
                <a:latin typeface="Times New Roman"/>
                <a:cs typeface="Times New Roman"/>
              </a:rPr>
              <a:t>estimation </a:t>
            </a:r>
            <a:r>
              <a:rPr dirty="0" sz="1000">
                <a:latin typeface="Times New Roman"/>
                <a:cs typeface="Times New Roman"/>
              </a:rPr>
              <a:t>maps.</a:t>
            </a:r>
            <a:r>
              <a:rPr dirty="0" sz="1000" spc="225">
                <a:latin typeface="Times New Roman"/>
                <a:cs typeface="Times New Roman"/>
              </a:rPr>
              <a:t> </a:t>
            </a:r>
            <a:r>
              <a:rPr dirty="0" sz="1000">
                <a:latin typeface="Times New Roman"/>
                <a:cs typeface="Times New Roman"/>
              </a:rPr>
              <a:t>In</a:t>
            </a:r>
            <a:r>
              <a:rPr dirty="0" sz="1000" spc="50">
                <a:latin typeface="Times New Roman"/>
                <a:cs typeface="Times New Roman"/>
              </a:rPr>
              <a:t> </a:t>
            </a:r>
            <a:r>
              <a:rPr dirty="0" sz="1000">
                <a:latin typeface="Times New Roman"/>
                <a:cs typeface="Times New Roman"/>
              </a:rPr>
              <a:t>Proceedings</a:t>
            </a:r>
            <a:r>
              <a:rPr dirty="0" sz="1000" spc="45">
                <a:latin typeface="Times New Roman"/>
                <a:cs typeface="Times New Roman"/>
              </a:rPr>
              <a:t> </a:t>
            </a:r>
            <a:r>
              <a:rPr dirty="0" sz="1000" spc="-35">
                <a:latin typeface="Times New Roman"/>
                <a:cs typeface="Times New Roman"/>
              </a:rPr>
              <a:t>of</a:t>
            </a:r>
            <a:r>
              <a:rPr dirty="0" sz="1000" spc="50">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a:latin typeface="Times New Roman"/>
                <a:cs typeface="Times New Roman"/>
              </a:rPr>
              <a:t>IEEE</a:t>
            </a:r>
            <a:r>
              <a:rPr dirty="0" sz="1000" spc="45">
                <a:latin typeface="Times New Roman"/>
                <a:cs typeface="Times New Roman"/>
              </a:rPr>
              <a:t> </a:t>
            </a:r>
            <a:r>
              <a:rPr dirty="0" sz="1000">
                <a:latin typeface="Times New Roman"/>
                <a:cs typeface="Times New Roman"/>
              </a:rPr>
              <a:t>Conference</a:t>
            </a:r>
            <a:r>
              <a:rPr dirty="0" sz="1000" spc="50">
                <a:latin typeface="Times New Roman"/>
                <a:cs typeface="Times New Roman"/>
              </a:rPr>
              <a:t> </a:t>
            </a:r>
            <a:r>
              <a:rPr dirty="0" sz="1000">
                <a:latin typeface="Times New Roman"/>
                <a:cs typeface="Times New Roman"/>
              </a:rPr>
              <a:t>on</a:t>
            </a:r>
            <a:r>
              <a:rPr dirty="0" sz="1000" spc="45">
                <a:latin typeface="Times New Roman"/>
                <a:cs typeface="Times New Roman"/>
              </a:rPr>
              <a:t> </a:t>
            </a:r>
            <a:r>
              <a:rPr dirty="0" sz="1000">
                <a:latin typeface="Times New Roman"/>
                <a:cs typeface="Times New Roman"/>
              </a:rPr>
              <a:t>Computer</a:t>
            </a:r>
            <a:r>
              <a:rPr dirty="0" sz="1000" spc="50">
                <a:latin typeface="Times New Roman"/>
                <a:cs typeface="Times New Roman"/>
              </a:rPr>
              <a:t> </a:t>
            </a:r>
            <a:r>
              <a:rPr dirty="0" sz="1000">
                <a:latin typeface="Times New Roman"/>
                <a:cs typeface="Times New Roman"/>
              </a:rPr>
              <a:t>Vision</a:t>
            </a:r>
            <a:r>
              <a:rPr dirty="0" sz="1000" spc="45">
                <a:latin typeface="Times New Roman"/>
                <a:cs typeface="Times New Roman"/>
              </a:rPr>
              <a:t> </a:t>
            </a:r>
            <a:r>
              <a:rPr dirty="0" sz="1000">
                <a:latin typeface="Times New Roman"/>
                <a:cs typeface="Times New Roman"/>
              </a:rPr>
              <a:t>and</a:t>
            </a:r>
            <a:r>
              <a:rPr dirty="0" sz="1000" spc="50">
                <a:latin typeface="Times New Roman"/>
                <a:cs typeface="Times New Roman"/>
              </a:rPr>
              <a:t> </a:t>
            </a:r>
            <a:r>
              <a:rPr dirty="0" sz="1000">
                <a:latin typeface="Times New Roman"/>
                <a:cs typeface="Times New Roman"/>
              </a:rPr>
              <a:t>Pattern</a:t>
            </a:r>
            <a:r>
              <a:rPr dirty="0" sz="1000" spc="45">
                <a:latin typeface="Times New Roman"/>
                <a:cs typeface="Times New Roman"/>
              </a:rPr>
              <a:t> </a:t>
            </a:r>
            <a:r>
              <a:rPr dirty="0" sz="1000">
                <a:latin typeface="Times New Roman"/>
                <a:cs typeface="Times New Roman"/>
              </a:rPr>
              <a:t>Recognition,</a:t>
            </a:r>
            <a:r>
              <a:rPr dirty="0" sz="1000" spc="65">
                <a:latin typeface="Times New Roman"/>
                <a:cs typeface="Times New Roman"/>
              </a:rPr>
              <a:t> </a:t>
            </a:r>
            <a:r>
              <a:rPr dirty="0" sz="1000">
                <a:latin typeface="Times New Roman"/>
                <a:cs typeface="Times New Roman"/>
              </a:rPr>
              <a:t>pages</a:t>
            </a:r>
            <a:r>
              <a:rPr dirty="0" sz="1000" spc="45">
                <a:latin typeface="Times New Roman"/>
                <a:cs typeface="Times New Roman"/>
              </a:rPr>
              <a:t> </a:t>
            </a:r>
            <a:r>
              <a:rPr dirty="0" sz="1000" spc="-10">
                <a:latin typeface="Times New Roman"/>
                <a:cs typeface="Times New Roman"/>
              </a:rPr>
              <a:t>1159-1168, </a:t>
            </a:r>
            <a:r>
              <a:rPr dirty="0" sz="1000">
                <a:latin typeface="Times New Roman"/>
                <a:cs typeface="Times New Roman"/>
              </a:rPr>
              <a:t>2018.</a:t>
            </a:r>
            <a:r>
              <a:rPr dirty="0" sz="1000" spc="15">
                <a:latin typeface="Times New Roman"/>
                <a:cs typeface="Times New Roman"/>
              </a:rPr>
              <a:t> </a:t>
            </a:r>
            <a:r>
              <a:rPr dirty="0" sz="1000" spc="-50">
                <a:latin typeface="Times New Roman"/>
                <a:cs typeface="Times New Roman"/>
              </a:rPr>
              <a:t>2</a:t>
            </a:r>
            <a:endParaRPr sz="1000">
              <a:latin typeface="Times New Roman"/>
              <a:cs typeface="Times New Roman"/>
            </a:endParaRPr>
          </a:p>
        </p:txBody>
      </p:sp>
      <p:sp>
        <p:nvSpPr>
          <p:cNvPr id="21" name="object 21"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98"/>
            <a:ext cx="5760085" cy="546100"/>
            <a:chOff x="899998" y="899998"/>
            <a:chExt cx="5760085" cy="546100"/>
          </a:xfrm>
        </p:grpSpPr>
        <p:sp>
          <p:nvSpPr>
            <p:cNvPr id="3" name="object 3" descr=""/>
            <p:cNvSpPr/>
            <p:nvPr/>
          </p:nvSpPr>
          <p:spPr>
            <a:xfrm>
              <a:off x="899998" y="899998"/>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98"/>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235364"/>
            <a:ext cx="5760085" cy="742950"/>
            <a:chOff x="899998" y="2235364"/>
            <a:chExt cx="5760085" cy="742950"/>
          </a:xfrm>
        </p:grpSpPr>
        <p:sp>
          <p:nvSpPr>
            <p:cNvPr id="6" name="object 6" descr=""/>
            <p:cNvSpPr/>
            <p:nvPr/>
          </p:nvSpPr>
          <p:spPr>
            <a:xfrm>
              <a:off x="899998" y="2235364"/>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861"/>
                  </a:lnTo>
                  <a:lnTo>
                    <a:pt x="2829" y="720874"/>
                  </a:lnTo>
                  <a:lnTo>
                    <a:pt x="10544" y="732317"/>
                  </a:lnTo>
                  <a:lnTo>
                    <a:pt x="21987" y="740032"/>
                  </a:lnTo>
                  <a:lnTo>
                    <a:pt x="36000" y="742861"/>
                  </a:lnTo>
                  <a:lnTo>
                    <a:pt x="5724074" y="742861"/>
                  </a:lnTo>
                  <a:lnTo>
                    <a:pt x="5738087" y="740032"/>
                  </a:lnTo>
                  <a:lnTo>
                    <a:pt x="5749530" y="732317"/>
                  </a:lnTo>
                  <a:lnTo>
                    <a:pt x="5757245" y="720874"/>
                  </a:lnTo>
                  <a:lnTo>
                    <a:pt x="5760074" y="70686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235364"/>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861"/>
                  </a:lnTo>
                  <a:lnTo>
                    <a:pt x="2829" y="720874"/>
                  </a:lnTo>
                  <a:lnTo>
                    <a:pt x="10544" y="732317"/>
                  </a:lnTo>
                  <a:lnTo>
                    <a:pt x="21987" y="740032"/>
                  </a:lnTo>
                  <a:lnTo>
                    <a:pt x="36000" y="742861"/>
                  </a:lnTo>
                  <a:lnTo>
                    <a:pt x="5724074" y="742861"/>
                  </a:lnTo>
                  <a:lnTo>
                    <a:pt x="5738087" y="740032"/>
                  </a:lnTo>
                  <a:lnTo>
                    <a:pt x="5749530" y="732317"/>
                  </a:lnTo>
                  <a:lnTo>
                    <a:pt x="5757245" y="720874"/>
                  </a:lnTo>
                  <a:lnTo>
                    <a:pt x="5760074" y="70686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3767734"/>
            <a:ext cx="5760085" cy="546100"/>
            <a:chOff x="899998" y="3767734"/>
            <a:chExt cx="5760085" cy="546100"/>
          </a:xfrm>
        </p:grpSpPr>
        <p:sp>
          <p:nvSpPr>
            <p:cNvPr id="9" name="object 9" descr=""/>
            <p:cNvSpPr/>
            <p:nvPr/>
          </p:nvSpPr>
          <p:spPr>
            <a:xfrm>
              <a:off x="899998" y="3767734"/>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3767734"/>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5103113"/>
            <a:ext cx="5760085" cy="742950"/>
            <a:chOff x="899998" y="5103113"/>
            <a:chExt cx="5760085" cy="742950"/>
          </a:xfrm>
        </p:grpSpPr>
        <p:sp>
          <p:nvSpPr>
            <p:cNvPr id="12" name="object 12" descr=""/>
            <p:cNvSpPr/>
            <p:nvPr/>
          </p:nvSpPr>
          <p:spPr>
            <a:xfrm>
              <a:off x="899998" y="5103113"/>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861"/>
                  </a:lnTo>
                  <a:lnTo>
                    <a:pt x="2829" y="720874"/>
                  </a:lnTo>
                  <a:lnTo>
                    <a:pt x="10544" y="732317"/>
                  </a:lnTo>
                  <a:lnTo>
                    <a:pt x="21987" y="740032"/>
                  </a:lnTo>
                  <a:lnTo>
                    <a:pt x="36000" y="742861"/>
                  </a:lnTo>
                  <a:lnTo>
                    <a:pt x="5724074" y="742861"/>
                  </a:lnTo>
                  <a:lnTo>
                    <a:pt x="5738087" y="740032"/>
                  </a:lnTo>
                  <a:lnTo>
                    <a:pt x="5749530" y="732317"/>
                  </a:lnTo>
                  <a:lnTo>
                    <a:pt x="5757245" y="720874"/>
                  </a:lnTo>
                  <a:lnTo>
                    <a:pt x="5760074" y="70686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5103113"/>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861"/>
                  </a:lnTo>
                  <a:lnTo>
                    <a:pt x="2829" y="720874"/>
                  </a:lnTo>
                  <a:lnTo>
                    <a:pt x="10544" y="732317"/>
                  </a:lnTo>
                  <a:lnTo>
                    <a:pt x="21987" y="740032"/>
                  </a:lnTo>
                  <a:lnTo>
                    <a:pt x="36000" y="742861"/>
                  </a:lnTo>
                  <a:lnTo>
                    <a:pt x="5724074" y="742861"/>
                  </a:lnTo>
                  <a:lnTo>
                    <a:pt x="5738087" y="740032"/>
                  </a:lnTo>
                  <a:lnTo>
                    <a:pt x="5749530" y="732317"/>
                  </a:lnTo>
                  <a:lnTo>
                    <a:pt x="5757245" y="720874"/>
                  </a:lnTo>
                  <a:lnTo>
                    <a:pt x="5760074" y="70686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6635481"/>
            <a:ext cx="5760085" cy="742950"/>
            <a:chOff x="899998" y="6635481"/>
            <a:chExt cx="5760085" cy="742950"/>
          </a:xfrm>
        </p:grpSpPr>
        <p:sp>
          <p:nvSpPr>
            <p:cNvPr id="15" name="object 15" descr=""/>
            <p:cNvSpPr/>
            <p:nvPr/>
          </p:nvSpPr>
          <p:spPr>
            <a:xfrm>
              <a:off x="899998" y="6635481"/>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355"/>
                  </a:lnTo>
                  <a:lnTo>
                    <a:pt x="2829" y="720368"/>
                  </a:lnTo>
                  <a:lnTo>
                    <a:pt x="10544" y="731811"/>
                  </a:lnTo>
                  <a:lnTo>
                    <a:pt x="21987" y="739526"/>
                  </a:lnTo>
                  <a:lnTo>
                    <a:pt x="36000" y="742355"/>
                  </a:lnTo>
                  <a:lnTo>
                    <a:pt x="5724074" y="742355"/>
                  </a:lnTo>
                  <a:lnTo>
                    <a:pt x="5738087" y="739526"/>
                  </a:lnTo>
                  <a:lnTo>
                    <a:pt x="5749530" y="731811"/>
                  </a:lnTo>
                  <a:lnTo>
                    <a:pt x="5757245" y="720368"/>
                  </a:lnTo>
                  <a:lnTo>
                    <a:pt x="5760074" y="70635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6635481"/>
              <a:ext cx="5760085" cy="742950"/>
            </a:xfrm>
            <a:custGeom>
              <a:avLst/>
              <a:gdLst/>
              <a:ahLst/>
              <a:cxnLst/>
              <a:rect l="l" t="t" r="r" b="b"/>
              <a:pathLst>
                <a:path w="5760084" h="742950">
                  <a:moveTo>
                    <a:pt x="5724074" y="0"/>
                  </a:moveTo>
                  <a:lnTo>
                    <a:pt x="36000" y="0"/>
                  </a:lnTo>
                  <a:lnTo>
                    <a:pt x="21987" y="2829"/>
                  </a:lnTo>
                  <a:lnTo>
                    <a:pt x="10544" y="10544"/>
                  </a:lnTo>
                  <a:lnTo>
                    <a:pt x="2829" y="21987"/>
                  </a:lnTo>
                  <a:lnTo>
                    <a:pt x="0" y="36000"/>
                  </a:lnTo>
                  <a:lnTo>
                    <a:pt x="0" y="706355"/>
                  </a:lnTo>
                  <a:lnTo>
                    <a:pt x="2829" y="720368"/>
                  </a:lnTo>
                  <a:lnTo>
                    <a:pt x="10544" y="731811"/>
                  </a:lnTo>
                  <a:lnTo>
                    <a:pt x="21987" y="739526"/>
                  </a:lnTo>
                  <a:lnTo>
                    <a:pt x="36000" y="742355"/>
                  </a:lnTo>
                  <a:lnTo>
                    <a:pt x="5724074" y="742355"/>
                  </a:lnTo>
                  <a:lnTo>
                    <a:pt x="5738087" y="739526"/>
                  </a:lnTo>
                  <a:lnTo>
                    <a:pt x="5749530" y="731811"/>
                  </a:lnTo>
                  <a:lnTo>
                    <a:pt x="5757245" y="720368"/>
                  </a:lnTo>
                  <a:lnTo>
                    <a:pt x="5760074" y="70635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8167354"/>
            <a:ext cx="5760085" cy="545465"/>
            <a:chOff x="899998" y="8167354"/>
            <a:chExt cx="5760085" cy="545465"/>
          </a:xfrm>
        </p:grpSpPr>
        <p:sp>
          <p:nvSpPr>
            <p:cNvPr id="18" name="object 18" descr=""/>
            <p:cNvSpPr/>
            <p:nvPr/>
          </p:nvSpPr>
          <p:spPr>
            <a:xfrm>
              <a:off x="899998" y="8167354"/>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8167354"/>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0" name="object 20" descr=""/>
          <p:cNvSpPr txBox="1"/>
          <p:nvPr/>
        </p:nvSpPr>
        <p:spPr>
          <a:xfrm>
            <a:off x="887298" y="930891"/>
            <a:ext cx="5785485" cy="8451850"/>
          </a:xfrm>
          <a:prstGeom prst="rect">
            <a:avLst/>
          </a:prstGeom>
        </p:spPr>
        <p:txBody>
          <a:bodyPr wrap="square" lIns="0" tIns="12700" rIns="0" bIns="0" rtlCol="0" vert="horz">
            <a:spAutoFit/>
          </a:bodyPr>
          <a:lstStyle/>
          <a:p>
            <a:pPr algn="just" marL="192405" marR="184785" indent="242570">
              <a:lnSpc>
                <a:spcPct val="129500"/>
              </a:lnSpc>
              <a:spcBef>
                <a:spcPts val="100"/>
              </a:spcBef>
              <a:buFont typeface="Times New Roman"/>
              <a:buAutoNum type="arabicPlain" startAt="19"/>
              <a:tabLst>
                <a:tab pos="434975" algn="l"/>
              </a:tabLst>
            </a:pPr>
            <a:r>
              <a:rPr dirty="0" sz="1000" spc="-5">
                <a:latin typeface="SimSun"/>
                <a:cs typeface="SimSun"/>
              </a:rPr>
              <a:t>刘梦媛、袁军松。将人类动作识别为姿态估计图的演变。在</a:t>
            </a:r>
            <a:r>
              <a:rPr dirty="0" sz="1000">
                <a:latin typeface="Times New Roman"/>
                <a:cs typeface="Times New Roman"/>
              </a:rPr>
              <a:t>IEEE </a:t>
            </a:r>
            <a:r>
              <a:rPr dirty="0" sz="1000" spc="-15">
                <a:latin typeface="SimSun"/>
                <a:cs typeface="SimSun"/>
              </a:rPr>
              <a:t>计算机视觉与模式识别会议</a:t>
            </a:r>
            <a:r>
              <a:rPr dirty="0" sz="1000" spc="-50">
                <a:latin typeface="SimSun"/>
                <a:cs typeface="SimSun"/>
              </a:rPr>
              <a:t>论文集上，第 </a:t>
            </a:r>
            <a:r>
              <a:rPr dirty="0" sz="1000">
                <a:latin typeface="Times New Roman"/>
                <a:cs typeface="Times New Roman"/>
              </a:rPr>
              <a:t>1159</a:t>
            </a:r>
            <a:r>
              <a:rPr dirty="0" sz="1000" spc="-40">
                <a:latin typeface="Times New Roman"/>
                <a:cs typeface="Times New Roman"/>
              </a:rPr>
              <a:t> - </a:t>
            </a:r>
            <a:r>
              <a:rPr dirty="0" sz="1000">
                <a:latin typeface="Times New Roman"/>
                <a:cs typeface="Times New Roman"/>
              </a:rPr>
              <a:t>1168</a:t>
            </a:r>
            <a:r>
              <a:rPr dirty="0" sz="1000" spc="-45">
                <a:latin typeface="Times New Roman"/>
                <a:cs typeface="Times New Roman"/>
              </a:rPr>
              <a:t> </a:t>
            </a:r>
            <a:r>
              <a:rPr dirty="0" sz="1000" spc="-10">
                <a:latin typeface="SimSun"/>
                <a:cs typeface="SimSun"/>
              </a:rPr>
              <a:t>页，</a:t>
            </a:r>
            <a:r>
              <a:rPr dirty="0" sz="1000" spc="-10">
                <a:latin typeface="Times New Roman"/>
                <a:cs typeface="Times New Roman"/>
              </a:rPr>
              <a:t>2018</a:t>
            </a:r>
            <a:r>
              <a:rPr dirty="0" sz="1000" spc="-40">
                <a:latin typeface="Times New Roman"/>
                <a:cs typeface="Times New Roman"/>
              </a:rPr>
              <a:t> </a:t>
            </a:r>
            <a:r>
              <a:rPr dirty="0" sz="1000" spc="-10">
                <a:latin typeface="SimSun"/>
                <a:cs typeface="SimSun"/>
              </a:rPr>
              <a:t>年。</a:t>
            </a:r>
            <a:r>
              <a:rPr dirty="0" sz="1000" spc="-50">
                <a:latin typeface="Times New Roman"/>
                <a:cs typeface="Times New Roman"/>
              </a:rPr>
              <a:t>2</a:t>
            </a:r>
            <a:endParaRPr sz="1000">
              <a:latin typeface="Times New Roman"/>
              <a:cs typeface="Times New Roman"/>
            </a:endParaRPr>
          </a:p>
          <a:p>
            <a:pPr>
              <a:lnSpc>
                <a:spcPct val="100000"/>
              </a:lnSpc>
              <a:spcBef>
                <a:spcPts val="204"/>
              </a:spcBef>
              <a:buFont typeface="Times New Roman"/>
              <a:buAutoNum type="arabicPlain" startAt="19"/>
            </a:pPr>
            <a:endParaRPr sz="1000">
              <a:latin typeface="Times New Roman"/>
              <a:cs typeface="Times New Roman"/>
            </a:endParaRPr>
          </a:p>
          <a:p>
            <a:pPr algn="just" marL="12700" marR="5080" indent="499109">
              <a:lnSpc>
                <a:spcPct val="129500"/>
              </a:lnSpc>
              <a:buAutoNum type="arabicPlain" startAt="19"/>
              <a:tabLst>
                <a:tab pos="511809" algn="l"/>
              </a:tabLst>
            </a:pPr>
            <a:r>
              <a:rPr dirty="0" sz="1000">
                <a:latin typeface="Times New Roman"/>
                <a:cs typeface="Times New Roman"/>
              </a:rPr>
              <a:t>Brian</a:t>
            </a:r>
            <a:r>
              <a:rPr dirty="0" sz="1000" spc="65">
                <a:latin typeface="Times New Roman"/>
                <a:cs typeface="Times New Roman"/>
              </a:rPr>
              <a:t> </a:t>
            </a:r>
            <a:r>
              <a:rPr dirty="0" sz="1000">
                <a:latin typeface="Times New Roman"/>
                <a:cs typeface="Times New Roman"/>
              </a:rPr>
              <a:t>McFee,</a:t>
            </a:r>
            <a:r>
              <a:rPr dirty="0" sz="1000" spc="80">
                <a:latin typeface="Times New Roman"/>
                <a:cs typeface="Times New Roman"/>
              </a:rPr>
              <a:t> </a:t>
            </a:r>
            <a:r>
              <a:rPr dirty="0" sz="1000">
                <a:latin typeface="Times New Roman"/>
                <a:cs typeface="Times New Roman"/>
              </a:rPr>
              <a:t>Colin</a:t>
            </a:r>
            <a:r>
              <a:rPr dirty="0" sz="1000" spc="70">
                <a:latin typeface="Times New Roman"/>
                <a:cs typeface="Times New Roman"/>
              </a:rPr>
              <a:t> </a:t>
            </a:r>
            <a:r>
              <a:rPr dirty="0" sz="1000">
                <a:latin typeface="Times New Roman"/>
                <a:cs typeface="Times New Roman"/>
              </a:rPr>
              <a:t>Raffel,</a:t>
            </a:r>
            <a:r>
              <a:rPr dirty="0" sz="1000" spc="75">
                <a:latin typeface="Times New Roman"/>
                <a:cs typeface="Times New Roman"/>
              </a:rPr>
              <a:t> </a:t>
            </a:r>
            <a:r>
              <a:rPr dirty="0" sz="1000">
                <a:latin typeface="Times New Roman"/>
                <a:cs typeface="Times New Roman"/>
              </a:rPr>
              <a:t>Dawen</a:t>
            </a:r>
            <a:r>
              <a:rPr dirty="0" sz="1000" spc="70">
                <a:latin typeface="Times New Roman"/>
                <a:cs typeface="Times New Roman"/>
              </a:rPr>
              <a:t> </a:t>
            </a:r>
            <a:r>
              <a:rPr dirty="0" sz="1000">
                <a:latin typeface="Times New Roman"/>
                <a:cs typeface="Times New Roman"/>
              </a:rPr>
              <a:t>Liang,</a:t>
            </a:r>
            <a:r>
              <a:rPr dirty="0" sz="1000" spc="80">
                <a:latin typeface="Times New Roman"/>
                <a:cs typeface="Times New Roman"/>
              </a:rPr>
              <a:t> </a:t>
            </a:r>
            <a:r>
              <a:rPr dirty="0" sz="1000">
                <a:latin typeface="Times New Roman"/>
                <a:cs typeface="Times New Roman"/>
              </a:rPr>
              <a:t>Daniel</a:t>
            </a:r>
            <a:r>
              <a:rPr dirty="0" sz="1000" spc="70">
                <a:latin typeface="Times New Roman"/>
                <a:cs typeface="Times New Roman"/>
              </a:rPr>
              <a:t> </a:t>
            </a:r>
            <a:r>
              <a:rPr dirty="0" sz="1000">
                <a:latin typeface="Times New Roman"/>
                <a:cs typeface="Times New Roman"/>
              </a:rPr>
              <a:t>P</a:t>
            </a:r>
            <a:r>
              <a:rPr dirty="0" sz="1000" spc="65">
                <a:latin typeface="Times New Roman"/>
                <a:cs typeface="Times New Roman"/>
              </a:rPr>
              <a:t> </a:t>
            </a:r>
            <a:r>
              <a:rPr dirty="0" sz="1000">
                <a:latin typeface="Times New Roman"/>
                <a:cs typeface="Times New Roman"/>
              </a:rPr>
              <a:t>Ellis,</a:t>
            </a:r>
            <a:r>
              <a:rPr dirty="0" sz="1000" spc="80">
                <a:latin typeface="Times New Roman"/>
                <a:cs typeface="Times New Roman"/>
              </a:rPr>
              <a:t> </a:t>
            </a:r>
            <a:r>
              <a:rPr dirty="0" sz="1000">
                <a:latin typeface="Times New Roman"/>
                <a:cs typeface="Times New Roman"/>
              </a:rPr>
              <a:t>Matt</a:t>
            </a:r>
            <a:r>
              <a:rPr dirty="0" sz="1000" spc="70">
                <a:latin typeface="Times New Roman"/>
                <a:cs typeface="Times New Roman"/>
              </a:rPr>
              <a:t> </a:t>
            </a:r>
            <a:r>
              <a:rPr dirty="0" sz="1000">
                <a:latin typeface="Times New Roman"/>
                <a:cs typeface="Times New Roman"/>
              </a:rPr>
              <a:t>McVicar,</a:t>
            </a:r>
            <a:r>
              <a:rPr dirty="0" sz="1000" spc="80">
                <a:latin typeface="Times New Roman"/>
                <a:cs typeface="Times New Roman"/>
              </a:rPr>
              <a:t> </a:t>
            </a:r>
            <a:r>
              <a:rPr dirty="0" sz="1000">
                <a:latin typeface="Times New Roman"/>
                <a:cs typeface="Times New Roman"/>
              </a:rPr>
              <a:t>Eric</a:t>
            </a:r>
            <a:r>
              <a:rPr dirty="0" sz="1000" spc="65">
                <a:latin typeface="Times New Roman"/>
                <a:cs typeface="Times New Roman"/>
              </a:rPr>
              <a:t> </a:t>
            </a:r>
            <a:r>
              <a:rPr dirty="0" sz="1000">
                <a:latin typeface="Times New Roman"/>
                <a:cs typeface="Times New Roman"/>
              </a:rPr>
              <a:t>Battenberg,</a:t>
            </a:r>
            <a:r>
              <a:rPr dirty="0" sz="1000" spc="80">
                <a:latin typeface="Times New Roman"/>
                <a:cs typeface="Times New Roman"/>
              </a:rPr>
              <a:t> </a:t>
            </a:r>
            <a:r>
              <a:rPr dirty="0" sz="1000">
                <a:latin typeface="Times New Roman"/>
                <a:cs typeface="Times New Roman"/>
              </a:rPr>
              <a:t>and</a:t>
            </a:r>
            <a:r>
              <a:rPr dirty="0" sz="1000" spc="70">
                <a:latin typeface="Times New Roman"/>
                <a:cs typeface="Times New Roman"/>
              </a:rPr>
              <a:t> </a:t>
            </a:r>
            <a:r>
              <a:rPr dirty="0" sz="1000" spc="-10">
                <a:latin typeface="Times New Roman"/>
                <a:cs typeface="Times New Roman"/>
              </a:rPr>
              <a:t>Oriol </a:t>
            </a:r>
            <a:r>
              <a:rPr dirty="0" sz="1000">
                <a:latin typeface="Times New Roman"/>
                <a:cs typeface="Times New Roman"/>
              </a:rPr>
              <a:t>Nieto.</a:t>
            </a:r>
            <a:r>
              <a:rPr dirty="0" sz="1000" spc="135">
                <a:latin typeface="Times New Roman"/>
                <a:cs typeface="Times New Roman"/>
              </a:rPr>
              <a:t>  </a:t>
            </a:r>
            <a:r>
              <a:rPr dirty="0" sz="1000">
                <a:latin typeface="Times New Roman"/>
                <a:cs typeface="Times New Roman"/>
              </a:rPr>
              <a:t>librosa:</a:t>
            </a:r>
            <a:r>
              <a:rPr dirty="0" sz="1000" spc="405">
                <a:latin typeface="Times New Roman"/>
                <a:cs typeface="Times New Roman"/>
              </a:rPr>
              <a:t> </a:t>
            </a:r>
            <a:r>
              <a:rPr dirty="0" sz="1000">
                <a:latin typeface="Times New Roman"/>
                <a:cs typeface="Times New Roman"/>
              </a:rPr>
              <a:t>Audio</a:t>
            </a:r>
            <a:r>
              <a:rPr dirty="0" sz="1000" spc="170">
                <a:latin typeface="Times New Roman"/>
                <a:cs typeface="Times New Roman"/>
              </a:rPr>
              <a:t> </a:t>
            </a:r>
            <a:r>
              <a:rPr dirty="0" sz="1000">
                <a:latin typeface="Times New Roman"/>
                <a:cs typeface="Times New Roman"/>
              </a:rPr>
              <a:t>and</a:t>
            </a:r>
            <a:r>
              <a:rPr dirty="0" sz="1000" spc="175">
                <a:latin typeface="Times New Roman"/>
                <a:cs typeface="Times New Roman"/>
              </a:rPr>
              <a:t> </a:t>
            </a:r>
            <a:r>
              <a:rPr dirty="0" sz="1000">
                <a:latin typeface="Times New Roman"/>
                <a:cs typeface="Times New Roman"/>
              </a:rPr>
              <a:t>music</a:t>
            </a:r>
            <a:r>
              <a:rPr dirty="0" sz="1000" spc="170">
                <a:latin typeface="Times New Roman"/>
                <a:cs typeface="Times New Roman"/>
              </a:rPr>
              <a:t> </a:t>
            </a:r>
            <a:r>
              <a:rPr dirty="0" sz="1000">
                <a:latin typeface="Times New Roman"/>
                <a:cs typeface="Times New Roman"/>
              </a:rPr>
              <a:t>signal</a:t>
            </a:r>
            <a:r>
              <a:rPr dirty="0" sz="1000" spc="170">
                <a:latin typeface="Times New Roman"/>
                <a:cs typeface="Times New Roman"/>
              </a:rPr>
              <a:t> </a:t>
            </a:r>
            <a:r>
              <a:rPr dirty="0" sz="1000">
                <a:latin typeface="Times New Roman"/>
                <a:cs typeface="Times New Roman"/>
              </a:rPr>
              <a:t>analysis</a:t>
            </a:r>
            <a:r>
              <a:rPr dirty="0" sz="1000" spc="170">
                <a:latin typeface="Times New Roman"/>
                <a:cs typeface="Times New Roman"/>
              </a:rPr>
              <a:t> </a:t>
            </a:r>
            <a:r>
              <a:rPr dirty="0" sz="1000">
                <a:latin typeface="Times New Roman"/>
                <a:cs typeface="Times New Roman"/>
              </a:rPr>
              <a:t>in</a:t>
            </a:r>
            <a:r>
              <a:rPr dirty="0" sz="1000" spc="170">
                <a:latin typeface="Times New Roman"/>
                <a:cs typeface="Times New Roman"/>
              </a:rPr>
              <a:t> </a:t>
            </a:r>
            <a:r>
              <a:rPr dirty="0" sz="1000">
                <a:latin typeface="Times New Roman"/>
                <a:cs typeface="Times New Roman"/>
              </a:rPr>
              <a:t>python.</a:t>
            </a:r>
            <a:r>
              <a:rPr dirty="0" sz="1000" spc="140">
                <a:latin typeface="Times New Roman"/>
                <a:cs typeface="Times New Roman"/>
              </a:rPr>
              <a:t>  </a:t>
            </a:r>
            <a:r>
              <a:rPr dirty="0" sz="1000">
                <a:latin typeface="Times New Roman"/>
                <a:cs typeface="Times New Roman"/>
              </a:rPr>
              <a:t>In</a:t>
            </a:r>
            <a:r>
              <a:rPr dirty="0" sz="1000" spc="170">
                <a:latin typeface="Times New Roman"/>
                <a:cs typeface="Times New Roman"/>
              </a:rPr>
              <a:t> </a:t>
            </a:r>
            <a:r>
              <a:rPr dirty="0" sz="1000">
                <a:latin typeface="Times New Roman"/>
                <a:cs typeface="Times New Roman"/>
              </a:rPr>
              <a:t>Proceedings</a:t>
            </a:r>
            <a:r>
              <a:rPr dirty="0" sz="1000" spc="170">
                <a:latin typeface="Times New Roman"/>
                <a:cs typeface="Times New Roman"/>
              </a:rPr>
              <a:t> </a:t>
            </a:r>
            <a:r>
              <a:rPr dirty="0" sz="1000">
                <a:latin typeface="Times New Roman"/>
                <a:cs typeface="Times New Roman"/>
              </a:rPr>
              <a:t>of</a:t>
            </a:r>
            <a:r>
              <a:rPr dirty="0" sz="1000" spc="170">
                <a:latin typeface="Times New Roman"/>
                <a:cs typeface="Times New Roman"/>
              </a:rPr>
              <a:t> </a:t>
            </a:r>
            <a:r>
              <a:rPr dirty="0" sz="1000">
                <a:latin typeface="Times New Roman"/>
                <a:cs typeface="Times New Roman"/>
              </a:rPr>
              <a:t>the</a:t>
            </a:r>
            <a:r>
              <a:rPr dirty="0" sz="1000" spc="175">
                <a:latin typeface="Times New Roman"/>
                <a:cs typeface="Times New Roman"/>
              </a:rPr>
              <a:t> </a:t>
            </a:r>
            <a:r>
              <a:rPr dirty="0" sz="1000">
                <a:latin typeface="Times New Roman"/>
                <a:cs typeface="Times New Roman"/>
              </a:rPr>
              <a:t>14th</a:t>
            </a:r>
            <a:r>
              <a:rPr dirty="0" sz="1000" spc="170">
                <a:latin typeface="Times New Roman"/>
                <a:cs typeface="Times New Roman"/>
              </a:rPr>
              <a:t> </a:t>
            </a:r>
            <a:r>
              <a:rPr dirty="0" sz="1000">
                <a:latin typeface="Times New Roman"/>
                <a:cs typeface="Times New Roman"/>
              </a:rPr>
              <a:t>python</a:t>
            </a:r>
            <a:r>
              <a:rPr dirty="0" sz="1000" spc="170">
                <a:latin typeface="Times New Roman"/>
                <a:cs typeface="Times New Roman"/>
              </a:rPr>
              <a:t> </a:t>
            </a:r>
            <a:r>
              <a:rPr dirty="0" sz="1000">
                <a:latin typeface="Times New Roman"/>
                <a:cs typeface="Times New Roman"/>
              </a:rPr>
              <a:t>in</a:t>
            </a:r>
            <a:r>
              <a:rPr dirty="0" sz="1000" spc="170">
                <a:latin typeface="Times New Roman"/>
                <a:cs typeface="Times New Roman"/>
              </a:rPr>
              <a:t> </a:t>
            </a:r>
            <a:r>
              <a:rPr dirty="0" sz="1000" spc="-10">
                <a:latin typeface="Times New Roman"/>
                <a:cs typeface="Times New Roman"/>
              </a:rPr>
              <a:t>science </a:t>
            </a:r>
            <a:r>
              <a:rPr dirty="0" sz="1000">
                <a:latin typeface="Times New Roman"/>
                <a:cs typeface="Times New Roman"/>
              </a:rPr>
              <a:t>conference,</a:t>
            </a:r>
            <a:r>
              <a:rPr dirty="0" sz="1000" spc="15">
                <a:latin typeface="Times New Roman"/>
                <a:cs typeface="Times New Roman"/>
              </a:rPr>
              <a:t> </a:t>
            </a:r>
            <a:r>
              <a:rPr dirty="0" sz="1000">
                <a:latin typeface="Times New Roman"/>
                <a:cs typeface="Times New Roman"/>
              </a:rPr>
              <a:t>pages</a:t>
            </a:r>
            <a:r>
              <a:rPr dirty="0" sz="1000" spc="15">
                <a:latin typeface="Times New Roman"/>
                <a:cs typeface="Times New Roman"/>
              </a:rPr>
              <a:t> </a:t>
            </a:r>
            <a:r>
              <a:rPr dirty="0" sz="1000" spc="-20">
                <a:latin typeface="Times New Roman"/>
                <a:cs typeface="Times New Roman"/>
              </a:rPr>
              <a:t>18-</a:t>
            </a:r>
            <a:r>
              <a:rPr dirty="0" sz="1000">
                <a:latin typeface="Times New Roman"/>
                <a:cs typeface="Times New Roman"/>
              </a:rPr>
              <a:t>25,</a:t>
            </a:r>
            <a:r>
              <a:rPr dirty="0" sz="1000" spc="15">
                <a:latin typeface="Times New Roman"/>
                <a:cs typeface="Times New Roman"/>
              </a:rPr>
              <a:t> </a:t>
            </a:r>
            <a:r>
              <a:rPr dirty="0" sz="1000">
                <a:latin typeface="Times New Roman"/>
                <a:cs typeface="Times New Roman"/>
              </a:rPr>
              <a:t>2015.</a:t>
            </a:r>
            <a:r>
              <a:rPr dirty="0" sz="1000" spc="105">
                <a:latin typeface="Times New Roman"/>
                <a:cs typeface="Times New Roman"/>
              </a:rPr>
              <a:t> </a:t>
            </a:r>
            <a:r>
              <a:rPr dirty="0" sz="1000" spc="-50">
                <a:latin typeface="Times New Roman"/>
                <a:cs typeface="Times New Roman"/>
              </a:rPr>
              <a:t>6</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indent="238125">
              <a:lnSpc>
                <a:spcPct val="129500"/>
              </a:lnSpc>
              <a:buFont typeface="Times New Roman"/>
              <a:buAutoNum type="arabicPlain" startAt="20"/>
              <a:tabLst>
                <a:tab pos="430530" algn="l"/>
              </a:tabLst>
            </a:pPr>
            <a:r>
              <a:rPr dirty="0" sz="1000" spc="-20">
                <a:latin typeface="SimSun"/>
                <a:cs typeface="SimSun"/>
              </a:rPr>
              <a:t>布莱恩</a:t>
            </a:r>
            <a:r>
              <a:rPr dirty="0" sz="1000" spc="-700">
                <a:latin typeface="SimSun"/>
                <a:cs typeface="SimSun"/>
              </a:rPr>
              <a:t>·</a:t>
            </a:r>
            <a:r>
              <a:rPr dirty="0" sz="1000" spc="-60">
                <a:latin typeface="SimSun"/>
                <a:cs typeface="SimSun"/>
              </a:rPr>
              <a:t>麦克菲、科林</a:t>
            </a:r>
            <a:r>
              <a:rPr dirty="0" sz="1000" spc="-700">
                <a:latin typeface="SimSun"/>
                <a:cs typeface="SimSun"/>
              </a:rPr>
              <a:t>·</a:t>
            </a:r>
            <a:r>
              <a:rPr dirty="0" sz="1000" spc="-75">
                <a:latin typeface="SimSun"/>
                <a:cs typeface="SimSun"/>
              </a:rPr>
              <a:t>拉菲尔、梁大文、丹尼尔</a:t>
            </a:r>
            <a:r>
              <a:rPr dirty="0" sz="1000" spc="-470">
                <a:latin typeface="SimSun"/>
                <a:cs typeface="SimSun"/>
              </a:rPr>
              <a:t>·</a:t>
            </a:r>
            <a:r>
              <a:rPr dirty="0" sz="1000" spc="-470">
                <a:latin typeface="Times New Roman"/>
                <a:cs typeface="Times New Roman"/>
              </a:rPr>
              <a:t>P</a:t>
            </a:r>
            <a:r>
              <a:rPr dirty="0" sz="1000" spc="-470">
                <a:latin typeface="SimSun"/>
                <a:cs typeface="SimSun"/>
              </a:rPr>
              <a:t>·</a:t>
            </a:r>
            <a:r>
              <a:rPr dirty="0" sz="1000" spc="-60">
                <a:latin typeface="SimSun"/>
                <a:cs typeface="SimSun"/>
              </a:rPr>
              <a:t>埃利斯、马特</a:t>
            </a:r>
            <a:r>
              <a:rPr dirty="0" sz="1000" spc="-700">
                <a:latin typeface="SimSun"/>
                <a:cs typeface="SimSun"/>
              </a:rPr>
              <a:t>·</a:t>
            </a:r>
            <a:r>
              <a:rPr dirty="0" sz="1000" spc="-55">
                <a:latin typeface="SimSun"/>
                <a:cs typeface="SimSun"/>
              </a:rPr>
              <a:t>麦克维卡、埃里克</a:t>
            </a:r>
            <a:r>
              <a:rPr dirty="0" sz="1000" spc="-700">
                <a:latin typeface="SimSun"/>
                <a:cs typeface="SimSun"/>
              </a:rPr>
              <a:t>·</a:t>
            </a:r>
            <a:r>
              <a:rPr dirty="0" sz="1000" spc="-60">
                <a:latin typeface="SimSun"/>
                <a:cs typeface="SimSun"/>
              </a:rPr>
              <a:t>巴顿伯格、奥</a:t>
            </a:r>
            <a:r>
              <a:rPr dirty="0" sz="1000" spc="-125">
                <a:latin typeface="SimSun"/>
                <a:cs typeface="SimSun"/>
              </a:rPr>
              <a:t>里奥尔</a:t>
            </a:r>
            <a:r>
              <a:rPr dirty="0" sz="1000" spc="-340">
                <a:latin typeface="SimSun"/>
                <a:cs typeface="SimSun"/>
              </a:rPr>
              <a:t>·</a:t>
            </a:r>
            <a:r>
              <a:rPr dirty="0" sz="1000" spc="-10">
                <a:latin typeface="SimSun"/>
                <a:cs typeface="SimSun"/>
              </a:rPr>
              <a:t>涅托。</a:t>
            </a:r>
            <a:r>
              <a:rPr dirty="0" sz="1000" spc="15">
                <a:latin typeface="Times New Roman"/>
                <a:cs typeface="Times New Roman"/>
              </a:rPr>
              <a:t>librosa:Python</a:t>
            </a:r>
            <a:r>
              <a:rPr dirty="0" sz="1000" spc="-15">
                <a:latin typeface="Times New Roman"/>
                <a:cs typeface="Times New Roman"/>
              </a:rPr>
              <a:t> </a:t>
            </a:r>
            <a:r>
              <a:rPr dirty="0" sz="1000" spc="-30">
                <a:latin typeface="SimSun"/>
                <a:cs typeface="SimSun"/>
              </a:rPr>
              <a:t>中的音频和音乐信号分析。在第 </a:t>
            </a:r>
            <a:r>
              <a:rPr dirty="0" sz="1000" spc="-10">
                <a:latin typeface="Times New Roman"/>
                <a:cs typeface="Times New Roman"/>
              </a:rPr>
              <a:t>14</a:t>
            </a:r>
            <a:r>
              <a:rPr dirty="0" sz="1000" spc="-15">
                <a:latin typeface="Times New Roman"/>
                <a:cs typeface="Times New Roman"/>
              </a:rPr>
              <a:t> </a:t>
            </a:r>
            <a:r>
              <a:rPr dirty="0" sz="1000" spc="225">
                <a:latin typeface="SimSun"/>
                <a:cs typeface="SimSun"/>
              </a:rPr>
              <a:t>届</a:t>
            </a:r>
            <a:r>
              <a:rPr dirty="0" sz="1000" spc="25">
                <a:latin typeface="Times New Roman"/>
                <a:cs typeface="Times New Roman"/>
              </a:rPr>
              <a:t>Python</a:t>
            </a:r>
            <a:r>
              <a:rPr dirty="0" sz="1000" spc="-15">
                <a:latin typeface="Times New Roman"/>
                <a:cs typeface="Times New Roman"/>
              </a:rPr>
              <a:t> </a:t>
            </a:r>
            <a:r>
              <a:rPr dirty="0" sz="1000" spc="-10">
                <a:latin typeface="SimSun"/>
                <a:cs typeface="SimSun"/>
              </a:rPr>
              <a:t>科学会议论文集上，第</a:t>
            </a:r>
            <a:r>
              <a:rPr dirty="0" sz="1000" spc="-5">
                <a:latin typeface="SimSun"/>
                <a:cs typeface="SimSun"/>
              </a:rPr>
              <a:t> </a:t>
            </a:r>
            <a:r>
              <a:rPr dirty="0" sz="1000" spc="-10">
                <a:latin typeface="Times New Roman"/>
                <a:cs typeface="Times New Roman"/>
              </a:rPr>
              <a:t>18</a:t>
            </a:r>
            <a:r>
              <a:rPr dirty="0" sz="1000" spc="-25">
                <a:latin typeface="Times New Roman"/>
                <a:cs typeface="Times New Roman"/>
              </a:rPr>
              <a:t> - </a:t>
            </a:r>
            <a:r>
              <a:rPr dirty="0" sz="1000" spc="-10">
                <a:latin typeface="Times New Roman"/>
                <a:cs typeface="Times New Roman"/>
              </a:rPr>
              <a:t>25</a:t>
            </a:r>
            <a:r>
              <a:rPr dirty="0" sz="1000" spc="-20">
                <a:latin typeface="Times New Roman"/>
                <a:cs typeface="Times New Roman"/>
              </a:rPr>
              <a:t> </a:t>
            </a:r>
            <a:r>
              <a:rPr dirty="0" sz="1000" spc="-10">
                <a:latin typeface="SimSun"/>
                <a:cs typeface="SimSun"/>
              </a:rPr>
              <a:t>页，</a:t>
            </a:r>
            <a:r>
              <a:rPr dirty="0" sz="1000" spc="-10">
                <a:latin typeface="Times New Roman"/>
                <a:cs typeface="Times New Roman"/>
              </a:rPr>
              <a:t>2015</a:t>
            </a:r>
            <a:r>
              <a:rPr dirty="0" sz="1000" spc="-20">
                <a:latin typeface="Times New Roman"/>
                <a:cs typeface="Times New Roman"/>
              </a:rPr>
              <a:t> </a:t>
            </a:r>
            <a:r>
              <a:rPr dirty="0" sz="1000" spc="-10">
                <a:latin typeface="SimSun"/>
                <a:cs typeface="SimSun"/>
              </a:rPr>
              <a:t>年。</a:t>
            </a:r>
            <a:r>
              <a:rPr dirty="0" sz="1000" spc="-10">
                <a:latin typeface="Times New Roman"/>
                <a:cs typeface="Times New Roman"/>
              </a:rPr>
              <a:t>6</a:t>
            </a:r>
            <a:endParaRPr sz="1000">
              <a:latin typeface="Times New Roman"/>
              <a:cs typeface="Times New Roman"/>
            </a:endParaRPr>
          </a:p>
          <a:p>
            <a:pPr>
              <a:lnSpc>
                <a:spcPct val="100000"/>
              </a:lnSpc>
              <a:spcBef>
                <a:spcPts val="204"/>
              </a:spcBef>
              <a:buFont typeface="Times New Roman"/>
              <a:buAutoNum type="arabicPlain" startAt="20"/>
            </a:pPr>
            <a:endParaRPr sz="1000">
              <a:latin typeface="Times New Roman"/>
              <a:cs typeface="Times New Roman"/>
            </a:endParaRPr>
          </a:p>
          <a:p>
            <a:pPr algn="just" marL="12700" marR="5080" indent="500380">
              <a:lnSpc>
                <a:spcPct val="129500"/>
              </a:lnSpc>
              <a:spcBef>
                <a:spcPts val="5"/>
              </a:spcBef>
              <a:buAutoNum type="arabicPlain" startAt="20"/>
              <a:tabLst>
                <a:tab pos="513080" algn="l"/>
              </a:tabLst>
            </a:pPr>
            <a:r>
              <a:rPr dirty="0" sz="1000">
                <a:latin typeface="Times New Roman"/>
                <a:cs typeface="Times New Roman"/>
              </a:rPr>
              <a:t>Xiaokang</a:t>
            </a:r>
            <a:r>
              <a:rPr dirty="0" sz="1000" spc="90">
                <a:latin typeface="Times New Roman"/>
                <a:cs typeface="Times New Roman"/>
              </a:rPr>
              <a:t> </a:t>
            </a:r>
            <a:r>
              <a:rPr dirty="0" sz="1000">
                <a:latin typeface="Times New Roman"/>
                <a:cs typeface="Times New Roman"/>
              </a:rPr>
              <a:t>Peng,</a:t>
            </a:r>
            <a:r>
              <a:rPr dirty="0" sz="1000" spc="105">
                <a:latin typeface="Times New Roman"/>
                <a:cs typeface="Times New Roman"/>
              </a:rPr>
              <a:t> </a:t>
            </a:r>
            <a:r>
              <a:rPr dirty="0" sz="1000" spc="-10">
                <a:latin typeface="Times New Roman"/>
                <a:cs typeface="Times New Roman"/>
              </a:rPr>
              <a:t>Yake</a:t>
            </a:r>
            <a:r>
              <a:rPr dirty="0" sz="1000" spc="90">
                <a:latin typeface="Times New Roman"/>
                <a:cs typeface="Times New Roman"/>
              </a:rPr>
              <a:t> </a:t>
            </a:r>
            <a:r>
              <a:rPr dirty="0" sz="1000">
                <a:latin typeface="Times New Roman"/>
                <a:cs typeface="Times New Roman"/>
              </a:rPr>
              <a:t>Wei,</a:t>
            </a:r>
            <a:r>
              <a:rPr dirty="0" sz="1000" spc="105">
                <a:latin typeface="Times New Roman"/>
                <a:cs typeface="Times New Roman"/>
              </a:rPr>
              <a:t> </a:t>
            </a:r>
            <a:r>
              <a:rPr dirty="0" sz="1000">
                <a:latin typeface="Times New Roman"/>
                <a:cs typeface="Times New Roman"/>
              </a:rPr>
              <a:t>Andong</a:t>
            </a:r>
            <a:r>
              <a:rPr dirty="0" sz="1000" spc="90">
                <a:latin typeface="Times New Roman"/>
                <a:cs typeface="Times New Roman"/>
              </a:rPr>
              <a:t> </a:t>
            </a:r>
            <a:r>
              <a:rPr dirty="0" sz="1000">
                <a:latin typeface="Times New Roman"/>
                <a:cs typeface="Times New Roman"/>
              </a:rPr>
              <a:t>Deng,</a:t>
            </a:r>
            <a:r>
              <a:rPr dirty="0" sz="1000" spc="105">
                <a:latin typeface="Times New Roman"/>
                <a:cs typeface="Times New Roman"/>
              </a:rPr>
              <a:t> </a:t>
            </a:r>
            <a:r>
              <a:rPr dirty="0" sz="1000">
                <a:latin typeface="Times New Roman"/>
                <a:cs typeface="Times New Roman"/>
              </a:rPr>
              <a:t>Dong</a:t>
            </a:r>
            <a:r>
              <a:rPr dirty="0" sz="1000" spc="90">
                <a:latin typeface="Times New Roman"/>
                <a:cs typeface="Times New Roman"/>
              </a:rPr>
              <a:t> </a:t>
            </a:r>
            <a:r>
              <a:rPr dirty="0" sz="1000">
                <a:latin typeface="Times New Roman"/>
                <a:cs typeface="Times New Roman"/>
              </a:rPr>
              <a:t>Wang,</a:t>
            </a:r>
            <a:r>
              <a:rPr dirty="0" sz="1000" spc="105">
                <a:latin typeface="Times New Roman"/>
                <a:cs typeface="Times New Roman"/>
              </a:rPr>
              <a:t> </a:t>
            </a:r>
            <a:r>
              <a:rPr dirty="0" sz="1000">
                <a:latin typeface="Times New Roman"/>
                <a:cs typeface="Times New Roman"/>
              </a:rPr>
              <a:t>and</a:t>
            </a:r>
            <a:r>
              <a:rPr dirty="0" sz="1000" spc="90">
                <a:latin typeface="Times New Roman"/>
                <a:cs typeface="Times New Roman"/>
              </a:rPr>
              <a:t> </a:t>
            </a:r>
            <a:r>
              <a:rPr dirty="0" sz="1000">
                <a:latin typeface="Times New Roman"/>
                <a:cs typeface="Times New Roman"/>
              </a:rPr>
              <a:t>Di</a:t>
            </a:r>
            <a:r>
              <a:rPr dirty="0" sz="1000" spc="90">
                <a:latin typeface="Times New Roman"/>
                <a:cs typeface="Times New Roman"/>
              </a:rPr>
              <a:t> </a:t>
            </a:r>
            <a:r>
              <a:rPr dirty="0" sz="1000">
                <a:latin typeface="Times New Roman"/>
                <a:cs typeface="Times New Roman"/>
              </a:rPr>
              <a:t>Hu.</a:t>
            </a:r>
            <a:r>
              <a:rPr dirty="0" sz="1000" spc="305">
                <a:latin typeface="Times New Roman"/>
                <a:cs typeface="Times New Roman"/>
              </a:rPr>
              <a:t> </a:t>
            </a:r>
            <a:r>
              <a:rPr dirty="0" sz="1000">
                <a:latin typeface="Times New Roman"/>
                <a:cs typeface="Times New Roman"/>
              </a:rPr>
              <a:t>Balanced</a:t>
            </a:r>
            <a:r>
              <a:rPr dirty="0" sz="1000" spc="90">
                <a:latin typeface="Times New Roman"/>
                <a:cs typeface="Times New Roman"/>
              </a:rPr>
              <a:t> </a:t>
            </a:r>
            <a:r>
              <a:rPr dirty="0" sz="1000">
                <a:latin typeface="Times New Roman"/>
                <a:cs typeface="Times New Roman"/>
              </a:rPr>
              <a:t>multimodal</a:t>
            </a:r>
            <a:r>
              <a:rPr dirty="0" sz="1000" spc="90">
                <a:latin typeface="Times New Roman"/>
                <a:cs typeface="Times New Roman"/>
              </a:rPr>
              <a:t> </a:t>
            </a:r>
            <a:r>
              <a:rPr dirty="0" sz="1000" spc="-10">
                <a:latin typeface="Times New Roman"/>
                <a:cs typeface="Times New Roman"/>
              </a:rPr>
              <a:t>learning </a:t>
            </a:r>
            <a:r>
              <a:rPr dirty="0" sz="1000">
                <a:latin typeface="Times New Roman"/>
                <a:cs typeface="Times New Roman"/>
              </a:rPr>
              <a:t>via</a:t>
            </a:r>
            <a:r>
              <a:rPr dirty="0" sz="1000" spc="170">
                <a:latin typeface="Times New Roman"/>
                <a:cs typeface="Times New Roman"/>
              </a:rPr>
              <a:t> </a:t>
            </a:r>
            <a:r>
              <a:rPr dirty="0" sz="1000">
                <a:latin typeface="Times New Roman"/>
                <a:cs typeface="Times New Roman"/>
              </a:rPr>
              <a:t>on-the-fly</a:t>
            </a:r>
            <a:r>
              <a:rPr dirty="0" sz="1000" spc="175">
                <a:latin typeface="Times New Roman"/>
                <a:cs typeface="Times New Roman"/>
              </a:rPr>
              <a:t> </a:t>
            </a:r>
            <a:r>
              <a:rPr dirty="0" sz="1000">
                <a:latin typeface="Times New Roman"/>
                <a:cs typeface="Times New Roman"/>
              </a:rPr>
              <a:t>gradient</a:t>
            </a:r>
            <a:r>
              <a:rPr dirty="0" sz="1000" spc="170">
                <a:latin typeface="Times New Roman"/>
                <a:cs typeface="Times New Roman"/>
              </a:rPr>
              <a:t> </a:t>
            </a:r>
            <a:r>
              <a:rPr dirty="0" sz="1000">
                <a:latin typeface="Times New Roman"/>
                <a:cs typeface="Times New Roman"/>
              </a:rPr>
              <a:t>modulation.</a:t>
            </a:r>
            <a:r>
              <a:rPr dirty="0" sz="1000" spc="465">
                <a:latin typeface="Times New Roman"/>
                <a:cs typeface="Times New Roman"/>
              </a:rPr>
              <a:t> </a:t>
            </a:r>
            <a:r>
              <a:rPr dirty="0" sz="1000">
                <a:latin typeface="Times New Roman"/>
                <a:cs typeface="Times New Roman"/>
              </a:rPr>
              <a:t>In</a:t>
            </a:r>
            <a:r>
              <a:rPr dirty="0" sz="1000" spc="175">
                <a:latin typeface="Times New Roman"/>
                <a:cs typeface="Times New Roman"/>
              </a:rPr>
              <a:t> </a:t>
            </a:r>
            <a:r>
              <a:rPr dirty="0" sz="1000">
                <a:latin typeface="Times New Roman"/>
                <a:cs typeface="Times New Roman"/>
              </a:rPr>
              <a:t>Proceedings</a:t>
            </a:r>
            <a:r>
              <a:rPr dirty="0" sz="1000" spc="170">
                <a:latin typeface="Times New Roman"/>
                <a:cs typeface="Times New Roman"/>
              </a:rPr>
              <a:t> </a:t>
            </a:r>
            <a:r>
              <a:rPr dirty="0" sz="1000">
                <a:latin typeface="Times New Roman"/>
                <a:cs typeface="Times New Roman"/>
              </a:rPr>
              <a:t>of</a:t>
            </a:r>
            <a:r>
              <a:rPr dirty="0" sz="1000" spc="175">
                <a:latin typeface="Times New Roman"/>
                <a:cs typeface="Times New Roman"/>
              </a:rPr>
              <a:t> </a:t>
            </a:r>
            <a:r>
              <a:rPr dirty="0" sz="1000">
                <a:latin typeface="Times New Roman"/>
                <a:cs typeface="Times New Roman"/>
              </a:rPr>
              <a:t>the</a:t>
            </a:r>
            <a:r>
              <a:rPr dirty="0" sz="1000" spc="170">
                <a:latin typeface="Times New Roman"/>
                <a:cs typeface="Times New Roman"/>
              </a:rPr>
              <a:t> </a:t>
            </a:r>
            <a:r>
              <a:rPr dirty="0" sz="1000">
                <a:latin typeface="Times New Roman"/>
                <a:cs typeface="Times New Roman"/>
              </a:rPr>
              <a:t>IEEE/CVF</a:t>
            </a:r>
            <a:r>
              <a:rPr dirty="0" sz="1000" spc="175">
                <a:latin typeface="Times New Roman"/>
                <a:cs typeface="Times New Roman"/>
              </a:rPr>
              <a:t> </a:t>
            </a:r>
            <a:r>
              <a:rPr dirty="0" sz="1000">
                <a:latin typeface="Times New Roman"/>
                <a:cs typeface="Times New Roman"/>
              </a:rPr>
              <a:t>Conference</a:t>
            </a:r>
            <a:r>
              <a:rPr dirty="0" sz="1000" spc="175">
                <a:latin typeface="Times New Roman"/>
                <a:cs typeface="Times New Roman"/>
              </a:rPr>
              <a:t> </a:t>
            </a:r>
            <a:r>
              <a:rPr dirty="0" sz="1000">
                <a:latin typeface="Times New Roman"/>
                <a:cs typeface="Times New Roman"/>
              </a:rPr>
              <a:t>on</a:t>
            </a:r>
            <a:r>
              <a:rPr dirty="0" sz="1000" spc="170">
                <a:latin typeface="Times New Roman"/>
                <a:cs typeface="Times New Roman"/>
              </a:rPr>
              <a:t> </a:t>
            </a:r>
            <a:r>
              <a:rPr dirty="0" sz="1000">
                <a:latin typeface="Times New Roman"/>
                <a:cs typeface="Times New Roman"/>
              </a:rPr>
              <a:t>Computer</a:t>
            </a:r>
            <a:r>
              <a:rPr dirty="0" sz="1000" spc="175">
                <a:latin typeface="Times New Roman"/>
                <a:cs typeface="Times New Roman"/>
              </a:rPr>
              <a:t> </a:t>
            </a:r>
            <a:r>
              <a:rPr dirty="0" sz="1000">
                <a:latin typeface="Times New Roman"/>
                <a:cs typeface="Times New Roman"/>
              </a:rPr>
              <a:t>Vision</a:t>
            </a:r>
            <a:r>
              <a:rPr dirty="0" sz="1000" spc="170">
                <a:latin typeface="Times New Roman"/>
                <a:cs typeface="Times New Roman"/>
              </a:rPr>
              <a:t> </a:t>
            </a:r>
            <a:r>
              <a:rPr dirty="0" sz="1000" spc="-25">
                <a:latin typeface="Times New Roman"/>
                <a:cs typeface="Times New Roman"/>
              </a:rPr>
              <a:t>and </a:t>
            </a:r>
            <a:r>
              <a:rPr dirty="0" sz="1000">
                <a:latin typeface="Times New Roman"/>
                <a:cs typeface="Times New Roman"/>
              </a:rPr>
              <a:t>Pattern</a:t>
            </a:r>
            <a:r>
              <a:rPr dirty="0" sz="1000" spc="5">
                <a:latin typeface="Times New Roman"/>
                <a:cs typeface="Times New Roman"/>
              </a:rPr>
              <a:t> </a:t>
            </a:r>
            <a:r>
              <a:rPr dirty="0" sz="1000">
                <a:latin typeface="Times New Roman"/>
                <a:cs typeface="Times New Roman"/>
              </a:rPr>
              <a:t>Recognition,</a:t>
            </a:r>
            <a:r>
              <a:rPr dirty="0" sz="1000" spc="10">
                <a:latin typeface="Times New Roman"/>
                <a:cs typeface="Times New Roman"/>
              </a:rPr>
              <a:t> </a:t>
            </a:r>
            <a:r>
              <a:rPr dirty="0" sz="1000">
                <a:latin typeface="Times New Roman"/>
                <a:cs typeface="Times New Roman"/>
              </a:rPr>
              <a:t>pages</a:t>
            </a:r>
            <a:r>
              <a:rPr dirty="0" sz="1000" spc="10">
                <a:latin typeface="Times New Roman"/>
                <a:cs typeface="Times New Roman"/>
              </a:rPr>
              <a:t> </a:t>
            </a:r>
            <a:r>
              <a:rPr dirty="0" sz="1000" spc="-10">
                <a:latin typeface="Times New Roman"/>
                <a:cs typeface="Times New Roman"/>
              </a:rPr>
              <a:t>8238-</a:t>
            </a:r>
            <a:r>
              <a:rPr dirty="0" sz="1000" spc="5">
                <a:latin typeface="Times New Roman"/>
                <a:cs typeface="Times New Roman"/>
              </a:rPr>
              <a:t> </a:t>
            </a:r>
            <a:r>
              <a:rPr dirty="0" sz="1000" spc="-10">
                <a:latin typeface="Times New Roman"/>
                <a:cs typeface="Times New Roman"/>
              </a:rPr>
              <a:t>8247,</a:t>
            </a:r>
            <a:r>
              <a:rPr dirty="0" sz="1000" spc="10">
                <a:latin typeface="Times New Roman"/>
                <a:cs typeface="Times New Roman"/>
              </a:rPr>
              <a:t> </a:t>
            </a:r>
            <a:r>
              <a:rPr dirty="0" sz="1000">
                <a:latin typeface="Times New Roman"/>
                <a:cs typeface="Times New Roman"/>
              </a:rPr>
              <a:t>2022.</a:t>
            </a:r>
            <a:r>
              <a:rPr dirty="0" sz="1000" spc="100">
                <a:latin typeface="Times New Roman"/>
                <a:cs typeface="Times New Roman"/>
              </a:rPr>
              <a:t> </a:t>
            </a:r>
            <a:r>
              <a:rPr dirty="0" sz="1000">
                <a:latin typeface="Times New Roman"/>
                <a:cs typeface="Times New Roman"/>
              </a:rPr>
              <a:t>1,</a:t>
            </a:r>
            <a:r>
              <a:rPr dirty="0" sz="1000" spc="5">
                <a:latin typeface="Times New Roman"/>
                <a:cs typeface="Times New Roman"/>
              </a:rPr>
              <a:t> </a:t>
            </a:r>
            <a:r>
              <a:rPr dirty="0" sz="1000">
                <a:latin typeface="Times New Roman"/>
                <a:cs typeface="Times New Roman"/>
              </a:rPr>
              <a:t>2,</a:t>
            </a:r>
            <a:r>
              <a:rPr dirty="0" sz="1000" spc="10">
                <a:latin typeface="Times New Roman"/>
                <a:cs typeface="Times New Roman"/>
              </a:rPr>
              <a:t> </a:t>
            </a:r>
            <a:r>
              <a:rPr dirty="0" sz="1000">
                <a:latin typeface="Times New Roman"/>
                <a:cs typeface="Times New Roman"/>
              </a:rPr>
              <a:t>5,</a:t>
            </a:r>
            <a:r>
              <a:rPr dirty="0" sz="1000" spc="10">
                <a:latin typeface="Times New Roman"/>
                <a:cs typeface="Times New Roman"/>
              </a:rPr>
              <a:t> </a:t>
            </a:r>
            <a:r>
              <a:rPr dirty="0" sz="1000">
                <a:latin typeface="Times New Roman"/>
                <a:cs typeface="Times New Roman"/>
              </a:rPr>
              <a:t>6,</a:t>
            </a:r>
            <a:r>
              <a:rPr dirty="0" sz="1000" spc="5">
                <a:latin typeface="Times New Roman"/>
                <a:cs typeface="Times New Roman"/>
              </a:rPr>
              <a:t> </a:t>
            </a:r>
            <a:r>
              <a:rPr dirty="0" sz="1000" spc="-50">
                <a:latin typeface="Times New Roman"/>
                <a:cs typeface="Times New Roman"/>
              </a:rPr>
              <a:t>8</a:t>
            </a:r>
            <a:endParaRPr sz="1000">
              <a:latin typeface="Times New Roman"/>
              <a:cs typeface="Times New Roman"/>
            </a:endParaRPr>
          </a:p>
          <a:p>
            <a:pPr>
              <a:lnSpc>
                <a:spcPct val="100000"/>
              </a:lnSpc>
              <a:spcBef>
                <a:spcPts val="590"/>
              </a:spcBef>
            </a:pPr>
            <a:endParaRPr sz="1000">
              <a:latin typeface="Times New Roman"/>
              <a:cs typeface="Times New Roman"/>
            </a:endParaRPr>
          </a:p>
          <a:p>
            <a:pPr algn="just" marL="431800" indent="-239395">
              <a:lnSpc>
                <a:spcPct val="100000"/>
              </a:lnSpc>
              <a:buFont typeface="Times New Roman"/>
              <a:buAutoNum type="arabicPlain" startAt="21"/>
              <a:tabLst>
                <a:tab pos="431800" algn="l"/>
              </a:tabLst>
            </a:pPr>
            <a:r>
              <a:rPr dirty="0" sz="1000" spc="-100">
                <a:latin typeface="SimSun"/>
                <a:cs typeface="SimSun"/>
              </a:rPr>
              <a:t>彭小康、魏亚克、邓安东、王栋、胡迪。通过实时梯度调制实现平衡多模态学习。在 </a:t>
            </a:r>
            <a:r>
              <a:rPr dirty="0" sz="1000" spc="-10">
                <a:latin typeface="Times New Roman"/>
                <a:cs typeface="Times New Roman"/>
              </a:rPr>
              <a:t>IEEE/CVF</a:t>
            </a:r>
            <a:endParaRPr sz="1000">
              <a:latin typeface="Times New Roman"/>
              <a:cs typeface="Times New Roman"/>
            </a:endParaRPr>
          </a:p>
          <a:p>
            <a:pPr marL="192405">
              <a:lnSpc>
                <a:spcPct val="100000"/>
              </a:lnSpc>
              <a:spcBef>
                <a:spcPts val="355"/>
              </a:spcBef>
            </a:pPr>
            <a:r>
              <a:rPr dirty="0" sz="1000" spc="-25">
                <a:latin typeface="SimSun"/>
                <a:cs typeface="SimSun"/>
              </a:rPr>
              <a:t>计算机视觉与模式识别会议论文集上，第 </a:t>
            </a:r>
            <a:r>
              <a:rPr dirty="0" sz="1000">
                <a:latin typeface="Times New Roman"/>
                <a:cs typeface="Times New Roman"/>
              </a:rPr>
              <a:t>8238</a:t>
            </a:r>
            <a:r>
              <a:rPr dirty="0" sz="1000" spc="-40">
                <a:latin typeface="Times New Roman"/>
                <a:cs typeface="Times New Roman"/>
              </a:rPr>
              <a:t> - </a:t>
            </a:r>
            <a:r>
              <a:rPr dirty="0" sz="1000">
                <a:latin typeface="Times New Roman"/>
                <a:cs typeface="Times New Roman"/>
              </a:rPr>
              <a:t>8247</a:t>
            </a:r>
            <a:r>
              <a:rPr dirty="0" sz="1000" spc="-40">
                <a:latin typeface="Times New Roman"/>
                <a:cs typeface="Times New Roman"/>
              </a:rPr>
              <a:t> </a:t>
            </a:r>
            <a:r>
              <a:rPr dirty="0" sz="1000" spc="-10">
                <a:latin typeface="SimSun"/>
                <a:cs typeface="SimSun"/>
              </a:rPr>
              <a:t>页，</a:t>
            </a:r>
            <a:r>
              <a:rPr dirty="0" sz="1000" spc="-10">
                <a:latin typeface="Times New Roman"/>
                <a:cs typeface="Times New Roman"/>
              </a:rPr>
              <a:t>2022</a:t>
            </a:r>
            <a:r>
              <a:rPr dirty="0" sz="1000" spc="-40">
                <a:latin typeface="Times New Roman"/>
                <a:cs typeface="Times New Roman"/>
              </a:rPr>
              <a:t> </a:t>
            </a:r>
            <a:r>
              <a:rPr dirty="0" sz="1000" spc="-10">
                <a:latin typeface="SimSun"/>
                <a:cs typeface="SimSun"/>
              </a:rPr>
              <a:t>年。</a:t>
            </a:r>
            <a:r>
              <a:rPr dirty="0" sz="1000" spc="-10">
                <a:latin typeface="Times New Roman"/>
                <a:cs typeface="Times New Roman"/>
              </a:rPr>
              <a:t>1</a:t>
            </a:r>
            <a:r>
              <a:rPr dirty="0" sz="1000" spc="-10">
                <a:latin typeface="SimSun"/>
                <a:cs typeface="SimSun"/>
              </a:rPr>
              <a:t>，</a:t>
            </a:r>
            <a:r>
              <a:rPr dirty="0" sz="1000" spc="-10">
                <a:latin typeface="Times New Roman"/>
                <a:cs typeface="Times New Roman"/>
              </a:rPr>
              <a:t>2</a:t>
            </a:r>
            <a:r>
              <a:rPr dirty="0" sz="1000" spc="-10">
                <a:latin typeface="SimSun"/>
                <a:cs typeface="SimSun"/>
              </a:rPr>
              <a:t>，</a:t>
            </a:r>
            <a:r>
              <a:rPr dirty="0" sz="1000" spc="-10">
                <a:latin typeface="Times New Roman"/>
                <a:cs typeface="Times New Roman"/>
              </a:rPr>
              <a:t>5</a:t>
            </a:r>
            <a:r>
              <a:rPr dirty="0" sz="1000" spc="-10">
                <a:latin typeface="SimSun"/>
                <a:cs typeface="SimSun"/>
              </a:rPr>
              <a:t>，</a:t>
            </a:r>
            <a:r>
              <a:rPr dirty="0" sz="1000" spc="-10">
                <a:latin typeface="Times New Roman"/>
                <a:cs typeface="Times New Roman"/>
              </a:rPr>
              <a:t>6</a:t>
            </a:r>
            <a:r>
              <a:rPr dirty="0" sz="1000" spc="-10">
                <a:latin typeface="SimSun"/>
                <a:cs typeface="SimSun"/>
              </a:rPr>
              <a:t>，</a:t>
            </a:r>
            <a:r>
              <a:rPr dirty="0" sz="1000" spc="-10">
                <a:latin typeface="Times New Roman"/>
                <a:cs typeface="Times New Roman"/>
              </a:rPr>
              <a:t>8</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491490">
              <a:lnSpc>
                <a:spcPct val="129500"/>
              </a:lnSpc>
              <a:buAutoNum type="arabicPlain" startAt="22"/>
              <a:tabLst>
                <a:tab pos="504190" algn="l"/>
              </a:tabLst>
            </a:pPr>
            <a:r>
              <a:rPr dirty="0" sz="1000">
                <a:latin typeface="Times New Roman"/>
                <a:cs typeface="Times New Roman"/>
              </a:rPr>
              <a:t>Stavros</a:t>
            </a:r>
            <a:r>
              <a:rPr dirty="0" sz="1000" spc="60">
                <a:latin typeface="Times New Roman"/>
                <a:cs typeface="Times New Roman"/>
              </a:rPr>
              <a:t> </a:t>
            </a:r>
            <a:r>
              <a:rPr dirty="0" sz="1000">
                <a:latin typeface="Times New Roman"/>
                <a:cs typeface="Times New Roman"/>
              </a:rPr>
              <a:t>Petridis,</a:t>
            </a:r>
            <a:r>
              <a:rPr dirty="0" sz="1000" spc="65">
                <a:latin typeface="Times New Roman"/>
                <a:cs typeface="Times New Roman"/>
              </a:rPr>
              <a:t> </a:t>
            </a:r>
            <a:r>
              <a:rPr dirty="0" sz="1000">
                <a:latin typeface="Times New Roman"/>
                <a:cs typeface="Times New Roman"/>
              </a:rPr>
              <a:t>Themos</a:t>
            </a:r>
            <a:r>
              <a:rPr dirty="0" sz="1000" spc="60">
                <a:latin typeface="Times New Roman"/>
                <a:cs typeface="Times New Roman"/>
              </a:rPr>
              <a:t> </a:t>
            </a:r>
            <a:r>
              <a:rPr dirty="0" sz="1000">
                <a:latin typeface="Times New Roman"/>
                <a:cs typeface="Times New Roman"/>
              </a:rPr>
              <a:t>Stafylakis,</a:t>
            </a:r>
            <a:r>
              <a:rPr dirty="0" sz="1000" spc="70">
                <a:latin typeface="Times New Roman"/>
                <a:cs typeface="Times New Roman"/>
              </a:rPr>
              <a:t> </a:t>
            </a:r>
            <a:r>
              <a:rPr dirty="0" sz="1000">
                <a:latin typeface="Times New Roman"/>
                <a:cs typeface="Times New Roman"/>
              </a:rPr>
              <a:t>Pingehuan</a:t>
            </a:r>
            <a:r>
              <a:rPr dirty="0" sz="1000" spc="60">
                <a:latin typeface="Times New Roman"/>
                <a:cs typeface="Times New Roman"/>
              </a:rPr>
              <a:t> </a:t>
            </a:r>
            <a:r>
              <a:rPr dirty="0" sz="1000">
                <a:latin typeface="Times New Roman"/>
                <a:cs typeface="Times New Roman"/>
              </a:rPr>
              <a:t>Ma,</a:t>
            </a:r>
            <a:r>
              <a:rPr dirty="0" sz="1000" spc="70">
                <a:latin typeface="Times New Roman"/>
                <a:cs typeface="Times New Roman"/>
              </a:rPr>
              <a:t> </a:t>
            </a:r>
            <a:r>
              <a:rPr dirty="0" sz="1000">
                <a:latin typeface="Times New Roman"/>
                <a:cs typeface="Times New Roman"/>
              </a:rPr>
              <a:t>Feipeng</a:t>
            </a:r>
            <a:r>
              <a:rPr dirty="0" sz="1000" spc="60">
                <a:latin typeface="Times New Roman"/>
                <a:cs typeface="Times New Roman"/>
              </a:rPr>
              <a:t> </a:t>
            </a:r>
            <a:r>
              <a:rPr dirty="0" sz="1000">
                <a:latin typeface="Times New Roman"/>
                <a:cs typeface="Times New Roman"/>
              </a:rPr>
              <a:t>Cai,</a:t>
            </a:r>
            <a:r>
              <a:rPr dirty="0" sz="1000" spc="70">
                <a:latin typeface="Times New Roman"/>
                <a:cs typeface="Times New Roman"/>
              </a:rPr>
              <a:t> </a:t>
            </a:r>
            <a:r>
              <a:rPr dirty="0" sz="1000">
                <a:latin typeface="Times New Roman"/>
                <a:cs typeface="Times New Roman"/>
              </a:rPr>
              <a:t>Georgios</a:t>
            </a:r>
            <a:r>
              <a:rPr dirty="0" sz="1000" spc="60">
                <a:latin typeface="Times New Roman"/>
                <a:cs typeface="Times New Roman"/>
              </a:rPr>
              <a:t> </a:t>
            </a:r>
            <a:r>
              <a:rPr dirty="0" sz="1000">
                <a:latin typeface="Times New Roman"/>
                <a:cs typeface="Times New Roman"/>
              </a:rPr>
              <a:t>Tzimiropoulos,</a:t>
            </a:r>
            <a:r>
              <a:rPr dirty="0" sz="1000" spc="65">
                <a:latin typeface="Times New Roman"/>
                <a:cs typeface="Times New Roman"/>
              </a:rPr>
              <a:t> </a:t>
            </a:r>
            <a:r>
              <a:rPr dirty="0" sz="1000">
                <a:latin typeface="Times New Roman"/>
                <a:cs typeface="Times New Roman"/>
              </a:rPr>
              <a:t>and</a:t>
            </a:r>
            <a:r>
              <a:rPr dirty="0" sz="1000" spc="60">
                <a:latin typeface="Times New Roman"/>
                <a:cs typeface="Times New Roman"/>
              </a:rPr>
              <a:t> </a:t>
            </a:r>
            <a:r>
              <a:rPr dirty="0" sz="1000" spc="-20">
                <a:latin typeface="Times New Roman"/>
                <a:cs typeface="Times New Roman"/>
              </a:rPr>
              <a:t>Maja </a:t>
            </a:r>
            <a:r>
              <a:rPr dirty="0" sz="1000" spc="10">
                <a:latin typeface="Times New Roman"/>
                <a:cs typeface="Times New Roman"/>
              </a:rPr>
              <a:t>Pantic.</a:t>
            </a:r>
            <a:r>
              <a:rPr dirty="0" sz="1000" spc="145">
                <a:latin typeface="Times New Roman"/>
                <a:cs typeface="Times New Roman"/>
              </a:rPr>
              <a:t>  </a:t>
            </a:r>
            <a:r>
              <a:rPr dirty="0" sz="1000" spc="10">
                <a:latin typeface="Times New Roman"/>
                <a:cs typeface="Times New Roman"/>
              </a:rPr>
              <a:t>End-</a:t>
            </a:r>
            <a:r>
              <a:rPr dirty="0" sz="1000">
                <a:latin typeface="Times New Roman"/>
                <a:cs typeface="Times New Roman"/>
              </a:rPr>
              <a:t>to-</a:t>
            </a:r>
            <a:r>
              <a:rPr dirty="0" sz="1000" spc="10">
                <a:latin typeface="Times New Roman"/>
                <a:cs typeface="Times New Roman"/>
              </a:rPr>
              <a:t>end</a:t>
            </a:r>
            <a:r>
              <a:rPr dirty="0" sz="1000" spc="175">
                <a:latin typeface="Times New Roman"/>
                <a:cs typeface="Times New Roman"/>
              </a:rPr>
              <a:t> </a:t>
            </a:r>
            <a:r>
              <a:rPr dirty="0" sz="1000" spc="10">
                <a:latin typeface="Times New Roman"/>
                <a:cs typeface="Times New Roman"/>
              </a:rPr>
              <a:t>audiovisual</a:t>
            </a:r>
            <a:r>
              <a:rPr dirty="0" sz="1000" spc="170">
                <a:latin typeface="Times New Roman"/>
                <a:cs typeface="Times New Roman"/>
              </a:rPr>
              <a:t> </a:t>
            </a:r>
            <a:r>
              <a:rPr dirty="0" sz="1000" spc="10">
                <a:latin typeface="Times New Roman"/>
                <a:cs typeface="Times New Roman"/>
              </a:rPr>
              <a:t>speech</a:t>
            </a:r>
            <a:r>
              <a:rPr dirty="0" sz="1000" spc="170">
                <a:latin typeface="Times New Roman"/>
                <a:cs typeface="Times New Roman"/>
              </a:rPr>
              <a:t> </a:t>
            </a:r>
            <a:r>
              <a:rPr dirty="0" sz="1000" spc="10">
                <a:latin typeface="Times New Roman"/>
                <a:cs typeface="Times New Roman"/>
              </a:rPr>
              <a:t>recognition.</a:t>
            </a:r>
            <a:r>
              <a:rPr dirty="0" sz="1000" spc="150">
                <a:latin typeface="Times New Roman"/>
                <a:cs typeface="Times New Roman"/>
              </a:rPr>
              <a:t>  </a:t>
            </a:r>
            <a:r>
              <a:rPr dirty="0" sz="1000" spc="10">
                <a:latin typeface="Times New Roman"/>
                <a:cs typeface="Times New Roman"/>
              </a:rPr>
              <a:t>In</a:t>
            </a:r>
            <a:r>
              <a:rPr dirty="0" sz="1000" spc="165">
                <a:latin typeface="Times New Roman"/>
                <a:cs typeface="Times New Roman"/>
              </a:rPr>
              <a:t> </a:t>
            </a:r>
            <a:r>
              <a:rPr dirty="0" sz="1000" spc="10">
                <a:latin typeface="Times New Roman"/>
                <a:cs typeface="Times New Roman"/>
              </a:rPr>
              <a:t>2018</a:t>
            </a:r>
            <a:r>
              <a:rPr dirty="0" sz="1000" spc="170">
                <a:latin typeface="Times New Roman"/>
                <a:cs typeface="Times New Roman"/>
              </a:rPr>
              <a:t> </a:t>
            </a:r>
            <a:r>
              <a:rPr dirty="0" sz="1000" spc="10">
                <a:latin typeface="Times New Roman"/>
                <a:cs typeface="Times New Roman"/>
              </a:rPr>
              <a:t>IEEE</a:t>
            </a:r>
            <a:r>
              <a:rPr dirty="0" sz="1000" spc="170">
                <a:latin typeface="Times New Roman"/>
                <a:cs typeface="Times New Roman"/>
              </a:rPr>
              <a:t> </a:t>
            </a:r>
            <a:r>
              <a:rPr dirty="0" sz="1000" spc="10">
                <a:latin typeface="Times New Roman"/>
                <a:cs typeface="Times New Roman"/>
              </a:rPr>
              <a:t>international</a:t>
            </a:r>
            <a:r>
              <a:rPr dirty="0" sz="1000" spc="170">
                <a:latin typeface="Times New Roman"/>
                <a:cs typeface="Times New Roman"/>
              </a:rPr>
              <a:t> </a:t>
            </a:r>
            <a:r>
              <a:rPr dirty="0" sz="1000" spc="10">
                <a:latin typeface="Times New Roman"/>
                <a:cs typeface="Times New Roman"/>
              </a:rPr>
              <a:t>conference</a:t>
            </a:r>
            <a:r>
              <a:rPr dirty="0" sz="1000" spc="170">
                <a:latin typeface="Times New Roman"/>
                <a:cs typeface="Times New Roman"/>
              </a:rPr>
              <a:t> </a:t>
            </a:r>
            <a:r>
              <a:rPr dirty="0" sz="1000" spc="10">
                <a:latin typeface="Times New Roman"/>
                <a:cs typeface="Times New Roman"/>
              </a:rPr>
              <a:t>on</a:t>
            </a:r>
            <a:r>
              <a:rPr dirty="0" sz="1000" spc="170">
                <a:latin typeface="Times New Roman"/>
                <a:cs typeface="Times New Roman"/>
              </a:rPr>
              <a:t> </a:t>
            </a:r>
            <a:r>
              <a:rPr dirty="0" sz="1000" spc="-10">
                <a:latin typeface="Times New Roman"/>
                <a:cs typeface="Times New Roman"/>
              </a:rPr>
              <a:t>acoustics, </a:t>
            </a:r>
            <a:r>
              <a:rPr dirty="0" sz="1000">
                <a:latin typeface="Times New Roman"/>
                <a:cs typeface="Times New Roman"/>
              </a:rPr>
              <a:t>speech</a:t>
            </a:r>
            <a:r>
              <a:rPr dirty="0" sz="1000" spc="2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signal</a:t>
            </a:r>
            <a:r>
              <a:rPr dirty="0" sz="1000" spc="30">
                <a:latin typeface="Times New Roman"/>
                <a:cs typeface="Times New Roman"/>
              </a:rPr>
              <a:t> </a:t>
            </a:r>
            <a:r>
              <a:rPr dirty="0" sz="1000">
                <a:latin typeface="Times New Roman"/>
                <a:cs typeface="Times New Roman"/>
              </a:rPr>
              <a:t>processing</a:t>
            </a:r>
            <a:r>
              <a:rPr dirty="0" sz="1000" spc="30">
                <a:latin typeface="Times New Roman"/>
                <a:cs typeface="Times New Roman"/>
              </a:rPr>
              <a:t> </a:t>
            </a:r>
            <a:r>
              <a:rPr dirty="0" sz="1000" spc="-10">
                <a:latin typeface="Times New Roman"/>
                <a:cs typeface="Times New Roman"/>
              </a:rPr>
              <a:t>(ICASSP),</a:t>
            </a:r>
            <a:r>
              <a:rPr dirty="0" sz="1000" spc="30">
                <a:latin typeface="Times New Roman"/>
                <a:cs typeface="Times New Roman"/>
              </a:rPr>
              <a:t> </a:t>
            </a:r>
            <a:r>
              <a:rPr dirty="0" sz="1000">
                <a:latin typeface="Times New Roman"/>
                <a:cs typeface="Times New Roman"/>
              </a:rPr>
              <a:t>pages</a:t>
            </a:r>
            <a:r>
              <a:rPr dirty="0" sz="1000" spc="30">
                <a:latin typeface="Times New Roman"/>
                <a:cs typeface="Times New Roman"/>
              </a:rPr>
              <a:t> </a:t>
            </a:r>
            <a:r>
              <a:rPr dirty="0" sz="1000" spc="-10">
                <a:latin typeface="Times New Roman"/>
                <a:cs typeface="Times New Roman"/>
              </a:rPr>
              <a:t>6548-</a:t>
            </a:r>
            <a:r>
              <a:rPr dirty="0" sz="1000">
                <a:latin typeface="Times New Roman"/>
                <a:cs typeface="Times New Roman"/>
              </a:rPr>
              <a:t>6552.</a:t>
            </a:r>
            <a:r>
              <a:rPr dirty="0" sz="1000" spc="125">
                <a:latin typeface="Times New Roman"/>
                <a:cs typeface="Times New Roman"/>
              </a:rPr>
              <a:t> </a:t>
            </a:r>
            <a:r>
              <a:rPr dirty="0" sz="1000">
                <a:latin typeface="Times New Roman"/>
                <a:cs typeface="Times New Roman"/>
              </a:rPr>
              <a:t>IEEE,</a:t>
            </a:r>
            <a:r>
              <a:rPr dirty="0" sz="1000" spc="30">
                <a:latin typeface="Times New Roman"/>
                <a:cs typeface="Times New Roman"/>
              </a:rPr>
              <a:t> </a:t>
            </a:r>
            <a:r>
              <a:rPr dirty="0" sz="1000">
                <a:latin typeface="Times New Roman"/>
                <a:cs typeface="Times New Roman"/>
              </a:rPr>
              <a:t>2018.</a:t>
            </a:r>
            <a:r>
              <a:rPr dirty="0" sz="1000" spc="125">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86995" indent="247015">
              <a:lnSpc>
                <a:spcPct val="129500"/>
              </a:lnSpc>
              <a:buFont typeface="Times New Roman"/>
              <a:buAutoNum type="arabicPlain" startAt="22"/>
              <a:tabLst>
                <a:tab pos="439420" algn="l"/>
              </a:tabLst>
            </a:pPr>
            <a:r>
              <a:rPr dirty="0" sz="1000">
                <a:latin typeface="SimSun"/>
                <a:cs typeface="SimSun"/>
              </a:rPr>
              <a:t>斯塔夫罗斯</a:t>
            </a:r>
            <a:r>
              <a:rPr dirty="0" sz="1000" spc="-670">
                <a:latin typeface="SimSun"/>
                <a:cs typeface="SimSun"/>
              </a:rPr>
              <a:t>·</a:t>
            </a:r>
            <a:r>
              <a:rPr dirty="0" sz="1000" spc="-5">
                <a:latin typeface="SimSun"/>
                <a:cs typeface="SimSun"/>
              </a:rPr>
              <a:t>佩特里迪斯、西莫斯</a:t>
            </a:r>
            <a:r>
              <a:rPr dirty="0" sz="1000" spc="-670">
                <a:latin typeface="SimSun"/>
                <a:cs typeface="SimSun"/>
              </a:rPr>
              <a:t>·</a:t>
            </a:r>
            <a:r>
              <a:rPr dirty="0" sz="1000" spc="-10">
                <a:latin typeface="SimSun"/>
                <a:cs typeface="SimSun"/>
              </a:rPr>
              <a:t>斯塔菲拉基斯、马平欢、蔡飞鹏、乔治奥斯</a:t>
            </a:r>
            <a:r>
              <a:rPr dirty="0" sz="1000" spc="-670">
                <a:latin typeface="SimSun"/>
                <a:cs typeface="SimSun"/>
              </a:rPr>
              <a:t>·</a:t>
            </a:r>
            <a:r>
              <a:rPr dirty="0" sz="1000" spc="-10">
                <a:latin typeface="SimSun"/>
                <a:cs typeface="SimSun"/>
              </a:rPr>
              <a:t>齐米罗普洛斯、</a:t>
            </a:r>
            <a:r>
              <a:rPr dirty="0" sz="1000" spc="-20">
                <a:latin typeface="SimSun"/>
                <a:cs typeface="SimSun"/>
              </a:rPr>
              <a:t>玛娅</a:t>
            </a:r>
            <a:r>
              <a:rPr dirty="0" sz="1000" spc="-690">
                <a:latin typeface="SimSun"/>
                <a:cs typeface="SimSun"/>
              </a:rPr>
              <a:t>·</a:t>
            </a:r>
            <a:r>
              <a:rPr dirty="0" sz="1000" spc="-60">
                <a:latin typeface="SimSun"/>
                <a:cs typeface="SimSun"/>
              </a:rPr>
              <a:t>潘蒂奇。端到端视听语音识别。在 </a:t>
            </a:r>
            <a:r>
              <a:rPr dirty="0" sz="1000" spc="-10">
                <a:latin typeface="Times New Roman"/>
                <a:cs typeface="Times New Roman"/>
              </a:rPr>
              <a:t>2018</a:t>
            </a:r>
            <a:r>
              <a:rPr dirty="0" sz="1000" spc="-35">
                <a:latin typeface="Times New Roman"/>
                <a:cs typeface="Times New Roman"/>
              </a:rPr>
              <a:t> </a:t>
            </a:r>
            <a:r>
              <a:rPr dirty="0" sz="1000" spc="204">
                <a:latin typeface="SimSun"/>
                <a:cs typeface="SimSun"/>
              </a:rPr>
              <a:t>年</a:t>
            </a:r>
            <a:r>
              <a:rPr dirty="0" sz="1000" spc="10">
                <a:latin typeface="Times New Roman"/>
                <a:cs typeface="Times New Roman"/>
              </a:rPr>
              <a:t>IEEE</a:t>
            </a:r>
            <a:r>
              <a:rPr dirty="0" sz="1000" spc="-35">
                <a:latin typeface="Times New Roman"/>
                <a:cs typeface="Times New Roman"/>
              </a:rPr>
              <a:t> </a:t>
            </a:r>
            <a:r>
              <a:rPr dirty="0" sz="1000" spc="-55">
                <a:latin typeface="SimSun"/>
                <a:cs typeface="SimSun"/>
              </a:rPr>
              <a:t>国际声学、语音和信号处理会议 </a:t>
            </a:r>
            <a:r>
              <a:rPr dirty="0" sz="1000" spc="-15">
                <a:latin typeface="Times New Roman"/>
                <a:cs typeface="Times New Roman"/>
              </a:rPr>
              <a:t>(ICASSP)</a:t>
            </a:r>
            <a:r>
              <a:rPr dirty="0" sz="1000" spc="-35">
                <a:latin typeface="Times New Roman"/>
                <a:cs typeface="Times New Roman"/>
              </a:rPr>
              <a:t> </a:t>
            </a:r>
            <a:r>
              <a:rPr dirty="0" sz="1000" spc="-10">
                <a:latin typeface="SimSun"/>
                <a:cs typeface="SimSun"/>
              </a:rPr>
              <a:t>上，</a:t>
            </a:r>
            <a:r>
              <a:rPr dirty="0" sz="1000" spc="-145">
                <a:latin typeface="SimSun"/>
                <a:cs typeface="SimSun"/>
              </a:rPr>
              <a:t>第 </a:t>
            </a:r>
            <a:r>
              <a:rPr dirty="0" sz="1000" spc="-10">
                <a:latin typeface="Times New Roman"/>
                <a:cs typeface="Times New Roman"/>
              </a:rPr>
              <a:t>6548</a:t>
            </a:r>
            <a:r>
              <a:rPr dirty="0" sz="1000" spc="-25">
                <a:latin typeface="Times New Roman"/>
                <a:cs typeface="Times New Roman"/>
              </a:rPr>
              <a:t> - </a:t>
            </a:r>
            <a:r>
              <a:rPr dirty="0" sz="1000" spc="-10">
                <a:latin typeface="Times New Roman"/>
                <a:cs typeface="Times New Roman"/>
              </a:rPr>
              <a:t>6552</a:t>
            </a:r>
            <a:r>
              <a:rPr dirty="0" sz="1000" spc="-20">
                <a:latin typeface="Times New Roman"/>
                <a:cs typeface="Times New Roman"/>
              </a:rPr>
              <a:t> </a:t>
            </a:r>
            <a:r>
              <a:rPr dirty="0" sz="1000" spc="-10">
                <a:latin typeface="SimSun"/>
                <a:cs typeface="SimSun"/>
              </a:rPr>
              <a:t>页。</a:t>
            </a:r>
            <a:r>
              <a:rPr dirty="0" sz="1000" spc="-5">
                <a:latin typeface="Times New Roman"/>
                <a:cs typeface="Times New Roman"/>
              </a:rPr>
              <a:t>IEEE</a:t>
            </a:r>
            <a:r>
              <a:rPr dirty="0" sz="1000" spc="-5">
                <a:latin typeface="SimSun"/>
                <a:cs typeface="SimSun"/>
              </a:rPr>
              <a:t>，</a:t>
            </a:r>
            <a:r>
              <a:rPr dirty="0" sz="1000" spc="-5">
                <a:latin typeface="Times New Roman"/>
                <a:cs typeface="Times New Roman"/>
              </a:rPr>
              <a:t>2018</a:t>
            </a:r>
            <a:r>
              <a:rPr dirty="0" sz="1000" spc="-20">
                <a:latin typeface="Times New Roman"/>
                <a:cs typeface="Times New Roman"/>
              </a:rPr>
              <a:t> </a:t>
            </a:r>
            <a:r>
              <a:rPr dirty="0" sz="1000" spc="-10">
                <a:latin typeface="SimSun"/>
                <a:cs typeface="SimSun"/>
              </a:rPr>
              <a:t>年。</a:t>
            </a:r>
            <a:r>
              <a:rPr dirty="0" sz="1000" spc="-10">
                <a:latin typeface="Times New Roman"/>
                <a:cs typeface="Times New Roman"/>
              </a:rPr>
              <a:t>2</a:t>
            </a:r>
            <a:endParaRPr sz="1000">
              <a:latin typeface="Times New Roman"/>
              <a:cs typeface="Times New Roman"/>
            </a:endParaRPr>
          </a:p>
          <a:p>
            <a:pPr>
              <a:lnSpc>
                <a:spcPct val="100000"/>
              </a:lnSpc>
              <a:spcBef>
                <a:spcPts val="204"/>
              </a:spcBef>
              <a:buFont typeface="Times New Roman"/>
              <a:buAutoNum type="arabicPlain" startAt="22"/>
            </a:pPr>
            <a:endParaRPr sz="1000">
              <a:latin typeface="Times New Roman"/>
              <a:cs typeface="Times New Roman"/>
            </a:endParaRPr>
          </a:p>
          <a:p>
            <a:pPr algn="just" marL="12700" marR="5080" indent="497840">
              <a:lnSpc>
                <a:spcPct val="129500"/>
              </a:lnSpc>
              <a:buAutoNum type="arabicPlain" startAt="22"/>
              <a:tabLst>
                <a:tab pos="510540" algn="l"/>
              </a:tabLst>
            </a:pPr>
            <a:r>
              <a:rPr dirty="0" sz="1000">
                <a:latin typeface="Times New Roman"/>
                <a:cs typeface="Times New Roman"/>
              </a:rPr>
              <a:t>Daniel</a:t>
            </a:r>
            <a:r>
              <a:rPr dirty="0" sz="1000" spc="105">
                <a:latin typeface="Times New Roman"/>
                <a:cs typeface="Times New Roman"/>
              </a:rPr>
              <a:t> </a:t>
            </a:r>
            <a:r>
              <a:rPr dirty="0" sz="1000">
                <a:latin typeface="Times New Roman"/>
                <a:cs typeface="Times New Roman"/>
              </a:rPr>
              <a:t>Seichter,</a:t>
            </a:r>
            <a:r>
              <a:rPr dirty="0" sz="1000" spc="120">
                <a:latin typeface="Times New Roman"/>
                <a:cs typeface="Times New Roman"/>
              </a:rPr>
              <a:t> </a:t>
            </a:r>
            <a:r>
              <a:rPr dirty="0" sz="1000">
                <a:latin typeface="Times New Roman"/>
                <a:cs typeface="Times New Roman"/>
              </a:rPr>
              <a:t>Mona</a:t>
            </a:r>
            <a:r>
              <a:rPr dirty="0" sz="1000" spc="110">
                <a:latin typeface="Times New Roman"/>
                <a:cs typeface="Times New Roman"/>
              </a:rPr>
              <a:t> </a:t>
            </a:r>
            <a:r>
              <a:rPr dirty="0" sz="1000">
                <a:latin typeface="Times New Roman"/>
                <a:cs typeface="Times New Roman"/>
              </a:rPr>
              <a:t>Köhler,</a:t>
            </a:r>
            <a:r>
              <a:rPr dirty="0" sz="1000" spc="114">
                <a:latin typeface="Times New Roman"/>
                <a:cs typeface="Times New Roman"/>
              </a:rPr>
              <a:t> </a:t>
            </a:r>
            <a:r>
              <a:rPr dirty="0" sz="1000">
                <a:latin typeface="Times New Roman"/>
                <a:cs typeface="Times New Roman"/>
              </a:rPr>
              <a:t>Benjamin</a:t>
            </a:r>
            <a:r>
              <a:rPr dirty="0" sz="1000" spc="110">
                <a:latin typeface="Times New Roman"/>
                <a:cs typeface="Times New Roman"/>
              </a:rPr>
              <a:t> </a:t>
            </a:r>
            <a:r>
              <a:rPr dirty="0" sz="1000">
                <a:latin typeface="Times New Roman"/>
                <a:cs typeface="Times New Roman"/>
              </a:rPr>
              <a:t>Lewandowski,</a:t>
            </a:r>
            <a:r>
              <a:rPr dirty="0" sz="1000" spc="120">
                <a:latin typeface="Times New Roman"/>
                <a:cs typeface="Times New Roman"/>
              </a:rPr>
              <a:t> </a:t>
            </a:r>
            <a:r>
              <a:rPr dirty="0" sz="1000">
                <a:latin typeface="Times New Roman"/>
                <a:cs typeface="Times New Roman"/>
              </a:rPr>
              <a:t>Tim</a:t>
            </a:r>
            <a:r>
              <a:rPr dirty="0" sz="1000" spc="105">
                <a:latin typeface="Times New Roman"/>
                <a:cs typeface="Times New Roman"/>
              </a:rPr>
              <a:t> </a:t>
            </a:r>
            <a:r>
              <a:rPr dirty="0" sz="1000">
                <a:latin typeface="Times New Roman"/>
                <a:cs typeface="Times New Roman"/>
              </a:rPr>
              <a:t>Wengefeld,</a:t>
            </a:r>
            <a:r>
              <a:rPr dirty="0" sz="1000" spc="120">
                <a:latin typeface="Times New Roman"/>
                <a:cs typeface="Times New Roman"/>
              </a:rPr>
              <a:t> </a:t>
            </a:r>
            <a:r>
              <a:rPr dirty="0" sz="1000">
                <a:latin typeface="Times New Roman"/>
                <a:cs typeface="Times New Roman"/>
              </a:rPr>
              <a:t>and</a:t>
            </a:r>
            <a:r>
              <a:rPr dirty="0" sz="1000" spc="110">
                <a:latin typeface="Times New Roman"/>
                <a:cs typeface="Times New Roman"/>
              </a:rPr>
              <a:t> </a:t>
            </a:r>
            <a:r>
              <a:rPr dirty="0" sz="1000">
                <a:latin typeface="Times New Roman"/>
                <a:cs typeface="Times New Roman"/>
              </a:rPr>
              <a:t>Horst-Michael</a:t>
            </a:r>
            <a:r>
              <a:rPr dirty="0" sz="1000" spc="110">
                <a:latin typeface="Times New Roman"/>
                <a:cs typeface="Times New Roman"/>
              </a:rPr>
              <a:t> </a:t>
            </a:r>
            <a:r>
              <a:rPr dirty="0" sz="1000" spc="-10">
                <a:latin typeface="Times New Roman"/>
                <a:cs typeface="Times New Roman"/>
              </a:rPr>
              <a:t>Gross. </a:t>
            </a:r>
            <a:r>
              <a:rPr dirty="0" sz="1000">
                <a:latin typeface="Times New Roman"/>
                <a:cs typeface="Times New Roman"/>
              </a:rPr>
              <a:t>Efficient</a:t>
            </a:r>
            <a:r>
              <a:rPr dirty="0" sz="1000" spc="135">
                <a:latin typeface="Times New Roman"/>
                <a:cs typeface="Times New Roman"/>
              </a:rPr>
              <a:t> </a:t>
            </a:r>
            <a:r>
              <a:rPr dirty="0" sz="1000">
                <a:latin typeface="Times New Roman"/>
                <a:cs typeface="Times New Roman"/>
              </a:rPr>
              <a:t>rgb-d</a:t>
            </a:r>
            <a:r>
              <a:rPr dirty="0" sz="1000" spc="135">
                <a:latin typeface="Times New Roman"/>
                <a:cs typeface="Times New Roman"/>
              </a:rPr>
              <a:t> </a:t>
            </a:r>
            <a:r>
              <a:rPr dirty="0" sz="1000">
                <a:latin typeface="Times New Roman"/>
                <a:cs typeface="Times New Roman"/>
              </a:rPr>
              <a:t>semantic</a:t>
            </a:r>
            <a:r>
              <a:rPr dirty="0" sz="1000" spc="140">
                <a:latin typeface="Times New Roman"/>
                <a:cs typeface="Times New Roman"/>
              </a:rPr>
              <a:t> </a:t>
            </a:r>
            <a:r>
              <a:rPr dirty="0" sz="1000">
                <a:latin typeface="Times New Roman"/>
                <a:cs typeface="Times New Roman"/>
              </a:rPr>
              <a:t>segmentation</a:t>
            </a:r>
            <a:r>
              <a:rPr dirty="0" sz="1000" spc="135">
                <a:latin typeface="Times New Roman"/>
                <a:cs typeface="Times New Roman"/>
              </a:rPr>
              <a:t> </a:t>
            </a:r>
            <a:r>
              <a:rPr dirty="0" sz="1000">
                <a:latin typeface="Times New Roman"/>
                <a:cs typeface="Times New Roman"/>
              </a:rPr>
              <a:t>for</a:t>
            </a:r>
            <a:r>
              <a:rPr dirty="0" sz="1000" spc="140">
                <a:latin typeface="Times New Roman"/>
                <a:cs typeface="Times New Roman"/>
              </a:rPr>
              <a:t> </a:t>
            </a:r>
            <a:r>
              <a:rPr dirty="0" sz="1000">
                <a:latin typeface="Times New Roman"/>
                <a:cs typeface="Times New Roman"/>
              </a:rPr>
              <a:t>indoor</a:t>
            </a:r>
            <a:r>
              <a:rPr dirty="0" sz="1000" spc="135">
                <a:latin typeface="Times New Roman"/>
                <a:cs typeface="Times New Roman"/>
              </a:rPr>
              <a:t> </a:t>
            </a:r>
            <a:r>
              <a:rPr dirty="0" sz="1000">
                <a:latin typeface="Times New Roman"/>
                <a:cs typeface="Times New Roman"/>
              </a:rPr>
              <a:t>scene</a:t>
            </a:r>
            <a:r>
              <a:rPr dirty="0" sz="1000" spc="140">
                <a:latin typeface="Times New Roman"/>
                <a:cs typeface="Times New Roman"/>
              </a:rPr>
              <a:t> </a:t>
            </a:r>
            <a:r>
              <a:rPr dirty="0" sz="1000">
                <a:latin typeface="Times New Roman"/>
                <a:cs typeface="Times New Roman"/>
              </a:rPr>
              <a:t>analysis.</a:t>
            </a:r>
            <a:r>
              <a:rPr dirty="0" sz="1000" spc="315">
                <a:latin typeface="Times New Roman"/>
                <a:cs typeface="Times New Roman"/>
              </a:rPr>
              <a:t> </a:t>
            </a:r>
            <a:r>
              <a:rPr dirty="0" sz="1000">
                <a:latin typeface="Times New Roman"/>
                <a:cs typeface="Times New Roman"/>
              </a:rPr>
              <a:t>In</a:t>
            </a:r>
            <a:r>
              <a:rPr dirty="0" sz="1000" spc="140">
                <a:latin typeface="Times New Roman"/>
                <a:cs typeface="Times New Roman"/>
              </a:rPr>
              <a:t> </a:t>
            </a:r>
            <a:r>
              <a:rPr dirty="0" sz="1000">
                <a:latin typeface="Times New Roman"/>
                <a:cs typeface="Times New Roman"/>
              </a:rPr>
              <a:t>2021</a:t>
            </a:r>
            <a:r>
              <a:rPr dirty="0" sz="1000" spc="135">
                <a:latin typeface="Times New Roman"/>
                <a:cs typeface="Times New Roman"/>
              </a:rPr>
              <a:t> </a:t>
            </a:r>
            <a:r>
              <a:rPr dirty="0" sz="1000">
                <a:latin typeface="Times New Roman"/>
                <a:cs typeface="Times New Roman"/>
              </a:rPr>
              <a:t>IEEE</a:t>
            </a:r>
            <a:r>
              <a:rPr dirty="0" sz="1000" spc="140">
                <a:latin typeface="Times New Roman"/>
                <a:cs typeface="Times New Roman"/>
              </a:rPr>
              <a:t> </a:t>
            </a:r>
            <a:r>
              <a:rPr dirty="0" sz="1000">
                <a:latin typeface="Times New Roman"/>
                <a:cs typeface="Times New Roman"/>
              </a:rPr>
              <a:t>International</a:t>
            </a:r>
            <a:r>
              <a:rPr dirty="0" sz="1000" spc="135">
                <a:latin typeface="Times New Roman"/>
                <a:cs typeface="Times New Roman"/>
              </a:rPr>
              <a:t> </a:t>
            </a:r>
            <a:r>
              <a:rPr dirty="0" sz="1000">
                <a:latin typeface="Times New Roman"/>
                <a:cs typeface="Times New Roman"/>
              </a:rPr>
              <a:t>Conference</a:t>
            </a:r>
            <a:r>
              <a:rPr dirty="0" sz="1000" spc="140">
                <a:latin typeface="Times New Roman"/>
                <a:cs typeface="Times New Roman"/>
              </a:rPr>
              <a:t> </a:t>
            </a:r>
            <a:r>
              <a:rPr dirty="0" sz="1000" spc="-25">
                <a:latin typeface="Times New Roman"/>
                <a:cs typeface="Times New Roman"/>
              </a:rPr>
              <a:t>on </a:t>
            </a:r>
            <a:r>
              <a:rPr dirty="0" sz="1000">
                <a:latin typeface="Times New Roman"/>
                <a:cs typeface="Times New Roman"/>
              </a:rPr>
              <a:t>Robotics</a:t>
            </a:r>
            <a:r>
              <a:rPr dirty="0" sz="1000" spc="2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Automation</a:t>
            </a:r>
            <a:r>
              <a:rPr dirty="0" sz="1000" spc="25">
                <a:latin typeface="Times New Roman"/>
                <a:cs typeface="Times New Roman"/>
              </a:rPr>
              <a:t> </a:t>
            </a:r>
            <a:r>
              <a:rPr dirty="0" sz="1000">
                <a:latin typeface="Times New Roman"/>
                <a:cs typeface="Times New Roman"/>
              </a:rPr>
              <a:t>(ICRA),</a:t>
            </a:r>
            <a:r>
              <a:rPr dirty="0" sz="1000" spc="30">
                <a:latin typeface="Times New Roman"/>
                <a:cs typeface="Times New Roman"/>
              </a:rPr>
              <a:t> </a:t>
            </a:r>
            <a:r>
              <a:rPr dirty="0" sz="1000">
                <a:latin typeface="Times New Roman"/>
                <a:cs typeface="Times New Roman"/>
              </a:rPr>
              <a:t>pages</a:t>
            </a:r>
            <a:r>
              <a:rPr dirty="0" sz="1000" spc="25">
                <a:latin typeface="Times New Roman"/>
                <a:cs typeface="Times New Roman"/>
              </a:rPr>
              <a:t> </a:t>
            </a:r>
            <a:r>
              <a:rPr dirty="0" sz="1000" spc="-10">
                <a:latin typeface="Times New Roman"/>
                <a:cs typeface="Times New Roman"/>
              </a:rPr>
              <a:t>13525-</a:t>
            </a:r>
            <a:r>
              <a:rPr dirty="0" sz="1000">
                <a:latin typeface="Times New Roman"/>
                <a:cs typeface="Times New Roman"/>
              </a:rPr>
              <a:t>13531.</a:t>
            </a:r>
            <a:r>
              <a:rPr dirty="0" sz="1000" spc="125">
                <a:latin typeface="Times New Roman"/>
                <a:cs typeface="Times New Roman"/>
              </a:rPr>
              <a:t> </a:t>
            </a:r>
            <a:r>
              <a:rPr dirty="0" sz="1000">
                <a:latin typeface="Times New Roman"/>
                <a:cs typeface="Times New Roman"/>
              </a:rPr>
              <a:t>IEEE,</a:t>
            </a:r>
            <a:r>
              <a:rPr dirty="0" sz="1000" spc="30">
                <a:latin typeface="Times New Roman"/>
                <a:cs typeface="Times New Roman"/>
              </a:rPr>
              <a:t> </a:t>
            </a:r>
            <a:r>
              <a:rPr dirty="0" sz="1000">
                <a:latin typeface="Times New Roman"/>
                <a:cs typeface="Times New Roman"/>
              </a:rPr>
              <a:t>2021.</a:t>
            </a:r>
            <a:r>
              <a:rPr dirty="0" sz="1000" spc="125">
                <a:latin typeface="Times New Roman"/>
                <a:cs typeface="Times New Roman"/>
              </a:rPr>
              <a:t> </a:t>
            </a:r>
            <a:r>
              <a:rPr dirty="0" sz="1000">
                <a:latin typeface="Times New Roman"/>
                <a:cs typeface="Times New Roman"/>
              </a:rPr>
              <a:t>1,</a:t>
            </a:r>
            <a:r>
              <a:rPr dirty="0" sz="1000" spc="25">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indent="245110">
              <a:lnSpc>
                <a:spcPct val="129500"/>
              </a:lnSpc>
              <a:buFont typeface="Times New Roman"/>
              <a:buAutoNum type="arabicPlain" startAt="23"/>
              <a:tabLst>
                <a:tab pos="437515" algn="l"/>
              </a:tabLst>
            </a:pPr>
            <a:r>
              <a:rPr dirty="0" sz="1000" spc="-5">
                <a:latin typeface="SimSun"/>
                <a:cs typeface="SimSun"/>
              </a:rPr>
              <a:t>丹尼尔</a:t>
            </a:r>
            <a:r>
              <a:rPr dirty="0" sz="1000" spc="-675">
                <a:latin typeface="SimSun"/>
                <a:cs typeface="SimSun"/>
              </a:rPr>
              <a:t>·</a:t>
            </a:r>
            <a:r>
              <a:rPr dirty="0" sz="1000" spc="-10">
                <a:latin typeface="SimSun"/>
                <a:cs typeface="SimSun"/>
              </a:rPr>
              <a:t>塞希特、莫娜</a:t>
            </a:r>
            <a:r>
              <a:rPr dirty="0" sz="1000" spc="-675">
                <a:latin typeface="SimSun"/>
                <a:cs typeface="SimSun"/>
              </a:rPr>
              <a:t>·</a:t>
            </a:r>
            <a:r>
              <a:rPr dirty="0" sz="1000" spc="-10">
                <a:latin typeface="SimSun"/>
                <a:cs typeface="SimSun"/>
              </a:rPr>
              <a:t>克勒、本杰明</a:t>
            </a:r>
            <a:r>
              <a:rPr dirty="0" sz="1000" spc="-675">
                <a:latin typeface="SimSun"/>
                <a:cs typeface="SimSun"/>
              </a:rPr>
              <a:t>·</a:t>
            </a:r>
            <a:r>
              <a:rPr dirty="0" sz="1000" spc="-10">
                <a:latin typeface="SimSun"/>
                <a:cs typeface="SimSun"/>
              </a:rPr>
              <a:t>勒万多夫斯基、蒂姆</a:t>
            </a:r>
            <a:r>
              <a:rPr dirty="0" sz="1000" spc="-675">
                <a:latin typeface="SimSun"/>
                <a:cs typeface="SimSun"/>
              </a:rPr>
              <a:t>·</a:t>
            </a:r>
            <a:r>
              <a:rPr dirty="0" sz="1000" spc="-35">
                <a:latin typeface="SimSun"/>
                <a:cs typeface="SimSun"/>
              </a:rPr>
              <a:t>温格费尔德、霍斯特 </a:t>
            </a:r>
            <a:r>
              <a:rPr dirty="0" sz="1000" spc="-15">
                <a:latin typeface="Times New Roman"/>
                <a:cs typeface="Times New Roman"/>
              </a:rPr>
              <a:t>- </a:t>
            </a:r>
            <a:r>
              <a:rPr dirty="0" sz="1000" spc="-5">
                <a:latin typeface="SimSun"/>
                <a:cs typeface="SimSun"/>
              </a:rPr>
              <a:t>迈克尔</a:t>
            </a:r>
            <a:r>
              <a:rPr dirty="0" sz="1000" spc="-675">
                <a:latin typeface="SimSun"/>
                <a:cs typeface="SimSun"/>
              </a:rPr>
              <a:t>·</a:t>
            </a:r>
            <a:r>
              <a:rPr dirty="0" sz="1000" spc="-10">
                <a:latin typeface="SimSun"/>
                <a:cs typeface="SimSun"/>
              </a:rPr>
              <a:t>格罗</a:t>
            </a:r>
            <a:r>
              <a:rPr dirty="0" sz="1000" spc="5">
                <a:latin typeface="SimSun"/>
                <a:cs typeface="SimSun"/>
              </a:rPr>
              <a:t>斯。用于室内场景分析的高效</a:t>
            </a:r>
            <a:r>
              <a:rPr dirty="0" sz="1000" spc="10">
                <a:latin typeface="Times New Roman"/>
                <a:cs typeface="Times New Roman"/>
              </a:rPr>
              <a:t>rgb</a:t>
            </a:r>
            <a:r>
              <a:rPr dirty="0" sz="1000" spc="-25">
                <a:latin typeface="Times New Roman"/>
                <a:cs typeface="Times New Roman"/>
              </a:rPr>
              <a:t> - </a:t>
            </a:r>
            <a:r>
              <a:rPr dirty="0" sz="1000" spc="35">
                <a:latin typeface="Times New Roman"/>
                <a:cs typeface="Times New Roman"/>
              </a:rPr>
              <a:t>d</a:t>
            </a:r>
            <a:r>
              <a:rPr dirty="0" sz="1000" spc="-15">
                <a:latin typeface="Times New Roman"/>
                <a:cs typeface="Times New Roman"/>
              </a:rPr>
              <a:t> </a:t>
            </a:r>
            <a:r>
              <a:rPr dirty="0" sz="1000" spc="-50">
                <a:latin typeface="SimSun"/>
                <a:cs typeface="SimSun"/>
              </a:rPr>
              <a:t>语义分割。在 </a:t>
            </a:r>
            <a:r>
              <a:rPr dirty="0" sz="1000" spc="-10">
                <a:latin typeface="Times New Roman"/>
                <a:cs typeface="Times New Roman"/>
              </a:rPr>
              <a:t>2021</a:t>
            </a:r>
            <a:r>
              <a:rPr dirty="0" sz="1000" spc="-15">
                <a:latin typeface="Times New Roman"/>
                <a:cs typeface="Times New Roman"/>
              </a:rPr>
              <a:t> </a:t>
            </a:r>
            <a:r>
              <a:rPr dirty="0" sz="1000" spc="225">
                <a:latin typeface="SimSun"/>
                <a:cs typeface="SimSun"/>
              </a:rPr>
              <a:t>年</a:t>
            </a:r>
            <a:r>
              <a:rPr dirty="0" sz="1000" spc="10">
                <a:latin typeface="Times New Roman"/>
                <a:cs typeface="Times New Roman"/>
              </a:rPr>
              <a:t>IEEE</a:t>
            </a:r>
            <a:r>
              <a:rPr dirty="0" sz="1000" spc="-15">
                <a:latin typeface="Times New Roman"/>
                <a:cs typeface="Times New Roman"/>
              </a:rPr>
              <a:t> </a:t>
            </a:r>
            <a:r>
              <a:rPr dirty="0" sz="1000" spc="10">
                <a:latin typeface="SimSun"/>
                <a:cs typeface="SimSun"/>
              </a:rPr>
              <a:t>国际机器人与自动化会议</a:t>
            </a:r>
            <a:r>
              <a:rPr dirty="0" sz="1000">
                <a:latin typeface="Times New Roman"/>
                <a:cs typeface="Times New Roman"/>
              </a:rPr>
              <a:t>(ICRA)</a:t>
            </a:r>
            <a:r>
              <a:rPr dirty="0" sz="1000" spc="-75">
                <a:latin typeface="SimSun"/>
                <a:cs typeface="SimSun"/>
              </a:rPr>
              <a:t>上，第 </a:t>
            </a:r>
            <a:r>
              <a:rPr dirty="0" sz="1000" spc="-10">
                <a:latin typeface="Times New Roman"/>
                <a:cs typeface="Times New Roman"/>
              </a:rPr>
              <a:t>13525</a:t>
            </a:r>
            <a:r>
              <a:rPr dirty="0" sz="1000" spc="-25">
                <a:latin typeface="Times New Roman"/>
                <a:cs typeface="Times New Roman"/>
              </a:rPr>
              <a:t> - </a:t>
            </a:r>
            <a:r>
              <a:rPr dirty="0" sz="1000" spc="-10">
                <a:latin typeface="Times New Roman"/>
                <a:cs typeface="Times New Roman"/>
              </a:rPr>
              <a:t>13531</a:t>
            </a:r>
            <a:r>
              <a:rPr dirty="0" sz="1000" spc="-20">
                <a:latin typeface="Times New Roman"/>
                <a:cs typeface="Times New Roman"/>
              </a:rPr>
              <a:t> </a:t>
            </a:r>
            <a:r>
              <a:rPr dirty="0" sz="1000" spc="-10">
                <a:latin typeface="SimSun"/>
                <a:cs typeface="SimSun"/>
              </a:rPr>
              <a:t>页。</a:t>
            </a:r>
            <a:r>
              <a:rPr dirty="0" sz="1000" spc="-5">
                <a:latin typeface="Times New Roman"/>
                <a:cs typeface="Times New Roman"/>
              </a:rPr>
              <a:t>IEEE</a:t>
            </a:r>
            <a:r>
              <a:rPr dirty="0" sz="1000" spc="-5">
                <a:latin typeface="SimSun"/>
                <a:cs typeface="SimSun"/>
              </a:rPr>
              <a:t>，</a:t>
            </a:r>
            <a:r>
              <a:rPr dirty="0" sz="1000" spc="-5">
                <a:latin typeface="Times New Roman"/>
                <a:cs typeface="Times New Roman"/>
              </a:rPr>
              <a:t>2021</a:t>
            </a:r>
            <a:r>
              <a:rPr dirty="0" sz="1000" spc="-20">
                <a:latin typeface="Times New Roman"/>
                <a:cs typeface="Times New Roman"/>
              </a:rPr>
              <a:t> </a:t>
            </a:r>
            <a:r>
              <a:rPr dirty="0" sz="1000" spc="-10">
                <a:latin typeface="SimSun"/>
                <a:cs typeface="SimSun"/>
              </a:rPr>
              <a:t>年。</a:t>
            </a:r>
            <a:r>
              <a:rPr dirty="0" sz="1000" spc="-15">
                <a:latin typeface="Times New Roman"/>
                <a:cs typeface="Times New Roman"/>
              </a:rPr>
              <a:t>1</a:t>
            </a:r>
            <a:r>
              <a:rPr dirty="0" sz="1000" spc="-15">
                <a:latin typeface="SimSun"/>
                <a:cs typeface="SimSun"/>
              </a:rPr>
              <a:t>，</a:t>
            </a:r>
            <a:r>
              <a:rPr dirty="0" sz="1000" spc="-15">
                <a:latin typeface="Times New Roman"/>
                <a:cs typeface="Times New Roman"/>
              </a:rPr>
              <a:t>2</a:t>
            </a:r>
            <a:endParaRPr sz="1000">
              <a:latin typeface="Times New Roman"/>
              <a:cs typeface="Times New Roman"/>
            </a:endParaRPr>
          </a:p>
          <a:p>
            <a:pPr>
              <a:lnSpc>
                <a:spcPct val="100000"/>
              </a:lnSpc>
              <a:spcBef>
                <a:spcPts val="210"/>
              </a:spcBef>
              <a:buFont typeface="Times New Roman"/>
              <a:buAutoNum type="arabicPlain" startAt="23"/>
            </a:pPr>
            <a:endParaRPr sz="1000">
              <a:latin typeface="Times New Roman"/>
              <a:cs typeface="Times New Roman"/>
            </a:endParaRPr>
          </a:p>
          <a:p>
            <a:pPr algn="just" marL="12700" marR="5080" indent="495300">
              <a:lnSpc>
                <a:spcPct val="129500"/>
              </a:lnSpc>
              <a:buAutoNum type="arabicPlain" startAt="23"/>
              <a:tabLst>
                <a:tab pos="508000" algn="l"/>
              </a:tabLst>
            </a:pPr>
            <a:r>
              <a:rPr dirty="0" sz="1000" spc="10">
                <a:latin typeface="Times New Roman"/>
                <a:cs typeface="Times New Roman"/>
              </a:rPr>
              <a:t>Nathan</a:t>
            </a:r>
            <a:r>
              <a:rPr dirty="0" sz="1000" spc="70">
                <a:latin typeface="Times New Roman"/>
                <a:cs typeface="Times New Roman"/>
              </a:rPr>
              <a:t> </a:t>
            </a:r>
            <a:r>
              <a:rPr dirty="0" sz="1000" spc="10">
                <a:latin typeface="Times New Roman"/>
                <a:cs typeface="Times New Roman"/>
              </a:rPr>
              <a:t>Silberman,</a:t>
            </a:r>
            <a:r>
              <a:rPr dirty="0" sz="1000" spc="75">
                <a:latin typeface="Times New Roman"/>
                <a:cs typeface="Times New Roman"/>
              </a:rPr>
              <a:t> </a:t>
            </a:r>
            <a:r>
              <a:rPr dirty="0" sz="1000" spc="10">
                <a:latin typeface="Times New Roman"/>
                <a:cs typeface="Times New Roman"/>
              </a:rPr>
              <a:t>Derek</a:t>
            </a:r>
            <a:r>
              <a:rPr dirty="0" sz="1000" spc="75">
                <a:latin typeface="Times New Roman"/>
                <a:cs typeface="Times New Roman"/>
              </a:rPr>
              <a:t> </a:t>
            </a:r>
            <a:r>
              <a:rPr dirty="0" sz="1000" spc="10">
                <a:latin typeface="Times New Roman"/>
                <a:cs typeface="Times New Roman"/>
              </a:rPr>
              <a:t>Hoiem,</a:t>
            </a:r>
            <a:r>
              <a:rPr dirty="0" sz="1000" spc="70">
                <a:latin typeface="Times New Roman"/>
                <a:cs typeface="Times New Roman"/>
              </a:rPr>
              <a:t> </a:t>
            </a:r>
            <a:r>
              <a:rPr dirty="0" sz="1000" spc="10">
                <a:latin typeface="Times New Roman"/>
                <a:cs typeface="Times New Roman"/>
              </a:rPr>
              <a:t>Pushmeet</a:t>
            </a:r>
            <a:r>
              <a:rPr dirty="0" sz="1000" spc="70">
                <a:latin typeface="Times New Roman"/>
                <a:cs typeface="Times New Roman"/>
              </a:rPr>
              <a:t> </a:t>
            </a:r>
            <a:r>
              <a:rPr dirty="0" sz="1000" spc="10">
                <a:latin typeface="Times New Roman"/>
                <a:cs typeface="Times New Roman"/>
              </a:rPr>
              <a:t>Kohli,</a:t>
            </a:r>
            <a:r>
              <a:rPr dirty="0" sz="1000" spc="75">
                <a:latin typeface="Times New Roman"/>
                <a:cs typeface="Times New Roman"/>
              </a:rPr>
              <a:t> </a:t>
            </a:r>
            <a:r>
              <a:rPr dirty="0" sz="1000" spc="10">
                <a:latin typeface="Times New Roman"/>
                <a:cs typeface="Times New Roman"/>
              </a:rPr>
              <a:t>and</a:t>
            </a:r>
            <a:r>
              <a:rPr dirty="0" sz="1000" spc="70">
                <a:latin typeface="Times New Roman"/>
                <a:cs typeface="Times New Roman"/>
              </a:rPr>
              <a:t> </a:t>
            </a:r>
            <a:r>
              <a:rPr dirty="0" sz="1000" spc="10">
                <a:latin typeface="Times New Roman"/>
                <a:cs typeface="Times New Roman"/>
              </a:rPr>
              <a:t>Rob</a:t>
            </a:r>
            <a:r>
              <a:rPr dirty="0" sz="1000" spc="70">
                <a:latin typeface="Times New Roman"/>
                <a:cs typeface="Times New Roman"/>
              </a:rPr>
              <a:t> </a:t>
            </a:r>
            <a:r>
              <a:rPr dirty="0" sz="1000" spc="10">
                <a:latin typeface="Times New Roman"/>
                <a:cs typeface="Times New Roman"/>
              </a:rPr>
              <a:t>Fergus.</a:t>
            </a:r>
            <a:r>
              <a:rPr dirty="0" sz="1000" spc="195">
                <a:latin typeface="Times New Roman"/>
                <a:cs typeface="Times New Roman"/>
              </a:rPr>
              <a:t> </a:t>
            </a:r>
            <a:r>
              <a:rPr dirty="0" sz="1000" spc="10">
                <a:latin typeface="Times New Roman"/>
                <a:cs typeface="Times New Roman"/>
              </a:rPr>
              <a:t>Indoor</a:t>
            </a:r>
            <a:r>
              <a:rPr dirty="0" sz="1000" spc="70">
                <a:latin typeface="Times New Roman"/>
                <a:cs typeface="Times New Roman"/>
              </a:rPr>
              <a:t> </a:t>
            </a:r>
            <a:r>
              <a:rPr dirty="0" sz="1000" spc="10">
                <a:latin typeface="Times New Roman"/>
                <a:cs typeface="Times New Roman"/>
              </a:rPr>
              <a:t>segmentation</a:t>
            </a:r>
            <a:r>
              <a:rPr dirty="0" sz="1000" spc="75">
                <a:latin typeface="Times New Roman"/>
                <a:cs typeface="Times New Roman"/>
              </a:rPr>
              <a:t> </a:t>
            </a:r>
            <a:r>
              <a:rPr dirty="0" sz="1000" spc="10">
                <a:latin typeface="Times New Roman"/>
                <a:cs typeface="Times New Roman"/>
              </a:rPr>
              <a:t>and</a:t>
            </a:r>
            <a:r>
              <a:rPr dirty="0" sz="1000" spc="70">
                <a:latin typeface="Times New Roman"/>
                <a:cs typeface="Times New Roman"/>
              </a:rPr>
              <a:t> </a:t>
            </a:r>
            <a:r>
              <a:rPr dirty="0" sz="1000" spc="-20">
                <a:latin typeface="Times New Roman"/>
                <a:cs typeface="Times New Roman"/>
              </a:rPr>
              <a:t>sup- </a:t>
            </a:r>
            <a:r>
              <a:rPr dirty="0" sz="1000">
                <a:latin typeface="Times New Roman"/>
                <a:cs typeface="Times New Roman"/>
              </a:rPr>
              <a:t>port</a:t>
            </a:r>
            <a:r>
              <a:rPr dirty="0" sz="1000" spc="55">
                <a:latin typeface="Times New Roman"/>
                <a:cs typeface="Times New Roman"/>
              </a:rPr>
              <a:t> </a:t>
            </a:r>
            <a:r>
              <a:rPr dirty="0" sz="1000">
                <a:latin typeface="Times New Roman"/>
                <a:cs typeface="Times New Roman"/>
              </a:rPr>
              <a:t>inference</a:t>
            </a:r>
            <a:r>
              <a:rPr dirty="0" sz="1000" spc="55">
                <a:latin typeface="Times New Roman"/>
                <a:cs typeface="Times New Roman"/>
              </a:rPr>
              <a:t> </a:t>
            </a:r>
            <a:r>
              <a:rPr dirty="0" sz="1000">
                <a:latin typeface="Times New Roman"/>
                <a:cs typeface="Times New Roman"/>
              </a:rPr>
              <a:t>from</a:t>
            </a:r>
            <a:r>
              <a:rPr dirty="0" sz="1000" spc="55">
                <a:latin typeface="Times New Roman"/>
                <a:cs typeface="Times New Roman"/>
              </a:rPr>
              <a:t> </a:t>
            </a:r>
            <a:r>
              <a:rPr dirty="0" sz="1000">
                <a:latin typeface="Times New Roman"/>
                <a:cs typeface="Times New Roman"/>
              </a:rPr>
              <a:t>rgbd</a:t>
            </a:r>
            <a:r>
              <a:rPr dirty="0" sz="1000" spc="60">
                <a:latin typeface="Times New Roman"/>
                <a:cs typeface="Times New Roman"/>
              </a:rPr>
              <a:t> </a:t>
            </a:r>
            <a:r>
              <a:rPr dirty="0" sz="1000">
                <a:latin typeface="Times New Roman"/>
                <a:cs typeface="Times New Roman"/>
              </a:rPr>
              <a:t>images.</a:t>
            </a:r>
            <a:r>
              <a:rPr dirty="0" sz="1000" spc="200">
                <a:latin typeface="Times New Roman"/>
                <a:cs typeface="Times New Roman"/>
              </a:rPr>
              <a:t> </a:t>
            </a:r>
            <a:r>
              <a:rPr dirty="0" sz="1000">
                <a:latin typeface="Times New Roman"/>
                <a:cs typeface="Times New Roman"/>
              </a:rPr>
              <a:t>In</a:t>
            </a:r>
            <a:r>
              <a:rPr dirty="0" sz="1000" spc="55">
                <a:latin typeface="Times New Roman"/>
                <a:cs typeface="Times New Roman"/>
              </a:rPr>
              <a:t> </a:t>
            </a:r>
            <a:r>
              <a:rPr dirty="0" sz="1000">
                <a:latin typeface="Times New Roman"/>
                <a:cs typeface="Times New Roman"/>
              </a:rPr>
              <a:t>European</a:t>
            </a:r>
            <a:r>
              <a:rPr dirty="0" sz="1000" spc="55">
                <a:latin typeface="Times New Roman"/>
                <a:cs typeface="Times New Roman"/>
              </a:rPr>
              <a:t> </a:t>
            </a:r>
            <a:r>
              <a:rPr dirty="0" sz="1000">
                <a:latin typeface="Times New Roman"/>
                <a:cs typeface="Times New Roman"/>
              </a:rPr>
              <a:t>conference</a:t>
            </a:r>
            <a:r>
              <a:rPr dirty="0" sz="1000" spc="55">
                <a:latin typeface="Times New Roman"/>
                <a:cs typeface="Times New Roman"/>
              </a:rPr>
              <a:t> </a:t>
            </a:r>
            <a:r>
              <a:rPr dirty="0" sz="1000">
                <a:latin typeface="Times New Roman"/>
                <a:cs typeface="Times New Roman"/>
              </a:rPr>
              <a:t>on</a:t>
            </a:r>
            <a:r>
              <a:rPr dirty="0" sz="1000" spc="60">
                <a:latin typeface="Times New Roman"/>
                <a:cs typeface="Times New Roman"/>
              </a:rPr>
              <a:t> </a:t>
            </a:r>
            <a:r>
              <a:rPr dirty="0" sz="1000">
                <a:latin typeface="Times New Roman"/>
                <a:cs typeface="Times New Roman"/>
              </a:rPr>
              <a:t>computer</a:t>
            </a:r>
            <a:r>
              <a:rPr dirty="0" sz="1000" spc="55">
                <a:latin typeface="Times New Roman"/>
                <a:cs typeface="Times New Roman"/>
              </a:rPr>
              <a:t> </a:t>
            </a:r>
            <a:r>
              <a:rPr dirty="0" sz="1000">
                <a:latin typeface="Times New Roman"/>
                <a:cs typeface="Times New Roman"/>
              </a:rPr>
              <a:t>vision,</a:t>
            </a:r>
            <a:r>
              <a:rPr dirty="0" sz="1000" spc="65">
                <a:latin typeface="Times New Roman"/>
                <a:cs typeface="Times New Roman"/>
              </a:rPr>
              <a:t> </a:t>
            </a:r>
            <a:r>
              <a:rPr dirty="0" sz="1000">
                <a:latin typeface="Times New Roman"/>
                <a:cs typeface="Times New Roman"/>
              </a:rPr>
              <a:t>pages</a:t>
            </a:r>
            <a:r>
              <a:rPr dirty="0" sz="1000" spc="55">
                <a:latin typeface="Times New Roman"/>
                <a:cs typeface="Times New Roman"/>
              </a:rPr>
              <a:t> </a:t>
            </a:r>
            <a:r>
              <a:rPr dirty="0" sz="1000" spc="-10">
                <a:latin typeface="Times New Roman"/>
                <a:cs typeface="Times New Roman"/>
              </a:rPr>
              <a:t>746-</a:t>
            </a:r>
            <a:r>
              <a:rPr dirty="0" sz="1000">
                <a:latin typeface="Times New Roman"/>
                <a:cs typeface="Times New Roman"/>
              </a:rPr>
              <a:t>760.</a:t>
            </a:r>
            <a:r>
              <a:rPr dirty="0" sz="1000" spc="200">
                <a:latin typeface="Times New Roman"/>
                <a:cs typeface="Times New Roman"/>
              </a:rPr>
              <a:t> </a:t>
            </a:r>
            <a:r>
              <a:rPr dirty="0" sz="1000">
                <a:latin typeface="Times New Roman"/>
                <a:cs typeface="Times New Roman"/>
              </a:rPr>
              <a:t>Springer,</a:t>
            </a:r>
            <a:r>
              <a:rPr dirty="0" sz="1000" spc="65">
                <a:latin typeface="Times New Roman"/>
                <a:cs typeface="Times New Roman"/>
              </a:rPr>
              <a:t> </a:t>
            </a:r>
            <a:r>
              <a:rPr dirty="0" sz="1000" spc="-10">
                <a:latin typeface="Times New Roman"/>
                <a:cs typeface="Times New Roman"/>
              </a:rPr>
              <a:t>2012. </a:t>
            </a:r>
            <a:r>
              <a:rPr dirty="0" sz="1000" spc="-50">
                <a:latin typeface="Times New Roman"/>
                <a:cs typeface="Times New Roman"/>
              </a:rPr>
              <a:t>6</a:t>
            </a:r>
            <a:endParaRPr sz="1000">
              <a:latin typeface="Times New Roman"/>
              <a:cs typeface="Times New Roman"/>
            </a:endParaRPr>
          </a:p>
          <a:p>
            <a:pPr>
              <a:lnSpc>
                <a:spcPct val="100000"/>
              </a:lnSpc>
              <a:spcBef>
                <a:spcPts val="229"/>
              </a:spcBef>
            </a:pPr>
            <a:endParaRPr sz="1000">
              <a:latin typeface="Times New Roman"/>
              <a:cs typeface="Times New Roman"/>
            </a:endParaRPr>
          </a:p>
          <a:p>
            <a:pPr algn="just" marL="192405" marR="184785" indent="242570">
              <a:lnSpc>
                <a:spcPct val="129500"/>
              </a:lnSpc>
              <a:buFont typeface="Times New Roman"/>
              <a:buAutoNum type="arabicPlain" startAt="24"/>
              <a:tabLst>
                <a:tab pos="434975" algn="l"/>
              </a:tabLst>
            </a:pPr>
            <a:r>
              <a:rPr dirty="0" sz="1000" spc="-10">
                <a:latin typeface="SimSun"/>
                <a:cs typeface="SimSun"/>
              </a:rPr>
              <a:t>内森</a:t>
            </a:r>
            <a:r>
              <a:rPr dirty="0" sz="1000" spc="-680">
                <a:latin typeface="SimSun"/>
                <a:cs typeface="SimSun"/>
              </a:rPr>
              <a:t>·</a:t>
            </a:r>
            <a:r>
              <a:rPr dirty="0" sz="1000" spc="-10">
                <a:latin typeface="SimSun"/>
                <a:cs typeface="SimSun"/>
              </a:rPr>
              <a:t>西尔伯曼、德里克</a:t>
            </a:r>
            <a:r>
              <a:rPr dirty="0" sz="1000" spc="-680">
                <a:latin typeface="SimSun"/>
                <a:cs typeface="SimSun"/>
              </a:rPr>
              <a:t>·</a:t>
            </a:r>
            <a:r>
              <a:rPr dirty="0" sz="1000" spc="-10">
                <a:latin typeface="SimSun"/>
                <a:cs typeface="SimSun"/>
              </a:rPr>
              <a:t>霍伊姆、普什梅特</a:t>
            </a:r>
            <a:r>
              <a:rPr dirty="0" sz="1000" spc="-680">
                <a:latin typeface="SimSun"/>
                <a:cs typeface="SimSun"/>
              </a:rPr>
              <a:t>·</a:t>
            </a:r>
            <a:r>
              <a:rPr dirty="0" sz="1000" spc="-10">
                <a:latin typeface="SimSun"/>
                <a:cs typeface="SimSun"/>
              </a:rPr>
              <a:t>科利、罗布</a:t>
            </a:r>
            <a:r>
              <a:rPr dirty="0" sz="1000" spc="-680">
                <a:latin typeface="SimSun"/>
                <a:cs typeface="SimSun"/>
              </a:rPr>
              <a:t>·</a:t>
            </a:r>
            <a:r>
              <a:rPr dirty="0" sz="1000" spc="35">
                <a:latin typeface="SimSun"/>
                <a:cs typeface="SimSun"/>
              </a:rPr>
              <a:t>弗格斯。从</a:t>
            </a:r>
            <a:r>
              <a:rPr dirty="0" sz="1000">
                <a:latin typeface="Times New Roman"/>
                <a:cs typeface="Times New Roman"/>
              </a:rPr>
              <a:t>rgbd </a:t>
            </a:r>
            <a:r>
              <a:rPr dirty="0" sz="1000" spc="-15">
                <a:latin typeface="SimSun"/>
                <a:cs typeface="SimSun"/>
              </a:rPr>
              <a:t>图像进行室内分割和</a:t>
            </a:r>
            <a:r>
              <a:rPr dirty="0" sz="1000" spc="-25">
                <a:latin typeface="SimSun"/>
                <a:cs typeface="SimSun"/>
              </a:rPr>
              <a:t>支撑推理。在欧洲计算机视觉会议上，第 </a:t>
            </a:r>
            <a:r>
              <a:rPr dirty="0" sz="1000">
                <a:latin typeface="Times New Roman"/>
                <a:cs typeface="Times New Roman"/>
              </a:rPr>
              <a:t>746</a:t>
            </a:r>
            <a:r>
              <a:rPr dirty="0" sz="1000" spc="-35">
                <a:latin typeface="Times New Roman"/>
                <a:cs typeface="Times New Roman"/>
              </a:rPr>
              <a:t> - </a:t>
            </a:r>
            <a:r>
              <a:rPr dirty="0" sz="1000">
                <a:latin typeface="Times New Roman"/>
                <a:cs typeface="Times New Roman"/>
              </a:rPr>
              <a:t>760</a:t>
            </a:r>
            <a:r>
              <a:rPr dirty="0" sz="1000" spc="-30">
                <a:latin typeface="Times New Roman"/>
                <a:cs typeface="Times New Roman"/>
              </a:rPr>
              <a:t> </a:t>
            </a:r>
            <a:r>
              <a:rPr dirty="0" sz="1000" spc="-10">
                <a:latin typeface="SimSun"/>
                <a:cs typeface="SimSun"/>
              </a:rPr>
              <a:t>页。施普林格，</a:t>
            </a:r>
            <a:r>
              <a:rPr dirty="0" sz="1000" spc="-10">
                <a:latin typeface="Times New Roman"/>
                <a:cs typeface="Times New Roman"/>
              </a:rPr>
              <a:t>2012</a:t>
            </a:r>
            <a:r>
              <a:rPr dirty="0" sz="1000" spc="-40">
                <a:latin typeface="Times New Roman"/>
                <a:cs typeface="Times New Roman"/>
              </a:rPr>
              <a:t> </a:t>
            </a:r>
            <a:r>
              <a:rPr dirty="0" sz="1000" spc="-10">
                <a:latin typeface="SimSun"/>
                <a:cs typeface="SimSun"/>
              </a:rPr>
              <a:t>年。</a:t>
            </a:r>
            <a:r>
              <a:rPr dirty="0" sz="1000" spc="-50">
                <a:latin typeface="Times New Roman"/>
                <a:cs typeface="Times New Roman"/>
              </a:rPr>
              <a:t>6</a:t>
            </a:r>
            <a:endParaRPr sz="1000">
              <a:latin typeface="Times New Roman"/>
              <a:cs typeface="Times New Roman"/>
            </a:endParaRPr>
          </a:p>
          <a:p>
            <a:pPr>
              <a:lnSpc>
                <a:spcPct val="100000"/>
              </a:lnSpc>
              <a:spcBef>
                <a:spcPts val="210"/>
              </a:spcBef>
              <a:buFont typeface="Times New Roman"/>
              <a:buAutoNum type="arabicPlain" startAt="24"/>
            </a:pPr>
            <a:endParaRPr sz="1000">
              <a:latin typeface="Times New Roman"/>
              <a:cs typeface="Times New Roman"/>
            </a:endParaRPr>
          </a:p>
          <a:p>
            <a:pPr algn="just" marL="12700" marR="5080" indent="487045">
              <a:lnSpc>
                <a:spcPct val="129500"/>
              </a:lnSpc>
              <a:buAutoNum type="arabicPlain" startAt="24"/>
              <a:tabLst>
                <a:tab pos="499745" algn="l"/>
              </a:tabLst>
            </a:pPr>
            <a:r>
              <a:rPr dirty="0" sz="1000">
                <a:latin typeface="Times New Roman"/>
                <a:cs typeface="Times New Roman"/>
              </a:rPr>
              <a:t>Hao</a:t>
            </a:r>
            <a:r>
              <a:rPr dirty="0" sz="1000" spc="5">
                <a:latin typeface="Times New Roman"/>
                <a:cs typeface="Times New Roman"/>
              </a:rPr>
              <a:t> </a:t>
            </a:r>
            <a:r>
              <a:rPr dirty="0" sz="1000">
                <a:latin typeface="Times New Roman"/>
                <a:cs typeface="Times New Roman"/>
              </a:rPr>
              <a:t>Sun,</a:t>
            </a:r>
            <a:r>
              <a:rPr dirty="0" sz="1000" spc="30">
                <a:latin typeface="Times New Roman"/>
                <a:cs typeface="Times New Roman"/>
              </a:rPr>
              <a:t> </a:t>
            </a:r>
            <a:r>
              <a:rPr dirty="0" sz="1000">
                <a:latin typeface="Times New Roman"/>
                <a:cs typeface="Times New Roman"/>
              </a:rPr>
              <a:t>Hongyi</a:t>
            </a:r>
            <a:r>
              <a:rPr dirty="0" sz="1000" spc="5">
                <a:latin typeface="Times New Roman"/>
                <a:cs typeface="Times New Roman"/>
              </a:rPr>
              <a:t> </a:t>
            </a:r>
            <a:r>
              <a:rPr dirty="0" sz="1000" spc="-10">
                <a:latin typeface="Times New Roman"/>
                <a:cs typeface="Times New Roman"/>
              </a:rPr>
              <a:t>Wang,</a:t>
            </a:r>
            <a:r>
              <a:rPr dirty="0" sz="1000" spc="25">
                <a:latin typeface="Times New Roman"/>
                <a:cs typeface="Times New Roman"/>
              </a:rPr>
              <a:t> </a:t>
            </a:r>
            <a:r>
              <a:rPr dirty="0" sz="1000">
                <a:latin typeface="Times New Roman"/>
                <a:cs typeface="Times New Roman"/>
              </a:rPr>
              <a:t>Jiaqing</a:t>
            </a:r>
            <a:r>
              <a:rPr dirty="0" sz="1000" spc="5">
                <a:latin typeface="Times New Roman"/>
                <a:cs typeface="Times New Roman"/>
              </a:rPr>
              <a:t> </a:t>
            </a:r>
            <a:r>
              <a:rPr dirty="0" sz="1000">
                <a:latin typeface="Times New Roman"/>
                <a:cs typeface="Times New Roman"/>
              </a:rPr>
              <a:t>Liu,</a:t>
            </a:r>
            <a:r>
              <a:rPr dirty="0" sz="1000" spc="30">
                <a:latin typeface="Times New Roman"/>
                <a:cs typeface="Times New Roman"/>
              </a:rPr>
              <a:t> </a:t>
            </a:r>
            <a:r>
              <a:rPr dirty="0" sz="1000" spc="-50">
                <a:latin typeface="Times New Roman"/>
                <a:cs typeface="Times New Roman"/>
              </a:rPr>
              <a:t>Yen-</a:t>
            </a:r>
            <a:r>
              <a:rPr dirty="0" sz="1000" spc="-45">
                <a:latin typeface="Times New Roman"/>
                <a:cs typeface="Times New Roman"/>
              </a:rPr>
              <a:t>Wei</a:t>
            </a:r>
            <a:r>
              <a:rPr dirty="0" sz="1000" spc="10">
                <a:latin typeface="Times New Roman"/>
                <a:cs typeface="Times New Roman"/>
              </a:rPr>
              <a:t> </a:t>
            </a:r>
            <a:r>
              <a:rPr dirty="0" sz="1000">
                <a:latin typeface="Times New Roman"/>
                <a:cs typeface="Times New Roman"/>
              </a:rPr>
              <a:t>Chen,</a:t>
            </a:r>
            <a:r>
              <a:rPr dirty="0" sz="1000" spc="30">
                <a:latin typeface="Times New Roman"/>
                <a:cs typeface="Times New Roman"/>
              </a:rPr>
              <a:t> </a:t>
            </a:r>
            <a:r>
              <a:rPr dirty="0" sz="1000">
                <a:latin typeface="Times New Roman"/>
                <a:cs typeface="Times New Roman"/>
              </a:rPr>
              <a:t>and</a:t>
            </a:r>
            <a:r>
              <a:rPr dirty="0" sz="1000" spc="5">
                <a:latin typeface="Times New Roman"/>
                <a:cs typeface="Times New Roman"/>
              </a:rPr>
              <a:t> </a:t>
            </a:r>
            <a:r>
              <a:rPr dirty="0" sz="1000">
                <a:latin typeface="Times New Roman"/>
                <a:cs typeface="Times New Roman"/>
              </a:rPr>
              <a:t>Lanfen</a:t>
            </a:r>
            <a:r>
              <a:rPr dirty="0" sz="1000" spc="10">
                <a:latin typeface="Times New Roman"/>
                <a:cs typeface="Times New Roman"/>
              </a:rPr>
              <a:t> </a:t>
            </a:r>
            <a:r>
              <a:rPr dirty="0" sz="1000">
                <a:latin typeface="Times New Roman"/>
                <a:cs typeface="Times New Roman"/>
              </a:rPr>
              <a:t>Lin.</a:t>
            </a:r>
            <a:r>
              <a:rPr dirty="0" sz="1000" spc="185">
                <a:latin typeface="Times New Roman"/>
                <a:cs typeface="Times New Roman"/>
              </a:rPr>
              <a:t> </a:t>
            </a:r>
            <a:r>
              <a:rPr dirty="0" sz="1000">
                <a:latin typeface="Times New Roman"/>
                <a:cs typeface="Times New Roman"/>
              </a:rPr>
              <a:t>Cubemlp:</a:t>
            </a:r>
            <a:r>
              <a:rPr dirty="0" sz="1000" spc="175">
                <a:latin typeface="Times New Roman"/>
                <a:cs typeface="Times New Roman"/>
              </a:rPr>
              <a:t> </a:t>
            </a:r>
            <a:r>
              <a:rPr dirty="0" sz="1000">
                <a:latin typeface="Times New Roman"/>
                <a:cs typeface="Times New Roman"/>
              </a:rPr>
              <a:t>An</a:t>
            </a:r>
            <a:r>
              <a:rPr dirty="0" sz="1000" spc="10">
                <a:latin typeface="Times New Roman"/>
                <a:cs typeface="Times New Roman"/>
              </a:rPr>
              <a:t> </a:t>
            </a:r>
            <a:r>
              <a:rPr dirty="0" sz="1000">
                <a:latin typeface="Times New Roman"/>
                <a:cs typeface="Times New Roman"/>
              </a:rPr>
              <a:t>mlp-based</a:t>
            </a:r>
            <a:r>
              <a:rPr dirty="0" sz="1000" spc="5">
                <a:latin typeface="Times New Roman"/>
                <a:cs typeface="Times New Roman"/>
              </a:rPr>
              <a:t> </a:t>
            </a:r>
            <a:r>
              <a:rPr dirty="0" sz="1000" spc="-10">
                <a:latin typeface="Times New Roman"/>
                <a:cs typeface="Times New Roman"/>
              </a:rPr>
              <a:t>model </a:t>
            </a:r>
            <a:r>
              <a:rPr dirty="0" sz="1000">
                <a:latin typeface="Times New Roman"/>
                <a:cs typeface="Times New Roman"/>
              </a:rPr>
              <a:t>for</a:t>
            </a:r>
            <a:r>
              <a:rPr dirty="0" sz="1000" spc="105">
                <a:latin typeface="Times New Roman"/>
                <a:cs typeface="Times New Roman"/>
              </a:rPr>
              <a:t> </a:t>
            </a:r>
            <a:r>
              <a:rPr dirty="0" sz="1000">
                <a:latin typeface="Times New Roman"/>
                <a:cs typeface="Times New Roman"/>
              </a:rPr>
              <a:t>multimodal</a:t>
            </a:r>
            <a:r>
              <a:rPr dirty="0" sz="1000" spc="105">
                <a:latin typeface="Times New Roman"/>
                <a:cs typeface="Times New Roman"/>
              </a:rPr>
              <a:t> </a:t>
            </a:r>
            <a:r>
              <a:rPr dirty="0" sz="1000">
                <a:latin typeface="Times New Roman"/>
                <a:cs typeface="Times New Roman"/>
              </a:rPr>
              <a:t>sentiment</a:t>
            </a:r>
            <a:r>
              <a:rPr dirty="0" sz="1000" spc="105">
                <a:latin typeface="Times New Roman"/>
                <a:cs typeface="Times New Roman"/>
              </a:rPr>
              <a:t> </a:t>
            </a:r>
            <a:r>
              <a:rPr dirty="0" sz="1000">
                <a:latin typeface="Times New Roman"/>
                <a:cs typeface="Times New Roman"/>
              </a:rPr>
              <a:t>analysis</a:t>
            </a:r>
            <a:r>
              <a:rPr dirty="0" sz="1000" spc="105">
                <a:latin typeface="Times New Roman"/>
                <a:cs typeface="Times New Roman"/>
              </a:rPr>
              <a:t> </a:t>
            </a:r>
            <a:r>
              <a:rPr dirty="0" sz="1000">
                <a:latin typeface="Times New Roman"/>
                <a:cs typeface="Times New Roman"/>
              </a:rPr>
              <a:t>and</a:t>
            </a:r>
            <a:r>
              <a:rPr dirty="0" sz="1000" spc="110">
                <a:latin typeface="Times New Roman"/>
                <a:cs typeface="Times New Roman"/>
              </a:rPr>
              <a:t> </a:t>
            </a:r>
            <a:r>
              <a:rPr dirty="0" sz="1000">
                <a:latin typeface="Times New Roman"/>
                <a:cs typeface="Times New Roman"/>
              </a:rPr>
              <a:t>depression</a:t>
            </a:r>
            <a:r>
              <a:rPr dirty="0" sz="1000" spc="105">
                <a:latin typeface="Times New Roman"/>
                <a:cs typeface="Times New Roman"/>
              </a:rPr>
              <a:t> </a:t>
            </a:r>
            <a:r>
              <a:rPr dirty="0" sz="1000">
                <a:latin typeface="Times New Roman"/>
                <a:cs typeface="Times New Roman"/>
              </a:rPr>
              <a:t>estimation.</a:t>
            </a:r>
            <a:r>
              <a:rPr dirty="0" sz="1000" spc="245">
                <a:latin typeface="Times New Roman"/>
                <a:cs typeface="Times New Roman"/>
              </a:rPr>
              <a:t> </a:t>
            </a:r>
            <a:r>
              <a:rPr dirty="0" sz="1000">
                <a:latin typeface="Times New Roman"/>
                <a:cs typeface="Times New Roman"/>
              </a:rPr>
              <a:t>In</a:t>
            </a:r>
            <a:r>
              <a:rPr dirty="0" sz="1000" spc="105">
                <a:latin typeface="Times New Roman"/>
                <a:cs typeface="Times New Roman"/>
              </a:rPr>
              <a:t> </a:t>
            </a:r>
            <a:r>
              <a:rPr dirty="0" sz="1000">
                <a:latin typeface="Times New Roman"/>
                <a:cs typeface="Times New Roman"/>
              </a:rPr>
              <a:t>Proceedings</a:t>
            </a:r>
            <a:r>
              <a:rPr dirty="0" sz="1000" spc="105">
                <a:latin typeface="Times New Roman"/>
                <a:cs typeface="Times New Roman"/>
              </a:rPr>
              <a:t> </a:t>
            </a:r>
            <a:r>
              <a:rPr dirty="0" sz="1000">
                <a:latin typeface="Times New Roman"/>
                <a:cs typeface="Times New Roman"/>
              </a:rPr>
              <a:t>of</a:t>
            </a:r>
            <a:r>
              <a:rPr dirty="0" sz="1000" spc="105">
                <a:latin typeface="Times New Roman"/>
                <a:cs typeface="Times New Roman"/>
              </a:rPr>
              <a:t> </a:t>
            </a:r>
            <a:r>
              <a:rPr dirty="0" sz="1000">
                <a:latin typeface="Times New Roman"/>
                <a:cs typeface="Times New Roman"/>
              </a:rPr>
              <a:t>the</a:t>
            </a:r>
            <a:r>
              <a:rPr dirty="0" sz="1000" spc="110">
                <a:latin typeface="Times New Roman"/>
                <a:cs typeface="Times New Roman"/>
              </a:rPr>
              <a:t> </a:t>
            </a:r>
            <a:r>
              <a:rPr dirty="0" sz="1000">
                <a:latin typeface="Times New Roman"/>
                <a:cs typeface="Times New Roman"/>
              </a:rPr>
              <a:t>30th</a:t>
            </a:r>
            <a:r>
              <a:rPr dirty="0" sz="1000" spc="105">
                <a:latin typeface="Times New Roman"/>
                <a:cs typeface="Times New Roman"/>
              </a:rPr>
              <a:t> </a:t>
            </a:r>
            <a:r>
              <a:rPr dirty="0" sz="1000" spc="-20">
                <a:latin typeface="Times New Roman"/>
                <a:cs typeface="Times New Roman"/>
              </a:rPr>
              <a:t>ACM</a:t>
            </a:r>
            <a:r>
              <a:rPr dirty="0" sz="1000" spc="105">
                <a:latin typeface="Times New Roman"/>
                <a:cs typeface="Times New Roman"/>
              </a:rPr>
              <a:t> </a:t>
            </a:r>
            <a:r>
              <a:rPr dirty="0" sz="1000" spc="-10">
                <a:latin typeface="Times New Roman"/>
                <a:cs typeface="Times New Roman"/>
              </a:rPr>
              <a:t>international </a:t>
            </a:r>
            <a:r>
              <a:rPr dirty="0" sz="1000">
                <a:latin typeface="Times New Roman"/>
                <a:cs typeface="Times New Roman"/>
              </a:rPr>
              <a:t>conference</a:t>
            </a:r>
            <a:r>
              <a:rPr dirty="0" sz="1000" spc="75">
                <a:latin typeface="Times New Roman"/>
                <a:cs typeface="Times New Roman"/>
              </a:rPr>
              <a:t> </a:t>
            </a:r>
            <a:r>
              <a:rPr dirty="0" sz="1000">
                <a:latin typeface="Times New Roman"/>
                <a:cs typeface="Times New Roman"/>
              </a:rPr>
              <a:t>on</a:t>
            </a:r>
            <a:r>
              <a:rPr dirty="0" sz="1000" spc="75">
                <a:latin typeface="Times New Roman"/>
                <a:cs typeface="Times New Roman"/>
              </a:rPr>
              <a:t> </a:t>
            </a:r>
            <a:r>
              <a:rPr dirty="0" sz="1000">
                <a:latin typeface="Times New Roman"/>
                <a:cs typeface="Times New Roman"/>
              </a:rPr>
              <a:t>multimedia,</a:t>
            </a:r>
            <a:r>
              <a:rPr dirty="0" sz="1000" spc="75">
                <a:latin typeface="Times New Roman"/>
                <a:cs typeface="Times New Roman"/>
              </a:rPr>
              <a:t> </a:t>
            </a:r>
            <a:r>
              <a:rPr dirty="0" sz="1000">
                <a:latin typeface="Times New Roman"/>
                <a:cs typeface="Times New Roman"/>
              </a:rPr>
              <a:t>pages</a:t>
            </a:r>
            <a:r>
              <a:rPr dirty="0" sz="1000" spc="75">
                <a:latin typeface="Times New Roman"/>
                <a:cs typeface="Times New Roman"/>
              </a:rPr>
              <a:t> </a:t>
            </a:r>
            <a:r>
              <a:rPr dirty="0" sz="1000" spc="-10">
                <a:latin typeface="Times New Roman"/>
                <a:cs typeface="Times New Roman"/>
              </a:rPr>
              <a:t>3722-3729,</a:t>
            </a:r>
            <a:r>
              <a:rPr dirty="0" sz="1000" spc="75">
                <a:latin typeface="Times New Roman"/>
                <a:cs typeface="Times New Roman"/>
              </a:rPr>
              <a:t> </a:t>
            </a:r>
            <a:r>
              <a:rPr dirty="0" sz="1000">
                <a:latin typeface="Times New Roman"/>
                <a:cs typeface="Times New Roman"/>
              </a:rPr>
              <a:t>2022.</a:t>
            </a:r>
            <a:r>
              <a:rPr dirty="0" sz="1000" spc="185">
                <a:latin typeface="Times New Roman"/>
                <a:cs typeface="Times New Roman"/>
              </a:rPr>
              <a:t> </a:t>
            </a:r>
            <a:r>
              <a:rPr dirty="0" sz="1000" spc="-50">
                <a:latin typeface="Times New Roman"/>
                <a:cs typeface="Times New Roman"/>
              </a:rPr>
              <a:t>7</a:t>
            </a:r>
            <a:endParaRPr sz="1000">
              <a:latin typeface="Times New Roman"/>
              <a:cs typeface="Times New Roman"/>
            </a:endParaRPr>
          </a:p>
        </p:txBody>
      </p:sp>
      <p:sp>
        <p:nvSpPr>
          <p:cNvPr id="21" name="object 21"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96"/>
            <a:ext cx="5760085" cy="545465"/>
            <a:chOff x="899998" y="899996"/>
            <a:chExt cx="5760085" cy="545465"/>
          </a:xfrm>
        </p:grpSpPr>
        <p:sp>
          <p:nvSpPr>
            <p:cNvPr id="3" name="object 3" descr=""/>
            <p:cNvSpPr/>
            <p:nvPr/>
          </p:nvSpPr>
          <p:spPr>
            <a:xfrm>
              <a:off x="899998" y="899996"/>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96"/>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234730"/>
            <a:ext cx="5760085" cy="546100"/>
            <a:chOff x="899998" y="2234730"/>
            <a:chExt cx="5760085" cy="546100"/>
          </a:xfrm>
        </p:grpSpPr>
        <p:sp>
          <p:nvSpPr>
            <p:cNvPr id="6" name="object 6" descr=""/>
            <p:cNvSpPr/>
            <p:nvPr/>
          </p:nvSpPr>
          <p:spPr>
            <a:xfrm>
              <a:off x="899998" y="2234730"/>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234730"/>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3372727"/>
            <a:ext cx="5760085" cy="546735"/>
            <a:chOff x="899998" y="3372727"/>
            <a:chExt cx="5760085" cy="546735"/>
          </a:xfrm>
        </p:grpSpPr>
        <p:sp>
          <p:nvSpPr>
            <p:cNvPr id="9" name="object 9" descr=""/>
            <p:cNvSpPr/>
            <p:nvPr/>
          </p:nvSpPr>
          <p:spPr>
            <a:xfrm>
              <a:off x="899998" y="3372727"/>
              <a:ext cx="5760085" cy="546735"/>
            </a:xfrm>
            <a:custGeom>
              <a:avLst/>
              <a:gdLst/>
              <a:ahLst/>
              <a:cxnLst/>
              <a:rect l="l" t="t" r="r" b="b"/>
              <a:pathLst>
                <a:path w="5760084" h="546735">
                  <a:moveTo>
                    <a:pt x="5724074" y="0"/>
                  </a:moveTo>
                  <a:lnTo>
                    <a:pt x="36000" y="0"/>
                  </a:lnTo>
                  <a:lnTo>
                    <a:pt x="21987" y="2829"/>
                  </a:lnTo>
                  <a:lnTo>
                    <a:pt x="10544" y="10544"/>
                  </a:lnTo>
                  <a:lnTo>
                    <a:pt x="2829" y="21987"/>
                  </a:lnTo>
                  <a:lnTo>
                    <a:pt x="0" y="36000"/>
                  </a:lnTo>
                  <a:lnTo>
                    <a:pt x="0" y="510237"/>
                  </a:lnTo>
                  <a:lnTo>
                    <a:pt x="2829" y="524250"/>
                  </a:lnTo>
                  <a:lnTo>
                    <a:pt x="10544" y="535694"/>
                  </a:lnTo>
                  <a:lnTo>
                    <a:pt x="21987" y="543409"/>
                  </a:lnTo>
                  <a:lnTo>
                    <a:pt x="36000" y="546238"/>
                  </a:lnTo>
                  <a:lnTo>
                    <a:pt x="5724074" y="546238"/>
                  </a:lnTo>
                  <a:lnTo>
                    <a:pt x="5738087" y="543409"/>
                  </a:lnTo>
                  <a:lnTo>
                    <a:pt x="5749530" y="535694"/>
                  </a:lnTo>
                  <a:lnTo>
                    <a:pt x="5757245" y="524250"/>
                  </a:lnTo>
                  <a:lnTo>
                    <a:pt x="5760074" y="51023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3372727"/>
              <a:ext cx="5760085" cy="546735"/>
            </a:xfrm>
            <a:custGeom>
              <a:avLst/>
              <a:gdLst/>
              <a:ahLst/>
              <a:cxnLst/>
              <a:rect l="l" t="t" r="r" b="b"/>
              <a:pathLst>
                <a:path w="5760084" h="546735">
                  <a:moveTo>
                    <a:pt x="5724074" y="0"/>
                  </a:moveTo>
                  <a:lnTo>
                    <a:pt x="36000" y="0"/>
                  </a:lnTo>
                  <a:lnTo>
                    <a:pt x="21987" y="2829"/>
                  </a:lnTo>
                  <a:lnTo>
                    <a:pt x="10544" y="10544"/>
                  </a:lnTo>
                  <a:lnTo>
                    <a:pt x="2829" y="21987"/>
                  </a:lnTo>
                  <a:lnTo>
                    <a:pt x="0" y="36000"/>
                  </a:lnTo>
                  <a:lnTo>
                    <a:pt x="0" y="510237"/>
                  </a:lnTo>
                  <a:lnTo>
                    <a:pt x="2829" y="524250"/>
                  </a:lnTo>
                  <a:lnTo>
                    <a:pt x="10544" y="535694"/>
                  </a:lnTo>
                  <a:lnTo>
                    <a:pt x="21987" y="543409"/>
                  </a:lnTo>
                  <a:lnTo>
                    <a:pt x="36000" y="546238"/>
                  </a:lnTo>
                  <a:lnTo>
                    <a:pt x="5724074" y="546238"/>
                  </a:lnTo>
                  <a:lnTo>
                    <a:pt x="5738087" y="543409"/>
                  </a:lnTo>
                  <a:lnTo>
                    <a:pt x="5749530" y="535694"/>
                  </a:lnTo>
                  <a:lnTo>
                    <a:pt x="5757245" y="524250"/>
                  </a:lnTo>
                  <a:lnTo>
                    <a:pt x="5760074" y="51023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4708483"/>
            <a:ext cx="5760085" cy="545465"/>
            <a:chOff x="899998" y="4708483"/>
            <a:chExt cx="5760085" cy="545465"/>
          </a:xfrm>
        </p:grpSpPr>
        <p:sp>
          <p:nvSpPr>
            <p:cNvPr id="12" name="object 12" descr=""/>
            <p:cNvSpPr/>
            <p:nvPr/>
          </p:nvSpPr>
          <p:spPr>
            <a:xfrm>
              <a:off x="899998" y="4708483"/>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8972"/>
                  </a:lnTo>
                  <a:lnTo>
                    <a:pt x="2829" y="522985"/>
                  </a:lnTo>
                  <a:lnTo>
                    <a:pt x="10544" y="534428"/>
                  </a:lnTo>
                  <a:lnTo>
                    <a:pt x="21987" y="542143"/>
                  </a:lnTo>
                  <a:lnTo>
                    <a:pt x="36000" y="544972"/>
                  </a:lnTo>
                  <a:lnTo>
                    <a:pt x="5724074" y="544972"/>
                  </a:lnTo>
                  <a:lnTo>
                    <a:pt x="5738087" y="542143"/>
                  </a:lnTo>
                  <a:lnTo>
                    <a:pt x="5749530" y="534428"/>
                  </a:lnTo>
                  <a:lnTo>
                    <a:pt x="5757245" y="522985"/>
                  </a:lnTo>
                  <a:lnTo>
                    <a:pt x="5760074" y="50897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4708483"/>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8972"/>
                  </a:lnTo>
                  <a:lnTo>
                    <a:pt x="2829" y="522985"/>
                  </a:lnTo>
                  <a:lnTo>
                    <a:pt x="10544" y="534428"/>
                  </a:lnTo>
                  <a:lnTo>
                    <a:pt x="21987" y="542143"/>
                  </a:lnTo>
                  <a:lnTo>
                    <a:pt x="36000" y="544972"/>
                  </a:lnTo>
                  <a:lnTo>
                    <a:pt x="5724074" y="544972"/>
                  </a:lnTo>
                  <a:lnTo>
                    <a:pt x="5738087" y="542143"/>
                  </a:lnTo>
                  <a:lnTo>
                    <a:pt x="5749530" y="534428"/>
                  </a:lnTo>
                  <a:lnTo>
                    <a:pt x="5757245" y="522985"/>
                  </a:lnTo>
                  <a:lnTo>
                    <a:pt x="5760074" y="50897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6042961"/>
            <a:ext cx="5760085" cy="545465"/>
            <a:chOff x="899998" y="6042961"/>
            <a:chExt cx="5760085" cy="545465"/>
          </a:xfrm>
        </p:grpSpPr>
        <p:sp>
          <p:nvSpPr>
            <p:cNvPr id="15" name="object 15" descr=""/>
            <p:cNvSpPr/>
            <p:nvPr/>
          </p:nvSpPr>
          <p:spPr>
            <a:xfrm>
              <a:off x="899998" y="6042961"/>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8846"/>
                  </a:lnTo>
                  <a:lnTo>
                    <a:pt x="2829" y="522859"/>
                  </a:lnTo>
                  <a:lnTo>
                    <a:pt x="10544" y="534302"/>
                  </a:lnTo>
                  <a:lnTo>
                    <a:pt x="21987" y="542017"/>
                  </a:lnTo>
                  <a:lnTo>
                    <a:pt x="36000" y="544846"/>
                  </a:lnTo>
                  <a:lnTo>
                    <a:pt x="5724074" y="544846"/>
                  </a:lnTo>
                  <a:lnTo>
                    <a:pt x="5738087" y="542017"/>
                  </a:lnTo>
                  <a:lnTo>
                    <a:pt x="5749530" y="534302"/>
                  </a:lnTo>
                  <a:lnTo>
                    <a:pt x="5757245" y="522859"/>
                  </a:lnTo>
                  <a:lnTo>
                    <a:pt x="5760074" y="50884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6042961"/>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8846"/>
                  </a:lnTo>
                  <a:lnTo>
                    <a:pt x="2829" y="522859"/>
                  </a:lnTo>
                  <a:lnTo>
                    <a:pt x="10544" y="534302"/>
                  </a:lnTo>
                  <a:lnTo>
                    <a:pt x="21987" y="542017"/>
                  </a:lnTo>
                  <a:lnTo>
                    <a:pt x="36000" y="544846"/>
                  </a:lnTo>
                  <a:lnTo>
                    <a:pt x="5724074" y="544846"/>
                  </a:lnTo>
                  <a:lnTo>
                    <a:pt x="5738087" y="542017"/>
                  </a:lnTo>
                  <a:lnTo>
                    <a:pt x="5749530" y="534302"/>
                  </a:lnTo>
                  <a:lnTo>
                    <a:pt x="5757245" y="522859"/>
                  </a:lnTo>
                  <a:lnTo>
                    <a:pt x="5760074" y="50884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7377327"/>
            <a:ext cx="5760085" cy="546100"/>
            <a:chOff x="899998" y="7377327"/>
            <a:chExt cx="5760085" cy="546100"/>
          </a:xfrm>
        </p:grpSpPr>
        <p:sp>
          <p:nvSpPr>
            <p:cNvPr id="18" name="object 18" descr=""/>
            <p:cNvSpPr/>
            <p:nvPr/>
          </p:nvSpPr>
          <p:spPr>
            <a:xfrm>
              <a:off x="899998" y="7377327"/>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478"/>
                  </a:lnTo>
                  <a:lnTo>
                    <a:pt x="2829" y="523491"/>
                  </a:lnTo>
                  <a:lnTo>
                    <a:pt x="10544" y="534934"/>
                  </a:lnTo>
                  <a:lnTo>
                    <a:pt x="21987" y="542649"/>
                  </a:lnTo>
                  <a:lnTo>
                    <a:pt x="36000" y="545478"/>
                  </a:lnTo>
                  <a:lnTo>
                    <a:pt x="5724074" y="545478"/>
                  </a:lnTo>
                  <a:lnTo>
                    <a:pt x="5738087" y="542649"/>
                  </a:lnTo>
                  <a:lnTo>
                    <a:pt x="5749530" y="534934"/>
                  </a:lnTo>
                  <a:lnTo>
                    <a:pt x="5757245" y="523491"/>
                  </a:lnTo>
                  <a:lnTo>
                    <a:pt x="5760074" y="50947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7377327"/>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478"/>
                  </a:lnTo>
                  <a:lnTo>
                    <a:pt x="2829" y="523491"/>
                  </a:lnTo>
                  <a:lnTo>
                    <a:pt x="10544" y="534934"/>
                  </a:lnTo>
                  <a:lnTo>
                    <a:pt x="21987" y="542649"/>
                  </a:lnTo>
                  <a:lnTo>
                    <a:pt x="36000" y="545478"/>
                  </a:lnTo>
                  <a:lnTo>
                    <a:pt x="5724074" y="545478"/>
                  </a:lnTo>
                  <a:lnTo>
                    <a:pt x="5738087" y="542649"/>
                  </a:lnTo>
                  <a:lnTo>
                    <a:pt x="5749530" y="534934"/>
                  </a:lnTo>
                  <a:lnTo>
                    <a:pt x="5757245" y="523491"/>
                  </a:lnTo>
                  <a:lnTo>
                    <a:pt x="5760074" y="50947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20" name="object 20" descr=""/>
          <p:cNvGrpSpPr/>
          <p:nvPr/>
        </p:nvGrpSpPr>
        <p:grpSpPr>
          <a:xfrm>
            <a:off x="899998" y="8514939"/>
            <a:ext cx="5760085" cy="545465"/>
            <a:chOff x="899998" y="8514939"/>
            <a:chExt cx="5760085" cy="545465"/>
          </a:xfrm>
        </p:grpSpPr>
        <p:sp>
          <p:nvSpPr>
            <p:cNvPr id="21" name="object 21" descr=""/>
            <p:cNvSpPr/>
            <p:nvPr/>
          </p:nvSpPr>
          <p:spPr>
            <a:xfrm>
              <a:off x="899998" y="8514939"/>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8846"/>
                  </a:lnTo>
                  <a:lnTo>
                    <a:pt x="2829" y="522859"/>
                  </a:lnTo>
                  <a:lnTo>
                    <a:pt x="10544" y="534302"/>
                  </a:lnTo>
                  <a:lnTo>
                    <a:pt x="21987" y="542017"/>
                  </a:lnTo>
                  <a:lnTo>
                    <a:pt x="36000" y="544846"/>
                  </a:lnTo>
                  <a:lnTo>
                    <a:pt x="5724074" y="544846"/>
                  </a:lnTo>
                  <a:lnTo>
                    <a:pt x="5738087" y="542017"/>
                  </a:lnTo>
                  <a:lnTo>
                    <a:pt x="5749530" y="534302"/>
                  </a:lnTo>
                  <a:lnTo>
                    <a:pt x="5757245" y="522859"/>
                  </a:lnTo>
                  <a:lnTo>
                    <a:pt x="5760074" y="508846"/>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2" name="object 22" descr=""/>
            <p:cNvSpPr/>
            <p:nvPr/>
          </p:nvSpPr>
          <p:spPr>
            <a:xfrm>
              <a:off x="899998" y="8514939"/>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8846"/>
                  </a:lnTo>
                  <a:lnTo>
                    <a:pt x="2829" y="522859"/>
                  </a:lnTo>
                  <a:lnTo>
                    <a:pt x="10544" y="534302"/>
                  </a:lnTo>
                  <a:lnTo>
                    <a:pt x="21987" y="542017"/>
                  </a:lnTo>
                  <a:lnTo>
                    <a:pt x="36000" y="544846"/>
                  </a:lnTo>
                  <a:lnTo>
                    <a:pt x="5724074" y="544846"/>
                  </a:lnTo>
                  <a:lnTo>
                    <a:pt x="5738087" y="542017"/>
                  </a:lnTo>
                  <a:lnTo>
                    <a:pt x="5749530" y="534302"/>
                  </a:lnTo>
                  <a:lnTo>
                    <a:pt x="5757245" y="522859"/>
                  </a:lnTo>
                  <a:lnTo>
                    <a:pt x="5760074" y="508846"/>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3" name="object 23" descr=""/>
          <p:cNvSpPr txBox="1"/>
          <p:nvPr/>
        </p:nvSpPr>
        <p:spPr>
          <a:xfrm>
            <a:off x="887298" y="930256"/>
            <a:ext cx="5785485" cy="8602345"/>
          </a:xfrm>
          <a:prstGeom prst="rect">
            <a:avLst/>
          </a:prstGeom>
        </p:spPr>
        <p:txBody>
          <a:bodyPr wrap="square" lIns="0" tIns="12700" rIns="0" bIns="0" rtlCol="0" vert="horz">
            <a:spAutoFit/>
          </a:bodyPr>
          <a:lstStyle/>
          <a:p>
            <a:pPr marL="192405" marR="184785" indent="241935">
              <a:lnSpc>
                <a:spcPct val="129500"/>
              </a:lnSpc>
              <a:spcBef>
                <a:spcPts val="100"/>
              </a:spcBef>
              <a:buFont typeface="Times New Roman"/>
              <a:buAutoNum type="arabicPlain" startAt="25"/>
              <a:tabLst>
                <a:tab pos="434340" algn="l"/>
              </a:tabLst>
            </a:pPr>
            <a:r>
              <a:rPr dirty="0" sz="1000">
                <a:latin typeface="SimSun"/>
                <a:cs typeface="SimSun"/>
              </a:rPr>
              <a:t>孙浩、王宏毅、刘佳庆、陈</a:t>
            </a:r>
            <a:r>
              <a:rPr dirty="0" sz="1000" spc="-20">
                <a:latin typeface="Times New Roman"/>
                <a:cs typeface="Times New Roman"/>
              </a:rPr>
              <a:t>Yen</a:t>
            </a:r>
            <a:r>
              <a:rPr dirty="0" sz="1000" spc="-10">
                <a:latin typeface="Times New Roman"/>
                <a:cs typeface="Times New Roman"/>
              </a:rPr>
              <a:t> - </a:t>
            </a:r>
            <a:r>
              <a:rPr dirty="0" sz="1000" spc="-30">
                <a:latin typeface="Times New Roman"/>
                <a:cs typeface="Times New Roman"/>
              </a:rPr>
              <a:t>Wei</a:t>
            </a:r>
            <a:r>
              <a:rPr dirty="0" sz="1000" spc="-15">
                <a:latin typeface="SimSun"/>
                <a:cs typeface="SimSun"/>
              </a:rPr>
              <a:t>、林兰芬。</a:t>
            </a:r>
            <a:r>
              <a:rPr dirty="0" sz="1000">
                <a:latin typeface="Times New Roman"/>
                <a:cs typeface="Times New Roman"/>
              </a:rPr>
              <a:t>Cubemlp: </a:t>
            </a:r>
            <a:r>
              <a:rPr dirty="0" sz="1000" spc="45">
                <a:latin typeface="SimSun"/>
                <a:cs typeface="SimSun"/>
              </a:rPr>
              <a:t>一种基于</a:t>
            </a:r>
            <a:r>
              <a:rPr dirty="0" sz="1000">
                <a:latin typeface="Times New Roman"/>
                <a:cs typeface="Times New Roman"/>
              </a:rPr>
              <a:t>mlp </a:t>
            </a:r>
            <a:r>
              <a:rPr dirty="0" sz="1000" spc="-15">
                <a:latin typeface="SimSun"/>
                <a:cs typeface="SimSun"/>
              </a:rPr>
              <a:t>的多模态情感分析和</a:t>
            </a:r>
            <a:r>
              <a:rPr dirty="0" sz="1000" spc="-40">
                <a:latin typeface="SimSun"/>
                <a:cs typeface="SimSun"/>
              </a:rPr>
              <a:t>抑郁估计模型。在第 </a:t>
            </a:r>
            <a:r>
              <a:rPr dirty="0" sz="1000">
                <a:latin typeface="Times New Roman"/>
                <a:cs typeface="Times New Roman"/>
              </a:rPr>
              <a:t>30</a:t>
            </a:r>
            <a:r>
              <a:rPr dirty="0" sz="1000" spc="-65">
                <a:latin typeface="Times New Roman"/>
                <a:cs typeface="Times New Roman"/>
              </a:rPr>
              <a:t> </a:t>
            </a:r>
            <a:r>
              <a:rPr dirty="0" sz="1000" spc="220">
                <a:latin typeface="SimSun"/>
                <a:cs typeface="SimSun"/>
              </a:rPr>
              <a:t>届</a:t>
            </a:r>
            <a:r>
              <a:rPr dirty="0" sz="1000" spc="-10">
                <a:latin typeface="Times New Roman"/>
                <a:cs typeface="Times New Roman"/>
              </a:rPr>
              <a:t>ACM</a:t>
            </a:r>
            <a:r>
              <a:rPr dirty="0" sz="1000" spc="-50">
                <a:latin typeface="Times New Roman"/>
                <a:cs typeface="Times New Roman"/>
              </a:rPr>
              <a:t> </a:t>
            </a:r>
            <a:r>
              <a:rPr dirty="0" sz="1000" spc="-30">
                <a:latin typeface="SimSun"/>
                <a:cs typeface="SimSun"/>
              </a:rPr>
              <a:t>国际多媒体会议论文集上，第 </a:t>
            </a:r>
            <a:r>
              <a:rPr dirty="0" sz="1000">
                <a:latin typeface="Times New Roman"/>
                <a:cs typeface="Times New Roman"/>
              </a:rPr>
              <a:t>3722</a:t>
            </a:r>
            <a:r>
              <a:rPr dirty="0" sz="1000" spc="-30">
                <a:latin typeface="Times New Roman"/>
                <a:cs typeface="Times New Roman"/>
              </a:rPr>
              <a:t> - </a:t>
            </a:r>
            <a:r>
              <a:rPr dirty="0" sz="1000">
                <a:latin typeface="Times New Roman"/>
                <a:cs typeface="Times New Roman"/>
              </a:rPr>
              <a:t>3729</a:t>
            </a:r>
            <a:r>
              <a:rPr dirty="0" sz="1000" spc="-40">
                <a:latin typeface="Times New Roman"/>
                <a:cs typeface="Times New Roman"/>
              </a:rPr>
              <a:t> </a:t>
            </a:r>
            <a:r>
              <a:rPr dirty="0" sz="1000" spc="-10">
                <a:latin typeface="SimSun"/>
                <a:cs typeface="SimSun"/>
              </a:rPr>
              <a:t>页，</a:t>
            </a:r>
            <a:r>
              <a:rPr dirty="0" sz="1000" spc="-10">
                <a:latin typeface="Times New Roman"/>
                <a:cs typeface="Times New Roman"/>
              </a:rPr>
              <a:t>2022</a:t>
            </a:r>
            <a:r>
              <a:rPr dirty="0" sz="1000" spc="-40">
                <a:latin typeface="Times New Roman"/>
                <a:cs typeface="Times New Roman"/>
              </a:rPr>
              <a:t> </a:t>
            </a:r>
            <a:r>
              <a:rPr dirty="0" sz="1000" spc="-10">
                <a:latin typeface="SimSun"/>
                <a:cs typeface="SimSun"/>
              </a:rPr>
              <a:t>年。</a:t>
            </a:r>
            <a:r>
              <a:rPr dirty="0" sz="1000" spc="-50">
                <a:latin typeface="Times New Roman"/>
                <a:cs typeface="Times New Roman"/>
              </a:rPr>
              <a:t>7</a:t>
            </a:r>
            <a:endParaRPr sz="1000">
              <a:latin typeface="Times New Roman"/>
              <a:cs typeface="Times New Roman"/>
            </a:endParaRPr>
          </a:p>
          <a:p>
            <a:pPr>
              <a:lnSpc>
                <a:spcPct val="100000"/>
              </a:lnSpc>
              <a:spcBef>
                <a:spcPts val="204"/>
              </a:spcBef>
              <a:buFont typeface="Times New Roman"/>
              <a:buAutoNum type="arabicPlain" startAt="25"/>
            </a:pPr>
            <a:endParaRPr sz="1000">
              <a:latin typeface="Times New Roman"/>
              <a:cs typeface="Times New Roman"/>
            </a:endParaRPr>
          </a:p>
          <a:p>
            <a:pPr algn="just" marL="12700" marR="5080" indent="488315">
              <a:lnSpc>
                <a:spcPct val="129500"/>
              </a:lnSpc>
              <a:buAutoNum type="arabicPlain" startAt="25"/>
              <a:tabLst>
                <a:tab pos="501015" algn="l"/>
              </a:tabLst>
            </a:pPr>
            <a:r>
              <a:rPr dirty="0" sz="1000">
                <a:latin typeface="Times New Roman"/>
                <a:cs typeface="Times New Roman"/>
              </a:rPr>
              <a:t>Peng</a:t>
            </a:r>
            <a:r>
              <a:rPr dirty="0" sz="1000" spc="15">
                <a:latin typeface="Times New Roman"/>
                <a:cs typeface="Times New Roman"/>
              </a:rPr>
              <a:t> </a:t>
            </a:r>
            <a:r>
              <a:rPr dirty="0" sz="1000">
                <a:latin typeface="Times New Roman"/>
                <a:cs typeface="Times New Roman"/>
              </a:rPr>
              <a:t>Sun,</a:t>
            </a:r>
            <a:r>
              <a:rPr dirty="0" sz="1000" spc="35">
                <a:latin typeface="Times New Roman"/>
                <a:cs typeface="Times New Roman"/>
              </a:rPr>
              <a:t> </a:t>
            </a:r>
            <a:r>
              <a:rPr dirty="0" sz="1000">
                <a:latin typeface="Times New Roman"/>
                <a:cs typeface="Times New Roman"/>
              </a:rPr>
              <a:t>Wenhu</a:t>
            </a:r>
            <a:r>
              <a:rPr dirty="0" sz="1000" spc="20">
                <a:latin typeface="Times New Roman"/>
                <a:cs typeface="Times New Roman"/>
              </a:rPr>
              <a:t> </a:t>
            </a:r>
            <a:r>
              <a:rPr dirty="0" sz="1000">
                <a:latin typeface="Times New Roman"/>
                <a:cs typeface="Times New Roman"/>
              </a:rPr>
              <a:t>Zhang,</a:t>
            </a:r>
            <a:r>
              <a:rPr dirty="0" sz="1000" spc="35">
                <a:latin typeface="Times New Roman"/>
                <a:cs typeface="Times New Roman"/>
              </a:rPr>
              <a:t> </a:t>
            </a:r>
            <a:r>
              <a:rPr dirty="0" sz="1000">
                <a:latin typeface="Times New Roman"/>
                <a:cs typeface="Times New Roman"/>
              </a:rPr>
              <a:t>Huanyu</a:t>
            </a:r>
            <a:r>
              <a:rPr dirty="0" sz="1000" spc="20">
                <a:latin typeface="Times New Roman"/>
                <a:cs typeface="Times New Roman"/>
              </a:rPr>
              <a:t> </a:t>
            </a:r>
            <a:r>
              <a:rPr dirty="0" sz="1000" spc="-10">
                <a:latin typeface="Times New Roman"/>
                <a:cs typeface="Times New Roman"/>
              </a:rPr>
              <a:t>Wang,</a:t>
            </a:r>
            <a:r>
              <a:rPr dirty="0" sz="1000" spc="35">
                <a:latin typeface="Times New Roman"/>
                <a:cs typeface="Times New Roman"/>
              </a:rPr>
              <a:t> </a:t>
            </a:r>
            <a:r>
              <a:rPr dirty="0" sz="1000">
                <a:latin typeface="Times New Roman"/>
                <a:cs typeface="Times New Roman"/>
              </a:rPr>
              <a:t>Songyuan</a:t>
            </a:r>
            <a:r>
              <a:rPr dirty="0" sz="1000" spc="20">
                <a:latin typeface="Times New Roman"/>
                <a:cs typeface="Times New Roman"/>
              </a:rPr>
              <a:t> </a:t>
            </a:r>
            <a:r>
              <a:rPr dirty="0" sz="1000" spc="-20">
                <a:latin typeface="Times New Roman"/>
                <a:cs typeface="Times New Roman"/>
              </a:rPr>
              <a:t>Li,</a:t>
            </a:r>
            <a:r>
              <a:rPr dirty="0" sz="1000" spc="35">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spc="-75">
                <a:latin typeface="Times New Roman"/>
                <a:cs typeface="Times New Roman"/>
              </a:rPr>
              <a:t>Xi</a:t>
            </a:r>
            <a:r>
              <a:rPr dirty="0" sz="1000" spc="20">
                <a:latin typeface="Times New Roman"/>
                <a:cs typeface="Times New Roman"/>
              </a:rPr>
              <a:t> </a:t>
            </a:r>
            <a:r>
              <a:rPr dirty="0" sz="1000">
                <a:latin typeface="Times New Roman"/>
                <a:cs typeface="Times New Roman"/>
              </a:rPr>
              <a:t>Li.</a:t>
            </a:r>
            <a:r>
              <a:rPr dirty="0" sz="1000" spc="185">
                <a:latin typeface="Times New Roman"/>
                <a:cs typeface="Times New Roman"/>
              </a:rPr>
              <a:t> </a:t>
            </a:r>
            <a:r>
              <a:rPr dirty="0" sz="1000">
                <a:latin typeface="Times New Roman"/>
                <a:cs typeface="Times New Roman"/>
              </a:rPr>
              <a:t>Deep</a:t>
            </a:r>
            <a:r>
              <a:rPr dirty="0" sz="1000" spc="20">
                <a:latin typeface="Times New Roman"/>
                <a:cs typeface="Times New Roman"/>
              </a:rPr>
              <a:t> </a:t>
            </a:r>
            <a:r>
              <a:rPr dirty="0" sz="1000">
                <a:latin typeface="Times New Roman"/>
                <a:cs typeface="Times New Roman"/>
              </a:rPr>
              <a:t>rgb-d</a:t>
            </a:r>
            <a:r>
              <a:rPr dirty="0" sz="1000" spc="20">
                <a:latin typeface="Times New Roman"/>
                <a:cs typeface="Times New Roman"/>
              </a:rPr>
              <a:t> </a:t>
            </a:r>
            <a:r>
              <a:rPr dirty="0" sz="1000">
                <a:latin typeface="Times New Roman"/>
                <a:cs typeface="Times New Roman"/>
              </a:rPr>
              <a:t>saliency</a:t>
            </a:r>
            <a:r>
              <a:rPr dirty="0" sz="1000" spc="20">
                <a:latin typeface="Times New Roman"/>
                <a:cs typeface="Times New Roman"/>
              </a:rPr>
              <a:t> </a:t>
            </a:r>
            <a:r>
              <a:rPr dirty="0" sz="1000">
                <a:latin typeface="Times New Roman"/>
                <a:cs typeface="Times New Roman"/>
              </a:rPr>
              <a:t>detection</a:t>
            </a:r>
            <a:r>
              <a:rPr dirty="0" sz="1000" spc="20">
                <a:latin typeface="Times New Roman"/>
                <a:cs typeface="Times New Roman"/>
              </a:rPr>
              <a:t> </a:t>
            </a:r>
            <a:r>
              <a:rPr dirty="0" sz="1000" spc="-20">
                <a:latin typeface="Times New Roman"/>
                <a:cs typeface="Times New Roman"/>
              </a:rPr>
              <a:t>with </a:t>
            </a:r>
            <a:r>
              <a:rPr dirty="0" sz="1000" spc="10">
                <a:latin typeface="Times New Roman"/>
                <a:cs typeface="Times New Roman"/>
              </a:rPr>
              <a:t>depth-sensitive</a:t>
            </a:r>
            <a:r>
              <a:rPr dirty="0" sz="1000" spc="60">
                <a:latin typeface="Times New Roman"/>
                <a:cs typeface="Times New Roman"/>
              </a:rPr>
              <a:t> </a:t>
            </a:r>
            <a:r>
              <a:rPr dirty="0" sz="1000" spc="10">
                <a:latin typeface="Times New Roman"/>
                <a:cs typeface="Times New Roman"/>
              </a:rPr>
              <a:t>attention</a:t>
            </a:r>
            <a:r>
              <a:rPr dirty="0" sz="1000" spc="60">
                <a:latin typeface="Times New Roman"/>
                <a:cs typeface="Times New Roman"/>
              </a:rPr>
              <a:t> </a:t>
            </a:r>
            <a:r>
              <a:rPr dirty="0" sz="1000" spc="10">
                <a:latin typeface="Times New Roman"/>
                <a:cs typeface="Times New Roman"/>
              </a:rPr>
              <a:t>and</a:t>
            </a:r>
            <a:r>
              <a:rPr dirty="0" sz="1000" spc="60">
                <a:latin typeface="Times New Roman"/>
                <a:cs typeface="Times New Roman"/>
              </a:rPr>
              <a:t> </a:t>
            </a:r>
            <a:r>
              <a:rPr dirty="0" sz="1000" spc="10">
                <a:latin typeface="Times New Roman"/>
                <a:cs typeface="Times New Roman"/>
              </a:rPr>
              <a:t>automatic</a:t>
            </a:r>
            <a:r>
              <a:rPr dirty="0" sz="1000" spc="65">
                <a:latin typeface="Times New Roman"/>
                <a:cs typeface="Times New Roman"/>
              </a:rPr>
              <a:t> </a:t>
            </a:r>
            <a:r>
              <a:rPr dirty="0" sz="1000" spc="10">
                <a:latin typeface="Times New Roman"/>
                <a:cs typeface="Times New Roman"/>
              </a:rPr>
              <a:t>multi-modal</a:t>
            </a:r>
            <a:r>
              <a:rPr dirty="0" sz="1000" spc="60">
                <a:latin typeface="Times New Roman"/>
                <a:cs typeface="Times New Roman"/>
              </a:rPr>
              <a:t> </a:t>
            </a:r>
            <a:r>
              <a:rPr dirty="0" sz="1000" spc="10">
                <a:latin typeface="Times New Roman"/>
                <a:cs typeface="Times New Roman"/>
              </a:rPr>
              <a:t>fusion.</a:t>
            </a:r>
            <a:r>
              <a:rPr dirty="0" sz="1000" spc="180">
                <a:latin typeface="Times New Roman"/>
                <a:cs typeface="Times New Roman"/>
              </a:rPr>
              <a:t> </a:t>
            </a:r>
            <a:r>
              <a:rPr dirty="0" sz="1000" spc="10">
                <a:latin typeface="Times New Roman"/>
                <a:cs typeface="Times New Roman"/>
              </a:rPr>
              <a:t>In</a:t>
            </a:r>
            <a:r>
              <a:rPr dirty="0" sz="1000" spc="65">
                <a:latin typeface="Times New Roman"/>
                <a:cs typeface="Times New Roman"/>
              </a:rPr>
              <a:t> </a:t>
            </a:r>
            <a:r>
              <a:rPr dirty="0" sz="1000" spc="10">
                <a:latin typeface="Times New Roman"/>
                <a:cs typeface="Times New Roman"/>
              </a:rPr>
              <a:t>Proceedings</a:t>
            </a:r>
            <a:r>
              <a:rPr dirty="0" sz="1000" spc="60">
                <a:latin typeface="Times New Roman"/>
                <a:cs typeface="Times New Roman"/>
              </a:rPr>
              <a:t> </a:t>
            </a:r>
            <a:r>
              <a:rPr dirty="0" sz="1000">
                <a:latin typeface="Times New Roman"/>
                <a:cs typeface="Times New Roman"/>
              </a:rPr>
              <a:t>of</a:t>
            </a:r>
            <a:r>
              <a:rPr dirty="0" sz="1000" spc="60">
                <a:latin typeface="Times New Roman"/>
                <a:cs typeface="Times New Roman"/>
              </a:rPr>
              <a:t> </a:t>
            </a:r>
            <a:r>
              <a:rPr dirty="0" sz="1000" spc="10">
                <a:latin typeface="Times New Roman"/>
                <a:cs typeface="Times New Roman"/>
              </a:rPr>
              <a:t>the</a:t>
            </a:r>
            <a:r>
              <a:rPr dirty="0" sz="1000" spc="60">
                <a:latin typeface="Times New Roman"/>
                <a:cs typeface="Times New Roman"/>
              </a:rPr>
              <a:t> </a:t>
            </a:r>
            <a:r>
              <a:rPr dirty="0" sz="1000" spc="10">
                <a:latin typeface="Times New Roman"/>
                <a:cs typeface="Times New Roman"/>
              </a:rPr>
              <a:t>IEEE/CVF</a:t>
            </a:r>
            <a:r>
              <a:rPr dirty="0" sz="1000" spc="65">
                <a:latin typeface="Times New Roman"/>
                <a:cs typeface="Times New Roman"/>
              </a:rPr>
              <a:t> </a:t>
            </a:r>
            <a:r>
              <a:rPr dirty="0" sz="1000" spc="10">
                <a:latin typeface="Times New Roman"/>
                <a:cs typeface="Times New Roman"/>
              </a:rPr>
              <a:t>conference</a:t>
            </a:r>
            <a:r>
              <a:rPr dirty="0" sz="1000" spc="60">
                <a:latin typeface="Times New Roman"/>
                <a:cs typeface="Times New Roman"/>
              </a:rPr>
              <a:t> </a:t>
            </a:r>
            <a:r>
              <a:rPr dirty="0" sz="1000" spc="-25">
                <a:latin typeface="Times New Roman"/>
                <a:cs typeface="Times New Roman"/>
              </a:rPr>
              <a:t>on </a:t>
            </a:r>
            <a:r>
              <a:rPr dirty="0" sz="1000">
                <a:latin typeface="Times New Roman"/>
                <a:cs typeface="Times New Roman"/>
              </a:rPr>
              <a:t>computer</a:t>
            </a:r>
            <a:r>
              <a:rPr dirty="0" sz="1000" spc="90">
                <a:latin typeface="Times New Roman"/>
                <a:cs typeface="Times New Roman"/>
              </a:rPr>
              <a:t> </a:t>
            </a:r>
            <a:r>
              <a:rPr dirty="0" sz="1000">
                <a:latin typeface="Times New Roman"/>
                <a:cs typeface="Times New Roman"/>
              </a:rPr>
              <a:t>vision</a:t>
            </a:r>
            <a:r>
              <a:rPr dirty="0" sz="1000" spc="90">
                <a:latin typeface="Times New Roman"/>
                <a:cs typeface="Times New Roman"/>
              </a:rPr>
              <a:t> </a:t>
            </a:r>
            <a:r>
              <a:rPr dirty="0" sz="1000">
                <a:latin typeface="Times New Roman"/>
                <a:cs typeface="Times New Roman"/>
              </a:rPr>
              <a:t>and</a:t>
            </a:r>
            <a:r>
              <a:rPr dirty="0" sz="1000" spc="90">
                <a:latin typeface="Times New Roman"/>
                <a:cs typeface="Times New Roman"/>
              </a:rPr>
              <a:t> </a:t>
            </a:r>
            <a:r>
              <a:rPr dirty="0" sz="1000">
                <a:latin typeface="Times New Roman"/>
                <a:cs typeface="Times New Roman"/>
              </a:rPr>
              <a:t>pattern</a:t>
            </a:r>
            <a:r>
              <a:rPr dirty="0" sz="1000" spc="90">
                <a:latin typeface="Times New Roman"/>
                <a:cs typeface="Times New Roman"/>
              </a:rPr>
              <a:t> </a:t>
            </a:r>
            <a:r>
              <a:rPr dirty="0" sz="1000">
                <a:latin typeface="Times New Roman"/>
                <a:cs typeface="Times New Roman"/>
              </a:rPr>
              <a:t>recognition,</a:t>
            </a:r>
            <a:r>
              <a:rPr dirty="0" sz="1000" spc="90">
                <a:latin typeface="Times New Roman"/>
                <a:cs typeface="Times New Roman"/>
              </a:rPr>
              <a:t> </a:t>
            </a:r>
            <a:r>
              <a:rPr dirty="0" sz="1000">
                <a:latin typeface="Times New Roman"/>
                <a:cs typeface="Times New Roman"/>
              </a:rPr>
              <a:t>pages</a:t>
            </a:r>
            <a:r>
              <a:rPr dirty="0" sz="1000" spc="95">
                <a:latin typeface="Times New Roman"/>
                <a:cs typeface="Times New Roman"/>
              </a:rPr>
              <a:t> </a:t>
            </a:r>
            <a:r>
              <a:rPr dirty="0" sz="1000" spc="-10">
                <a:latin typeface="Times New Roman"/>
                <a:cs typeface="Times New Roman"/>
              </a:rPr>
              <a:t>1407-1417,</a:t>
            </a:r>
            <a:r>
              <a:rPr dirty="0" sz="1000" spc="90">
                <a:latin typeface="Times New Roman"/>
                <a:cs typeface="Times New Roman"/>
              </a:rPr>
              <a:t> </a:t>
            </a:r>
            <a:r>
              <a:rPr dirty="0" sz="1000">
                <a:latin typeface="Times New Roman"/>
                <a:cs typeface="Times New Roman"/>
              </a:rPr>
              <a:t>2021.</a:t>
            </a:r>
            <a:r>
              <a:rPr dirty="0" sz="1000" spc="210">
                <a:latin typeface="Times New Roman"/>
                <a:cs typeface="Times New Roman"/>
              </a:rPr>
              <a:t> </a:t>
            </a:r>
            <a:r>
              <a:rPr dirty="0" sz="1000" spc="-50">
                <a:latin typeface="Times New Roman"/>
                <a:cs typeface="Times New Roman"/>
              </a:rPr>
              <a:t>1</a:t>
            </a:r>
            <a:endParaRPr sz="1000">
              <a:latin typeface="Times New Roman"/>
              <a:cs typeface="Times New Roman"/>
            </a:endParaRPr>
          </a:p>
          <a:p>
            <a:pPr>
              <a:lnSpc>
                <a:spcPct val="100000"/>
              </a:lnSpc>
              <a:spcBef>
                <a:spcPts val="590"/>
              </a:spcBef>
            </a:pPr>
            <a:endParaRPr sz="1000">
              <a:latin typeface="Times New Roman"/>
              <a:cs typeface="Times New Roman"/>
            </a:endParaRPr>
          </a:p>
          <a:p>
            <a:pPr marL="434340" indent="-241935">
              <a:lnSpc>
                <a:spcPct val="100000"/>
              </a:lnSpc>
              <a:spcBef>
                <a:spcPts val="5"/>
              </a:spcBef>
              <a:buFont typeface="Times New Roman"/>
              <a:buAutoNum type="arabicPlain" startAt="26"/>
              <a:tabLst>
                <a:tab pos="434340" algn="l"/>
              </a:tabLst>
            </a:pPr>
            <a:r>
              <a:rPr dirty="0" sz="1000" spc="-40">
                <a:latin typeface="SimSun"/>
                <a:cs typeface="SimSun"/>
              </a:rPr>
              <a:t>孙鹏、张文虎、王焕宇、李松源、李曦。具有深度敏感注意力和自动多模态融合的深度</a:t>
            </a:r>
            <a:r>
              <a:rPr dirty="0" sz="1000">
                <a:latin typeface="Times New Roman"/>
                <a:cs typeface="Times New Roman"/>
              </a:rPr>
              <a:t>rgb</a:t>
            </a:r>
            <a:r>
              <a:rPr dirty="0" sz="1000" spc="-15">
                <a:latin typeface="Times New Roman"/>
                <a:cs typeface="Times New Roman"/>
              </a:rPr>
              <a:t> - </a:t>
            </a:r>
            <a:r>
              <a:rPr dirty="0" sz="1000" spc="-50">
                <a:latin typeface="Times New Roman"/>
                <a:cs typeface="Times New Roman"/>
              </a:rPr>
              <a:t>d</a:t>
            </a:r>
            <a:endParaRPr sz="1000">
              <a:latin typeface="Times New Roman"/>
              <a:cs typeface="Times New Roman"/>
            </a:endParaRPr>
          </a:p>
          <a:p>
            <a:pPr marL="192405">
              <a:lnSpc>
                <a:spcPct val="100000"/>
              </a:lnSpc>
              <a:spcBef>
                <a:spcPts val="350"/>
              </a:spcBef>
            </a:pPr>
            <a:r>
              <a:rPr dirty="0" sz="1000" spc="5">
                <a:latin typeface="SimSun"/>
                <a:cs typeface="SimSun"/>
              </a:rPr>
              <a:t>显著目标检测。在</a:t>
            </a:r>
            <a:r>
              <a:rPr dirty="0" sz="1000">
                <a:latin typeface="Times New Roman"/>
                <a:cs typeface="Times New Roman"/>
              </a:rPr>
              <a:t>IEEE/CVF</a:t>
            </a:r>
            <a:r>
              <a:rPr dirty="0" sz="1000" spc="-10">
                <a:latin typeface="Times New Roman"/>
                <a:cs typeface="Times New Roman"/>
              </a:rPr>
              <a:t> </a:t>
            </a:r>
            <a:r>
              <a:rPr dirty="0" sz="1000" spc="-30">
                <a:latin typeface="SimSun"/>
                <a:cs typeface="SimSun"/>
              </a:rPr>
              <a:t>计算机视觉与模式识别会议论文集上，第 </a:t>
            </a:r>
            <a:r>
              <a:rPr dirty="0" sz="1000" spc="-10">
                <a:latin typeface="Times New Roman"/>
                <a:cs typeface="Times New Roman"/>
              </a:rPr>
              <a:t>1407 - 1417 </a:t>
            </a:r>
            <a:r>
              <a:rPr dirty="0" sz="1000" spc="-15">
                <a:latin typeface="SimSun"/>
                <a:cs typeface="SimSun"/>
              </a:rPr>
              <a:t>页，</a:t>
            </a:r>
            <a:r>
              <a:rPr dirty="0" sz="1000" spc="-20">
                <a:latin typeface="Times New Roman"/>
                <a:cs typeface="Times New Roman"/>
              </a:rPr>
              <a:t>2021</a:t>
            </a:r>
            <a:r>
              <a:rPr dirty="0" sz="1000" spc="-10">
                <a:latin typeface="Times New Roman"/>
                <a:cs typeface="Times New Roman"/>
              </a:rPr>
              <a:t> </a:t>
            </a:r>
            <a:r>
              <a:rPr dirty="0" sz="1000" spc="-40">
                <a:latin typeface="SimSun"/>
                <a:cs typeface="SimSun"/>
              </a:rPr>
              <a:t>年。</a:t>
            </a:r>
            <a:r>
              <a:rPr dirty="0" sz="1000" spc="-50">
                <a:latin typeface="Times New Roman"/>
                <a:cs typeface="Times New Roman"/>
              </a:rPr>
              <a:t>1</a:t>
            </a:r>
            <a:endParaRPr sz="1000">
              <a:latin typeface="Times New Roman"/>
              <a:cs typeface="Times New Roman"/>
            </a:endParaRPr>
          </a:p>
          <a:p>
            <a:pPr>
              <a:lnSpc>
                <a:spcPct val="100000"/>
              </a:lnSpc>
              <a:spcBef>
                <a:spcPts val="210"/>
              </a:spcBef>
            </a:pPr>
            <a:endParaRPr sz="1000">
              <a:latin typeface="Times New Roman"/>
              <a:cs typeface="Times New Roman"/>
            </a:endParaRPr>
          </a:p>
          <a:p>
            <a:pPr algn="just" marL="12700" marR="5080" indent="491490">
              <a:lnSpc>
                <a:spcPct val="129500"/>
              </a:lnSpc>
              <a:buAutoNum type="arabicPlain" startAt="27"/>
              <a:tabLst>
                <a:tab pos="504190" algn="l"/>
              </a:tabLst>
            </a:pPr>
            <a:r>
              <a:rPr dirty="0" sz="1000">
                <a:latin typeface="Times New Roman"/>
                <a:cs typeface="Times New Roman"/>
              </a:rPr>
              <a:t>Fei</a:t>
            </a:r>
            <a:r>
              <a:rPr dirty="0" sz="1000" spc="45">
                <a:latin typeface="Times New Roman"/>
                <a:cs typeface="Times New Roman"/>
              </a:rPr>
              <a:t> </a:t>
            </a:r>
            <a:r>
              <a:rPr dirty="0" sz="1000" spc="-20">
                <a:latin typeface="Times New Roman"/>
                <a:cs typeface="Times New Roman"/>
              </a:rPr>
              <a:t>Tao</a:t>
            </a:r>
            <a:r>
              <a:rPr dirty="0" sz="1000" spc="45">
                <a:latin typeface="Times New Roman"/>
                <a:cs typeface="Times New Roman"/>
              </a:rPr>
              <a:t> </a:t>
            </a:r>
            <a:r>
              <a:rPr dirty="0" sz="1000">
                <a:latin typeface="Times New Roman"/>
                <a:cs typeface="Times New Roman"/>
              </a:rPr>
              <a:t>and</a:t>
            </a:r>
            <a:r>
              <a:rPr dirty="0" sz="1000" spc="55">
                <a:latin typeface="Times New Roman"/>
                <a:cs typeface="Times New Roman"/>
              </a:rPr>
              <a:t> </a:t>
            </a:r>
            <a:r>
              <a:rPr dirty="0" sz="1000">
                <a:latin typeface="Times New Roman"/>
                <a:cs typeface="Times New Roman"/>
              </a:rPr>
              <a:t>Carlos</a:t>
            </a:r>
            <a:r>
              <a:rPr dirty="0" sz="1000" spc="50">
                <a:latin typeface="Times New Roman"/>
                <a:cs typeface="Times New Roman"/>
              </a:rPr>
              <a:t> </a:t>
            </a:r>
            <a:r>
              <a:rPr dirty="0" sz="1000">
                <a:latin typeface="Times New Roman"/>
                <a:cs typeface="Times New Roman"/>
              </a:rPr>
              <a:t>Busso.</a:t>
            </a:r>
            <a:r>
              <a:rPr dirty="0" sz="1000" spc="195">
                <a:latin typeface="Times New Roman"/>
                <a:cs typeface="Times New Roman"/>
              </a:rPr>
              <a:t> </a:t>
            </a:r>
            <a:r>
              <a:rPr dirty="0" sz="1000">
                <a:latin typeface="Times New Roman"/>
                <a:cs typeface="Times New Roman"/>
              </a:rPr>
              <a:t>Aligning</a:t>
            </a:r>
            <a:r>
              <a:rPr dirty="0" sz="1000" spc="55">
                <a:latin typeface="Times New Roman"/>
                <a:cs typeface="Times New Roman"/>
              </a:rPr>
              <a:t> </a:t>
            </a:r>
            <a:r>
              <a:rPr dirty="0" sz="1000">
                <a:latin typeface="Times New Roman"/>
                <a:cs typeface="Times New Roman"/>
              </a:rPr>
              <a:t>audiovisual</a:t>
            </a:r>
            <a:r>
              <a:rPr dirty="0" sz="1000" spc="55">
                <a:latin typeface="Times New Roman"/>
                <a:cs typeface="Times New Roman"/>
              </a:rPr>
              <a:t> </a:t>
            </a:r>
            <a:r>
              <a:rPr dirty="0" sz="1000">
                <a:latin typeface="Times New Roman"/>
                <a:cs typeface="Times New Roman"/>
              </a:rPr>
              <a:t>features</a:t>
            </a:r>
            <a:r>
              <a:rPr dirty="0" sz="1000" spc="55">
                <a:latin typeface="Times New Roman"/>
                <a:cs typeface="Times New Roman"/>
              </a:rPr>
              <a:t> </a:t>
            </a:r>
            <a:r>
              <a:rPr dirty="0" sz="1000">
                <a:latin typeface="Times New Roman"/>
                <a:cs typeface="Times New Roman"/>
              </a:rPr>
              <a:t>for</a:t>
            </a:r>
            <a:r>
              <a:rPr dirty="0" sz="1000" spc="50">
                <a:latin typeface="Times New Roman"/>
                <a:cs typeface="Times New Roman"/>
              </a:rPr>
              <a:t> </a:t>
            </a:r>
            <a:r>
              <a:rPr dirty="0" sz="1000">
                <a:latin typeface="Times New Roman"/>
                <a:cs typeface="Times New Roman"/>
              </a:rPr>
              <a:t>audiovisual</a:t>
            </a:r>
            <a:r>
              <a:rPr dirty="0" sz="1000" spc="55">
                <a:latin typeface="Times New Roman"/>
                <a:cs typeface="Times New Roman"/>
              </a:rPr>
              <a:t> </a:t>
            </a:r>
            <a:r>
              <a:rPr dirty="0" sz="1000">
                <a:latin typeface="Times New Roman"/>
                <a:cs typeface="Times New Roman"/>
              </a:rPr>
              <a:t>speech</a:t>
            </a:r>
            <a:r>
              <a:rPr dirty="0" sz="1000" spc="55">
                <a:latin typeface="Times New Roman"/>
                <a:cs typeface="Times New Roman"/>
              </a:rPr>
              <a:t> </a:t>
            </a:r>
            <a:r>
              <a:rPr dirty="0" sz="1000">
                <a:latin typeface="Times New Roman"/>
                <a:cs typeface="Times New Roman"/>
              </a:rPr>
              <a:t>recognition.</a:t>
            </a:r>
            <a:r>
              <a:rPr dirty="0" sz="1000" spc="195">
                <a:latin typeface="Times New Roman"/>
                <a:cs typeface="Times New Roman"/>
              </a:rPr>
              <a:t> </a:t>
            </a:r>
            <a:r>
              <a:rPr dirty="0" sz="1000">
                <a:latin typeface="Times New Roman"/>
                <a:cs typeface="Times New Roman"/>
              </a:rPr>
              <a:t>In</a:t>
            </a:r>
            <a:r>
              <a:rPr dirty="0" sz="1000" spc="50">
                <a:latin typeface="Times New Roman"/>
                <a:cs typeface="Times New Roman"/>
              </a:rPr>
              <a:t> </a:t>
            </a:r>
            <a:r>
              <a:rPr dirty="0" sz="1000" spc="-20">
                <a:latin typeface="Times New Roman"/>
                <a:cs typeface="Times New Roman"/>
              </a:rPr>
              <a:t>2018 </a:t>
            </a:r>
            <a:r>
              <a:rPr dirty="0" sz="1000">
                <a:latin typeface="Times New Roman"/>
                <a:cs typeface="Times New Roman"/>
              </a:rPr>
              <a:t>IEEE</a:t>
            </a:r>
            <a:r>
              <a:rPr dirty="0" sz="1000" spc="75">
                <a:latin typeface="Times New Roman"/>
                <a:cs typeface="Times New Roman"/>
              </a:rPr>
              <a:t> </a:t>
            </a:r>
            <a:r>
              <a:rPr dirty="0" sz="1000">
                <a:latin typeface="Times New Roman"/>
                <a:cs typeface="Times New Roman"/>
              </a:rPr>
              <a:t>International</a:t>
            </a:r>
            <a:r>
              <a:rPr dirty="0" sz="1000" spc="80">
                <a:latin typeface="Times New Roman"/>
                <a:cs typeface="Times New Roman"/>
              </a:rPr>
              <a:t> </a:t>
            </a:r>
            <a:r>
              <a:rPr dirty="0" sz="1000">
                <a:latin typeface="Times New Roman"/>
                <a:cs typeface="Times New Roman"/>
              </a:rPr>
              <a:t>Conference</a:t>
            </a:r>
            <a:r>
              <a:rPr dirty="0" sz="1000" spc="80">
                <a:latin typeface="Times New Roman"/>
                <a:cs typeface="Times New Roman"/>
              </a:rPr>
              <a:t> </a:t>
            </a:r>
            <a:r>
              <a:rPr dirty="0" sz="1000">
                <a:latin typeface="Times New Roman"/>
                <a:cs typeface="Times New Roman"/>
              </a:rPr>
              <a:t>on</a:t>
            </a:r>
            <a:r>
              <a:rPr dirty="0" sz="1000" spc="80">
                <a:latin typeface="Times New Roman"/>
                <a:cs typeface="Times New Roman"/>
              </a:rPr>
              <a:t> </a:t>
            </a:r>
            <a:r>
              <a:rPr dirty="0" sz="1000">
                <a:latin typeface="Times New Roman"/>
                <a:cs typeface="Times New Roman"/>
              </a:rPr>
              <a:t>Multimedia</a:t>
            </a:r>
            <a:r>
              <a:rPr dirty="0" sz="1000" spc="80">
                <a:latin typeface="Times New Roman"/>
                <a:cs typeface="Times New Roman"/>
              </a:rPr>
              <a:t> </a:t>
            </a:r>
            <a:r>
              <a:rPr dirty="0" sz="1000">
                <a:latin typeface="Times New Roman"/>
                <a:cs typeface="Times New Roman"/>
              </a:rPr>
              <a:t>and</a:t>
            </a:r>
            <a:r>
              <a:rPr dirty="0" sz="1000" spc="75">
                <a:latin typeface="Times New Roman"/>
                <a:cs typeface="Times New Roman"/>
              </a:rPr>
              <a:t> </a:t>
            </a:r>
            <a:r>
              <a:rPr dirty="0" sz="1000">
                <a:latin typeface="Times New Roman"/>
                <a:cs typeface="Times New Roman"/>
              </a:rPr>
              <a:t>Expo</a:t>
            </a:r>
            <a:r>
              <a:rPr dirty="0" sz="1000" spc="80">
                <a:latin typeface="Times New Roman"/>
                <a:cs typeface="Times New Roman"/>
              </a:rPr>
              <a:t> </a:t>
            </a:r>
            <a:r>
              <a:rPr dirty="0" sz="1000">
                <a:latin typeface="Times New Roman"/>
                <a:cs typeface="Times New Roman"/>
              </a:rPr>
              <a:t>(ICME),</a:t>
            </a:r>
            <a:r>
              <a:rPr dirty="0" sz="1000" spc="80">
                <a:latin typeface="Times New Roman"/>
                <a:cs typeface="Times New Roman"/>
              </a:rPr>
              <a:t> </a:t>
            </a:r>
            <a:r>
              <a:rPr dirty="0" sz="1000">
                <a:latin typeface="Times New Roman"/>
                <a:cs typeface="Times New Roman"/>
              </a:rPr>
              <a:t>pages</a:t>
            </a:r>
            <a:r>
              <a:rPr dirty="0" sz="1000" spc="80">
                <a:latin typeface="Times New Roman"/>
                <a:cs typeface="Times New Roman"/>
              </a:rPr>
              <a:t> </a:t>
            </a:r>
            <a:r>
              <a:rPr dirty="0" sz="1000" spc="-20">
                <a:latin typeface="Times New Roman"/>
                <a:cs typeface="Times New Roman"/>
              </a:rPr>
              <a:t>1-</a:t>
            </a:r>
            <a:r>
              <a:rPr dirty="0" sz="1000">
                <a:latin typeface="Times New Roman"/>
                <a:cs typeface="Times New Roman"/>
              </a:rPr>
              <a:t>6.</a:t>
            </a:r>
            <a:r>
              <a:rPr dirty="0" sz="1000" spc="195">
                <a:latin typeface="Times New Roman"/>
                <a:cs typeface="Times New Roman"/>
              </a:rPr>
              <a:t> </a:t>
            </a:r>
            <a:r>
              <a:rPr dirty="0" sz="1000">
                <a:latin typeface="Times New Roman"/>
                <a:cs typeface="Times New Roman"/>
              </a:rPr>
              <a:t>IEEE,</a:t>
            </a:r>
            <a:r>
              <a:rPr dirty="0" sz="1000" spc="75">
                <a:latin typeface="Times New Roman"/>
                <a:cs typeface="Times New Roman"/>
              </a:rPr>
              <a:t> </a:t>
            </a:r>
            <a:r>
              <a:rPr dirty="0" sz="1000">
                <a:latin typeface="Times New Roman"/>
                <a:cs typeface="Times New Roman"/>
              </a:rPr>
              <a:t>2018.</a:t>
            </a:r>
            <a:r>
              <a:rPr dirty="0" sz="1000" spc="195">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40"/>
              </a:spcBef>
            </a:pPr>
            <a:endParaRPr sz="1000">
              <a:latin typeface="Times New Roman"/>
              <a:cs typeface="Times New Roman"/>
            </a:endParaRPr>
          </a:p>
          <a:p>
            <a:pPr marL="192405" marR="184785" indent="244475">
              <a:lnSpc>
                <a:spcPct val="129500"/>
              </a:lnSpc>
              <a:buFont typeface="Times New Roman"/>
              <a:buAutoNum type="arabicPlain" startAt="27"/>
              <a:tabLst>
                <a:tab pos="436880" algn="l"/>
              </a:tabLst>
            </a:pPr>
            <a:r>
              <a:rPr dirty="0" sz="1000" spc="-10">
                <a:latin typeface="SimSun"/>
                <a:cs typeface="SimSun"/>
              </a:rPr>
              <a:t>费涛和卡洛斯</a:t>
            </a:r>
            <a:r>
              <a:rPr dirty="0" sz="1000" spc="-675">
                <a:latin typeface="SimSun"/>
                <a:cs typeface="SimSun"/>
              </a:rPr>
              <a:t>·</a:t>
            </a:r>
            <a:r>
              <a:rPr dirty="0" sz="1000" spc="-20">
                <a:latin typeface="SimSun"/>
                <a:cs typeface="SimSun"/>
              </a:rPr>
              <a:t>布索。用于视听语音识别的视听特征对齐。在 </a:t>
            </a:r>
            <a:r>
              <a:rPr dirty="0" sz="1000">
                <a:latin typeface="Times New Roman"/>
                <a:cs typeface="Times New Roman"/>
              </a:rPr>
              <a:t>2018 </a:t>
            </a:r>
            <a:r>
              <a:rPr dirty="0" sz="1000" spc="-114">
                <a:latin typeface="SimSun"/>
                <a:cs typeface="SimSun"/>
              </a:rPr>
              <a:t>年 </a:t>
            </a:r>
            <a:r>
              <a:rPr dirty="0" sz="1000">
                <a:latin typeface="Times New Roman"/>
                <a:cs typeface="Times New Roman"/>
              </a:rPr>
              <a:t>IEEE </a:t>
            </a:r>
            <a:r>
              <a:rPr dirty="0" sz="1000" spc="-15">
                <a:latin typeface="SimSun"/>
                <a:cs typeface="SimSun"/>
              </a:rPr>
              <a:t>国际多媒体与博览</a:t>
            </a:r>
            <a:r>
              <a:rPr dirty="0" sz="1000" spc="105">
                <a:latin typeface="SimSun"/>
                <a:cs typeface="SimSun"/>
              </a:rPr>
              <a:t>会议</a:t>
            </a:r>
            <a:r>
              <a:rPr dirty="0" sz="1000">
                <a:latin typeface="Times New Roman"/>
                <a:cs typeface="Times New Roman"/>
              </a:rPr>
              <a:t>(ICME)</a:t>
            </a:r>
            <a:r>
              <a:rPr dirty="0" sz="1000" spc="-30">
                <a:latin typeface="Times New Roman"/>
                <a:cs typeface="Times New Roman"/>
              </a:rPr>
              <a:t> </a:t>
            </a:r>
            <a:r>
              <a:rPr dirty="0" sz="1000" spc="-75">
                <a:latin typeface="SimSun"/>
                <a:cs typeface="SimSun"/>
              </a:rPr>
              <a:t>上，第 </a:t>
            </a:r>
            <a:r>
              <a:rPr dirty="0" sz="1000">
                <a:latin typeface="Times New Roman"/>
                <a:cs typeface="Times New Roman"/>
              </a:rPr>
              <a:t>1</a:t>
            </a:r>
            <a:r>
              <a:rPr dirty="0" sz="1000" spc="-20">
                <a:latin typeface="Times New Roman"/>
                <a:cs typeface="Times New Roman"/>
              </a:rPr>
              <a:t> - </a:t>
            </a:r>
            <a:r>
              <a:rPr dirty="0" sz="1000">
                <a:latin typeface="Times New Roman"/>
                <a:cs typeface="Times New Roman"/>
              </a:rPr>
              <a:t>6</a:t>
            </a:r>
            <a:r>
              <a:rPr dirty="0" sz="1000" spc="-25">
                <a:latin typeface="Times New Roman"/>
                <a:cs typeface="Times New Roman"/>
              </a:rPr>
              <a:t> </a:t>
            </a:r>
            <a:r>
              <a:rPr dirty="0" sz="1000" spc="-10">
                <a:latin typeface="SimSun"/>
                <a:cs typeface="SimSun"/>
              </a:rPr>
              <a:t>页。</a:t>
            </a:r>
            <a:r>
              <a:rPr dirty="0" sz="1000">
                <a:latin typeface="Times New Roman"/>
                <a:cs typeface="Times New Roman"/>
              </a:rPr>
              <a:t>IEEE</a:t>
            </a:r>
            <a:r>
              <a:rPr dirty="0" sz="1000">
                <a:latin typeface="SimSun"/>
                <a:cs typeface="SimSun"/>
              </a:rPr>
              <a:t>，</a:t>
            </a:r>
            <a:r>
              <a:rPr dirty="0" sz="1000">
                <a:latin typeface="Times New Roman"/>
                <a:cs typeface="Times New Roman"/>
              </a:rPr>
              <a:t>2018</a:t>
            </a:r>
            <a:r>
              <a:rPr dirty="0" sz="1000" spc="-25">
                <a:latin typeface="Times New Roman"/>
                <a:cs typeface="Times New Roman"/>
              </a:rPr>
              <a:t> </a:t>
            </a:r>
            <a:r>
              <a:rPr dirty="0" sz="1000" spc="-10">
                <a:latin typeface="SimSun"/>
                <a:cs typeface="SimSun"/>
              </a:rPr>
              <a:t>年。</a:t>
            </a:r>
            <a:r>
              <a:rPr dirty="0" sz="1000" spc="-50">
                <a:latin typeface="Times New Roman"/>
                <a:cs typeface="Times New Roman"/>
              </a:rPr>
              <a:t>2</a:t>
            </a:r>
            <a:endParaRPr sz="1000">
              <a:latin typeface="Times New Roman"/>
              <a:cs typeface="Times New Roman"/>
            </a:endParaRPr>
          </a:p>
          <a:p>
            <a:pPr>
              <a:lnSpc>
                <a:spcPct val="100000"/>
              </a:lnSpc>
              <a:spcBef>
                <a:spcPts val="204"/>
              </a:spcBef>
              <a:buFont typeface="Times New Roman"/>
              <a:buAutoNum type="arabicPlain" startAt="27"/>
            </a:pPr>
            <a:endParaRPr sz="1000">
              <a:latin typeface="Times New Roman"/>
              <a:cs typeface="Times New Roman"/>
            </a:endParaRPr>
          </a:p>
          <a:p>
            <a:pPr algn="just" marL="12700" marR="5080" indent="492125">
              <a:lnSpc>
                <a:spcPct val="129500"/>
              </a:lnSpc>
              <a:buAutoNum type="arabicPlain" startAt="27"/>
              <a:tabLst>
                <a:tab pos="504825" algn="l"/>
              </a:tabLst>
            </a:pPr>
            <a:r>
              <a:rPr dirty="0" sz="1000" spc="-10">
                <a:latin typeface="Times New Roman"/>
                <a:cs typeface="Times New Roman"/>
              </a:rPr>
              <a:t>Weiyao</a:t>
            </a:r>
            <a:r>
              <a:rPr dirty="0" sz="1000" spc="65">
                <a:latin typeface="Times New Roman"/>
                <a:cs typeface="Times New Roman"/>
              </a:rPr>
              <a:t> </a:t>
            </a:r>
            <a:r>
              <a:rPr dirty="0" sz="1000">
                <a:latin typeface="Times New Roman"/>
                <a:cs typeface="Times New Roman"/>
              </a:rPr>
              <a:t>Wang,</a:t>
            </a:r>
            <a:r>
              <a:rPr dirty="0" sz="1000" spc="70">
                <a:latin typeface="Times New Roman"/>
                <a:cs typeface="Times New Roman"/>
              </a:rPr>
              <a:t> </a:t>
            </a:r>
            <a:r>
              <a:rPr dirty="0" sz="1000">
                <a:latin typeface="Times New Roman"/>
                <a:cs typeface="Times New Roman"/>
              </a:rPr>
              <a:t>Du</a:t>
            </a:r>
            <a:r>
              <a:rPr dirty="0" sz="1000" spc="65">
                <a:latin typeface="Times New Roman"/>
                <a:cs typeface="Times New Roman"/>
              </a:rPr>
              <a:t> </a:t>
            </a:r>
            <a:r>
              <a:rPr dirty="0" sz="1000">
                <a:latin typeface="Times New Roman"/>
                <a:cs typeface="Times New Roman"/>
              </a:rPr>
              <a:t>Tran,</a:t>
            </a:r>
            <a:r>
              <a:rPr dirty="0" sz="1000" spc="75">
                <a:latin typeface="Times New Roman"/>
                <a:cs typeface="Times New Roman"/>
              </a:rPr>
              <a:t> </a:t>
            </a:r>
            <a:r>
              <a:rPr dirty="0" sz="1000">
                <a:latin typeface="Times New Roman"/>
                <a:cs typeface="Times New Roman"/>
              </a:rPr>
              <a:t>and</a:t>
            </a:r>
            <a:r>
              <a:rPr dirty="0" sz="1000" spc="65">
                <a:latin typeface="Times New Roman"/>
                <a:cs typeface="Times New Roman"/>
              </a:rPr>
              <a:t> </a:t>
            </a:r>
            <a:r>
              <a:rPr dirty="0" sz="1000">
                <a:latin typeface="Times New Roman"/>
                <a:cs typeface="Times New Roman"/>
              </a:rPr>
              <a:t>Matt</a:t>
            </a:r>
            <a:r>
              <a:rPr dirty="0" sz="1000" spc="65">
                <a:latin typeface="Times New Roman"/>
                <a:cs typeface="Times New Roman"/>
              </a:rPr>
              <a:t> </a:t>
            </a:r>
            <a:r>
              <a:rPr dirty="0" sz="1000">
                <a:latin typeface="Times New Roman"/>
                <a:cs typeface="Times New Roman"/>
              </a:rPr>
              <a:t>Feiszli.</a:t>
            </a:r>
            <a:r>
              <a:rPr dirty="0" sz="1000" spc="204">
                <a:latin typeface="Times New Roman"/>
                <a:cs typeface="Times New Roman"/>
              </a:rPr>
              <a:t> </a:t>
            </a:r>
            <a:r>
              <a:rPr dirty="0" sz="1000">
                <a:latin typeface="Times New Roman"/>
                <a:cs typeface="Times New Roman"/>
              </a:rPr>
              <a:t>What</a:t>
            </a:r>
            <a:r>
              <a:rPr dirty="0" sz="1000" spc="65">
                <a:latin typeface="Times New Roman"/>
                <a:cs typeface="Times New Roman"/>
              </a:rPr>
              <a:t> </a:t>
            </a:r>
            <a:r>
              <a:rPr dirty="0" sz="1000">
                <a:latin typeface="Times New Roman"/>
                <a:cs typeface="Times New Roman"/>
              </a:rPr>
              <a:t>makes</a:t>
            </a:r>
            <a:r>
              <a:rPr dirty="0" sz="1000" spc="65">
                <a:latin typeface="Times New Roman"/>
                <a:cs typeface="Times New Roman"/>
              </a:rPr>
              <a:t> </a:t>
            </a:r>
            <a:r>
              <a:rPr dirty="0" sz="1000">
                <a:latin typeface="Times New Roman"/>
                <a:cs typeface="Times New Roman"/>
              </a:rPr>
              <a:t>training</a:t>
            </a:r>
            <a:r>
              <a:rPr dirty="0" sz="1000" spc="65">
                <a:latin typeface="Times New Roman"/>
                <a:cs typeface="Times New Roman"/>
              </a:rPr>
              <a:t> </a:t>
            </a:r>
            <a:r>
              <a:rPr dirty="0" sz="1000">
                <a:latin typeface="Times New Roman"/>
                <a:cs typeface="Times New Roman"/>
              </a:rPr>
              <a:t>multi-modal</a:t>
            </a:r>
            <a:r>
              <a:rPr dirty="0" sz="1000" spc="65">
                <a:latin typeface="Times New Roman"/>
                <a:cs typeface="Times New Roman"/>
              </a:rPr>
              <a:t> </a:t>
            </a:r>
            <a:r>
              <a:rPr dirty="0" sz="1000">
                <a:latin typeface="Times New Roman"/>
                <a:cs typeface="Times New Roman"/>
              </a:rPr>
              <a:t>classification</a:t>
            </a:r>
            <a:r>
              <a:rPr dirty="0" sz="1000" spc="65">
                <a:latin typeface="Times New Roman"/>
                <a:cs typeface="Times New Roman"/>
              </a:rPr>
              <a:t> </a:t>
            </a:r>
            <a:r>
              <a:rPr dirty="0" sz="1000" spc="-10">
                <a:latin typeface="Times New Roman"/>
                <a:cs typeface="Times New Roman"/>
              </a:rPr>
              <a:t>networks </a:t>
            </a:r>
            <a:r>
              <a:rPr dirty="0" sz="1000">
                <a:latin typeface="Times New Roman"/>
                <a:cs typeface="Times New Roman"/>
              </a:rPr>
              <a:t>hard?</a:t>
            </a:r>
            <a:r>
              <a:rPr dirty="0" sz="1000" spc="200">
                <a:latin typeface="Times New Roman"/>
                <a:cs typeface="Times New Roman"/>
              </a:rPr>
              <a:t>  </a:t>
            </a:r>
            <a:r>
              <a:rPr dirty="0" sz="1000">
                <a:latin typeface="Times New Roman"/>
                <a:cs typeface="Times New Roman"/>
              </a:rPr>
              <a:t>In</a:t>
            </a:r>
            <a:r>
              <a:rPr dirty="0" sz="1000" spc="229">
                <a:latin typeface="Times New Roman"/>
                <a:cs typeface="Times New Roman"/>
              </a:rPr>
              <a:t> </a:t>
            </a:r>
            <a:r>
              <a:rPr dirty="0" sz="1000">
                <a:latin typeface="Times New Roman"/>
                <a:cs typeface="Times New Roman"/>
              </a:rPr>
              <a:t>Proceedings</a:t>
            </a:r>
            <a:r>
              <a:rPr dirty="0" sz="1000" spc="225">
                <a:latin typeface="Times New Roman"/>
                <a:cs typeface="Times New Roman"/>
              </a:rPr>
              <a:t> </a:t>
            </a:r>
            <a:r>
              <a:rPr dirty="0" sz="1000">
                <a:latin typeface="Times New Roman"/>
                <a:cs typeface="Times New Roman"/>
              </a:rPr>
              <a:t>of</a:t>
            </a:r>
            <a:r>
              <a:rPr dirty="0" sz="1000" spc="225">
                <a:latin typeface="Times New Roman"/>
                <a:cs typeface="Times New Roman"/>
              </a:rPr>
              <a:t> </a:t>
            </a:r>
            <a:r>
              <a:rPr dirty="0" sz="1000">
                <a:latin typeface="Times New Roman"/>
                <a:cs typeface="Times New Roman"/>
              </a:rPr>
              <a:t>the</a:t>
            </a:r>
            <a:r>
              <a:rPr dirty="0" sz="1000" spc="225">
                <a:latin typeface="Times New Roman"/>
                <a:cs typeface="Times New Roman"/>
              </a:rPr>
              <a:t> </a:t>
            </a:r>
            <a:r>
              <a:rPr dirty="0" sz="1000">
                <a:latin typeface="Times New Roman"/>
                <a:cs typeface="Times New Roman"/>
              </a:rPr>
              <a:t>IEEE/CVF</a:t>
            </a:r>
            <a:r>
              <a:rPr dirty="0" sz="1000" spc="225">
                <a:latin typeface="Times New Roman"/>
                <a:cs typeface="Times New Roman"/>
              </a:rPr>
              <a:t> </a:t>
            </a:r>
            <a:r>
              <a:rPr dirty="0" sz="1000">
                <a:latin typeface="Times New Roman"/>
                <a:cs typeface="Times New Roman"/>
              </a:rPr>
              <a:t>Conference</a:t>
            </a:r>
            <a:r>
              <a:rPr dirty="0" sz="1000" spc="225">
                <a:latin typeface="Times New Roman"/>
                <a:cs typeface="Times New Roman"/>
              </a:rPr>
              <a:t> </a:t>
            </a:r>
            <a:r>
              <a:rPr dirty="0" sz="1000">
                <a:latin typeface="Times New Roman"/>
                <a:cs typeface="Times New Roman"/>
              </a:rPr>
              <a:t>on</a:t>
            </a:r>
            <a:r>
              <a:rPr dirty="0" sz="1000" spc="220">
                <a:latin typeface="Times New Roman"/>
                <a:cs typeface="Times New Roman"/>
              </a:rPr>
              <a:t> </a:t>
            </a:r>
            <a:r>
              <a:rPr dirty="0" sz="1000">
                <a:latin typeface="Times New Roman"/>
                <a:cs typeface="Times New Roman"/>
              </a:rPr>
              <a:t>Computer</a:t>
            </a:r>
            <a:r>
              <a:rPr dirty="0" sz="1000" spc="225">
                <a:latin typeface="Times New Roman"/>
                <a:cs typeface="Times New Roman"/>
              </a:rPr>
              <a:t> </a:t>
            </a:r>
            <a:r>
              <a:rPr dirty="0" sz="1000">
                <a:latin typeface="Times New Roman"/>
                <a:cs typeface="Times New Roman"/>
              </a:rPr>
              <a:t>Vision</a:t>
            </a:r>
            <a:r>
              <a:rPr dirty="0" sz="1000" spc="225">
                <a:latin typeface="Times New Roman"/>
                <a:cs typeface="Times New Roman"/>
              </a:rPr>
              <a:t> </a:t>
            </a:r>
            <a:r>
              <a:rPr dirty="0" sz="1000">
                <a:latin typeface="Times New Roman"/>
                <a:cs typeface="Times New Roman"/>
              </a:rPr>
              <a:t>and</a:t>
            </a:r>
            <a:r>
              <a:rPr dirty="0" sz="1000" spc="225">
                <a:latin typeface="Times New Roman"/>
                <a:cs typeface="Times New Roman"/>
              </a:rPr>
              <a:t> </a:t>
            </a:r>
            <a:r>
              <a:rPr dirty="0" sz="1000">
                <a:latin typeface="Times New Roman"/>
                <a:cs typeface="Times New Roman"/>
              </a:rPr>
              <a:t>Pattern</a:t>
            </a:r>
            <a:r>
              <a:rPr dirty="0" sz="1000" spc="225">
                <a:latin typeface="Times New Roman"/>
                <a:cs typeface="Times New Roman"/>
              </a:rPr>
              <a:t> </a:t>
            </a:r>
            <a:r>
              <a:rPr dirty="0" sz="1000">
                <a:latin typeface="Times New Roman"/>
                <a:cs typeface="Times New Roman"/>
              </a:rPr>
              <a:t>Recognition,</a:t>
            </a:r>
            <a:r>
              <a:rPr dirty="0" sz="1000" spc="265">
                <a:latin typeface="Times New Roman"/>
                <a:cs typeface="Times New Roman"/>
              </a:rPr>
              <a:t> </a:t>
            </a:r>
            <a:r>
              <a:rPr dirty="0" sz="1000" spc="-10">
                <a:latin typeface="Times New Roman"/>
                <a:cs typeface="Times New Roman"/>
              </a:rPr>
              <a:t>pages 12695-12705,</a:t>
            </a:r>
            <a:r>
              <a:rPr dirty="0" sz="1000" spc="-40">
                <a:latin typeface="Times New Roman"/>
                <a:cs typeface="Times New Roman"/>
              </a:rPr>
              <a:t> </a:t>
            </a:r>
            <a:r>
              <a:rPr dirty="0" sz="1000">
                <a:latin typeface="Times New Roman"/>
                <a:cs typeface="Times New Roman"/>
              </a:rPr>
              <a:t>2020.</a:t>
            </a:r>
            <a:r>
              <a:rPr dirty="0" sz="1000" spc="40">
                <a:latin typeface="Times New Roman"/>
                <a:cs typeface="Times New Roman"/>
              </a:rPr>
              <a:t> </a:t>
            </a:r>
            <a:r>
              <a:rPr dirty="0" sz="1000">
                <a:latin typeface="Times New Roman"/>
                <a:cs typeface="Times New Roman"/>
              </a:rPr>
              <a:t>2,</a:t>
            </a:r>
            <a:r>
              <a:rPr dirty="0" sz="1000" spc="-35">
                <a:latin typeface="Times New Roman"/>
                <a:cs typeface="Times New Roman"/>
              </a:rPr>
              <a:t> </a:t>
            </a:r>
            <a:r>
              <a:rPr dirty="0" sz="1000">
                <a:latin typeface="Times New Roman"/>
                <a:cs typeface="Times New Roman"/>
              </a:rPr>
              <a:t>5,</a:t>
            </a:r>
            <a:r>
              <a:rPr dirty="0" sz="1000" spc="-35">
                <a:latin typeface="Times New Roman"/>
                <a:cs typeface="Times New Roman"/>
              </a:rPr>
              <a:t> </a:t>
            </a:r>
            <a:r>
              <a:rPr dirty="0" sz="1000">
                <a:latin typeface="Times New Roman"/>
                <a:cs typeface="Times New Roman"/>
              </a:rPr>
              <a:t>6,</a:t>
            </a:r>
            <a:r>
              <a:rPr dirty="0" sz="1000" spc="-35">
                <a:latin typeface="Times New Roman"/>
                <a:cs typeface="Times New Roman"/>
              </a:rPr>
              <a:t> </a:t>
            </a:r>
            <a:r>
              <a:rPr dirty="0" sz="1000" spc="-50">
                <a:latin typeface="Times New Roman"/>
                <a:cs typeface="Times New Roman"/>
              </a:rPr>
              <a:t>7</a:t>
            </a:r>
            <a:endParaRPr sz="1000">
              <a:latin typeface="Times New Roman"/>
              <a:cs typeface="Times New Roman"/>
            </a:endParaRPr>
          </a:p>
          <a:p>
            <a:pPr>
              <a:lnSpc>
                <a:spcPct val="100000"/>
              </a:lnSpc>
              <a:spcBef>
                <a:spcPts val="229"/>
              </a:spcBef>
            </a:pPr>
            <a:endParaRPr sz="1000">
              <a:latin typeface="Times New Roman"/>
              <a:cs typeface="Times New Roman"/>
            </a:endParaRPr>
          </a:p>
          <a:p>
            <a:pPr marL="192405" marR="184785" indent="241935">
              <a:lnSpc>
                <a:spcPct val="129500"/>
              </a:lnSpc>
              <a:buFont typeface="Times New Roman"/>
              <a:buAutoNum type="arabicPlain" startAt="28"/>
              <a:tabLst>
                <a:tab pos="434340" algn="l"/>
              </a:tabLst>
            </a:pPr>
            <a:r>
              <a:rPr dirty="0" sz="1000" spc="25">
                <a:latin typeface="SimSun"/>
                <a:cs typeface="SimSun"/>
              </a:rPr>
              <a:t>王韦瑶、杜</a:t>
            </a:r>
            <a:r>
              <a:rPr dirty="0" sz="1000">
                <a:latin typeface="Times New Roman"/>
                <a:cs typeface="Times New Roman"/>
              </a:rPr>
              <a:t>Tran </a:t>
            </a:r>
            <a:r>
              <a:rPr dirty="0" sz="1000" spc="-15">
                <a:latin typeface="SimSun"/>
                <a:cs typeface="SimSun"/>
              </a:rPr>
              <a:t>和马特</a:t>
            </a:r>
            <a:r>
              <a:rPr dirty="0" sz="1000" spc="-685">
                <a:latin typeface="SimSun"/>
                <a:cs typeface="SimSun"/>
              </a:rPr>
              <a:t>·</a:t>
            </a:r>
            <a:r>
              <a:rPr dirty="0" sz="1000" spc="-10">
                <a:latin typeface="SimSun"/>
                <a:cs typeface="SimSun"/>
              </a:rPr>
              <a:t>费斯利。训练多模态分类网络困难的原因是什么？在</a:t>
            </a:r>
            <a:r>
              <a:rPr dirty="0" sz="1000">
                <a:latin typeface="Times New Roman"/>
                <a:cs typeface="Times New Roman"/>
              </a:rPr>
              <a:t>IEEE/CVF </a:t>
            </a:r>
            <a:r>
              <a:rPr dirty="0" sz="1000" spc="-30">
                <a:latin typeface="SimSun"/>
                <a:cs typeface="SimSun"/>
              </a:rPr>
              <a:t>计算机视觉与模式识别会议论文集上，第 </a:t>
            </a:r>
            <a:r>
              <a:rPr dirty="0" sz="1000" spc="-10">
                <a:latin typeface="Times New Roman"/>
                <a:cs typeface="Times New Roman"/>
              </a:rPr>
              <a:t>12695</a:t>
            </a:r>
            <a:r>
              <a:rPr dirty="0" sz="1000" spc="-25">
                <a:latin typeface="Times New Roman"/>
                <a:cs typeface="Times New Roman"/>
              </a:rPr>
              <a:t> - </a:t>
            </a:r>
            <a:r>
              <a:rPr dirty="0" sz="1000" spc="-10">
                <a:latin typeface="Times New Roman"/>
                <a:cs typeface="Times New Roman"/>
              </a:rPr>
              <a:t>12705</a:t>
            </a:r>
            <a:r>
              <a:rPr dirty="0" sz="1000" spc="-25">
                <a:latin typeface="Times New Roman"/>
                <a:cs typeface="Times New Roman"/>
              </a:rPr>
              <a:t> </a:t>
            </a:r>
            <a:r>
              <a:rPr dirty="0" sz="1000" spc="-10">
                <a:latin typeface="SimSun"/>
                <a:cs typeface="SimSun"/>
              </a:rPr>
              <a:t>页，</a:t>
            </a:r>
            <a:r>
              <a:rPr dirty="0" sz="1000" spc="-10">
                <a:latin typeface="Times New Roman"/>
                <a:cs typeface="Times New Roman"/>
              </a:rPr>
              <a:t>2020</a:t>
            </a:r>
            <a:r>
              <a:rPr dirty="0" sz="1000" spc="-30">
                <a:latin typeface="Times New Roman"/>
                <a:cs typeface="Times New Roman"/>
              </a:rPr>
              <a:t> </a:t>
            </a:r>
            <a:r>
              <a:rPr dirty="0" sz="1000" spc="-10">
                <a:latin typeface="SimSun"/>
                <a:cs typeface="SimSun"/>
              </a:rPr>
              <a:t>年。</a:t>
            </a:r>
            <a:r>
              <a:rPr dirty="0" sz="1000">
                <a:latin typeface="Times New Roman"/>
                <a:cs typeface="Times New Roman"/>
              </a:rPr>
              <a:t>2,</a:t>
            </a:r>
            <a:r>
              <a:rPr dirty="0" sz="1000" spc="-25">
                <a:latin typeface="Times New Roman"/>
                <a:cs typeface="Times New Roman"/>
              </a:rPr>
              <a:t> </a:t>
            </a:r>
            <a:r>
              <a:rPr dirty="0" sz="1000">
                <a:latin typeface="Times New Roman"/>
                <a:cs typeface="Times New Roman"/>
              </a:rPr>
              <a:t>5,</a:t>
            </a:r>
            <a:r>
              <a:rPr dirty="0" sz="1000" spc="-30">
                <a:latin typeface="Times New Roman"/>
                <a:cs typeface="Times New Roman"/>
              </a:rPr>
              <a:t> </a:t>
            </a:r>
            <a:r>
              <a:rPr dirty="0" sz="1000">
                <a:latin typeface="Times New Roman"/>
                <a:cs typeface="Times New Roman"/>
              </a:rPr>
              <a:t>6,</a:t>
            </a:r>
            <a:r>
              <a:rPr dirty="0" sz="1000" spc="-30">
                <a:latin typeface="Times New Roman"/>
                <a:cs typeface="Times New Roman"/>
              </a:rPr>
              <a:t> </a:t>
            </a:r>
            <a:r>
              <a:rPr dirty="0" sz="1000" spc="-50">
                <a:latin typeface="Times New Roman"/>
                <a:cs typeface="Times New Roman"/>
              </a:rPr>
              <a:t>7</a:t>
            </a:r>
            <a:endParaRPr sz="1000">
              <a:latin typeface="Times New Roman"/>
              <a:cs typeface="Times New Roman"/>
            </a:endParaRPr>
          </a:p>
          <a:p>
            <a:pPr>
              <a:lnSpc>
                <a:spcPct val="100000"/>
              </a:lnSpc>
              <a:spcBef>
                <a:spcPts val="210"/>
              </a:spcBef>
              <a:buFont typeface="Times New Roman"/>
              <a:buAutoNum type="arabicPlain" startAt="28"/>
            </a:pPr>
            <a:endParaRPr sz="1000">
              <a:latin typeface="Times New Roman"/>
              <a:cs typeface="Times New Roman"/>
            </a:endParaRPr>
          </a:p>
          <a:p>
            <a:pPr algn="just" marL="12700" marR="5080" indent="503555">
              <a:lnSpc>
                <a:spcPct val="129500"/>
              </a:lnSpc>
              <a:buAutoNum type="arabicPlain" startAt="28"/>
              <a:tabLst>
                <a:tab pos="516255" algn="l"/>
              </a:tabLst>
            </a:pPr>
            <a:r>
              <a:rPr dirty="0" sz="1000">
                <a:latin typeface="Times New Roman"/>
                <a:cs typeface="Times New Roman"/>
              </a:rPr>
              <a:t>Shicai</a:t>
            </a:r>
            <a:r>
              <a:rPr dirty="0" sz="1000" spc="145">
                <a:latin typeface="Times New Roman"/>
                <a:cs typeface="Times New Roman"/>
              </a:rPr>
              <a:t> </a:t>
            </a:r>
            <a:r>
              <a:rPr dirty="0" sz="1000">
                <a:latin typeface="Times New Roman"/>
                <a:cs typeface="Times New Roman"/>
              </a:rPr>
              <a:t>Wei,</a:t>
            </a:r>
            <a:r>
              <a:rPr dirty="0" sz="1000" spc="165">
                <a:latin typeface="Times New Roman"/>
                <a:cs typeface="Times New Roman"/>
              </a:rPr>
              <a:t> </a:t>
            </a:r>
            <a:r>
              <a:rPr dirty="0" sz="1000">
                <a:latin typeface="Times New Roman"/>
                <a:cs typeface="Times New Roman"/>
              </a:rPr>
              <a:t>Chunbo</a:t>
            </a:r>
            <a:r>
              <a:rPr dirty="0" sz="1000" spc="145">
                <a:latin typeface="Times New Roman"/>
                <a:cs typeface="Times New Roman"/>
              </a:rPr>
              <a:t> </a:t>
            </a:r>
            <a:r>
              <a:rPr dirty="0" sz="1000">
                <a:latin typeface="Times New Roman"/>
                <a:cs typeface="Times New Roman"/>
              </a:rPr>
              <a:t>Luo,</a:t>
            </a:r>
            <a:r>
              <a:rPr dirty="0" sz="1000" spc="170">
                <a:latin typeface="Times New Roman"/>
                <a:cs typeface="Times New Roman"/>
              </a:rPr>
              <a:t> </a:t>
            </a:r>
            <a:r>
              <a:rPr dirty="0" sz="1000">
                <a:latin typeface="Times New Roman"/>
                <a:cs typeface="Times New Roman"/>
              </a:rPr>
              <a:t>and</a:t>
            </a:r>
            <a:r>
              <a:rPr dirty="0" sz="1000" spc="145">
                <a:latin typeface="Times New Roman"/>
                <a:cs typeface="Times New Roman"/>
              </a:rPr>
              <a:t> </a:t>
            </a:r>
            <a:r>
              <a:rPr dirty="0" sz="1000">
                <a:latin typeface="Times New Roman"/>
                <a:cs typeface="Times New Roman"/>
              </a:rPr>
              <a:t>Yang</a:t>
            </a:r>
            <a:r>
              <a:rPr dirty="0" sz="1000" spc="145">
                <a:latin typeface="Times New Roman"/>
                <a:cs typeface="Times New Roman"/>
              </a:rPr>
              <a:t> </a:t>
            </a:r>
            <a:r>
              <a:rPr dirty="0" sz="1000">
                <a:latin typeface="Times New Roman"/>
                <a:cs typeface="Times New Roman"/>
              </a:rPr>
              <a:t>Luo.</a:t>
            </a:r>
            <a:r>
              <a:rPr dirty="0" sz="1000" spc="425">
                <a:latin typeface="Times New Roman"/>
                <a:cs typeface="Times New Roman"/>
              </a:rPr>
              <a:t> </a:t>
            </a:r>
            <a:r>
              <a:rPr dirty="0" sz="1000">
                <a:latin typeface="Times New Roman"/>
                <a:cs typeface="Times New Roman"/>
              </a:rPr>
              <a:t>Mmanet:</a:t>
            </a:r>
            <a:r>
              <a:rPr dirty="0" sz="1000" spc="340">
                <a:latin typeface="Times New Roman"/>
                <a:cs typeface="Times New Roman"/>
              </a:rPr>
              <a:t> </a:t>
            </a:r>
            <a:r>
              <a:rPr dirty="0" sz="1000">
                <a:latin typeface="Times New Roman"/>
                <a:cs typeface="Times New Roman"/>
              </a:rPr>
              <a:t>Margin-aware</a:t>
            </a:r>
            <a:r>
              <a:rPr dirty="0" sz="1000" spc="140">
                <a:latin typeface="Times New Roman"/>
                <a:cs typeface="Times New Roman"/>
              </a:rPr>
              <a:t> </a:t>
            </a:r>
            <a:r>
              <a:rPr dirty="0" sz="1000">
                <a:latin typeface="Times New Roman"/>
                <a:cs typeface="Times New Roman"/>
              </a:rPr>
              <a:t>distillation</a:t>
            </a:r>
            <a:r>
              <a:rPr dirty="0" sz="1000" spc="145">
                <a:latin typeface="Times New Roman"/>
                <a:cs typeface="Times New Roman"/>
              </a:rPr>
              <a:t> </a:t>
            </a:r>
            <a:r>
              <a:rPr dirty="0" sz="1000">
                <a:latin typeface="Times New Roman"/>
                <a:cs typeface="Times New Roman"/>
              </a:rPr>
              <a:t>and</a:t>
            </a:r>
            <a:r>
              <a:rPr dirty="0" sz="1000" spc="145">
                <a:latin typeface="Times New Roman"/>
                <a:cs typeface="Times New Roman"/>
              </a:rPr>
              <a:t> </a:t>
            </a:r>
            <a:r>
              <a:rPr dirty="0" sz="1000">
                <a:latin typeface="Times New Roman"/>
                <a:cs typeface="Times New Roman"/>
              </a:rPr>
              <a:t>modality-</a:t>
            </a:r>
            <a:r>
              <a:rPr dirty="0" sz="1000" spc="-10">
                <a:latin typeface="Times New Roman"/>
                <a:cs typeface="Times New Roman"/>
              </a:rPr>
              <a:t>aware </a:t>
            </a:r>
            <a:r>
              <a:rPr dirty="0" sz="1000" spc="10">
                <a:latin typeface="Times New Roman"/>
                <a:cs typeface="Times New Roman"/>
              </a:rPr>
              <a:t>regularization</a:t>
            </a:r>
            <a:r>
              <a:rPr dirty="0" sz="1000" spc="120">
                <a:latin typeface="Times New Roman"/>
                <a:cs typeface="Times New Roman"/>
              </a:rPr>
              <a:t> </a:t>
            </a:r>
            <a:r>
              <a:rPr dirty="0" sz="1000" spc="10">
                <a:latin typeface="Times New Roman"/>
                <a:cs typeface="Times New Roman"/>
              </a:rPr>
              <a:t>for</a:t>
            </a:r>
            <a:r>
              <a:rPr dirty="0" sz="1000" spc="130">
                <a:latin typeface="Times New Roman"/>
                <a:cs typeface="Times New Roman"/>
              </a:rPr>
              <a:t> </a:t>
            </a:r>
            <a:r>
              <a:rPr dirty="0" sz="1000" spc="10">
                <a:latin typeface="Times New Roman"/>
                <a:cs typeface="Times New Roman"/>
              </a:rPr>
              <a:t>incomplete</a:t>
            </a:r>
            <a:r>
              <a:rPr dirty="0" sz="1000" spc="125">
                <a:latin typeface="Times New Roman"/>
                <a:cs typeface="Times New Roman"/>
              </a:rPr>
              <a:t> </a:t>
            </a:r>
            <a:r>
              <a:rPr dirty="0" sz="1000" spc="10">
                <a:latin typeface="Times New Roman"/>
                <a:cs typeface="Times New Roman"/>
              </a:rPr>
              <a:t>multimodal</a:t>
            </a:r>
            <a:r>
              <a:rPr dirty="0" sz="1000" spc="130">
                <a:latin typeface="Times New Roman"/>
                <a:cs typeface="Times New Roman"/>
              </a:rPr>
              <a:t> </a:t>
            </a:r>
            <a:r>
              <a:rPr dirty="0" sz="1000" spc="10">
                <a:latin typeface="Times New Roman"/>
                <a:cs typeface="Times New Roman"/>
              </a:rPr>
              <a:t>learning.</a:t>
            </a:r>
            <a:r>
              <a:rPr dirty="0" sz="1000" spc="395">
                <a:latin typeface="Times New Roman"/>
                <a:cs typeface="Times New Roman"/>
              </a:rPr>
              <a:t> </a:t>
            </a:r>
            <a:r>
              <a:rPr dirty="0" sz="1000" spc="10">
                <a:latin typeface="Times New Roman"/>
                <a:cs typeface="Times New Roman"/>
              </a:rPr>
              <a:t>In</a:t>
            </a:r>
            <a:r>
              <a:rPr dirty="0" sz="1000" spc="130">
                <a:latin typeface="Times New Roman"/>
                <a:cs typeface="Times New Roman"/>
              </a:rPr>
              <a:t> </a:t>
            </a:r>
            <a:r>
              <a:rPr dirty="0" sz="1000" spc="10">
                <a:latin typeface="Times New Roman"/>
                <a:cs typeface="Times New Roman"/>
              </a:rPr>
              <a:t>Proceedings</a:t>
            </a:r>
            <a:r>
              <a:rPr dirty="0" sz="1000" spc="125">
                <a:latin typeface="Times New Roman"/>
                <a:cs typeface="Times New Roman"/>
              </a:rPr>
              <a:t> </a:t>
            </a:r>
            <a:r>
              <a:rPr dirty="0" sz="1000" spc="10">
                <a:latin typeface="Times New Roman"/>
                <a:cs typeface="Times New Roman"/>
              </a:rPr>
              <a:t>of</a:t>
            </a:r>
            <a:r>
              <a:rPr dirty="0" sz="1000" spc="130">
                <a:latin typeface="Times New Roman"/>
                <a:cs typeface="Times New Roman"/>
              </a:rPr>
              <a:t> </a:t>
            </a:r>
            <a:r>
              <a:rPr dirty="0" sz="1000" spc="10">
                <a:latin typeface="Times New Roman"/>
                <a:cs typeface="Times New Roman"/>
              </a:rPr>
              <a:t>the</a:t>
            </a:r>
            <a:r>
              <a:rPr dirty="0" sz="1000" spc="130">
                <a:latin typeface="Times New Roman"/>
                <a:cs typeface="Times New Roman"/>
              </a:rPr>
              <a:t> </a:t>
            </a:r>
            <a:r>
              <a:rPr dirty="0" sz="1000" spc="10">
                <a:latin typeface="Times New Roman"/>
                <a:cs typeface="Times New Roman"/>
              </a:rPr>
              <a:t>IEEE/CVF</a:t>
            </a:r>
            <a:r>
              <a:rPr dirty="0" sz="1000" spc="130">
                <a:latin typeface="Times New Roman"/>
                <a:cs typeface="Times New Roman"/>
              </a:rPr>
              <a:t> </a:t>
            </a:r>
            <a:r>
              <a:rPr dirty="0" sz="1000" spc="10">
                <a:latin typeface="Times New Roman"/>
                <a:cs typeface="Times New Roman"/>
              </a:rPr>
              <a:t>Conference</a:t>
            </a:r>
            <a:r>
              <a:rPr dirty="0" sz="1000" spc="125">
                <a:latin typeface="Times New Roman"/>
                <a:cs typeface="Times New Roman"/>
              </a:rPr>
              <a:t> </a:t>
            </a:r>
            <a:r>
              <a:rPr dirty="0" sz="1000" spc="10">
                <a:latin typeface="Times New Roman"/>
                <a:cs typeface="Times New Roman"/>
              </a:rPr>
              <a:t>on</a:t>
            </a:r>
            <a:r>
              <a:rPr dirty="0" sz="1000" spc="130">
                <a:latin typeface="Times New Roman"/>
                <a:cs typeface="Times New Roman"/>
              </a:rPr>
              <a:t> </a:t>
            </a:r>
            <a:r>
              <a:rPr dirty="0" sz="1000" spc="-20">
                <a:latin typeface="Times New Roman"/>
                <a:cs typeface="Times New Roman"/>
              </a:rPr>
              <a:t>Com- </a:t>
            </a:r>
            <a:r>
              <a:rPr dirty="0" sz="1000">
                <a:latin typeface="Times New Roman"/>
                <a:cs typeface="Times New Roman"/>
              </a:rPr>
              <a:t>puter</a:t>
            </a:r>
            <a:r>
              <a:rPr dirty="0" sz="1000" spc="65">
                <a:latin typeface="Times New Roman"/>
                <a:cs typeface="Times New Roman"/>
              </a:rPr>
              <a:t> </a:t>
            </a:r>
            <a:r>
              <a:rPr dirty="0" sz="1000">
                <a:latin typeface="Times New Roman"/>
                <a:cs typeface="Times New Roman"/>
              </a:rPr>
              <a:t>Vision</a:t>
            </a:r>
            <a:r>
              <a:rPr dirty="0" sz="1000" spc="70">
                <a:latin typeface="Times New Roman"/>
                <a:cs typeface="Times New Roman"/>
              </a:rPr>
              <a:t> </a:t>
            </a:r>
            <a:r>
              <a:rPr dirty="0" sz="1000">
                <a:latin typeface="Times New Roman"/>
                <a:cs typeface="Times New Roman"/>
              </a:rPr>
              <a:t>and</a:t>
            </a:r>
            <a:r>
              <a:rPr dirty="0" sz="1000" spc="70">
                <a:latin typeface="Times New Roman"/>
                <a:cs typeface="Times New Roman"/>
              </a:rPr>
              <a:t> </a:t>
            </a:r>
            <a:r>
              <a:rPr dirty="0" sz="1000">
                <a:latin typeface="Times New Roman"/>
                <a:cs typeface="Times New Roman"/>
              </a:rPr>
              <a:t>Pattern</a:t>
            </a:r>
            <a:r>
              <a:rPr dirty="0" sz="1000" spc="70">
                <a:latin typeface="Times New Roman"/>
                <a:cs typeface="Times New Roman"/>
              </a:rPr>
              <a:t> </a:t>
            </a:r>
            <a:r>
              <a:rPr dirty="0" sz="1000">
                <a:latin typeface="Times New Roman"/>
                <a:cs typeface="Times New Roman"/>
              </a:rPr>
              <a:t>Recognition,</a:t>
            </a:r>
            <a:r>
              <a:rPr dirty="0" sz="1000" spc="70">
                <a:latin typeface="Times New Roman"/>
                <a:cs typeface="Times New Roman"/>
              </a:rPr>
              <a:t> </a:t>
            </a:r>
            <a:r>
              <a:rPr dirty="0" sz="1000">
                <a:latin typeface="Times New Roman"/>
                <a:cs typeface="Times New Roman"/>
              </a:rPr>
              <a:t>pages</a:t>
            </a:r>
            <a:r>
              <a:rPr dirty="0" sz="1000" spc="65">
                <a:latin typeface="Times New Roman"/>
                <a:cs typeface="Times New Roman"/>
              </a:rPr>
              <a:t> </a:t>
            </a:r>
            <a:r>
              <a:rPr dirty="0" sz="1000" spc="-10">
                <a:latin typeface="Times New Roman"/>
                <a:cs typeface="Times New Roman"/>
              </a:rPr>
              <a:t>20039-20049,</a:t>
            </a:r>
            <a:r>
              <a:rPr dirty="0" sz="1000" spc="70">
                <a:latin typeface="Times New Roman"/>
                <a:cs typeface="Times New Roman"/>
              </a:rPr>
              <a:t> </a:t>
            </a:r>
            <a:r>
              <a:rPr dirty="0" sz="1000">
                <a:latin typeface="Times New Roman"/>
                <a:cs typeface="Times New Roman"/>
              </a:rPr>
              <a:t>2023.</a:t>
            </a:r>
            <a:r>
              <a:rPr dirty="0" sz="1000" spc="180">
                <a:latin typeface="Times New Roman"/>
                <a:cs typeface="Times New Roman"/>
              </a:rPr>
              <a:t> </a:t>
            </a:r>
            <a:r>
              <a:rPr dirty="0" sz="1000" spc="-50">
                <a:latin typeface="Times New Roman"/>
                <a:cs typeface="Times New Roman"/>
              </a:rPr>
              <a:t>5</a:t>
            </a:r>
            <a:endParaRPr sz="1000">
              <a:latin typeface="Times New Roman"/>
              <a:cs typeface="Times New Roman"/>
            </a:endParaRPr>
          </a:p>
          <a:p>
            <a:pPr>
              <a:lnSpc>
                <a:spcPct val="100000"/>
              </a:lnSpc>
              <a:spcBef>
                <a:spcPts val="225"/>
              </a:spcBef>
            </a:pPr>
            <a:endParaRPr sz="1000">
              <a:latin typeface="Times New Roman"/>
              <a:cs typeface="Times New Roman"/>
            </a:endParaRPr>
          </a:p>
          <a:p>
            <a:pPr marL="192405" marR="99060" indent="246379">
              <a:lnSpc>
                <a:spcPct val="129500"/>
              </a:lnSpc>
              <a:spcBef>
                <a:spcPts val="5"/>
              </a:spcBef>
              <a:buFont typeface="Times New Roman"/>
              <a:buAutoNum type="arabicPlain" startAt="29"/>
              <a:tabLst>
                <a:tab pos="438784" algn="l"/>
              </a:tabLst>
            </a:pPr>
            <a:r>
              <a:rPr dirty="0" sz="1000" spc="-10">
                <a:latin typeface="SimSun"/>
                <a:cs typeface="SimSun"/>
              </a:rPr>
              <a:t>魏世才、罗春波和罗阳。</a:t>
            </a:r>
            <a:r>
              <a:rPr dirty="0" sz="1000">
                <a:latin typeface="Times New Roman"/>
                <a:cs typeface="Times New Roman"/>
              </a:rPr>
              <a:t>Mmanet: </a:t>
            </a:r>
            <a:r>
              <a:rPr dirty="0" sz="1000" spc="-15">
                <a:latin typeface="SimSun"/>
                <a:cs typeface="SimSun"/>
              </a:rPr>
              <a:t>用于不完整多模态学习的边际感知蒸馏和模态感知正则化。</a:t>
            </a:r>
            <a:r>
              <a:rPr dirty="0" sz="1000" spc="220">
                <a:latin typeface="SimSun"/>
                <a:cs typeface="SimSun"/>
              </a:rPr>
              <a:t>在</a:t>
            </a:r>
            <a:r>
              <a:rPr dirty="0" sz="1000">
                <a:latin typeface="Times New Roman"/>
                <a:cs typeface="Times New Roman"/>
              </a:rPr>
              <a:t>IEEE/CVF</a:t>
            </a:r>
            <a:r>
              <a:rPr dirty="0" sz="1000" spc="-5">
                <a:latin typeface="Times New Roman"/>
                <a:cs typeface="Times New Roman"/>
              </a:rPr>
              <a:t> </a:t>
            </a:r>
            <a:r>
              <a:rPr dirty="0" sz="1000" spc="-25">
                <a:latin typeface="SimSun"/>
                <a:cs typeface="SimSun"/>
              </a:rPr>
              <a:t>计算机视觉与模式识别会议论文集上，第 </a:t>
            </a:r>
            <a:r>
              <a:rPr dirty="0" sz="1000" spc="-10">
                <a:latin typeface="Times New Roman"/>
                <a:cs typeface="Times New Roman"/>
              </a:rPr>
              <a:t>20039</a:t>
            </a:r>
            <a:r>
              <a:rPr dirty="0" sz="1000" spc="-5">
                <a:latin typeface="Times New Roman"/>
                <a:cs typeface="Times New Roman"/>
              </a:rPr>
              <a:t> - </a:t>
            </a:r>
            <a:r>
              <a:rPr dirty="0" sz="1000" spc="-10">
                <a:latin typeface="Times New Roman"/>
                <a:cs typeface="Times New Roman"/>
              </a:rPr>
              <a:t>20049</a:t>
            </a:r>
            <a:r>
              <a:rPr dirty="0" sz="1000" spc="5">
                <a:latin typeface="Times New Roman"/>
                <a:cs typeface="Times New Roman"/>
              </a:rPr>
              <a:t> </a:t>
            </a:r>
            <a:r>
              <a:rPr dirty="0" sz="1000" spc="-10">
                <a:latin typeface="SimSun"/>
                <a:cs typeface="SimSun"/>
              </a:rPr>
              <a:t>页，</a:t>
            </a:r>
            <a:r>
              <a:rPr dirty="0" sz="1000" spc="-10">
                <a:latin typeface="Times New Roman"/>
                <a:cs typeface="Times New Roman"/>
              </a:rPr>
              <a:t>2023</a:t>
            </a:r>
            <a:r>
              <a:rPr dirty="0" sz="1000" spc="-5">
                <a:latin typeface="Times New Roman"/>
                <a:cs typeface="Times New Roman"/>
              </a:rPr>
              <a:t> </a:t>
            </a:r>
            <a:r>
              <a:rPr dirty="0" sz="1000" spc="-10">
                <a:latin typeface="SimSun"/>
                <a:cs typeface="SimSun"/>
              </a:rPr>
              <a:t>年。</a:t>
            </a:r>
            <a:r>
              <a:rPr dirty="0" sz="1000" spc="-50">
                <a:latin typeface="Times New Roman"/>
                <a:cs typeface="Times New Roman"/>
              </a:rPr>
              <a:t>5</a:t>
            </a:r>
            <a:endParaRPr sz="1000">
              <a:latin typeface="Times New Roman"/>
              <a:cs typeface="Times New Roman"/>
            </a:endParaRPr>
          </a:p>
          <a:p>
            <a:pPr>
              <a:lnSpc>
                <a:spcPct val="100000"/>
              </a:lnSpc>
              <a:spcBef>
                <a:spcPts val="204"/>
              </a:spcBef>
              <a:buFont typeface="Times New Roman"/>
              <a:buAutoNum type="arabicPlain" startAt="29"/>
            </a:pPr>
            <a:endParaRPr sz="1000">
              <a:latin typeface="Times New Roman"/>
              <a:cs typeface="Times New Roman"/>
            </a:endParaRPr>
          </a:p>
          <a:p>
            <a:pPr algn="just" marL="12700" marR="5080" indent="495934">
              <a:lnSpc>
                <a:spcPct val="129500"/>
              </a:lnSpc>
              <a:buAutoNum type="arabicPlain" startAt="29"/>
              <a:tabLst>
                <a:tab pos="508634" algn="l"/>
              </a:tabLst>
            </a:pPr>
            <a:r>
              <a:rPr dirty="0" sz="1000">
                <a:latin typeface="Times New Roman"/>
                <a:cs typeface="Times New Roman"/>
              </a:rPr>
              <a:t>Shicai</a:t>
            </a:r>
            <a:r>
              <a:rPr dirty="0" sz="1000" spc="80">
                <a:latin typeface="Times New Roman"/>
                <a:cs typeface="Times New Roman"/>
              </a:rPr>
              <a:t> </a:t>
            </a:r>
            <a:r>
              <a:rPr dirty="0" sz="1000" spc="-10">
                <a:latin typeface="Times New Roman"/>
                <a:cs typeface="Times New Roman"/>
              </a:rPr>
              <a:t>Wei,</a:t>
            </a:r>
            <a:r>
              <a:rPr dirty="0" sz="1000" spc="80">
                <a:latin typeface="Times New Roman"/>
                <a:cs typeface="Times New Roman"/>
              </a:rPr>
              <a:t> </a:t>
            </a:r>
            <a:r>
              <a:rPr dirty="0" sz="1000" spc="-20">
                <a:latin typeface="Times New Roman"/>
                <a:cs typeface="Times New Roman"/>
              </a:rPr>
              <a:t>Yang</a:t>
            </a:r>
            <a:r>
              <a:rPr dirty="0" sz="1000" spc="80">
                <a:latin typeface="Times New Roman"/>
                <a:cs typeface="Times New Roman"/>
              </a:rPr>
              <a:t> </a:t>
            </a:r>
            <a:r>
              <a:rPr dirty="0" sz="1000">
                <a:latin typeface="Times New Roman"/>
                <a:cs typeface="Times New Roman"/>
              </a:rPr>
              <a:t>Luo,</a:t>
            </a:r>
            <a:r>
              <a:rPr dirty="0" sz="1000" spc="80">
                <a:latin typeface="Times New Roman"/>
                <a:cs typeface="Times New Roman"/>
              </a:rPr>
              <a:t> </a:t>
            </a:r>
            <a:r>
              <a:rPr dirty="0" sz="1000">
                <a:latin typeface="Times New Roman"/>
                <a:cs typeface="Times New Roman"/>
              </a:rPr>
              <a:t>Xiaoguang</a:t>
            </a:r>
            <a:r>
              <a:rPr dirty="0" sz="1000" spc="80">
                <a:latin typeface="Times New Roman"/>
                <a:cs typeface="Times New Roman"/>
              </a:rPr>
              <a:t> </a:t>
            </a:r>
            <a:r>
              <a:rPr dirty="0" sz="1000">
                <a:latin typeface="Times New Roman"/>
                <a:cs typeface="Times New Roman"/>
              </a:rPr>
              <a:t>Ma,</a:t>
            </a:r>
            <a:r>
              <a:rPr dirty="0" sz="1000" spc="80">
                <a:latin typeface="Times New Roman"/>
                <a:cs typeface="Times New Roman"/>
              </a:rPr>
              <a:t> </a:t>
            </a:r>
            <a:r>
              <a:rPr dirty="0" sz="1000">
                <a:latin typeface="Times New Roman"/>
                <a:cs typeface="Times New Roman"/>
              </a:rPr>
              <a:t>and</a:t>
            </a:r>
            <a:r>
              <a:rPr dirty="0" sz="1000" spc="80">
                <a:latin typeface="Times New Roman"/>
                <a:cs typeface="Times New Roman"/>
              </a:rPr>
              <a:t> </a:t>
            </a:r>
            <a:r>
              <a:rPr dirty="0" sz="1000">
                <a:latin typeface="Times New Roman"/>
                <a:cs typeface="Times New Roman"/>
              </a:rPr>
              <a:t>Ren</a:t>
            </a:r>
            <a:r>
              <a:rPr dirty="0" sz="1000" spc="80">
                <a:latin typeface="Times New Roman"/>
                <a:cs typeface="Times New Roman"/>
              </a:rPr>
              <a:t> </a:t>
            </a:r>
            <a:r>
              <a:rPr dirty="0" sz="1000">
                <a:latin typeface="Times New Roman"/>
                <a:cs typeface="Times New Roman"/>
              </a:rPr>
              <a:t>Peng.</a:t>
            </a:r>
            <a:r>
              <a:rPr dirty="0" sz="1000" spc="215">
                <a:latin typeface="Times New Roman"/>
                <a:cs typeface="Times New Roman"/>
              </a:rPr>
              <a:t> </a:t>
            </a:r>
            <a:r>
              <a:rPr dirty="0" sz="1000">
                <a:latin typeface="Times New Roman"/>
                <a:cs typeface="Times New Roman"/>
              </a:rPr>
              <a:t>Msh-net:</a:t>
            </a:r>
            <a:r>
              <a:rPr dirty="0" sz="1000" spc="195">
                <a:latin typeface="Times New Roman"/>
                <a:cs typeface="Times New Roman"/>
              </a:rPr>
              <a:t> </a:t>
            </a:r>
            <a:r>
              <a:rPr dirty="0" sz="1000">
                <a:latin typeface="Times New Roman"/>
                <a:cs typeface="Times New Roman"/>
              </a:rPr>
              <a:t>Modality-shared</a:t>
            </a:r>
            <a:r>
              <a:rPr dirty="0" sz="1000" spc="80">
                <a:latin typeface="Times New Roman"/>
                <a:cs typeface="Times New Roman"/>
              </a:rPr>
              <a:t> </a:t>
            </a:r>
            <a:r>
              <a:rPr dirty="0" sz="1000">
                <a:latin typeface="Times New Roman"/>
                <a:cs typeface="Times New Roman"/>
              </a:rPr>
              <a:t>hallucination</a:t>
            </a:r>
            <a:r>
              <a:rPr dirty="0" sz="1000" spc="80">
                <a:latin typeface="Times New Roman"/>
                <a:cs typeface="Times New Roman"/>
              </a:rPr>
              <a:t> </a:t>
            </a:r>
            <a:r>
              <a:rPr dirty="0" sz="1000" spc="-20">
                <a:latin typeface="Times New Roman"/>
                <a:cs typeface="Times New Roman"/>
              </a:rPr>
              <a:t>with </a:t>
            </a:r>
            <a:r>
              <a:rPr dirty="0" sz="1000" spc="10">
                <a:latin typeface="Times New Roman"/>
                <a:cs typeface="Times New Roman"/>
              </a:rPr>
              <a:t>joint</a:t>
            </a:r>
            <a:r>
              <a:rPr dirty="0" sz="1000" spc="55">
                <a:latin typeface="Times New Roman"/>
                <a:cs typeface="Times New Roman"/>
              </a:rPr>
              <a:t> </a:t>
            </a:r>
            <a:r>
              <a:rPr dirty="0" sz="1000" spc="10">
                <a:latin typeface="Times New Roman"/>
                <a:cs typeface="Times New Roman"/>
              </a:rPr>
              <a:t>adaptation</a:t>
            </a:r>
            <a:r>
              <a:rPr dirty="0" sz="1000" spc="60">
                <a:latin typeface="Times New Roman"/>
                <a:cs typeface="Times New Roman"/>
              </a:rPr>
              <a:t> </a:t>
            </a:r>
            <a:r>
              <a:rPr dirty="0" sz="1000" spc="10">
                <a:latin typeface="Times New Roman"/>
                <a:cs typeface="Times New Roman"/>
              </a:rPr>
              <a:t>distillation</a:t>
            </a:r>
            <a:r>
              <a:rPr dirty="0" sz="1000" spc="60">
                <a:latin typeface="Times New Roman"/>
                <a:cs typeface="Times New Roman"/>
              </a:rPr>
              <a:t> </a:t>
            </a:r>
            <a:r>
              <a:rPr dirty="0" sz="1000" spc="10">
                <a:latin typeface="Times New Roman"/>
                <a:cs typeface="Times New Roman"/>
              </a:rPr>
              <a:t>for</a:t>
            </a:r>
            <a:r>
              <a:rPr dirty="0" sz="1000" spc="65">
                <a:latin typeface="Times New Roman"/>
                <a:cs typeface="Times New Roman"/>
              </a:rPr>
              <a:t> </a:t>
            </a:r>
            <a:r>
              <a:rPr dirty="0" sz="1000" spc="10">
                <a:latin typeface="Times New Roman"/>
                <a:cs typeface="Times New Roman"/>
              </a:rPr>
              <a:t>remote</a:t>
            </a:r>
            <a:r>
              <a:rPr dirty="0" sz="1000" spc="55">
                <a:latin typeface="Times New Roman"/>
                <a:cs typeface="Times New Roman"/>
              </a:rPr>
              <a:t> </a:t>
            </a:r>
            <a:r>
              <a:rPr dirty="0" sz="1000" spc="10">
                <a:latin typeface="Times New Roman"/>
                <a:cs typeface="Times New Roman"/>
              </a:rPr>
              <a:t>sensing</a:t>
            </a:r>
            <a:r>
              <a:rPr dirty="0" sz="1000" spc="55">
                <a:latin typeface="Times New Roman"/>
                <a:cs typeface="Times New Roman"/>
              </a:rPr>
              <a:t> </a:t>
            </a:r>
            <a:r>
              <a:rPr dirty="0" sz="1000" spc="10">
                <a:latin typeface="Times New Roman"/>
                <a:cs typeface="Times New Roman"/>
              </a:rPr>
              <a:t>image</a:t>
            </a:r>
            <a:r>
              <a:rPr dirty="0" sz="1000" spc="65">
                <a:latin typeface="Times New Roman"/>
                <a:cs typeface="Times New Roman"/>
              </a:rPr>
              <a:t> </a:t>
            </a:r>
            <a:r>
              <a:rPr dirty="0" sz="1000" spc="10">
                <a:latin typeface="Times New Roman"/>
                <a:cs typeface="Times New Roman"/>
              </a:rPr>
              <a:t>classification</a:t>
            </a:r>
            <a:r>
              <a:rPr dirty="0" sz="1000" spc="60">
                <a:latin typeface="Times New Roman"/>
                <a:cs typeface="Times New Roman"/>
              </a:rPr>
              <a:t> </a:t>
            </a:r>
            <a:r>
              <a:rPr dirty="0" sz="1000" spc="10">
                <a:latin typeface="Times New Roman"/>
                <a:cs typeface="Times New Roman"/>
              </a:rPr>
              <a:t>using</a:t>
            </a:r>
            <a:r>
              <a:rPr dirty="0" sz="1000" spc="60">
                <a:latin typeface="Times New Roman"/>
                <a:cs typeface="Times New Roman"/>
              </a:rPr>
              <a:t> </a:t>
            </a:r>
            <a:r>
              <a:rPr dirty="0" sz="1000" spc="10">
                <a:latin typeface="Times New Roman"/>
                <a:cs typeface="Times New Roman"/>
              </a:rPr>
              <a:t>missing</a:t>
            </a:r>
            <a:r>
              <a:rPr dirty="0" sz="1000" spc="60">
                <a:latin typeface="Times New Roman"/>
                <a:cs typeface="Times New Roman"/>
              </a:rPr>
              <a:t> </a:t>
            </a:r>
            <a:r>
              <a:rPr dirty="0" sz="1000" spc="10">
                <a:latin typeface="Times New Roman"/>
                <a:cs typeface="Times New Roman"/>
              </a:rPr>
              <a:t>modalities.</a:t>
            </a:r>
            <a:r>
              <a:rPr dirty="0" sz="1000" spc="170">
                <a:latin typeface="Times New Roman"/>
                <a:cs typeface="Times New Roman"/>
              </a:rPr>
              <a:t> </a:t>
            </a:r>
            <a:r>
              <a:rPr dirty="0" sz="1000" spc="10">
                <a:latin typeface="Times New Roman"/>
                <a:cs typeface="Times New Roman"/>
              </a:rPr>
              <a:t>IEEE</a:t>
            </a:r>
            <a:r>
              <a:rPr dirty="0" sz="1000" spc="65">
                <a:latin typeface="Times New Roman"/>
                <a:cs typeface="Times New Roman"/>
              </a:rPr>
              <a:t> </a:t>
            </a:r>
            <a:r>
              <a:rPr dirty="0" sz="1000" spc="-10">
                <a:latin typeface="Times New Roman"/>
                <a:cs typeface="Times New Roman"/>
              </a:rPr>
              <a:t>Transac- </a:t>
            </a:r>
            <a:r>
              <a:rPr dirty="0" sz="1000">
                <a:latin typeface="Times New Roman"/>
                <a:cs typeface="Times New Roman"/>
              </a:rPr>
              <a:t>tions</a:t>
            </a:r>
            <a:r>
              <a:rPr dirty="0" sz="1000" spc="50">
                <a:latin typeface="Times New Roman"/>
                <a:cs typeface="Times New Roman"/>
              </a:rPr>
              <a:t> </a:t>
            </a:r>
            <a:r>
              <a:rPr dirty="0" sz="1000">
                <a:latin typeface="Times New Roman"/>
                <a:cs typeface="Times New Roman"/>
              </a:rPr>
              <a:t>on</a:t>
            </a:r>
            <a:r>
              <a:rPr dirty="0" sz="1000" spc="50">
                <a:latin typeface="Times New Roman"/>
                <a:cs typeface="Times New Roman"/>
              </a:rPr>
              <a:t> </a:t>
            </a:r>
            <a:r>
              <a:rPr dirty="0" sz="1000">
                <a:latin typeface="Times New Roman"/>
                <a:cs typeface="Times New Roman"/>
              </a:rPr>
              <a:t>Geoscience</a:t>
            </a:r>
            <a:r>
              <a:rPr dirty="0" sz="1000" spc="50">
                <a:latin typeface="Times New Roman"/>
                <a:cs typeface="Times New Roman"/>
              </a:rPr>
              <a:t> </a:t>
            </a:r>
            <a:r>
              <a:rPr dirty="0" sz="1000">
                <a:latin typeface="Times New Roman"/>
                <a:cs typeface="Times New Roman"/>
              </a:rPr>
              <a:t>and</a:t>
            </a:r>
            <a:r>
              <a:rPr dirty="0" sz="1000" spc="55">
                <a:latin typeface="Times New Roman"/>
                <a:cs typeface="Times New Roman"/>
              </a:rPr>
              <a:t> </a:t>
            </a:r>
            <a:r>
              <a:rPr dirty="0" sz="1000">
                <a:latin typeface="Times New Roman"/>
                <a:cs typeface="Times New Roman"/>
              </a:rPr>
              <a:t>Remote</a:t>
            </a:r>
            <a:r>
              <a:rPr dirty="0" sz="1000" spc="50">
                <a:latin typeface="Times New Roman"/>
                <a:cs typeface="Times New Roman"/>
              </a:rPr>
              <a:t> </a:t>
            </a:r>
            <a:r>
              <a:rPr dirty="0" sz="1000">
                <a:latin typeface="Times New Roman"/>
                <a:cs typeface="Times New Roman"/>
              </a:rPr>
              <a:t>Sensing,</a:t>
            </a:r>
            <a:r>
              <a:rPr dirty="0" sz="1000" spc="50">
                <a:latin typeface="Times New Roman"/>
                <a:cs typeface="Times New Roman"/>
              </a:rPr>
              <a:t> </a:t>
            </a:r>
            <a:r>
              <a:rPr dirty="0" sz="1000" spc="-20">
                <a:latin typeface="Times New Roman"/>
                <a:cs typeface="Times New Roman"/>
              </a:rPr>
              <a:t>61:1-</a:t>
            </a:r>
            <a:r>
              <a:rPr dirty="0" sz="1000">
                <a:latin typeface="Times New Roman"/>
                <a:cs typeface="Times New Roman"/>
              </a:rPr>
              <a:t>15,</a:t>
            </a:r>
            <a:r>
              <a:rPr dirty="0" sz="1000" spc="55">
                <a:latin typeface="Times New Roman"/>
                <a:cs typeface="Times New Roman"/>
              </a:rPr>
              <a:t> </a:t>
            </a:r>
            <a:r>
              <a:rPr dirty="0" sz="1000">
                <a:latin typeface="Times New Roman"/>
                <a:cs typeface="Times New Roman"/>
              </a:rPr>
              <a:t>2023.</a:t>
            </a:r>
            <a:r>
              <a:rPr dirty="0" sz="1000" spc="155">
                <a:latin typeface="Times New Roman"/>
                <a:cs typeface="Times New Roman"/>
              </a:rPr>
              <a:t> </a:t>
            </a:r>
            <a:r>
              <a:rPr dirty="0" sz="1000" spc="-50">
                <a:latin typeface="Times New Roman"/>
                <a:cs typeface="Times New Roman"/>
              </a:rPr>
              <a:t>1</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192405" marR="184785" indent="244475">
              <a:lnSpc>
                <a:spcPct val="129500"/>
              </a:lnSpc>
              <a:buFont typeface="Times New Roman"/>
              <a:buAutoNum type="arabicPlain" startAt="30"/>
              <a:tabLst>
                <a:tab pos="436880" algn="l"/>
              </a:tabLst>
            </a:pPr>
            <a:r>
              <a:rPr dirty="0" sz="1000" spc="-10">
                <a:latin typeface="SimSun"/>
                <a:cs typeface="SimSun"/>
              </a:rPr>
              <a:t>魏世才、罗阳、马晓光和彭仁。</a:t>
            </a:r>
            <a:r>
              <a:rPr dirty="0" sz="1000">
                <a:latin typeface="Times New Roman"/>
                <a:cs typeface="Times New Roman"/>
              </a:rPr>
              <a:t>Msh - net: </a:t>
            </a:r>
            <a:r>
              <a:rPr dirty="0" sz="1000" spc="-15">
                <a:latin typeface="SimSun"/>
                <a:cs typeface="SimSun"/>
              </a:rPr>
              <a:t>使用缺失模态的联合自适应蒸馏进行模态共享幻觉</a:t>
            </a:r>
            <a:r>
              <a:rPr dirty="0" sz="1000" spc="-10">
                <a:latin typeface="SimSun"/>
                <a:cs typeface="SimSun"/>
              </a:rPr>
              <a:t>用于遥感图像分类。</a:t>
            </a:r>
            <a:r>
              <a:rPr dirty="0" sz="1000">
                <a:latin typeface="Times New Roman"/>
                <a:cs typeface="Times New Roman"/>
              </a:rPr>
              <a:t>IEEE</a:t>
            </a:r>
            <a:r>
              <a:rPr dirty="0" sz="1000" spc="-20">
                <a:latin typeface="Times New Roman"/>
                <a:cs typeface="Times New Roman"/>
              </a:rPr>
              <a:t> </a:t>
            </a:r>
            <a:r>
              <a:rPr dirty="0" sz="1000" spc="-10">
                <a:latin typeface="SimSun"/>
                <a:cs typeface="SimSun"/>
              </a:rPr>
              <a:t>地球科学与遥感汇刊，</a:t>
            </a:r>
            <a:r>
              <a:rPr dirty="0" sz="1000" spc="-10">
                <a:latin typeface="Times New Roman"/>
                <a:cs typeface="Times New Roman"/>
              </a:rPr>
              <a:t>61:1</a:t>
            </a:r>
            <a:r>
              <a:rPr dirty="0" sz="1000" spc="-15">
                <a:latin typeface="Times New Roman"/>
                <a:cs typeface="Times New Roman"/>
              </a:rPr>
              <a:t> - </a:t>
            </a:r>
            <a:r>
              <a:rPr dirty="0" sz="1000" spc="-10">
                <a:latin typeface="Times New Roman"/>
                <a:cs typeface="Times New Roman"/>
              </a:rPr>
              <a:t>15</a:t>
            </a:r>
            <a:r>
              <a:rPr dirty="0" sz="1000" spc="-10">
                <a:latin typeface="SimSun"/>
                <a:cs typeface="SimSun"/>
              </a:rPr>
              <a:t>，</a:t>
            </a:r>
            <a:r>
              <a:rPr dirty="0" sz="1000" spc="-10">
                <a:latin typeface="Times New Roman"/>
                <a:cs typeface="Times New Roman"/>
              </a:rPr>
              <a:t>2023</a:t>
            </a:r>
            <a:r>
              <a:rPr dirty="0" sz="1000" spc="-20">
                <a:latin typeface="Times New Roman"/>
                <a:cs typeface="Times New Roman"/>
              </a:rPr>
              <a:t> </a:t>
            </a:r>
            <a:r>
              <a:rPr dirty="0" sz="1000" spc="-10">
                <a:latin typeface="SimSun"/>
                <a:cs typeface="SimSun"/>
              </a:rPr>
              <a:t>年。</a:t>
            </a:r>
            <a:r>
              <a:rPr dirty="0" sz="1000" spc="-50">
                <a:latin typeface="Times New Roman"/>
                <a:cs typeface="Times New Roman"/>
              </a:rPr>
              <a:t>1</a:t>
            </a:r>
            <a:endParaRPr sz="1000">
              <a:latin typeface="Times New Roman"/>
              <a:cs typeface="Times New Roman"/>
            </a:endParaRPr>
          </a:p>
          <a:p>
            <a:pPr>
              <a:lnSpc>
                <a:spcPct val="100000"/>
              </a:lnSpc>
              <a:spcBef>
                <a:spcPts val="204"/>
              </a:spcBef>
              <a:buFont typeface="Times New Roman"/>
              <a:buAutoNum type="arabicPlain" startAt="30"/>
            </a:pPr>
            <a:endParaRPr sz="1000">
              <a:latin typeface="Times New Roman"/>
              <a:cs typeface="Times New Roman"/>
            </a:endParaRPr>
          </a:p>
          <a:p>
            <a:pPr algn="just" marL="12700" marR="5080" indent="494030">
              <a:lnSpc>
                <a:spcPct val="129500"/>
              </a:lnSpc>
              <a:buAutoNum type="arabicPlain" startAt="30"/>
              <a:tabLst>
                <a:tab pos="506730" algn="l"/>
              </a:tabLst>
            </a:pPr>
            <a:r>
              <a:rPr dirty="0" sz="1000">
                <a:latin typeface="Times New Roman"/>
                <a:cs typeface="Times New Roman"/>
              </a:rPr>
              <a:t>Shicai</a:t>
            </a:r>
            <a:r>
              <a:rPr dirty="0" sz="1000" spc="55">
                <a:latin typeface="Times New Roman"/>
                <a:cs typeface="Times New Roman"/>
              </a:rPr>
              <a:t> </a:t>
            </a:r>
            <a:r>
              <a:rPr dirty="0" sz="1000" spc="-20">
                <a:latin typeface="Times New Roman"/>
                <a:cs typeface="Times New Roman"/>
              </a:rPr>
              <a:t>Wei,</a:t>
            </a:r>
            <a:r>
              <a:rPr dirty="0" sz="1000" spc="60">
                <a:latin typeface="Times New Roman"/>
                <a:cs typeface="Times New Roman"/>
              </a:rPr>
              <a:t> </a:t>
            </a:r>
            <a:r>
              <a:rPr dirty="0" sz="1000" spc="-20">
                <a:latin typeface="Times New Roman"/>
                <a:cs typeface="Times New Roman"/>
              </a:rPr>
              <a:t>Yang</a:t>
            </a:r>
            <a:r>
              <a:rPr dirty="0" sz="1000" spc="50">
                <a:latin typeface="Times New Roman"/>
                <a:cs typeface="Times New Roman"/>
              </a:rPr>
              <a:t> </a:t>
            </a:r>
            <a:r>
              <a:rPr dirty="0" sz="1000">
                <a:latin typeface="Times New Roman"/>
                <a:cs typeface="Times New Roman"/>
              </a:rPr>
              <a:t>Luo,</a:t>
            </a:r>
            <a:r>
              <a:rPr dirty="0" sz="1000" spc="55">
                <a:latin typeface="Times New Roman"/>
                <a:cs typeface="Times New Roman"/>
              </a:rPr>
              <a:t> </a:t>
            </a:r>
            <a:r>
              <a:rPr dirty="0" sz="1000" spc="-20">
                <a:latin typeface="Times New Roman"/>
                <a:cs typeface="Times New Roman"/>
              </a:rPr>
              <a:t>Yuji</a:t>
            </a:r>
            <a:r>
              <a:rPr dirty="0" sz="1000" spc="50">
                <a:latin typeface="Times New Roman"/>
                <a:cs typeface="Times New Roman"/>
              </a:rPr>
              <a:t> </a:t>
            </a:r>
            <a:r>
              <a:rPr dirty="0" sz="1000">
                <a:latin typeface="Times New Roman"/>
                <a:cs typeface="Times New Roman"/>
              </a:rPr>
              <a:t>Wang,</a:t>
            </a:r>
            <a:r>
              <a:rPr dirty="0" sz="1000" spc="60">
                <a:latin typeface="Times New Roman"/>
                <a:cs typeface="Times New Roman"/>
              </a:rPr>
              <a:t> </a:t>
            </a:r>
            <a:r>
              <a:rPr dirty="0" sz="1000">
                <a:latin typeface="Times New Roman"/>
                <a:cs typeface="Times New Roman"/>
              </a:rPr>
              <a:t>and</a:t>
            </a:r>
            <a:r>
              <a:rPr dirty="0" sz="1000" spc="55">
                <a:latin typeface="Times New Roman"/>
                <a:cs typeface="Times New Roman"/>
              </a:rPr>
              <a:t> </a:t>
            </a:r>
            <a:r>
              <a:rPr dirty="0" sz="1000">
                <a:latin typeface="Times New Roman"/>
                <a:cs typeface="Times New Roman"/>
              </a:rPr>
              <a:t>Chunbo</a:t>
            </a:r>
            <a:r>
              <a:rPr dirty="0" sz="1000" spc="60">
                <a:latin typeface="Times New Roman"/>
                <a:cs typeface="Times New Roman"/>
              </a:rPr>
              <a:t> </a:t>
            </a:r>
            <a:r>
              <a:rPr dirty="0" sz="1000">
                <a:latin typeface="Times New Roman"/>
                <a:cs typeface="Times New Roman"/>
              </a:rPr>
              <a:t>Luo.</a:t>
            </a:r>
            <a:r>
              <a:rPr dirty="0" sz="1000" spc="165">
                <a:latin typeface="Times New Roman"/>
                <a:cs typeface="Times New Roman"/>
              </a:rPr>
              <a:t> </a:t>
            </a:r>
            <a:r>
              <a:rPr dirty="0" sz="1000">
                <a:latin typeface="Times New Roman"/>
                <a:cs typeface="Times New Roman"/>
              </a:rPr>
              <a:t>Robust</a:t>
            </a:r>
            <a:r>
              <a:rPr dirty="0" sz="1000" spc="50">
                <a:latin typeface="Times New Roman"/>
                <a:cs typeface="Times New Roman"/>
              </a:rPr>
              <a:t> </a:t>
            </a:r>
            <a:r>
              <a:rPr dirty="0" sz="1000">
                <a:latin typeface="Times New Roman"/>
                <a:cs typeface="Times New Roman"/>
              </a:rPr>
              <a:t>multimodal</a:t>
            </a:r>
            <a:r>
              <a:rPr dirty="0" sz="1000" spc="60">
                <a:latin typeface="Times New Roman"/>
                <a:cs typeface="Times New Roman"/>
              </a:rPr>
              <a:t> </a:t>
            </a:r>
            <a:r>
              <a:rPr dirty="0" sz="1000">
                <a:latin typeface="Times New Roman"/>
                <a:cs typeface="Times New Roman"/>
              </a:rPr>
              <a:t>learning</a:t>
            </a:r>
            <a:r>
              <a:rPr dirty="0" sz="1000" spc="55">
                <a:latin typeface="Times New Roman"/>
                <a:cs typeface="Times New Roman"/>
              </a:rPr>
              <a:t> </a:t>
            </a:r>
            <a:r>
              <a:rPr dirty="0" sz="1000">
                <a:latin typeface="Times New Roman"/>
                <a:cs typeface="Times New Roman"/>
              </a:rPr>
              <a:t>via</a:t>
            </a:r>
            <a:r>
              <a:rPr dirty="0" sz="1000" spc="60">
                <a:latin typeface="Times New Roman"/>
                <a:cs typeface="Times New Roman"/>
              </a:rPr>
              <a:t> </a:t>
            </a:r>
            <a:r>
              <a:rPr dirty="0" sz="1000" spc="-10">
                <a:latin typeface="Times New Roman"/>
                <a:cs typeface="Times New Roman"/>
              </a:rPr>
              <a:t>representation </a:t>
            </a:r>
            <a:r>
              <a:rPr dirty="0" sz="1000">
                <a:latin typeface="Times New Roman"/>
                <a:cs typeface="Times New Roman"/>
              </a:rPr>
              <a:t>decoupling.</a:t>
            </a:r>
            <a:r>
              <a:rPr dirty="0" sz="1000" spc="185">
                <a:latin typeface="Times New Roman"/>
                <a:cs typeface="Times New Roman"/>
              </a:rPr>
              <a:t> </a:t>
            </a:r>
            <a:r>
              <a:rPr dirty="0" sz="1000">
                <a:latin typeface="Times New Roman"/>
                <a:cs typeface="Times New Roman"/>
              </a:rPr>
              <a:t>In</a:t>
            </a:r>
            <a:r>
              <a:rPr dirty="0" sz="1000" spc="80">
                <a:latin typeface="Times New Roman"/>
                <a:cs typeface="Times New Roman"/>
              </a:rPr>
              <a:t> </a:t>
            </a:r>
            <a:r>
              <a:rPr dirty="0" sz="1000">
                <a:latin typeface="Times New Roman"/>
                <a:cs typeface="Times New Roman"/>
              </a:rPr>
              <a:t>European</a:t>
            </a:r>
            <a:r>
              <a:rPr dirty="0" sz="1000" spc="75">
                <a:latin typeface="Times New Roman"/>
                <a:cs typeface="Times New Roman"/>
              </a:rPr>
              <a:t> </a:t>
            </a:r>
            <a:r>
              <a:rPr dirty="0" sz="1000">
                <a:latin typeface="Times New Roman"/>
                <a:cs typeface="Times New Roman"/>
              </a:rPr>
              <a:t>Conference</a:t>
            </a:r>
            <a:r>
              <a:rPr dirty="0" sz="1000" spc="75">
                <a:latin typeface="Times New Roman"/>
                <a:cs typeface="Times New Roman"/>
              </a:rPr>
              <a:t> </a:t>
            </a:r>
            <a:r>
              <a:rPr dirty="0" sz="1000">
                <a:latin typeface="Times New Roman"/>
                <a:cs typeface="Times New Roman"/>
              </a:rPr>
              <a:t>on</a:t>
            </a:r>
            <a:r>
              <a:rPr dirty="0" sz="1000" spc="80">
                <a:latin typeface="Times New Roman"/>
                <a:cs typeface="Times New Roman"/>
              </a:rPr>
              <a:t> </a:t>
            </a:r>
            <a:r>
              <a:rPr dirty="0" sz="1000">
                <a:latin typeface="Times New Roman"/>
                <a:cs typeface="Times New Roman"/>
              </a:rPr>
              <a:t>Computer</a:t>
            </a:r>
            <a:r>
              <a:rPr dirty="0" sz="1000" spc="75">
                <a:latin typeface="Times New Roman"/>
                <a:cs typeface="Times New Roman"/>
              </a:rPr>
              <a:t> </a:t>
            </a:r>
            <a:r>
              <a:rPr dirty="0" sz="1000">
                <a:latin typeface="Times New Roman"/>
                <a:cs typeface="Times New Roman"/>
              </a:rPr>
              <a:t>Vision,</a:t>
            </a:r>
            <a:r>
              <a:rPr dirty="0" sz="1000" spc="75">
                <a:latin typeface="Times New Roman"/>
                <a:cs typeface="Times New Roman"/>
              </a:rPr>
              <a:t> </a:t>
            </a:r>
            <a:r>
              <a:rPr dirty="0" sz="1000">
                <a:latin typeface="Times New Roman"/>
                <a:cs typeface="Times New Roman"/>
              </a:rPr>
              <a:t>pages</a:t>
            </a:r>
            <a:r>
              <a:rPr dirty="0" sz="1000" spc="75">
                <a:latin typeface="Times New Roman"/>
                <a:cs typeface="Times New Roman"/>
              </a:rPr>
              <a:t> </a:t>
            </a:r>
            <a:r>
              <a:rPr dirty="0" sz="1000" spc="-20">
                <a:latin typeface="Times New Roman"/>
                <a:cs typeface="Times New Roman"/>
              </a:rPr>
              <a:t>38-</a:t>
            </a:r>
            <a:r>
              <a:rPr dirty="0" sz="1000">
                <a:latin typeface="Times New Roman"/>
                <a:cs typeface="Times New Roman"/>
              </a:rPr>
              <a:t>54.</a:t>
            </a:r>
            <a:r>
              <a:rPr dirty="0" sz="1000" spc="190">
                <a:latin typeface="Times New Roman"/>
                <a:cs typeface="Times New Roman"/>
              </a:rPr>
              <a:t> </a:t>
            </a:r>
            <a:r>
              <a:rPr dirty="0" sz="1000">
                <a:latin typeface="Times New Roman"/>
                <a:cs typeface="Times New Roman"/>
              </a:rPr>
              <a:t>Springer,</a:t>
            </a:r>
            <a:r>
              <a:rPr dirty="0" sz="1000" spc="80">
                <a:latin typeface="Times New Roman"/>
                <a:cs typeface="Times New Roman"/>
              </a:rPr>
              <a:t> </a:t>
            </a:r>
            <a:r>
              <a:rPr dirty="0" sz="1000">
                <a:latin typeface="Times New Roman"/>
                <a:cs typeface="Times New Roman"/>
              </a:rPr>
              <a:t>2025.</a:t>
            </a:r>
            <a:r>
              <a:rPr dirty="0" sz="1000" spc="190">
                <a:latin typeface="Times New Roman"/>
                <a:cs typeface="Times New Roman"/>
              </a:rPr>
              <a:t> </a:t>
            </a:r>
            <a:r>
              <a:rPr dirty="0" sz="1000" spc="-50">
                <a:latin typeface="Times New Roman"/>
                <a:cs typeface="Times New Roman"/>
              </a:rPr>
              <a:t>5</a:t>
            </a:r>
            <a:endParaRPr sz="1000">
              <a:latin typeface="Times New Roman"/>
              <a:cs typeface="Times New Roman"/>
            </a:endParaRPr>
          </a:p>
          <a:p>
            <a:pPr>
              <a:lnSpc>
                <a:spcPct val="100000"/>
              </a:lnSpc>
              <a:spcBef>
                <a:spcPts val="229"/>
              </a:spcBef>
            </a:pPr>
            <a:endParaRPr sz="1000">
              <a:latin typeface="Times New Roman"/>
              <a:cs typeface="Times New Roman"/>
            </a:endParaRPr>
          </a:p>
          <a:p>
            <a:pPr marL="192405" marR="184785" indent="241300">
              <a:lnSpc>
                <a:spcPct val="129500"/>
              </a:lnSpc>
              <a:buFont typeface="Times New Roman"/>
              <a:buAutoNum type="arabicPlain" startAt="31"/>
              <a:tabLst>
                <a:tab pos="433705" algn="l"/>
              </a:tabLst>
            </a:pPr>
            <a:r>
              <a:rPr dirty="0" sz="1000" spc="-50">
                <a:latin typeface="SimSun"/>
                <a:cs typeface="SimSun"/>
              </a:rPr>
              <a:t>魏世才、罗阳、王宇吉和罗春波。通过表示解耦实现鲁棒多模态学习。在欧洲计算机视觉会议</a:t>
            </a:r>
            <a:r>
              <a:rPr dirty="0" sz="1000" spc="-75">
                <a:latin typeface="SimSun"/>
                <a:cs typeface="SimSun"/>
              </a:rPr>
              <a:t>上，第 </a:t>
            </a:r>
            <a:r>
              <a:rPr dirty="0" sz="1000">
                <a:latin typeface="Times New Roman"/>
                <a:cs typeface="Times New Roman"/>
              </a:rPr>
              <a:t>38</a:t>
            </a:r>
            <a:r>
              <a:rPr dirty="0" sz="1000" spc="-30">
                <a:latin typeface="Times New Roman"/>
                <a:cs typeface="Times New Roman"/>
              </a:rPr>
              <a:t> - </a:t>
            </a:r>
            <a:r>
              <a:rPr dirty="0" sz="1000">
                <a:latin typeface="Times New Roman"/>
                <a:cs typeface="Times New Roman"/>
              </a:rPr>
              <a:t>54</a:t>
            </a:r>
            <a:r>
              <a:rPr dirty="0" sz="1000" spc="-30">
                <a:latin typeface="Times New Roman"/>
                <a:cs typeface="Times New Roman"/>
              </a:rPr>
              <a:t> </a:t>
            </a:r>
            <a:r>
              <a:rPr dirty="0" sz="1000" spc="-10">
                <a:latin typeface="SimSun"/>
                <a:cs typeface="SimSun"/>
              </a:rPr>
              <a:t>页。施普林格，</a:t>
            </a:r>
            <a:r>
              <a:rPr dirty="0" sz="1000" spc="-10">
                <a:latin typeface="Times New Roman"/>
                <a:cs typeface="Times New Roman"/>
              </a:rPr>
              <a:t>2025</a:t>
            </a:r>
            <a:r>
              <a:rPr dirty="0" sz="1000" spc="-35">
                <a:latin typeface="Times New Roman"/>
                <a:cs typeface="Times New Roman"/>
              </a:rPr>
              <a:t> </a:t>
            </a:r>
            <a:r>
              <a:rPr dirty="0" sz="1000" spc="-10">
                <a:latin typeface="SimSun"/>
                <a:cs typeface="SimSun"/>
              </a:rPr>
              <a:t>年。</a:t>
            </a:r>
            <a:r>
              <a:rPr dirty="0" sz="1000" spc="-50">
                <a:latin typeface="Times New Roman"/>
                <a:cs typeface="Times New Roman"/>
              </a:rPr>
              <a:t>5</a:t>
            </a:r>
            <a:endParaRPr sz="1000">
              <a:latin typeface="Times New Roman"/>
              <a:cs typeface="Times New Roman"/>
            </a:endParaRPr>
          </a:p>
          <a:p>
            <a:pPr>
              <a:lnSpc>
                <a:spcPct val="100000"/>
              </a:lnSpc>
              <a:spcBef>
                <a:spcPts val="204"/>
              </a:spcBef>
              <a:buFont typeface="Times New Roman"/>
              <a:buAutoNum type="arabicPlain" startAt="31"/>
            </a:pPr>
            <a:endParaRPr sz="1000">
              <a:latin typeface="Times New Roman"/>
              <a:cs typeface="Times New Roman"/>
            </a:endParaRPr>
          </a:p>
          <a:p>
            <a:pPr algn="just" marL="12700" marR="5080" indent="490855">
              <a:lnSpc>
                <a:spcPct val="129500"/>
              </a:lnSpc>
              <a:spcBef>
                <a:spcPts val="5"/>
              </a:spcBef>
              <a:buAutoNum type="arabicPlain" startAt="31"/>
              <a:tabLst>
                <a:tab pos="503555" algn="l"/>
              </a:tabLst>
            </a:pPr>
            <a:r>
              <a:rPr dirty="0" sz="1000" spc="-40">
                <a:latin typeface="Times New Roman"/>
                <a:cs typeface="Times New Roman"/>
              </a:rPr>
              <a:t>Yake</a:t>
            </a:r>
            <a:r>
              <a:rPr dirty="0" sz="1000" spc="90">
                <a:latin typeface="Times New Roman"/>
                <a:cs typeface="Times New Roman"/>
              </a:rPr>
              <a:t> </a:t>
            </a:r>
            <a:r>
              <a:rPr dirty="0" sz="1000" spc="-35">
                <a:latin typeface="Times New Roman"/>
                <a:cs typeface="Times New Roman"/>
              </a:rPr>
              <a:t>Wei</a:t>
            </a:r>
            <a:r>
              <a:rPr dirty="0" sz="1000" spc="90">
                <a:latin typeface="Times New Roman"/>
                <a:cs typeface="Times New Roman"/>
              </a:rPr>
              <a:t> </a:t>
            </a:r>
            <a:r>
              <a:rPr dirty="0" sz="1000">
                <a:latin typeface="Times New Roman"/>
                <a:cs typeface="Times New Roman"/>
              </a:rPr>
              <a:t>and</a:t>
            </a:r>
            <a:r>
              <a:rPr dirty="0" sz="1000" spc="90">
                <a:latin typeface="Times New Roman"/>
                <a:cs typeface="Times New Roman"/>
              </a:rPr>
              <a:t> </a:t>
            </a:r>
            <a:r>
              <a:rPr dirty="0" sz="1000">
                <a:latin typeface="Times New Roman"/>
                <a:cs typeface="Times New Roman"/>
              </a:rPr>
              <a:t>Di</a:t>
            </a:r>
            <a:r>
              <a:rPr dirty="0" sz="1000" spc="90">
                <a:latin typeface="Times New Roman"/>
                <a:cs typeface="Times New Roman"/>
              </a:rPr>
              <a:t> </a:t>
            </a:r>
            <a:r>
              <a:rPr dirty="0" sz="1000">
                <a:latin typeface="Times New Roman"/>
                <a:cs typeface="Times New Roman"/>
              </a:rPr>
              <a:t>Hu.</a:t>
            </a:r>
            <a:r>
              <a:rPr dirty="0" sz="1000" spc="265">
                <a:latin typeface="Times New Roman"/>
                <a:cs typeface="Times New Roman"/>
              </a:rPr>
              <a:t> </a:t>
            </a:r>
            <a:r>
              <a:rPr dirty="0" sz="1000">
                <a:latin typeface="Times New Roman"/>
                <a:cs typeface="Times New Roman"/>
              </a:rPr>
              <a:t>Mmpareto:</a:t>
            </a:r>
            <a:r>
              <a:rPr dirty="0" sz="1000" spc="250">
                <a:latin typeface="Times New Roman"/>
                <a:cs typeface="Times New Roman"/>
              </a:rPr>
              <a:t> </a:t>
            </a:r>
            <a:r>
              <a:rPr dirty="0" sz="1000">
                <a:latin typeface="Times New Roman"/>
                <a:cs typeface="Times New Roman"/>
              </a:rPr>
              <a:t>Boosting</a:t>
            </a:r>
            <a:r>
              <a:rPr dirty="0" sz="1000" spc="90">
                <a:latin typeface="Times New Roman"/>
                <a:cs typeface="Times New Roman"/>
              </a:rPr>
              <a:t> </a:t>
            </a:r>
            <a:r>
              <a:rPr dirty="0" sz="1000">
                <a:latin typeface="Times New Roman"/>
                <a:cs typeface="Times New Roman"/>
              </a:rPr>
              <a:t>multimodal</a:t>
            </a:r>
            <a:r>
              <a:rPr dirty="0" sz="1000" spc="90">
                <a:latin typeface="Times New Roman"/>
                <a:cs typeface="Times New Roman"/>
              </a:rPr>
              <a:t> </a:t>
            </a:r>
            <a:r>
              <a:rPr dirty="0" sz="1000">
                <a:latin typeface="Times New Roman"/>
                <a:cs typeface="Times New Roman"/>
              </a:rPr>
              <a:t>learning</a:t>
            </a:r>
            <a:r>
              <a:rPr dirty="0" sz="1000" spc="95">
                <a:latin typeface="Times New Roman"/>
                <a:cs typeface="Times New Roman"/>
              </a:rPr>
              <a:t> </a:t>
            </a:r>
            <a:r>
              <a:rPr dirty="0" sz="1000">
                <a:latin typeface="Times New Roman"/>
                <a:cs typeface="Times New Roman"/>
              </a:rPr>
              <a:t>with</a:t>
            </a:r>
            <a:r>
              <a:rPr dirty="0" sz="1000" spc="90">
                <a:latin typeface="Times New Roman"/>
                <a:cs typeface="Times New Roman"/>
              </a:rPr>
              <a:t> </a:t>
            </a:r>
            <a:r>
              <a:rPr dirty="0" sz="1000">
                <a:latin typeface="Times New Roman"/>
                <a:cs typeface="Times New Roman"/>
              </a:rPr>
              <a:t>innocent</a:t>
            </a:r>
            <a:r>
              <a:rPr dirty="0" sz="1000" spc="90">
                <a:latin typeface="Times New Roman"/>
                <a:cs typeface="Times New Roman"/>
              </a:rPr>
              <a:t> </a:t>
            </a:r>
            <a:r>
              <a:rPr dirty="0" sz="1000">
                <a:latin typeface="Times New Roman"/>
                <a:cs typeface="Times New Roman"/>
              </a:rPr>
              <a:t>unimodal</a:t>
            </a:r>
            <a:r>
              <a:rPr dirty="0" sz="1000" spc="90">
                <a:latin typeface="Times New Roman"/>
                <a:cs typeface="Times New Roman"/>
              </a:rPr>
              <a:t> </a:t>
            </a:r>
            <a:r>
              <a:rPr dirty="0" sz="1000" spc="-10">
                <a:latin typeface="Times New Roman"/>
                <a:cs typeface="Times New Roman"/>
              </a:rPr>
              <a:t>assistance. </a:t>
            </a:r>
            <a:r>
              <a:rPr dirty="0" sz="1000">
                <a:latin typeface="Times New Roman"/>
                <a:cs typeface="Times New Roman"/>
              </a:rPr>
              <a:t>arXiv</a:t>
            </a:r>
            <a:r>
              <a:rPr dirty="0" sz="1000" spc="-5">
                <a:latin typeface="Times New Roman"/>
                <a:cs typeface="Times New Roman"/>
              </a:rPr>
              <a:t> </a:t>
            </a:r>
            <a:r>
              <a:rPr dirty="0" sz="1000">
                <a:latin typeface="Times New Roman"/>
                <a:cs typeface="Times New Roman"/>
              </a:rPr>
              <a:t>preprint</a:t>
            </a:r>
            <a:r>
              <a:rPr dirty="0" sz="1000" spc="-5">
                <a:latin typeface="Times New Roman"/>
                <a:cs typeface="Times New Roman"/>
              </a:rPr>
              <a:t> </a:t>
            </a:r>
            <a:r>
              <a:rPr dirty="0" sz="1000" spc="-10">
                <a:latin typeface="Times New Roman"/>
                <a:cs typeface="Times New Roman"/>
              </a:rPr>
              <a:t>arXiv:2405.17730,</a:t>
            </a:r>
            <a:r>
              <a:rPr dirty="0" sz="1000">
                <a:latin typeface="Times New Roman"/>
                <a:cs typeface="Times New Roman"/>
              </a:rPr>
              <a:t> 2024.</a:t>
            </a:r>
            <a:r>
              <a:rPr dirty="0" sz="1000" spc="80">
                <a:latin typeface="Times New Roman"/>
                <a:cs typeface="Times New Roman"/>
              </a:rPr>
              <a:t> </a:t>
            </a:r>
            <a:r>
              <a:rPr dirty="0" sz="1000">
                <a:latin typeface="Times New Roman"/>
                <a:cs typeface="Times New Roman"/>
              </a:rPr>
              <a:t>1, 3,</a:t>
            </a:r>
            <a:r>
              <a:rPr dirty="0" sz="1000" spc="-5">
                <a:latin typeface="Times New Roman"/>
                <a:cs typeface="Times New Roman"/>
              </a:rPr>
              <a:t> </a:t>
            </a:r>
            <a:r>
              <a:rPr dirty="0" sz="1000">
                <a:latin typeface="Times New Roman"/>
                <a:cs typeface="Times New Roman"/>
              </a:rPr>
              <a:t>5, 6,</a:t>
            </a:r>
            <a:r>
              <a:rPr dirty="0" sz="1000" spc="-5">
                <a:latin typeface="Times New Roman"/>
                <a:cs typeface="Times New Roman"/>
              </a:rPr>
              <a:t> </a:t>
            </a:r>
            <a:r>
              <a:rPr dirty="0" sz="1000" spc="-50">
                <a:latin typeface="Times New Roman"/>
                <a:cs typeface="Times New Roman"/>
              </a:rPr>
              <a:t>7</a:t>
            </a:r>
            <a:endParaRPr sz="1000">
              <a:latin typeface="Times New Roman"/>
              <a:cs typeface="Times New Roman"/>
            </a:endParaRPr>
          </a:p>
        </p:txBody>
      </p:sp>
      <p:sp>
        <p:nvSpPr>
          <p:cNvPr id="24" name="object 24"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89"/>
            <a:ext cx="5760085" cy="537210"/>
            <a:chOff x="899998" y="899989"/>
            <a:chExt cx="5760085" cy="537210"/>
          </a:xfrm>
        </p:grpSpPr>
        <p:sp>
          <p:nvSpPr>
            <p:cNvPr id="3" name="object 3" descr=""/>
            <p:cNvSpPr/>
            <p:nvPr/>
          </p:nvSpPr>
          <p:spPr>
            <a:xfrm>
              <a:off x="899998" y="899989"/>
              <a:ext cx="5760085" cy="537210"/>
            </a:xfrm>
            <a:custGeom>
              <a:avLst/>
              <a:gdLst/>
              <a:ahLst/>
              <a:cxnLst/>
              <a:rect l="l" t="t" r="r" b="b"/>
              <a:pathLst>
                <a:path w="5760084" h="537210">
                  <a:moveTo>
                    <a:pt x="5724074" y="0"/>
                  </a:moveTo>
                  <a:lnTo>
                    <a:pt x="36000" y="0"/>
                  </a:lnTo>
                  <a:lnTo>
                    <a:pt x="21987" y="2829"/>
                  </a:lnTo>
                  <a:lnTo>
                    <a:pt x="10544" y="10544"/>
                  </a:lnTo>
                  <a:lnTo>
                    <a:pt x="2829" y="21987"/>
                  </a:lnTo>
                  <a:lnTo>
                    <a:pt x="0" y="36000"/>
                  </a:lnTo>
                  <a:lnTo>
                    <a:pt x="0" y="500621"/>
                  </a:lnTo>
                  <a:lnTo>
                    <a:pt x="2829" y="514634"/>
                  </a:lnTo>
                  <a:lnTo>
                    <a:pt x="10544" y="526078"/>
                  </a:lnTo>
                  <a:lnTo>
                    <a:pt x="21987" y="533793"/>
                  </a:lnTo>
                  <a:lnTo>
                    <a:pt x="36000" y="536622"/>
                  </a:lnTo>
                  <a:lnTo>
                    <a:pt x="5724074" y="536622"/>
                  </a:lnTo>
                  <a:lnTo>
                    <a:pt x="5738087" y="533793"/>
                  </a:lnTo>
                  <a:lnTo>
                    <a:pt x="5749530" y="526078"/>
                  </a:lnTo>
                  <a:lnTo>
                    <a:pt x="5757245" y="514634"/>
                  </a:lnTo>
                  <a:lnTo>
                    <a:pt x="5760074" y="500621"/>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89"/>
              <a:ext cx="5760085" cy="537210"/>
            </a:xfrm>
            <a:custGeom>
              <a:avLst/>
              <a:gdLst/>
              <a:ahLst/>
              <a:cxnLst/>
              <a:rect l="l" t="t" r="r" b="b"/>
              <a:pathLst>
                <a:path w="5760084" h="537210">
                  <a:moveTo>
                    <a:pt x="5724074" y="0"/>
                  </a:moveTo>
                  <a:lnTo>
                    <a:pt x="36000" y="0"/>
                  </a:lnTo>
                  <a:lnTo>
                    <a:pt x="21987" y="2829"/>
                  </a:lnTo>
                  <a:lnTo>
                    <a:pt x="10544" y="10544"/>
                  </a:lnTo>
                  <a:lnTo>
                    <a:pt x="2829" y="21987"/>
                  </a:lnTo>
                  <a:lnTo>
                    <a:pt x="0" y="36000"/>
                  </a:lnTo>
                  <a:lnTo>
                    <a:pt x="0" y="500621"/>
                  </a:lnTo>
                  <a:lnTo>
                    <a:pt x="2829" y="514634"/>
                  </a:lnTo>
                  <a:lnTo>
                    <a:pt x="10544" y="526078"/>
                  </a:lnTo>
                  <a:lnTo>
                    <a:pt x="21987" y="533793"/>
                  </a:lnTo>
                  <a:lnTo>
                    <a:pt x="36000" y="536622"/>
                  </a:lnTo>
                  <a:lnTo>
                    <a:pt x="5724074" y="536622"/>
                  </a:lnTo>
                  <a:lnTo>
                    <a:pt x="5738087" y="533793"/>
                  </a:lnTo>
                  <a:lnTo>
                    <a:pt x="5749530" y="526078"/>
                  </a:lnTo>
                  <a:lnTo>
                    <a:pt x="5757245" y="514634"/>
                  </a:lnTo>
                  <a:lnTo>
                    <a:pt x="5760074" y="500621"/>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028749"/>
            <a:ext cx="5760085" cy="546100"/>
            <a:chOff x="899998" y="2028749"/>
            <a:chExt cx="5760085" cy="546100"/>
          </a:xfrm>
        </p:grpSpPr>
        <p:sp>
          <p:nvSpPr>
            <p:cNvPr id="6" name="object 6" descr=""/>
            <p:cNvSpPr/>
            <p:nvPr/>
          </p:nvSpPr>
          <p:spPr>
            <a:xfrm>
              <a:off x="899998" y="2028749"/>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028749"/>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3364117"/>
            <a:ext cx="5760085" cy="743585"/>
            <a:chOff x="899998" y="3364117"/>
            <a:chExt cx="5760085" cy="743585"/>
          </a:xfrm>
        </p:grpSpPr>
        <p:sp>
          <p:nvSpPr>
            <p:cNvPr id="9" name="object 9" descr=""/>
            <p:cNvSpPr/>
            <p:nvPr/>
          </p:nvSpPr>
          <p:spPr>
            <a:xfrm>
              <a:off x="899998" y="3364117"/>
              <a:ext cx="5760085" cy="743585"/>
            </a:xfrm>
            <a:custGeom>
              <a:avLst/>
              <a:gdLst/>
              <a:ahLst/>
              <a:cxnLst/>
              <a:rect l="l" t="t" r="r" b="b"/>
              <a:pathLst>
                <a:path w="5760084" h="743585">
                  <a:moveTo>
                    <a:pt x="5724074" y="0"/>
                  </a:moveTo>
                  <a:lnTo>
                    <a:pt x="36000" y="0"/>
                  </a:lnTo>
                  <a:lnTo>
                    <a:pt x="21987" y="2829"/>
                  </a:lnTo>
                  <a:lnTo>
                    <a:pt x="10544" y="10544"/>
                  </a:lnTo>
                  <a:lnTo>
                    <a:pt x="2829" y="21987"/>
                  </a:lnTo>
                  <a:lnTo>
                    <a:pt x="0" y="36000"/>
                  </a:lnTo>
                  <a:lnTo>
                    <a:pt x="0" y="707367"/>
                  </a:lnTo>
                  <a:lnTo>
                    <a:pt x="2829" y="721380"/>
                  </a:lnTo>
                  <a:lnTo>
                    <a:pt x="10544" y="732823"/>
                  </a:lnTo>
                  <a:lnTo>
                    <a:pt x="21987" y="740538"/>
                  </a:lnTo>
                  <a:lnTo>
                    <a:pt x="36000" y="743367"/>
                  </a:lnTo>
                  <a:lnTo>
                    <a:pt x="5724074" y="743367"/>
                  </a:lnTo>
                  <a:lnTo>
                    <a:pt x="5738087" y="740538"/>
                  </a:lnTo>
                  <a:lnTo>
                    <a:pt x="5749530" y="732823"/>
                  </a:lnTo>
                  <a:lnTo>
                    <a:pt x="5757245" y="721380"/>
                  </a:lnTo>
                  <a:lnTo>
                    <a:pt x="5760074" y="707367"/>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3364117"/>
              <a:ext cx="5760085" cy="743585"/>
            </a:xfrm>
            <a:custGeom>
              <a:avLst/>
              <a:gdLst/>
              <a:ahLst/>
              <a:cxnLst/>
              <a:rect l="l" t="t" r="r" b="b"/>
              <a:pathLst>
                <a:path w="5760084" h="743585">
                  <a:moveTo>
                    <a:pt x="5724074" y="0"/>
                  </a:moveTo>
                  <a:lnTo>
                    <a:pt x="36000" y="0"/>
                  </a:lnTo>
                  <a:lnTo>
                    <a:pt x="21987" y="2829"/>
                  </a:lnTo>
                  <a:lnTo>
                    <a:pt x="10544" y="10544"/>
                  </a:lnTo>
                  <a:lnTo>
                    <a:pt x="2829" y="21987"/>
                  </a:lnTo>
                  <a:lnTo>
                    <a:pt x="0" y="36000"/>
                  </a:lnTo>
                  <a:lnTo>
                    <a:pt x="0" y="707367"/>
                  </a:lnTo>
                  <a:lnTo>
                    <a:pt x="2829" y="721380"/>
                  </a:lnTo>
                  <a:lnTo>
                    <a:pt x="10544" y="732823"/>
                  </a:lnTo>
                  <a:lnTo>
                    <a:pt x="21987" y="740538"/>
                  </a:lnTo>
                  <a:lnTo>
                    <a:pt x="36000" y="743367"/>
                  </a:lnTo>
                  <a:lnTo>
                    <a:pt x="5724074" y="743367"/>
                  </a:lnTo>
                  <a:lnTo>
                    <a:pt x="5738087" y="740538"/>
                  </a:lnTo>
                  <a:lnTo>
                    <a:pt x="5749530" y="732823"/>
                  </a:lnTo>
                  <a:lnTo>
                    <a:pt x="5757245" y="721380"/>
                  </a:lnTo>
                  <a:lnTo>
                    <a:pt x="5760074" y="707367"/>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1" name="object 11" descr=""/>
          <p:cNvGrpSpPr/>
          <p:nvPr/>
        </p:nvGrpSpPr>
        <p:grpSpPr>
          <a:xfrm>
            <a:off x="899998" y="4699622"/>
            <a:ext cx="5760085" cy="546100"/>
            <a:chOff x="899998" y="4699622"/>
            <a:chExt cx="5760085" cy="546100"/>
          </a:xfrm>
        </p:grpSpPr>
        <p:sp>
          <p:nvSpPr>
            <p:cNvPr id="12" name="object 12" descr=""/>
            <p:cNvSpPr/>
            <p:nvPr/>
          </p:nvSpPr>
          <p:spPr>
            <a:xfrm>
              <a:off x="899998" y="4699622"/>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985"/>
                  </a:lnTo>
                  <a:lnTo>
                    <a:pt x="2829" y="523998"/>
                  </a:lnTo>
                  <a:lnTo>
                    <a:pt x="10544" y="535441"/>
                  </a:lnTo>
                  <a:lnTo>
                    <a:pt x="21987" y="543156"/>
                  </a:lnTo>
                  <a:lnTo>
                    <a:pt x="36000" y="545985"/>
                  </a:lnTo>
                  <a:lnTo>
                    <a:pt x="5724074" y="545985"/>
                  </a:lnTo>
                  <a:lnTo>
                    <a:pt x="5738087" y="543156"/>
                  </a:lnTo>
                  <a:lnTo>
                    <a:pt x="5749530" y="535441"/>
                  </a:lnTo>
                  <a:lnTo>
                    <a:pt x="5757245" y="523998"/>
                  </a:lnTo>
                  <a:lnTo>
                    <a:pt x="5760074" y="50998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3" name="object 13" descr=""/>
            <p:cNvSpPr/>
            <p:nvPr/>
          </p:nvSpPr>
          <p:spPr>
            <a:xfrm>
              <a:off x="899998" y="4699622"/>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985"/>
                  </a:lnTo>
                  <a:lnTo>
                    <a:pt x="2829" y="523998"/>
                  </a:lnTo>
                  <a:lnTo>
                    <a:pt x="10544" y="535441"/>
                  </a:lnTo>
                  <a:lnTo>
                    <a:pt x="21987" y="543156"/>
                  </a:lnTo>
                  <a:lnTo>
                    <a:pt x="36000" y="545985"/>
                  </a:lnTo>
                  <a:lnTo>
                    <a:pt x="5724074" y="545985"/>
                  </a:lnTo>
                  <a:lnTo>
                    <a:pt x="5738087" y="543156"/>
                  </a:lnTo>
                  <a:lnTo>
                    <a:pt x="5749530" y="535441"/>
                  </a:lnTo>
                  <a:lnTo>
                    <a:pt x="5757245" y="523998"/>
                  </a:lnTo>
                  <a:lnTo>
                    <a:pt x="5760074" y="50998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4" name="object 14" descr=""/>
          <p:cNvGrpSpPr/>
          <p:nvPr/>
        </p:nvGrpSpPr>
        <p:grpSpPr>
          <a:xfrm>
            <a:off x="899998" y="6035112"/>
            <a:ext cx="5760085" cy="735330"/>
            <a:chOff x="899998" y="6035112"/>
            <a:chExt cx="5760085" cy="735330"/>
          </a:xfrm>
        </p:grpSpPr>
        <p:sp>
          <p:nvSpPr>
            <p:cNvPr id="15" name="object 15" descr=""/>
            <p:cNvSpPr/>
            <p:nvPr/>
          </p:nvSpPr>
          <p:spPr>
            <a:xfrm>
              <a:off x="899998" y="6035112"/>
              <a:ext cx="5760085" cy="735330"/>
            </a:xfrm>
            <a:custGeom>
              <a:avLst/>
              <a:gdLst/>
              <a:ahLst/>
              <a:cxnLst/>
              <a:rect l="l" t="t" r="r" b="b"/>
              <a:pathLst>
                <a:path w="5760084" h="735329">
                  <a:moveTo>
                    <a:pt x="5724074" y="0"/>
                  </a:moveTo>
                  <a:lnTo>
                    <a:pt x="36000" y="0"/>
                  </a:lnTo>
                  <a:lnTo>
                    <a:pt x="21987" y="2829"/>
                  </a:lnTo>
                  <a:lnTo>
                    <a:pt x="10544" y="10544"/>
                  </a:lnTo>
                  <a:lnTo>
                    <a:pt x="2829" y="21987"/>
                  </a:lnTo>
                  <a:lnTo>
                    <a:pt x="0" y="36000"/>
                  </a:lnTo>
                  <a:lnTo>
                    <a:pt x="0" y="699143"/>
                  </a:lnTo>
                  <a:lnTo>
                    <a:pt x="2829" y="713156"/>
                  </a:lnTo>
                  <a:lnTo>
                    <a:pt x="10544" y="724599"/>
                  </a:lnTo>
                  <a:lnTo>
                    <a:pt x="21987" y="732314"/>
                  </a:lnTo>
                  <a:lnTo>
                    <a:pt x="36000" y="735143"/>
                  </a:lnTo>
                  <a:lnTo>
                    <a:pt x="5724074" y="735143"/>
                  </a:lnTo>
                  <a:lnTo>
                    <a:pt x="5738087" y="732314"/>
                  </a:lnTo>
                  <a:lnTo>
                    <a:pt x="5749530" y="724599"/>
                  </a:lnTo>
                  <a:lnTo>
                    <a:pt x="5757245" y="713156"/>
                  </a:lnTo>
                  <a:lnTo>
                    <a:pt x="5760074" y="699143"/>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6" name="object 16" descr=""/>
            <p:cNvSpPr/>
            <p:nvPr/>
          </p:nvSpPr>
          <p:spPr>
            <a:xfrm>
              <a:off x="899998" y="6035112"/>
              <a:ext cx="5760085" cy="735330"/>
            </a:xfrm>
            <a:custGeom>
              <a:avLst/>
              <a:gdLst/>
              <a:ahLst/>
              <a:cxnLst/>
              <a:rect l="l" t="t" r="r" b="b"/>
              <a:pathLst>
                <a:path w="5760084" h="735329">
                  <a:moveTo>
                    <a:pt x="5724074" y="0"/>
                  </a:moveTo>
                  <a:lnTo>
                    <a:pt x="36000" y="0"/>
                  </a:lnTo>
                  <a:lnTo>
                    <a:pt x="21987" y="2829"/>
                  </a:lnTo>
                  <a:lnTo>
                    <a:pt x="10544" y="10544"/>
                  </a:lnTo>
                  <a:lnTo>
                    <a:pt x="2829" y="21987"/>
                  </a:lnTo>
                  <a:lnTo>
                    <a:pt x="0" y="36000"/>
                  </a:lnTo>
                  <a:lnTo>
                    <a:pt x="0" y="699143"/>
                  </a:lnTo>
                  <a:lnTo>
                    <a:pt x="2829" y="713156"/>
                  </a:lnTo>
                  <a:lnTo>
                    <a:pt x="10544" y="724599"/>
                  </a:lnTo>
                  <a:lnTo>
                    <a:pt x="21987" y="732314"/>
                  </a:lnTo>
                  <a:lnTo>
                    <a:pt x="36000" y="735143"/>
                  </a:lnTo>
                  <a:lnTo>
                    <a:pt x="5724074" y="735143"/>
                  </a:lnTo>
                  <a:lnTo>
                    <a:pt x="5738087" y="732314"/>
                  </a:lnTo>
                  <a:lnTo>
                    <a:pt x="5749530" y="724599"/>
                  </a:lnTo>
                  <a:lnTo>
                    <a:pt x="5757245" y="713156"/>
                  </a:lnTo>
                  <a:lnTo>
                    <a:pt x="5760074" y="699143"/>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17" name="object 17" descr=""/>
          <p:cNvGrpSpPr/>
          <p:nvPr/>
        </p:nvGrpSpPr>
        <p:grpSpPr>
          <a:xfrm>
            <a:off x="899998" y="7362390"/>
            <a:ext cx="5760085" cy="545465"/>
            <a:chOff x="899998" y="7362390"/>
            <a:chExt cx="5760085" cy="545465"/>
          </a:xfrm>
        </p:grpSpPr>
        <p:sp>
          <p:nvSpPr>
            <p:cNvPr id="18" name="object 18" descr=""/>
            <p:cNvSpPr/>
            <p:nvPr/>
          </p:nvSpPr>
          <p:spPr>
            <a:xfrm>
              <a:off x="899998" y="7362390"/>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9" name="object 19" descr=""/>
            <p:cNvSpPr/>
            <p:nvPr/>
          </p:nvSpPr>
          <p:spPr>
            <a:xfrm>
              <a:off x="899998" y="7362390"/>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20" name="object 20" descr=""/>
          <p:cNvGrpSpPr/>
          <p:nvPr/>
        </p:nvGrpSpPr>
        <p:grpSpPr>
          <a:xfrm>
            <a:off x="899998" y="8697135"/>
            <a:ext cx="5760085" cy="545465"/>
            <a:chOff x="899998" y="8697135"/>
            <a:chExt cx="5760085" cy="545465"/>
          </a:xfrm>
        </p:grpSpPr>
        <p:sp>
          <p:nvSpPr>
            <p:cNvPr id="21" name="object 21" descr=""/>
            <p:cNvSpPr/>
            <p:nvPr/>
          </p:nvSpPr>
          <p:spPr>
            <a:xfrm>
              <a:off x="899998" y="8697135"/>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22" name="object 22" descr=""/>
            <p:cNvSpPr/>
            <p:nvPr/>
          </p:nvSpPr>
          <p:spPr>
            <a:xfrm>
              <a:off x="899998" y="8697135"/>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225"/>
                  </a:lnTo>
                  <a:lnTo>
                    <a:pt x="2829" y="523238"/>
                  </a:lnTo>
                  <a:lnTo>
                    <a:pt x="10544" y="534681"/>
                  </a:lnTo>
                  <a:lnTo>
                    <a:pt x="21987" y="542396"/>
                  </a:lnTo>
                  <a:lnTo>
                    <a:pt x="36000" y="545225"/>
                  </a:lnTo>
                  <a:lnTo>
                    <a:pt x="5724074" y="545225"/>
                  </a:lnTo>
                  <a:lnTo>
                    <a:pt x="5738087" y="542396"/>
                  </a:lnTo>
                  <a:lnTo>
                    <a:pt x="5749530" y="534681"/>
                  </a:lnTo>
                  <a:lnTo>
                    <a:pt x="5757245" y="523238"/>
                  </a:lnTo>
                  <a:lnTo>
                    <a:pt x="5760074" y="509225"/>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23" name="object 23" descr=""/>
          <p:cNvSpPr txBox="1"/>
          <p:nvPr/>
        </p:nvSpPr>
        <p:spPr>
          <a:xfrm>
            <a:off x="887298" y="929774"/>
            <a:ext cx="5785485" cy="8785225"/>
          </a:xfrm>
          <a:prstGeom prst="rect">
            <a:avLst/>
          </a:prstGeom>
        </p:spPr>
        <p:txBody>
          <a:bodyPr wrap="square" lIns="0" tIns="12700" rIns="0" bIns="0" rtlCol="0" vert="horz">
            <a:spAutoFit/>
          </a:bodyPr>
          <a:lstStyle/>
          <a:p>
            <a:pPr marL="192405" marR="86995">
              <a:lnSpc>
                <a:spcPct val="129500"/>
              </a:lnSpc>
              <a:spcBef>
                <a:spcPts val="100"/>
              </a:spcBef>
            </a:pPr>
            <a:r>
              <a:rPr dirty="0" sz="1000">
                <a:latin typeface="Times New Roman"/>
                <a:cs typeface="Times New Roman"/>
              </a:rPr>
              <a:t>[32]</a:t>
            </a:r>
            <a:r>
              <a:rPr dirty="0" sz="1000" spc="-30">
                <a:latin typeface="Times New Roman"/>
                <a:cs typeface="Times New Roman"/>
              </a:rPr>
              <a:t> </a:t>
            </a:r>
            <a:r>
              <a:rPr dirty="0" sz="1000" spc="-90">
                <a:latin typeface="SimSun"/>
                <a:cs typeface="SimSun"/>
              </a:rPr>
              <a:t>魏亚克和胡迪。</a:t>
            </a:r>
            <a:r>
              <a:rPr dirty="0" sz="1000">
                <a:latin typeface="Times New Roman"/>
                <a:cs typeface="Times New Roman"/>
              </a:rPr>
              <a:t>Mmpareto:</a:t>
            </a:r>
            <a:r>
              <a:rPr dirty="0" sz="1000" spc="-15">
                <a:latin typeface="Times New Roman"/>
                <a:cs typeface="Times New Roman"/>
              </a:rPr>
              <a:t> </a:t>
            </a:r>
            <a:r>
              <a:rPr dirty="0" sz="1000" spc="-10">
                <a:latin typeface="SimSun"/>
                <a:cs typeface="SimSun"/>
              </a:rPr>
              <a:t>借助无害单模态辅助提升多模态学习</a:t>
            </a:r>
            <a:r>
              <a:rPr dirty="0" sz="1000" spc="-560">
                <a:latin typeface="SimSun"/>
                <a:cs typeface="SimSun"/>
              </a:rPr>
              <a:t>。</a:t>
            </a:r>
            <a:r>
              <a:rPr dirty="0" sz="1000" spc="-10">
                <a:latin typeface="Times New Roman"/>
                <a:cs typeface="Times New Roman"/>
              </a:rPr>
              <a:t>arXiv</a:t>
            </a:r>
            <a:r>
              <a:rPr dirty="0" sz="1000" spc="-15">
                <a:latin typeface="Times New Roman"/>
                <a:cs typeface="Times New Roman"/>
              </a:rPr>
              <a:t> </a:t>
            </a:r>
            <a:r>
              <a:rPr dirty="0" sz="1000" spc="45">
                <a:latin typeface="SimSun"/>
                <a:cs typeface="SimSun"/>
              </a:rPr>
              <a:t>预印本</a:t>
            </a:r>
            <a:r>
              <a:rPr dirty="0" sz="1000" spc="-10">
                <a:latin typeface="Times New Roman"/>
                <a:cs typeface="Times New Roman"/>
              </a:rPr>
              <a:t>arXiv:2405.17730</a:t>
            </a:r>
            <a:r>
              <a:rPr dirty="0" sz="1000" spc="-10">
                <a:latin typeface="SimSun"/>
                <a:cs typeface="SimSun"/>
              </a:rPr>
              <a:t>， </a:t>
            </a:r>
            <a:r>
              <a:rPr dirty="0" sz="1000">
                <a:latin typeface="Times New Roman"/>
                <a:cs typeface="Times New Roman"/>
              </a:rPr>
              <a:t>2024</a:t>
            </a:r>
            <a:r>
              <a:rPr dirty="0" sz="1000" spc="-40">
                <a:latin typeface="Times New Roman"/>
                <a:cs typeface="Times New Roman"/>
              </a:rPr>
              <a:t> </a:t>
            </a:r>
            <a:r>
              <a:rPr dirty="0" sz="1000" spc="-10">
                <a:latin typeface="SimSun"/>
                <a:cs typeface="SimSun"/>
              </a:rPr>
              <a:t>年。</a:t>
            </a:r>
            <a:r>
              <a:rPr dirty="0" sz="1000">
                <a:latin typeface="Times New Roman"/>
                <a:cs typeface="Times New Roman"/>
              </a:rPr>
              <a:t>1,</a:t>
            </a:r>
            <a:r>
              <a:rPr dirty="0" sz="1000" spc="-40">
                <a:latin typeface="Times New Roman"/>
                <a:cs typeface="Times New Roman"/>
              </a:rPr>
              <a:t> </a:t>
            </a:r>
            <a:r>
              <a:rPr dirty="0" sz="1000">
                <a:latin typeface="Times New Roman"/>
                <a:cs typeface="Times New Roman"/>
              </a:rPr>
              <a:t>3,</a:t>
            </a:r>
            <a:r>
              <a:rPr dirty="0" sz="1000" spc="-40">
                <a:latin typeface="Times New Roman"/>
                <a:cs typeface="Times New Roman"/>
              </a:rPr>
              <a:t> </a:t>
            </a:r>
            <a:r>
              <a:rPr dirty="0" sz="1000">
                <a:latin typeface="Times New Roman"/>
                <a:cs typeface="Times New Roman"/>
              </a:rPr>
              <a:t>5,</a:t>
            </a:r>
            <a:r>
              <a:rPr dirty="0" sz="1000" spc="-40">
                <a:latin typeface="Times New Roman"/>
                <a:cs typeface="Times New Roman"/>
              </a:rPr>
              <a:t> </a:t>
            </a:r>
            <a:r>
              <a:rPr dirty="0" sz="1000">
                <a:latin typeface="Times New Roman"/>
                <a:cs typeface="Times New Roman"/>
              </a:rPr>
              <a:t>6,</a:t>
            </a:r>
            <a:r>
              <a:rPr dirty="0" sz="1000" spc="-40">
                <a:latin typeface="Times New Roman"/>
                <a:cs typeface="Times New Roman"/>
              </a:rPr>
              <a:t> </a:t>
            </a:r>
            <a:r>
              <a:rPr dirty="0" sz="1000" spc="-50">
                <a:latin typeface="Times New Roman"/>
                <a:cs typeface="Times New Roman"/>
              </a:rPr>
              <a:t>7</a:t>
            </a:r>
            <a:endParaRPr sz="1000">
              <a:latin typeface="Times New Roman"/>
              <a:cs typeface="Times New Roman"/>
            </a:endParaRPr>
          </a:p>
          <a:p>
            <a:pPr>
              <a:lnSpc>
                <a:spcPct val="100000"/>
              </a:lnSpc>
              <a:spcBef>
                <a:spcPts val="140"/>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[33]</a:t>
            </a:r>
            <a:r>
              <a:rPr dirty="0" sz="1000" spc="20">
                <a:latin typeface="Times New Roman"/>
                <a:cs typeface="Times New Roman"/>
              </a:rPr>
              <a:t> </a:t>
            </a:r>
            <a:r>
              <a:rPr dirty="0" sz="1000" spc="-35">
                <a:latin typeface="Times New Roman"/>
                <a:cs typeface="Times New Roman"/>
              </a:rPr>
              <a:t>Yake</a:t>
            </a:r>
            <a:r>
              <a:rPr dirty="0" sz="1000" spc="20">
                <a:latin typeface="Times New Roman"/>
                <a:cs typeface="Times New Roman"/>
              </a:rPr>
              <a:t> </a:t>
            </a:r>
            <a:r>
              <a:rPr dirty="0" sz="1000" spc="-20">
                <a:latin typeface="Times New Roman"/>
                <a:cs typeface="Times New Roman"/>
              </a:rPr>
              <a:t>Wei,</a:t>
            </a:r>
            <a:r>
              <a:rPr dirty="0" sz="1000" spc="35">
                <a:latin typeface="Times New Roman"/>
                <a:cs typeface="Times New Roman"/>
              </a:rPr>
              <a:t> </a:t>
            </a:r>
            <a:r>
              <a:rPr dirty="0" sz="1000" spc="-10">
                <a:latin typeface="Times New Roman"/>
                <a:cs typeface="Times New Roman"/>
              </a:rPr>
              <a:t>Siwei</a:t>
            </a:r>
            <a:r>
              <a:rPr dirty="0" sz="1000" spc="20">
                <a:latin typeface="Times New Roman"/>
                <a:cs typeface="Times New Roman"/>
              </a:rPr>
              <a:t> </a:t>
            </a:r>
            <a:r>
              <a:rPr dirty="0" sz="1000" spc="-10">
                <a:latin typeface="Times New Roman"/>
                <a:cs typeface="Times New Roman"/>
              </a:rPr>
              <a:t>Li,</a:t>
            </a:r>
            <a:r>
              <a:rPr dirty="0" sz="1000" spc="40">
                <a:latin typeface="Times New Roman"/>
                <a:cs typeface="Times New Roman"/>
              </a:rPr>
              <a:t> </a:t>
            </a:r>
            <a:r>
              <a:rPr dirty="0" sz="1000">
                <a:latin typeface="Times New Roman"/>
                <a:cs typeface="Times New Roman"/>
              </a:rPr>
              <a:t>Ruoxuan</a:t>
            </a:r>
            <a:r>
              <a:rPr dirty="0" sz="1000" spc="20">
                <a:latin typeface="Times New Roman"/>
                <a:cs typeface="Times New Roman"/>
              </a:rPr>
              <a:t> </a:t>
            </a:r>
            <a:r>
              <a:rPr dirty="0" sz="1000">
                <a:latin typeface="Times New Roman"/>
                <a:cs typeface="Times New Roman"/>
              </a:rPr>
              <a:t>Feng,</a:t>
            </a:r>
            <a:r>
              <a:rPr dirty="0" sz="1000" spc="35">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Di</a:t>
            </a:r>
            <a:r>
              <a:rPr dirty="0" sz="1000" spc="30">
                <a:latin typeface="Times New Roman"/>
                <a:cs typeface="Times New Roman"/>
              </a:rPr>
              <a:t> </a:t>
            </a:r>
            <a:r>
              <a:rPr dirty="0" sz="1000">
                <a:latin typeface="Times New Roman"/>
                <a:cs typeface="Times New Roman"/>
              </a:rPr>
              <a:t>Hu.</a:t>
            </a:r>
            <a:r>
              <a:rPr dirty="0" sz="1000" spc="165">
                <a:latin typeface="Times New Roman"/>
                <a:cs typeface="Times New Roman"/>
              </a:rPr>
              <a:t> </a:t>
            </a:r>
            <a:r>
              <a:rPr dirty="0" sz="1000">
                <a:latin typeface="Times New Roman"/>
                <a:cs typeface="Times New Roman"/>
              </a:rPr>
              <a:t>Diagnosing</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re-learning</a:t>
            </a:r>
            <a:r>
              <a:rPr dirty="0" sz="1000" spc="25">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balanced</a:t>
            </a:r>
            <a:r>
              <a:rPr dirty="0" sz="1000" spc="30">
                <a:latin typeface="Times New Roman"/>
                <a:cs typeface="Times New Roman"/>
              </a:rPr>
              <a:t> </a:t>
            </a:r>
            <a:r>
              <a:rPr dirty="0" sz="1000" spc="-10">
                <a:latin typeface="Times New Roman"/>
                <a:cs typeface="Times New Roman"/>
              </a:rPr>
              <a:t>multimodal </a:t>
            </a:r>
            <a:r>
              <a:rPr dirty="0" sz="1000">
                <a:latin typeface="Times New Roman"/>
                <a:cs typeface="Times New Roman"/>
              </a:rPr>
              <a:t>learning.</a:t>
            </a:r>
            <a:r>
              <a:rPr dirty="0" sz="1000" spc="165">
                <a:latin typeface="Times New Roman"/>
                <a:cs typeface="Times New Roman"/>
              </a:rPr>
              <a:t> </a:t>
            </a:r>
            <a:r>
              <a:rPr dirty="0" sz="1000">
                <a:latin typeface="Times New Roman"/>
                <a:cs typeface="Times New Roman"/>
              </a:rPr>
              <a:t>In</a:t>
            </a:r>
            <a:r>
              <a:rPr dirty="0" sz="1000" spc="55">
                <a:latin typeface="Times New Roman"/>
                <a:cs typeface="Times New Roman"/>
              </a:rPr>
              <a:t> </a:t>
            </a:r>
            <a:r>
              <a:rPr dirty="0" sz="1000">
                <a:latin typeface="Times New Roman"/>
                <a:cs typeface="Times New Roman"/>
              </a:rPr>
              <a:t>European</a:t>
            </a:r>
            <a:r>
              <a:rPr dirty="0" sz="1000" spc="60">
                <a:latin typeface="Times New Roman"/>
                <a:cs typeface="Times New Roman"/>
              </a:rPr>
              <a:t> </a:t>
            </a:r>
            <a:r>
              <a:rPr dirty="0" sz="1000">
                <a:latin typeface="Times New Roman"/>
                <a:cs typeface="Times New Roman"/>
              </a:rPr>
              <a:t>Conference</a:t>
            </a:r>
            <a:r>
              <a:rPr dirty="0" sz="1000" spc="60">
                <a:latin typeface="Times New Roman"/>
                <a:cs typeface="Times New Roman"/>
              </a:rPr>
              <a:t> </a:t>
            </a:r>
            <a:r>
              <a:rPr dirty="0" sz="1000">
                <a:latin typeface="Times New Roman"/>
                <a:cs typeface="Times New Roman"/>
              </a:rPr>
              <a:t>on</a:t>
            </a:r>
            <a:r>
              <a:rPr dirty="0" sz="1000" spc="60">
                <a:latin typeface="Times New Roman"/>
                <a:cs typeface="Times New Roman"/>
              </a:rPr>
              <a:t> </a:t>
            </a:r>
            <a:r>
              <a:rPr dirty="0" sz="1000">
                <a:latin typeface="Times New Roman"/>
                <a:cs typeface="Times New Roman"/>
              </a:rPr>
              <a:t>Computer</a:t>
            </a:r>
            <a:r>
              <a:rPr dirty="0" sz="1000" spc="55">
                <a:latin typeface="Times New Roman"/>
                <a:cs typeface="Times New Roman"/>
              </a:rPr>
              <a:t> </a:t>
            </a:r>
            <a:r>
              <a:rPr dirty="0" sz="1000">
                <a:latin typeface="Times New Roman"/>
                <a:cs typeface="Times New Roman"/>
              </a:rPr>
              <a:t>Vision,</a:t>
            </a:r>
            <a:r>
              <a:rPr dirty="0" sz="1000" spc="60">
                <a:latin typeface="Times New Roman"/>
                <a:cs typeface="Times New Roman"/>
              </a:rPr>
              <a:t> </a:t>
            </a:r>
            <a:r>
              <a:rPr dirty="0" sz="1000">
                <a:latin typeface="Times New Roman"/>
                <a:cs typeface="Times New Roman"/>
              </a:rPr>
              <a:t>pages</a:t>
            </a:r>
            <a:r>
              <a:rPr dirty="0" sz="1000" spc="60">
                <a:latin typeface="Times New Roman"/>
                <a:cs typeface="Times New Roman"/>
              </a:rPr>
              <a:t> </a:t>
            </a:r>
            <a:r>
              <a:rPr dirty="0" sz="1000" spc="-20">
                <a:latin typeface="Times New Roman"/>
                <a:cs typeface="Times New Roman"/>
              </a:rPr>
              <a:t>71-</a:t>
            </a:r>
            <a:r>
              <a:rPr dirty="0" sz="1000">
                <a:latin typeface="Times New Roman"/>
                <a:cs typeface="Times New Roman"/>
              </a:rPr>
              <a:t>86.</a:t>
            </a:r>
            <a:r>
              <a:rPr dirty="0" sz="1000" spc="165">
                <a:latin typeface="Times New Roman"/>
                <a:cs typeface="Times New Roman"/>
              </a:rPr>
              <a:t> </a:t>
            </a:r>
            <a:r>
              <a:rPr dirty="0" sz="1000">
                <a:latin typeface="Times New Roman"/>
                <a:cs typeface="Times New Roman"/>
              </a:rPr>
              <a:t>Springer,</a:t>
            </a:r>
            <a:r>
              <a:rPr dirty="0" sz="1000" spc="60">
                <a:latin typeface="Times New Roman"/>
                <a:cs typeface="Times New Roman"/>
              </a:rPr>
              <a:t> </a:t>
            </a:r>
            <a:r>
              <a:rPr dirty="0" sz="1000">
                <a:latin typeface="Times New Roman"/>
                <a:cs typeface="Times New Roman"/>
              </a:rPr>
              <a:t>2025.</a:t>
            </a:r>
            <a:r>
              <a:rPr dirty="0" sz="1000" spc="165">
                <a:latin typeface="Times New Roman"/>
                <a:cs typeface="Times New Roman"/>
              </a:rPr>
              <a:t> </a:t>
            </a:r>
            <a:r>
              <a:rPr dirty="0" sz="1000">
                <a:latin typeface="Times New Roman"/>
                <a:cs typeface="Times New Roman"/>
              </a:rPr>
              <a:t>1,</a:t>
            </a:r>
            <a:r>
              <a:rPr dirty="0" sz="1000" spc="60">
                <a:latin typeface="Times New Roman"/>
                <a:cs typeface="Times New Roman"/>
              </a:rPr>
              <a:t> </a:t>
            </a:r>
            <a:r>
              <a:rPr dirty="0" sz="1000">
                <a:latin typeface="Times New Roman"/>
                <a:cs typeface="Times New Roman"/>
              </a:rPr>
              <a:t>3,</a:t>
            </a:r>
            <a:r>
              <a:rPr dirty="0" sz="1000" spc="60">
                <a:latin typeface="Times New Roman"/>
                <a:cs typeface="Times New Roman"/>
              </a:rPr>
              <a:t> </a:t>
            </a:r>
            <a:r>
              <a:rPr dirty="0" sz="1000" spc="-50">
                <a:latin typeface="Times New Roman"/>
                <a:cs typeface="Times New Roman"/>
              </a:rPr>
              <a:t>6</a:t>
            </a:r>
            <a:endParaRPr sz="1000">
              <a:latin typeface="Times New Roman"/>
              <a:cs typeface="Times New Roman"/>
            </a:endParaRPr>
          </a:p>
          <a:p>
            <a:pPr>
              <a:lnSpc>
                <a:spcPct val="100000"/>
              </a:lnSpc>
              <a:spcBef>
                <a:spcPts val="240"/>
              </a:spcBef>
            </a:pPr>
            <a:endParaRPr sz="1000">
              <a:latin typeface="Times New Roman"/>
              <a:cs typeface="Times New Roman"/>
            </a:endParaRPr>
          </a:p>
          <a:p>
            <a:pPr algn="just" marL="192405" marR="184785">
              <a:lnSpc>
                <a:spcPct val="129500"/>
              </a:lnSpc>
            </a:pPr>
            <a:r>
              <a:rPr dirty="0" sz="1000">
                <a:latin typeface="Times New Roman"/>
                <a:cs typeface="Times New Roman"/>
              </a:rPr>
              <a:t>[33]</a:t>
            </a:r>
            <a:r>
              <a:rPr dirty="0" sz="1000" spc="-30">
                <a:latin typeface="Times New Roman"/>
                <a:cs typeface="Times New Roman"/>
              </a:rPr>
              <a:t> </a:t>
            </a:r>
            <a:r>
              <a:rPr dirty="0" sz="1000" spc="-50">
                <a:latin typeface="SimSun"/>
                <a:cs typeface="SimSun"/>
              </a:rPr>
              <a:t>魏亚克、李思伟、冯若萱和胡迪。用于平衡多模态学习的诊断与重新学习。在欧洲计算机视觉</a:t>
            </a:r>
            <a:r>
              <a:rPr dirty="0" sz="1000" spc="-55">
                <a:latin typeface="SimSun"/>
                <a:cs typeface="SimSun"/>
              </a:rPr>
              <a:t>会议上，第 </a:t>
            </a:r>
            <a:r>
              <a:rPr dirty="0" sz="1000">
                <a:latin typeface="Times New Roman"/>
                <a:cs typeface="Times New Roman"/>
              </a:rPr>
              <a:t>71</a:t>
            </a:r>
            <a:r>
              <a:rPr dirty="0" sz="1000" spc="-30">
                <a:latin typeface="Times New Roman"/>
                <a:cs typeface="Times New Roman"/>
              </a:rPr>
              <a:t> - </a:t>
            </a:r>
            <a:r>
              <a:rPr dirty="0" sz="1000">
                <a:latin typeface="Times New Roman"/>
                <a:cs typeface="Times New Roman"/>
              </a:rPr>
              <a:t>86</a:t>
            </a:r>
            <a:r>
              <a:rPr dirty="0" sz="1000" spc="-30">
                <a:latin typeface="Times New Roman"/>
                <a:cs typeface="Times New Roman"/>
              </a:rPr>
              <a:t> </a:t>
            </a:r>
            <a:r>
              <a:rPr dirty="0" sz="1000" spc="-10">
                <a:latin typeface="SimSun"/>
                <a:cs typeface="SimSun"/>
              </a:rPr>
              <a:t>页。施普林格，</a:t>
            </a:r>
            <a:r>
              <a:rPr dirty="0" sz="1000" spc="-10">
                <a:latin typeface="Times New Roman"/>
                <a:cs typeface="Times New Roman"/>
              </a:rPr>
              <a:t>2025</a:t>
            </a:r>
            <a:r>
              <a:rPr dirty="0" sz="1000" spc="-30">
                <a:latin typeface="Times New Roman"/>
                <a:cs typeface="Times New Roman"/>
              </a:rPr>
              <a:t> </a:t>
            </a:r>
            <a:r>
              <a:rPr dirty="0" sz="1000" spc="-10">
                <a:latin typeface="SimSun"/>
                <a:cs typeface="SimSun"/>
              </a:rPr>
              <a:t>年。</a:t>
            </a:r>
            <a:r>
              <a:rPr dirty="0" sz="1000">
                <a:latin typeface="Times New Roman"/>
                <a:cs typeface="Times New Roman"/>
              </a:rPr>
              <a:t>1,</a:t>
            </a:r>
            <a:r>
              <a:rPr dirty="0" sz="1000" spc="-35">
                <a:latin typeface="Times New Roman"/>
                <a:cs typeface="Times New Roman"/>
              </a:rPr>
              <a:t> </a:t>
            </a:r>
            <a:r>
              <a:rPr dirty="0" sz="1000">
                <a:latin typeface="Times New Roman"/>
                <a:cs typeface="Times New Roman"/>
              </a:rPr>
              <a:t>3,</a:t>
            </a:r>
            <a:r>
              <a:rPr dirty="0" sz="1000" spc="-35">
                <a:latin typeface="Times New Roman"/>
                <a:cs typeface="Times New Roman"/>
              </a:rPr>
              <a:t> </a:t>
            </a:r>
            <a:r>
              <a:rPr dirty="0" sz="1000" spc="-50">
                <a:latin typeface="Times New Roman"/>
                <a:cs typeface="Times New Roman"/>
              </a:rPr>
              <a:t>6</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[34]</a:t>
            </a:r>
            <a:r>
              <a:rPr dirty="0" sz="1000" spc="165">
                <a:latin typeface="Times New Roman"/>
                <a:cs typeface="Times New Roman"/>
              </a:rPr>
              <a:t> </a:t>
            </a:r>
            <a:r>
              <a:rPr dirty="0" sz="1000">
                <a:latin typeface="Times New Roman"/>
                <a:cs typeface="Times New Roman"/>
              </a:rPr>
              <a:t>Yandong</a:t>
            </a:r>
            <a:r>
              <a:rPr dirty="0" sz="1000" spc="170">
                <a:latin typeface="Times New Roman"/>
                <a:cs typeface="Times New Roman"/>
              </a:rPr>
              <a:t> </a:t>
            </a:r>
            <a:r>
              <a:rPr dirty="0" sz="1000">
                <a:latin typeface="Times New Roman"/>
                <a:cs typeface="Times New Roman"/>
              </a:rPr>
              <a:t>Wen,</a:t>
            </a:r>
            <a:r>
              <a:rPr dirty="0" sz="1000" spc="204">
                <a:latin typeface="Times New Roman"/>
                <a:cs typeface="Times New Roman"/>
              </a:rPr>
              <a:t> </a:t>
            </a:r>
            <a:r>
              <a:rPr dirty="0" sz="1000">
                <a:latin typeface="Times New Roman"/>
                <a:cs typeface="Times New Roman"/>
              </a:rPr>
              <a:t>Kaipeng</a:t>
            </a:r>
            <a:r>
              <a:rPr dirty="0" sz="1000" spc="165">
                <a:latin typeface="Times New Roman"/>
                <a:cs typeface="Times New Roman"/>
              </a:rPr>
              <a:t> </a:t>
            </a:r>
            <a:r>
              <a:rPr dirty="0" sz="1000">
                <a:latin typeface="Times New Roman"/>
                <a:cs typeface="Times New Roman"/>
              </a:rPr>
              <a:t>Zhang,</a:t>
            </a:r>
            <a:r>
              <a:rPr dirty="0" sz="1000" spc="204">
                <a:latin typeface="Times New Roman"/>
                <a:cs typeface="Times New Roman"/>
              </a:rPr>
              <a:t> </a:t>
            </a:r>
            <a:r>
              <a:rPr dirty="0" sz="1000">
                <a:latin typeface="Times New Roman"/>
                <a:cs typeface="Times New Roman"/>
              </a:rPr>
              <a:t>Zhifeng</a:t>
            </a:r>
            <a:r>
              <a:rPr dirty="0" sz="1000" spc="170">
                <a:latin typeface="Times New Roman"/>
                <a:cs typeface="Times New Roman"/>
              </a:rPr>
              <a:t> </a:t>
            </a:r>
            <a:r>
              <a:rPr dirty="0" sz="1000">
                <a:latin typeface="Times New Roman"/>
                <a:cs typeface="Times New Roman"/>
              </a:rPr>
              <a:t>Li,</a:t>
            </a:r>
            <a:r>
              <a:rPr dirty="0" sz="1000" spc="200">
                <a:latin typeface="Times New Roman"/>
                <a:cs typeface="Times New Roman"/>
              </a:rPr>
              <a:t> </a:t>
            </a:r>
            <a:r>
              <a:rPr dirty="0" sz="1000">
                <a:latin typeface="Times New Roman"/>
                <a:cs typeface="Times New Roman"/>
              </a:rPr>
              <a:t>and</a:t>
            </a:r>
            <a:r>
              <a:rPr dirty="0" sz="1000" spc="170">
                <a:latin typeface="Times New Roman"/>
                <a:cs typeface="Times New Roman"/>
              </a:rPr>
              <a:t> </a:t>
            </a:r>
            <a:r>
              <a:rPr dirty="0" sz="1000">
                <a:latin typeface="Times New Roman"/>
                <a:cs typeface="Times New Roman"/>
              </a:rPr>
              <a:t>Yu</a:t>
            </a:r>
            <a:r>
              <a:rPr dirty="0" sz="1000" spc="170">
                <a:latin typeface="Times New Roman"/>
                <a:cs typeface="Times New Roman"/>
              </a:rPr>
              <a:t> </a:t>
            </a:r>
            <a:r>
              <a:rPr dirty="0" sz="1000">
                <a:latin typeface="Times New Roman"/>
                <a:cs typeface="Times New Roman"/>
              </a:rPr>
              <a:t>Qiao.</a:t>
            </a:r>
            <a:r>
              <a:rPr dirty="0" sz="1000" spc="145">
                <a:latin typeface="Times New Roman"/>
                <a:cs typeface="Times New Roman"/>
              </a:rPr>
              <a:t>  </a:t>
            </a:r>
            <a:r>
              <a:rPr dirty="0" sz="1000">
                <a:latin typeface="Times New Roman"/>
                <a:cs typeface="Times New Roman"/>
              </a:rPr>
              <a:t>A</a:t>
            </a:r>
            <a:r>
              <a:rPr dirty="0" sz="1000" spc="170">
                <a:latin typeface="Times New Roman"/>
                <a:cs typeface="Times New Roman"/>
              </a:rPr>
              <a:t> </a:t>
            </a:r>
            <a:r>
              <a:rPr dirty="0" sz="1000">
                <a:latin typeface="Times New Roman"/>
                <a:cs typeface="Times New Roman"/>
              </a:rPr>
              <a:t>discriminative</a:t>
            </a:r>
            <a:r>
              <a:rPr dirty="0" sz="1000" spc="170">
                <a:latin typeface="Times New Roman"/>
                <a:cs typeface="Times New Roman"/>
              </a:rPr>
              <a:t> </a:t>
            </a:r>
            <a:r>
              <a:rPr dirty="0" sz="1000">
                <a:latin typeface="Times New Roman"/>
                <a:cs typeface="Times New Roman"/>
              </a:rPr>
              <a:t>feature</a:t>
            </a:r>
            <a:r>
              <a:rPr dirty="0" sz="1000" spc="170">
                <a:latin typeface="Times New Roman"/>
                <a:cs typeface="Times New Roman"/>
              </a:rPr>
              <a:t> </a:t>
            </a:r>
            <a:r>
              <a:rPr dirty="0" sz="1000">
                <a:latin typeface="Times New Roman"/>
                <a:cs typeface="Times New Roman"/>
              </a:rPr>
              <a:t>learning</a:t>
            </a:r>
            <a:r>
              <a:rPr dirty="0" sz="1000" spc="165">
                <a:latin typeface="Times New Roman"/>
                <a:cs typeface="Times New Roman"/>
              </a:rPr>
              <a:t> </a:t>
            </a:r>
            <a:r>
              <a:rPr dirty="0" sz="1000" spc="-25">
                <a:latin typeface="Times New Roman"/>
                <a:cs typeface="Times New Roman"/>
              </a:rPr>
              <a:t>ap- </a:t>
            </a:r>
            <a:r>
              <a:rPr dirty="0" sz="1000">
                <a:latin typeface="Times New Roman"/>
                <a:cs typeface="Times New Roman"/>
              </a:rPr>
              <a:t>proach</a:t>
            </a:r>
            <a:r>
              <a:rPr dirty="0" sz="1000" spc="125">
                <a:latin typeface="Times New Roman"/>
                <a:cs typeface="Times New Roman"/>
              </a:rPr>
              <a:t> </a:t>
            </a:r>
            <a:r>
              <a:rPr dirty="0" sz="1000">
                <a:latin typeface="Times New Roman"/>
                <a:cs typeface="Times New Roman"/>
              </a:rPr>
              <a:t>for</a:t>
            </a:r>
            <a:r>
              <a:rPr dirty="0" sz="1000" spc="125">
                <a:latin typeface="Times New Roman"/>
                <a:cs typeface="Times New Roman"/>
              </a:rPr>
              <a:t> </a:t>
            </a:r>
            <a:r>
              <a:rPr dirty="0" sz="1000">
                <a:latin typeface="Times New Roman"/>
                <a:cs typeface="Times New Roman"/>
              </a:rPr>
              <a:t>deep</a:t>
            </a:r>
            <a:r>
              <a:rPr dirty="0" sz="1000" spc="130">
                <a:latin typeface="Times New Roman"/>
                <a:cs typeface="Times New Roman"/>
              </a:rPr>
              <a:t> </a:t>
            </a:r>
            <a:r>
              <a:rPr dirty="0" sz="1000">
                <a:latin typeface="Times New Roman"/>
                <a:cs typeface="Times New Roman"/>
              </a:rPr>
              <a:t>face</a:t>
            </a:r>
            <a:r>
              <a:rPr dirty="0" sz="1000" spc="135">
                <a:latin typeface="Times New Roman"/>
                <a:cs typeface="Times New Roman"/>
              </a:rPr>
              <a:t> </a:t>
            </a:r>
            <a:r>
              <a:rPr dirty="0" sz="1000">
                <a:latin typeface="Times New Roman"/>
                <a:cs typeface="Times New Roman"/>
              </a:rPr>
              <a:t>recognition.</a:t>
            </a:r>
            <a:r>
              <a:rPr dirty="0" sz="1000" spc="380">
                <a:latin typeface="Times New Roman"/>
                <a:cs typeface="Times New Roman"/>
              </a:rPr>
              <a:t> </a:t>
            </a:r>
            <a:r>
              <a:rPr dirty="0" sz="1000">
                <a:latin typeface="Times New Roman"/>
                <a:cs typeface="Times New Roman"/>
              </a:rPr>
              <a:t>In</a:t>
            </a:r>
            <a:r>
              <a:rPr dirty="0" sz="1000" spc="125">
                <a:latin typeface="Times New Roman"/>
                <a:cs typeface="Times New Roman"/>
              </a:rPr>
              <a:t> </a:t>
            </a:r>
            <a:r>
              <a:rPr dirty="0" sz="1000">
                <a:latin typeface="Times New Roman"/>
                <a:cs typeface="Times New Roman"/>
              </a:rPr>
              <a:t>Computer</a:t>
            </a:r>
            <a:r>
              <a:rPr dirty="0" sz="1000" spc="125">
                <a:latin typeface="Times New Roman"/>
                <a:cs typeface="Times New Roman"/>
              </a:rPr>
              <a:t> </a:t>
            </a:r>
            <a:r>
              <a:rPr dirty="0" sz="1000">
                <a:latin typeface="Times New Roman"/>
                <a:cs typeface="Times New Roman"/>
              </a:rPr>
              <a:t>vision-ECCV</a:t>
            </a:r>
            <a:r>
              <a:rPr dirty="0" sz="1000" spc="130">
                <a:latin typeface="Times New Roman"/>
                <a:cs typeface="Times New Roman"/>
              </a:rPr>
              <a:t> </a:t>
            </a:r>
            <a:r>
              <a:rPr dirty="0" sz="1000">
                <a:latin typeface="Times New Roman"/>
                <a:cs typeface="Times New Roman"/>
              </a:rPr>
              <a:t>2016:</a:t>
            </a:r>
            <a:r>
              <a:rPr dirty="0" sz="1000" spc="305">
                <a:latin typeface="Times New Roman"/>
                <a:cs typeface="Times New Roman"/>
              </a:rPr>
              <a:t> </a:t>
            </a:r>
            <a:r>
              <a:rPr dirty="0" sz="1000">
                <a:latin typeface="Times New Roman"/>
                <a:cs typeface="Times New Roman"/>
              </a:rPr>
              <a:t>14th</a:t>
            </a:r>
            <a:r>
              <a:rPr dirty="0" sz="1000" spc="130">
                <a:latin typeface="Times New Roman"/>
                <a:cs typeface="Times New Roman"/>
              </a:rPr>
              <a:t> </a:t>
            </a:r>
            <a:r>
              <a:rPr dirty="0" sz="1000">
                <a:latin typeface="Times New Roman"/>
                <a:cs typeface="Times New Roman"/>
              </a:rPr>
              <a:t>European</a:t>
            </a:r>
            <a:r>
              <a:rPr dirty="0" sz="1000" spc="125">
                <a:latin typeface="Times New Roman"/>
                <a:cs typeface="Times New Roman"/>
              </a:rPr>
              <a:t> </a:t>
            </a:r>
            <a:r>
              <a:rPr dirty="0" sz="1000">
                <a:latin typeface="Times New Roman"/>
                <a:cs typeface="Times New Roman"/>
              </a:rPr>
              <a:t>conference,</a:t>
            </a:r>
            <a:r>
              <a:rPr dirty="0" sz="1000" spc="150">
                <a:latin typeface="Times New Roman"/>
                <a:cs typeface="Times New Roman"/>
              </a:rPr>
              <a:t> </a:t>
            </a:r>
            <a:r>
              <a:rPr dirty="0" sz="1000" spc="-10">
                <a:latin typeface="Times New Roman"/>
                <a:cs typeface="Times New Roman"/>
              </a:rPr>
              <a:t>amsterdam, </a:t>
            </a:r>
            <a:r>
              <a:rPr dirty="0" sz="1000">
                <a:latin typeface="Times New Roman"/>
                <a:cs typeface="Times New Roman"/>
              </a:rPr>
              <a:t>the</a:t>
            </a:r>
            <a:r>
              <a:rPr dirty="0" sz="1000" spc="45">
                <a:latin typeface="Times New Roman"/>
                <a:cs typeface="Times New Roman"/>
              </a:rPr>
              <a:t> </a:t>
            </a:r>
            <a:r>
              <a:rPr dirty="0" sz="1000">
                <a:latin typeface="Times New Roman"/>
                <a:cs typeface="Times New Roman"/>
              </a:rPr>
              <a:t>netherlands,</a:t>
            </a:r>
            <a:r>
              <a:rPr dirty="0" sz="1000" spc="50">
                <a:latin typeface="Times New Roman"/>
                <a:cs typeface="Times New Roman"/>
              </a:rPr>
              <a:t> </a:t>
            </a:r>
            <a:r>
              <a:rPr dirty="0" sz="1000">
                <a:latin typeface="Times New Roman"/>
                <a:cs typeface="Times New Roman"/>
              </a:rPr>
              <a:t>October</a:t>
            </a:r>
            <a:r>
              <a:rPr dirty="0" sz="1000" spc="50">
                <a:latin typeface="Times New Roman"/>
                <a:cs typeface="Times New Roman"/>
              </a:rPr>
              <a:t> </a:t>
            </a:r>
            <a:r>
              <a:rPr dirty="0" sz="1000" spc="-20">
                <a:latin typeface="Times New Roman"/>
                <a:cs typeface="Times New Roman"/>
              </a:rPr>
              <a:t>11-</a:t>
            </a:r>
            <a:r>
              <a:rPr dirty="0" sz="1000">
                <a:latin typeface="Times New Roman"/>
                <a:cs typeface="Times New Roman"/>
              </a:rPr>
              <a:t>14,</a:t>
            </a:r>
            <a:r>
              <a:rPr dirty="0" sz="1000" spc="45">
                <a:latin typeface="Times New Roman"/>
                <a:cs typeface="Times New Roman"/>
              </a:rPr>
              <a:t> </a:t>
            </a:r>
            <a:r>
              <a:rPr dirty="0" sz="1000" spc="-10">
                <a:latin typeface="Times New Roman"/>
                <a:cs typeface="Times New Roman"/>
              </a:rPr>
              <a:t>2016,</a:t>
            </a:r>
            <a:r>
              <a:rPr dirty="0" sz="1000" spc="50">
                <a:latin typeface="Times New Roman"/>
                <a:cs typeface="Times New Roman"/>
              </a:rPr>
              <a:t> </a:t>
            </a:r>
            <a:r>
              <a:rPr dirty="0" sz="1000">
                <a:latin typeface="Times New Roman"/>
                <a:cs typeface="Times New Roman"/>
              </a:rPr>
              <a:t>proceedings,</a:t>
            </a:r>
            <a:r>
              <a:rPr dirty="0" sz="1000" spc="50">
                <a:latin typeface="Times New Roman"/>
                <a:cs typeface="Times New Roman"/>
              </a:rPr>
              <a:t> </a:t>
            </a:r>
            <a:r>
              <a:rPr dirty="0" sz="1000">
                <a:latin typeface="Times New Roman"/>
                <a:cs typeface="Times New Roman"/>
              </a:rPr>
              <a:t>part</a:t>
            </a:r>
            <a:r>
              <a:rPr dirty="0" sz="1000" spc="45">
                <a:latin typeface="Times New Roman"/>
                <a:cs typeface="Times New Roman"/>
              </a:rPr>
              <a:t> </a:t>
            </a:r>
            <a:r>
              <a:rPr dirty="0" sz="1000">
                <a:latin typeface="Times New Roman"/>
                <a:cs typeface="Times New Roman"/>
              </a:rPr>
              <a:t>VII</a:t>
            </a:r>
            <a:r>
              <a:rPr dirty="0" sz="1000" spc="50">
                <a:latin typeface="Times New Roman"/>
                <a:cs typeface="Times New Roman"/>
              </a:rPr>
              <a:t> </a:t>
            </a:r>
            <a:r>
              <a:rPr dirty="0" sz="1000">
                <a:latin typeface="Times New Roman"/>
                <a:cs typeface="Times New Roman"/>
              </a:rPr>
              <a:t>14,</a:t>
            </a:r>
            <a:r>
              <a:rPr dirty="0" sz="1000" spc="50">
                <a:latin typeface="Times New Roman"/>
                <a:cs typeface="Times New Roman"/>
              </a:rPr>
              <a:t> </a:t>
            </a:r>
            <a:r>
              <a:rPr dirty="0" sz="1000">
                <a:latin typeface="Times New Roman"/>
                <a:cs typeface="Times New Roman"/>
              </a:rPr>
              <a:t>pages</a:t>
            </a:r>
            <a:r>
              <a:rPr dirty="0" sz="1000" spc="50">
                <a:latin typeface="Times New Roman"/>
                <a:cs typeface="Times New Roman"/>
              </a:rPr>
              <a:t> </a:t>
            </a:r>
            <a:r>
              <a:rPr dirty="0" sz="1000" spc="-10">
                <a:latin typeface="Times New Roman"/>
                <a:cs typeface="Times New Roman"/>
              </a:rPr>
              <a:t>499-</a:t>
            </a:r>
            <a:r>
              <a:rPr dirty="0" sz="1000">
                <a:latin typeface="Times New Roman"/>
                <a:cs typeface="Times New Roman"/>
              </a:rPr>
              <a:t>515.</a:t>
            </a:r>
            <a:r>
              <a:rPr dirty="0" sz="1000" spc="150">
                <a:latin typeface="Times New Roman"/>
                <a:cs typeface="Times New Roman"/>
              </a:rPr>
              <a:t> </a:t>
            </a:r>
            <a:r>
              <a:rPr dirty="0" sz="1000">
                <a:latin typeface="Times New Roman"/>
                <a:cs typeface="Times New Roman"/>
              </a:rPr>
              <a:t>Springer,</a:t>
            </a:r>
            <a:r>
              <a:rPr dirty="0" sz="1000" spc="50">
                <a:latin typeface="Times New Roman"/>
                <a:cs typeface="Times New Roman"/>
              </a:rPr>
              <a:t> </a:t>
            </a:r>
            <a:r>
              <a:rPr dirty="0" sz="1000">
                <a:latin typeface="Times New Roman"/>
                <a:cs typeface="Times New Roman"/>
              </a:rPr>
              <a:t>2016.</a:t>
            </a:r>
            <a:r>
              <a:rPr dirty="0" sz="1000" spc="150">
                <a:latin typeface="Times New Roman"/>
                <a:cs typeface="Times New Roman"/>
              </a:rPr>
              <a:t> </a:t>
            </a:r>
            <a:r>
              <a:rPr dirty="0" sz="1000" spc="-50">
                <a:latin typeface="Times New Roman"/>
                <a:cs typeface="Times New Roman"/>
              </a:rPr>
              <a:t>3</a:t>
            </a:r>
            <a:endParaRPr sz="1000">
              <a:latin typeface="Times New Roman"/>
              <a:cs typeface="Times New Roman"/>
            </a:endParaRPr>
          </a:p>
          <a:p>
            <a:pPr>
              <a:lnSpc>
                <a:spcPct val="100000"/>
              </a:lnSpc>
              <a:spcBef>
                <a:spcPts val="595"/>
              </a:spcBef>
            </a:pPr>
            <a:endParaRPr sz="1000">
              <a:latin typeface="Times New Roman"/>
              <a:cs typeface="Times New Roman"/>
            </a:endParaRPr>
          </a:p>
          <a:p>
            <a:pPr marL="192405">
              <a:lnSpc>
                <a:spcPct val="100000"/>
              </a:lnSpc>
            </a:pPr>
            <a:r>
              <a:rPr dirty="0" sz="1000">
                <a:latin typeface="Times New Roman"/>
                <a:cs typeface="Times New Roman"/>
              </a:rPr>
              <a:t>[34]</a:t>
            </a:r>
            <a:r>
              <a:rPr dirty="0" sz="1000" spc="-25">
                <a:latin typeface="Times New Roman"/>
                <a:cs typeface="Times New Roman"/>
              </a:rPr>
              <a:t> </a:t>
            </a:r>
            <a:r>
              <a:rPr dirty="0" sz="1000" spc="-50">
                <a:latin typeface="SimSun"/>
                <a:cs typeface="SimSun"/>
              </a:rPr>
              <a:t>温彦东、张凯鹏、李志峰和乔宇。一种用于深度人脸识别的判别特征学习方法。在计算机视觉</a:t>
            </a:r>
            <a:endParaRPr sz="1000">
              <a:latin typeface="SimSun"/>
              <a:cs typeface="SimSun"/>
            </a:endParaRPr>
          </a:p>
          <a:p>
            <a:pPr marL="192405" marR="86995">
              <a:lnSpc>
                <a:spcPct val="129500"/>
              </a:lnSpc>
            </a:pPr>
            <a:r>
              <a:rPr dirty="0" sz="1000" spc="-35">
                <a:latin typeface="Times New Roman"/>
                <a:cs typeface="Times New Roman"/>
              </a:rPr>
              <a:t>- </a:t>
            </a:r>
            <a:r>
              <a:rPr dirty="0" sz="1000" spc="-20">
                <a:latin typeface="Times New Roman"/>
                <a:cs typeface="Times New Roman"/>
              </a:rPr>
              <a:t>ECCV</a:t>
            </a:r>
            <a:r>
              <a:rPr dirty="0" sz="1000" spc="-40">
                <a:latin typeface="Times New Roman"/>
                <a:cs typeface="Times New Roman"/>
              </a:rPr>
              <a:t> </a:t>
            </a:r>
            <a:r>
              <a:rPr dirty="0" sz="1000" spc="-10">
                <a:latin typeface="Times New Roman"/>
                <a:cs typeface="Times New Roman"/>
              </a:rPr>
              <a:t>2016:</a:t>
            </a:r>
            <a:r>
              <a:rPr dirty="0" sz="1000" spc="-40">
                <a:latin typeface="Times New Roman"/>
                <a:cs typeface="Times New Roman"/>
              </a:rPr>
              <a:t> </a:t>
            </a:r>
            <a:r>
              <a:rPr dirty="0" sz="1000" spc="-140">
                <a:latin typeface="SimSun"/>
                <a:cs typeface="SimSun"/>
              </a:rPr>
              <a:t>第 </a:t>
            </a:r>
            <a:r>
              <a:rPr dirty="0" sz="1000">
                <a:latin typeface="Times New Roman"/>
                <a:cs typeface="Times New Roman"/>
              </a:rPr>
              <a:t>14</a:t>
            </a:r>
            <a:r>
              <a:rPr dirty="0" sz="1000" spc="-35">
                <a:latin typeface="Times New Roman"/>
                <a:cs typeface="Times New Roman"/>
              </a:rPr>
              <a:t> </a:t>
            </a:r>
            <a:r>
              <a:rPr dirty="0" sz="1000" spc="-15">
                <a:latin typeface="SimSun"/>
                <a:cs typeface="SimSun"/>
              </a:rPr>
              <a:t>届欧洲会议，荷兰阿姆斯特丹，</a:t>
            </a:r>
            <a:r>
              <a:rPr dirty="0" sz="1000" spc="-10">
                <a:latin typeface="Times New Roman"/>
                <a:cs typeface="Times New Roman"/>
              </a:rPr>
              <a:t>2016</a:t>
            </a:r>
            <a:r>
              <a:rPr dirty="0" sz="1000" spc="-35">
                <a:latin typeface="Times New Roman"/>
                <a:cs typeface="Times New Roman"/>
              </a:rPr>
              <a:t> </a:t>
            </a:r>
            <a:r>
              <a:rPr dirty="0" sz="1000" spc="-140">
                <a:latin typeface="SimSun"/>
                <a:cs typeface="SimSun"/>
              </a:rPr>
              <a:t>年 </a:t>
            </a:r>
            <a:r>
              <a:rPr dirty="0" sz="1000">
                <a:latin typeface="Times New Roman"/>
                <a:cs typeface="Times New Roman"/>
              </a:rPr>
              <a:t>10</a:t>
            </a:r>
            <a:r>
              <a:rPr dirty="0" sz="1000" spc="-35">
                <a:latin typeface="Times New Roman"/>
                <a:cs typeface="Times New Roman"/>
              </a:rPr>
              <a:t> </a:t>
            </a:r>
            <a:r>
              <a:rPr dirty="0" sz="1000" spc="-140">
                <a:latin typeface="SimSun"/>
                <a:cs typeface="SimSun"/>
              </a:rPr>
              <a:t>月 </a:t>
            </a:r>
            <a:r>
              <a:rPr dirty="0" sz="1000">
                <a:latin typeface="Times New Roman"/>
                <a:cs typeface="Times New Roman"/>
              </a:rPr>
              <a:t>11</a:t>
            </a:r>
            <a:r>
              <a:rPr dirty="0" sz="1000" spc="-25">
                <a:latin typeface="Times New Roman"/>
                <a:cs typeface="Times New Roman"/>
              </a:rPr>
              <a:t> - </a:t>
            </a:r>
            <a:r>
              <a:rPr dirty="0" sz="1000">
                <a:latin typeface="Times New Roman"/>
                <a:cs typeface="Times New Roman"/>
              </a:rPr>
              <a:t>14</a:t>
            </a:r>
            <a:r>
              <a:rPr dirty="0" sz="1000" spc="-35">
                <a:latin typeface="Times New Roman"/>
                <a:cs typeface="Times New Roman"/>
              </a:rPr>
              <a:t> </a:t>
            </a:r>
            <a:r>
              <a:rPr dirty="0" sz="1000" spc="-40">
                <a:latin typeface="SimSun"/>
                <a:cs typeface="SimSun"/>
              </a:rPr>
              <a:t>日，会议录，第七部分 </a:t>
            </a:r>
            <a:r>
              <a:rPr dirty="0" sz="1000" spc="-25">
                <a:latin typeface="Times New Roman"/>
                <a:cs typeface="Times New Roman"/>
              </a:rPr>
              <a:t>14</a:t>
            </a:r>
            <a:r>
              <a:rPr dirty="0" sz="1000" spc="-25">
                <a:latin typeface="SimSun"/>
                <a:cs typeface="SimSun"/>
              </a:rPr>
              <a:t>，</a:t>
            </a:r>
            <a:r>
              <a:rPr dirty="0" sz="1000" spc="-145">
                <a:latin typeface="SimSun"/>
                <a:cs typeface="SimSun"/>
              </a:rPr>
              <a:t>第 </a:t>
            </a:r>
            <a:r>
              <a:rPr dirty="0" sz="1000">
                <a:latin typeface="Times New Roman"/>
                <a:cs typeface="Times New Roman"/>
              </a:rPr>
              <a:t>499</a:t>
            </a:r>
            <a:r>
              <a:rPr dirty="0" sz="1000" spc="-35">
                <a:latin typeface="Times New Roman"/>
                <a:cs typeface="Times New Roman"/>
              </a:rPr>
              <a:t> - </a:t>
            </a:r>
            <a:r>
              <a:rPr dirty="0" sz="1000">
                <a:latin typeface="Times New Roman"/>
                <a:cs typeface="Times New Roman"/>
              </a:rPr>
              <a:t>515</a:t>
            </a:r>
            <a:r>
              <a:rPr dirty="0" sz="1000" spc="-35">
                <a:latin typeface="Times New Roman"/>
                <a:cs typeface="Times New Roman"/>
              </a:rPr>
              <a:t> </a:t>
            </a:r>
            <a:r>
              <a:rPr dirty="0" sz="1000" spc="-10">
                <a:latin typeface="SimSun"/>
                <a:cs typeface="SimSun"/>
              </a:rPr>
              <a:t>页。施普林格，</a:t>
            </a:r>
            <a:r>
              <a:rPr dirty="0" sz="1000" spc="-10">
                <a:latin typeface="Times New Roman"/>
                <a:cs typeface="Times New Roman"/>
              </a:rPr>
              <a:t>2016</a:t>
            </a:r>
            <a:r>
              <a:rPr dirty="0" sz="1000" spc="-40">
                <a:latin typeface="Times New Roman"/>
                <a:cs typeface="Times New Roman"/>
              </a:rPr>
              <a:t> </a:t>
            </a:r>
            <a:r>
              <a:rPr dirty="0" sz="1000" spc="-10">
                <a:latin typeface="SimSun"/>
                <a:cs typeface="SimSun"/>
              </a:rPr>
              <a:t>年。</a:t>
            </a:r>
            <a:r>
              <a:rPr dirty="0" sz="1000" spc="-50">
                <a:latin typeface="Times New Roman"/>
                <a:cs typeface="Times New Roman"/>
              </a:rPr>
              <a:t>3</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[35]</a:t>
            </a:r>
            <a:r>
              <a:rPr dirty="0" sz="1000" spc="60">
                <a:latin typeface="Times New Roman"/>
                <a:cs typeface="Times New Roman"/>
              </a:rPr>
              <a:t> </a:t>
            </a:r>
            <a:r>
              <a:rPr dirty="0" sz="1000">
                <a:latin typeface="Times New Roman"/>
                <a:cs typeface="Times New Roman"/>
              </a:rPr>
              <a:t>Yandong</a:t>
            </a:r>
            <a:r>
              <a:rPr dirty="0" sz="1000" spc="65">
                <a:latin typeface="Times New Roman"/>
                <a:cs typeface="Times New Roman"/>
              </a:rPr>
              <a:t> </a:t>
            </a:r>
            <a:r>
              <a:rPr dirty="0" sz="1000">
                <a:latin typeface="Times New Roman"/>
                <a:cs typeface="Times New Roman"/>
              </a:rPr>
              <a:t>Wen,</a:t>
            </a:r>
            <a:r>
              <a:rPr dirty="0" sz="1000" spc="65">
                <a:latin typeface="Times New Roman"/>
                <a:cs typeface="Times New Roman"/>
              </a:rPr>
              <a:t> </a:t>
            </a:r>
            <a:r>
              <a:rPr dirty="0" sz="1000">
                <a:latin typeface="Times New Roman"/>
                <a:cs typeface="Times New Roman"/>
              </a:rPr>
              <a:t>Kaipeng</a:t>
            </a:r>
            <a:r>
              <a:rPr dirty="0" sz="1000" spc="65">
                <a:latin typeface="Times New Roman"/>
                <a:cs typeface="Times New Roman"/>
              </a:rPr>
              <a:t> </a:t>
            </a:r>
            <a:r>
              <a:rPr dirty="0" sz="1000">
                <a:latin typeface="Times New Roman"/>
                <a:cs typeface="Times New Roman"/>
              </a:rPr>
              <a:t>Zhang,</a:t>
            </a:r>
            <a:r>
              <a:rPr dirty="0" sz="1000" spc="70">
                <a:latin typeface="Times New Roman"/>
                <a:cs typeface="Times New Roman"/>
              </a:rPr>
              <a:t> </a:t>
            </a:r>
            <a:r>
              <a:rPr dirty="0" sz="1000">
                <a:latin typeface="Times New Roman"/>
                <a:cs typeface="Times New Roman"/>
              </a:rPr>
              <a:t>Zhifeng</a:t>
            </a:r>
            <a:r>
              <a:rPr dirty="0" sz="1000" spc="60">
                <a:latin typeface="Times New Roman"/>
                <a:cs typeface="Times New Roman"/>
              </a:rPr>
              <a:t> </a:t>
            </a:r>
            <a:r>
              <a:rPr dirty="0" sz="1000">
                <a:latin typeface="Times New Roman"/>
                <a:cs typeface="Times New Roman"/>
              </a:rPr>
              <a:t>Li,</a:t>
            </a:r>
            <a:r>
              <a:rPr dirty="0" sz="1000" spc="70">
                <a:latin typeface="Times New Roman"/>
                <a:cs typeface="Times New Roman"/>
              </a:rPr>
              <a:t> </a:t>
            </a:r>
            <a:r>
              <a:rPr dirty="0" sz="1000">
                <a:latin typeface="Times New Roman"/>
                <a:cs typeface="Times New Roman"/>
              </a:rPr>
              <a:t>and</a:t>
            </a:r>
            <a:r>
              <a:rPr dirty="0" sz="1000" spc="65">
                <a:latin typeface="Times New Roman"/>
                <a:cs typeface="Times New Roman"/>
              </a:rPr>
              <a:t> </a:t>
            </a:r>
            <a:r>
              <a:rPr dirty="0" sz="1000" spc="-30">
                <a:latin typeface="Times New Roman"/>
                <a:cs typeface="Times New Roman"/>
              </a:rPr>
              <a:t>Yu</a:t>
            </a:r>
            <a:r>
              <a:rPr dirty="0" sz="1000" spc="60">
                <a:latin typeface="Times New Roman"/>
                <a:cs typeface="Times New Roman"/>
              </a:rPr>
              <a:t> </a:t>
            </a:r>
            <a:r>
              <a:rPr dirty="0" sz="1000">
                <a:latin typeface="Times New Roman"/>
                <a:cs typeface="Times New Roman"/>
              </a:rPr>
              <a:t>Qiao.</a:t>
            </a:r>
            <a:r>
              <a:rPr dirty="0" sz="1000" spc="195">
                <a:latin typeface="Times New Roman"/>
                <a:cs typeface="Times New Roman"/>
              </a:rPr>
              <a:t> </a:t>
            </a:r>
            <a:r>
              <a:rPr dirty="0" sz="1000">
                <a:latin typeface="Times New Roman"/>
                <a:cs typeface="Times New Roman"/>
              </a:rPr>
              <a:t>A</a:t>
            </a:r>
            <a:r>
              <a:rPr dirty="0" sz="1000" spc="65">
                <a:latin typeface="Times New Roman"/>
                <a:cs typeface="Times New Roman"/>
              </a:rPr>
              <a:t> </a:t>
            </a:r>
            <a:r>
              <a:rPr dirty="0" sz="1000">
                <a:latin typeface="Times New Roman"/>
                <a:cs typeface="Times New Roman"/>
              </a:rPr>
              <a:t>comprehensive</a:t>
            </a:r>
            <a:r>
              <a:rPr dirty="0" sz="1000" spc="60">
                <a:latin typeface="Times New Roman"/>
                <a:cs typeface="Times New Roman"/>
              </a:rPr>
              <a:t> </a:t>
            </a:r>
            <a:r>
              <a:rPr dirty="0" sz="1000">
                <a:latin typeface="Times New Roman"/>
                <a:cs typeface="Times New Roman"/>
              </a:rPr>
              <a:t>study</a:t>
            </a:r>
            <a:r>
              <a:rPr dirty="0" sz="1000" spc="65">
                <a:latin typeface="Times New Roman"/>
                <a:cs typeface="Times New Roman"/>
              </a:rPr>
              <a:t> </a:t>
            </a:r>
            <a:r>
              <a:rPr dirty="0" sz="1000">
                <a:latin typeface="Times New Roman"/>
                <a:cs typeface="Times New Roman"/>
              </a:rPr>
              <a:t>on</a:t>
            </a:r>
            <a:r>
              <a:rPr dirty="0" sz="1000" spc="60">
                <a:latin typeface="Times New Roman"/>
                <a:cs typeface="Times New Roman"/>
              </a:rPr>
              <a:t> </a:t>
            </a:r>
            <a:r>
              <a:rPr dirty="0" sz="1000">
                <a:latin typeface="Times New Roman"/>
                <a:cs typeface="Times New Roman"/>
              </a:rPr>
              <a:t>center</a:t>
            </a:r>
            <a:r>
              <a:rPr dirty="0" sz="1000" spc="65">
                <a:latin typeface="Times New Roman"/>
                <a:cs typeface="Times New Roman"/>
              </a:rPr>
              <a:t> </a:t>
            </a:r>
            <a:r>
              <a:rPr dirty="0" sz="1000">
                <a:latin typeface="Times New Roman"/>
                <a:cs typeface="Times New Roman"/>
              </a:rPr>
              <a:t>loss</a:t>
            </a:r>
            <a:r>
              <a:rPr dirty="0" sz="1000" spc="60">
                <a:latin typeface="Times New Roman"/>
                <a:cs typeface="Times New Roman"/>
              </a:rPr>
              <a:t> </a:t>
            </a:r>
            <a:r>
              <a:rPr dirty="0" sz="1000" spc="-25">
                <a:latin typeface="Times New Roman"/>
                <a:cs typeface="Times New Roman"/>
              </a:rPr>
              <a:t>for </a:t>
            </a:r>
            <a:r>
              <a:rPr dirty="0" sz="1000">
                <a:latin typeface="Times New Roman"/>
                <a:cs typeface="Times New Roman"/>
              </a:rPr>
              <a:t>deep</a:t>
            </a:r>
            <a:r>
              <a:rPr dirty="0" sz="1000" spc="70">
                <a:latin typeface="Times New Roman"/>
                <a:cs typeface="Times New Roman"/>
              </a:rPr>
              <a:t> </a:t>
            </a:r>
            <a:r>
              <a:rPr dirty="0" sz="1000">
                <a:latin typeface="Times New Roman"/>
                <a:cs typeface="Times New Roman"/>
              </a:rPr>
              <a:t>face</a:t>
            </a:r>
            <a:r>
              <a:rPr dirty="0" sz="1000" spc="75">
                <a:latin typeface="Times New Roman"/>
                <a:cs typeface="Times New Roman"/>
              </a:rPr>
              <a:t> </a:t>
            </a:r>
            <a:r>
              <a:rPr dirty="0" sz="1000">
                <a:latin typeface="Times New Roman"/>
                <a:cs typeface="Times New Roman"/>
              </a:rPr>
              <a:t>recognition.</a:t>
            </a:r>
            <a:r>
              <a:rPr dirty="0" sz="1000" spc="190">
                <a:latin typeface="Times New Roman"/>
                <a:cs typeface="Times New Roman"/>
              </a:rPr>
              <a:t> </a:t>
            </a:r>
            <a:r>
              <a:rPr dirty="0" sz="1000">
                <a:latin typeface="Times New Roman"/>
                <a:cs typeface="Times New Roman"/>
              </a:rPr>
              <a:t>International</a:t>
            </a:r>
            <a:r>
              <a:rPr dirty="0" sz="1000" spc="75">
                <a:latin typeface="Times New Roman"/>
                <a:cs typeface="Times New Roman"/>
              </a:rPr>
              <a:t> </a:t>
            </a:r>
            <a:r>
              <a:rPr dirty="0" sz="1000">
                <a:latin typeface="Times New Roman"/>
                <a:cs typeface="Times New Roman"/>
              </a:rPr>
              <a:t>Journal</a:t>
            </a:r>
            <a:r>
              <a:rPr dirty="0" sz="1000" spc="75">
                <a:latin typeface="Times New Roman"/>
                <a:cs typeface="Times New Roman"/>
              </a:rPr>
              <a:t> </a:t>
            </a:r>
            <a:r>
              <a:rPr dirty="0" sz="1000">
                <a:latin typeface="Times New Roman"/>
                <a:cs typeface="Times New Roman"/>
              </a:rPr>
              <a:t>of</a:t>
            </a:r>
            <a:r>
              <a:rPr dirty="0" sz="1000" spc="70">
                <a:latin typeface="Times New Roman"/>
                <a:cs typeface="Times New Roman"/>
              </a:rPr>
              <a:t> </a:t>
            </a:r>
            <a:r>
              <a:rPr dirty="0" sz="1000">
                <a:latin typeface="Times New Roman"/>
                <a:cs typeface="Times New Roman"/>
              </a:rPr>
              <a:t>Computer</a:t>
            </a:r>
            <a:r>
              <a:rPr dirty="0" sz="1000" spc="75">
                <a:latin typeface="Times New Roman"/>
                <a:cs typeface="Times New Roman"/>
              </a:rPr>
              <a:t> </a:t>
            </a:r>
            <a:r>
              <a:rPr dirty="0" sz="1000">
                <a:latin typeface="Times New Roman"/>
                <a:cs typeface="Times New Roman"/>
              </a:rPr>
              <a:t>Vision,</a:t>
            </a:r>
            <a:r>
              <a:rPr dirty="0" sz="1000" spc="75">
                <a:latin typeface="Times New Roman"/>
                <a:cs typeface="Times New Roman"/>
              </a:rPr>
              <a:t> </a:t>
            </a:r>
            <a:r>
              <a:rPr dirty="0" sz="1000" spc="-10">
                <a:latin typeface="Times New Roman"/>
                <a:cs typeface="Times New Roman"/>
              </a:rPr>
              <a:t>127:668-</a:t>
            </a:r>
            <a:r>
              <a:rPr dirty="0" sz="1000" spc="75">
                <a:latin typeface="Times New Roman"/>
                <a:cs typeface="Times New Roman"/>
              </a:rPr>
              <a:t> </a:t>
            </a:r>
            <a:r>
              <a:rPr dirty="0" sz="1000">
                <a:latin typeface="Times New Roman"/>
                <a:cs typeface="Times New Roman"/>
              </a:rPr>
              <a:t>683,</a:t>
            </a:r>
            <a:r>
              <a:rPr dirty="0" sz="1000" spc="75">
                <a:latin typeface="Times New Roman"/>
                <a:cs typeface="Times New Roman"/>
              </a:rPr>
              <a:t> </a:t>
            </a:r>
            <a:r>
              <a:rPr dirty="0" sz="1000">
                <a:latin typeface="Times New Roman"/>
                <a:cs typeface="Times New Roman"/>
              </a:rPr>
              <a:t>2019.</a:t>
            </a:r>
            <a:r>
              <a:rPr dirty="0" sz="1000" spc="185">
                <a:latin typeface="Times New Roman"/>
                <a:cs typeface="Times New Roman"/>
              </a:rPr>
              <a:t> </a:t>
            </a:r>
            <a:r>
              <a:rPr dirty="0" sz="1000" spc="-50">
                <a:latin typeface="Times New Roman"/>
                <a:cs typeface="Times New Roman"/>
              </a:rPr>
              <a:t>3</a:t>
            </a:r>
            <a:endParaRPr sz="1000">
              <a:latin typeface="Times New Roman"/>
              <a:cs typeface="Times New Roman"/>
            </a:endParaRPr>
          </a:p>
          <a:p>
            <a:pPr>
              <a:lnSpc>
                <a:spcPct val="100000"/>
              </a:lnSpc>
              <a:spcBef>
                <a:spcPts val="240"/>
              </a:spcBef>
            </a:pPr>
            <a:endParaRPr sz="1000">
              <a:latin typeface="Times New Roman"/>
              <a:cs typeface="Times New Roman"/>
            </a:endParaRPr>
          </a:p>
          <a:p>
            <a:pPr algn="just" marL="192405" marR="184785">
              <a:lnSpc>
                <a:spcPct val="129500"/>
              </a:lnSpc>
            </a:pPr>
            <a:r>
              <a:rPr dirty="0" sz="1000">
                <a:latin typeface="Times New Roman"/>
                <a:cs typeface="Times New Roman"/>
              </a:rPr>
              <a:t>[35]</a:t>
            </a:r>
            <a:r>
              <a:rPr dirty="0" sz="1000" spc="-30">
                <a:latin typeface="Times New Roman"/>
                <a:cs typeface="Times New Roman"/>
              </a:rPr>
              <a:t> </a:t>
            </a:r>
            <a:r>
              <a:rPr dirty="0" sz="1000" spc="-50">
                <a:latin typeface="SimSun"/>
                <a:cs typeface="SimSun"/>
              </a:rPr>
              <a:t>温彦东、张凯鹏、李志峰和乔宇。关于深度人脸识别中心损失的综合研究。国际计算机视觉杂</a:t>
            </a:r>
            <a:r>
              <a:rPr dirty="0" sz="1000" spc="-10">
                <a:latin typeface="SimSun"/>
                <a:cs typeface="SimSun"/>
              </a:rPr>
              <a:t>志，</a:t>
            </a:r>
            <a:r>
              <a:rPr dirty="0" sz="1000" spc="-10">
                <a:latin typeface="Times New Roman"/>
                <a:cs typeface="Times New Roman"/>
              </a:rPr>
              <a:t>127:668</a:t>
            </a:r>
            <a:r>
              <a:rPr dirty="0" sz="1000" spc="-30">
                <a:latin typeface="Times New Roman"/>
                <a:cs typeface="Times New Roman"/>
              </a:rPr>
              <a:t> - </a:t>
            </a:r>
            <a:r>
              <a:rPr dirty="0" sz="1000" spc="-10">
                <a:latin typeface="Times New Roman"/>
                <a:cs typeface="Times New Roman"/>
              </a:rPr>
              <a:t>683</a:t>
            </a:r>
            <a:r>
              <a:rPr dirty="0" sz="1000" spc="-10">
                <a:latin typeface="SimSun"/>
                <a:cs typeface="SimSun"/>
              </a:rPr>
              <a:t>，</a:t>
            </a:r>
            <a:r>
              <a:rPr dirty="0" sz="1000" spc="-10">
                <a:latin typeface="Times New Roman"/>
                <a:cs typeface="Times New Roman"/>
              </a:rPr>
              <a:t>2019</a:t>
            </a:r>
            <a:r>
              <a:rPr dirty="0" sz="1000" spc="-40">
                <a:latin typeface="Times New Roman"/>
                <a:cs typeface="Times New Roman"/>
              </a:rPr>
              <a:t> </a:t>
            </a:r>
            <a:r>
              <a:rPr dirty="0" sz="1000" spc="-10">
                <a:latin typeface="SimSun"/>
                <a:cs typeface="SimSun"/>
              </a:rPr>
              <a:t>年。</a:t>
            </a:r>
            <a:r>
              <a:rPr dirty="0" sz="1000" spc="-50">
                <a:latin typeface="Times New Roman"/>
                <a:cs typeface="Times New Roman"/>
              </a:rPr>
              <a:t>3</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[36]</a:t>
            </a:r>
            <a:r>
              <a:rPr dirty="0" sz="1000" spc="140">
                <a:latin typeface="Times New Roman"/>
                <a:cs typeface="Times New Roman"/>
              </a:rPr>
              <a:t> </a:t>
            </a:r>
            <a:r>
              <a:rPr dirty="0" sz="1000">
                <a:latin typeface="Times New Roman"/>
                <a:cs typeface="Times New Roman"/>
              </a:rPr>
              <a:t>Ruize</a:t>
            </a:r>
            <a:r>
              <a:rPr dirty="0" sz="1000" spc="145">
                <a:latin typeface="Times New Roman"/>
                <a:cs typeface="Times New Roman"/>
              </a:rPr>
              <a:t> </a:t>
            </a:r>
            <a:r>
              <a:rPr dirty="0" sz="1000">
                <a:latin typeface="Times New Roman"/>
                <a:cs typeface="Times New Roman"/>
              </a:rPr>
              <a:t>Xu,</a:t>
            </a:r>
            <a:r>
              <a:rPr dirty="0" sz="1000" spc="175">
                <a:latin typeface="Times New Roman"/>
                <a:cs typeface="Times New Roman"/>
              </a:rPr>
              <a:t> </a:t>
            </a:r>
            <a:r>
              <a:rPr dirty="0" sz="1000">
                <a:latin typeface="Times New Roman"/>
                <a:cs typeface="Times New Roman"/>
              </a:rPr>
              <a:t>Ruoxuan</a:t>
            </a:r>
            <a:r>
              <a:rPr dirty="0" sz="1000" spc="140">
                <a:latin typeface="Times New Roman"/>
                <a:cs typeface="Times New Roman"/>
              </a:rPr>
              <a:t> </a:t>
            </a:r>
            <a:r>
              <a:rPr dirty="0" sz="1000">
                <a:latin typeface="Times New Roman"/>
                <a:cs typeface="Times New Roman"/>
              </a:rPr>
              <a:t>Feng,</a:t>
            </a:r>
            <a:r>
              <a:rPr dirty="0" sz="1000" spc="175">
                <a:latin typeface="Times New Roman"/>
                <a:cs typeface="Times New Roman"/>
              </a:rPr>
              <a:t> </a:t>
            </a:r>
            <a:r>
              <a:rPr dirty="0" sz="1000" spc="-10">
                <a:latin typeface="Times New Roman"/>
                <a:cs typeface="Times New Roman"/>
              </a:rPr>
              <a:t>Shi-</a:t>
            </a:r>
            <a:r>
              <a:rPr dirty="0" sz="1000">
                <a:latin typeface="Times New Roman"/>
                <a:cs typeface="Times New Roman"/>
              </a:rPr>
              <a:t>Xiong</a:t>
            </a:r>
            <a:r>
              <a:rPr dirty="0" sz="1000" spc="145">
                <a:latin typeface="Times New Roman"/>
                <a:cs typeface="Times New Roman"/>
              </a:rPr>
              <a:t> </a:t>
            </a:r>
            <a:r>
              <a:rPr dirty="0" sz="1000">
                <a:latin typeface="Times New Roman"/>
                <a:cs typeface="Times New Roman"/>
              </a:rPr>
              <a:t>Zhang,</a:t>
            </a:r>
            <a:r>
              <a:rPr dirty="0" sz="1000" spc="170">
                <a:latin typeface="Times New Roman"/>
                <a:cs typeface="Times New Roman"/>
              </a:rPr>
              <a:t> </a:t>
            </a:r>
            <a:r>
              <a:rPr dirty="0" sz="1000">
                <a:latin typeface="Times New Roman"/>
                <a:cs typeface="Times New Roman"/>
              </a:rPr>
              <a:t>and</a:t>
            </a:r>
            <a:r>
              <a:rPr dirty="0" sz="1000" spc="150">
                <a:latin typeface="Times New Roman"/>
                <a:cs typeface="Times New Roman"/>
              </a:rPr>
              <a:t> </a:t>
            </a:r>
            <a:r>
              <a:rPr dirty="0" sz="1000">
                <a:latin typeface="Times New Roman"/>
                <a:cs typeface="Times New Roman"/>
              </a:rPr>
              <a:t>Di</a:t>
            </a:r>
            <a:r>
              <a:rPr dirty="0" sz="1000" spc="145">
                <a:latin typeface="Times New Roman"/>
                <a:cs typeface="Times New Roman"/>
              </a:rPr>
              <a:t> </a:t>
            </a:r>
            <a:r>
              <a:rPr dirty="0" sz="1000">
                <a:latin typeface="Times New Roman"/>
                <a:cs typeface="Times New Roman"/>
              </a:rPr>
              <a:t>Hu.</a:t>
            </a:r>
            <a:r>
              <a:rPr dirty="0" sz="1000" spc="470">
                <a:latin typeface="Times New Roman"/>
                <a:cs typeface="Times New Roman"/>
              </a:rPr>
              <a:t> </a:t>
            </a:r>
            <a:r>
              <a:rPr dirty="0" sz="1000">
                <a:latin typeface="Times New Roman"/>
                <a:cs typeface="Times New Roman"/>
              </a:rPr>
              <a:t>Mmcosine:</a:t>
            </a:r>
            <a:r>
              <a:rPr dirty="0" sz="1000" spc="350">
                <a:latin typeface="Times New Roman"/>
                <a:cs typeface="Times New Roman"/>
              </a:rPr>
              <a:t> </a:t>
            </a:r>
            <a:r>
              <a:rPr dirty="0" sz="1000">
                <a:latin typeface="Times New Roman"/>
                <a:cs typeface="Times New Roman"/>
              </a:rPr>
              <a:t>Multi-modal</a:t>
            </a:r>
            <a:r>
              <a:rPr dirty="0" sz="1000" spc="145">
                <a:latin typeface="Times New Roman"/>
                <a:cs typeface="Times New Roman"/>
              </a:rPr>
              <a:t> </a:t>
            </a:r>
            <a:r>
              <a:rPr dirty="0" sz="1000">
                <a:latin typeface="Times New Roman"/>
                <a:cs typeface="Times New Roman"/>
              </a:rPr>
              <a:t>cosine</a:t>
            </a:r>
            <a:r>
              <a:rPr dirty="0" sz="1000" spc="145">
                <a:latin typeface="Times New Roman"/>
                <a:cs typeface="Times New Roman"/>
              </a:rPr>
              <a:t> </a:t>
            </a:r>
            <a:r>
              <a:rPr dirty="0" sz="1000">
                <a:latin typeface="Times New Roman"/>
                <a:cs typeface="Times New Roman"/>
              </a:rPr>
              <a:t>loss</a:t>
            </a:r>
            <a:r>
              <a:rPr dirty="0" sz="1000" spc="145">
                <a:latin typeface="Times New Roman"/>
                <a:cs typeface="Times New Roman"/>
              </a:rPr>
              <a:t> </a:t>
            </a:r>
            <a:r>
              <a:rPr dirty="0" sz="1000" spc="-25">
                <a:latin typeface="Times New Roman"/>
                <a:cs typeface="Times New Roman"/>
              </a:rPr>
              <a:t>to- </a:t>
            </a:r>
            <a:r>
              <a:rPr dirty="0" sz="1000">
                <a:latin typeface="Times New Roman"/>
                <a:cs typeface="Times New Roman"/>
              </a:rPr>
              <a:t>wards</a:t>
            </a:r>
            <a:r>
              <a:rPr dirty="0" sz="1000" spc="125">
                <a:latin typeface="Times New Roman"/>
                <a:cs typeface="Times New Roman"/>
              </a:rPr>
              <a:t> </a:t>
            </a:r>
            <a:r>
              <a:rPr dirty="0" sz="1000">
                <a:latin typeface="Times New Roman"/>
                <a:cs typeface="Times New Roman"/>
              </a:rPr>
              <a:t>balanced</a:t>
            </a:r>
            <a:r>
              <a:rPr dirty="0" sz="1000" spc="125">
                <a:latin typeface="Times New Roman"/>
                <a:cs typeface="Times New Roman"/>
              </a:rPr>
              <a:t> </a:t>
            </a:r>
            <a:r>
              <a:rPr dirty="0" sz="1000">
                <a:latin typeface="Times New Roman"/>
                <a:cs typeface="Times New Roman"/>
              </a:rPr>
              <a:t>audio-visual</a:t>
            </a:r>
            <a:r>
              <a:rPr dirty="0" sz="1000" spc="125">
                <a:latin typeface="Times New Roman"/>
                <a:cs typeface="Times New Roman"/>
              </a:rPr>
              <a:t> </a:t>
            </a:r>
            <a:r>
              <a:rPr dirty="0" sz="1000">
                <a:latin typeface="Times New Roman"/>
                <a:cs typeface="Times New Roman"/>
              </a:rPr>
              <a:t>fine-grained</a:t>
            </a:r>
            <a:r>
              <a:rPr dirty="0" sz="1000" spc="130">
                <a:latin typeface="Times New Roman"/>
                <a:cs typeface="Times New Roman"/>
              </a:rPr>
              <a:t> </a:t>
            </a:r>
            <a:r>
              <a:rPr dirty="0" sz="1000">
                <a:latin typeface="Times New Roman"/>
                <a:cs typeface="Times New Roman"/>
              </a:rPr>
              <a:t>learning.</a:t>
            </a:r>
            <a:r>
              <a:rPr dirty="0" sz="1000" spc="280">
                <a:latin typeface="Times New Roman"/>
                <a:cs typeface="Times New Roman"/>
              </a:rPr>
              <a:t> </a:t>
            </a:r>
            <a:r>
              <a:rPr dirty="0" sz="1000">
                <a:latin typeface="Times New Roman"/>
                <a:cs typeface="Times New Roman"/>
              </a:rPr>
              <a:t>In</a:t>
            </a:r>
            <a:r>
              <a:rPr dirty="0" sz="1000" spc="135">
                <a:latin typeface="Times New Roman"/>
                <a:cs typeface="Times New Roman"/>
              </a:rPr>
              <a:t> </a:t>
            </a:r>
            <a:r>
              <a:rPr dirty="0" sz="1000" spc="-10">
                <a:latin typeface="Times New Roman"/>
                <a:cs typeface="Times New Roman"/>
              </a:rPr>
              <a:t>ICASSP</a:t>
            </a:r>
            <a:r>
              <a:rPr dirty="0" sz="1000" spc="125">
                <a:latin typeface="Times New Roman"/>
                <a:cs typeface="Times New Roman"/>
              </a:rPr>
              <a:t> </a:t>
            </a:r>
            <a:r>
              <a:rPr dirty="0" sz="1000" spc="-10">
                <a:latin typeface="Times New Roman"/>
                <a:cs typeface="Times New Roman"/>
              </a:rPr>
              <a:t>2023-</a:t>
            </a:r>
            <a:r>
              <a:rPr dirty="0" sz="1000">
                <a:latin typeface="Times New Roman"/>
                <a:cs typeface="Times New Roman"/>
              </a:rPr>
              <a:t>2023</a:t>
            </a:r>
            <a:r>
              <a:rPr dirty="0" sz="1000" spc="135">
                <a:latin typeface="Times New Roman"/>
                <a:cs typeface="Times New Roman"/>
              </a:rPr>
              <a:t> </a:t>
            </a:r>
            <a:r>
              <a:rPr dirty="0" sz="1000">
                <a:latin typeface="Times New Roman"/>
                <a:cs typeface="Times New Roman"/>
              </a:rPr>
              <a:t>IEEE</a:t>
            </a:r>
            <a:r>
              <a:rPr dirty="0" sz="1000" spc="130">
                <a:latin typeface="Times New Roman"/>
                <a:cs typeface="Times New Roman"/>
              </a:rPr>
              <a:t> </a:t>
            </a:r>
            <a:r>
              <a:rPr dirty="0" sz="1000">
                <a:latin typeface="Times New Roman"/>
                <a:cs typeface="Times New Roman"/>
              </a:rPr>
              <a:t>International</a:t>
            </a:r>
            <a:r>
              <a:rPr dirty="0" sz="1000" spc="125">
                <a:latin typeface="Times New Roman"/>
                <a:cs typeface="Times New Roman"/>
              </a:rPr>
              <a:t> </a:t>
            </a:r>
            <a:r>
              <a:rPr dirty="0" sz="1000">
                <a:latin typeface="Times New Roman"/>
                <a:cs typeface="Times New Roman"/>
              </a:rPr>
              <a:t>Conference</a:t>
            </a:r>
            <a:r>
              <a:rPr dirty="0" sz="1000" spc="125">
                <a:latin typeface="Times New Roman"/>
                <a:cs typeface="Times New Roman"/>
              </a:rPr>
              <a:t> </a:t>
            </a:r>
            <a:r>
              <a:rPr dirty="0" sz="1000" spc="-25">
                <a:latin typeface="Times New Roman"/>
                <a:cs typeface="Times New Roman"/>
              </a:rPr>
              <a:t>on </a:t>
            </a:r>
            <a:r>
              <a:rPr dirty="0" sz="1000">
                <a:latin typeface="Times New Roman"/>
                <a:cs typeface="Times New Roman"/>
              </a:rPr>
              <a:t>Acoustics,</a:t>
            </a:r>
            <a:r>
              <a:rPr dirty="0" sz="1000" spc="15">
                <a:latin typeface="Times New Roman"/>
                <a:cs typeface="Times New Roman"/>
              </a:rPr>
              <a:t> </a:t>
            </a:r>
            <a:r>
              <a:rPr dirty="0" sz="1000">
                <a:latin typeface="Times New Roman"/>
                <a:cs typeface="Times New Roman"/>
              </a:rPr>
              <a:t>Speech</a:t>
            </a:r>
            <a:r>
              <a:rPr dirty="0" sz="1000" spc="20">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Signal</a:t>
            </a:r>
            <a:r>
              <a:rPr dirty="0" sz="1000" spc="20">
                <a:latin typeface="Times New Roman"/>
                <a:cs typeface="Times New Roman"/>
              </a:rPr>
              <a:t> </a:t>
            </a:r>
            <a:r>
              <a:rPr dirty="0" sz="1000">
                <a:latin typeface="Times New Roman"/>
                <a:cs typeface="Times New Roman"/>
              </a:rPr>
              <a:t>Processing</a:t>
            </a:r>
            <a:r>
              <a:rPr dirty="0" sz="1000" spc="20">
                <a:latin typeface="Times New Roman"/>
                <a:cs typeface="Times New Roman"/>
              </a:rPr>
              <a:t> </a:t>
            </a:r>
            <a:r>
              <a:rPr dirty="0" sz="1000" spc="-10">
                <a:latin typeface="Times New Roman"/>
                <a:cs typeface="Times New Roman"/>
              </a:rPr>
              <a:t>(ICASSP),</a:t>
            </a:r>
            <a:r>
              <a:rPr dirty="0" sz="1000" spc="15">
                <a:latin typeface="Times New Roman"/>
                <a:cs typeface="Times New Roman"/>
              </a:rPr>
              <a:t> </a:t>
            </a:r>
            <a:r>
              <a:rPr dirty="0" sz="1000">
                <a:latin typeface="Times New Roman"/>
                <a:cs typeface="Times New Roman"/>
              </a:rPr>
              <a:t>pages</a:t>
            </a:r>
            <a:r>
              <a:rPr dirty="0" sz="1000" spc="20">
                <a:latin typeface="Times New Roman"/>
                <a:cs typeface="Times New Roman"/>
              </a:rPr>
              <a:t> </a:t>
            </a:r>
            <a:r>
              <a:rPr dirty="0" sz="1000" spc="-20">
                <a:latin typeface="Times New Roman"/>
                <a:cs typeface="Times New Roman"/>
              </a:rPr>
              <a:t>1-</a:t>
            </a:r>
            <a:r>
              <a:rPr dirty="0" sz="1000">
                <a:latin typeface="Times New Roman"/>
                <a:cs typeface="Times New Roman"/>
              </a:rPr>
              <a:t>5.</a:t>
            </a:r>
            <a:r>
              <a:rPr dirty="0" sz="1000" spc="114">
                <a:latin typeface="Times New Roman"/>
                <a:cs typeface="Times New Roman"/>
              </a:rPr>
              <a:t> </a:t>
            </a:r>
            <a:r>
              <a:rPr dirty="0" sz="1000">
                <a:latin typeface="Times New Roman"/>
                <a:cs typeface="Times New Roman"/>
              </a:rPr>
              <a:t>IEEE,</a:t>
            </a:r>
            <a:r>
              <a:rPr dirty="0" sz="1000" spc="20">
                <a:latin typeface="Times New Roman"/>
                <a:cs typeface="Times New Roman"/>
              </a:rPr>
              <a:t> </a:t>
            </a:r>
            <a:r>
              <a:rPr dirty="0" sz="1000">
                <a:latin typeface="Times New Roman"/>
                <a:cs typeface="Times New Roman"/>
              </a:rPr>
              <a:t>2023.</a:t>
            </a:r>
            <a:r>
              <a:rPr dirty="0" sz="1000" spc="110">
                <a:latin typeface="Times New Roman"/>
                <a:cs typeface="Times New Roman"/>
              </a:rPr>
              <a:t> </a:t>
            </a:r>
            <a:r>
              <a:rPr dirty="0" sz="1000">
                <a:latin typeface="Times New Roman"/>
                <a:cs typeface="Times New Roman"/>
              </a:rPr>
              <a:t>1,</a:t>
            </a:r>
            <a:r>
              <a:rPr dirty="0" sz="1000" spc="20">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40"/>
              </a:spcBef>
            </a:pPr>
            <a:endParaRPr sz="1000">
              <a:latin typeface="Times New Roman"/>
              <a:cs typeface="Times New Roman"/>
            </a:endParaRPr>
          </a:p>
          <a:p>
            <a:pPr algn="just" marL="192405" marR="184785" indent="241935">
              <a:lnSpc>
                <a:spcPct val="129500"/>
              </a:lnSpc>
              <a:buFont typeface="Times New Roman"/>
              <a:buAutoNum type="arabicPlain" startAt="36"/>
              <a:tabLst>
                <a:tab pos="434340" algn="l"/>
              </a:tabLst>
            </a:pPr>
            <a:r>
              <a:rPr dirty="0" sz="1000" spc="-30">
                <a:latin typeface="SimSun"/>
                <a:cs typeface="SimSun"/>
              </a:rPr>
              <a:t>徐瑞泽、冯若萱、张世雄和胡迪。</a:t>
            </a:r>
            <a:r>
              <a:rPr dirty="0" sz="1000" spc="15">
                <a:latin typeface="Times New Roman"/>
                <a:cs typeface="Times New Roman"/>
              </a:rPr>
              <a:t>Mmcosine:</a:t>
            </a:r>
            <a:r>
              <a:rPr dirty="0" sz="1000" spc="-20">
                <a:latin typeface="Times New Roman"/>
                <a:cs typeface="Times New Roman"/>
              </a:rPr>
              <a:t> </a:t>
            </a:r>
            <a:r>
              <a:rPr dirty="0" sz="1000" spc="-15">
                <a:latin typeface="SimSun"/>
                <a:cs typeface="SimSun"/>
              </a:rPr>
              <a:t>用于平衡视听细粒度学习的多模态余弦损失。在</a:t>
            </a:r>
            <a:r>
              <a:rPr dirty="0" sz="1000" spc="-5">
                <a:latin typeface="SimSun"/>
                <a:cs typeface="SimSun"/>
              </a:rPr>
              <a:t> </a:t>
            </a:r>
            <a:r>
              <a:rPr dirty="0" sz="1000" spc="-15">
                <a:latin typeface="Times New Roman"/>
                <a:cs typeface="Times New Roman"/>
              </a:rPr>
              <a:t>ICASSP</a:t>
            </a:r>
            <a:r>
              <a:rPr dirty="0" sz="1000" spc="-30">
                <a:latin typeface="Times New Roman"/>
                <a:cs typeface="Times New Roman"/>
              </a:rPr>
              <a:t> </a:t>
            </a:r>
            <a:r>
              <a:rPr dirty="0" sz="1000" spc="-10">
                <a:latin typeface="Times New Roman"/>
                <a:cs typeface="Times New Roman"/>
              </a:rPr>
              <a:t>2023</a:t>
            </a:r>
            <a:r>
              <a:rPr dirty="0" sz="1000" spc="-30">
                <a:latin typeface="Times New Roman"/>
                <a:cs typeface="Times New Roman"/>
              </a:rPr>
              <a:t> - </a:t>
            </a:r>
            <a:r>
              <a:rPr dirty="0" sz="1000" spc="-10">
                <a:latin typeface="Times New Roman"/>
                <a:cs typeface="Times New Roman"/>
              </a:rPr>
              <a:t>2023</a:t>
            </a:r>
            <a:r>
              <a:rPr dirty="0" sz="1000" spc="-30">
                <a:latin typeface="Times New Roman"/>
                <a:cs typeface="Times New Roman"/>
              </a:rPr>
              <a:t> </a:t>
            </a:r>
            <a:r>
              <a:rPr dirty="0" sz="1000" spc="210">
                <a:latin typeface="SimSun"/>
                <a:cs typeface="SimSun"/>
              </a:rPr>
              <a:t>年</a:t>
            </a:r>
            <a:r>
              <a:rPr dirty="0" sz="1000" spc="10">
                <a:latin typeface="Times New Roman"/>
                <a:cs typeface="Times New Roman"/>
              </a:rPr>
              <a:t>IEEE</a:t>
            </a:r>
            <a:r>
              <a:rPr dirty="0" sz="1000" spc="-30">
                <a:latin typeface="Times New Roman"/>
                <a:cs typeface="Times New Roman"/>
              </a:rPr>
              <a:t> </a:t>
            </a:r>
            <a:r>
              <a:rPr dirty="0" sz="1000" spc="-15">
                <a:latin typeface="SimSun"/>
                <a:cs typeface="SimSun"/>
              </a:rPr>
              <a:t>国际声学、语音和信号处理会议</a:t>
            </a:r>
            <a:r>
              <a:rPr dirty="0" sz="1000" spc="-15">
                <a:latin typeface="Times New Roman"/>
                <a:cs typeface="Times New Roman"/>
              </a:rPr>
              <a:t>(ICASSP)</a:t>
            </a:r>
            <a:r>
              <a:rPr dirty="0" sz="1000" spc="-30">
                <a:latin typeface="Times New Roman"/>
                <a:cs typeface="Times New Roman"/>
              </a:rPr>
              <a:t> </a:t>
            </a:r>
            <a:r>
              <a:rPr dirty="0" sz="1000" spc="-105">
                <a:latin typeface="SimSun"/>
                <a:cs typeface="SimSun"/>
              </a:rPr>
              <a:t>上，第 </a:t>
            </a:r>
            <a:r>
              <a:rPr dirty="0" sz="1000" spc="-10">
                <a:latin typeface="Times New Roman"/>
                <a:cs typeface="Times New Roman"/>
              </a:rPr>
              <a:t>1</a:t>
            </a:r>
            <a:r>
              <a:rPr dirty="0" sz="1000" spc="-30">
                <a:latin typeface="Times New Roman"/>
                <a:cs typeface="Times New Roman"/>
              </a:rPr>
              <a:t> - </a:t>
            </a:r>
            <a:r>
              <a:rPr dirty="0" sz="1000" spc="-10">
                <a:latin typeface="Times New Roman"/>
                <a:cs typeface="Times New Roman"/>
              </a:rPr>
              <a:t>5</a:t>
            </a:r>
            <a:r>
              <a:rPr dirty="0" sz="1000" spc="-30">
                <a:latin typeface="Times New Roman"/>
                <a:cs typeface="Times New Roman"/>
              </a:rPr>
              <a:t> </a:t>
            </a:r>
            <a:r>
              <a:rPr dirty="0" sz="1000" spc="-55">
                <a:latin typeface="SimSun"/>
                <a:cs typeface="SimSun"/>
              </a:rPr>
              <a:t>页。</a:t>
            </a:r>
            <a:r>
              <a:rPr dirty="0" sz="1000" spc="-15">
                <a:latin typeface="Times New Roman"/>
                <a:cs typeface="Times New Roman"/>
              </a:rPr>
              <a:t>IEEE</a:t>
            </a:r>
            <a:r>
              <a:rPr dirty="0" sz="1000" spc="-15">
                <a:latin typeface="SimSun"/>
                <a:cs typeface="SimSun"/>
              </a:rPr>
              <a:t>，</a:t>
            </a:r>
            <a:r>
              <a:rPr dirty="0" sz="1000" spc="-15">
                <a:latin typeface="Times New Roman"/>
                <a:cs typeface="Times New Roman"/>
              </a:rPr>
              <a:t>2023</a:t>
            </a:r>
            <a:r>
              <a:rPr dirty="0" sz="1000" spc="-10">
                <a:latin typeface="SimSun"/>
                <a:cs typeface="SimSun"/>
              </a:rPr>
              <a:t>年。</a:t>
            </a:r>
            <a:r>
              <a:rPr dirty="0" sz="1000" spc="-10">
                <a:latin typeface="Times New Roman"/>
                <a:cs typeface="Times New Roman"/>
              </a:rPr>
              <a:t>1,</a:t>
            </a:r>
            <a:r>
              <a:rPr dirty="0" sz="1000" spc="-20">
                <a:latin typeface="Times New Roman"/>
                <a:cs typeface="Times New Roman"/>
              </a:rPr>
              <a:t> </a:t>
            </a:r>
            <a:r>
              <a:rPr dirty="0" sz="1000" spc="-10">
                <a:latin typeface="Times New Roman"/>
                <a:cs typeface="Times New Roman"/>
              </a:rPr>
              <a:t>2</a:t>
            </a:r>
            <a:endParaRPr sz="1000">
              <a:latin typeface="Times New Roman"/>
              <a:cs typeface="Times New Roman"/>
            </a:endParaRPr>
          </a:p>
          <a:p>
            <a:pPr>
              <a:lnSpc>
                <a:spcPct val="100000"/>
              </a:lnSpc>
              <a:spcBef>
                <a:spcPts val="140"/>
              </a:spcBef>
              <a:buFont typeface="Times New Roman"/>
              <a:buAutoNum type="arabicPlain" startAt="36"/>
            </a:pPr>
            <a:endParaRPr sz="1000">
              <a:latin typeface="Times New Roman"/>
              <a:cs typeface="Times New Roman"/>
            </a:endParaRPr>
          </a:p>
          <a:p>
            <a:pPr algn="just" marL="12700" marR="5080" indent="504190">
              <a:lnSpc>
                <a:spcPct val="129500"/>
              </a:lnSpc>
              <a:buAutoNum type="arabicPlain" startAt="36"/>
              <a:tabLst>
                <a:tab pos="516890" algn="l"/>
              </a:tabLst>
            </a:pPr>
            <a:r>
              <a:rPr dirty="0" sz="1000">
                <a:latin typeface="Times New Roman"/>
                <a:cs typeface="Times New Roman"/>
              </a:rPr>
              <a:t>Amir</a:t>
            </a:r>
            <a:r>
              <a:rPr dirty="0" sz="1000" spc="160">
                <a:latin typeface="Times New Roman"/>
                <a:cs typeface="Times New Roman"/>
              </a:rPr>
              <a:t> </a:t>
            </a:r>
            <a:r>
              <a:rPr dirty="0" sz="1000">
                <a:latin typeface="Times New Roman"/>
                <a:cs typeface="Times New Roman"/>
              </a:rPr>
              <a:t>Zadeh,</a:t>
            </a:r>
            <a:r>
              <a:rPr dirty="0" sz="1000" spc="185">
                <a:latin typeface="Times New Roman"/>
                <a:cs typeface="Times New Roman"/>
              </a:rPr>
              <a:t> </a:t>
            </a:r>
            <a:r>
              <a:rPr dirty="0" sz="1000">
                <a:latin typeface="Times New Roman"/>
                <a:cs typeface="Times New Roman"/>
              </a:rPr>
              <a:t>Minghai</a:t>
            </a:r>
            <a:r>
              <a:rPr dirty="0" sz="1000" spc="160">
                <a:latin typeface="Times New Roman"/>
                <a:cs typeface="Times New Roman"/>
              </a:rPr>
              <a:t> </a:t>
            </a:r>
            <a:r>
              <a:rPr dirty="0" sz="1000">
                <a:latin typeface="Times New Roman"/>
                <a:cs typeface="Times New Roman"/>
              </a:rPr>
              <a:t>Chen,</a:t>
            </a:r>
            <a:r>
              <a:rPr dirty="0" sz="1000" spc="185">
                <a:latin typeface="Times New Roman"/>
                <a:cs typeface="Times New Roman"/>
              </a:rPr>
              <a:t> </a:t>
            </a:r>
            <a:r>
              <a:rPr dirty="0" sz="1000">
                <a:latin typeface="Times New Roman"/>
                <a:cs typeface="Times New Roman"/>
              </a:rPr>
              <a:t>Soujanya</a:t>
            </a:r>
            <a:r>
              <a:rPr dirty="0" sz="1000" spc="155">
                <a:latin typeface="Times New Roman"/>
                <a:cs typeface="Times New Roman"/>
              </a:rPr>
              <a:t> </a:t>
            </a:r>
            <a:r>
              <a:rPr dirty="0" sz="1000">
                <a:latin typeface="Times New Roman"/>
                <a:cs typeface="Times New Roman"/>
              </a:rPr>
              <a:t>Poria,</a:t>
            </a:r>
            <a:r>
              <a:rPr dirty="0" sz="1000" spc="185">
                <a:latin typeface="Times New Roman"/>
                <a:cs typeface="Times New Roman"/>
              </a:rPr>
              <a:t> </a:t>
            </a:r>
            <a:r>
              <a:rPr dirty="0" sz="1000">
                <a:latin typeface="Times New Roman"/>
                <a:cs typeface="Times New Roman"/>
              </a:rPr>
              <a:t>Erik</a:t>
            </a:r>
            <a:r>
              <a:rPr dirty="0" sz="1000" spc="160">
                <a:latin typeface="Times New Roman"/>
                <a:cs typeface="Times New Roman"/>
              </a:rPr>
              <a:t> </a:t>
            </a:r>
            <a:r>
              <a:rPr dirty="0" sz="1000">
                <a:latin typeface="Times New Roman"/>
                <a:cs typeface="Times New Roman"/>
              </a:rPr>
              <a:t>Cambria,</a:t>
            </a:r>
            <a:r>
              <a:rPr dirty="0" sz="1000" spc="185">
                <a:latin typeface="Times New Roman"/>
                <a:cs typeface="Times New Roman"/>
              </a:rPr>
              <a:t> </a:t>
            </a:r>
            <a:r>
              <a:rPr dirty="0" sz="1000">
                <a:latin typeface="Times New Roman"/>
                <a:cs typeface="Times New Roman"/>
              </a:rPr>
              <a:t>and</a:t>
            </a:r>
            <a:r>
              <a:rPr dirty="0" sz="1000" spc="165">
                <a:latin typeface="Times New Roman"/>
                <a:cs typeface="Times New Roman"/>
              </a:rPr>
              <a:t> </a:t>
            </a:r>
            <a:r>
              <a:rPr dirty="0" sz="1000">
                <a:latin typeface="Times New Roman"/>
                <a:cs typeface="Times New Roman"/>
              </a:rPr>
              <a:t>Louis-Philippe</a:t>
            </a:r>
            <a:r>
              <a:rPr dirty="0" sz="1000" spc="160">
                <a:latin typeface="Times New Roman"/>
                <a:cs typeface="Times New Roman"/>
              </a:rPr>
              <a:t> </a:t>
            </a:r>
            <a:r>
              <a:rPr dirty="0" sz="1000">
                <a:latin typeface="Times New Roman"/>
                <a:cs typeface="Times New Roman"/>
              </a:rPr>
              <a:t>Morency.</a:t>
            </a:r>
            <a:r>
              <a:rPr dirty="0" sz="1000" spc="459">
                <a:latin typeface="Times New Roman"/>
                <a:cs typeface="Times New Roman"/>
              </a:rPr>
              <a:t> </a:t>
            </a:r>
            <a:r>
              <a:rPr dirty="0" sz="1000" spc="-10">
                <a:latin typeface="Times New Roman"/>
                <a:cs typeface="Times New Roman"/>
              </a:rPr>
              <a:t>Tensor </a:t>
            </a:r>
            <a:r>
              <a:rPr dirty="0" sz="1000">
                <a:latin typeface="Times New Roman"/>
                <a:cs typeface="Times New Roman"/>
              </a:rPr>
              <a:t>fusion</a:t>
            </a:r>
            <a:r>
              <a:rPr dirty="0" sz="1000" spc="85">
                <a:latin typeface="Times New Roman"/>
                <a:cs typeface="Times New Roman"/>
              </a:rPr>
              <a:t> </a:t>
            </a:r>
            <a:r>
              <a:rPr dirty="0" sz="1000">
                <a:latin typeface="Times New Roman"/>
                <a:cs typeface="Times New Roman"/>
              </a:rPr>
              <a:t>network</a:t>
            </a:r>
            <a:r>
              <a:rPr dirty="0" sz="1000" spc="90">
                <a:latin typeface="Times New Roman"/>
                <a:cs typeface="Times New Roman"/>
              </a:rPr>
              <a:t> </a:t>
            </a:r>
            <a:r>
              <a:rPr dirty="0" sz="1000">
                <a:latin typeface="Times New Roman"/>
                <a:cs typeface="Times New Roman"/>
              </a:rPr>
              <a:t>for</a:t>
            </a:r>
            <a:r>
              <a:rPr dirty="0" sz="1000" spc="90">
                <a:latin typeface="Times New Roman"/>
                <a:cs typeface="Times New Roman"/>
              </a:rPr>
              <a:t> </a:t>
            </a:r>
            <a:r>
              <a:rPr dirty="0" sz="1000">
                <a:latin typeface="Times New Roman"/>
                <a:cs typeface="Times New Roman"/>
              </a:rPr>
              <a:t>multimodal</a:t>
            </a:r>
            <a:r>
              <a:rPr dirty="0" sz="1000" spc="90">
                <a:latin typeface="Times New Roman"/>
                <a:cs typeface="Times New Roman"/>
              </a:rPr>
              <a:t> </a:t>
            </a:r>
            <a:r>
              <a:rPr dirty="0" sz="1000">
                <a:latin typeface="Times New Roman"/>
                <a:cs typeface="Times New Roman"/>
              </a:rPr>
              <a:t>sentiment</a:t>
            </a:r>
            <a:r>
              <a:rPr dirty="0" sz="1000" spc="85">
                <a:latin typeface="Times New Roman"/>
                <a:cs typeface="Times New Roman"/>
              </a:rPr>
              <a:t> </a:t>
            </a:r>
            <a:r>
              <a:rPr dirty="0" sz="1000">
                <a:latin typeface="Times New Roman"/>
                <a:cs typeface="Times New Roman"/>
              </a:rPr>
              <a:t>analysis.</a:t>
            </a:r>
            <a:r>
              <a:rPr dirty="0" sz="1000" spc="210">
                <a:latin typeface="Times New Roman"/>
                <a:cs typeface="Times New Roman"/>
              </a:rPr>
              <a:t> </a:t>
            </a:r>
            <a:r>
              <a:rPr dirty="0" sz="1000">
                <a:latin typeface="Times New Roman"/>
                <a:cs typeface="Times New Roman"/>
              </a:rPr>
              <a:t>arXiv</a:t>
            </a:r>
            <a:r>
              <a:rPr dirty="0" sz="1000" spc="90">
                <a:latin typeface="Times New Roman"/>
                <a:cs typeface="Times New Roman"/>
              </a:rPr>
              <a:t> </a:t>
            </a:r>
            <a:r>
              <a:rPr dirty="0" sz="1000">
                <a:latin typeface="Times New Roman"/>
                <a:cs typeface="Times New Roman"/>
              </a:rPr>
              <a:t>preprint</a:t>
            </a:r>
            <a:r>
              <a:rPr dirty="0" sz="1000" spc="85">
                <a:latin typeface="Times New Roman"/>
                <a:cs typeface="Times New Roman"/>
              </a:rPr>
              <a:t> </a:t>
            </a:r>
            <a:r>
              <a:rPr dirty="0" sz="1000" spc="-10">
                <a:latin typeface="Times New Roman"/>
                <a:cs typeface="Times New Roman"/>
              </a:rPr>
              <a:t>arXiv:1707.07250,</a:t>
            </a:r>
            <a:r>
              <a:rPr dirty="0" sz="1000" spc="90">
                <a:latin typeface="Times New Roman"/>
                <a:cs typeface="Times New Roman"/>
              </a:rPr>
              <a:t> </a:t>
            </a:r>
            <a:r>
              <a:rPr dirty="0" sz="1000">
                <a:latin typeface="Times New Roman"/>
                <a:cs typeface="Times New Roman"/>
              </a:rPr>
              <a:t>2017.</a:t>
            </a:r>
            <a:r>
              <a:rPr dirty="0" sz="1000" spc="210">
                <a:latin typeface="Times New Roman"/>
                <a:cs typeface="Times New Roman"/>
              </a:rPr>
              <a:t> </a:t>
            </a:r>
            <a:r>
              <a:rPr dirty="0" sz="1000">
                <a:latin typeface="Times New Roman"/>
                <a:cs typeface="Times New Roman"/>
              </a:rPr>
              <a:t>1,</a:t>
            </a:r>
            <a:r>
              <a:rPr dirty="0" sz="1000" spc="85">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35"/>
              </a:spcBef>
              <a:buFont typeface="Times New Roman"/>
              <a:buAutoNum type="arabicPlain" startAt="36"/>
            </a:pPr>
            <a:endParaRPr sz="1000">
              <a:latin typeface="Times New Roman"/>
              <a:cs typeface="Times New Roman"/>
            </a:endParaRPr>
          </a:p>
          <a:p>
            <a:pPr marL="192405" marR="184785">
              <a:lnSpc>
                <a:spcPct val="129500"/>
              </a:lnSpc>
            </a:pPr>
            <a:r>
              <a:rPr dirty="0" sz="1000">
                <a:latin typeface="Times New Roman"/>
                <a:cs typeface="Times New Roman"/>
              </a:rPr>
              <a:t>[</a:t>
            </a:r>
            <a:r>
              <a:rPr dirty="0" sz="1000" spc="-145">
                <a:latin typeface="SimSun"/>
                <a:cs typeface="SimSun"/>
              </a:rPr>
              <a:t>第 </a:t>
            </a:r>
            <a:r>
              <a:rPr dirty="0" sz="1000">
                <a:latin typeface="Times New Roman"/>
                <a:cs typeface="Times New Roman"/>
              </a:rPr>
              <a:t>37]</a:t>
            </a:r>
            <a:r>
              <a:rPr dirty="0" sz="1000" spc="-60">
                <a:latin typeface="Times New Roman"/>
                <a:cs typeface="Times New Roman"/>
              </a:rPr>
              <a:t> </a:t>
            </a:r>
            <a:r>
              <a:rPr dirty="0" sz="1000" spc="-15">
                <a:latin typeface="SimSun"/>
                <a:cs typeface="SimSun"/>
              </a:rPr>
              <a:t>阿米尔</a:t>
            </a:r>
            <a:r>
              <a:rPr dirty="0" sz="1000" spc="-690">
                <a:latin typeface="SimSun"/>
                <a:cs typeface="SimSun"/>
              </a:rPr>
              <a:t>·</a:t>
            </a:r>
            <a:r>
              <a:rPr dirty="0" sz="1000" spc="-45">
                <a:latin typeface="SimSun"/>
                <a:cs typeface="SimSun"/>
              </a:rPr>
              <a:t>扎德、陈明海、苏贾尼亚</a:t>
            </a:r>
            <a:r>
              <a:rPr dirty="0" sz="1000" spc="-690">
                <a:latin typeface="SimSun"/>
                <a:cs typeface="SimSun"/>
              </a:rPr>
              <a:t>·</a:t>
            </a:r>
            <a:r>
              <a:rPr dirty="0" sz="1000" spc="-35">
                <a:latin typeface="SimSun"/>
                <a:cs typeface="SimSun"/>
              </a:rPr>
              <a:t>波里亚、埃里克</a:t>
            </a:r>
            <a:r>
              <a:rPr dirty="0" sz="1000" spc="-690">
                <a:latin typeface="SimSun"/>
                <a:cs typeface="SimSun"/>
              </a:rPr>
              <a:t>·</a:t>
            </a:r>
            <a:r>
              <a:rPr dirty="0" sz="1000" spc="-45">
                <a:latin typeface="SimSun"/>
                <a:cs typeface="SimSun"/>
              </a:rPr>
              <a:t>坎布里亚和路易 </a:t>
            </a:r>
            <a:r>
              <a:rPr dirty="0" sz="1000" spc="-20">
                <a:latin typeface="Times New Roman"/>
                <a:cs typeface="Times New Roman"/>
              </a:rPr>
              <a:t>- </a:t>
            </a:r>
            <a:r>
              <a:rPr dirty="0" sz="1000" spc="-15">
                <a:latin typeface="SimSun"/>
                <a:cs typeface="SimSun"/>
              </a:rPr>
              <a:t>菲利普</a:t>
            </a:r>
            <a:r>
              <a:rPr dirty="0" sz="1000" spc="-690">
                <a:latin typeface="SimSun"/>
                <a:cs typeface="SimSun"/>
              </a:rPr>
              <a:t>·</a:t>
            </a:r>
            <a:r>
              <a:rPr dirty="0" sz="1000" spc="-40">
                <a:latin typeface="SimSun"/>
                <a:cs typeface="SimSun"/>
              </a:rPr>
              <a:t>莫伦西。用于多</a:t>
            </a:r>
            <a:r>
              <a:rPr dirty="0" sz="1000" spc="-10">
                <a:latin typeface="SimSun"/>
                <a:cs typeface="SimSun"/>
              </a:rPr>
              <a:t>模态情感分析的张量融合网络。</a:t>
            </a:r>
            <a:r>
              <a:rPr dirty="0" sz="1000">
                <a:latin typeface="Times New Roman"/>
                <a:cs typeface="Times New Roman"/>
              </a:rPr>
              <a:t>arXiv</a:t>
            </a:r>
            <a:r>
              <a:rPr dirty="0" sz="1000" spc="-30">
                <a:latin typeface="Times New Roman"/>
                <a:cs typeface="Times New Roman"/>
              </a:rPr>
              <a:t> </a:t>
            </a:r>
            <a:r>
              <a:rPr dirty="0" sz="1000" spc="65">
                <a:latin typeface="SimSun"/>
                <a:cs typeface="SimSun"/>
              </a:rPr>
              <a:t>预印本</a:t>
            </a:r>
            <a:r>
              <a:rPr dirty="0" sz="1000" spc="-10">
                <a:latin typeface="Times New Roman"/>
                <a:cs typeface="Times New Roman"/>
              </a:rPr>
              <a:t>arXiv:1707.07250</a:t>
            </a:r>
            <a:r>
              <a:rPr dirty="0" sz="1000" spc="-10">
                <a:latin typeface="SimSun"/>
                <a:cs typeface="SimSun"/>
              </a:rPr>
              <a:t>，</a:t>
            </a:r>
            <a:r>
              <a:rPr dirty="0" sz="1000" spc="-10">
                <a:latin typeface="Times New Roman"/>
                <a:cs typeface="Times New Roman"/>
              </a:rPr>
              <a:t>2017</a:t>
            </a:r>
            <a:r>
              <a:rPr dirty="0" sz="1000" spc="-30">
                <a:latin typeface="Times New Roman"/>
                <a:cs typeface="Times New Roman"/>
              </a:rPr>
              <a:t> </a:t>
            </a:r>
            <a:r>
              <a:rPr dirty="0" sz="1000" spc="-10">
                <a:latin typeface="SimSun"/>
                <a:cs typeface="SimSun"/>
              </a:rPr>
              <a:t>年。</a:t>
            </a:r>
            <a:r>
              <a:rPr dirty="0" sz="1000">
                <a:latin typeface="Times New Roman"/>
                <a:cs typeface="Times New Roman"/>
              </a:rPr>
              <a:t>1,</a:t>
            </a:r>
            <a:r>
              <a:rPr dirty="0" sz="1000" spc="-30">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488315">
              <a:lnSpc>
                <a:spcPct val="129500"/>
              </a:lnSpc>
              <a:buAutoNum type="arabicPlain" startAt="38"/>
              <a:tabLst>
                <a:tab pos="501015" algn="l"/>
              </a:tabLst>
            </a:pPr>
            <a:r>
              <a:rPr dirty="0" sz="1000">
                <a:latin typeface="Times New Roman"/>
                <a:cs typeface="Times New Roman"/>
              </a:rPr>
              <a:t>Amir</a:t>
            </a:r>
            <a:r>
              <a:rPr dirty="0" sz="1000" spc="30">
                <a:latin typeface="Times New Roman"/>
                <a:cs typeface="Times New Roman"/>
              </a:rPr>
              <a:t> </a:t>
            </a:r>
            <a:r>
              <a:rPr dirty="0" sz="1000">
                <a:latin typeface="Times New Roman"/>
                <a:cs typeface="Times New Roman"/>
              </a:rPr>
              <a:t>Zadeh,</a:t>
            </a:r>
            <a:r>
              <a:rPr dirty="0" sz="1000" spc="55">
                <a:latin typeface="Times New Roman"/>
                <a:cs typeface="Times New Roman"/>
              </a:rPr>
              <a:t> </a:t>
            </a:r>
            <a:r>
              <a:rPr dirty="0" sz="1000">
                <a:latin typeface="Times New Roman"/>
                <a:cs typeface="Times New Roman"/>
              </a:rPr>
              <a:t>Paul</a:t>
            </a:r>
            <a:r>
              <a:rPr dirty="0" sz="1000" spc="35">
                <a:latin typeface="Times New Roman"/>
                <a:cs typeface="Times New Roman"/>
              </a:rPr>
              <a:t> </a:t>
            </a:r>
            <a:r>
              <a:rPr dirty="0" sz="1000">
                <a:latin typeface="Times New Roman"/>
                <a:cs typeface="Times New Roman"/>
              </a:rPr>
              <a:t>Pu</a:t>
            </a:r>
            <a:r>
              <a:rPr dirty="0" sz="1000" spc="30">
                <a:latin typeface="Times New Roman"/>
                <a:cs typeface="Times New Roman"/>
              </a:rPr>
              <a:t> </a:t>
            </a:r>
            <a:r>
              <a:rPr dirty="0" sz="1000">
                <a:latin typeface="Times New Roman"/>
                <a:cs typeface="Times New Roman"/>
              </a:rPr>
              <a:t>Liang,</a:t>
            </a:r>
            <a:r>
              <a:rPr dirty="0" sz="1000" spc="50">
                <a:latin typeface="Times New Roman"/>
                <a:cs typeface="Times New Roman"/>
              </a:rPr>
              <a:t> </a:t>
            </a:r>
            <a:r>
              <a:rPr dirty="0" sz="1000">
                <a:latin typeface="Times New Roman"/>
                <a:cs typeface="Times New Roman"/>
              </a:rPr>
              <a:t>Soujanya</a:t>
            </a:r>
            <a:r>
              <a:rPr dirty="0" sz="1000" spc="30">
                <a:latin typeface="Times New Roman"/>
                <a:cs typeface="Times New Roman"/>
              </a:rPr>
              <a:t> </a:t>
            </a:r>
            <a:r>
              <a:rPr dirty="0" sz="1000">
                <a:latin typeface="Times New Roman"/>
                <a:cs typeface="Times New Roman"/>
              </a:rPr>
              <a:t>Poria,</a:t>
            </a:r>
            <a:r>
              <a:rPr dirty="0" sz="1000" spc="50">
                <a:latin typeface="Times New Roman"/>
                <a:cs typeface="Times New Roman"/>
              </a:rPr>
              <a:t> </a:t>
            </a:r>
            <a:r>
              <a:rPr dirty="0" sz="1000">
                <a:latin typeface="Times New Roman"/>
                <a:cs typeface="Times New Roman"/>
              </a:rPr>
              <a:t>Prateek</a:t>
            </a:r>
            <a:r>
              <a:rPr dirty="0" sz="1000" spc="30">
                <a:latin typeface="Times New Roman"/>
                <a:cs typeface="Times New Roman"/>
              </a:rPr>
              <a:t> </a:t>
            </a:r>
            <a:r>
              <a:rPr dirty="0" sz="1000" spc="-30">
                <a:latin typeface="Times New Roman"/>
                <a:cs typeface="Times New Roman"/>
              </a:rPr>
              <a:t>Vij,</a:t>
            </a:r>
            <a:r>
              <a:rPr dirty="0" sz="1000" spc="50">
                <a:latin typeface="Times New Roman"/>
                <a:cs typeface="Times New Roman"/>
              </a:rPr>
              <a:t> </a:t>
            </a:r>
            <a:r>
              <a:rPr dirty="0" sz="1000">
                <a:latin typeface="Times New Roman"/>
                <a:cs typeface="Times New Roman"/>
              </a:rPr>
              <a:t>Erik</a:t>
            </a:r>
            <a:r>
              <a:rPr dirty="0" sz="1000" spc="30">
                <a:latin typeface="Times New Roman"/>
                <a:cs typeface="Times New Roman"/>
              </a:rPr>
              <a:t> </a:t>
            </a:r>
            <a:r>
              <a:rPr dirty="0" sz="1000">
                <a:latin typeface="Times New Roman"/>
                <a:cs typeface="Times New Roman"/>
              </a:rPr>
              <a:t>Cambria,</a:t>
            </a:r>
            <a:r>
              <a:rPr dirty="0" sz="1000" spc="50">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a:latin typeface="Times New Roman"/>
                <a:cs typeface="Times New Roman"/>
              </a:rPr>
              <a:t>Louis-Philippe</a:t>
            </a:r>
            <a:r>
              <a:rPr dirty="0" sz="1000" spc="35">
                <a:latin typeface="Times New Roman"/>
                <a:cs typeface="Times New Roman"/>
              </a:rPr>
              <a:t> </a:t>
            </a:r>
            <a:r>
              <a:rPr dirty="0" sz="1000" spc="-10">
                <a:latin typeface="Times New Roman"/>
                <a:cs typeface="Times New Roman"/>
              </a:rPr>
              <a:t>Morency. </a:t>
            </a:r>
            <a:r>
              <a:rPr dirty="0" sz="1000" spc="20">
                <a:latin typeface="Times New Roman"/>
                <a:cs typeface="Times New Roman"/>
              </a:rPr>
              <a:t>Multi-attention</a:t>
            </a:r>
            <a:r>
              <a:rPr dirty="0" sz="1000" spc="50">
                <a:latin typeface="Times New Roman"/>
                <a:cs typeface="Times New Roman"/>
              </a:rPr>
              <a:t> </a:t>
            </a:r>
            <a:r>
              <a:rPr dirty="0" sz="1000" spc="20">
                <a:latin typeface="Times New Roman"/>
                <a:cs typeface="Times New Roman"/>
              </a:rPr>
              <a:t>recurrent</a:t>
            </a:r>
            <a:r>
              <a:rPr dirty="0" sz="1000" spc="55">
                <a:latin typeface="Times New Roman"/>
                <a:cs typeface="Times New Roman"/>
              </a:rPr>
              <a:t> </a:t>
            </a:r>
            <a:r>
              <a:rPr dirty="0" sz="1000" spc="20">
                <a:latin typeface="Times New Roman"/>
                <a:cs typeface="Times New Roman"/>
              </a:rPr>
              <a:t>network</a:t>
            </a:r>
            <a:r>
              <a:rPr dirty="0" sz="1000" spc="55">
                <a:latin typeface="Times New Roman"/>
                <a:cs typeface="Times New Roman"/>
              </a:rPr>
              <a:t> </a:t>
            </a:r>
            <a:r>
              <a:rPr dirty="0" sz="1000" spc="20">
                <a:latin typeface="Times New Roman"/>
                <a:cs typeface="Times New Roman"/>
              </a:rPr>
              <a:t>for</a:t>
            </a:r>
            <a:r>
              <a:rPr dirty="0" sz="1000" spc="55">
                <a:latin typeface="Times New Roman"/>
                <a:cs typeface="Times New Roman"/>
              </a:rPr>
              <a:t> </a:t>
            </a:r>
            <a:r>
              <a:rPr dirty="0" sz="1000" spc="60">
                <a:latin typeface="Times New Roman"/>
                <a:cs typeface="Times New Roman"/>
              </a:rPr>
              <a:t>human</a:t>
            </a:r>
            <a:r>
              <a:rPr dirty="0" sz="1000" spc="50">
                <a:latin typeface="Times New Roman"/>
                <a:cs typeface="Times New Roman"/>
              </a:rPr>
              <a:t> </a:t>
            </a:r>
            <a:r>
              <a:rPr dirty="0" sz="1000" spc="20">
                <a:latin typeface="Times New Roman"/>
                <a:cs typeface="Times New Roman"/>
              </a:rPr>
              <a:t>communication</a:t>
            </a:r>
            <a:r>
              <a:rPr dirty="0" sz="1000" spc="55">
                <a:latin typeface="Times New Roman"/>
                <a:cs typeface="Times New Roman"/>
              </a:rPr>
              <a:t> </a:t>
            </a:r>
            <a:r>
              <a:rPr dirty="0" sz="1000" spc="20">
                <a:latin typeface="Times New Roman"/>
                <a:cs typeface="Times New Roman"/>
              </a:rPr>
              <a:t>comprehension.</a:t>
            </a:r>
            <a:r>
              <a:rPr dirty="0" sz="1000" spc="210">
                <a:latin typeface="Times New Roman"/>
                <a:cs typeface="Times New Roman"/>
              </a:rPr>
              <a:t> </a:t>
            </a:r>
            <a:r>
              <a:rPr dirty="0" sz="1000" spc="20">
                <a:latin typeface="Times New Roman"/>
                <a:cs typeface="Times New Roman"/>
              </a:rPr>
              <a:t>In</a:t>
            </a:r>
            <a:r>
              <a:rPr dirty="0" sz="1000" spc="55">
                <a:latin typeface="Times New Roman"/>
                <a:cs typeface="Times New Roman"/>
              </a:rPr>
              <a:t> </a:t>
            </a:r>
            <a:r>
              <a:rPr dirty="0" sz="1000" spc="20">
                <a:latin typeface="Times New Roman"/>
                <a:cs typeface="Times New Roman"/>
              </a:rPr>
              <a:t>Proceedings</a:t>
            </a:r>
            <a:r>
              <a:rPr dirty="0" sz="1000" spc="55">
                <a:latin typeface="Times New Roman"/>
                <a:cs typeface="Times New Roman"/>
              </a:rPr>
              <a:t> </a:t>
            </a:r>
            <a:r>
              <a:rPr dirty="0" sz="1000" spc="20">
                <a:latin typeface="Times New Roman"/>
                <a:cs typeface="Times New Roman"/>
              </a:rPr>
              <a:t>of</a:t>
            </a:r>
            <a:r>
              <a:rPr dirty="0" sz="1000" spc="55">
                <a:latin typeface="Times New Roman"/>
                <a:cs typeface="Times New Roman"/>
              </a:rPr>
              <a:t> </a:t>
            </a:r>
            <a:r>
              <a:rPr dirty="0" sz="1000" spc="20">
                <a:latin typeface="Times New Roman"/>
                <a:cs typeface="Times New Roman"/>
              </a:rPr>
              <a:t>the</a:t>
            </a:r>
            <a:r>
              <a:rPr dirty="0" sz="1000" spc="50">
                <a:latin typeface="Times New Roman"/>
                <a:cs typeface="Times New Roman"/>
              </a:rPr>
              <a:t> </a:t>
            </a:r>
            <a:r>
              <a:rPr dirty="0" sz="1000" spc="-20">
                <a:latin typeface="Times New Roman"/>
                <a:cs typeface="Times New Roman"/>
              </a:rPr>
              <a:t>AAAI </a:t>
            </a:r>
            <a:r>
              <a:rPr dirty="0" sz="1000">
                <a:latin typeface="Times New Roman"/>
                <a:cs typeface="Times New Roman"/>
              </a:rPr>
              <a:t>Conference</a:t>
            </a:r>
            <a:r>
              <a:rPr dirty="0" sz="1000" spc="70">
                <a:latin typeface="Times New Roman"/>
                <a:cs typeface="Times New Roman"/>
              </a:rPr>
              <a:t> </a:t>
            </a:r>
            <a:r>
              <a:rPr dirty="0" sz="1000">
                <a:latin typeface="Times New Roman"/>
                <a:cs typeface="Times New Roman"/>
              </a:rPr>
              <a:t>on</a:t>
            </a:r>
            <a:r>
              <a:rPr dirty="0" sz="1000" spc="75">
                <a:latin typeface="Times New Roman"/>
                <a:cs typeface="Times New Roman"/>
              </a:rPr>
              <a:t> </a:t>
            </a:r>
            <a:r>
              <a:rPr dirty="0" sz="1000">
                <a:latin typeface="Times New Roman"/>
                <a:cs typeface="Times New Roman"/>
              </a:rPr>
              <a:t>Artificial</a:t>
            </a:r>
            <a:r>
              <a:rPr dirty="0" sz="1000" spc="75">
                <a:latin typeface="Times New Roman"/>
                <a:cs typeface="Times New Roman"/>
              </a:rPr>
              <a:t> </a:t>
            </a:r>
            <a:r>
              <a:rPr dirty="0" sz="1000">
                <a:latin typeface="Times New Roman"/>
                <a:cs typeface="Times New Roman"/>
              </a:rPr>
              <a:t>Intelligence,</a:t>
            </a:r>
            <a:r>
              <a:rPr dirty="0" sz="1000" spc="75">
                <a:latin typeface="Times New Roman"/>
                <a:cs typeface="Times New Roman"/>
              </a:rPr>
              <a:t> </a:t>
            </a:r>
            <a:r>
              <a:rPr dirty="0" sz="1000">
                <a:latin typeface="Times New Roman"/>
                <a:cs typeface="Times New Roman"/>
              </a:rPr>
              <a:t>2018.</a:t>
            </a:r>
            <a:r>
              <a:rPr dirty="0" sz="1000" spc="185">
                <a:latin typeface="Times New Roman"/>
                <a:cs typeface="Times New Roman"/>
              </a:rPr>
              <a:t> </a:t>
            </a:r>
            <a:r>
              <a:rPr dirty="0" sz="1000" spc="-50">
                <a:latin typeface="Times New Roman"/>
                <a:cs typeface="Times New Roman"/>
              </a:rPr>
              <a:t>6</a:t>
            </a:r>
            <a:endParaRPr sz="1000">
              <a:latin typeface="Times New Roman"/>
              <a:cs typeface="Times New Roman"/>
            </a:endParaRPr>
          </a:p>
          <a:p>
            <a:pPr>
              <a:lnSpc>
                <a:spcPct val="100000"/>
              </a:lnSpc>
              <a:spcBef>
                <a:spcPts val="235"/>
              </a:spcBef>
            </a:pPr>
            <a:endParaRPr sz="1000">
              <a:latin typeface="Times New Roman"/>
              <a:cs typeface="Times New Roman"/>
            </a:endParaRPr>
          </a:p>
          <a:p>
            <a:pPr algn="just" marL="192405" marR="184785" indent="242570">
              <a:lnSpc>
                <a:spcPct val="129500"/>
              </a:lnSpc>
              <a:buFont typeface="Times New Roman"/>
              <a:buAutoNum type="arabicPlain" startAt="38"/>
              <a:tabLst>
                <a:tab pos="434975" algn="l"/>
              </a:tabLst>
            </a:pPr>
            <a:r>
              <a:rPr dirty="0" sz="1000" spc="-180">
                <a:latin typeface="SimSun"/>
                <a:cs typeface="SimSun"/>
              </a:rPr>
              <a:t>阿米尔·</a:t>
            </a:r>
            <a:r>
              <a:rPr dirty="0" sz="1000" spc="-10">
                <a:latin typeface="SimSun"/>
                <a:cs typeface="SimSun"/>
              </a:rPr>
              <a:t>扎德、保罗</a:t>
            </a:r>
            <a:r>
              <a:rPr dirty="0" sz="1000" spc="-280">
                <a:latin typeface="SimSun"/>
                <a:cs typeface="SimSun"/>
              </a:rPr>
              <a:t>·普·</a:t>
            </a:r>
            <a:r>
              <a:rPr dirty="0" sz="1000" spc="-130">
                <a:latin typeface="SimSun"/>
                <a:cs typeface="SimSun"/>
              </a:rPr>
              <a:t>梁、苏贾尼亚</a:t>
            </a:r>
            <a:r>
              <a:rPr dirty="0" sz="1000" spc="-180">
                <a:latin typeface="SimSun"/>
                <a:cs typeface="SimSun"/>
              </a:rPr>
              <a:t>·</a:t>
            </a:r>
            <a:r>
              <a:rPr dirty="0" sz="1000" spc="-90">
                <a:latin typeface="SimSun"/>
                <a:cs typeface="SimSun"/>
              </a:rPr>
              <a:t>波里亚、普拉蒂克</a:t>
            </a:r>
            <a:r>
              <a:rPr dirty="0" sz="1000" spc="-229">
                <a:latin typeface="SimSun"/>
                <a:cs typeface="SimSun"/>
              </a:rPr>
              <a:t>·</a:t>
            </a:r>
            <a:r>
              <a:rPr dirty="0" sz="1000" spc="-55">
                <a:latin typeface="SimSun"/>
                <a:cs typeface="SimSun"/>
              </a:rPr>
              <a:t>维杰、埃里克</a:t>
            </a:r>
            <a:r>
              <a:rPr dirty="0" sz="1000" spc="-229">
                <a:latin typeface="SimSun"/>
                <a:cs typeface="SimSun"/>
              </a:rPr>
              <a:t>·</a:t>
            </a:r>
            <a:r>
              <a:rPr dirty="0" sz="1000" spc="-45">
                <a:latin typeface="SimSun"/>
                <a:cs typeface="SimSun"/>
              </a:rPr>
              <a:t>坎布里亚和路易</a:t>
            </a:r>
            <a:r>
              <a:rPr dirty="0" sz="1000" spc="-25">
                <a:latin typeface="Times New Roman"/>
                <a:cs typeface="Times New Roman"/>
              </a:rPr>
              <a:t>- </a:t>
            </a:r>
            <a:r>
              <a:rPr dirty="0" sz="1000" spc="-30">
                <a:latin typeface="SimSun"/>
                <a:cs typeface="SimSun"/>
              </a:rPr>
              <a:t>菲利</a:t>
            </a:r>
            <a:r>
              <a:rPr dirty="0" sz="1000" spc="-15">
                <a:latin typeface="SimSun"/>
                <a:cs typeface="SimSun"/>
              </a:rPr>
              <a:t>普</a:t>
            </a:r>
            <a:r>
              <a:rPr dirty="0" sz="1000" spc="-690">
                <a:latin typeface="SimSun"/>
                <a:cs typeface="SimSun"/>
              </a:rPr>
              <a:t>·</a:t>
            </a:r>
            <a:r>
              <a:rPr dirty="0" sz="1000" spc="-25">
                <a:latin typeface="SimSun"/>
                <a:cs typeface="SimSun"/>
              </a:rPr>
              <a:t>莫伦西。用于人类通信理解的多注意力循环网络。在</a:t>
            </a:r>
            <a:r>
              <a:rPr dirty="0" sz="1000">
                <a:latin typeface="Times New Roman"/>
                <a:cs typeface="Times New Roman"/>
              </a:rPr>
              <a:t>AAAI</a:t>
            </a:r>
            <a:r>
              <a:rPr dirty="0" sz="1000" spc="-45">
                <a:latin typeface="Times New Roman"/>
                <a:cs typeface="Times New Roman"/>
              </a:rPr>
              <a:t> </a:t>
            </a:r>
            <a:r>
              <a:rPr dirty="0" sz="1000" spc="-15">
                <a:latin typeface="SimSun"/>
                <a:cs typeface="SimSun"/>
              </a:rPr>
              <a:t>人工智能会议论文集上，</a:t>
            </a:r>
            <a:r>
              <a:rPr dirty="0" sz="1000" spc="-25">
                <a:latin typeface="Times New Roman"/>
                <a:cs typeface="Times New Roman"/>
              </a:rPr>
              <a:t>2018</a:t>
            </a:r>
            <a:r>
              <a:rPr dirty="0" sz="1000" spc="-40">
                <a:latin typeface="Times New Roman"/>
                <a:cs typeface="Times New Roman"/>
              </a:rPr>
              <a:t> </a:t>
            </a:r>
            <a:r>
              <a:rPr dirty="0" sz="1000" spc="-50">
                <a:latin typeface="SimSun"/>
                <a:cs typeface="SimSun"/>
              </a:rPr>
              <a:t>年。</a:t>
            </a:r>
            <a:r>
              <a:rPr dirty="0" sz="1000" spc="-50">
                <a:latin typeface="Times New Roman"/>
                <a:cs typeface="Times New Roman"/>
              </a:rPr>
              <a:t>6</a:t>
            </a:r>
            <a:endParaRPr sz="1000">
              <a:latin typeface="Times New Roman"/>
              <a:cs typeface="Times New Roman"/>
            </a:endParaRPr>
          </a:p>
          <a:p>
            <a:pPr>
              <a:lnSpc>
                <a:spcPct val="100000"/>
              </a:lnSpc>
              <a:spcBef>
                <a:spcPts val="204"/>
              </a:spcBef>
              <a:buFont typeface="Times New Roman"/>
              <a:buAutoNum type="arabicPlain" startAt="38"/>
            </a:pPr>
            <a:endParaRPr sz="1000">
              <a:latin typeface="Times New Roman"/>
              <a:cs typeface="Times New Roman"/>
            </a:endParaRPr>
          </a:p>
          <a:p>
            <a:pPr algn="just" marL="12700" marR="5080" indent="492759">
              <a:lnSpc>
                <a:spcPct val="129500"/>
              </a:lnSpc>
              <a:buAutoNum type="arabicPlain" startAt="38"/>
              <a:tabLst>
                <a:tab pos="505459" algn="l"/>
              </a:tabLst>
            </a:pPr>
            <a:r>
              <a:rPr dirty="0" sz="1000">
                <a:latin typeface="Times New Roman"/>
                <a:cs typeface="Times New Roman"/>
              </a:rPr>
              <a:t>Xiaohui</a:t>
            </a:r>
            <a:r>
              <a:rPr dirty="0" sz="1000" spc="95">
                <a:latin typeface="Times New Roman"/>
                <a:cs typeface="Times New Roman"/>
              </a:rPr>
              <a:t> </a:t>
            </a:r>
            <a:r>
              <a:rPr dirty="0" sz="1000">
                <a:latin typeface="Times New Roman"/>
                <a:cs typeface="Times New Roman"/>
              </a:rPr>
              <a:t>Zhang,</a:t>
            </a:r>
            <a:r>
              <a:rPr dirty="0" sz="1000" spc="110">
                <a:latin typeface="Times New Roman"/>
                <a:cs typeface="Times New Roman"/>
              </a:rPr>
              <a:t> </a:t>
            </a:r>
            <a:r>
              <a:rPr dirty="0" sz="1000">
                <a:latin typeface="Times New Roman"/>
                <a:cs typeface="Times New Roman"/>
              </a:rPr>
              <a:t>Jaehong</a:t>
            </a:r>
            <a:r>
              <a:rPr dirty="0" sz="1000" spc="100">
                <a:latin typeface="Times New Roman"/>
                <a:cs typeface="Times New Roman"/>
              </a:rPr>
              <a:t> </a:t>
            </a:r>
            <a:r>
              <a:rPr dirty="0" sz="1000" spc="-20">
                <a:latin typeface="Times New Roman"/>
                <a:cs typeface="Times New Roman"/>
              </a:rPr>
              <a:t>Yoon,</a:t>
            </a:r>
            <a:r>
              <a:rPr dirty="0" sz="1000" spc="105">
                <a:latin typeface="Times New Roman"/>
                <a:cs typeface="Times New Roman"/>
              </a:rPr>
              <a:t> </a:t>
            </a:r>
            <a:r>
              <a:rPr dirty="0" sz="1000">
                <a:latin typeface="Times New Roman"/>
                <a:cs typeface="Times New Roman"/>
              </a:rPr>
              <a:t>Mohit</a:t>
            </a:r>
            <a:r>
              <a:rPr dirty="0" sz="1000" spc="100">
                <a:latin typeface="Times New Roman"/>
                <a:cs typeface="Times New Roman"/>
              </a:rPr>
              <a:t> </a:t>
            </a:r>
            <a:r>
              <a:rPr dirty="0" sz="1000">
                <a:latin typeface="Times New Roman"/>
                <a:cs typeface="Times New Roman"/>
              </a:rPr>
              <a:t>Bansal,</a:t>
            </a:r>
            <a:r>
              <a:rPr dirty="0" sz="1000" spc="105">
                <a:latin typeface="Times New Roman"/>
                <a:cs typeface="Times New Roman"/>
              </a:rPr>
              <a:t> </a:t>
            </a:r>
            <a:r>
              <a:rPr dirty="0" sz="1000">
                <a:latin typeface="Times New Roman"/>
                <a:cs typeface="Times New Roman"/>
              </a:rPr>
              <a:t>and</a:t>
            </a:r>
            <a:r>
              <a:rPr dirty="0" sz="1000" spc="100">
                <a:latin typeface="Times New Roman"/>
                <a:cs typeface="Times New Roman"/>
              </a:rPr>
              <a:t> </a:t>
            </a:r>
            <a:r>
              <a:rPr dirty="0" sz="1000">
                <a:latin typeface="Times New Roman"/>
                <a:cs typeface="Times New Roman"/>
              </a:rPr>
              <a:t>Huaxiu</a:t>
            </a:r>
            <a:r>
              <a:rPr dirty="0" sz="1000" spc="100">
                <a:latin typeface="Times New Roman"/>
                <a:cs typeface="Times New Roman"/>
              </a:rPr>
              <a:t> </a:t>
            </a:r>
            <a:r>
              <a:rPr dirty="0" sz="1000" spc="-20">
                <a:latin typeface="Times New Roman"/>
                <a:cs typeface="Times New Roman"/>
              </a:rPr>
              <a:t>Yao.</a:t>
            </a:r>
            <a:r>
              <a:rPr dirty="0" sz="1000" spc="245">
                <a:latin typeface="Times New Roman"/>
                <a:cs typeface="Times New Roman"/>
              </a:rPr>
              <a:t> </a:t>
            </a:r>
            <a:r>
              <a:rPr dirty="0" sz="1000">
                <a:latin typeface="Times New Roman"/>
                <a:cs typeface="Times New Roman"/>
              </a:rPr>
              <a:t>Multimodal</a:t>
            </a:r>
            <a:r>
              <a:rPr dirty="0" sz="1000" spc="100">
                <a:latin typeface="Times New Roman"/>
                <a:cs typeface="Times New Roman"/>
              </a:rPr>
              <a:t> </a:t>
            </a:r>
            <a:r>
              <a:rPr dirty="0" sz="1000">
                <a:latin typeface="Times New Roman"/>
                <a:cs typeface="Times New Roman"/>
              </a:rPr>
              <a:t>representation</a:t>
            </a:r>
            <a:r>
              <a:rPr dirty="0" sz="1000" spc="100">
                <a:latin typeface="Times New Roman"/>
                <a:cs typeface="Times New Roman"/>
              </a:rPr>
              <a:t> </a:t>
            </a:r>
            <a:r>
              <a:rPr dirty="0" sz="1000" spc="-10">
                <a:latin typeface="Times New Roman"/>
                <a:cs typeface="Times New Roman"/>
              </a:rPr>
              <a:t>learning </a:t>
            </a:r>
            <a:r>
              <a:rPr dirty="0" sz="1000">
                <a:latin typeface="Times New Roman"/>
                <a:cs typeface="Times New Roman"/>
              </a:rPr>
              <a:t>by</a:t>
            </a:r>
            <a:r>
              <a:rPr dirty="0" sz="1000" spc="105">
                <a:latin typeface="Times New Roman"/>
                <a:cs typeface="Times New Roman"/>
              </a:rPr>
              <a:t> </a:t>
            </a:r>
            <a:r>
              <a:rPr dirty="0" sz="1000">
                <a:latin typeface="Times New Roman"/>
                <a:cs typeface="Times New Roman"/>
              </a:rPr>
              <a:t>alternating</a:t>
            </a:r>
            <a:r>
              <a:rPr dirty="0" sz="1000" spc="110">
                <a:latin typeface="Times New Roman"/>
                <a:cs typeface="Times New Roman"/>
              </a:rPr>
              <a:t> </a:t>
            </a:r>
            <a:r>
              <a:rPr dirty="0" sz="1000">
                <a:latin typeface="Times New Roman"/>
                <a:cs typeface="Times New Roman"/>
              </a:rPr>
              <a:t>unimodal</a:t>
            </a:r>
            <a:r>
              <a:rPr dirty="0" sz="1000" spc="105">
                <a:latin typeface="Times New Roman"/>
                <a:cs typeface="Times New Roman"/>
              </a:rPr>
              <a:t> </a:t>
            </a:r>
            <a:r>
              <a:rPr dirty="0" sz="1000">
                <a:latin typeface="Times New Roman"/>
                <a:cs typeface="Times New Roman"/>
              </a:rPr>
              <a:t>adaptation.</a:t>
            </a:r>
            <a:r>
              <a:rPr dirty="0" sz="1000" spc="235">
                <a:latin typeface="Times New Roman"/>
                <a:cs typeface="Times New Roman"/>
              </a:rPr>
              <a:t> </a:t>
            </a:r>
            <a:r>
              <a:rPr dirty="0" sz="1000">
                <a:latin typeface="Times New Roman"/>
                <a:cs typeface="Times New Roman"/>
              </a:rPr>
              <a:t>arXiv</a:t>
            </a:r>
            <a:r>
              <a:rPr dirty="0" sz="1000" spc="105">
                <a:latin typeface="Times New Roman"/>
                <a:cs typeface="Times New Roman"/>
              </a:rPr>
              <a:t> </a:t>
            </a:r>
            <a:r>
              <a:rPr dirty="0" sz="1000">
                <a:latin typeface="Times New Roman"/>
                <a:cs typeface="Times New Roman"/>
              </a:rPr>
              <a:t>preprint</a:t>
            </a:r>
            <a:r>
              <a:rPr dirty="0" sz="1000" spc="110">
                <a:latin typeface="Times New Roman"/>
                <a:cs typeface="Times New Roman"/>
              </a:rPr>
              <a:t> </a:t>
            </a:r>
            <a:r>
              <a:rPr dirty="0" sz="1000" spc="-10">
                <a:latin typeface="Times New Roman"/>
                <a:cs typeface="Times New Roman"/>
              </a:rPr>
              <a:t>arXiv:2311.10707,</a:t>
            </a:r>
            <a:r>
              <a:rPr dirty="0" sz="1000" spc="105">
                <a:latin typeface="Times New Roman"/>
                <a:cs typeface="Times New Roman"/>
              </a:rPr>
              <a:t> </a:t>
            </a:r>
            <a:r>
              <a:rPr dirty="0" sz="1000">
                <a:latin typeface="Times New Roman"/>
                <a:cs typeface="Times New Roman"/>
              </a:rPr>
              <a:t>2023.</a:t>
            </a:r>
            <a:r>
              <a:rPr dirty="0" sz="1000" spc="235">
                <a:latin typeface="Times New Roman"/>
                <a:cs typeface="Times New Roman"/>
              </a:rPr>
              <a:t> </a:t>
            </a:r>
            <a:r>
              <a:rPr dirty="0" sz="1000" spc="-10">
                <a:latin typeface="Times New Roman"/>
                <a:cs typeface="Times New Roman"/>
              </a:rPr>
              <a:t>1,2,3,6,8</a:t>
            </a:r>
            <a:endParaRPr sz="1000">
              <a:latin typeface="Times New Roman"/>
              <a:cs typeface="Times New Roman"/>
            </a:endParaRPr>
          </a:p>
        </p:txBody>
      </p:sp>
      <p:sp>
        <p:nvSpPr>
          <p:cNvPr id="24" name="object 24"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899998" y="899996"/>
            <a:ext cx="5760085" cy="545465"/>
            <a:chOff x="899998" y="899996"/>
            <a:chExt cx="5760085" cy="545465"/>
          </a:xfrm>
        </p:grpSpPr>
        <p:sp>
          <p:nvSpPr>
            <p:cNvPr id="3" name="object 3" descr=""/>
            <p:cNvSpPr/>
            <p:nvPr/>
          </p:nvSpPr>
          <p:spPr>
            <a:xfrm>
              <a:off x="899998" y="899996"/>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4" name="object 4" descr=""/>
            <p:cNvSpPr/>
            <p:nvPr/>
          </p:nvSpPr>
          <p:spPr>
            <a:xfrm>
              <a:off x="899998" y="899996"/>
              <a:ext cx="5760085" cy="545465"/>
            </a:xfrm>
            <a:custGeom>
              <a:avLst/>
              <a:gdLst/>
              <a:ahLst/>
              <a:cxnLst/>
              <a:rect l="l" t="t" r="r" b="b"/>
              <a:pathLst>
                <a:path w="5760084" h="545465">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5" name="object 5" descr=""/>
          <p:cNvGrpSpPr/>
          <p:nvPr/>
        </p:nvGrpSpPr>
        <p:grpSpPr>
          <a:xfrm>
            <a:off x="899998" y="2234857"/>
            <a:ext cx="5760085" cy="546100"/>
            <a:chOff x="899998" y="2234857"/>
            <a:chExt cx="5760085" cy="546100"/>
          </a:xfrm>
        </p:grpSpPr>
        <p:sp>
          <p:nvSpPr>
            <p:cNvPr id="6" name="object 6" descr=""/>
            <p:cNvSpPr/>
            <p:nvPr/>
          </p:nvSpPr>
          <p:spPr>
            <a:xfrm>
              <a:off x="899998" y="2234857"/>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7" name="object 7" descr=""/>
            <p:cNvSpPr/>
            <p:nvPr/>
          </p:nvSpPr>
          <p:spPr>
            <a:xfrm>
              <a:off x="899998" y="2234857"/>
              <a:ext cx="5760085" cy="546100"/>
            </a:xfrm>
            <a:custGeom>
              <a:avLst/>
              <a:gdLst/>
              <a:ahLst/>
              <a:cxnLst/>
              <a:rect l="l" t="t" r="r" b="b"/>
              <a:pathLst>
                <a:path w="5760084" h="546100">
                  <a:moveTo>
                    <a:pt x="5724074" y="0"/>
                  </a:moveTo>
                  <a:lnTo>
                    <a:pt x="36000" y="0"/>
                  </a:lnTo>
                  <a:lnTo>
                    <a:pt x="21987" y="2829"/>
                  </a:lnTo>
                  <a:lnTo>
                    <a:pt x="10544" y="10544"/>
                  </a:lnTo>
                  <a:lnTo>
                    <a:pt x="2829" y="21987"/>
                  </a:lnTo>
                  <a:lnTo>
                    <a:pt x="0" y="36000"/>
                  </a:lnTo>
                  <a:lnTo>
                    <a:pt x="0" y="509858"/>
                  </a:lnTo>
                  <a:lnTo>
                    <a:pt x="2829" y="523871"/>
                  </a:lnTo>
                  <a:lnTo>
                    <a:pt x="10544" y="535314"/>
                  </a:lnTo>
                  <a:lnTo>
                    <a:pt x="21987" y="543029"/>
                  </a:lnTo>
                  <a:lnTo>
                    <a:pt x="36000" y="545858"/>
                  </a:lnTo>
                  <a:lnTo>
                    <a:pt x="5724074" y="545858"/>
                  </a:lnTo>
                  <a:lnTo>
                    <a:pt x="5738087" y="543029"/>
                  </a:lnTo>
                  <a:lnTo>
                    <a:pt x="5749530" y="535314"/>
                  </a:lnTo>
                  <a:lnTo>
                    <a:pt x="5757245" y="523871"/>
                  </a:lnTo>
                  <a:lnTo>
                    <a:pt x="5760074" y="509858"/>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grpSp>
        <p:nvGrpSpPr>
          <p:cNvPr id="8" name="object 8" descr=""/>
          <p:cNvGrpSpPr/>
          <p:nvPr/>
        </p:nvGrpSpPr>
        <p:grpSpPr>
          <a:xfrm>
            <a:off x="899998" y="3372851"/>
            <a:ext cx="5760085" cy="545465"/>
            <a:chOff x="899998" y="3372851"/>
            <a:chExt cx="5760085" cy="545465"/>
          </a:xfrm>
        </p:grpSpPr>
        <p:sp>
          <p:nvSpPr>
            <p:cNvPr id="9" name="object 9" descr=""/>
            <p:cNvSpPr/>
            <p:nvPr/>
          </p:nvSpPr>
          <p:spPr>
            <a:xfrm>
              <a:off x="899998" y="3372851"/>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3F3F3F"/>
            </a:solidFill>
          </p:spPr>
          <p:txBody>
            <a:bodyPr wrap="square" lIns="0" tIns="0" rIns="0" bIns="0" rtlCol="0"/>
            <a:lstStyle/>
            <a:p/>
          </p:txBody>
        </p:sp>
        <p:sp>
          <p:nvSpPr>
            <p:cNvPr id="10" name="object 10" descr=""/>
            <p:cNvSpPr/>
            <p:nvPr/>
          </p:nvSpPr>
          <p:spPr>
            <a:xfrm>
              <a:off x="899998" y="3372851"/>
              <a:ext cx="5760085" cy="545465"/>
            </a:xfrm>
            <a:custGeom>
              <a:avLst/>
              <a:gdLst/>
              <a:ahLst/>
              <a:cxnLst/>
              <a:rect l="l" t="t" r="r" b="b"/>
              <a:pathLst>
                <a:path w="5760084" h="545464">
                  <a:moveTo>
                    <a:pt x="5724074" y="0"/>
                  </a:moveTo>
                  <a:lnTo>
                    <a:pt x="36000" y="0"/>
                  </a:lnTo>
                  <a:lnTo>
                    <a:pt x="21987" y="2829"/>
                  </a:lnTo>
                  <a:lnTo>
                    <a:pt x="10544" y="10544"/>
                  </a:lnTo>
                  <a:lnTo>
                    <a:pt x="2829" y="21987"/>
                  </a:lnTo>
                  <a:lnTo>
                    <a:pt x="0" y="36000"/>
                  </a:lnTo>
                  <a:lnTo>
                    <a:pt x="0" y="509352"/>
                  </a:lnTo>
                  <a:lnTo>
                    <a:pt x="2829" y="523365"/>
                  </a:lnTo>
                  <a:lnTo>
                    <a:pt x="10544" y="534808"/>
                  </a:lnTo>
                  <a:lnTo>
                    <a:pt x="21987" y="542523"/>
                  </a:lnTo>
                  <a:lnTo>
                    <a:pt x="36000" y="545352"/>
                  </a:lnTo>
                  <a:lnTo>
                    <a:pt x="5724074" y="545352"/>
                  </a:lnTo>
                  <a:lnTo>
                    <a:pt x="5738087" y="542523"/>
                  </a:lnTo>
                  <a:lnTo>
                    <a:pt x="5749530" y="534808"/>
                  </a:lnTo>
                  <a:lnTo>
                    <a:pt x="5757245" y="523365"/>
                  </a:lnTo>
                  <a:lnTo>
                    <a:pt x="5760074" y="509352"/>
                  </a:lnTo>
                  <a:lnTo>
                    <a:pt x="5760074" y="36000"/>
                  </a:lnTo>
                  <a:lnTo>
                    <a:pt x="5757245" y="21987"/>
                  </a:lnTo>
                  <a:lnTo>
                    <a:pt x="5749530" y="10544"/>
                  </a:lnTo>
                  <a:lnTo>
                    <a:pt x="5738087" y="2829"/>
                  </a:lnTo>
                  <a:lnTo>
                    <a:pt x="5724074" y="0"/>
                  </a:lnTo>
                  <a:close/>
                </a:path>
              </a:pathLst>
            </a:custGeom>
            <a:solidFill>
              <a:srgbClr val="F0F0F0"/>
            </a:solidFill>
          </p:spPr>
          <p:txBody>
            <a:bodyPr wrap="square" lIns="0" tIns="0" rIns="0" bIns="0" rtlCol="0"/>
            <a:lstStyle/>
            <a:p/>
          </p:txBody>
        </p:sp>
      </p:grpSp>
      <p:sp>
        <p:nvSpPr>
          <p:cNvPr id="11" name="object 11" descr=""/>
          <p:cNvSpPr txBox="1"/>
          <p:nvPr/>
        </p:nvSpPr>
        <p:spPr>
          <a:xfrm>
            <a:off x="887298" y="930383"/>
            <a:ext cx="5785485" cy="2893060"/>
          </a:xfrm>
          <a:prstGeom prst="rect">
            <a:avLst/>
          </a:prstGeom>
        </p:spPr>
        <p:txBody>
          <a:bodyPr wrap="square" lIns="0" tIns="57785" rIns="0" bIns="0" rtlCol="0" vert="horz">
            <a:spAutoFit/>
          </a:bodyPr>
          <a:lstStyle/>
          <a:p>
            <a:pPr marL="192405">
              <a:lnSpc>
                <a:spcPct val="100000"/>
              </a:lnSpc>
              <a:spcBef>
                <a:spcPts val="455"/>
              </a:spcBef>
            </a:pPr>
            <a:r>
              <a:rPr dirty="0" sz="1000">
                <a:latin typeface="Times New Roman"/>
                <a:cs typeface="Times New Roman"/>
              </a:rPr>
              <a:t>[39]</a:t>
            </a:r>
            <a:r>
              <a:rPr dirty="0" sz="1000" spc="-5">
                <a:latin typeface="Times New Roman"/>
                <a:cs typeface="Times New Roman"/>
              </a:rPr>
              <a:t> </a:t>
            </a:r>
            <a:r>
              <a:rPr dirty="0" sz="1000" spc="-10">
                <a:latin typeface="SimSun"/>
                <a:cs typeface="SimSun"/>
              </a:rPr>
              <a:t>张晓辉、尹在洪、莫希特</a:t>
            </a:r>
            <a:r>
              <a:rPr dirty="0" sz="1000" spc="-680">
                <a:latin typeface="SimSun"/>
                <a:cs typeface="SimSun"/>
              </a:rPr>
              <a:t>·</a:t>
            </a:r>
            <a:r>
              <a:rPr dirty="0" sz="1000" spc="-10">
                <a:latin typeface="SimSun"/>
                <a:cs typeface="SimSun"/>
              </a:rPr>
              <a:t>班萨尔和姚华秀。通过交替单模态适应进行多模态表示学习。</a:t>
            </a:r>
            <a:r>
              <a:rPr dirty="0" sz="1000" spc="-10">
                <a:latin typeface="Times New Roman"/>
                <a:cs typeface="Times New Roman"/>
              </a:rPr>
              <a:t>arXiv</a:t>
            </a:r>
            <a:endParaRPr sz="1000">
              <a:latin typeface="Times New Roman"/>
              <a:cs typeface="Times New Roman"/>
            </a:endParaRPr>
          </a:p>
          <a:p>
            <a:pPr marL="192405">
              <a:lnSpc>
                <a:spcPct val="100000"/>
              </a:lnSpc>
              <a:spcBef>
                <a:spcPts val="355"/>
              </a:spcBef>
            </a:pPr>
            <a:r>
              <a:rPr dirty="0" sz="1000" spc="65">
                <a:latin typeface="SimSun"/>
                <a:cs typeface="SimSun"/>
              </a:rPr>
              <a:t>预印本</a:t>
            </a:r>
            <a:r>
              <a:rPr dirty="0" sz="1000" spc="-10">
                <a:latin typeface="Times New Roman"/>
                <a:cs typeface="Times New Roman"/>
              </a:rPr>
              <a:t>arXiv:2311.10707</a:t>
            </a:r>
            <a:r>
              <a:rPr dirty="0" sz="1000" spc="-10">
                <a:latin typeface="SimSun"/>
                <a:cs typeface="SimSun"/>
              </a:rPr>
              <a:t>，</a:t>
            </a:r>
            <a:r>
              <a:rPr dirty="0" sz="1000" spc="-10">
                <a:latin typeface="Times New Roman"/>
                <a:cs typeface="Times New Roman"/>
              </a:rPr>
              <a:t>2023 </a:t>
            </a:r>
            <a:r>
              <a:rPr dirty="0" sz="1000" spc="-10">
                <a:latin typeface="SimSun"/>
                <a:cs typeface="SimSun"/>
              </a:rPr>
              <a:t>年。</a:t>
            </a:r>
            <a:r>
              <a:rPr dirty="0" sz="1000" spc="-10">
                <a:latin typeface="Times New Roman"/>
                <a:cs typeface="Times New Roman"/>
              </a:rPr>
              <a:t>1,2,3,6,8</a:t>
            </a:r>
            <a:endParaRPr sz="1000">
              <a:latin typeface="Times New Roman"/>
              <a:cs typeface="Times New Roman"/>
            </a:endParaRPr>
          </a:p>
          <a:p>
            <a:pPr>
              <a:lnSpc>
                <a:spcPct val="100000"/>
              </a:lnSpc>
              <a:spcBef>
                <a:spcPts val="204"/>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[40]</a:t>
            </a:r>
            <a:r>
              <a:rPr dirty="0" sz="1000" spc="35">
                <a:latin typeface="Times New Roman"/>
                <a:cs typeface="Times New Roman"/>
              </a:rPr>
              <a:t> </a:t>
            </a:r>
            <a:r>
              <a:rPr dirty="0" sz="1000" spc="-45">
                <a:latin typeface="Times New Roman"/>
                <a:cs typeface="Times New Roman"/>
              </a:rPr>
              <a:t>Yao</a:t>
            </a:r>
            <a:r>
              <a:rPr dirty="0" sz="1000" spc="25">
                <a:latin typeface="Times New Roman"/>
                <a:cs typeface="Times New Roman"/>
              </a:rPr>
              <a:t> </a:t>
            </a:r>
            <a:r>
              <a:rPr dirty="0" sz="1000">
                <a:latin typeface="Times New Roman"/>
                <a:cs typeface="Times New Roman"/>
              </a:rPr>
              <a:t>Zhang,</a:t>
            </a:r>
            <a:r>
              <a:rPr dirty="0" sz="1000" spc="35">
                <a:latin typeface="Times New Roman"/>
                <a:cs typeface="Times New Roman"/>
              </a:rPr>
              <a:t> </a:t>
            </a:r>
            <a:r>
              <a:rPr dirty="0" sz="1000">
                <a:latin typeface="Times New Roman"/>
                <a:cs typeface="Times New Roman"/>
              </a:rPr>
              <a:t>Nanjun</a:t>
            </a:r>
            <a:r>
              <a:rPr dirty="0" sz="1000" spc="30">
                <a:latin typeface="Times New Roman"/>
                <a:cs typeface="Times New Roman"/>
              </a:rPr>
              <a:t> </a:t>
            </a:r>
            <a:r>
              <a:rPr dirty="0" sz="1000">
                <a:latin typeface="Times New Roman"/>
                <a:cs typeface="Times New Roman"/>
              </a:rPr>
              <a:t>He,</a:t>
            </a:r>
            <a:r>
              <a:rPr dirty="0" sz="1000" spc="35">
                <a:latin typeface="Times New Roman"/>
                <a:cs typeface="Times New Roman"/>
              </a:rPr>
              <a:t> </a:t>
            </a:r>
            <a:r>
              <a:rPr dirty="0" sz="1000">
                <a:latin typeface="Times New Roman"/>
                <a:cs typeface="Times New Roman"/>
              </a:rPr>
              <a:t>Jiawei</a:t>
            </a:r>
            <a:r>
              <a:rPr dirty="0" sz="1000" spc="30">
                <a:latin typeface="Times New Roman"/>
                <a:cs typeface="Times New Roman"/>
              </a:rPr>
              <a:t> </a:t>
            </a:r>
            <a:r>
              <a:rPr dirty="0" sz="1000" spc="-20">
                <a:latin typeface="Times New Roman"/>
                <a:cs typeface="Times New Roman"/>
              </a:rPr>
              <a:t>Yang,</a:t>
            </a:r>
            <a:r>
              <a:rPr dirty="0" sz="1000" spc="35">
                <a:latin typeface="Times New Roman"/>
                <a:cs typeface="Times New Roman"/>
              </a:rPr>
              <a:t> </a:t>
            </a:r>
            <a:r>
              <a:rPr dirty="0" sz="1000">
                <a:latin typeface="Times New Roman"/>
                <a:cs typeface="Times New Roman"/>
              </a:rPr>
              <a:t>Yuexiang</a:t>
            </a:r>
            <a:r>
              <a:rPr dirty="0" sz="1000" spc="30">
                <a:latin typeface="Times New Roman"/>
                <a:cs typeface="Times New Roman"/>
              </a:rPr>
              <a:t> </a:t>
            </a:r>
            <a:r>
              <a:rPr dirty="0" sz="1000">
                <a:latin typeface="Times New Roman"/>
                <a:cs typeface="Times New Roman"/>
              </a:rPr>
              <a:t>Li,</a:t>
            </a:r>
            <a:r>
              <a:rPr dirty="0" sz="1000" spc="35">
                <a:latin typeface="Times New Roman"/>
                <a:cs typeface="Times New Roman"/>
              </a:rPr>
              <a:t> </a:t>
            </a:r>
            <a:r>
              <a:rPr dirty="0" sz="1000">
                <a:latin typeface="Times New Roman"/>
                <a:cs typeface="Times New Roman"/>
              </a:rPr>
              <a:t>Dong</a:t>
            </a:r>
            <a:r>
              <a:rPr dirty="0" sz="1000" spc="35">
                <a:latin typeface="Times New Roman"/>
                <a:cs typeface="Times New Roman"/>
              </a:rPr>
              <a:t> </a:t>
            </a:r>
            <a:r>
              <a:rPr dirty="0" sz="1000" spc="-10">
                <a:latin typeface="Times New Roman"/>
                <a:cs typeface="Times New Roman"/>
              </a:rPr>
              <a:t>Wei,</a:t>
            </a:r>
            <a:r>
              <a:rPr dirty="0" sz="1000" spc="35">
                <a:latin typeface="Times New Roman"/>
                <a:cs typeface="Times New Roman"/>
              </a:rPr>
              <a:t> </a:t>
            </a:r>
            <a:r>
              <a:rPr dirty="0" sz="1000" spc="-10">
                <a:latin typeface="Times New Roman"/>
                <a:cs typeface="Times New Roman"/>
              </a:rPr>
              <a:t>Yawen</a:t>
            </a:r>
            <a:r>
              <a:rPr dirty="0" sz="1000" spc="30">
                <a:latin typeface="Times New Roman"/>
                <a:cs typeface="Times New Roman"/>
              </a:rPr>
              <a:t> </a:t>
            </a:r>
            <a:r>
              <a:rPr dirty="0" sz="1000">
                <a:latin typeface="Times New Roman"/>
                <a:cs typeface="Times New Roman"/>
              </a:rPr>
              <a:t>Huang,</a:t>
            </a:r>
            <a:r>
              <a:rPr dirty="0" sz="1000" spc="35">
                <a:latin typeface="Times New Roman"/>
                <a:cs typeface="Times New Roman"/>
              </a:rPr>
              <a:t> </a:t>
            </a:r>
            <a:r>
              <a:rPr dirty="0" sz="1000" spc="-20">
                <a:latin typeface="Times New Roman"/>
                <a:cs typeface="Times New Roman"/>
              </a:rPr>
              <a:t>Yang</a:t>
            </a:r>
            <a:r>
              <a:rPr dirty="0" sz="1000" spc="30">
                <a:latin typeface="Times New Roman"/>
                <a:cs typeface="Times New Roman"/>
              </a:rPr>
              <a:t> </a:t>
            </a:r>
            <a:r>
              <a:rPr dirty="0" sz="1000">
                <a:latin typeface="Times New Roman"/>
                <a:cs typeface="Times New Roman"/>
              </a:rPr>
              <a:t>Zhang,</a:t>
            </a:r>
            <a:r>
              <a:rPr dirty="0" sz="1000" spc="35">
                <a:latin typeface="Times New Roman"/>
                <a:cs typeface="Times New Roman"/>
              </a:rPr>
              <a:t> </a:t>
            </a:r>
            <a:r>
              <a:rPr dirty="0" sz="1000" spc="-10">
                <a:latin typeface="Times New Roman"/>
                <a:cs typeface="Times New Roman"/>
              </a:rPr>
              <a:t>Zhiqiang </a:t>
            </a:r>
            <a:r>
              <a:rPr dirty="0" sz="1000">
                <a:latin typeface="Times New Roman"/>
                <a:cs typeface="Times New Roman"/>
              </a:rPr>
              <a:t>He,</a:t>
            </a:r>
            <a:r>
              <a:rPr dirty="0" sz="1000" spc="150">
                <a:latin typeface="Times New Roman"/>
                <a:cs typeface="Times New Roman"/>
              </a:rPr>
              <a:t> </a:t>
            </a:r>
            <a:r>
              <a:rPr dirty="0" sz="1000">
                <a:latin typeface="Times New Roman"/>
                <a:cs typeface="Times New Roman"/>
              </a:rPr>
              <a:t>and</a:t>
            </a:r>
            <a:r>
              <a:rPr dirty="0" sz="1000" spc="150">
                <a:latin typeface="Times New Roman"/>
                <a:cs typeface="Times New Roman"/>
              </a:rPr>
              <a:t> </a:t>
            </a:r>
            <a:r>
              <a:rPr dirty="0" sz="1000" spc="-20">
                <a:latin typeface="Times New Roman"/>
                <a:cs typeface="Times New Roman"/>
              </a:rPr>
              <a:t>Yefeng</a:t>
            </a:r>
            <a:r>
              <a:rPr dirty="0" sz="1000" spc="155">
                <a:latin typeface="Times New Roman"/>
                <a:cs typeface="Times New Roman"/>
              </a:rPr>
              <a:t> </a:t>
            </a:r>
            <a:r>
              <a:rPr dirty="0" sz="1000">
                <a:latin typeface="Times New Roman"/>
                <a:cs typeface="Times New Roman"/>
              </a:rPr>
              <a:t>Zheng.</a:t>
            </a:r>
            <a:r>
              <a:rPr dirty="0" sz="1000" spc="315">
                <a:latin typeface="Times New Roman"/>
                <a:cs typeface="Times New Roman"/>
              </a:rPr>
              <a:t> </a:t>
            </a:r>
            <a:r>
              <a:rPr dirty="0" sz="1000">
                <a:latin typeface="Times New Roman"/>
                <a:cs typeface="Times New Roman"/>
              </a:rPr>
              <a:t>mmformer:</a:t>
            </a:r>
            <a:r>
              <a:rPr dirty="0" sz="1000" spc="300">
                <a:latin typeface="Times New Roman"/>
                <a:cs typeface="Times New Roman"/>
              </a:rPr>
              <a:t> </a:t>
            </a:r>
            <a:r>
              <a:rPr dirty="0" sz="1000">
                <a:latin typeface="Times New Roman"/>
                <a:cs typeface="Times New Roman"/>
              </a:rPr>
              <a:t>Multimodal</a:t>
            </a:r>
            <a:r>
              <a:rPr dirty="0" sz="1000" spc="155">
                <a:latin typeface="Times New Roman"/>
                <a:cs typeface="Times New Roman"/>
              </a:rPr>
              <a:t> </a:t>
            </a:r>
            <a:r>
              <a:rPr dirty="0" sz="1000">
                <a:latin typeface="Times New Roman"/>
                <a:cs typeface="Times New Roman"/>
              </a:rPr>
              <a:t>medical</a:t>
            </a:r>
            <a:r>
              <a:rPr dirty="0" sz="1000" spc="150">
                <a:latin typeface="Times New Roman"/>
                <a:cs typeface="Times New Roman"/>
              </a:rPr>
              <a:t> </a:t>
            </a:r>
            <a:r>
              <a:rPr dirty="0" sz="1000">
                <a:latin typeface="Times New Roman"/>
                <a:cs typeface="Times New Roman"/>
              </a:rPr>
              <a:t>transformer</a:t>
            </a:r>
            <a:r>
              <a:rPr dirty="0" sz="1000" spc="155">
                <a:latin typeface="Times New Roman"/>
                <a:cs typeface="Times New Roman"/>
              </a:rPr>
              <a:t> </a:t>
            </a:r>
            <a:r>
              <a:rPr dirty="0" sz="1000">
                <a:latin typeface="Times New Roman"/>
                <a:cs typeface="Times New Roman"/>
              </a:rPr>
              <a:t>for</a:t>
            </a:r>
            <a:r>
              <a:rPr dirty="0" sz="1000" spc="150">
                <a:latin typeface="Times New Roman"/>
                <a:cs typeface="Times New Roman"/>
              </a:rPr>
              <a:t> </a:t>
            </a:r>
            <a:r>
              <a:rPr dirty="0" sz="1000">
                <a:latin typeface="Times New Roman"/>
                <a:cs typeface="Times New Roman"/>
              </a:rPr>
              <a:t>incomplete</a:t>
            </a:r>
            <a:r>
              <a:rPr dirty="0" sz="1000" spc="155">
                <a:latin typeface="Times New Roman"/>
                <a:cs typeface="Times New Roman"/>
              </a:rPr>
              <a:t> </a:t>
            </a:r>
            <a:r>
              <a:rPr dirty="0" sz="1000">
                <a:latin typeface="Times New Roman"/>
                <a:cs typeface="Times New Roman"/>
              </a:rPr>
              <a:t>multimodal</a:t>
            </a:r>
            <a:r>
              <a:rPr dirty="0" sz="1000" spc="150">
                <a:latin typeface="Times New Roman"/>
                <a:cs typeface="Times New Roman"/>
              </a:rPr>
              <a:t> </a:t>
            </a:r>
            <a:r>
              <a:rPr dirty="0" sz="1000">
                <a:latin typeface="Times New Roman"/>
                <a:cs typeface="Times New Roman"/>
              </a:rPr>
              <a:t>learning</a:t>
            </a:r>
            <a:r>
              <a:rPr dirty="0" sz="1000" spc="150">
                <a:latin typeface="Times New Roman"/>
                <a:cs typeface="Times New Roman"/>
              </a:rPr>
              <a:t> </a:t>
            </a:r>
            <a:r>
              <a:rPr dirty="0" sz="1000" spc="-25">
                <a:latin typeface="Times New Roman"/>
                <a:cs typeface="Times New Roman"/>
              </a:rPr>
              <a:t>of </a:t>
            </a:r>
            <a:r>
              <a:rPr dirty="0" sz="1000">
                <a:latin typeface="Times New Roman"/>
                <a:cs typeface="Times New Roman"/>
              </a:rPr>
              <a:t>brain</a:t>
            </a:r>
            <a:r>
              <a:rPr dirty="0" sz="1000" spc="80">
                <a:latin typeface="Times New Roman"/>
                <a:cs typeface="Times New Roman"/>
              </a:rPr>
              <a:t> </a:t>
            </a:r>
            <a:r>
              <a:rPr dirty="0" sz="1000">
                <a:latin typeface="Times New Roman"/>
                <a:cs typeface="Times New Roman"/>
              </a:rPr>
              <a:t>tumor</a:t>
            </a:r>
            <a:r>
              <a:rPr dirty="0" sz="1000" spc="85">
                <a:latin typeface="Times New Roman"/>
                <a:cs typeface="Times New Roman"/>
              </a:rPr>
              <a:t> </a:t>
            </a:r>
            <a:r>
              <a:rPr dirty="0" sz="1000">
                <a:latin typeface="Times New Roman"/>
                <a:cs typeface="Times New Roman"/>
              </a:rPr>
              <a:t>segmentation.</a:t>
            </a:r>
            <a:r>
              <a:rPr dirty="0" sz="1000" spc="195">
                <a:latin typeface="Times New Roman"/>
                <a:cs typeface="Times New Roman"/>
              </a:rPr>
              <a:t> </a:t>
            </a:r>
            <a:r>
              <a:rPr dirty="0" sz="1000">
                <a:latin typeface="Times New Roman"/>
                <a:cs typeface="Times New Roman"/>
              </a:rPr>
              <a:t>arXiv</a:t>
            </a:r>
            <a:r>
              <a:rPr dirty="0" sz="1000" spc="85">
                <a:latin typeface="Times New Roman"/>
                <a:cs typeface="Times New Roman"/>
              </a:rPr>
              <a:t> </a:t>
            </a:r>
            <a:r>
              <a:rPr dirty="0" sz="1000">
                <a:latin typeface="Times New Roman"/>
                <a:cs typeface="Times New Roman"/>
              </a:rPr>
              <a:t>preprint</a:t>
            </a:r>
            <a:r>
              <a:rPr dirty="0" sz="1000" spc="80">
                <a:latin typeface="Times New Roman"/>
                <a:cs typeface="Times New Roman"/>
              </a:rPr>
              <a:t> </a:t>
            </a:r>
            <a:r>
              <a:rPr dirty="0" sz="1000" spc="-10">
                <a:latin typeface="Times New Roman"/>
                <a:cs typeface="Times New Roman"/>
              </a:rPr>
              <a:t>arXiv:2206.02425,</a:t>
            </a:r>
            <a:r>
              <a:rPr dirty="0" sz="1000" spc="85">
                <a:latin typeface="Times New Roman"/>
                <a:cs typeface="Times New Roman"/>
              </a:rPr>
              <a:t> </a:t>
            </a:r>
            <a:r>
              <a:rPr dirty="0" sz="1000">
                <a:latin typeface="Times New Roman"/>
                <a:cs typeface="Times New Roman"/>
              </a:rPr>
              <a:t>2022.</a:t>
            </a:r>
            <a:r>
              <a:rPr dirty="0" sz="1000" spc="195">
                <a:latin typeface="Times New Roman"/>
                <a:cs typeface="Times New Roman"/>
              </a:rPr>
              <a:t> </a:t>
            </a:r>
            <a:r>
              <a:rPr dirty="0" sz="1000">
                <a:latin typeface="Times New Roman"/>
                <a:cs typeface="Times New Roman"/>
              </a:rPr>
              <a:t>1,</a:t>
            </a:r>
            <a:r>
              <a:rPr dirty="0" sz="1000" spc="85">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35"/>
              </a:spcBef>
            </a:pPr>
            <a:endParaRPr sz="1000">
              <a:latin typeface="Times New Roman"/>
              <a:cs typeface="Times New Roman"/>
            </a:endParaRPr>
          </a:p>
          <a:p>
            <a:pPr marL="192405" marR="184785">
              <a:lnSpc>
                <a:spcPct val="129500"/>
              </a:lnSpc>
            </a:pPr>
            <a:r>
              <a:rPr dirty="0" sz="1000">
                <a:latin typeface="Times New Roman"/>
                <a:cs typeface="Times New Roman"/>
              </a:rPr>
              <a:t>[40] </a:t>
            </a:r>
            <a:r>
              <a:rPr dirty="0" sz="1000" spc="-50">
                <a:latin typeface="SimSun"/>
                <a:cs typeface="SimSun"/>
              </a:rPr>
              <a:t>张瑶、何南军、杨家伟、李月祥、董伟、黄亚文、张阳、何志强和郑叶锋。</a:t>
            </a:r>
            <a:r>
              <a:rPr dirty="0" sz="1000">
                <a:latin typeface="Times New Roman"/>
                <a:cs typeface="Times New Roman"/>
              </a:rPr>
              <a:t>mmformer: </a:t>
            </a:r>
            <a:r>
              <a:rPr dirty="0" sz="1000" spc="-25">
                <a:latin typeface="SimSun"/>
                <a:cs typeface="SimSun"/>
              </a:rPr>
              <a:t>用于脑</a:t>
            </a:r>
            <a:r>
              <a:rPr dirty="0" sz="1000" spc="-10">
                <a:latin typeface="SimSun"/>
                <a:cs typeface="SimSun"/>
              </a:rPr>
              <a:t>肿瘤分割不完整多模态学习的多模态医学变压器。</a:t>
            </a:r>
            <a:r>
              <a:rPr dirty="0" sz="1000">
                <a:latin typeface="Times New Roman"/>
                <a:cs typeface="Times New Roman"/>
              </a:rPr>
              <a:t>arXiv</a:t>
            </a:r>
            <a:r>
              <a:rPr dirty="0" sz="1000" spc="-30">
                <a:latin typeface="Times New Roman"/>
                <a:cs typeface="Times New Roman"/>
              </a:rPr>
              <a:t> </a:t>
            </a:r>
            <a:r>
              <a:rPr dirty="0" sz="1000" spc="65">
                <a:latin typeface="SimSun"/>
                <a:cs typeface="SimSun"/>
              </a:rPr>
              <a:t>预印本</a:t>
            </a:r>
            <a:r>
              <a:rPr dirty="0" sz="1000" spc="-10">
                <a:latin typeface="Times New Roman"/>
                <a:cs typeface="Times New Roman"/>
              </a:rPr>
              <a:t>arXiv:2206.02425</a:t>
            </a:r>
            <a:r>
              <a:rPr dirty="0" sz="1000" spc="-10">
                <a:latin typeface="SimSun"/>
                <a:cs typeface="SimSun"/>
              </a:rPr>
              <a:t>，</a:t>
            </a:r>
            <a:r>
              <a:rPr dirty="0" sz="1000" spc="-10">
                <a:latin typeface="Times New Roman"/>
                <a:cs typeface="Times New Roman"/>
              </a:rPr>
              <a:t>2022</a:t>
            </a:r>
            <a:r>
              <a:rPr dirty="0" sz="1000" spc="-30">
                <a:latin typeface="Times New Roman"/>
                <a:cs typeface="Times New Roman"/>
              </a:rPr>
              <a:t> </a:t>
            </a:r>
            <a:r>
              <a:rPr dirty="0" sz="1000" spc="-10">
                <a:latin typeface="SimSun"/>
                <a:cs typeface="SimSun"/>
              </a:rPr>
              <a:t>年。</a:t>
            </a:r>
            <a:r>
              <a:rPr dirty="0" sz="1000">
                <a:latin typeface="Times New Roman"/>
                <a:cs typeface="Times New Roman"/>
              </a:rPr>
              <a:t>1,</a:t>
            </a:r>
            <a:r>
              <a:rPr dirty="0" sz="1000" spc="-30">
                <a:latin typeface="Times New Roman"/>
                <a:cs typeface="Times New Roman"/>
              </a:rPr>
              <a:t> </a:t>
            </a:r>
            <a:r>
              <a:rPr dirty="0" sz="1000" spc="-50">
                <a:latin typeface="Times New Roman"/>
                <a:cs typeface="Times New Roman"/>
              </a:rPr>
              <a:t>2</a:t>
            </a:r>
            <a:endParaRPr sz="1000">
              <a:latin typeface="Times New Roman"/>
              <a:cs typeface="Times New Roman"/>
            </a:endParaRPr>
          </a:p>
          <a:p>
            <a:pPr>
              <a:lnSpc>
                <a:spcPct val="100000"/>
              </a:lnSpc>
              <a:spcBef>
                <a:spcPts val="210"/>
              </a:spcBef>
            </a:pPr>
            <a:endParaRPr sz="1000">
              <a:latin typeface="Times New Roman"/>
              <a:cs typeface="Times New Roman"/>
            </a:endParaRPr>
          </a:p>
          <a:p>
            <a:pPr algn="just" marL="12700" marR="5080" indent="252729">
              <a:lnSpc>
                <a:spcPct val="129500"/>
              </a:lnSpc>
            </a:pPr>
            <a:r>
              <a:rPr dirty="0" sz="1000">
                <a:latin typeface="Times New Roman"/>
                <a:cs typeface="Times New Roman"/>
              </a:rPr>
              <a:t>[41]</a:t>
            </a:r>
            <a:r>
              <a:rPr dirty="0" sz="1000" spc="95">
                <a:latin typeface="Times New Roman"/>
                <a:cs typeface="Times New Roman"/>
              </a:rPr>
              <a:t> </a:t>
            </a:r>
            <a:r>
              <a:rPr dirty="0" sz="1000">
                <a:latin typeface="Times New Roman"/>
                <a:cs typeface="Times New Roman"/>
              </a:rPr>
              <a:t>Tao</a:t>
            </a:r>
            <a:r>
              <a:rPr dirty="0" sz="1000" spc="95">
                <a:latin typeface="Times New Roman"/>
                <a:cs typeface="Times New Roman"/>
              </a:rPr>
              <a:t> </a:t>
            </a:r>
            <a:r>
              <a:rPr dirty="0" sz="1000">
                <a:latin typeface="Times New Roman"/>
                <a:cs typeface="Times New Roman"/>
              </a:rPr>
              <a:t>Zhou,</a:t>
            </a:r>
            <a:r>
              <a:rPr dirty="0" sz="1000" spc="110">
                <a:latin typeface="Times New Roman"/>
                <a:cs typeface="Times New Roman"/>
              </a:rPr>
              <a:t> </a:t>
            </a:r>
            <a:r>
              <a:rPr dirty="0" sz="1000">
                <a:latin typeface="Times New Roman"/>
                <a:cs typeface="Times New Roman"/>
              </a:rPr>
              <a:t>Deng-Ping</a:t>
            </a:r>
            <a:r>
              <a:rPr dirty="0" sz="1000" spc="95">
                <a:latin typeface="Times New Roman"/>
                <a:cs typeface="Times New Roman"/>
              </a:rPr>
              <a:t> </a:t>
            </a:r>
            <a:r>
              <a:rPr dirty="0" sz="1000">
                <a:latin typeface="Times New Roman"/>
                <a:cs typeface="Times New Roman"/>
              </a:rPr>
              <a:t>Fan,</a:t>
            </a:r>
            <a:r>
              <a:rPr dirty="0" sz="1000" spc="110">
                <a:latin typeface="Times New Roman"/>
                <a:cs typeface="Times New Roman"/>
              </a:rPr>
              <a:t> </a:t>
            </a:r>
            <a:r>
              <a:rPr dirty="0" sz="1000">
                <a:latin typeface="Times New Roman"/>
                <a:cs typeface="Times New Roman"/>
              </a:rPr>
              <a:t>Ming-Ming</a:t>
            </a:r>
            <a:r>
              <a:rPr dirty="0" sz="1000" spc="95">
                <a:latin typeface="Times New Roman"/>
                <a:cs typeface="Times New Roman"/>
              </a:rPr>
              <a:t> </a:t>
            </a:r>
            <a:r>
              <a:rPr dirty="0" sz="1000">
                <a:latin typeface="Times New Roman"/>
                <a:cs typeface="Times New Roman"/>
              </a:rPr>
              <a:t>Cheng,</a:t>
            </a:r>
            <a:r>
              <a:rPr dirty="0" sz="1000" spc="110">
                <a:latin typeface="Times New Roman"/>
                <a:cs typeface="Times New Roman"/>
              </a:rPr>
              <a:t> </a:t>
            </a:r>
            <a:r>
              <a:rPr dirty="0" sz="1000">
                <a:latin typeface="Times New Roman"/>
                <a:cs typeface="Times New Roman"/>
              </a:rPr>
              <a:t>Jianbing</a:t>
            </a:r>
            <a:r>
              <a:rPr dirty="0" sz="1000" spc="95">
                <a:latin typeface="Times New Roman"/>
                <a:cs typeface="Times New Roman"/>
              </a:rPr>
              <a:t> </a:t>
            </a:r>
            <a:r>
              <a:rPr dirty="0" sz="1000">
                <a:latin typeface="Times New Roman"/>
                <a:cs typeface="Times New Roman"/>
              </a:rPr>
              <a:t>Shen,</a:t>
            </a:r>
            <a:r>
              <a:rPr dirty="0" sz="1000" spc="110">
                <a:latin typeface="Times New Roman"/>
                <a:cs typeface="Times New Roman"/>
              </a:rPr>
              <a:t> </a:t>
            </a:r>
            <a:r>
              <a:rPr dirty="0" sz="1000">
                <a:latin typeface="Times New Roman"/>
                <a:cs typeface="Times New Roman"/>
              </a:rPr>
              <a:t>and</a:t>
            </a:r>
            <a:r>
              <a:rPr dirty="0" sz="1000" spc="95">
                <a:latin typeface="Times New Roman"/>
                <a:cs typeface="Times New Roman"/>
              </a:rPr>
              <a:t> </a:t>
            </a:r>
            <a:r>
              <a:rPr dirty="0" sz="1000">
                <a:latin typeface="Times New Roman"/>
                <a:cs typeface="Times New Roman"/>
              </a:rPr>
              <a:t>Ling</a:t>
            </a:r>
            <a:r>
              <a:rPr dirty="0" sz="1000" spc="95">
                <a:latin typeface="Times New Roman"/>
                <a:cs typeface="Times New Roman"/>
              </a:rPr>
              <a:t> </a:t>
            </a:r>
            <a:r>
              <a:rPr dirty="0" sz="1000">
                <a:latin typeface="Times New Roman"/>
                <a:cs typeface="Times New Roman"/>
              </a:rPr>
              <a:t>Shao.</a:t>
            </a:r>
            <a:r>
              <a:rPr dirty="0" sz="1000" spc="295">
                <a:latin typeface="Times New Roman"/>
                <a:cs typeface="Times New Roman"/>
              </a:rPr>
              <a:t> </a:t>
            </a:r>
            <a:r>
              <a:rPr dirty="0" sz="1000" spc="-10">
                <a:latin typeface="Times New Roman"/>
                <a:cs typeface="Times New Roman"/>
              </a:rPr>
              <a:t>Rgb-</a:t>
            </a:r>
            <a:r>
              <a:rPr dirty="0" sz="1000">
                <a:latin typeface="Times New Roman"/>
                <a:cs typeface="Times New Roman"/>
              </a:rPr>
              <a:t>d</a:t>
            </a:r>
            <a:r>
              <a:rPr dirty="0" sz="1000" spc="95">
                <a:latin typeface="Times New Roman"/>
                <a:cs typeface="Times New Roman"/>
              </a:rPr>
              <a:t> </a:t>
            </a:r>
            <a:r>
              <a:rPr dirty="0" sz="1000">
                <a:latin typeface="Times New Roman"/>
                <a:cs typeface="Times New Roman"/>
              </a:rPr>
              <a:t>salient</a:t>
            </a:r>
            <a:r>
              <a:rPr dirty="0" sz="1000" spc="100">
                <a:latin typeface="Times New Roman"/>
                <a:cs typeface="Times New Roman"/>
              </a:rPr>
              <a:t> </a:t>
            </a:r>
            <a:r>
              <a:rPr dirty="0" sz="1000" spc="-10">
                <a:latin typeface="Times New Roman"/>
                <a:cs typeface="Times New Roman"/>
              </a:rPr>
              <a:t>object </a:t>
            </a:r>
            <a:r>
              <a:rPr dirty="0" sz="1000">
                <a:latin typeface="Times New Roman"/>
                <a:cs typeface="Times New Roman"/>
              </a:rPr>
              <a:t>detection:</a:t>
            </a:r>
            <a:r>
              <a:rPr dirty="0" sz="1000" spc="160">
                <a:latin typeface="Times New Roman"/>
                <a:cs typeface="Times New Roman"/>
              </a:rPr>
              <a:t> </a:t>
            </a:r>
            <a:r>
              <a:rPr dirty="0" sz="1000">
                <a:latin typeface="Times New Roman"/>
                <a:cs typeface="Times New Roman"/>
              </a:rPr>
              <a:t>A</a:t>
            </a:r>
            <a:r>
              <a:rPr dirty="0" sz="1000" spc="60">
                <a:latin typeface="Times New Roman"/>
                <a:cs typeface="Times New Roman"/>
              </a:rPr>
              <a:t> </a:t>
            </a:r>
            <a:r>
              <a:rPr dirty="0" sz="1000">
                <a:latin typeface="Times New Roman"/>
                <a:cs typeface="Times New Roman"/>
              </a:rPr>
              <a:t>survey.</a:t>
            </a:r>
            <a:r>
              <a:rPr dirty="0" sz="1000" spc="160">
                <a:latin typeface="Times New Roman"/>
                <a:cs typeface="Times New Roman"/>
              </a:rPr>
              <a:t> </a:t>
            </a:r>
            <a:r>
              <a:rPr dirty="0" sz="1000">
                <a:latin typeface="Times New Roman"/>
                <a:cs typeface="Times New Roman"/>
              </a:rPr>
              <a:t>Computational</a:t>
            </a:r>
            <a:r>
              <a:rPr dirty="0" sz="1000" spc="60">
                <a:latin typeface="Times New Roman"/>
                <a:cs typeface="Times New Roman"/>
              </a:rPr>
              <a:t> </a:t>
            </a:r>
            <a:r>
              <a:rPr dirty="0" sz="1000">
                <a:latin typeface="Times New Roman"/>
                <a:cs typeface="Times New Roman"/>
              </a:rPr>
              <a:t>Visual</a:t>
            </a:r>
            <a:r>
              <a:rPr dirty="0" sz="1000" spc="55">
                <a:latin typeface="Times New Roman"/>
                <a:cs typeface="Times New Roman"/>
              </a:rPr>
              <a:t> </a:t>
            </a:r>
            <a:r>
              <a:rPr dirty="0" sz="1000">
                <a:latin typeface="Times New Roman"/>
                <a:cs typeface="Times New Roman"/>
              </a:rPr>
              <a:t>Media,</a:t>
            </a:r>
            <a:r>
              <a:rPr dirty="0" sz="1000" spc="60">
                <a:latin typeface="Times New Roman"/>
                <a:cs typeface="Times New Roman"/>
              </a:rPr>
              <a:t> </a:t>
            </a:r>
            <a:r>
              <a:rPr dirty="0" sz="1000" spc="-20">
                <a:latin typeface="Times New Roman"/>
                <a:cs typeface="Times New Roman"/>
              </a:rPr>
              <a:t>7(1):37-</a:t>
            </a:r>
            <a:r>
              <a:rPr dirty="0" sz="1000">
                <a:latin typeface="Times New Roman"/>
                <a:cs typeface="Times New Roman"/>
              </a:rPr>
              <a:t>69,</a:t>
            </a:r>
            <a:r>
              <a:rPr dirty="0" sz="1000" spc="55">
                <a:latin typeface="Times New Roman"/>
                <a:cs typeface="Times New Roman"/>
              </a:rPr>
              <a:t> </a:t>
            </a:r>
            <a:r>
              <a:rPr dirty="0" sz="1000">
                <a:latin typeface="Times New Roman"/>
                <a:cs typeface="Times New Roman"/>
              </a:rPr>
              <a:t>2021.</a:t>
            </a:r>
            <a:r>
              <a:rPr dirty="0" sz="1000" spc="165">
                <a:latin typeface="Times New Roman"/>
                <a:cs typeface="Times New Roman"/>
              </a:rPr>
              <a:t> </a:t>
            </a:r>
            <a:r>
              <a:rPr dirty="0" sz="1000" spc="-50">
                <a:latin typeface="Times New Roman"/>
                <a:cs typeface="Times New Roman"/>
              </a:rPr>
              <a:t>1</a:t>
            </a:r>
            <a:endParaRPr sz="1000">
              <a:latin typeface="Times New Roman"/>
              <a:cs typeface="Times New Roman"/>
            </a:endParaRPr>
          </a:p>
          <a:p>
            <a:pPr>
              <a:lnSpc>
                <a:spcPct val="100000"/>
              </a:lnSpc>
              <a:spcBef>
                <a:spcPts val="585"/>
              </a:spcBef>
            </a:pPr>
            <a:endParaRPr sz="1000">
              <a:latin typeface="Times New Roman"/>
              <a:cs typeface="Times New Roman"/>
            </a:endParaRPr>
          </a:p>
          <a:p>
            <a:pPr marL="192405">
              <a:lnSpc>
                <a:spcPct val="100000"/>
              </a:lnSpc>
            </a:pPr>
            <a:r>
              <a:rPr dirty="0" sz="1000">
                <a:latin typeface="Times New Roman"/>
                <a:cs typeface="Times New Roman"/>
              </a:rPr>
              <a:t>[41]</a:t>
            </a:r>
            <a:r>
              <a:rPr dirty="0" sz="1000" spc="-55">
                <a:latin typeface="Times New Roman"/>
                <a:cs typeface="Times New Roman"/>
              </a:rPr>
              <a:t> </a:t>
            </a:r>
            <a:r>
              <a:rPr dirty="0" sz="1000" spc="-110">
                <a:latin typeface="SimSun"/>
                <a:cs typeface="SimSun"/>
              </a:rPr>
              <a:t>周涛、范登平、程明明、沈建兵和邵凌。</a:t>
            </a:r>
            <a:r>
              <a:rPr dirty="0" sz="1000" spc="-35">
                <a:latin typeface="Times New Roman"/>
                <a:cs typeface="Times New Roman"/>
              </a:rPr>
              <a:t>RGB</a:t>
            </a:r>
            <a:r>
              <a:rPr dirty="0" sz="1000" spc="-50">
                <a:latin typeface="Times New Roman"/>
                <a:cs typeface="Times New Roman"/>
              </a:rPr>
              <a:t> - </a:t>
            </a:r>
            <a:r>
              <a:rPr dirty="0" sz="1000">
                <a:latin typeface="Times New Roman"/>
                <a:cs typeface="Times New Roman"/>
              </a:rPr>
              <a:t>D</a:t>
            </a:r>
            <a:r>
              <a:rPr dirty="0" sz="1000" spc="-50">
                <a:latin typeface="Times New Roman"/>
                <a:cs typeface="Times New Roman"/>
              </a:rPr>
              <a:t> </a:t>
            </a:r>
            <a:r>
              <a:rPr dirty="0" sz="1000" spc="-10">
                <a:latin typeface="SimSun"/>
                <a:cs typeface="SimSun"/>
              </a:rPr>
              <a:t>显著目标检测</a:t>
            </a:r>
            <a:r>
              <a:rPr dirty="0" sz="1000" spc="-50">
                <a:latin typeface="Times New Roman"/>
                <a:cs typeface="Times New Roman"/>
              </a:rPr>
              <a:t>: </a:t>
            </a:r>
            <a:r>
              <a:rPr dirty="0" sz="1000" spc="-55">
                <a:latin typeface="SimSun"/>
                <a:cs typeface="SimSun"/>
              </a:rPr>
              <a:t>一项综述。计算视觉媒体，</a:t>
            </a:r>
            <a:r>
              <a:rPr dirty="0" sz="1000" spc="-10">
                <a:latin typeface="Times New Roman"/>
                <a:cs typeface="Times New Roman"/>
              </a:rPr>
              <a:t>7(1):37</a:t>
            </a:r>
            <a:endParaRPr sz="1000">
              <a:latin typeface="Times New Roman"/>
              <a:cs typeface="Times New Roman"/>
            </a:endParaRPr>
          </a:p>
          <a:p>
            <a:pPr marL="192405">
              <a:lnSpc>
                <a:spcPct val="100000"/>
              </a:lnSpc>
              <a:spcBef>
                <a:spcPts val="355"/>
              </a:spcBef>
            </a:pPr>
            <a:r>
              <a:rPr dirty="0" sz="1000" spc="-20">
                <a:latin typeface="Times New Roman"/>
                <a:cs typeface="Times New Roman"/>
              </a:rPr>
              <a:t>- </a:t>
            </a:r>
            <a:r>
              <a:rPr dirty="0" sz="1000" spc="-10">
                <a:latin typeface="Times New Roman"/>
                <a:cs typeface="Times New Roman"/>
              </a:rPr>
              <a:t>69</a:t>
            </a:r>
            <a:r>
              <a:rPr dirty="0" sz="1000" spc="-10">
                <a:latin typeface="SimSun"/>
                <a:cs typeface="SimSun"/>
              </a:rPr>
              <a:t>，</a:t>
            </a:r>
            <a:r>
              <a:rPr dirty="0" sz="1000" spc="-10">
                <a:latin typeface="Times New Roman"/>
                <a:cs typeface="Times New Roman"/>
              </a:rPr>
              <a:t>2021</a:t>
            </a:r>
            <a:r>
              <a:rPr dirty="0" sz="1000" spc="-35">
                <a:latin typeface="Times New Roman"/>
                <a:cs typeface="Times New Roman"/>
              </a:rPr>
              <a:t> </a:t>
            </a:r>
            <a:r>
              <a:rPr dirty="0" sz="1000" spc="-10">
                <a:latin typeface="SimSun"/>
                <a:cs typeface="SimSun"/>
              </a:rPr>
              <a:t>年。</a:t>
            </a:r>
            <a:r>
              <a:rPr dirty="0" sz="1000" spc="-50">
                <a:latin typeface="Times New Roman"/>
                <a:cs typeface="Times New Roman"/>
              </a:rPr>
              <a:t>1</a:t>
            </a:r>
            <a:endParaRPr sz="1000">
              <a:latin typeface="Times New Roman"/>
              <a:cs typeface="Times New Roman"/>
            </a:endParaRPr>
          </a:p>
        </p:txBody>
      </p:sp>
      <p:sp>
        <p:nvSpPr>
          <p:cNvPr id="12" name="object 12" descr=""/>
          <p:cNvSpPr txBox="1">
            <a:spLocks noGrp="1"/>
          </p:cNvSpPr>
          <p:nvPr>
            <p:ph type="sldNum" idx="7" sz="quarter"/>
          </p:nvPr>
        </p:nvSpPr>
        <p:spPr>
          <a:prstGeom prst="rect"/>
        </p:spPr>
        <p:txBody>
          <a:bodyPr wrap="square" lIns="0" tIns="17780" rIns="0" bIns="0" rtlCol="0" vert="horz">
            <a:spAutoFit/>
          </a:bodyPr>
          <a:lstStyle/>
          <a:p>
            <a:pPr marL="38100">
              <a:lnSpc>
                <a:spcPct val="100000"/>
              </a:lnSpc>
              <a:spcBef>
                <a:spcPts val="140"/>
              </a:spcBef>
            </a:pPr>
            <a:fld id="{81D60167-4931-47E6-BA6A-407CBD079E47}" type="slidenum">
              <a:rPr dirty="0" spc="-25"/>
              <a:t>21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2025-11-20T09:00:52Z</dcterms:created>
  <dcterms:modified xsi:type="dcterms:W3CDTF">2025-11-20T09:00:52Z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2025-11-18T00:00:00Z</vt:filetime>
  </property>
  <property fmtid="{D5CDD505-2E9C-101B-9397-08002B2CF9AE}" pid="3" name="Creator">
    <vt:lpwstr>LaTeX with hyperref</vt:lpwstr>
  </property>
  <property fmtid="{D5CDD505-2E9C-101B-9397-08002B2CF9AE}" pid="4" name="Producer">
    <vt:lpwstr>xdvipdfmx (20220710)</vt:lpwstr>
  </property>
  <property fmtid="{D5CDD505-2E9C-101B-9397-08002B2CF9AE}" pid="5" name="LastSaved">
    <vt:filetime>2025-11-18T00:00:00Z</vt:filetime>
  </property>
</Properties>
</file>